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94.xml" ContentType="application/vnd.openxmlformats-officedocument.presentationml.slide+xml"/>
  <Override PartName="/ppt/slides/slide142.xml" ContentType="application/vnd.openxmlformats-officedocument.presentationml.slide+xml"/>
  <Override PartName="/ppt/slides/slide120.xml" ContentType="application/vnd.openxmlformats-officedocument.presentationml.slide+xml"/>
  <Override PartName="/ppt/slides/slide218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141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Default Extension="xml" ContentType="application/xml"/>
  <Override PartName="/ppt/slides/slide50.xml" ContentType="application/vnd.openxmlformats-officedocument.presentationml.slide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22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158.xml" ContentType="application/vnd.openxmlformats-officedocument.presentationml.slide+xml"/>
  <Override PartName="/ppt/slides/slide136.xml" ContentType="application/vnd.openxmlformats-officedocument.presentationml.slide+xml"/>
  <Override PartName="/ppt/slides/slide183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15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s/slide150.xml" ContentType="application/vnd.openxmlformats-officedocument.presentationml.slide+xml"/>
  <Override PartName="/ppt/slides/slide161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124.xml" ContentType="application/vnd.openxmlformats-officedocument.presentationml.notesSlide+xml"/>
  <Override PartName="/ppt/slides/slide55.xml" ContentType="application/vnd.openxmlformats-officedocument.presentationml.slide+xml"/>
  <Override PartName="/ppt/slides/slide237.xml" ContentType="application/vnd.openxmlformats-officedocument.presentationml.slide+xml"/>
  <Override PartName="/ppt/theme/theme2.xml" ContentType="application/vnd.openxmlformats-officedocument.theme+xml"/>
  <Override PartName="/ppt/notesSlides/notesSlide57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60.xml" ContentType="application/vnd.openxmlformats-officedocument.presentationml.notes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215.xml" ContentType="application/vnd.openxmlformats-officedocument.presentationml.slide+xml"/>
  <Override PartName="/ppt/slides/slide226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93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199.xml" ContentType="application/vnd.openxmlformats-officedocument.presentationml.slide+xml"/>
  <Override PartName="/ppt/slides/slide204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88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60.xml" ContentType="application/vnd.openxmlformats-officedocument.presentationml.notesSlide+xml"/>
  <Override PartName="/ppt/slides/slide119.xml" ContentType="application/vnd.openxmlformats-officedocument.presentationml.slide+xml"/>
  <Override PartName="/ppt/slides/slide166.xml" ContentType="application/vnd.openxmlformats-officedocument.presentationml.slide+xml"/>
  <Override PartName="/ppt/slides/slide177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129.xml" ContentType="application/vnd.openxmlformats-officedocument.presentationml.notesSlide+xml"/>
  <Override PartName="/ppt/slides/slide108.xml" ContentType="application/vnd.openxmlformats-officedocument.presentationml.slide+xml"/>
  <Override PartName="/ppt/slides/slide155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49.xml" ContentType="application/vnd.openxmlformats-officedocument.presentationml.slide+xml"/>
  <Override PartName="/ppt/slides/slide96.xml" ContentType="application/vnd.openxmlformats-officedocument.presentationml.slide+xml"/>
  <Override PartName="/ppt/slides/slide144.xml" ContentType="application/vnd.openxmlformats-officedocument.presentationml.slide+xml"/>
  <Override PartName="/ppt/slides/slide191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54.xml" ContentType="application/vnd.openxmlformats-officedocument.presentationml.notesSlide+xml"/>
  <Override PartName="/ppt/slides/slide38.xml" ContentType="application/vnd.openxmlformats-officedocument.presentationml.slide+xml"/>
  <Override PartName="/ppt/slides/slide85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slides/slide180.xml" ContentType="application/vnd.openxmlformats-officedocument.presentationml.slide+xml"/>
  <Override PartName="/ppt/notesSlides/notesSlide8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43.xml" ContentType="application/vnd.openxmlformats-officedocument.presentationml.notesSlide+xml"/>
  <Override PartName="/ppt/slides/slide27.xml" ContentType="application/vnd.openxmlformats-officedocument.presentationml.slide+xml"/>
  <Override PartName="/ppt/slides/slide74.xml" ContentType="application/vnd.openxmlformats-officedocument.presentationml.slide+xml"/>
  <Override PartName="/ppt/slides/slide111.xml" ContentType="application/vnd.openxmlformats-officedocument.presentationml.slide+xml"/>
  <Override PartName="/ppt/slides/slide209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121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100.xml" ContentType="application/vnd.openxmlformats-officedocument.presentationml.slide+xml"/>
  <Override PartName="/ppt/slides/slide234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110.xml" ContentType="application/vnd.openxmlformats-officedocument.presentationml.notesSlide+xml"/>
  <Override PartName="/ppt/slides/slide41.xml" ContentType="application/vnd.openxmlformats-officedocument.presentationml.slide+xml"/>
  <Override PartName="/ppt/slides/slide223.xml" ContentType="application/vnd.openxmlformats-officedocument.presentationml.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30.xml" ContentType="application/vnd.openxmlformats-officedocument.presentationml.slide+xml"/>
  <Override PartName="/ppt/slides/slide149.xml" ContentType="application/vnd.openxmlformats-officedocument.presentationml.slide+xml"/>
  <Override PartName="/ppt/slides/slide196.xml" ContentType="application/vnd.openxmlformats-officedocument.presentationml.slide+xml"/>
  <Override PartName="/ppt/slides/slide21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138.xml" ContentType="application/vnd.openxmlformats-officedocument.presentationml.slide+xml"/>
  <Override PartName="/ppt/slides/slide185.xml" ContentType="application/vnd.openxmlformats-officedocument.presentationml.slide+xml"/>
  <Override PartName="/ppt/slides/slide201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59.xml" ContentType="application/vnd.openxmlformats-officedocument.presentationml.notesSlide+xml"/>
  <Override PartName="/ppt/slides/slide79.xml" ContentType="application/vnd.openxmlformats-officedocument.presentationml.slide+xml"/>
  <Override PartName="/ppt/slides/slide127.xml" ContentType="application/vnd.openxmlformats-officedocument.presentationml.slide+xml"/>
  <Override PartName="/ppt/slides/slide174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137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116.xml" ContentType="application/vnd.openxmlformats-officedocument.presentationml.slide+xml"/>
  <Override PartName="/ppt/slides/slide163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126.xml" ContentType="application/vnd.openxmlformats-officedocument.presentationml.notesSlide+xml"/>
  <Override PartName="/ppt/slides/slide57.xml" ContentType="application/vnd.openxmlformats-officedocument.presentationml.slide+xml"/>
  <Override PartName="/ppt/slides/slide105.xml" ContentType="application/vnd.openxmlformats-officedocument.presentationml.slide+xml"/>
  <Override PartName="/ppt/slides/slide141.xml" ContentType="application/vnd.openxmlformats-officedocument.presentationml.slide+xml"/>
  <Override PartName="/ppt/slides/slide15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62.xml" ContentType="application/vnd.openxmlformats-officedocument.presentationml.notesSlide+xml"/>
  <Override PartName="/ppt/slides/slide46.xml" ContentType="application/vnd.openxmlformats-officedocument.presentationml.slide+xml"/>
  <Override PartName="/ppt/slides/slide93.xml" ContentType="application/vnd.openxmlformats-officedocument.presentationml.slide+xml"/>
  <Override PartName="/ppt/slides/slide130.xml" ContentType="application/vnd.openxmlformats-officedocument.presentationml.slide+xml"/>
  <Override PartName="/ppt/slides/slide217.xml" ContentType="application/vnd.openxmlformats-officedocument.presentationml.slide+xml"/>
  <Override PartName="/ppt/slides/slide228.xml" ContentType="application/vnd.openxmlformats-officedocument.presentationml.slide+xml"/>
  <Override PartName="/ppt/notesSlides/notesSlide48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140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slides/slide206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84.xml" ContentType="application/vnd.openxmlformats-officedocument.presentationml.notesSlide+xml"/>
  <Override PartName="/ppt/slides/slide13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slides/slide168.xml" ContentType="application/vnd.openxmlformats-officedocument.presentationml.slide+xml"/>
  <Override PartName="/ppt/slides/slide179.xml" ContentType="application/vnd.openxmlformats-officedocument.presentationml.slide+xml"/>
  <Override PartName="/ppt/slides/slide23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157.xml" ContentType="application/vnd.openxmlformats-officedocument.presentationml.slide+xml"/>
  <Override PartName="/ppt/slides/slide22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slides/slide146.xml" ContentType="application/vnd.openxmlformats-officedocument.presentationml.slide+xml"/>
  <Override PartName="/ppt/slides/slide193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56.xml" ContentType="application/vnd.openxmlformats-officedocument.presentationml.notesSlide+xml"/>
  <Override PartName="/ppt/slides/slide87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slides/slide171.xml" ContentType="application/vnd.openxmlformats-officedocument.presentationml.slide+xml"/>
  <Override PartName="/ppt/slides/slide182.xml" ContentType="application/vnd.openxmlformats-officedocument.presentationml.slide+xml"/>
  <Override PartName="/ppt/notesSlides/notesSlide89.xml" ContentType="application/vnd.openxmlformats-officedocument.presentationml.notesSlide+xml"/>
  <Override PartName="/ppt/notesSlides/notesSlide145.xml" ContentType="application/vnd.openxmlformats-officedocument.presentationml.notes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slides/slide160.xml" ContentType="application/vnd.openxmlformats-officedocument.presentationml.slide+xml"/>
  <Override PartName="/ppt/notesSlides/notesSlide78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34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s/slide2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67.xml" ContentType="application/vnd.openxmlformats-officedocument.presentationml.notesSlide+xml"/>
  <Override PartName="/ppt/notesSlides/notesSlide112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slides/slide225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101.xml" ContentType="application/vnd.openxmlformats-officedocument.presentationml.notesSlide+xml"/>
  <Override PartName="/ppt/slides/slide32.xml" ContentType="application/vnd.openxmlformats-officedocument.presentationml.slide+xml"/>
  <Override PartName="/ppt/slides/slide214.xml" ContentType="application/vnd.openxmlformats-officedocument.presentationml.slide+xml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187.xml" ContentType="application/vnd.openxmlformats-officedocument.presentationml.slide+xml"/>
  <Override PartName="/ppt/slides/slide198.xml" ContentType="application/vnd.openxmlformats-officedocument.presentationml.slide+xml"/>
  <Override PartName="/ppt/slides/slide203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ppt/slides/slide129.xml" ContentType="application/vnd.openxmlformats-officedocument.presentationml.slide+xml"/>
  <Override PartName="/ppt/slides/slide176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9.xml" ContentType="application/vnd.openxmlformats-officedocument.presentationml.notesSlide+xml"/>
  <Override PartName="/ppt/slides/slide118.xml" ContentType="application/vnd.openxmlformats-officedocument.presentationml.slide+xml"/>
  <Override PartName="/ppt/slides/slide165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07.xml" ContentType="application/vnd.openxmlformats-officedocument.presentationml.slide+xml"/>
  <Override PartName="/ppt/slides/slide143.xml" ContentType="application/vnd.openxmlformats-officedocument.presentationml.slide+xml"/>
  <Override PartName="/ppt/slides/slide154.xml" ContentType="application/vnd.openxmlformats-officedocument.presentationml.slide+xml"/>
  <Override PartName="/ppt/slides/slide190.xml" ContentType="application/vnd.openxmlformats-officedocument.presentationml.slide+xml"/>
  <Override PartName="/ppt/viewProps.xml" ContentType="application/vnd.openxmlformats-officedocument.presentationml.viewProps+xml"/>
  <Override PartName="/ppt/notesSlides/notesSlide10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53.xml" ContentType="application/vnd.openxmlformats-officedocument.presentationml.notesSlide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slides/slide132.xml" ContentType="application/vnd.openxmlformats-officedocument.presentationml.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notesSlides/notesSlide97.xml" ContentType="application/vnd.openxmlformats-officedocument.presentationml.notesSlide+xml"/>
  <Override PartName="/ppt/notesSlides/notesSlide142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slides/slide208.xml" ContentType="application/vnd.openxmlformats-officedocument.presentationml.slide+xml"/>
  <Override PartName="/ppt/slides/slide219.xml" ContentType="application/vnd.openxmlformats-officedocument.presentationml.slide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131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120.xml" ContentType="application/vnd.openxmlformats-officedocument.presentationml.notesSlide+xml"/>
  <Override PartName="/ppt/slides/slide51.xml" ContentType="application/vnd.openxmlformats-officedocument.presentationml.slide+xml"/>
  <Override PartName="/ppt/slides/slide23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40.xml" ContentType="application/vnd.openxmlformats-officedocument.presentationml.slide+xml"/>
  <Override PartName="/ppt/slides/slide159.xml" ContentType="application/vnd.openxmlformats-officedocument.presentationml.slide+xml"/>
  <Override PartName="/ppt/slides/slide211.xml" ContentType="application/vnd.openxmlformats-officedocument.presentationml.slide+xml"/>
  <Override PartName="/ppt/slides/slide22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148.xml" ContentType="application/vnd.openxmlformats-officedocument.presentationml.slide+xml"/>
  <Override PartName="/ppt/slides/slide195.xml" ContentType="application/vnd.openxmlformats-officedocument.presentationml.slide+xml"/>
  <Override PartName="/ppt/slides/slide200.xml" ContentType="application/vnd.openxmlformats-officedocument.presentationml.slide+xml"/>
  <Default Extension="gif" ContentType="image/gif"/>
  <Override PartName="/ppt/notesSlides/notesSlide8.xml" ContentType="application/vnd.openxmlformats-officedocument.presentationml.notesSlide+xml"/>
  <Default Extension="vml" ContentType="application/vnd.openxmlformats-officedocument.vmlDrawing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58.xml" ContentType="application/vnd.openxmlformats-officedocument.presentationml.notesSlide+xml"/>
  <Override PartName="/ppt/slides/slide89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173.xml" ContentType="application/vnd.openxmlformats-officedocument.presentationml.slide+xml"/>
  <Override PartName="/ppt/slides/slide184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78.xml" ContentType="application/vnd.openxmlformats-officedocument.presentationml.slide+xml"/>
  <Override PartName="/ppt/slides/slide115.xml" ContentType="application/vnd.openxmlformats-officedocument.presentationml.slide+xml"/>
  <Override PartName="/ppt/slides/slide162.xml" ContentType="application/vnd.openxmlformats-officedocument.presentationml.slide+xml"/>
  <Override PartName="/ppt/notesSlides/notesSlide125.xml" ContentType="application/vnd.openxmlformats-officedocument.presentationml.notesSlide+xml"/>
  <Override PartName="/ppt/notesSlides/notesSlide136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104.xml" ContentType="application/vnd.openxmlformats-officedocument.presentationml.slide+xml"/>
  <Override PartName="/ppt/slides/slide151.xml" ContentType="application/vnd.openxmlformats-officedocument.presentationml.slide+xml"/>
  <Override PartName="/ppt/slides/slide2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69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6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slides/slide92.xml" ContentType="application/vnd.openxmlformats-officedocument.presentationml.slide+xml"/>
  <Override PartName="/ppt/slides/slide140.xml" ContentType="application/vnd.openxmlformats-officedocument.presentationml.slide+xml"/>
  <Override PartName="/ppt/slides/slide227.xml" ContentType="application/vnd.openxmlformats-officedocument.presentationml.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50.xml" ContentType="application/vnd.openxmlformats-officedocument.presentationml.notesSlide+xml"/>
  <Override PartName="/ppt/slides/slide34.xml" ContentType="application/vnd.openxmlformats-officedocument.presentationml.slide+xml"/>
  <Override PartName="/ppt/slides/slide81.xml" ContentType="application/vnd.openxmlformats-officedocument.presentationml.slide+xml"/>
  <Override PartName="/ppt/slides/slide216.xml" ContentType="application/vnd.openxmlformats-officedocument.presentationml.slide+xml"/>
  <Override PartName="/ppt/notesSlides/notesSlide36.xml" ContentType="application/vnd.openxmlformats-officedocument.presentationml.notesSlide+xml"/>
  <Override PartName="/ppt/notesSlides/notesSlide83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70.xml" ContentType="application/vnd.openxmlformats-officedocument.presentationml.slide+xml"/>
  <Override PartName="/ppt/slides/slide189.xml" ContentType="application/vnd.openxmlformats-officedocument.presentationml.slide+xml"/>
  <Override PartName="/ppt/slides/slide205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72.xml" ContentType="application/vnd.openxmlformats-officedocument.presentationml.notesSlide+xml"/>
  <Override PartName="/ppt/slides/slide12.xml" ContentType="application/vnd.openxmlformats-officedocument.presentationml.slide+xml"/>
  <Override PartName="/ppt/slides/slide178.xml" ContentType="application/vnd.openxmlformats-officedocument.presentationml.slide+xml"/>
  <Override PartName="/ppt/slides/slide2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61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109.xml" ContentType="application/vnd.openxmlformats-officedocument.presentationml.slide+xml"/>
  <Override PartName="/ppt/slides/slide145.xml" ContentType="application/vnd.openxmlformats-officedocument.presentationml.slide+xml"/>
  <Override PartName="/ppt/slides/slide156.xml" ContentType="application/vnd.openxmlformats-officedocument.presentationml.slide+xml"/>
  <Override PartName="/ppt/slides/slide192.xml" ContentType="application/vnd.openxmlformats-officedocument.presentationml.slide+xml"/>
  <Override PartName="/ppt/notesSlides/notesSlide10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55.xml" ContentType="application/vnd.openxmlformats-officedocument.presentationml.notesSlide+xml"/>
  <Override PartName="/ppt/slides/slide97.xml" ContentType="application/vnd.openxmlformats-officedocument.presentationml.slide+xml"/>
  <Override PartName="/ppt/slides/slide134.xml" ContentType="application/vnd.openxmlformats-officedocument.presentationml.slide+xml"/>
  <Override PartName="/ppt/slides/slide181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44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23.xml" ContentType="application/vnd.openxmlformats-officedocument.presentationml.slide+xml"/>
  <Override PartName="/ppt/slides/slide170.xml" ContentType="application/vnd.openxmlformats-officedocument.presentationml.slide+xml"/>
  <Override PartName="/ppt/notesSlides/notesSlide88.xml" ContentType="application/vnd.openxmlformats-officedocument.presentationml.notesSlide+xml"/>
  <Override PartName="/ppt/notesSlides/notesSlide13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64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122.xml" ContentType="application/vnd.openxmlformats-officedocument.presentationml.notesSlide+xml"/>
  <Override PartName="/ppt/slides/slide53.xml" ContentType="application/vnd.openxmlformats-officedocument.presentationml.slide+xml"/>
  <Override PartName="/ppt/slides/slide235.xml" ContentType="application/vnd.openxmlformats-officedocument.presentationml.slide+xml"/>
  <Default Extension="jpeg" ContentType="image/jpeg"/>
  <Override PartName="/ppt/notesSlides/notesSlide55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1.xml" ContentType="application/vnd.openxmlformats-officedocument.presentationml.notes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213.xml" ContentType="application/vnd.openxmlformats-officedocument.presentationml.slide+xml"/>
  <Override PartName="/ppt/slides/slide224.xml" ContentType="application/vnd.openxmlformats-officedocument.presentationml.slide+xml"/>
  <Override PartName="/ppt/notesSlides/notesSlide44.xml" ContentType="application/vnd.openxmlformats-officedocument.presentationml.notesSlide+xml"/>
  <Override PartName="/ppt/notesSlides/notesSlide91.xml" ContentType="application/vnd.openxmlformats-officedocument.presentationml.notesSlide+xml"/>
  <Override PartName="/ppt/slides/slide20.xml" ContentType="application/vnd.openxmlformats-officedocument.presentationml.slide+xml"/>
  <Override PartName="/ppt/slides/slide197.xml" ContentType="application/vnd.openxmlformats-officedocument.presentationml.slide+xml"/>
  <Override PartName="/ppt/slides/slide202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80.xml" ContentType="application/vnd.openxmlformats-officedocument.presentationml.notesSlide+xml"/>
  <Override PartName="/ppt/slides/slide139.xml" ContentType="application/vnd.openxmlformats-officedocument.presentationml.slide+xml"/>
  <Override PartName="/ppt/slides/slide186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149.xml" ContentType="application/vnd.openxmlformats-officedocument.presentationml.notes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slides/slide164.xml" ContentType="application/vnd.openxmlformats-officedocument.presentationml.slide+xml"/>
  <Override PartName="/ppt/slides/slide175.xml" ContentType="application/vnd.openxmlformats-officedocument.presentationml.slide+xml"/>
  <Override PartName="/ppt/notesSlides/notesSlide127.xml" ContentType="application/vnd.openxmlformats-officedocument.presentationml.notesSlide+xml"/>
  <Override PartName="/ppt/notesSlides/notesSlide138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106.xml" ContentType="application/vnd.openxmlformats-officedocument.presentationml.slide+xml"/>
  <Override PartName="/ppt/slides/slide153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58.xml" ContentType="application/vnd.openxmlformats-officedocument.presentationml.slide+xml"/>
  <Override PartName="/ppt/slides/slide22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52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31.xml" ContentType="application/vnd.openxmlformats-officedocument.presentationml.slide+xml"/>
  <Override PartName="/ppt/notesSlides/notesSlide49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130.xml" ContentType="application/vnd.openxmlformats-officedocument.presentationml.notesSlide+xml"/>
  <Override PartName="/ppt/slides/slide207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Override PartName="/ppt/slides/slide14.xml" ContentType="application/vnd.openxmlformats-officedocument.presentationml.slide+xml"/>
  <Override PartName="/ppt/slides/slide61.xml" ContentType="application/vnd.openxmlformats-officedocument.presentationml.slide+xml"/>
  <Override PartName="/ppt/slides/slide2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69.xml" ContentType="application/vnd.openxmlformats-officedocument.presentationml.slide+xml"/>
  <Override PartName="/ppt/tableStyles.xml" ContentType="application/vnd.openxmlformats-officedocument.presentationml.tableStyles+xml"/>
  <Override PartName="/ppt/notesSlides/notesSlide52.xml" ContentType="application/vnd.openxmlformats-officedocument.presentationml.notesSlide+xml"/>
  <Override PartName="/ppt/slides/slide147.xml" ContentType="application/vnd.openxmlformats-officedocument.presentationml.slide+xml"/>
  <Override PartName="/ppt/slides/slide194.xml" ContentType="application/vnd.openxmlformats-officedocument.presentationml.slide+xml"/>
  <Override PartName="/ppt/slides/slide21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77.xml" ContentType="application/vnd.openxmlformats-officedocument.presentationml.slide+xml"/>
  <Override PartName="/ppt/slides/slide125.xml" ContentType="application/vnd.openxmlformats-officedocument.presentationml.slide+xml"/>
  <Override PartName="/ppt/slides/slide17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3" r:id="rId137"/>
    <p:sldId id="394" r:id="rId138"/>
    <p:sldId id="395" r:id="rId139"/>
    <p:sldId id="396" r:id="rId140"/>
    <p:sldId id="397" r:id="rId141"/>
    <p:sldId id="398" r:id="rId142"/>
    <p:sldId id="399" r:id="rId143"/>
    <p:sldId id="400" r:id="rId144"/>
    <p:sldId id="402" r:id="rId145"/>
    <p:sldId id="403" r:id="rId146"/>
    <p:sldId id="404" r:id="rId147"/>
    <p:sldId id="405" r:id="rId148"/>
    <p:sldId id="406" r:id="rId149"/>
    <p:sldId id="407" r:id="rId150"/>
    <p:sldId id="408" r:id="rId151"/>
    <p:sldId id="409" r:id="rId152"/>
    <p:sldId id="410" r:id="rId153"/>
    <p:sldId id="411" r:id="rId154"/>
    <p:sldId id="412" r:id="rId155"/>
    <p:sldId id="413" r:id="rId156"/>
    <p:sldId id="414" r:id="rId157"/>
    <p:sldId id="415" r:id="rId158"/>
    <p:sldId id="417" r:id="rId159"/>
    <p:sldId id="418" r:id="rId160"/>
    <p:sldId id="419" r:id="rId161"/>
    <p:sldId id="420" r:id="rId162"/>
    <p:sldId id="421" r:id="rId163"/>
    <p:sldId id="422" r:id="rId164"/>
    <p:sldId id="423" r:id="rId165"/>
    <p:sldId id="424" r:id="rId166"/>
    <p:sldId id="425" r:id="rId167"/>
    <p:sldId id="426" r:id="rId168"/>
    <p:sldId id="427" r:id="rId169"/>
    <p:sldId id="428" r:id="rId170"/>
    <p:sldId id="429" r:id="rId171"/>
    <p:sldId id="430" r:id="rId172"/>
    <p:sldId id="431" r:id="rId173"/>
    <p:sldId id="432" r:id="rId174"/>
    <p:sldId id="433" r:id="rId175"/>
    <p:sldId id="434" r:id="rId176"/>
    <p:sldId id="435" r:id="rId177"/>
    <p:sldId id="436" r:id="rId178"/>
    <p:sldId id="437" r:id="rId179"/>
    <p:sldId id="438" r:id="rId180"/>
    <p:sldId id="439" r:id="rId181"/>
    <p:sldId id="440" r:id="rId182"/>
    <p:sldId id="441" r:id="rId183"/>
    <p:sldId id="442" r:id="rId184"/>
    <p:sldId id="443" r:id="rId185"/>
    <p:sldId id="444" r:id="rId186"/>
    <p:sldId id="445" r:id="rId187"/>
    <p:sldId id="446" r:id="rId188"/>
    <p:sldId id="447" r:id="rId189"/>
    <p:sldId id="448" r:id="rId190"/>
    <p:sldId id="449" r:id="rId191"/>
    <p:sldId id="450" r:id="rId192"/>
    <p:sldId id="451" r:id="rId193"/>
    <p:sldId id="452" r:id="rId194"/>
    <p:sldId id="453" r:id="rId195"/>
    <p:sldId id="454" r:id="rId196"/>
    <p:sldId id="455" r:id="rId197"/>
    <p:sldId id="456" r:id="rId198"/>
    <p:sldId id="457" r:id="rId199"/>
    <p:sldId id="458" r:id="rId200"/>
    <p:sldId id="459" r:id="rId201"/>
    <p:sldId id="460" r:id="rId202"/>
    <p:sldId id="461" r:id="rId203"/>
    <p:sldId id="462" r:id="rId204"/>
    <p:sldId id="463" r:id="rId205"/>
    <p:sldId id="464" r:id="rId206"/>
    <p:sldId id="465" r:id="rId207"/>
    <p:sldId id="466" r:id="rId208"/>
    <p:sldId id="467" r:id="rId209"/>
    <p:sldId id="468" r:id="rId210"/>
    <p:sldId id="469" r:id="rId211"/>
    <p:sldId id="470" r:id="rId212"/>
    <p:sldId id="471" r:id="rId213"/>
    <p:sldId id="472" r:id="rId214"/>
    <p:sldId id="473" r:id="rId215"/>
    <p:sldId id="474" r:id="rId216"/>
    <p:sldId id="475" r:id="rId217"/>
    <p:sldId id="476" r:id="rId218"/>
    <p:sldId id="477" r:id="rId219"/>
    <p:sldId id="478" r:id="rId220"/>
    <p:sldId id="479" r:id="rId221"/>
    <p:sldId id="480" r:id="rId222"/>
    <p:sldId id="481" r:id="rId223"/>
    <p:sldId id="482" r:id="rId224"/>
    <p:sldId id="483" r:id="rId225"/>
    <p:sldId id="484" r:id="rId226"/>
    <p:sldId id="485" r:id="rId227"/>
    <p:sldId id="486" r:id="rId228"/>
    <p:sldId id="487" r:id="rId229"/>
    <p:sldId id="488" r:id="rId230"/>
    <p:sldId id="489" r:id="rId231"/>
    <p:sldId id="490" r:id="rId232"/>
    <p:sldId id="491" r:id="rId233"/>
    <p:sldId id="492" r:id="rId234"/>
    <p:sldId id="493" r:id="rId235"/>
    <p:sldId id="494" r:id="rId236"/>
    <p:sldId id="495" r:id="rId237"/>
    <p:sldId id="496" r:id="rId238"/>
    <p:sldId id="497" r:id="rId2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slide" Target="slides/slide165.xml"/><Relationship Id="rId182" Type="http://schemas.openxmlformats.org/officeDocument/2006/relationships/slide" Target="slides/slide181.xml"/><Relationship Id="rId187" Type="http://schemas.openxmlformats.org/officeDocument/2006/relationships/slide" Target="slides/slide186.xml"/><Relationship Id="rId217" Type="http://schemas.openxmlformats.org/officeDocument/2006/relationships/slide" Target="slides/slide2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38" Type="http://schemas.openxmlformats.org/officeDocument/2006/relationships/slide" Target="slides/slide237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slide" Target="slides/slide222.xml"/><Relationship Id="rId228" Type="http://schemas.openxmlformats.org/officeDocument/2006/relationships/slide" Target="slides/slide227.xml"/><Relationship Id="rId244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34" Type="http://schemas.openxmlformats.org/officeDocument/2006/relationships/slide" Target="slides/slide233.xml"/><Relationship Id="rId239" Type="http://schemas.openxmlformats.org/officeDocument/2006/relationships/slide" Target="slides/slide238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0" Type="http://schemas.openxmlformats.org/officeDocument/2006/relationships/notesMaster" Target="notesMasters/notesMaster1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viewProps" Target="viewProps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CA81B-02DF-4132-803F-D9DBCCA5105D}" type="datetimeFigureOut">
              <a:rPr lang="en-US" smtClean="0"/>
              <a:t>12/27/2019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29DE8E-84DF-492C-997F-3DBA5D41F98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A2DC58-E7B6-4547-A16E-0C065AA6EF27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0F1DEA-6BEE-4781-A821-A3856F4538B3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F2BBC6-9FDF-4423-8D39-8ADB09381BAB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235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790FB6-395E-4D1D-91E4-2620720D3CB8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245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80C8A5-B64B-4595-90C0-D242C564083C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256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D5B370-4745-41E4-B135-D52AFC17633B}" type="slidenum">
              <a:rPr lang="en-US" smtClean="0"/>
              <a:pPr/>
              <a:t>30</a:t>
            </a:fld>
            <a:endParaRPr lang="en-US" smtClean="0"/>
          </a:p>
        </p:txBody>
      </p:sp>
      <p:sp>
        <p:nvSpPr>
          <p:cNvPr id="266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53E608-6F09-4A7E-813A-862ADEDE3BE4}" type="slidenum">
              <a:rPr lang="en-US" smtClean="0"/>
              <a:pPr/>
              <a:t>31</a:t>
            </a:fld>
            <a:endParaRPr lang="en-US" smtClean="0"/>
          </a:p>
        </p:txBody>
      </p:sp>
      <p:sp>
        <p:nvSpPr>
          <p:cNvPr id="276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A41C93-51FD-4F90-826D-D647490CC28C}" type="slidenum">
              <a:rPr lang="en-US" smtClean="0"/>
              <a:pPr/>
              <a:t>32</a:t>
            </a:fld>
            <a:endParaRPr lang="en-US" smtClean="0"/>
          </a:p>
        </p:txBody>
      </p:sp>
      <p:sp>
        <p:nvSpPr>
          <p:cNvPr id="286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D2F354-1492-4FA5-96FB-EF9207E19D16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296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47500A-DE7E-4D54-8532-B163197F350D}" type="slidenum">
              <a:rPr lang="en-US" smtClean="0"/>
              <a:pPr/>
              <a:t>34</a:t>
            </a:fld>
            <a:endParaRPr lang="en-US" smtClean="0"/>
          </a:p>
        </p:txBody>
      </p:sp>
      <p:sp>
        <p:nvSpPr>
          <p:cNvPr id="307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BF2C3A-943F-45FD-9181-9519FDB3BC6D}" type="slidenum">
              <a:rPr lang="en-US" smtClean="0"/>
              <a:pPr/>
              <a:t>35</a:t>
            </a:fld>
            <a:endParaRPr lang="en-US" smtClean="0"/>
          </a:p>
        </p:txBody>
      </p:sp>
      <p:sp>
        <p:nvSpPr>
          <p:cNvPr id="317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A4191E-A087-4397-A47B-92CA0F219E79}" type="slidenum">
              <a:rPr lang="en-US" smtClean="0"/>
              <a:pPr/>
              <a:t>36</a:t>
            </a:fld>
            <a:endParaRPr lang="en-US" smtClean="0"/>
          </a:p>
        </p:txBody>
      </p:sp>
      <p:sp>
        <p:nvSpPr>
          <p:cNvPr id="327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9C757C-3DD2-4A73-9C92-F83B3D401F5A}" type="slidenum">
              <a:rPr lang="en-US" smtClean="0"/>
              <a:pPr/>
              <a:t>37</a:t>
            </a:fld>
            <a:endParaRPr lang="en-US" smtClean="0"/>
          </a:p>
        </p:txBody>
      </p:sp>
      <p:sp>
        <p:nvSpPr>
          <p:cNvPr id="337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455DD9-2D35-45F6-8FCE-03BA9A0B2E00}" type="slidenum">
              <a:rPr lang="en-US" smtClean="0"/>
              <a:pPr/>
              <a:t>38</a:t>
            </a:fld>
            <a:endParaRPr lang="en-US" smtClean="0"/>
          </a:p>
        </p:txBody>
      </p:sp>
      <p:sp>
        <p:nvSpPr>
          <p:cNvPr id="348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61846C-29EC-4310-B7BF-2AA362DCFDFE}" type="slidenum">
              <a:rPr lang="en-US" smtClean="0"/>
              <a:pPr/>
              <a:t>39</a:t>
            </a:fld>
            <a:endParaRPr lang="en-US" smtClean="0"/>
          </a:p>
        </p:txBody>
      </p:sp>
      <p:sp>
        <p:nvSpPr>
          <p:cNvPr id="358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5A7B04-E0BC-4AD5-8E2A-87BADD6FD20D}" type="slidenum">
              <a:rPr lang="en-US" smtClean="0"/>
              <a:pPr/>
              <a:t>40</a:t>
            </a:fld>
            <a:endParaRPr lang="en-US" smtClean="0"/>
          </a:p>
        </p:txBody>
      </p:sp>
      <p:sp>
        <p:nvSpPr>
          <p:cNvPr id="368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6D882B-3C2E-4292-AB48-BAFE60CCF0EC}" type="slidenum">
              <a:rPr lang="en-US" smtClean="0"/>
              <a:pPr/>
              <a:t>41</a:t>
            </a:fld>
            <a:endParaRPr lang="en-US" smtClean="0"/>
          </a:p>
        </p:txBody>
      </p:sp>
      <p:sp>
        <p:nvSpPr>
          <p:cNvPr id="378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882189-13EE-4D9B-9489-9A8724805CF3}" type="slidenum">
              <a:rPr lang="en-US" smtClean="0"/>
              <a:pPr/>
              <a:t>42</a:t>
            </a:fld>
            <a:endParaRPr lang="en-US" smtClean="0"/>
          </a:p>
        </p:txBody>
      </p:sp>
      <p:sp>
        <p:nvSpPr>
          <p:cNvPr id="389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49A77B-2D6A-4E01-9618-80A09EAD3838}" type="slidenum">
              <a:rPr lang="en-US" smtClean="0"/>
              <a:pPr/>
              <a:t>44</a:t>
            </a:fld>
            <a:endParaRPr lang="en-US" smtClean="0"/>
          </a:p>
        </p:txBody>
      </p:sp>
      <p:sp>
        <p:nvSpPr>
          <p:cNvPr id="409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E6FE28-8962-45B9-B191-431D0BB10FBC}" type="slidenum">
              <a:rPr lang="en-US" smtClean="0"/>
              <a:pPr/>
              <a:t>45</a:t>
            </a:fld>
            <a:endParaRPr lang="en-US" smtClean="0"/>
          </a:p>
        </p:txBody>
      </p:sp>
      <p:sp>
        <p:nvSpPr>
          <p:cNvPr id="419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D70371-9412-41BE-BC6E-ACFA7301942C}" type="slidenum">
              <a:rPr lang="en-US" smtClean="0"/>
              <a:pPr/>
              <a:t>46</a:t>
            </a:fld>
            <a:endParaRPr lang="en-US" smtClean="0"/>
          </a:p>
        </p:txBody>
      </p:sp>
      <p:sp>
        <p:nvSpPr>
          <p:cNvPr id="430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6AEE3C-6CE5-4B61-8E81-7FEDA62A3C8B}" type="slidenum">
              <a:rPr lang="en-US" smtClean="0"/>
              <a:pPr/>
              <a:t>47</a:t>
            </a:fld>
            <a:endParaRPr lang="en-US" smtClean="0"/>
          </a:p>
        </p:txBody>
      </p:sp>
      <p:sp>
        <p:nvSpPr>
          <p:cNvPr id="440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45CEEE-A646-428A-B475-A6B11C3D6C05}" type="slidenum">
              <a:rPr lang="en-US" smtClean="0"/>
              <a:pPr/>
              <a:t>48</a:t>
            </a:fld>
            <a:endParaRPr lang="en-US" smtClean="0"/>
          </a:p>
        </p:txBody>
      </p:sp>
      <p:sp>
        <p:nvSpPr>
          <p:cNvPr id="450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0C2661-F22B-4072-AFAF-2FC2187CE8D5}" type="slidenum">
              <a:rPr lang="en-US" smtClean="0"/>
              <a:pPr/>
              <a:t>49</a:t>
            </a:fld>
            <a:endParaRPr lang="en-US" smtClean="0"/>
          </a:p>
        </p:txBody>
      </p:sp>
      <p:sp>
        <p:nvSpPr>
          <p:cNvPr id="460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FC320B-467A-437D-BECE-EC4F80631323}" type="slidenum">
              <a:rPr lang="en-US" smtClean="0"/>
              <a:pPr/>
              <a:t>50</a:t>
            </a:fld>
            <a:endParaRPr lang="en-US" smtClean="0"/>
          </a:p>
        </p:txBody>
      </p:sp>
      <p:sp>
        <p:nvSpPr>
          <p:cNvPr id="471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D8D3BF-6D1C-4745-9ECA-D772145F251D}" type="slidenum">
              <a:rPr lang="en-US" smtClean="0"/>
              <a:pPr/>
              <a:t>51</a:t>
            </a:fld>
            <a:endParaRPr lang="en-US" smtClean="0"/>
          </a:p>
        </p:txBody>
      </p:sp>
      <p:sp>
        <p:nvSpPr>
          <p:cNvPr id="481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6A1130-0FF5-41F5-BBB6-AF73FC7F4838}" type="slidenum">
              <a:rPr lang="en-US" smtClean="0"/>
              <a:pPr/>
              <a:t>52</a:t>
            </a:fld>
            <a:endParaRPr lang="en-US" smtClean="0"/>
          </a:p>
        </p:txBody>
      </p:sp>
      <p:sp>
        <p:nvSpPr>
          <p:cNvPr id="491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E32EFF-98A3-460D-9E0E-5AD9067E8E4F}" type="slidenum">
              <a:rPr lang="en-US" smtClean="0"/>
              <a:pPr/>
              <a:t>53</a:t>
            </a:fld>
            <a:endParaRPr lang="en-US" smtClean="0"/>
          </a:p>
        </p:txBody>
      </p:sp>
      <p:sp>
        <p:nvSpPr>
          <p:cNvPr id="501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21FC74-575F-4501-9682-385000EEDAEC}" type="slidenum">
              <a:rPr lang="en-US" smtClean="0"/>
              <a:pPr/>
              <a:t>54</a:t>
            </a:fld>
            <a:endParaRPr lang="en-US" smtClean="0"/>
          </a:p>
        </p:txBody>
      </p:sp>
      <p:sp>
        <p:nvSpPr>
          <p:cNvPr id="512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E65BEA-84B7-48EA-B1C6-C2154EBAA34F}" type="slidenum">
              <a:rPr lang="en-US" smtClean="0"/>
              <a:pPr/>
              <a:t>55</a:t>
            </a:fld>
            <a:endParaRPr lang="en-US" smtClean="0"/>
          </a:p>
        </p:txBody>
      </p:sp>
      <p:sp>
        <p:nvSpPr>
          <p:cNvPr id="522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E50389-0C8B-463D-9314-37AD0F61A979}" type="slidenum">
              <a:rPr lang="en-US" smtClean="0"/>
              <a:pPr/>
              <a:t>56</a:t>
            </a:fld>
            <a:endParaRPr lang="en-US" smtClean="0"/>
          </a:p>
        </p:txBody>
      </p:sp>
      <p:sp>
        <p:nvSpPr>
          <p:cNvPr id="532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0BDF21-BDA1-4778-8D08-BA3EC12194BA}" type="slidenum">
              <a:rPr lang="en-US" smtClean="0"/>
              <a:pPr/>
              <a:t>57</a:t>
            </a:fld>
            <a:endParaRPr lang="en-US" smtClean="0"/>
          </a:p>
        </p:txBody>
      </p:sp>
      <p:sp>
        <p:nvSpPr>
          <p:cNvPr id="542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A7E799-F5D2-436A-97FB-ACE2BBB22B90}" type="slidenum">
              <a:rPr lang="en-US" smtClean="0"/>
              <a:pPr/>
              <a:t>58</a:t>
            </a:fld>
            <a:endParaRPr lang="en-US" smtClean="0"/>
          </a:p>
        </p:txBody>
      </p:sp>
      <p:sp>
        <p:nvSpPr>
          <p:cNvPr id="552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8BC1BD-4D99-4C22-9F62-C27CD9A2EBC6}" type="slidenum">
              <a:rPr lang="en-US" smtClean="0"/>
              <a:pPr/>
              <a:t>59</a:t>
            </a:fld>
            <a:endParaRPr lang="en-US" smtClean="0"/>
          </a:p>
        </p:txBody>
      </p:sp>
      <p:sp>
        <p:nvSpPr>
          <p:cNvPr id="563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908EAE-DE9A-4FCB-8762-D7A285BF44FF}" type="slidenum">
              <a:rPr lang="en-US" smtClean="0"/>
              <a:pPr/>
              <a:t>60</a:t>
            </a:fld>
            <a:endParaRPr lang="en-US" smtClean="0"/>
          </a:p>
        </p:txBody>
      </p:sp>
      <p:sp>
        <p:nvSpPr>
          <p:cNvPr id="573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03F1A6-A6D6-44EA-8BD3-09F91B57ADA3}" type="slidenum">
              <a:rPr lang="en-US" smtClean="0"/>
              <a:pPr/>
              <a:t>61</a:t>
            </a:fld>
            <a:endParaRPr lang="en-US" smtClean="0"/>
          </a:p>
        </p:txBody>
      </p:sp>
      <p:sp>
        <p:nvSpPr>
          <p:cNvPr id="583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4F30B2-30FF-4A3B-8B35-5B3B8E01218C}" type="slidenum">
              <a:rPr lang="en-US" smtClean="0"/>
              <a:pPr/>
              <a:t>62</a:t>
            </a:fld>
            <a:endParaRPr lang="en-US" smtClean="0"/>
          </a:p>
        </p:txBody>
      </p:sp>
      <p:sp>
        <p:nvSpPr>
          <p:cNvPr id="593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404F87-1BCB-4A31-9DF4-ACD33196D570}" type="slidenum">
              <a:rPr lang="en-US" smtClean="0"/>
              <a:pPr/>
              <a:t>63</a:t>
            </a:fld>
            <a:endParaRPr lang="en-US" smtClean="0"/>
          </a:p>
        </p:txBody>
      </p:sp>
      <p:sp>
        <p:nvSpPr>
          <p:cNvPr id="604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770C24-0792-4169-9C40-964BB18BA471}" type="slidenum">
              <a:rPr lang="en-US" smtClean="0"/>
              <a:pPr/>
              <a:t>64</a:t>
            </a:fld>
            <a:endParaRPr lang="en-US" smtClean="0"/>
          </a:p>
        </p:txBody>
      </p:sp>
      <p:sp>
        <p:nvSpPr>
          <p:cNvPr id="614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912887-9162-4DDB-8773-E449DEACD66D}" type="slidenum">
              <a:rPr lang="en-US" smtClean="0"/>
              <a:pPr/>
              <a:t>65</a:t>
            </a:fld>
            <a:endParaRPr lang="en-US" smtClean="0"/>
          </a:p>
        </p:txBody>
      </p:sp>
      <p:sp>
        <p:nvSpPr>
          <p:cNvPr id="624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ABDEFF-597C-46FF-8E74-3D53252BECA8}" type="slidenum">
              <a:rPr lang="en-US" smtClean="0"/>
              <a:pPr/>
              <a:t>66</a:t>
            </a:fld>
            <a:endParaRPr lang="en-US" smtClean="0"/>
          </a:p>
        </p:txBody>
      </p:sp>
      <p:sp>
        <p:nvSpPr>
          <p:cNvPr id="634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57CD20-C050-4DD3-8F7E-74384F9CE41A}" type="slidenum">
              <a:rPr lang="en-US" smtClean="0"/>
              <a:pPr/>
              <a:t>67</a:t>
            </a:fld>
            <a:endParaRPr lang="en-US" smtClean="0"/>
          </a:p>
        </p:txBody>
      </p:sp>
      <p:sp>
        <p:nvSpPr>
          <p:cNvPr id="645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32C1DD-8011-42F7-A3FD-D679540D84B2}" type="slidenum">
              <a:rPr lang="en-US" smtClean="0"/>
              <a:pPr/>
              <a:t>68</a:t>
            </a:fld>
            <a:endParaRPr lang="en-US" smtClean="0"/>
          </a:p>
        </p:txBody>
      </p:sp>
      <p:sp>
        <p:nvSpPr>
          <p:cNvPr id="655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C9F062-D161-4A37-81D2-4C3FD714AC8A}" type="slidenum">
              <a:rPr lang="en-US" smtClean="0"/>
              <a:pPr/>
              <a:t>69</a:t>
            </a:fld>
            <a:endParaRPr lang="en-US" smtClean="0"/>
          </a:p>
        </p:txBody>
      </p:sp>
      <p:sp>
        <p:nvSpPr>
          <p:cNvPr id="665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E576EB-E665-432B-80FE-1348EC6B86E1}" type="slidenum">
              <a:rPr lang="en-US" smtClean="0"/>
              <a:pPr/>
              <a:t>70</a:t>
            </a:fld>
            <a:endParaRPr lang="en-US" smtClean="0"/>
          </a:p>
        </p:txBody>
      </p:sp>
      <p:sp>
        <p:nvSpPr>
          <p:cNvPr id="675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A936EC-B25C-4AD4-9E94-C4DF0DE86921}" type="slidenum">
              <a:rPr lang="en-US" smtClean="0"/>
              <a:pPr/>
              <a:t>71</a:t>
            </a:fld>
            <a:endParaRPr lang="en-US" smtClean="0"/>
          </a:p>
        </p:txBody>
      </p:sp>
      <p:sp>
        <p:nvSpPr>
          <p:cNvPr id="686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09F76F-9E57-4B9C-974F-524321C36CA3}" type="slidenum">
              <a:rPr lang="en-US" smtClean="0"/>
              <a:pPr/>
              <a:t>72</a:t>
            </a:fld>
            <a:endParaRPr lang="en-US" smtClean="0"/>
          </a:p>
        </p:txBody>
      </p:sp>
      <p:sp>
        <p:nvSpPr>
          <p:cNvPr id="696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63F94B-969D-4A6E-AE50-650A5E565157}" type="slidenum">
              <a:rPr lang="en-US" smtClean="0"/>
              <a:pPr/>
              <a:t>73</a:t>
            </a:fld>
            <a:endParaRPr lang="en-US" smtClean="0"/>
          </a:p>
        </p:txBody>
      </p:sp>
      <p:sp>
        <p:nvSpPr>
          <p:cNvPr id="706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53DF3B-FB8F-4D30-A4F9-FDC2C87E6851}" type="slidenum">
              <a:rPr lang="en-US" smtClean="0"/>
              <a:pPr/>
              <a:t>74</a:t>
            </a:fld>
            <a:endParaRPr lang="en-US" smtClean="0"/>
          </a:p>
        </p:txBody>
      </p:sp>
      <p:sp>
        <p:nvSpPr>
          <p:cNvPr id="716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A27767-1F0B-4A72-A6F3-75C1748FB8CD}" type="slidenum">
              <a:rPr lang="en-US" smtClean="0"/>
              <a:pPr/>
              <a:t>75</a:t>
            </a:fld>
            <a:endParaRPr lang="en-US" smtClean="0"/>
          </a:p>
        </p:txBody>
      </p:sp>
      <p:sp>
        <p:nvSpPr>
          <p:cNvPr id="727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010324-4866-47D3-9A0B-E764A0C52EFE}" type="slidenum">
              <a:rPr lang="en-US" smtClean="0"/>
              <a:pPr/>
              <a:t>76</a:t>
            </a:fld>
            <a:endParaRPr lang="en-US" smtClean="0"/>
          </a:p>
        </p:txBody>
      </p:sp>
      <p:sp>
        <p:nvSpPr>
          <p:cNvPr id="737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ED5F35-D441-4282-8D70-E517336685DB}" type="slidenum">
              <a:rPr lang="en-US" smtClean="0"/>
              <a:pPr/>
              <a:t>77</a:t>
            </a:fld>
            <a:endParaRPr lang="en-US" smtClean="0"/>
          </a:p>
        </p:txBody>
      </p:sp>
      <p:sp>
        <p:nvSpPr>
          <p:cNvPr id="747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0A681E-F70C-4DF9-8BCA-F7ACC50AC008}" type="slidenum">
              <a:rPr lang="en-US" smtClean="0"/>
              <a:pPr/>
              <a:t>78</a:t>
            </a:fld>
            <a:endParaRPr lang="en-US" smtClean="0"/>
          </a:p>
        </p:txBody>
      </p:sp>
      <p:sp>
        <p:nvSpPr>
          <p:cNvPr id="757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46C640-493B-483F-B907-F2EAF891D78D}" type="slidenum">
              <a:rPr lang="en-US" smtClean="0"/>
              <a:pPr/>
              <a:t>79</a:t>
            </a:fld>
            <a:endParaRPr lang="en-US" smtClean="0"/>
          </a:p>
        </p:txBody>
      </p:sp>
      <p:sp>
        <p:nvSpPr>
          <p:cNvPr id="768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199159-59FD-4FF4-A7D0-3840B1B85A5C}" type="slidenum">
              <a:rPr lang="en-US" smtClean="0"/>
              <a:pPr/>
              <a:t>80</a:t>
            </a:fld>
            <a:endParaRPr lang="en-US" smtClean="0"/>
          </a:p>
        </p:txBody>
      </p:sp>
      <p:sp>
        <p:nvSpPr>
          <p:cNvPr id="778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1A6375-CD86-4E11-9238-518D09359154}" type="slidenum">
              <a:rPr lang="en-US" smtClean="0"/>
              <a:pPr/>
              <a:t>82</a:t>
            </a:fld>
            <a:endParaRPr lang="en-US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6DE0EC-5E18-4F9C-A18F-0B4D4C622213}" type="slidenum">
              <a:rPr lang="en-US" smtClean="0"/>
              <a:pPr/>
              <a:t>83</a:t>
            </a:fld>
            <a:endParaRPr lang="en-US" smtClean="0"/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111749-7078-4A97-89D4-D45402DFAAAB}" type="slidenum">
              <a:rPr lang="en-US" smtClean="0"/>
              <a:pPr/>
              <a:t>84</a:t>
            </a:fld>
            <a:endParaRPr lang="en-US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312F2D-2B4B-405B-A63C-CB3C05E81958}" type="slidenum">
              <a:rPr lang="en-US" smtClean="0"/>
              <a:pPr/>
              <a:t>85</a:t>
            </a:fld>
            <a:endParaRPr lang="en-US" smtClean="0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2B45E6-41E6-4C6D-9F15-DBA2B7872EA7}" type="slidenum">
              <a:rPr lang="en-US" smtClean="0"/>
              <a:pPr/>
              <a:t>86</a:t>
            </a:fld>
            <a:endParaRPr lang="en-US" smtClean="0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55076E-01A7-452C-9437-2D6EDED9407F}" type="slidenum">
              <a:rPr lang="en-US" smtClean="0"/>
              <a:pPr/>
              <a:t>87</a:t>
            </a:fld>
            <a:endParaRPr lang="en-US" smtClean="0"/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BB19BC-6C6E-4DAB-94E7-9B7FCA095054}" type="slidenum">
              <a:rPr lang="en-US" smtClean="0"/>
              <a:pPr/>
              <a:t>88</a:t>
            </a:fld>
            <a:endParaRPr lang="en-US" smtClean="0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6968DA-C75E-4591-A42F-AB0457B2F463}" type="slidenum">
              <a:rPr lang="en-US" smtClean="0"/>
              <a:pPr/>
              <a:t>89</a:t>
            </a:fld>
            <a:endParaRPr lang="en-US" smtClean="0"/>
          </a:p>
        </p:txBody>
      </p:sp>
      <p:sp>
        <p:nvSpPr>
          <p:cNvPr id="235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A0EB8E-2A59-4FD2-BA2B-98391713F64B}" type="slidenum">
              <a:rPr lang="en-US" smtClean="0"/>
              <a:pPr/>
              <a:t>90</a:t>
            </a:fld>
            <a:endParaRPr lang="en-US" smtClean="0"/>
          </a:p>
        </p:txBody>
      </p:sp>
      <p:sp>
        <p:nvSpPr>
          <p:cNvPr id="245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DED194-BA5A-4CF3-9FEA-A326233586CA}" type="slidenum">
              <a:rPr lang="en-US" smtClean="0"/>
              <a:pPr/>
              <a:t>91</a:t>
            </a:fld>
            <a:endParaRPr lang="en-US" smtClean="0"/>
          </a:p>
        </p:txBody>
      </p:sp>
      <p:sp>
        <p:nvSpPr>
          <p:cNvPr id="256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07B7F9-0F60-43B5-9A7A-2D6A4AA7C37E}" type="slidenum">
              <a:rPr lang="en-US" smtClean="0"/>
              <a:pPr/>
              <a:t>92</a:t>
            </a:fld>
            <a:endParaRPr lang="en-US" smtClean="0"/>
          </a:p>
        </p:txBody>
      </p:sp>
      <p:sp>
        <p:nvSpPr>
          <p:cNvPr id="266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7F04BD-2DBF-4305-AFD0-0DD3F9561D20}" type="slidenum">
              <a:rPr lang="en-US" smtClean="0"/>
              <a:pPr/>
              <a:t>93</a:t>
            </a:fld>
            <a:endParaRPr lang="en-US" smtClean="0"/>
          </a:p>
        </p:txBody>
      </p:sp>
      <p:sp>
        <p:nvSpPr>
          <p:cNvPr id="276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B148E0-D98D-4BB3-8002-38BD575D925C}" type="slidenum">
              <a:rPr lang="en-US" smtClean="0"/>
              <a:pPr/>
              <a:t>94</a:t>
            </a:fld>
            <a:endParaRPr lang="en-US" smtClean="0"/>
          </a:p>
        </p:txBody>
      </p:sp>
      <p:sp>
        <p:nvSpPr>
          <p:cNvPr id="286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DDFAE9-7321-4AAD-AAA4-5AE9E4BF676D}" type="slidenum">
              <a:rPr lang="en-US" smtClean="0"/>
              <a:pPr/>
              <a:t>112</a:t>
            </a:fld>
            <a:endParaRPr lang="en-US" smtClean="0"/>
          </a:p>
        </p:txBody>
      </p:sp>
      <p:sp>
        <p:nvSpPr>
          <p:cNvPr id="276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689DF8-349C-4181-8321-8DDA0991B583}" type="slidenum">
              <a:rPr lang="en-US" smtClean="0"/>
              <a:pPr/>
              <a:t>113</a:t>
            </a:fld>
            <a:endParaRPr lang="en-US" smtClean="0"/>
          </a:p>
        </p:txBody>
      </p:sp>
      <p:sp>
        <p:nvSpPr>
          <p:cNvPr id="286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AD510C-FF78-412B-9497-CC05ACA45100}" type="slidenum">
              <a:rPr lang="en-US" smtClean="0"/>
              <a:pPr/>
              <a:t>114</a:t>
            </a:fld>
            <a:endParaRPr lang="en-US" smtClean="0"/>
          </a:p>
        </p:txBody>
      </p:sp>
      <p:sp>
        <p:nvSpPr>
          <p:cNvPr id="296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27C280-687C-4B75-A922-70F1BF985383}" type="slidenum">
              <a:rPr lang="en-US" smtClean="0"/>
              <a:pPr/>
              <a:t>115</a:t>
            </a:fld>
            <a:endParaRPr lang="en-US" smtClean="0"/>
          </a:p>
        </p:txBody>
      </p:sp>
      <p:sp>
        <p:nvSpPr>
          <p:cNvPr id="307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83336B-E56F-4E5F-B744-43D8D42EEB2A}" type="slidenum">
              <a:rPr lang="en-US" smtClean="0"/>
              <a:pPr/>
              <a:t>116</a:t>
            </a:fld>
            <a:endParaRPr lang="en-US" smtClean="0"/>
          </a:p>
        </p:txBody>
      </p:sp>
      <p:sp>
        <p:nvSpPr>
          <p:cNvPr id="317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AFFB1B-E56D-49A2-8656-60B21E56F6F7}" type="slidenum">
              <a:rPr lang="en-US" smtClean="0"/>
              <a:pPr/>
              <a:t>117</a:t>
            </a:fld>
            <a:endParaRPr lang="en-US" smtClean="0"/>
          </a:p>
        </p:txBody>
      </p:sp>
      <p:sp>
        <p:nvSpPr>
          <p:cNvPr id="327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38FDFF-1D3B-4ABE-8459-07589EC97731}" type="slidenum">
              <a:rPr lang="en-US" smtClean="0"/>
              <a:pPr/>
              <a:t>118</a:t>
            </a:fld>
            <a:endParaRPr lang="en-US" smtClean="0"/>
          </a:p>
        </p:txBody>
      </p:sp>
      <p:sp>
        <p:nvSpPr>
          <p:cNvPr id="337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277FB9-D64B-4E95-854E-9E81DB8D7C3C}" type="slidenum">
              <a:rPr lang="en-US" smtClean="0"/>
              <a:pPr/>
              <a:t>119</a:t>
            </a:fld>
            <a:endParaRPr lang="en-US" smtClean="0"/>
          </a:p>
        </p:txBody>
      </p:sp>
      <p:sp>
        <p:nvSpPr>
          <p:cNvPr id="348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F5A4C9-60D7-4217-8145-BB419F16AB9A}" type="slidenum">
              <a:rPr lang="en-US" smtClean="0"/>
              <a:pPr/>
              <a:t>120</a:t>
            </a:fld>
            <a:endParaRPr lang="en-US" smtClean="0"/>
          </a:p>
        </p:txBody>
      </p:sp>
      <p:sp>
        <p:nvSpPr>
          <p:cNvPr id="358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5BBFAD-D087-4ED9-8165-91FBD1712C91}" type="slidenum">
              <a:rPr lang="en-US" smtClean="0"/>
              <a:pPr/>
              <a:t>121</a:t>
            </a:fld>
            <a:endParaRPr lang="en-US" smtClean="0"/>
          </a:p>
        </p:txBody>
      </p:sp>
      <p:sp>
        <p:nvSpPr>
          <p:cNvPr id="368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E23F08-D14B-4F24-A1F3-634DB5E47BDD}" type="slidenum">
              <a:rPr lang="en-US" smtClean="0"/>
              <a:pPr/>
              <a:t>122</a:t>
            </a:fld>
            <a:endParaRPr lang="en-US" smtClean="0"/>
          </a:p>
        </p:txBody>
      </p:sp>
      <p:sp>
        <p:nvSpPr>
          <p:cNvPr id="378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65FF53-2C2C-4418-91FB-82E152F1FB07}" type="slidenum">
              <a:rPr lang="en-US" smtClean="0"/>
              <a:pPr/>
              <a:t>123</a:t>
            </a:fld>
            <a:endParaRPr lang="en-US" smtClean="0"/>
          </a:p>
        </p:txBody>
      </p:sp>
      <p:sp>
        <p:nvSpPr>
          <p:cNvPr id="389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16E134-972A-46A5-AB92-478F4BB454AF}" type="slidenum">
              <a:rPr lang="en-US" smtClean="0"/>
              <a:pPr/>
              <a:t>124</a:t>
            </a:fld>
            <a:endParaRPr lang="en-US" smtClean="0"/>
          </a:p>
        </p:txBody>
      </p:sp>
      <p:sp>
        <p:nvSpPr>
          <p:cNvPr id="399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B1D407-FD2C-468B-AFD6-53B757A8683B}" type="slidenum">
              <a:rPr lang="en-US" smtClean="0"/>
              <a:pPr/>
              <a:t>125</a:t>
            </a:fld>
            <a:endParaRPr lang="en-US" smtClean="0"/>
          </a:p>
        </p:txBody>
      </p:sp>
      <p:sp>
        <p:nvSpPr>
          <p:cNvPr id="409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0AF615-B7BF-476F-AB69-6A40E0F130AA}" type="slidenum">
              <a:rPr lang="en-US" smtClean="0"/>
              <a:pPr/>
              <a:t>126</a:t>
            </a:fld>
            <a:endParaRPr lang="en-US" smtClean="0"/>
          </a:p>
        </p:txBody>
      </p:sp>
      <p:sp>
        <p:nvSpPr>
          <p:cNvPr id="419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7AFC4A-DBEB-4103-BB7F-7E2749DBC2C9}" type="slidenum">
              <a:rPr lang="en-US" smtClean="0"/>
              <a:pPr/>
              <a:t>127</a:t>
            </a:fld>
            <a:endParaRPr lang="en-US" smtClean="0"/>
          </a:p>
        </p:txBody>
      </p:sp>
      <p:sp>
        <p:nvSpPr>
          <p:cNvPr id="430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6D2EA4-CEE6-47B0-B4EE-042D38665E4B}" type="slidenum">
              <a:rPr lang="en-US" smtClean="0"/>
              <a:pPr/>
              <a:t>128</a:t>
            </a:fld>
            <a:endParaRPr lang="en-US" smtClean="0"/>
          </a:p>
        </p:txBody>
      </p:sp>
      <p:sp>
        <p:nvSpPr>
          <p:cNvPr id="440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88D2D7-7320-4D12-941F-071671F119FA}" type="slidenum">
              <a:rPr lang="en-US" smtClean="0"/>
              <a:pPr/>
              <a:t>129</a:t>
            </a:fld>
            <a:endParaRPr lang="en-US" smtClean="0"/>
          </a:p>
        </p:txBody>
      </p:sp>
      <p:sp>
        <p:nvSpPr>
          <p:cNvPr id="450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2DC9C9-4610-440D-90DD-D8E070B5017D}" type="slidenum">
              <a:rPr lang="en-US" smtClean="0"/>
              <a:pPr/>
              <a:t>130</a:t>
            </a:fld>
            <a:endParaRPr lang="en-US" smtClean="0"/>
          </a:p>
        </p:txBody>
      </p:sp>
      <p:sp>
        <p:nvSpPr>
          <p:cNvPr id="460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CD8CD9-ABAB-4886-82AB-08E9AE3F4E07}" type="slidenum">
              <a:rPr lang="en-US" smtClean="0"/>
              <a:pPr/>
              <a:t>131</a:t>
            </a:fld>
            <a:endParaRPr lang="en-US" smtClean="0"/>
          </a:p>
        </p:txBody>
      </p:sp>
      <p:sp>
        <p:nvSpPr>
          <p:cNvPr id="471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C484AC-0D17-432C-A8A7-95860138B80D}" type="slidenum">
              <a:rPr lang="en-US" smtClean="0"/>
              <a:pPr/>
              <a:t>132</a:t>
            </a:fld>
            <a:endParaRPr lang="en-US" smtClean="0"/>
          </a:p>
        </p:txBody>
      </p:sp>
      <p:sp>
        <p:nvSpPr>
          <p:cNvPr id="481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140469-CA2A-413F-A0C3-1FC15197D635}" type="slidenum">
              <a:rPr lang="en-US" smtClean="0"/>
              <a:pPr/>
              <a:t>133</a:t>
            </a:fld>
            <a:endParaRPr lang="en-US" smtClean="0"/>
          </a:p>
        </p:txBody>
      </p:sp>
      <p:sp>
        <p:nvSpPr>
          <p:cNvPr id="491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06E020-7D96-4706-87F2-CACBBB972519}" type="slidenum">
              <a:rPr lang="en-US" smtClean="0"/>
              <a:pPr/>
              <a:t>134</a:t>
            </a:fld>
            <a:endParaRPr lang="en-US" smtClean="0"/>
          </a:p>
        </p:txBody>
      </p:sp>
      <p:sp>
        <p:nvSpPr>
          <p:cNvPr id="501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D603F8-A929-44A8-805E-EAD7A0843FC9}" type="slidenum">
              <a:rPr lang="en-US" smtClean="0"/>
              <a:pPr/>
              <a:t>135</a:t>
            </a:fld>
            <a:endParaRPr lang="en-US" smtClean="0"/>
          </a:p>
        </p:txBody>
      </p:sp>
      <p:sp>
        <p:nvSpPr>
          <p:cNvPr id="512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C20074-E882-4C66-BD05-E057CBF92A15}" type="slidenum">
              <a:rPr lang="en-US" smtClean="0"/>
              <a:pPr/>
              <a:t>144</a:t>
            </a:fld>
            <a:endParaRPr lang="en-US" smtClean="0"/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E19C2B-EE6C-4D51-A11E-CDB4391B9D78}" type="slidenum">
              <a:rPr lang="en-US" smtClean="0"/>
              <a:pPr/>
              <a:t>145</a:t>
            </a:fld>
            <a:endParaRPr lang="en-US" smtClean="0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23AD36-01E2-44C4-B8DB-11070EC6FF91}" type="slidenum">
              <a:rPr lang="en-US" smtClean="0"/>
              <a:pPr/>
              <a:t>146</a:t>
            </a:fld>
            <a:endParaRPr lang="en-US" smtClean="0"/>
          </a:p>
        </p:txBody>
      </p:sp>
      <p:sp>
        <p:nvSpPr>
          <p:cNvPr id="235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21A193-21D5-4355-B2FD-0ACEF1F46404}" type="slidenum">
              <a:rPr lang="en-US" smtClean="0"/>
              <a:pPr/>
              <a:t>147</a:t>
            </a:fld>
            <a:endParaRPr lang="en-US" smtClean="0"/>
          </a:p>
        </p:txBody>
      </p:sp>
      <p:sp>
        <p:nvSpPr>
          <p:cNvPr id="245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A91FFE-FD6F-4571-8D9B-DE8BAB09EAA7}" type="slidenum">
              <a:rPr lang="en-US" smtClean="0"/>
              <a:pPr/>
              <a:t>148</a:t>
            </a:fld>
            <a:endParaRPr lang="en-US" smtClean="0"/>
          </a:p>
        </p:txBody>
      </p:sp>
      <p:sp>
        <p:nvSpPr>
          <p:cNvPr id="256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347483-453C-4CC2-9166-0B611519AB09}" type="slidenum">
              <a:rPr lang="en-US" smtClean="0"/>
              <a:pPr/>
              <a:t>149</a:t>
            </a:fld>
            <a:endParaRPr lang="en-US" smtClean="0"/>
          </a:p>
        </p:txBody>
      </p:sp>
      <p:sp>
        <p:nvSpPr>
          <p:cNvPr id="266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7A6F1A-4B80-4D4E-B170-61C6348DB90F}" type="slidenum">
              <a:rPr lang="en-US" smtClean="0"/>
              <a:pPr/>
              <a:t>150</a:t>
            </a:fld>
            <a:endParaRPr lang="en-US" smtClean="0"/>
          </a:p>
        </p:txBody>
      </p:sp>
      <p:sp>
        <p:nvSpPr>
          <p:cNvPr id="276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5CB8D7-464A-46F6-B094-DE37B756C409}" type="slidenum">
              <a:rPr lang="en-US" smtClean="0"/>
              <a:pPr/>
              <a:t>151</a:t>
            </a:fld>
            <a:endParaRPr lang="en-US" smtClean="0"/>
          </a:p>
        </p:txBody>
      </p:sp>
      <p:sp>
        <p:nvSpPr>
          <p:cNvPr id="286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536094-E514-4035-AA8F-99A1F6CE3E38}" type="slidenum">
              <a:rPr lang="en-US" smtClean="0"/>
              <a:pPr/>
              <a:t>152</a:t>
            </a:fld>
            <a:endParaRPr lang="en-US" smtClean="0"/>
          </a:p>
        </p:txBody>
      </p:sp>
      <p:sp>
        <p:nvSpPr>
          <p:cNvPr id="296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DDD0A8-FE46-4327-91A6-7124D667D3B4}" type="slidenum">
              <a:rPr lang="en-US" smtClean="0"/>
              <a:pPr/>
              <a:t>153</a:t>
            </a:fld>
            <a:endParaRPr lang="en-US" smtClean="0"/>
          </a:p>
        </p:txBody>
      </p:sp>
      <p:sp>
        <p:nvSpPr>
          <p:cNvPr id="307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4F5F49-001B-48B6-9C48-C7602A4DC145}" type="slidenum">
              <a:rPr lang="en-US" smtClean="0"/>
              <a:pPr/>
              <a:t>154</a:t>
            </a:fld>
            <a:endParaRPr lang="en-US" smtClean="0"/>
          </a:p>
        </p:txBody>
      </p:sp>
      <p:sp>
        <p:nvSpPr>
          <p:cNvPr id="317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B80833-F9B0-4D97-84D4-BF97EC392C8F}" type="slidenum">
              <a:rPr lang="en-US" smtClean="0"/>
              <a:pPr/>
              <a:t>155</a:t>
            </a:fld>
            <a:endParaRPr lang="en-US" smtClean="0"/>
          </a:p>
        </p:txBody>
      </p:sp>
      <p:sp>
        <p:nvSpPr>
          <p:cNvPr id="327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74C710-05F6-400F-BBC6-E572950745B0}" type="slidenum">
              <a:rPr lang="en-US" smtClean="0"/>
              <a:pPr/>
              <a:t>156</a:t>
            </a:fld>
            <a:endParaRPr lang="en-US" smtClean="0"/>
          </a:p>
        </p:txBody>
      </p:sp>
      <p:sp>
        <p:nvSpPr>
          <p:cNvPr id="337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6C66705-3A53-4D56-A4BA-D32D5689CE88}" type="slidenum">
              <a:rPr lang="en-US" smtClean="0"/>
              <a:pPr/>
              <a:t>157</a:t>
            </a:fld>
            <a:endParaRPr lang="en-US" smtClean="0"/>
          </a:p>
        </p:txBody>
      </p:sp>
      <p:sp>
        <p:nvSpPr>
          <p:cNvPr id="348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A66493B-7457-4F09-ADAC-AB2E121C8327}" type="slidenum">
              <a:rPr lang="en-US" smtClean="0"/>
              <a:pPr/>
              <a:t>158</a:t>
            </a:fld>
            <a:endParaRPr lang="en-US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DF6C5C6-C1C8-41C4-AB42-0AE332B7B1C9}" type="slidenum">
              <a:rPr lang="en-US" smtClean="0"/>
              <a:pPr/>
              <a:t>159</a:t>
            </a:fld>
            <a:endParaRPr lang="en-US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A729E15-5BFC-41C0-8D9F-C4C2B63AA7E8}" type="slidenum">
              <a:rPr lang="en-US" smtClean="0"/>
              <a:pPr/>
              <a:t>160</a:t>
            </a:fld>
            <a:endParaRPr lang="en-US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DA665BC-C3EC-4222-8BF3-F78E2C4508C3}" type="slidenum">
              <a:rPr lang="en-US" smtClean="0"/>
              <a:pPr/>
              <a:t>161</a:t>
            </a:fld>
            <a:endParaRPr lang="en-US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C203490-B469-43BF-96EE-71BFDE3E7962}" type="slidenum">
              <a:rPr lang="en-US" smtClean="0"/>
              <a:pPr/>
              <a:t>162</a:t>
            </a:fld>
            <a:endParaRPr lang="en-US" smtClean="0"/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C86D38A-0BF8-4180-9F2A-53A823A7F24A}" type="slidenum">
              <a:rPr lang="en-US" smtClean="0"/>
              <a:pPr/>
              <a:t>163</a:t>
            </a:fld>
            <a:endParaRPr lang="en-US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191F41E-C0A4-46DF-8510-E85AA45C8F05}" type="slidenum">
              <a:rPr lang="en-US" smtClean="0"/>
              <a:pPr/>
              <a:t>164</a:t>
            </a:fld>
            <a:endParaRPr lang="en-US" smtClean="0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A23DF66-0F81-4D97-9170-0758A7A535EA}" type="slidenum">
              <a:rPr lang="en-US" smtClean="0"/>
              <a:pPr/>
              <a:t>165</a:t>
            </a:fld>
            <a:endParaRPr lang="en-US" smtClean="0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F19932E-50DB-4459-85AA-602EC1CC9664}" type="slidenum">
              <a:rPr lang="en-US" smtClean="0"/>
              <a:pPr/>
              <a:t>166</a:t>
            </a:fld>
            <a:endParaRPr lang="en-US" smtClean="0"/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06C6779-3BF0-4F2E-AE22-FB5E63703256}" type="slidenum">
              <a:rPr lang="en-US" smtClean="0"/>
              <a:pPr/>
              <a:t>167</a:t>
            </a:fld>
            <a:endParaRPr lang="en-US" smtClean="0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B120528-2378-4F43-A920-DE43EADE12EF}" type="slidenum">
              <a:rPr lang="en-US" smtClean="0"/>
              <a:pPr/>
              <a:t>176</a:t>
            </a:fld>
            <a:endParaRPr lang="en-US" smtClean="0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0CDE16-9426-4ADB-A0A9-E213D0F0D2E8}" type="slidenum">
              <a:rPr lang="en-US" smtClean="0"/>
              <a:pPr/>
              <a:t>185</a:t>
            </a:fld>
            <a:endParaRPr lang="en-US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8188FF-EEA8-44B4-99A2-FBBDC258CDED}" type="slidenum">
              <a:rPr lang="en-US" smtClean="0"/>
              <a:pPr/>
              <a:t>187</a:t>
            </a:fld>
            <a:endParaRPr lang="en-US" smtClean="0"/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7C1223-85B5-4168-934D-97800821C2D4}" type="slidenum">
              <a:rPr lang="en-US" smtClean="0"/>
              <a:pPr/>
              <a:t>188</a:t>
            </a:fld>
            <a:endParaRPr lang="en-US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3FE841-4B95-4987-B8DE-8660AECED3BD}" type="slidenum">
              <a:rPr lang="en-US" smtClean="0"/>
              <a:pPr/>
              <a:t>189</a:t>
            </a:fld>
            <a:endParaRPr lang="en-US" smtClean="0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EF0DDA-09A1-4FEC-B0F0-50578B642614}" type="slidenum">
              <a:rPr lang="en-US" smtClean="0"/>
              <a:pPr/>
              <a:t>190</a:t>
            </a:fld>
            <a:endParaRPr lang="en-US" smtClean="0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558199-90C2-428C-8A7E-4BB7258C6BB9}" type="slidenum">
              <a:rPr lang="en-US" smtClean="0"/>
              <a:pPr/>
              <a:t>192</a:t>
            </a:fld>
            <a:endParaRPr lang="en-US" smtClean="0"/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4E2381-BE9B-4039-927E-7559153E7A72}" type="slidenum">
              <a:rPr lang="en-US" smtClean="0"/>
              <a:pPr/>
              <a:t>193</a:t>
            </a:fld>
            <a:endParaRPr lang="en-US" smtClean="0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3E6431-C7C0-4DC7-97A2-1B6F1B6EE916}" type="slidenum">
              <a:rPr lang="en-US" smtClean="0"/>
              <a:pPr/>
              <a:t>194</a:t>
            </a:fld>
            <a:endParaRPr lang="en-US" smtClean="0"/>
          </a:p>
        </p:txBody>
      </p:sp>
      <p:sp>
        <p:nvSpPr>
          <p:cNvPr id="235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DFA17B-A687-44C7-B407-FBF251488AD8}" type="slidenum">
              <a:rPr lang="en-US" smtClean="0"/>
              <a:pPr/>
              <a:t>199</a:t>
            </a:fld>
            <a:endParaRPr lang="en-US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6A0D94-E3D2-4237-9A73-238AD11F67F9}" type="slidenum">
              <a:rPr lang="en-US" smtClean="0"/>
              <a:pPr/>
              <a:t>200</a:t>
            </a:fld>
            <a:endParaRPr lang="en-US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CB1AF7-E3EF-4565-B719-CED66F46BD30}" type="slidenum">
              <a:rPr lang="en-US" smtClean="0"/>
              <a:pPr/>
              <a:t>201</a:t>
            </a:fld>
            <a:endParaRPr lang="en-US" smtClean="0"/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061E14-0034-4594-AA50-0DBA0237EEC9}" type="slidenum">
              <a:rPr lang="en-US" smtClean="0"/>
              <a:pPr/>
              <a:t>202</a:t>
            </a:fld>
            <a:endParaRPr lang="en-US" smtClean="0"/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EA2AA6-2FAC-42A0-A8B3-3AB6ADDA5508}" type="slidenum">
              <a:rPr lang="en-US" smtClean="0"/>
              <a:pPr/>
              <a:t>203</a:t>
            </a:fld>
            <a:endParaRPr lang="en-US" smtClean="0"/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1EBD33-E146-4206-B83A-70E982FF627F}" type="slidenum">
              <a:rPr lang="en-US" smtClean="0"/>
              <a:pPr/>
              <a:t>204</a:t>
            </a:fld>
            <a:endParaRPr lang="en-US" smtClean="0"/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DADBB9-20EC-4BC0-A3B0-DB76F6974187}" type="slidenum">
              <a:rPr lang="en-US" smtClean="0"/>
              <a:pPr/>
              <a:t>205</a:t>
            </a:fld>
            <a:endParaRPr lang="en-US" smtClean="0"/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EBB90C-0CF7-4448-B82A-07DE6FFE048A}" type="slidenum">
              <a:rPr lang="en-US" smtClean="0"/>
              <a:pPr/>
              <a:t>206</a:t>
            </a:fld>
            <a:endParaRPr lang="en-US" smtClean="0"/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ADA90D-48CB-4E96-B3E1-F10FB2EE9BDF}" type="slidenum">
              <a:rPr lang="en-US" smtClean="0"/>
              <a:pPr/>
              <a:t>207</a:t>
            </a:fld>
            <a:endParaRPr lang="en-US" smtClean="0"/>
          </a:p>
        </p:txBody>
      </p:sp>
      <p:sp>
        <p:nvSpPr>
          <p:cNvPr id="235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DD368F-AC08-4F8A-B4BE-A8699A6A7891}" type="slidenum">
              <a:rPr lang="en-US" smtClean="0"/>
              <a:pPr/>
              <a:t>208</a:t>
            </a:fld>
            <a:endParaRPr lang="en-US" smtClean="0"/>
          </a:p>
        </p:txBody>
      </p:sp>
      <p:sp>
        <p:nvSpPr>
          <p:cNvPr id="245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B28D7F-3687-4CB4-B456-DDB6E81200BF}" type="slidenum">
              <a:rPr lang="en-US" smtClean="0"/>
              <a:pPr/>
              <a:t>209</a:t>
            </a:fld>
            <a:endParaRPr lang="en-US" smtClean="0"/>
          </a:p>
        </p:txBody>
      </p:sp>
      <p:sp>
        <p:nvSpPr>
          <p:cNvPr id="256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F03DB6-DEA2-436D-A791-64071DC1F078}" type="slidenum">
              <a:rPr lang="en-US" smtClean="0"/>
              <a:pPr/>
              <a:t>210</a:t>
            </a:fld>
            <a:endParaRPr lang="en-US" smtClean="0"/>
          </a:p>
        </p:txBody>
      </p:sp>
      <p:sp>
        <p:nvSpPr>
          <p:cNvPr id="266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.</a:t>
            </a: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DB1879D-F940-49D7-BCED-AFFC85262BFE}" type="slidenum">
              <a:rPr lang="en-US" smtClean="0"/>
              <a:pPr/>
              <a:t>213</a:t>
            </a:fld>
            <a:endParaRPr lang="en-US" smtClean="0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31C3992-E20A-4612-BF21-282A22E66820}" type="slidenum">
              <a:rPr lang="en-US" smtClean="0"/>
              <a:pPr/>
              <a:t>224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9AF2-A9F4-4BA3-A6C3-0F132F62FD81}" type="datetimeFigureOut">
              <a:rPr lang="en-US" smtClean="0"/>
              <a:t>12/27/2019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297A-DE0F-401B-9A85-EE9A54960D7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9AF2-A9F4-4BA3-A6C3-0F132F62FD81}" type="datetimeFigureOut">
              <a:rPr lang="en-US" smtClean="0"/>
              <a:t>12/27/2019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297A-DE0F-401B-9A85-EE9A54960D7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9AF2-A9F4-4BA3-A6C3-0F132F62FD81}" type="datetimeFigureOut">
              <a:rPr lang="en-US" smtClean="0"/>
              <a:t>12/27/2019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297A-DE0F-401B-9A85-EE9A54960D7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9AF2-A9F4-4BA3-A6C3-0F132F62FD81}" type="datetimeFigureOut">
              <a:rPr lang="en-US" smtClean="0"/>
              <a:t>12/27/2019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297A-DE0F-401B-9A85-EE9A54960D7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9AF2-A9F4-4BA3-A6C3-0F132F62FD81}" type="datetimeFigureOut">
              <a:rPr lang="en-US" smtClean="0"/>
              <a:t>12/27/2019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297A-DE0F-401B-9A85-EE9A54960D7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9AF2-A9F4-4BA3-A6C3-0F132F62FD81}" type="datetimeFigureOut">
              <a:rPr lang="en-US" smtClean="0"/>
              <a:t>12/27/2019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297A-DE0F-401B-9A85-EE9A54960D7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9AF2-A9F4-4BA3-A6C3-0F132F62FD81}" type="datetimeFigureOut">
              <a:rPr lang="en-US" smtClean="0"/>
              <a:t>12/27/2019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297A-DE0F-401B-9A85-EE9A54960D7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9AF2-A9F4-4BA3-A6C3-0F132F62FD81}" type="datetimeFigureOut">
              <a:rPr lang="en-US" smtClean="0"/>
              <a:t>12/27/2019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297A-DE0F-401B-9A85-EE9A54960D7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9AF2-A9F4-4BA3-A6C3-0F132F62FD81}" type="datetimeFigureOut">
              <a:rPr lang="en-US" smtClean="0"/>
              <a:t>12/27/2019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297A-DE0F-401B-9A85-EE9A54960D7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9AF2-A9F4-4BA3-A6C3-0F132F62FD81}" type="datetimeFigureOut">
              <a:rPr lang="en-US" smtClean="0"/>
              <a:t>12/27/2019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297A-DE0F-401B-9A85-EE9A54960D7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69AF2-A9F4-4BA3-A6C3-0F132F62FD81}" type="datetimeFigureOut">
              <a:rPr lang="en-US" smtClean="0"/>
              <a:t>12/27/2019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297A-DE0F-401B-9A85-EE9A54960D7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69AF2-A9F4-4BA3-A6C3-0F132F62FD81}" type="datetimeFigureOut">
              <a:rPr lang="en-US" smtClean="0"/>
              <a:t>12/27/2019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E297A-DE0F-401B-9A85-EE9A54960D7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13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6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7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7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7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7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7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7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7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7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7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7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7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7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7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7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WordArt 2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620000" cy="1828800"/>
          </a:xfrm>
          <a:prstGeom prst="rect">
            <a:avLst/>
          </a:prstGeom>
        </p:spPr>
        <p:txBody>
          <a:bodyPr wrap="none" fromWordArt="1">
            <a:prstTxWarp prst="textWave2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8200"/>
                    </a:gs>
                    <a:gs pos="5000">
                      <a:srgbClr val="FF0000"/>
                    </a:gs>
                    <a:gs pos="17500">
                      <a:srgbClr val="BA0066"/>
                    </a:gs>
                    <a:gs pos="35001">
                      <a:srgbClr val="66008F"/>
                    </a:gs>
                    <a:gs pos="50000">
                      <a:srgbClr val="000082"/>
                    </a:gs>
                    <a:gs pos="64999">
                      <a:srgbClr val="66008F"/>
                    </a:gs>
                    <a:gs pos="82500">
                      <a:srgbClr val="BA0066"/>
                    </a:gs>
                    <a:gs pos="95000">
                      <a:srgbClr val="FF0000"/>
                    </a:gs>
                    <a:gs pos="100000">
                      <a:srgbClr val="FF8200"/>
                    </a:gs>
                  </a:gsLst>
                  <a:lin ang="5400000" scaled="1"/>
                </a:gradFill>
                <a:latin typeface="Arial Black"/>
              </a:rPr>
              <a:t>' C ' PROGRAMMING</a:t>
            </a:r>
          </a:p>
        </p:txBody>
      </p:sp>
      <p:pic>
        <p:nvPicPr>
          <p:cNvPr id="4099" name="Picture 4" descr="ant-dance[1]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334000"/>
            <a:ext cx="1233488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WordArt 2"/>
          <p:cNvSpPr>
            <a:spLocks noChangeArrowheads="1" noChangeShapeType="1" noTextEdit="1"/>
          </p:cNvSpPr>
          <p:nvPr/>
        </p:nvSpPr>
        <p:spPr bwMode="auto">
          <a:xfrm>
            <a:off x="2514600" y="3276600"/>
            <a:ext cx="5791200" cy="1295400"/>
          </a:xfrm>
          <a:prstGeom prst="rect">
            <a:avLst/>
          </a:prstGeom>
        </p:spPr>
        <p:txBody>
          <a:bodyPr wrap="none" fromWordArt="1">
            <a:prstTxWarp prst="textWave2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FF6600"/>
                </a:solidFill>
                <a:effectLst>
                  <a:prstShdw prst="shdw13" dist="53882" dir="13500000">
                    <a:srgbClr val="000099">
                      <a:alpha val="50000"/>
                    </a:srgbClr>
                  </a:prstShdw>
                </a:effectLst>
                <a:latin typeface="Impact"/>
              </a:rPr>
              <a:t>"C" FUNDAMENTALS</a:t>
            </a:r>
          </a:p>
        </p:txBody>
      </p:sp>
      <p:sp>
        <p:nvSpPr>
          <p:cNvPr id="7171" name="WordArt 3"/>
          <p:cNvSpPr>
            <a:spLocks noChangeArrowheads="1" noChangeShapeType="1" noTextEdit="1"/>
          </p:cNvSpPr>
          <p:nvPr/>
        </p:nvSpPr>
        <p:spPr bwMode="auto">
          <a:xfrm>
            <a:off x="3352800" y="990600"/>
            <a:ext cx="3733800" cy="5238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0066"/>
                    </a:gs>
                    <a:gs pos="50000">
                      <a:srgbClr val="FF0066"/>
                    </a:gs>
                    <a:gs pos="100000">
                      <a:srgbClr val="FF0066"/>
                    </a:gs>
                  </a:gsLst>
                  <a:lin ang="18900000" scaled="1"/>
                </a:gradFill>
                <a:effectLst>
                  <a:outerShdw dist="563972" dir="14049741" sx="125000" sy="125000" algn="tl" rotWithShape="0">
                    <a:srgbClr val="C7DFD3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CHAPTER 1</a:t>
            </a:r>
          </a:p>
        </p:txBody>
      </p:sp>
      <p:pic>
        <p:nvPicPr>
          <p:cNvPr id="5124" name="Picture 4" descr="ant-dance[1]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334000"/>
            <a:ext cx="1233488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 advClick="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nimBg="1"/>
      <p:bldP spid="717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2971800" y="501650"/>
            <a:ext cx="4876800" cy="641350"/>
          </a:xfrm>
          <a:prstGeom prst="rect">
            <a:avLst/>
          </a:prstGeom>
          <a:solidFill>
            <a:srgbClr val="660033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3600" b="1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</a:t>
            </a:r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Session</a:t>
            </a:r>
            <a:r>
              <a:rPr lang="en-US" sz="3600" b="1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Objectives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3200400" y="962025"/>
            <a:ext cx="5562600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@"/>
            </a:pPr>
            <a:r>
              <a:rPr lang="en-US" sz="2800" b="1">
                <a:solidFill>
                  <a:srgbClr val="CC0000"/>
                </a:solidFill>
                <a:latin typeface="Times New Roman" pitchFamily="18" charset="0"/>
              </a:rPr>
              <a:t>  </a:t>
            </a:r>
            <a:r>
              <a:rPr lang="en-US" sz="2400" b="1">
                <a:solidFill>
                  <a:srgbClr val="CC0000"/>
                </a:solidFill>
                <a:latin typeface="Times New Roman" pitchFamily="18" charset="0"/>
              </a:rPr>
              <a:t>Discuss the Origin of C</a:t>
            </a:r>
          </a:p>
          <a:p>
            <a:pPr>
              <a:lnSpc>
                <a:spcPct val="200000"/>
              </a:lnSpc>
              <a:buFont typeface="Wingdings" pitchFamily="2" charset="2"/>
              <a:buChar char="@"/>
            </a:pPr>
            <a:r>
              <a:rPr lang="en-US" sz="2400" b="1">
                <a:solidFill>
                  <a:srgbClr val="CC0000"/>
                </a:solidFill>
                <a:latin typeface="Times New Roman" pitchFamily="18" charset="0"/>
              </a:rPr>
              <a:t>  Features of C</a:t>
            </a:r>
          </a:p>
          <a:p>
            <a:pPr>
              <a:lnSpc>
                <a:spcPct val="200000"/>
              </a:lnSpc>
              <a:buFont typeface="Wingdings" pitchFamily="2" charset="2"/>
              <a:buChar char="@"/>
            </a:pPr>
            <a:r>
              <a:rPr lang="en-US" sz="2400" b="1">
                <a:solidFill>
                  <a:srgbClr val="CC0000"/>
                </a:solidFill>
                <a:latin typeface="Times New Roman" pitchFamily="18" charset="0"/>
              </a:rPr>
              <a:t>  Characteristics of C</a:t>
            </a:r>
          </a:p>
          <a:p>
            <a:pPr>
              <a:lnSpc>
                <a:spcPct val="200000"/>
              </a:lnSpc>
              <a:buFont typeface="Wingdings" pitchFamily="2" charset="2"/>
              <a:buChar char="@"/>
            </a:pPr>
            <a:r>
              <a:rPr lang="en-US" sz="2400" b="1">
                <a:solidFill>
                  <a:srgbClr val="CC0000"/>
                </a:solidFill>
                <a:latin typeface="Times New Roman" pitchFamily="18" charset="0"/>
              </a:rPr>
              <a:t>  Current Uses of C</a:t>
            </a:r>
          </a:p>
          <a:p>
            <a:pPr>
              <a:lnSpc>
                <a:spcPct val="200000"/>
              </a:lnSpc>
              <a:buFont typeface="Wingdings" pitchFamily="2" charset="2"/>
              <a:buChar char="@"/>
            </a:pPr>
            <a:r>
              <a:rPr lang="en-US" sz="2400" b="1">
                <a:solidFill>
                  <a:srgbClr val="CC0000"/>
                </a:solidFill>
                <a:latin typeface="Times New Roman" pitchFamily="18" charset="0"/>
              </a:rPr>
              <a:t>  “C”  Programming Structure</a:t>
            </a:r>
          </a:p>
          <a:p>
            <a:pPr>
              <a:lnSpc>
                <a:spcPct val="200000"/>
              </a:lnSpc>
              <a:buFont typeface="Wingdings" pitchFamily="2" charset="2"/>
              <a:buChar char="@"/>
            </a:pPr>
            <a:r>
              <a:rPr lang="en-US" sz="2400" b="1">
                <a:solidFill>
                  <a:srgbClr val="CC0000"/>
                </a:solidFill>
                <a:latin typeface="Times New Roman" pitchFamily="18" charset="0"/>
              </a:rPr>
              <a:t>  Character Set</a:t>
            </a:r>
          </a:p>
          <a:p>
            <a:pPr>
              <a:lnSpc>
                <a:spcPct val="200000"/>
              </a:lnSpc>
            </a:pPr>
            <a:endParaRPr lang="en-US" sz="2400" b="1">
              <a:solidFill>
                <a:srgbClr val="CC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nimBg="1"/>
      <p:bldP spid="819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WordArt 2"/>
          <p:cNvSpPr>
            <a:spLocks noChangeArrowheads="1" noChangeShapeType="1" noTextEdit="1"/>
          </p:cNvSpPr>
          <p:nvPr/>
        </p:nvSpPr>
        <p:spPr bwMode="auto">
          <a:xfrm>
            <a:off x="3505200" y="2133600"/>
            <a:ext cx="990600" cy="11049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10199"/>
              </a:avLst>
            </a:prstTxWarp>
          </a:bodyPr>
          <a:lstStyle/>
          <a:p>
            <a:pPr algn="ctr"/>
            <a:r>
              <a:rPr lang="en-IN" sz="54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660033"/>
                </a:solidFill>
                <a:latin typeface="Impact"/>
              </a:rPr>
              <a:t>+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85800" y="1981200"/>
            <a:ext cx="2346325" cy="1657350"/>
            <a:chOff x="432" y="1248"/>
            <a:chExt cx="1478" cy="1044"/>
          </a:xfrm>
        </p:grpSpPr>
        <p:sp>
          <p:nvSpPr>
            <p:cNvPr id="7179" name="WordArt 4"/>
            <p:cNvSpPr>
              <a:spLocks noChangeArrowheads="1" noChangeShapeType="1" noTextEdit="1"/>
            </p:cNvSpPr>
            <p:nvPr/>
          </p:nvSpPr>
          <p:spPr bwMode="auto">
            <a:xfrm>
              <a:off x="528" y="1248"/>
              <a:ext cx="1382" cy="408"/>
            </a:xfrm>
            <a:prstGeom prst="rect">
              <a:avLst/>
            </a:prstGeom>
          </p:spPr>
          <p:txBody>
            <a:bodyPr wrap="none" fromWordArt="1">
              <a:prstTxWarp prst="textFadeUp">
                <a:avLst>
                  <a:gd name="adj" fmla="val 9991"/>
                </a:avLst>
              </a:prstTxWarp>
            </a:bodyPr>
            <a:lstStyle/>
            <a:p>
              <a:pPr algn="ctr"/>
              <a:r>
                <a:rPr lang="en-IN" sz="3600" kern="10">
                  <a:ln w="12700">
                    <a:solidFill>
                      <a:srgbClr val="B2B2B2"/>
                    </a:solidFill>
                    <a:round/>
                    <a:headEnd/>
                    <a:tailEnd/>
                  </a:ln>
                  <a:solidFill>
                    <a:srgbClr val="800000"/>
                  </a:solidFill>
                  <a:effectLst>
                    <a:outerShdw dist="35921" dir="2700000" sy="50000" rotWithShape="0">
                      <a:srgbClr val="875B0D">
                        <a:alpha val="70000"/>
                      </a:srgbClr>
                    </a:outerShdw>
                  </a:effectLst>
                  <a:latin typeface="Arial Black"/>
                </a:rPr>
                <a:t>LOW LEVEL</a:t>
              </a:r>
            </a:p>
          </p:txBody>
        </p:sp>
        <p:sp>
          <p:nvSpPr>
            <p:cNvPr id="7180" name="WordArt 5"/>
            <p:cNvSpPr>
              <a:spLocks noChangeArrowheads="1" noChangeShapeType="1" noTextEdit="1"/>
            </p:cNvSpPr>
            <p:nvPr/>
          </p:nvSpPr>
          <p:spPr bwMode="auto">
            <a:xfrm>
              <a:off x="432" y="1884"/>
              <a:ext cx="1382" cy="408"/>
            </a:xfrm>
            <a:prstGeom prst="rect">
              <a:avLst/>
            </a:prstGeom>
          </p:spPr>
          <p:txBody>
            <a:bodyPr wrap="none" fromWordArt="1">
              <a:prstTxWarp prst="textFadeUp">
                <a:avLst>
                  <a:gd name="adj" fmla="val 9991"/>
                </a:avLst>
              </a:prstTxWarp>
            </a:bodyPr>
            <a:lstStyle/>
            <a:p>
              <a:pPr algn="ctr"/>
              <a:r>
                <a:rPr lang="en-IN" sz="3600" kern="10">
                  <a:ln w="12700">
                    <a:solidFill>
                      <a:srgbClr val="B2B2B2"/>
                    </a:solidFill>
                    <a:round/>
                    <a:headEnd/>
                    <a:tailEnd/>
                  </a:ln>
                  <a:solidFill>
                    <a:srgbClr val="800000"/>
                  </a:solidFill>
                  <a:effectLst>
                    <a:outerShdw dist="35921" dir="2700000" sy="50000" rotWithShape="0">
                      <a:srgbClr val="875B0D">
                        <a:alpha val="70000"/>
                      </a:srgbClr>
                    </a:outerShdw>
                  </a:effectLst>
                  <a:latin typeface="Arial Black"/>
                </a:rPr>
                <a:t>LANGUAGE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4876800" y="1905000"/>
            <a:ext cx="2590800" cy="1595438"/>
            <a:chOff x="3072" y="1200"/>
            <a:chExt cx="1632" cy="1005"/>
          </a:xfrm>
        </p:grpSpPr>
        <p:sp>
          <p:nvSpPr>
            <p:cNvPr id="7177" name="WordArt 7"/>
            <p:cNvSpPr>
              <a:spLocks noChangeArrowheads="1" noChangeShapeType="1" noTextEdit="1"/>
            </p:cNvSpPr>
            <p:nvPr/>
          </p:nvSpPr>
          <p:spPr bwMode="auto">
            <a:xfrm>
              <a:off x="3168" y="1200"/>
              <a:ext cx="1536" cy="408"/>
            </a:xfrm>
            <a:prstGeom prst="rect">
              <a:avLst/>
            </a:prstGeom>
          </p:spPr>
          <p:txBody>
            <a:bodyPr wrap="none" fromWordArt="1">
              <a:prstTxWarp prst="textFadeUp">
                <a:avLst>
                  <a:gd name="adj" fmla="val 9991"/>
                </a:avLst>
              </a:prstTxWarp>
            </a:bodyPr>
            <a:lstStyle/>
            <a:p>
              <a:pPr algn="ctr"/>
              <a:r>
                <a:rPr lang="en-IN" sz="3600" kern="10">
                  <a:ln w="12700">
                    <a:solidFill>
                      <a:srgbClr val="B2B2B2"/>
                    </a:solidFill>
                    <a:round/>
                    <a:headEnd/>
                    <a:tailEnd/>
                  </a:ln>
                  <a:solidFill>
                    <a:srgbClr val="800000"/>
                  </a:solidFill>
                  <a:effectLst>
                    <a:outerShdw dist="35921" dir="2700000" sy="50000" rotWithShape="0">
                      <a:srgbClr val="875B0D">
                        <a:alpha val="70000"/>
                      </a:srgbClr>
                    </a:outerShdw>
                  </a:effectLst>
                  <a:latin typeface="Arial Black"/>
                </a:rPr>
                <a:t>HIGH LEVEL</a:t>
              </a:r>
            </a:p>
          </p:txBody>
        </p:sp>
        <p:sp>
          <p:nvSpPr>
            <p:cNvPr id="7178" name="WordArt 8"/>
            <p:cNvSpPr>
              <a:spLocks noChangeArrowheads="1" noChangeShapeType="1" noTextEdit="1"/>
            </p:cNvSpPr>
            <p:nvPr/>
          </p:nvSpPr>
          <p:spPr bwMode="auto">
            <a:xfrm>
              <a:off x="3072" y="1797"/>
              <a:ext cx="1584" cy="408"/>
            </a:xfrm>
            <a:prstGeom prst="rect">
              <a:avLst/>
            </a:prstGeom>
          </p:spPr>
          <p:txBody>
            <a:bodyPr wrap="none" fromWordArt="1">
              <a:prstTxWarp prst="textFadeUp">
                <a:avLst>
                  <a:gd name="adj" fmla="val 9991"/>
                </a:avLst>
              </a:prstTxWarp>
            </a:bodyPr>
            <a:lstStyle/>
            <a:p>
              <a:pPr algn="ctr"/>
              <a:r>
                <a:rPr lang="en-IN" sz="3600" kern="10">
                  <a:ln w="12700">
                    <a:solidFill>
                      <a:srgbClr val="B2B2B2"/>
                    </a:solidFill>
                    <a:round/>
                    <a:headEnd/>
                    <a:tailEnd/>
                  </a:ln>
                  <a:solidFill>
                    <a:srgbClr val="800000"/>
                  </a:solidFill>
                  <a:effectLst>
                    <a:outerShdw dist="35921" dir="2700000" sy="50000" rotWithShape="0">
                      <a:srgbClr val="875B0D">
                        <a:alpha val="70000"/>
                      </a:srgbClr>
                    </a:outerShdw>
                  </a:effectLst>
                  <a:latin typeface="Arial Black"/>
                </a:rPr>
                <a:t>LANGUAGE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533400" y="609600"/>
            <a:ext cx="8305800" cy="4924425"/>
            <a:chOff x="336" y="384"/>
            <a:chExt cx="5232" cy="3102"/>
          </a:xfrm>
        </p:grpSpPr>
        <p:sp>
          <p:nvSpPr>
            <p:cNvPr id="7174" name="Text Box 10"/>
            <p:cNvSpPr txBox="1">
              <a:spLocks noChangeArrowheads="1"/>
            </p:cNvSpPr>
            <p:nvPr/>
          </p:nvSpPr>
          <p:spPr bwMode="auto">
            <a:xfrm>
              <a:off x="336" y="384"/>
              <a:ext cx="523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3600" b="1">
                  <a:solidFill>
                    <a:srgbClr val="660033"/>
                  </a:solidFill>
                </a:rPr>
                <a:t>“C” is a Middle Level language</a:t>
              </a:r>
            </a:p>
          </p:txBody>
        </p:sp>
        <p:sp>
          <p:nvSpPr>
            <p:cNvPr id="7175" name="WordArt 11"/>
            <p:cNvSpPr>
              <a:spLocks noChangeArrowheads="1" noChangeShapeType="1" noTextEdit="1"/>
            </p:cNvSpPr>
            <p:nvPr/>
          </p:nvSpPr>
          <p:spPr bwMode="auto">
            <a:xfrm>
              <a:off x="912" y="2688"/>
              <a:ext cx="3528" cy="2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2400" kern="10">
                  <a:ln w="12700">
                    <a:noFill/>
                    <a:round/>
                    <a:headEnd/>
                    <a:tailEnd/>
                  </a:ln>
                  <a:solidFill>
                    <a:srgbClr val="660033"/>
                  </a:solidFill>
                  <a:latin typeface="Arial Black"/>
                </a:rPr>
                <a:t>“C” is a compiler based Language</a:t>
              </a:r>
            </a:p>
          </p:txBody>
        </p:sp>
        <p:sp>
          <p:nvSpPr>
            <p:cNvPr id="7176" name="WordArt 12"/>
            <p:cNvSpPr>
              <a:spLocks noChangeArrowheads="1" noChangeShapeType="1" noTextEdit="1"/>
            </p:cNvSpPr>
            <p:nvPr/>
          </p:nvSpPr>
          <p:spPr bwMode="auto">
            <a:xfrm>
              <a:off x="960" y="3216"/>
              <a:ext cx="3486" cy="2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2400" kern="10">
                  <a:ln w="12700">
                    <a:noFill/>
                    <a:round/>
                    <a:headEnd/>
                    <a:tailEnd/>
                  </a:ln>
                  <a:solidFill>
                    <a:srgbClr val="660033"/>
                  </a:solidFill>
                  <a:latin typeface="Arial Black"/>
                </a:rPr>
                <a:t>“C” is a Case Sensitive Language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52400" y="1509713"/>
            <a:ext cx="8763000" cy="1309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3200" b="1">
                <a:latin typeface="Bookman Old Style" pitchFamily="18" charset="0"/>
              </a:rPr>
              <a:t>	</a:t>
            </a:r>
            <a:r>
              <a:rPr lang="en-US" sz="2400" b="1">
                <a:latin typeface="Times New Roman" pitchFamily="18" charset="0"/>
              </a:rPr>
              <a:t>“C” is a Structure &amp; Procedure Oriented Programming language developed by 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</a:rPr>
              <a:t>Dennis Ritchie </a:t>
            </a:r>
            <a:r>
              <a:rPr lang="en-US" sz="2400" b="1">
                <a:latin typeface="Times New Roman" pitchFamily="18" charset="0"/>
              </a:rPr>
              <a:t>at 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</a:rPr>
              <a:t>AT&amp;T Bell Laboratories in USA  </a:t>
            </a:r>
            <a:r>
              <a:rPr lang="en-US" sz="2400" b="1">
                <a:latin typeface="Times New Roman" pitchFamily="18" charset="0"/>
              </a:rPr>
              <a:t>in the Year 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</a:rPr>
              <a:t>1972</a:t>
            </a:r>
            <a:endParaRPr lang="en-US" sz="2400" b="1">
              <a:latin typeface="Times New Roman" pitchFamily="18" charset="0"/>
            </a:endParaRPr>
          </a:p>
        </p:txBody>
      </p:sp>
      <p:sp>
        <p:nvSpPr>
          <p:cNvPr id="10243" name="WordArt 3"/>
          <p:cNvSpPr>
            <a:spLocks noChangeArrowheads="1" noChangeShapeType="1" noTextEdit="1"/>
          </p:cNvSpPr>
          <p:nvPr/>
        </p:nvSpPr>
        <p:spPr bwMode="auto">
          <a:xfrm>
            <a:off x="3124200" y="4419600"/>
            <a:ext cx="47244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19050">
                  <a:noFill/>
                  <a:round/>
                  <a:headEnd/>
                  <a:tailEnd/>
                </a:ln>
                <a:solidFill>
                  <a:srgbClr val="990033"/>
                </a:solidFill>
                <a:latin typeface="Bookman Old Style"/>
              </a:rPr>
              <a:t>B  - Ken Thompson</a:t>
            </a:r>
          </a:p>
        </p:txBody>
      </p:sp>
      <p:sp>
        <p:nvSpPr>
          <p:cNvPr id="10244" name="WordArt 4"/>
          <p:cNvSpPr>
            <a:spLocks noChangeArrowheads="1" noChangeShapeType="1" noTextEdit="1"/>
          </p:cNvSpPr>
          <p:nvPr/>
        </p:nvSpPr>
        <p:spPr bwMode="auto">
          <a:xfrm>
            <a:off x="3124200" y="5638800"/>
            <a:ext cx="47244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19050">
                  <a:noFill/>
                  <a:round/>
                  <a:headEnd/>
                  <a:tailEnd/>
                </a:ln>
                <a:solidFill>
                  <a:srgbClr val="990033"/>
                </a:solidFill>
                <a:latin typeface="Bookman Old Style"/>
              </a:rPr>
              <a:t>C  - Dennis Ritchie</a:t>
            </a: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3276600" y="3810000"/>
            <a:ext cx="0" cy="609600"/>
          </a:xfrm>
          <a:prstGeom prst="line">
            <a:avLst/>
          </a:prstGeom>
          <a:noFill/>
          <a:ln w="76200">
            <a:solidFill>
              <a:srgbClr val="CC00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3276600" y="4953000"/>
            <a:ext cx="0" cy="609600"/>
          </a:xfrm>
          <a:prstGeom prst="line">
            <a:avLst/>
          </a:prstGeom>
          <a:noFill/>
          <a:ln w="76200">
            <a:solidFill>
              <a:srgbClr val="CC00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743200" y="3048000"/>
            <a:ext cx="5791200" cy="762000"/>
            <a:chOff x="1728" y="1920"/>
            <a:chExt cx="3648" cy="480"/>
          </a:xfrm>
        </p:grpSpPr>
        <p:sp>
          <p:nvSpPr>
            <p:cNvPr id="8201" name="WordArt 8"/>
            <p:cNvSpPr>
              <a:spLocks noChangeArrowheads="1" noChangeShapeType="1" noTextEdit="1"/>
            </p:cNvSpPr>
            <p:nvPr/>
          </p:nvSpPr>
          <p:spPr bwMode="auto">
            <a:xfrm>
              <a:off x="1824" y="1920"/>
              <a:ext cx="2976" cy="24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b="1" kern="10">
                  <a:ln w="19050">
                    <a:noFill/>
                    <a:round/>
                    <a:headEnd/>
                    <a:tailEnd/>
                  </a:ln>
                  <a:solidFill>
                    <a:srgbClr val="990033"/>
                  </a:solidFill>
                  <a:latin typeface="Bookman Old Style"/>
                </a:rPr>
                <a:t>BCPL  - Martin Richards</a:t>
              </a:r>
            </a:p>
          </p:txBody>
        </p:sp>
        <p:sp>
          <p:nvSpPr>
            <p:cNvPr id="8202" name="Text Box 9"/>
            <p:cNvSpPr txBox="1">
              <a:spLocks noChangeArrowheads="1"/>
            </p:cNvSpPr>
            <p:nvPr/>
          </p:nvSpPr>
          <p:spPr bwMode="auto">
            <a:xfrm>
              <a:off x="1728" y="2150"/>
              <a:ext cx="364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(</a:t>
              </a:r>
              <a:r>
                <a:rPr lang="en-US" sz="2000" b="1" u="sng"/>
                <a:t>B</a:t>
              </a:r>
              <a:r>
                <a:rPr lang="en-US" b="1"/>
                <a:t>asic </a:t>
              </a:r>
              <a:r>
                <a:rPr lang="en-US" sz="2000" b="1" u="sng"/>
                <a:t>C</a:t>
              </a:r>
              <a:r>
                <a:rPr lang="en-US" b="1"/>
                <a:t>ombined </a:t>
              </a:r>
              <a:r>
                <a:rPr lang="en-US" sz="2000" b="1" u="sng"/>
                <a:t>P</a:t>
              </a:r>
              <a:r>
                <a:rPr lang="en-US" b="1"/>
                <a:t>rogramming </a:t>
              </a:r>
              <a:r>
                <a:rPr lang="en-US" sz="2000" b="1" u="sng"/>
                <a:t>L</a:t>
              </a:r>
              <a:r>
                <a:rPr lang="en-US" b="1"/>
                <a:t>anguage)</a:t>
              </a:r>
            </a:p>
          </p:txBody>
        </p:sp>
      </p:grpSp>
      <p:sp>
        <p:nvSpPr>
          <p:cNvPr id="10250" name="WordArt 10"/>
          <p:cNvSpPr>
            <a:spLocks noChangeArrowheads="1" noChangeShapeType="1" noTextEdit="1"/>
          </p:cNvSpPr>
          <p:nvPr/>
        </p:nvSpPr>
        <p:spPr bwMode="auto">
          <a:xfrm>
            <a:off x="1981200" y="381000"/>
            <a:ext cx="5410200" cy="1219200"/>
          </a:xfrm>
          <a:prstGeom prst="rect">
            <a:avLst/>
          </a:prstGeom>
        </p:spPr>
        <p:txBody>
          <a:bodyPr wrap="none" fromWordArt="1">
            <a:prstTxWarp prst="textDeflateBottom">
              <a:avLst>
                <a:gd name="adj" fmla="val 53125"/>
              </a:avLst>
            </a:prstTxWarp>
          </a:bodyPr>
          <a:lstStyle/>
          <a:p>
            <a:pPr algn="ctr"/>
            <a:r>
              <a:rPr lang="en-IN" sz="3600" kern="10" spc="720">
                <a:ln w="9525">
                  <a:noFill/>
                  <a:round/>
                  <a:headEnd/>
                  <a:tailEnd/>
                </a:ln>
                <a:solidFill>
                  <a:srgbClr val="660033"/>
                </a:soli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latin typeface="Arial Black"/>
              </a:rPr>
              <a:t>The Origin of “C”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6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1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10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10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3" grpId="0" animBg="1"/>
      <p:bldP spid="10244" grpId="0" animBg="1"/>
      <p:bldP spid="10245" grpId="0" animBg="1"/>
      <p:bldP spid="10246" grpId="0" animBg="1"/>
      <p:bldP spid="1025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533400" y="609600"/>
            <a:ext cx="8305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00" b="1">
                <a:solidFill>
                  <a:srgbClr val="FF3300"/>
                </a:solidFill>
              </a:rPr>
              <a:t>Features of “C” Language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57200" y="1676400"/>
            <a:ext cx="8534400" cy="4419600"/>
            <a:chOff x="624" y="1008"/>
            <a:chExt cx="5376" cy="2784"/>
          </a:xfrm>
        </p:grpSpPr>
        <p:sp>
          <p:nvSpPr>
            <p:cNvPr id="9220" name="AutoShape 4"/>
            <p:cNvSpPr>
              <a:spLocks noChangeArrowheads="1"/>
            </p:cNvSpPr>
            <p:nvPr/>
          </p:nvSpPr>
          <p:spPr bwMode="auto">
            <a:xfrm>
              <a:off x="624" y="1008"/>
              <a:ext cx="5376" cy="2784"/>
            </a:xfrm>
            <a:prstGeom prst="verticalScroll">
              <a:avLst>
                <a:gd name="adj" fmla="val 8046"/>
              </a:avLst>
            </a:prstGeom>
            <a:solidFill>
              <a:schemeClr val="accent1"/>
            </a:solidFill>
            <a:ln w="38100">
              <a:solidFill>
                <a:srgbClr val="CC0099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9221" name="Text Box 5"/>
            <p:cNvSpPr txBox="1">
              <a:spLocks noChangeArrowheads="1"/>
            </p:cNvSpPr>
            <p:nvPr/>
          </p:nvSpPr>
          <p:spPr bwMode="auto">
            <a:xfrm>
              <a:off x="1296" y="1296"/>
              <a:ext cx="4368" cy="2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itchFamily="2" charset="2"/>
                <a:buChar char="§"/>
              </a:pPr>
              <a:r>
                <a:rPr lang="en-US" sz="2800" b="1">
                  <a:solidFill>
                    <a:srgbClr val="660033"/>
                  </a:solidFill>
                  <a:latin typeface="Times New Roman" pitchFamily="18" charset="0"/>
                </a:rPr>
                <a:t> Economy of Expressions</a:t>
              </a:r>
            </a:p>
            <a:p>
              <a:pPr>
                <a:spcBef>
                  <a:spcPct val="50000"/>
                </a:spcBef>
                <a:buFont typeface="Wingdings" pitchFamily="2" charset="2"/>
                <a:buChar char="§"/>
              </a:pPr>
              <a:r>
                <a:rPr lang="en-US" sz="2800" b="1">
                  <a:solidFill>
                    <a:srgbClr val="660033"/>
                  </a:solidFill>
                  <a:latin typeface="Times New Roman" pitchFamily="18" charset="0"/>
                </a:rPr>
                <a:t> Modern Control Flow and Structures</a:t>
              </a:r>
            </a:p>
            <a:p>
              <a:pPr>
                <a:spcBef>
                  <a:spcPct val="50000"/>
                </a:spcBef>
                <a:buFont typeface="Wingdings" pitchFamily="2" charset="2"/>
                <a:buChar char="§"/>
              </a:pPr>
              <a:r>
                <a:rPr lang="en-US" sz="2800" b="1">
                  <a:solidFill>
                    <a:srgbClr val="660033"/>
                  </a:solidFill>
                  <a:latin typeface="Times New Roman" pitchFamily="18" charset="0"/>
                </a:rPr>
                <a:t> Rich Set of Operators</a:t>
              </a:r>
            </a:p>
            <a:p>
              <a:pPr algn="just">
                <a:spcBef>
                  <a:spcPct val="50000"/>
                </a:spcBef>
                <a:buFont typeface="Wingdings" pitchFamily="2" charset="2"/>
                <a:buChar char="§"/>
              </a:pPr>
              <a:r>
                <a:rPr lang="en-US" sz="2800" b="1">
                  <a:solidFill>
                    <a:srgbClr val="660033"/>
                  </a:solidFill>
                  <a:latin typeface="Times New Roman" pitchFamily="18" charset="0"/>
                </a:rPr>
                <a:t> It is Well suited for writing both System Software like Operating Systems, Interpreters, Editors and Assembly  Programs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WordArt 2"/>
          <p:cNvSpPr>
            <a:spLocks noChangeArrowheads="1" noChangeShapeType="1" noTextEdit="1"/>
          </p:cNvSpPr>
          <p:nvPr/>
        </p:nvSpPr>
        <p:spPr bwMode="auto">
          <a:xfrm>
            <a:off x="1676400" y="381000"/>
            <a:ext cx="6172200" cy="838200"/>
          </a:xfrm>
          <a:prstGeom prst="rect">
            <a:avLst/>
          </a:prstGeom>
        </p:spPr>
        <p:txBody>
          <a:bodyPr wrap="none" fromWordArt="1">
            <a:prstTxWarp prst="textTriangle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660033"/>
                </a:solidFill>
                <a:latin typeface="Times New Roman"/>
                <a:cs typeface="Times New Roman"/>
              </a:rPr>
              <a:t>CURRENT USES OF "C"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838200" y="1917700"/>
            <a:ext cx="7848600" cy="44831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400" b="1">
                <a:solidFill>
                  <a:srgbClr val="660033"/>
                </a:solidFill>
              </a:rPr>
              <a:t>    </a:t>
            </a:r>
            <a:r>
              <a:rPr lang="en-US" sz="2000" b="1">
                <a:solidFill>
                  <a:srgbClr val="660033"/>
                </a:solidFill>
              </a:rPr>
              <a:t>UNIX Operating System was Developed  by Using “C”             </a:t>
            </a:r>
          </a:p>
          <a:p>
            <a:pPr>
              <a:lnSpc>
                <a:spcPct val="85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sz="2000" b="1">
                <a:solidFill>
                  <a:srgbClr val="660033"/>
                </a:solidFill>
              </a:rPr>
              <a:t>         Language</a:t>
            </a:r>
          </a:p>
          <a:p>
            <a:pPr>
              <a:lnSpc>
                <a:spcPct val="85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000" b="1">
                <a:solidFill>
                  <a:srgbClr val="660033"/>
                </a:solidFill>
              </a:rPr>
              <a:t>    Developing database Systems</a:t>
            </a:r>
          </a:p>
          <a:p>
            <a:pPr>
              <a:lnSpc>
                <a:spcPct val="125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000" b="1">
                <a:solidFill>
                  <a:srgbClr val="660033"/>
                </a:solidFill>
              </a:rPr>
              <a:t>    Graphics Packages</a:t>
            </a:r>
          </a:p>
          <a:p>
            <a:pPr>
              <a:lnSpc>
                <a:spcPct val="125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000" b="1">
                <a:solidFill>
                  <a:srgbClr val="660033"/>
                </a:solidFill>
              </a:rPr>
              <a:t>     Spread Sheets</a:t>
            </a:r>
          </a:p>
          <a:p>
            <a:pPr>
              <a:lnSpc>
                <a:spcPct val="125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000" b="1">
                <a:solidFill>
                  <a:srgbClr val="660033"/>
                </a:solidFill>
              </a:rPr>
              <a:t>     Word Processors</a:t>
            </a:r>
          </a:p>
          <a:p>
            <a:pPr>
              <a:lnSpc>
                <a:spcPct val="125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000" b="1">
                <a:solidFill>
                  <a:srgbClr val="660033"/>
                </a:solidFill>
              </a:rPr>
              <a:t>     Office automation</a:t>
            </a:r>
          </a:p>
          <a:p>
            <a:pPr>
              <a:lnSpc>
                <a:spcPct val="125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000" b="1">
                <a:solidFill>
                  <a:srgbClr val="660033"/>
                </a:solidFill>
              </a:rPr>
              <a:t>     Scientific/Engineering Applications</a:t>
            </a:r>
          </a:p>
          <a:p>
            <a:pPr>
              <a:lnSpc>
                <a:spcPct val="125000"/>
              </a:lnSpc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000" b="1">
                <a:solidFill>
                  <a:srgbClr val="660033"/>
                </a:solidFill>
              </a:rPr>
              <a:t>     CAD/CAM Applications</a:t>
            </a:r>
            <a:endParaRPr lang="en-US" sz="1600">
              <a:solidFill>
                <a:srgbClr val="66003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nimBg="1"/>
      <p:bldP spid="1229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/>
          <p:cNvSpPr>
            <a:spLocks noChangeArrowheads="1"/>
          </p:cNvSpPr>
          <p:nvPr/>
        </p:nvSpPr>
        <p:spPr bwMode="auto">
          <a:xfrm rot="10800000">
            <a:off x="457200" y="1676400"/>
            <a:ext cx="8077200" cy="3810000"/>
          </a:xfrm>
          <a:prstGeom prst="wedgeRectCallout">
            <a:avLst>
              <a:gd name="adj1" fmla="val -2500"/>
              <a:gd name="adj2" fmla="val 63250"/>
            </a:avLst>
          </a:prstGeom>
          <a:solidFill>
            <a:schemeClr val="accent1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rot="10800000"/>
          <a:lstStyle/>
          <a:p>
            <a:pPr algn="ctr"/>
            <a:endParaRPr lang="en-US"/>
          </a:p>
        </p:txBody>
      </p:sp>
      <p:sp>
        <p:nvSpPr>
          <p:cNvPr id="13315" name="WordArt 3"/>
          <p:cNvSpPr>
            <a:spLocks noChangeArrowheads="1" noChangeShapeType="1" noTextEdit="1"/>
          </p:cNvSpPr>
          <p:nvPr/>
        </p:nvSpPr>
        <p:spPr bwMode="auto">
          <a:xfrm>
            <a:off x="1143000" y="533400"/>
            <a:ext cx="7010400" cy="6477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5333"/>
              </a:avLst>
            </a:prstTxWarp>
          </a:bodyPr>
          <a:lstStyle/>
          <a:p>
            <a:pPr algn="ctr"/>
            <a:r>
              <a:rPr lang="en-IN" sz="3600" b="1" kern="1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solidFill>
                  <a:srgbClr val="660033"/>
                </a:soli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Arial Black"/>
              </a:rPr>
              <a:t>Programming Structure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609600" y="2022475"/>
            <a:ext cx="7848600" cy="315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660033"/>
                </a:solidFill>
                <a:latin typeface="Bookman Old Style" pitchFamily="18" charset="0"/>
              </a:rPr>
              <a:t>(Preprocessor Directives) Include &lt;headerFile&gt;</a:t>
            </a:r>
          </a:p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660033"/>
                </a:solidFill>
                <a:latin typeface="Bookman Old Style" pitchFamily="18" charset="0"/>
              </a:rPr>
              <a:t>Global Variable Declarations;</a:t>
            </a:r>
          </a:p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660033"/>
                </a:solidFill>
                <a:latin typeface="Bookman Old Style" pitchFamily="18" charset="0"/>
              </a:rPr>
              <a:t>void main()</a:t>
            </a:r>
          </a:p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660033"/>
                </a:solidFill>
                <a:latin typeface="Bookman Old Style" pitchFamily="18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660033"/>
                </a:solidFill>
                <a:latin typeface="Bookman Old Style" pitchFamily="18" charset="0"/>
              </a:rPr>
              <a:t>Local Variable Declarations;</a:t>
            </a:r>
          </a:p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660033"/>
                </a:solidFill>
                <a:latin typeface="Bookman Old Style" pitchFamily="18" charset="0"/>
              </a:rPr>
              <a:t>Input/Output Statements;</a:t>
            </a:r>
          </a:p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660033"/>
                </a:solidFill>
                <a:latin typeface="Bookman Old Style" pitchFamily="18" charset="0"/>
              </a:rPr>
              <a:t>}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1219200" y="5791200"/>
            <a:ext cx="7772400" cy="96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i="1" u="sng">
                <a:solidFill>
                  <a:schemeClr val="bg1"/>
                </a:solidFill>
              </a:rPr>
              <a:t>Note :</a:t>
            </a:r>
          </a:p>
          <a:p>
            <a:pPr>
              <a:spcBef>
                <a:spcPct val="50000"/>
              </a:spcBef>
            </a:pPr>
            <a:r>
              <a:rPr lang="en-US" sz="2000" b="1"/>
              <a:t>      </a:t>
            </a:r>
            <a:r>
              <a:rPr lang="en-US" sz="2200" b="1">
                <a:solidFill>
                  <a:srgbClr val="990033"/>
                </a:solidFill>
              </a:rPr>
              <a:t>Every “C” Statements should end with Semicolon(;)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nimBg="1"/>
      <p:bldP spid="133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066800" y="2971800"/>
            <a:ext cx="6781800" cy="1060450"/>
            <a:chOff x="1104" y="3456"/>
            <a:chExt cx="4272" cy="668"/>
          </a:xfrm>
        </p:grpSpPr>
        <p:grpSp>
          <p:nvGrpSpPr>
            <p:cNvPr id="3" name="Group 14"/>
            <p:cNvGrpSpPr>
              <a:grpSpLocks/>
            </p:cNvGrpSpPr>
            <p:nvPr/>
          </p:nvGrpSpPr>
          <p:grpSpPr bwMode="auto">
            <a:xfrm>
              <a:off x="1104" y="3456"/>
              <a:ext cx="4272" cy="288"/>
              <a:chOff x="576" y="1680"/>
              <a:chExt cx="4272" cy="288"/>
            </a:xfrm>
          </p:grpSpPr>
          <p:graphicFrame>
            <p:nvGraphicFramePr>
              <p:cNvPr id="1030" name="Object 15"/>
              <p:cNvGraphicFramePr>
                <a:graphicFrameLocks noChangeAspect="1"/>
              </p:cNvGraphicFramePr>
              <p:nvPr/>
            </p:nvGraphicFramePr>
            <p:xfrm>
              <a:off x="576" y="1680"/>
              <a:ext cx="1914" cy="288"/>
            </p:xfrm>
            <a:graphic>
              <a:graphicData uri="http://schemas.openxmlformats.org/presentationml/2006/ole">
                <p:oleObj spid="_x0000_s1030" name="Bitmap Image" r:id="rId4" imgW="1504762" imgH="209524" progId="Paint.Picture">
                  <p:embed/>
                </p:oleObj>
              </a:graphicData>
            </a:graphic>
          </p:graphicFrame>
          <p:graphicFrame>
            <p:nvGraphicFramePr>
              <p:cNvPr id="1031" name="Object 16"/>
              <p:cNvGraphicFramePr>
                <a:graphicFrameLocks noChangeAspect="1"/>
              </p:cNvGraphicFramePr>
              <p:nvPr/>
            </p:nvGraphicFramePr>
            <p:xfrm>
              <a:off x="2487" y="1680"/>
              <a:ext cx="2361" cy="288"/>
            </p:xfrm>
            <a:graphic>
              <a:graphicData uri="http://schemas.openxmlformats.org/presentationml/2006/ole">
                <p:oleObj spid="_x0000_s1031" name="Bitmap Image" r:id="rId5" imgW="2161905" imgH="228571" progId="Paint.Picture">
                  <p:embed/>
                </p:oleObj>
              </a:graphicData>
            </a:graphic>
          </p:graphicFrame>
        </p:grp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1104" y="3867"/>
              <a:ext cx="3782" cy="257"/>
              <a:chOff x="576" y="2091"/>
              <a:chExt cx="3782" cy="257"/>
            </a:xfrm>
          </p:grpSpPr>
          <p:graphicFrame>
            <p:nvGraphicFramePr>
              <p:cNvPr id="1028" name="Object 18"/>
              <p:cNvGraphicFramePr>
                <a:graphicFrameLocks noChangeAspect="1"/>
              </p:cNvGraphicFramePr>
              <p:nvPr/>
            </p:nvGraphicFramePr>
            <p:xfrm>
              <a:off x="576" y="2091"/>
              <a:ext cx="1902" cy="257"/>
            </p:xfrm>
            <a:graphic>
              <a:graphicData uri="http://schemas.openxmlformats.org/presentationml/2006/ole">
                <p:oleObj spid="_x0000_s1028" name="Bitmap Image" r:id="rId6" imgW="1619476" imgH="219222" progId="Paint.Picture">
                  <p:embed/>
                </p:oleObj>
              </a:graphicData>
            </a:graphic>
          </p:graphicFrame>
          <p:graphicFrame>
            <p:nvGraphicFramePr>
              <p:cNvPr id="1029" name="Object 19"/>
              <p:cNvGraphicFramePr>
                <a:graphicFrameLocks noChangeAspect="1"/>
              </p:cNvGraphicFramePr>
              <p:nvPr/>
            </p:nvGraphicFramePr>
            <p:xfrm>
              <a:off x="2486" y="2092"/>
              <a:ext cx="1872" cy="251"/>
            </p:xfrm>
            <a:graphic>
              <a:graphicData uri="http://schemas.openxmlformats.org/presentationml/2006/ole">
                <p:oleObj spid="_x0000_s1029" name="Bitmap Image" r:id="rId7" imgW="1561905" imgH="209524" progId="Paint.Picture">
                  <p:embed/>
                </p:oleObj>
              </a:graphicData>
            </a:graphic>
          </p:graphicFrame>
        </p:grp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1143000" y="152400"/>
            <a:ext cx="7696200" cy="5949950"/>
            <a:chOff x="5232" y="-1776"/>
            <a:chExt cx="4848" cy="3748"/>
          </a:xfrm>
        </p:grpSpPr>
        <p:sp>
          <p:nvSpPr>
            <p:cNvPr id="1034" name="WordArt 21"/>
            <p:cNvSpPr>
              <a:spLocks noChangeArrowheads="1" noChangeShapeType="1" noTextEdit="1"/>
            </p:cNvSpPr>
            <p:nvPr/>
          </p:nvSpPr>
          <p:spPr bwMode="auto">
            <a:xfrm>
              <a:off x="5520" y="-1776"/>
              <a:ext cx="3456" cy="7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 spc="720">
                  <a:ln w="9525">
                    <a:noFill/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AAAAA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effectLst>
                    <a:outerShdw dist="45791" dir="3378596" algn="ctr" rotWithShape="0">
                      <a:srgbClr val="4D4D4D"/>
                    </a:outerShdw>
                  </a:effectLst>
                  <a:latin typeface="Arial Black"/>
                </a:rPr>
                <a:t>/* Comment Lines */</a:t>
              </a:r>
            </a:p>
          </p:txBody>
        </p:sp>
        <p:grpSp>
          <p:nvGrpSpPr>
            <p:cNvPr id="6" name="Group 22"/>
            <p:cNvGrpSpPr>
              <a:grpSpLocks/>
            </p:cNvGrpSpPr>
            <p:nvPr/>
          </p:nvGrpSpPr>
          <p:grpSpPr bwMode="auto">
            <a:xfrm>
              <a:off x="5232" y="1440"/>
              <a:ext cx="4848" cy="532"/>
              <a:chOff x="384" y="2640"/>
              <a:chExt cx="4848" cy="532"/>
            </a:xfrm>
          </p:grpSpPr>
          <p:graphicFrame>
            <p:nvGraphicFramePr>
              <p:cNvPr id="1026" name="Object 23"/>
              <p:cNvGraphicFramePr>
                <a:graphicFrameLocks noChangeAspect="1"/>
              </p:cNvGraphicFramePr>
              <p:nvPr/>
            </p:nvGraphicFramePr>
            <p:xfrm>
              <a:off x="384" y="2640"/>
              <a:ext cx="4848" cy="271"/>
            </p:xfrm>
            <a:graphic>
              <a:graphicData uri="http://schemas.openxmlformats.org/presentationml/2006/ole">
                <p:oleObj spid="_x0000_s1026" name="Bitmap Image" r:id="rId8" imgW="5114286" imgH="285866" progId="Paint.Picture">
                  <p:embed/>
                </p:oleObj>
              </a:graphicData>
            </a:graphic>
          </p:graphicFrame>
          <p:graphicFrame>
            <p:nvGraphicFramePr>
              <p:cNvPr id="1027" name="Object 24"/>
              <p:cNvGraphicFramePr>
                <a:graphicFrameLocks noChangeAspect="1"/>
              </p:cNvGraphicFramePr>
              <p:nvPr/>
            </p:nvGraphicFramePr>
            <p:xfrm>
              <a:off x="384" y="2910"/>
              <a:ext cx="2592" cy="262"/>
            </p:xfrm>
            <a:graphic>
              <a:graphicData uri="http://schemas.openxmlformats.org/presentationml/2006/ole">
                <p:oleObj spid="_x0000_s1027" name="Bitmap Image" r:id="rId9" imgW="2362530" imgH="237969" progId="Paint.Picture">
                  <p:embed/>
                </p:oleObj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WordArt 2"/>
          <p:cNvSpPr>
            <a:spLocks noChangeArrowheads="1" noChangeShapeType="1" noTextEdit="1"/>
          </p:cNvSpPr>
          <p:nvPr/>
        </p:nvSpPr>
        <p:spPr bwMode="auto">
          <a:xfrm>
            <a:off x="609600" y="762000"/>
            <a:ext cx="7620000" cy="762000"/>
          </a:xfrm>
          <a:prstGeom prst="rect">
            <a:avLst/>
          </a:prstGeom>
        </p:spPr>
        <p:txBody>
          <a:bodyPr spcFirstLastPara="1" wrap="none" fromWordArt="1">
            <a:prstTxWarp prst="textArchUp">
              <a:avLst>
                <a:gd name="adj" fmla="val 10800004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990033"/>
                </a:solidFill>
                <a:latin typeface="Arial Black"/>
              </a:rPr>
              <a:t>Preprocessor Directives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57200" y="1600200"/>
            <a:ext cx="8229600" cy="4114800"/>
            <a:chOff x="288" y="1008"/>
            <a:chExt cx="5184" cy="2592"/>
          </a:xfrm>
        </p:grpSpPr>
        <p:sp>
          <p:nvSpPr>
            <p:cNvPr id="12292" name="Text Box 4"/>
            <p:cNvSpPr txBox="1">
              <a:spLocks noChangeArrowheads="1"/>
            </p:cNvSpPr>
            <p:nvPr/>
          </p:nvSpPr>
          <p:spPr bwMode="auto">
            <a:xfrm>
              <a:off x="288" y="1008"/>
              <a:ext cx="5184" cy="5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Wingdings" pitchFamily="2" charset="2"/>
                <a:buChar char="Ø"/>
              </a:pPr>
              <a:r>
                <a:rPr lang="en-US" sz="2500" b="1">
                  <a:solidFill>
                    <a:srgbClr val="990033"/>
                  </a:solidFill>
                  <a:latin typeface="Times New Roman" pitchFamily="18" charset="0"/>
                  <a:cs typeface="Times New Roman" pitchFamily="18" charset="0"/>
                </a:rPr>
                <a:t>  </a:t>
              </a:r>
              <a:r>
                <a:rPr lang="en-US" sz="2400" b="1">
                  <a:solidFill>
                    <a:srgbClr val="990033"/>
                  </a:solidFill>
                  <a:latin typeface="Times New Roman" pitchFamily="18" charset="0"/>
                  <a:cs typeface="Times New Roman" pitchFamily="18" charset="0"/>
                </a:rPr>
                <a:t>Preprocessor directives are the instructions given to the </a:t>
              </a:r>
              <a:br>
                <a:rPr lang="en-US" sz="2400" b="1">
                  <a:solidFill>
                    <a:srgbClr val="990033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rgbClr val="990033"/>
                  </a:solidFill>
                  <a:latin typeface="Times New Roman" pitchFamily="18" charset="0"/>
                  <a:cs typeface="Times New Roman" pitchFamily="18" charset="0"/>
                </a:rPr>
                <a:t>    compiler.</a:t>
              </a:r>
            </a:p>
          </p:txBody>
        </p:sp>
        <p:sp>
          <p:nvSpPr>
            <p:cNvPr id="12293" name="Text Box 5"/>
            <p:cNvSpPr txBox="1">
              <a:spLocks noChangeArrowheads="1"/>
            </p:cNvSpPr>
            <p:nvPr/>
          </p:nvSpPr>
          <p:spPr bwMode="auto">
            <a:xfrm>
              <a:off x="288" y="1680"/>
              <a:ext cx="5184" cy="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buFont typeface="Wingdings" pitchFamily="2" charset="2"/>
                <a:buChar char="Ø"/>
              </a:pPr>
              <a:r>
                <a:rPr lang="en-US" sz="2500" b="1">
                  <a:solidFill>
                    <a:srgbClr val="990033"/>
                  </a:solidFill>
                  <a:latin typeface="Times New Roman" pitchFamily="18" charset="0"/>
                  <a:cs typeface="Times New Roman" pitchFamily="18" charset="0"/>
                </a:rPr>
                <a:t>   </a:t>
              </a:r>
              <a:r>
                <a:rPr lang="en-US" sz="2400" b="1">
                  <a:solidFill>
                    <a:srgbClr val="990033"/>
                  </a:solidFill>
                  <a:latin typeface="Times New Roman" pitchFamily="18" charset="0"/>
                  <a:cs typeface="Times New Roman" pitchFamily="18" charset="0"/>
                </a:rPr>
                <a:t>They are not translated into machine language, but are </a:t>
              </a:r>
              <a:br>
                <a:rPr lang="en-US" sz="2400" b="1">
                  <a:solidFill>
                    <a:srgbClr val="990033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rgbClr val="990033"/>
                  </a:solidFill>
                  <a:latin typeface="Times New Roman" pitchFamily="18" charset="0"/>
                  <a:cs typeface="Times New Roman" pitchFamily="18" charset="0"/>
                </a:rPr>
                <a:t>    operated upon directly by the compiler before the </a:t>
              </a:r>
              <a:br>
                <a:rPr lang="en-US" sz="2400" b="1">
                  <a:solidFill>
                    <a:srgbClr val="990033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rgbClr val="990033"/>
                  </a:solidFill>
                  <a:latin typeface="Times New Roman" pitchFamily="18" charset="0"/>
                  <a:cs typeface="Times New Roman" pitchFamily="18" charset="0"/>
                </a:rPr>
                <a:t>    compiling process begins.</a:t>
              </a:r>
            </a:p>
          </p:txBody>
        </p:sp>
        <p:sp>
          <p:nvSpPr>
            <p:cNvPr id="12294" name="Text Box 6"/>
            <p:cNvSpPr txBox="1">
              <a:spLocks noChangeArrowheads="1"/>
            </p:cNvSpPr>
            <p:nvPr/>
          </p:nvSpPr>
          <p:spPr bwMode="auto">
            <a:xfrm>
              <a:off x="288" y="2544"/>
              <a:ext cx="5184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Wingdings" pitchFamily="2" charset="2"/>
                <a:buChar char="Ø"/>
              </a:pPr>
              <a:r>
                <a:rPr lang="en-US" sz="2500" b="1">
                  <a:solidFill>
                    <a:srgbClr val="990033"/>
                  </a:solidFill>
                  <a:latin typeface="Times New Roman" pitchFamily="18" charset="0"/>
                  <a:cs typeface="Times New Roman" pitchFamily="18" charset="0"/>
                </a:rPr>
                <a:t>   </a:t>
              </a:r>
              <a:r>
                <a:rPr lang="en-US" sz="2400" b="1">
                  <a:solidFill>
                    <a:srgbClr val="990033"/>
                  </a:solidFill>
                  <a:latin typeface="Times New Roman" pitchFamily="18" charset="0"/>
                  <a:cs typeface="Times New Roman" pitchFamily="18" charset="0"/>
                </a:rPr>
                <a:t>Preprocessor directives begin with a # (hash)</a:t>
              </a:r>
            </a:p>
          </p:txBody>
        </p:sp>
        <p:sp>
          <p:nvSpPr>
            <p:cNvPr id="12295" name="Text Box 7"/>
            <p:cNvSpPr txBox="1">
              <a:spLocks noChangeArrowheads="1"/>
            </p:cNvSpPr>
            <p:nvPr/>
          </p:nvSpPr>
          <p:spPr bwMode="auto">
            <a:xfrm>
              <a:off x="288" y="3072"/>
              <a:ext cx="5184" cy="5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buFont typeface="Wingdings" pitchFamily="2" charset="2"/>
                <a:buChar char="Ø"/>
              </a:pPr>
              <a:r>
                <a:rPr lang="en-US" sz="2500" b="1">
                  <a:solidFill>
                    <a:srgbClr val="990033"/>
                  </a:solidFill>
                  <a:latin typeface="Times New Roman" pitchFamily="18" charset="0"/>
                  <a:cs typeface="Times New Roman" pitchFamily="18" charset="0"/>
                </a:rPr>
                <a:t>   </a:t>
              </a:r>
              <a:r>
                <a:rPr lang="en-US" sz="2400" b="1">
                  <a:solidFill>
                    <a:srgbClr val="990033"/>
                  </a:solidFill>
                  <a:latin typeface="Times New Roman" pitchFamily="18" charset="0"/>
                  <a:cs typeface="Times New Roman" pitchFamily="18" charset="0"/>
                </a:rPr>
                <a:t>Preprocessor directives are often placed in the beginning of a program before the main() is declared.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WordArt 2"/>
          <p:cNvSpPr>
            <a:spLocks noChangeArrowheads="1" noChangeShapeType="1" noTextEdit="1"/>
          </p:cNvSpPr>
          <p:nvPr/>
        </p:nvSpPr>
        <p:spPr bwMode="auto">
          <a:xfrm>
            <a:off x="2362200" y="533400"/>
            <a:ext cx="49530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i="1" kern="10" spc="720">
                <a:ln w="9525">
                  <a:noFill/>
                  <a:round/>
                  <a:headEnd/>
                  <a:tailEnd/>
                </a:ln>
                <a:solidFill>
                  <a:srgbClr val="990033"/>
                </a:soli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latin typeface="Arial Black"/>
              </a:rPr>
              <a:t>HEADER FILE</a:t>
            </a:r>
          </a:p>
        </p:txBody>
      </p:sp>
      <p:sp>
        <p:nvSpPr>
          <p:cNvPr id="16387" name="AutoShape 3"/>
          <p:cNvSpPr>
            <a:spLocks/>
          </p:cNvSpPr>
          <p:nvPr/>
        </p:nvSpPr>
        <p:spPr bwMode="auto">
          <a:xfrm>
            <a:off x="1905000" y="1828800"/>
            <a:ext cx="4495800" cy="1295400"/>
          </a:xfrm>
          <a:prstGeom prst="borderCallout1">
            <a:avLst>
              <a:gd name="adj1" fmla="val 8824"/>
              <a:gd name="adj2" fmla="val 101694"/>
              <a:gd name="adj3" fmla="val -67403"/>
              <a:gd name="adj4" fmla="val 110204"/>
            </a:avLst>
          </a:prstGeom>
          <a:solidFill>
            <a:srgbClr val="9900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55563" indent="-55563" algn="just"/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sz="2000" b="1">
                <a:solidFill>
                  <a:schemeClr val="bg1"/>
                </a:solidFill>
              </a:rPr>
              <a:t>A lot of library functions are subdivided into number of groups. This groups are called Header files</a:t>
            </a:r>
          </a:p>
        </p:txBody>
      </p:sp>
      <p:graphicFrame>
        <p:nvGraphicFramePr>
          <p:cNvPr id="16388" name="Group 4"/>
          <p:cNvGraphicFramePr>
            <a:graphicFrameLocks noGrp="1"/>
          </p:cNvGraphicFramePr>
          <p:nvPr/>
        </p:nvGraphicFramePr>
        <p:xfrm>
          <a:off x="914400" y="3352800"/>
          <a:ext cx="7467600" cy="3453765"/>
        </p:xfrm>
        <a:graphic>
          <a:graphicData uri="http://schemas.openxmlformats.org/drawingml/2006/table">
            <a:tbl>
              <a:tblPr/>
              <a:tblGrid>
                <a:gridCol w="2403475"/>
                <a:gridCol w="5064125"/>
              </a:tblGrid>
              <a:tr h="4572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/>
                          <a:latin typeface="Arial" charset="0"/>
                        </a:rPr>
                        <a:t>Syntax 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#include&lt;headerfilename.h&gt;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33"/>
                          </a:solidFill>
                          <a:effectLst/>
                          <a:latin typeface="Arial" charset="0"/>
                        </a:rPr>
                        <a:t>Examples: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#include&lt;</a:t>
                      </a: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stdio.h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#include&lt;</a:t>
                      </a: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conio.h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993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stdio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-&gt; Standard </a:t>
                      </a: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Input/Output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conio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-&gt; Console </a:t>
                      </a: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Input/Output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void           -&gt;  Keyword. It Means Returns Nothing.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main()        -&gt;  It is a function name which can be used to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             indicate the beginning of the program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             execution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3" presetClass="entr" presetSubtype="27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nimBg="1"/>
      <p:bldP spid="1638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04800" y="1219200"/>
            <a:ext cx="8534400" cy="4724400"/>
            <a:chOff x="192" y="768"/>
            <a:chExt cx="5376" cy="2976"/>
          </a:xfrm>
        </p:grpSpPr>
        <p:sp>
          <p:nvSpPr>
            <p:cNvPr id="14341" name="Text Box 3"/>
            <p:cNvSpPr txBox="1">
              <a:spLocks noChangeArrowheads="1"/>
            </p:cNvSpPr>
            <p:nvPr/>
          </p:nvSpPr>
          <p:spPr bwMode="auto">
            <a:xfrm>
              <a:off x="192" y="768"/>
              <a:ext cx="5376" cy="288"/>
            </a:xfrm>
            <a:prstGeom prst="rect">
              <a:avLst/>
            </a:prstGeom>
            <a:solidFill>
              <a:srgbClr val="660033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Blip>
                  <a:blip r:embed="rId3"/>
                </a:buBlip>
              </a:pPr>
              <a:r>
                <a:rPr lang="en-US" sz="2400" b="1">
                  <a:solidFill>
                    <a:srgbClr val="FFFE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 has 32 keywords.</a:t>
              </a:r>
            </a:p>
          </p:txBody>
        </p:sp>
        <p:sp>
          <p:nvSpPr>
            <p:cNvPr id="14342" name="Text Box 4"/>
            <p:cNvSpPr txBox="1">
              <a:spLocks noChangeArrowheads="1"/>
            </p:cNvSpPr>
            <p:nvPr/>
          </p:nvSpPr>
          <p:spPr bwMode="auto">
            <a:xfrm>
              <a:off x="192" y="1152"/>
              <a:ext cx="5376" cy="518"/>
            </a:xfrm>
            <a:prstGeom prst="rect">
              <a:avLst/>
            </a:prstGeom>
            <a:solidFill>
              <a:srgbClr val="660033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Blip>
                  <a:blip r:embed="rId3"/>
                </a:buBlip>
              </a:pPr>
              <a:r>
                <a:rPr lang="en-US" sz="2400" b="1">
                  <a:solidFill>
                    <a:srgbClr val="FFFE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These keywords combined with a formal syntax form a C </a:t>
              </a:r>
              <a:br>
                <a:rPr lang="en-US" sz="2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   programming language</a:t>
              </a:r>
              <a:r>
                <a:rPr lang="en-US" sz="2400" b="1">
                  <a:solidFill>
                    <a:srgbClr val="FFFE00"/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  <a:endParaRPr lang="en-US" sz="2400" b="1">
                <a:solidFill>
                  <a:srgbClr val="F1550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4343" name="Text Box 5"/>
            <p:cNvSpPr txBox="1">
              <a:spLocks noChangeArrowheads="1"/>
            </p:cNvSpPr>
            <p:nvPr/>
          </p:nvSpPr>
          <p:spPr bwMode="auto">
            <a:xfrm>
              <a:off x="192" y="1786"/>
              <a:ext cx="5376" cy="288"/>
            </a:xfrm>
            <a:prstGeom prst="rect">
              <a:avLst/>
            </a:prstGeom>
            <a:solidFill>
              <a:srgbClr val="660033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Tx/>
                <a:buBlip>
                  <a:blip r:embed="rId3"/>
                </a:buBlip>
              </a:pPr>
              <a:r>
                <a:rPr lang="en-US" sz="2400" b="1">
                  <a:solidFill>
                    <a:srgbClr val="FFFE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Rules to be followed for all programs written in C</a:t>
              </a:r>
            </a:p>
          </p:txBody>
        </p:sp>
        <p:sp>
          <p:nvSpPr>
            <p:cNvPr id="14344" name="Text Box 6"/>
            <p:cNvSpPr txBox="1">
              <a:spLocks noChangeArrowheads="1"/>
            </p:cNvSpPr>
            <p:nvPr/>
          </p:nvSpPr>
          <p:spPr bwMode="auto">
            <a:xfrm>
              <a:off x="454" y="2304"/>
              <a:ext cx="2651" cy="288"/>
            </a:xfrm>
            <a:prstGeom prst="rect">
              <a:avLst/>
            </a:prstGeom>
            <a:solidFill>
              <a:srgbClr val="660033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4"/>
                </a:buBlip>
              </a:pPr>
              <a:r>
                <a:rPr lang="en-US" sz="2400" b="1">
                  <a:solidFill>
                    <a:srgbClr val="99FF66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All keywords are lowercased</a:t>
              </a:r>
            </a:p>
          </p:txBody>
        </p:sp>
        <p:sp>
          <p:nvSpPr>
            <p:cNvPr id="14345" name="Text Box 7"/>
            <p:cNvSpPr txBox="1">
              <a:spLocks noChangeArrowheads="1"/>
            </p:cNvSpPr>
            <p:nvPr/>
          </p:nvSpPr>
          <p:spPr bwMode="auto">
            <a:xfrm>
              <a:off x="443" y="2735"/>
              <a:ext cx="2753" cy="518"/>
            </a:xfrm>
            <a:prstGeom prst="rect">
              <a:avLst/>
            </a:prstGeom>
            <a:solidFill>
              <a:srgbClr val="660033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4"/>
                </a:buBlip>
              </a:pPr>
              <a:r>
                <a:rPr lang="en-US" sz="2400" b="1">
                  <a:solidFill>
                    <a:srgbClr val="99FF66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 is case sensitive, do while is </a:t>
              </a:r>
            </a:p>
            <a:p>
              <a:r>
                <a:rPr lang="en-US" sz="2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   different from DO WHILE</a:t>
              </a:r>
            </a:p>
          </p:txBody>
        </p:sp>
        <p:sp>
          <p:nvSpPr>
            <p:cNvPr id="14346" name="Text Box 8"/>
            <p:cNvSpPr txBox="1">
              <a:spLocks noChangeArrowheads="1"/>
            </p:cNvSpPr>
            <p:nvPr/>
          </p:nvSpPr>
          <p:spPr bwMode="auto">
            <a:xfrm>
              <a:off x="443" y="3226"/>
              <a:ext cx="2773" cy="518"/>
            </a:xfrm>
            <a:prstGeom prst="rect">
              <a:avLst/>
            </a:prstGeom>
            <a:solidFill>
              <a:srgbClr val="660033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Blip>
                  <a:blip r:embed="rId4"/>
                </a:buBlip>
              </a:pPr>
              <a:r>
                <a:rPr lang="en-US" sz="2400" b="1">
                  <a:solidFill>
                    <a:srgbClr val="99FF66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Keywords cannot be used as a </a:t>
              </a:r>
            </a:p>
            <a:p>
              <a:r>
                <a:rPr lang="en-US" sz="2400" b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    variable or function name   </a:t>
              </a:r>
            </a:p>
          </p:txBody>
        </p:sp>
      </p:grpSp>
      <p:pic>
        <p:nvPicPr>
          <p:cNvPr id="17417" name="Picture 9" descr="untitled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57800" y="3635375"/>
            <a:ext cx="3505200" cy="2355850"/>
          </a:xfrm>
          <a:prstGeom prst="rect">
            <a:avLst/>
          </a:prstGeom>
          <a:solidFill>
            <a:srgbClr val="A50021"/>
          </a:solidFill>
          <a:ln w="9525">
            <a:noFill/>
            <a:miter lim="800000"/>
            <a:headEnd/>
            <a:tailEnd/>
          </a:ln>
        </p:spPr>
      </p:pic>
      <p:sp>
        <p:nvSpPr>
          <p:cNvPr id="14340" name="WordArt 10"/>
          <p:cNvSpPr>
            <a:spLocks noChangeArrowheads="1" noChangeShapeType="1" noTextEdit="1"/>
          </p:cNvSpPr>
          <p:nvPr/>
        </p:nvSpPr>
        <p:spPr bwMode="auto">
          <a:xfrm>
            <a:off x="2971800" y="457200"/>
            <a:ext cx="2590800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BF00"/>
                    </a:gs>
                    <a:gs pos="5000">
                      <a:srgbClr val="F27300"/>
                    </a:gs>
                    <a:gs pos="12500">
                      <a:srgbClr val="8F0040"/>
                    </a:gs>
                    <a:gs pos="25000">
                      <a:srgbClr val="400040"/>
                    </a:gs>
                    <a:gs pos="39999">
                      <a:srgbClr val="000040"/>
                    </a:gs>
                    <a:gs pos="50000">
                      <a:srgbClr val="000000"/>
                    </a:gs>
                    <a:gs pos="60001">
                      <a:srgbClr val="000040"/>
                    </a:gs>
                    <a:gs pos="75000">
                      <a:srgbClr val="400040"/>
                    </a:gs>
                    <a:gs pos="87500">
                      <a:srgbClr val="8F0040"/>
                    </a:gs>
                    <a:gs pos="95000">
                      <a:srgbClr val="F27300"/>
                    </a:gs>
                    <a:gs pos="100000">
                      <a:srgbClr val="FFBF00"/>
                    </a:gs>
                  </a:gsLst>
                  <a:lin ang="5400000" scaled="1"/>
                </a:gradFill>
                <a:latin typeface="Arial Black"/>
              </a:rPr>
              <a:t>HINTS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1524000"/>
            <a:ext cx="7391400" cy="474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WordArt 3"/>
          <p:cNvSpPr>
            <a:spLocks noChangeArrowheads="1" noChangeShapeType="1" noTextEdit="1"/>
          </p:cNvSpPr>
          <p:nvPr/>
        </p:nvSpPr>
        <p:spPr bwMode="auto">
          <a:xfrm>
            <a:off x="1600200" y="381000"/>
            <a:ext cx="58674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Compiling &amp; Running A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WordArt 2"/>
          <p:cNvSpPr>
            <a:spLocks noChangeArrowheads="1" noChangeShapeType="1" noTextEdit="1"/>
          </p:cNvSpPr>
          <p:nvPr/>
        </p:nvSpPr>
        <p:spPr bwMode="auto">
          <a:xfrm>
            <a:off x="762000" y="457200"/>
            <a:ext cx="70866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9900"/>
                </a:solidFill>
                <a:latin typeface="Arial Black"/>
              </a:rPr>
              <a:t>STEPS IN LEARNING "C"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52400" y="5751513"/>
            <a:ext cx="1752600" cy="95408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bg1"/>
                </a:solidFill>
              </a:rPr>
              <a:t>Alphabets, Digits,Special Characters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2057400" y="4191000"/>
            <a:ext cx="1524000" cy="95408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bg1"/>
                </a:solidFill>
              </a:rPr>
              <a:t>Constants, variables &amp; Data Types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4038600" y="3236913"/>
            <a:ext cx="1752600" cy="40481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bg1"/>
                </a:solidFill>
              </a:rPr>
              <a:t>Keywords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5486400" y="2438400"/>
            <a:ext cx="1752600" cy="404813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bg1"/>
                </a:solidFill>
              </a:rPr>
              <a:t>Instructions</a:t>
            </a: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6858000" y="1652588"/>
            <a:ext cx="1752600" cy="40481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chemeClr val="bg1"/>
                </a:solidFill>
              </a:rPr>
              <a:t>Programs</a:t>
            </a:r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 flipV="1">
            <a:off x="762000" y="4967288"/>
            <a:ext cx="1295400" cy="74771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9465" name="Line 9"/>
          <p:cNvSpPr>
            <a:spLocks noChangeShapeType="1"/>
          </p:cNvSpPr>
          <p:nvPr/>
        </p:nvSpPr>
        <p:spPr bwMode="auto">
          <a:xfrm rot="21575903" flipV="1">
            <a:off x="3200400" y="3657600"/>
            <a:ext cx="838200" cy="4841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9466" name="Line 10"/>
          <p:cNvSpPr>
            <a:spLocks noChangeShapeType="1"/>
          </p:cNvSpPr>
          <p:nvPr/>
        </p:nvSpPr>
        <p:spPr bwMode="auto">
          <a:xfrm flipV="1">
            <a:off x="5048250" y="2819400"/>
            <a:ext cx="685800" cy="3952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9467" name="Line 11"/>
          <p:cNvSpPr>
            <a:spLocks noChangeShapeType="1"/>
          </p:cNvSpPr>
          <p:nvPr/>
        </p:nvSpPr>
        <p:spPr bwMode="auto">
          <a:xfrm flipV="1">
            <a:off x="6248400" y="2057400"/>
            <a:ext cx="685800" cy="3952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10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10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20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500"/>
                            </p:stCondLst>
                            <p:childTnLst>
                              <p:par>
                                <p:cTn id="3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10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20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nimBg="1"/>
      <p:bldP spid="19460" grpId="0" animBg="1"/>
      <p:bldP spid="19461" grpId="0" animBg="1"/>
      <p:bldP spid="19462" grpId="0" animBg="1"/>
      <p:bldP spid="19463" grpId="0" animBg="1"/>
      <p:bldP spid="19464" grpId="0" animBg="1"/>
      <p:bldP spid="19465" grpId="0" animBg="1"/>
      <p:bldP spid="19466" grpId="0" animBg="1"/>
      <p:bldP spid="1946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WordArt 2" descr="Paper bag"/>
          <p:cNvSpPr>
            <a:spLocks noChangeArrowheads="1" noChangeShapeType="1" noTextEdit="1"/>
          </p:cNvSpPr>
          <p:nvPr/>
        </p:nvSpPr>
        <p:spPr bwMode="auto">
          <a:xfrm>
            <a:off x="1295400" y="685800"/>
            <a:ext cx="6781800" cy="609600"/>
          </a:xfrm>
          <a:prstGeom prst="rect">
            <a:avLst/>
          </a:prstGeom>
        </p:spPr>
        <p:txBody>
          <a:bodyPr wrap="none" fromWordArt="1">
            <a:prstTxWarp prst="textInflate">
              <a:avLst>
                <a:gd name="adj" fmla="val 13634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latin typeface="Arial Black"/>
              </a:rPr>
              <a:t>CHARACTER SET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457200" y="1584325"/>
            <a:ext cx="8229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000" b="1"/>
              <a:t>	A Character denotes an alphabet, digit or a special character. These characters can be combined to form variables.</a:t>
            </a:r>
          </a:p>
        </p:txBody>
      </p:sp>
      <p:sp>
        <p:nvSpPr>
          <p:cNvPr id="17412" name="WordArt 4"/>
          <p:cNvSpPr>
            <a:spLocks noChangeArrowheads="1" noChangeShapeType="1" noTextEdit="1"/>
          </p:cNvSpPr>
          <p:nvPr/>
        </p:nvSpPr>
        <p:spPr bwMode="auto">
          <a:xfrm>
            <a:off x="533400" y="3048000"/>
            <a:ext cx="2047875" cy="708025"/>
          </a:xfrm>
          <a:prstGeom prst="rect">
            <a:avLst/>
          </a:prstGeom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kern="10">
                <a:ln w="9525">
                  <a:noFill/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Alphabets :</a:t>
            </a:r>
          </a:p>
        </p:txBody>
      </p:sp>
      <p:sp>
        <p:nvSpPr>
          <p:cNvPr id="17413" name="WordArt 5"/>
          <p:cNvSpPr>
            <a:spLocks noChangeArrowheads="1" noChangeShapeType="1" noTextEdit="1"/>
          </p:cNvSpPr>
          <p:nvPr/>
        </p:nvSpPr>
        <p:spPr bwMode="auto">
          <a:xfrm>
            <a:off x="457200" y="4168775"/>
            <a:ext cx="2047875" cy="708025"/>
          </a:xfrm>
          <a:prstGeom prst="rect">
            <a:avLst/>
          </a:prstGeom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kern="10">
                <a:ln w="9525">
                  <a:noFill/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Digits :</a:t>
            </a:r>
          </a:p>
        </p:txBody>
      </p:sp>
      <p:sp>
        <p:nvSpPr>
          <p:cNvPr id="17414" name="WordArt 6"/>
          <p:cNvSpPr>
            <a:spLocks noChangeArrowheads="1" noChangeShapeType="1" noTextEdit="1"/>
          </p:cNvSpPr>
          <p:nvPr/>
        </p:nvSpPr>
        <p:spPr bwMode="auto">
          <a:xfrm>
            <a:off x="304800" y="5311775"/>
            <a:ext cx="2743200" cy="936625"/>
          </a:xfrm>
          <a:prstGeom prst="rect">
            <a:avLst/>
          </a:prstGeom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kern="10">
                <a:ln w="9525">
                  <a:noFill/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Special Characters :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3886200" y="2819400"/>
            <a:ext cx="4191000" cy="8620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Lowercase Letters –  a, b, c,…..,z</a:t>
            </a:r>
          </a:p>
          <a:p>
            <a:pPr>
              <a:spcBef>
                <a:spcPct val="50000"/>
              </a:spcBef>
            </a:pPr>
            <a:r>
              <a:rPr lang="en-US" sz="2000" b="1"/>
              <a:t>Uppercase Letters -  A, B, C…..,Z</a:t>
            </a:r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 rot="382019" flipV="1">
            <a:off x="2667000" y="3198813"/>
            <a:ext cx="1143000" cy="3063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3886200" y="4165600"/>
            <a:ext cx="35814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Digits – 0,1,2,3,…7,8,9</a:t>
            </a:r>
          </a:p>
        </p:txBody>
      </p:sp>
      <p:sp>
        <p:nvSpPr>
          <p:cNvPr id="20490" name="Line 10"/>
          <p:cNvSpPr>
            <a:spLocks noChangeShapeType="1"/>
          </p:cNvSpPr>
          <p:nvPr/>
        </p:nvSpPr>
        <p:spPr bwMode="auto">
          <a:xfrm rot="382019" flipV="1">
            <a:off x="2667000" y="4341813"/>
            <a:ext cx="1143000" cy="3063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 rot="382019" flipV="1">
            <a:off x="3127375" y="5641975"/>
            <a:ext cx="838200" cy="2254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3962400" y="4838700"/>
            <a:ext cx="5181600" cy="2076450"/>
            <a:chOff x="2496" y="3048"/>
            <a:chExt cx="3264" cy="1308"/>
          </a:xfrm>
        </p:grpSpPr>
        <p:sp>
          <p:nvSpPr>
            <p:cNvPr id="17421" name="Text Box 13"/>
            <p:cNvSpPr txBox="1">
              <a:spLocks noChangeArrowheads="1"/>
            </p:cNvSpPr>
            <p:nvPr/>
          </p:nvSpPr>
          <p:spPr bwMode="auto">
            <a:xfrm>
              <a:off x="2496" y="3072"/>
              <a:ext cx="3264" cy="11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/>
                <a:t>+ Plus Sign    -   Minus Sign	 ,  Comma</a:t>
              </a:r>
            </a:p>
            <a:p>
              <a:pPr>
                <a:spcBef>
                  <a:spcPct val="50000"/>
                </a:spcBef>
              </a:pPr>
              <a:r>
                <a:rPr lang="en-US" sz="2400" b="1"/>
                <a:t>*</a:t>
              </a:r>
              <a:r>
                <a:rPr lang="en-US" sz="2000" b="1"/>
                <a:t> Asterisk       /   Slash              =   Equal to</a:t>
              </a:r>
            </a:p>
            <a:p>
              <a:pPr>
                <a:spcBef>
                  <a:spcPct val="50000"/>
                </a:spcBef>
              </a:pPr>
              <a:r>
                <a:rPr lang="en-US" sz="2000" b="1"/>
                <a:t>@ At Symbol &lt;   Less Than     :   Colon</a:t>
              </a:r>
            </a:p>
            <a:p>
              <a:pPr>
                <a:spcBef>
                  <a:spcPct val="50000"/>
                </a:spcBef>
              </a:pPr>
              <a:r>
                <a:rPr lang="en-US" sz="2000" b="1"/>
                <a:t>; Semicolon  </a:t>
              </a:r>
            </a:p>
          </p:txBody>
        </p:sp>
        <p:sp>
          <p:nvSpPr>
            <p:cNvPr id="17422" name="Line 14"/>
            <p:cNvSpPr>
              <a:spLocks noChangeShapeType="1"/>
            </p:cNvSpPr>
            <p:nvPr/>
          </p:nvSpPr>
          <p:spPr bwMode="auto">
            <a:xfrm>
              <a:off x="3504" y="3072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423" name="Line 15"/>
            <p:cNvSpPr>
              <a:spLocks noChangeShapeType="1"/>
            </p:cNvSpPr>
            <p:nvPr/>
          </p:nvSpPr>
          <p:spPr bwMode="auto">
            <a:xfrm>
              <a:off x="4800" y="3048"/>
              <a:ext cx="0" cy="13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10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10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10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nimBg="1"/>
      <p:bldP spid="20488" grpId="0" animBg="1"/>
      <p:bldP spid="20490" grpId="0" animBg="1"/>
      <p:bldP spid="2049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WordArt 2"/>
          <p:cNvSpPr>
            <a:spLocks noChangeArrowheads="1" noChangeShapeType="1" noTextEdit="1"/>
          </p:cNvSpPr>
          <p:nvPr/>
        </p:nvSpPr>
        <p:spPr bwMode="auto">
          <a:xfrm>
            <a:off x="1828800" y="457200"/>
            <a:ext cx="5181600" cy="7620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12838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Arial Black"/>
              </a:rPr>
              <a:t>'C' CONSTANTS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-76200" y="1371600"/>
            <a:ext cx="8991600" cy="4267200"/>
            <a:chOff x="-48" y="864"/>
            <a:chExt cx="5664" cy="2688"/>
          </a:xfrm>
        </p:grpSpPr>
        <p:sp>
          <p:nvSpPr>
            <p:cNvPr id="18436" name="AutoShape 4"/>
            <p:cNvSpPr>
              <a:spLocks noChangeArrowheads="1"/>
            </p:cNvSpPr>
            <p:nvPr/>
          </p:nvSpPr>
          <p:spPr bwMode="auto">
            <a:xfrm>
              <a:off x="2640" y="2160"/>
              <a:ext cx="1584" cy="384"/>
            </a:xfrm>
            <a:prstGeom prst="flowChartTermina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37" name="AutoShape 5"/>
            <p:cNvSpPr>
              <a:spLocks noChangeArrowheads="1"/>
            </p:cNvSpPr>
            <p:nvPr/>
          </p:nvSpPr>
          <p:spPr bwMode="auto">
            <a:xfrm>
              <a:off x="4320" y="2160"/>
              <a:ext cx="1296" cy="336"/>
            </a:xfrm>
            <a:prstGeom prst="flowChartTermina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38" name="AutoShape 6"/>
            <p:cNvSpPr>
              <a:spLocks noChangeArrowheads="1"/>
            </p:cNvSpPr>
            <p:nvPr/>
          </p:nvSpPr>
          <p:spPr bwMode="auto">
            <a:xfrm>
              <a:off x="1248" y="2112"/>
              <a:ext cx="1248" cy="336"/>
            </a:xfrm>
            <a:prstGeom prst="flowChartTermina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39" name="AutoShape 7"/>
            <p:cNvSpPr>
              <a:spLocks noChangeArrowheads="1"/>
            </p:cNvSpPr>
            <p:nvPr/>
          </p:nvSpPr>
          <p:spPr bwMode="auto">
            <a:xfrm>
              <a:off x="-48" y="2160"/>
              <a:ext cx="1248" cy="336"/>
            </a:xfrm>
            <a:prstGeom prst="flowChartTermina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0" name="Rectangle 8"/>
            <p:cNvSpPr>
              <a:spLocks noChangeArrowheads="1"/>
            </p:cNvSpPr>
            <p:nvPr/>
          </p:nvSpPr>
          <p:spPr bwMode="auto">
            <a:xfrm>
              <a:off x="2976" y="1248"/>
              <a:ext cx="2544" cy="4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144" y="1248"/>
              <a:ext cx="2400" cy="48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2" name="WordArt 10"/>
            <p:cNvSpPr>
              <a:spLocks noChangeArrowheads="1" noChangeShapeType="1" noTextEdit="1"/>
            </p:cNvSpPr>
            <p:nvPr/>
          </p:nvSpPr>
          <p:spPr bwMode="auto">
            <a:xfrm>
              <a:off x="384" y="1296"/>
              <a:ext cx="1968" cy="3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Arial Black"/>
                </a:rPr>
                <a:t>Numeric Constant</a:t>
              </a:r>
            </a:p>
          </p:txBody>
        </p:sp>
        <p:sp>
          <p:nvSpPr>
            <p:cNvPr id="18443" name="WordArt 11"/>
            <p:cNvSpPr>
              <a:spLocks noChangeArrowheads="1" noChangeShapeType="1" noTextEdit="1"/>
            </p:cNvSpPr>
            <p:nvPr/>
          </p:nvSpPr>
          <p:spPr bwMode="auto">
            <a:xfrm>
              <a:off x="3024" y="1296"/>
              <a:ext cx="2400" cy="3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Arial Black"/>
                </a:rPr>
                <a:t>Character Constant</a:t>
              </a:r>
            </a:p>
          </p:txBody>
        </p:sp>
        <p:sp>
          <p:nvSpPr>
            <p:cNvPr id="18444" name="WordArt 12"/>
            <p:cNvSpPr>
              <a:spLocks noChangeArrowheads="1" noChangeShapeType="1" noTextEdit="1"/>
            </p:cNvSpPr>
            <p:nvPr/>
          </p:nvSpPr>
          <p:spPr bwMode="auto">
            <a:xfrm>
              <a:off x="66" y="2208"/>
              <a:ext cx="1038" cy="24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2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Arial Black"/>
                </a:rPr>
                <a:t>Integer</a:t>
              </a:r>
            </a:p>
          </p:txBody>
        </p:sp>
        <p:sp>
          <p:nvSpPr>
            <p:cNvPr id="18445" name="WordArt 13"/>
            <p:cNvSpPr>
              <a:spLocks noChangeArrowheads="1" noChangeShapeType="1" noTextEdit="1"/>
            </p:cNvSpPr>
            <p:nvPr/>
          </p:nvSpPr>
          <p:spPr bwMode="auto">
            <a:xfrm>
              <a:off x="1392" y="2160"/>
              <a:ext cx="864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2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Arial Black"/>
                </a:rPr>
                <a:t>Real</a:t>
              </a:r>
            </a:p>
          </p:txBody>
        </p:sp>
        <p:sp>
          <p:nvSpPr>
            <p:cNvPr id="18446" name="WordArt 14"/>
            <p:cNvSpPr>
              <a:spLocks noChangeArrowheads="1" noChangeShapeType="1" noTextEdit="1"/>
            </p:cNvSpPr>
            <p:nvPr/>
          </p:nvSpPr>
          <p:spPr bwMode="auto">
            <a:xfrm>
              <a:off x="2802" y="2208"/>
              <a:ext cx="1326" cy="3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2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Arial Black"/>
                </a:rPr>
                <a:t>Single Character</a:t>
              </a:r>
            </a:p>
          </p:txBody>
        </p:sp>
        <p:sp>
          <p:nvSpPr>
            <p:cNvPr id="18447" name="WordArt 15"/>
            <p:cNvSpPr>
              <a:spLocks noChangeArrowheads="1" noChangeShapeType="1" noTextEdit="1"/>
            </p:cNvSpPr>
            <p:nvPr/>
          </p:nvSpPr>
          <p:spPr bwMode="auto">
            <a:xfrm>
              <a:off x="4368" y="2256"/>
              <a:ext cx="1152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2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Arial Black"/>
                </a:rPr>
                <a:t>String</a:t>
              </a:r>
            </a:p>
          </p:txBody>
        </p:sp>
        <p:sp>
          <p:nvSpPr>
            <p:cNvPr id="18448" name="Line 16"/>
            <p:cNvSpPr>
              <a:spLocks noChangeShapeType="1"/>
            </p:cNvSpPr>
            <p:nvPr/>
          </p:nvSpPr>
          <p:spPr bwMode="auto">
            <a:xfrm flipH="1">
              <a:off x="1680" y="864"/>
              <a:ext cx="1104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49" name="Line 17"/>
            <p:cNvSpPr>
              <a:spLocks noChangeShapeType="1"/>
            </p:cNvSpPr>
            <p:nvPr/>
          </p:nvSpPr>
          <p:spPr bwMode="auto">
            <a:xfrm>
              <a:off x="3168" y="864"/>
              <a:ext cx="1008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50" name="Line 18"/>
            <p:cNvSpPr>
              <a:spLocks noChangeShapeType="1"/>
            </p:cNvSpPr>
            <p:nvPr/>
          </p:nvSpPr>
          <p:spPr bwMode="auto">
            <a:xfrm flipH="1">
              <a:off x="672" y="1728"/>
              <a:ext cx="432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51" name="Line 19"/>
            <p:cNvSpPr>
              <a:spLocks noChangeShapeType="1"/>
            </p:cNvSpPr>
            <p:nvPr/>
          </p:nvSpPr>
          <p:spPr bwMode="auto">
            <a:xfrm>
              <a:off x="1431" y="1728"/>
              <a:ext cx="249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52" name="Line 20"/>
            <p:cNvSpPr>
              <a:spLocks noChangeShapeType="1"/>
            </p:cNvSpPr>
            <p:nvPr/>
          </p:nvSpPr>
          <p:spPr bwMode="auto">
            <a:xfrm flipH="1">
              <a:off x="3696" y="1728"/>
              <a:ext cx="432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53" name="Line 21"/>
            <p:cNvSpPr>
              <a:spLocks noChangeShapeType="1"/>
            </p:cNvSpPr>
            <p:nvPr/>
          </p:nvSpPr>
          <p:spPr bwMode="auto">
            <a:xfrm>
              <a:off x="4455" y="1728"/>
              <a:ext cx="249" cy="43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454" name="AutoShape 22"/>
            <p:cNvSpPr>
              <a:spLocks noChangeArrowheads="1"/>
            </p:cNvSpPr>
            <p:nvPr/>
          </p:nvSpPr>
          <p:spPr bwMode="auto">
            <a:xfrm>
              <a:off x="192" y="2880"/>
              <a:ext cx="816" cy="576"/>
            </a:xfrm>
            <a:prstGeom prst="cloudCallout">
              <a:avLst>
                <a:gd name="adj1" fmla="val 5148"/>
                <a:gd name="adj2" fmla="val -11458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2000" b="1"/>
                <a:t>10</a:t>
              </a:r>
            </a:p>
            <a:p>
              <a:pPr algn="ctr"/>
              <a:r>
                <a:rPr lang="en-US" sz="2000" b="1"/>
                <a:t>-356</a:t>
              </a:r>
            </a:p>
          </p:txBody>
        </p:sp>
        <p:sp>
          <p:nvSpPr>
            <p:cNvPr id="18455" name="AutoShape 23"/>
            <p:cNvSpPr>
              <a:spLocks noChangeArrowheads="1"/>
            </p:cNvSpPr>
            <p:nvPr/>
          </p:nvSpPr>
          <p:spPr bwMode="auto">
            <a:xfrm>
              <a:off x="1440" y="2832"/>
              <a:ext cx="1008" cy="576"/>
            </a:xfrm>
            <a:prstGeom prst="cloudCallout">
              <a:avLst>
                <a:gd name="adj1" fmla="val -5356"/>
                <a:gd name="adj2" fmla="val -11458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2000" b="1"/>
                <a:t>4600.5</a:t>
              </a:r>
            </a:p>
            <a:p>
              <a:pPr algn="ctr"/>
              <a:r>
                <a:rPr lang="en-US" sz="2000" b="1"/>
                <a:t>-0.963</a:t>
              </a:r>
            </a:p>
          </p:txBody>
        </p:sp>
        <p:sp>
          <p:nvSpPr>
            <p:cNvPr id="18456" name="AutoShape 24"/>
            <p:cNvSpPr>
              <a:spLocks noChangeArrowheads="1"/>
            </p:cNvSpPr>
            <p:nvPr/>
          </p:nvSpPr>
          <p:spPr bwMode="auto">
            <a:xfrm>
              <a:off x="2880" y="2928"/>
              <a:ext cx="816" cy="576"/>
            </a:xfrm>
            <a:prstGeom prst="cloudCallout">
              <a:avLst>
                <a:gd name="adj1" fmla="val 5148"/>
                <a:gd name="adj2" fmla="val -11458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2000" b="1"/>
                <a:t>‘A’</a:t>
              </a:r>
            </a:p>
            <a:p>
              <a:pPr algn="ctr"/>
              <a:r>
                <a:rPr lang="en-US" sz="2400" b="1"/>
                <a:t>‘*’</a:t>
              </a:r>
            </a:p>
          </p:txBody>
        </p:sp>
        <p:sp>
          <p:nvSpPr>
            <p:cNvPr id="18457" name="AutoShape 25"/>
            <p:cNvSpPr>
              <a:spLocks noChangeArrowheads="1"/>
            </p:cNvSpPr>
            <p:nvPr/>
          </p:nvSpPr>
          <p:spPr bwMode="auto">
            <a:xfrm>
              <a:off x="4368" y="2880"/>
              <a:ext cx="1200" cy="672"/>
            </a:xfrm>
            <a:prstGeom prst="cloudCallout">
              <a:avLst>
                <a:gd name="adj1" fmla="val 13690"/>
                <a:gd name="adj2" fmla="val -11458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2000" b="1"/>
                <a:t>“a”</a:t>
              </a:r>
            </a:p>
            <a:p>
              <a:pPr algn="ctr"/>
              <a:r>
                <a:rPr lang="en-US" sz="2000" b="1"/>
                <a:t>“Apollo”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7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133600" y="228600"/>
            <a:ext cx="4724400" cy="7620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400" b="1">
                <a:solidFill>
                  <a:srgbClr val="66FF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Unicode MS" pitchFamily="34" charset="-128"/>
                <a:cs typeface="Times New Roman" pitchFamily="18" charset="0"/>
              </a:rPr>
              <a:t>Escape Sequence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457200" y="1066800"/>
            <a:ext cx="8229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5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Escape sequences are specified as the first argument in </a:t>
            </a:r>
            <a:br>
              <a:rPr lang="en-US" sz="25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5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 Output Statement.</a:t>
            </a:r>
            <a:r>
              <a:rPr lang="en-US" sz="29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>
                <a:solidFill>
                  <a:schemeClr val="tx2"/>
                </a:solidFill>
              </a:rPr>
              <a:t>They are always preceded with a     </a:t>
            </a:r>
          </a:p>
          <a:p>
            <a:r>
              <a:rPr lang="en-US" sz="2500" b="1">
                <a:solidFill>
                  <a:schemeClr val="tx2"/>
                </a:solidFill>
              </a:rPr>
              <a:t>    backslash</a:t>
            </a: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4400" y="2552700"/>
            <a:ext cx="7848600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ChangeArrowheads="1"/>
          </p:cNvSpPr>
          <p:nvPr/>
        </p:nvSpPr>
        <p:spPr bwMode="auto">
          <a:xfrm>
            <a:off x="3657600" y="3276600"/>
            <a:ext cx="39624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3" name="Text Box 3"/>
          <p:cNvSpPr txBox="1">
            <a:spLocks noChangeArrowheads="1"/>
          </p:cNvSpPr>
          <p:nvPr/>
        </p:nvSpPr>
        <p:spPr bwMode="auto">
          <a:xfrm>
            <a:off x="457200" y="1447800"/>
            <a:ext cx="8229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4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Variables are named locations in memory that are used to </a:t>
            </a:r>
            <a:br>
              <a:rPr lang="en-US" sz="24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  hold a value that may be modified by the program.</a:t>
            </a:r>
          </a:p>
        </p:txBody>
      </p:sp>
      <p:sp>
        <p:nvSpPr>
          <p:cNvPr id="23556" name="WordArt 4" descr="Walnut"/>
          <p:cNvSpPr>
            <a:spLocks noChangeArrowheads="1" noChangeShapeType="1" noTextEdit="1"/>
          </p:cNvSpPr>
          <p:nvPr/>
        </p:nvSpPr>
        <p:spPr bwMode="auto">
          <a:xfrm>
            <a:off x="2590800" y="457200"/>
            <a:ext cx="3581400" cy="609600"/>
          </a:xfrm>
          <a:prstGeom prst="rect">
            <a:avLst/>
          </a:prstGeom>
        </p:spPr>
        <p:txBody>
          <a:bodyPr wrap="none" fromWordArt="1">
            <a:prstTxWarp prst="textCanUp">
              <a:avLst>
                <a:gd name="adj" fmla="val 85713"/>
              </a:avLst>
            </a:prstTxWarp>
          </a:bodyPr>
          <a:lstStyle/>
          <a:p>
            <a:pPr algn="ctr"/>
            <a:r>
              <a:rPr lang="en-IN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blipFill dpi="0" rotWithShape="0">
                  <a:blip r:embed="rId4"/>
                  <a:srcRect/>
                  <a:tile tx="0" ty="0" sx="100000" sy="100000" flip="none" algn="tl"/>
                </a:blipFill>
                <a:latin typeface="Arial Black"/>
              </a:rPr>
              <a:t>VARIABLES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62000" y="2819400"/>
            <a:ext cx="2362200" cy="1143000"/>
            <a:chOff x="912" y="1776"/>
            <a:chExt cx="1488" cy="720"/>
          </a:xfrm>
        </p:grpSpPr>
        <p:graphicFrame>
          <p:nvGraphicFramePr>
            <p:cNvPr id="2050" name="Object 6"/>
            <p:cNvGraphicFramePr>
              <a:graphicFrameLocks noChangeAspect="1"/>
            </p:cNvGraphicFramePr>
            <p:nvPr/>
          </p:nvGraphicFramePr>
          <p:xfrm>
            <a:off x="912" y="1776"/>
            <a:ext cx="613" cy="720"/>
          </p:xfrm>
          <a:graphic>
            <a:graphicData uri="http://schemas.openxmlformats.org/presentationml/2006/ole">
              <p:oleObj spid="_x0000_s2050" name="Package" r:id="rId5" imgW="380880" imgH="485640" progId="Package">
                <p:embed/>
              </p:oleObj>
            </a:graphicData>
          </a:graphic>
        </p:graphicFrame>
        <p:graphicFrame>
          <p:nvGraphicFramePr>
            <p:cNvPr id="2051" name="Object 7"/>
            <p:cNvGraphicFramePr>
              <a:graphicFrameLocks noChangeAspect="1"/>
            </p:cNvGraphicFramePr>
            <p:nvPr/>
          </p:nvGraphicFramePr>
          <p:xfrm>
            <a:off x="1440" y="1968"/>
            <a:ext cx="960" cy="502"/>
          </p:xfrm>
          <a:graphic>
            <a:graphicData uri="http://schemas.openxmlformats.org/presentationml/2006/ole">
              <p:oleObj spid="_x0000_s2051" name="Package" r:id="rId6" imgW="1114560" imgH="485640" progId="Package">
                <p:embed/>
              </p:oleObj>
            </a:graphicData>
          </a:graphic>
        </p:graphicFrame>
      </p:grp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124200" y="2667000"/>
            <a:ext cx="586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7"/>
              </a:buBlip>
            </a:pPr>
            <a:r>
              <a:rPr lang="en-US" sz="2400" b="1">
                <a:solidFill>
                  <a:schemeClr val="tx2"/>
                </a:solidFill>
              </a:rPr>
              <a:t>The syntax for declaring a variable is </a:t>
            </a:r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3810000" y="3352800"/>
            <a:ext cx="381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Data type  Variablename;</a:t>
            </a:r>
          </a:p>
        </p:txBody>
      </p:sp>
      <p:sp>
        <p:nvSpPr>
          <p:cNvPr id="2058" name="Rectangle 10"/>
          <p:cNvSpPr>
            <a:spLocks noChangeArrowheads="1"/>
          </p:cNvSpPr>
          <p:nvPr/>
        </p:nvSpPr>
        <p:spPr bwMode="auto">
          <a:xfrm>
            <a:off x="3200400" y="4114800"/>
            <a:ext cx="5867400" cy="12001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i="1" u="sng"/>
              <a:t>Valid Examples :</a:t>
            </a:r>
            <a:r>
              <a:rPr lang="en-US" sz="2400" i="1"/>
              <a:t> </a:t>
            </a:r>
            <a:r>
              <a:rPr lang="en-US" sz="2400" i="1">
                <a:solidFill>
                  <a:srgbClr val="FF0000"/>
                </a:solidFill>
              </a:rPr>
              <a:t>	</a:t>
            </a:r>
            <a:r>
              <a:rPr lang="en-US" sz="2400" i="1"/>
              <a:t>int acct_type; </a:t>
            </a:r>
          </a:p>
          <a:p>
            <a:r>
              <a:rPr lang="en-US" sz="2400" i="1"/>
              <a:t>int m1;  </a:t>
            </a:r>
            <a:r>
              <a:rPr lang="en-US" sz="2400">
                <a:solidFill>
                  <a:schemeClr val="tx2"/>
                </a:solidFill>
              </a:rPr>
              <a:t>float pi; 	char ch=‘a’;</a:t>
            </a:r>
          </a:p>
          <a:p>
            <a:r>
              <a:rPr lang="en-US" sz="2400">
                <a:solidFill>
                  <a:schemeClr val="tx2"/>
                </a:solidFill>
              </a:rPr>
              <a:t>char str[20]=“hello”;</a:t>
            </a:r>
            <a:r>
              <a:rPr lang="en-US" sz="2400" b="1">
                <a:solidFill>
                  <a:schemeClr val="tx2"/>
                </a:solidFill>
              </a:rPr>
              <a:t>	</a:t>
            </a:r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685800" y="5486400"/>
            <a:ext cx="525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660066"/>
                </a:solidFill>
                <a:latin typeface="Times New Roman" pitchFamily="18" charset="0"/>
                <a:cs typeface="Times New Roman" pitchFamily="18" charset="0"/>
              </a:rPr>
              <a:t>Some erroneous identifier names are -</a:t>
            </a:r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5943600" y="5486400"/>
            <a:ext cx="20574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1stsst</a:t>
            </a:r>
          </a:p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oh!god</a:t>
            </a:r>
          </a:p>
          <a:p>
            <a:r>
              <a:rPr lang="en-US" sz="2400" b="1">
                <a:latin typeface="Times New Roman" pitchFamily="18" charset="0"/>
                <a:cs typeface="Times New Roman" pitchFamily="18" charset="0"/>
              </a:rPr>
              <a:t>start$….end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</p:cBhvr>
                                      <p:from x="100000" y="100000"/>
                                      <p:to x="100000" y="5000"/>
                                    </p:animScale>
                                    <p:animScale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</p:cBhvr>
                                      <p:from x="100000" y="5000"/>
                                      <p:to x="120000" y="150000"/>
                                    </p:animScale>
                                    <p:animScale>
                                      <p:cBhvr>
                                        <p:cTn id="12" dur="600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</p:cBhvr>
                                      <p:to x="12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nimBg="1"/>
      <p:bldP spid="23563" grpId="0" autoUpdateAnimBg="0"/>
      <p:bldP spid="2356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533400" y="381000"/>
            <a:ext cx="5638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i="1" u="sng"/>
              <a:t>RULES for framing a variable :</a:t>
            </a:r>
          </a:p>
        </p:txBody>
      </p:sp>
      <p:sp>
        <p:nvSpPr>
          <p:cNvPr id="24579" name="AutoShape 3"/>
          <p:cNvSpPr>
            <a:spLocks/>
          </p:cNvSpPr>
          <p:nvPr/>
        </p:nvSpPr>
        <p:spPr bwMode="auto">
          <a:xfrm>
            <a:off x="685800" y="1217613"/>
            <a:ext cx="8001000" cy="4954587"/>
          </a:xfrm>
          <a:prstGeom prst="borderCallout1">
            <a:avLst>
              <a:gd name="adj1" fmla="val -1537"/>
              <a:gd name="adj2" fmla="val 98569"/>
              <a:gd name="adj3" fmla="val -1537"/>
              <a:gd name="adj4" fmla="val 452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5000"/>
              </a:lnSpc>
              <a:buFontTx/>
              <a:buBlip>
                <a:blip r:embed="rId3"/>
              </a:buBlip>
            </a:pPr>
            <a:r>
              <a:rPr lang="en-US" sz="2000" b="1"/>
              <a:t> The first character in the Variable name must be an alphabet </a:t>
            </a:r>
          </a:p>
          <a:p>
            <a:pPr>
              <a:lnSpc>
                <a:spcPct val="155000"/>
              </a:lnSpc>
              <a:buFontTx/>
              <a:buBlip>
                <a:blip r:embed="rId3"/>
              </a:buBlip>
            </a:pPr>
            <a:r>
              <a:rPr lang="en-US" sz="2000" b="1"/>
              <a:t> Alphabets can be followed by a number of digits or underscores</a:t>
            </a:r>
          </a:p>
          <a:p>
            <a:pPr>
              <a:lnSpc>
                <a:spcPct val="155000"/>
              </a:lnSpc>
              <a:buFontTx/>
              <a:buBlip>
                <a:blip r:embed="rId3"/>
              </a:buBlip>
            </a:pPr>
            <a:r>
              <a:rPr lang="en-US" sz="2000" b="1"/>
              <a:t> No commas or Blank spaces are allowed within a variable name</a:t>
            </a:r>
          </a:p>
          <a:p>
            <a:pPr>
              <a:lnSpc>
                <a:spcPct val="155000"/>
              </a:lnSpc>
              <a:buFontTx/>
              <a:buBlip>
                <a:blip r:embed="rId3"/>
              </a:buBlip>
            </a:pPr>
            <a:r>
              <a:rPr lang="en-US" sz="2000" b="1"/>
              <a:t> No Special character other than Underscore(_)  can be used in a   variable name.</a:t>
            </a:r>
          </a:p>
          <a:p>
            <a:pPr>
              <a:lnSpc>
                <a:spcPct val="155000"/>
              </a:lnSpc>
              <a:buFontTx/>
              <a:buBlip>
                <a:blip r:embed="rId3"/>
              </a:buBlip>
            </a:pPr>
            <a:r>
              <a:rPr lang="en-US" sz="2000" b="1"/>
              <a:t> The variable name should not be a keyword</a:t>
            </a:r>
          </a:p>
          <a:p>
            <a:pPr>
              <a:lnSpc>
                <a:spcPct val="155000"/>
              </a:lnSpc>
              <a:buFontTx/>
              <a:buBlip>
                <a:blip r:embed="rId3"/>
              </a:buBlip>
            </a:pPr>
            <a:r>
              <a:rPr lang="en-US" sz="2000" b="1"/>
              <a:t>  Variable names are case sensitive</a:t>
            </a:r>
          </a:p>
          <a:p>
            <a:pPr>
              <a:lnSpc>
                <a:spcPct val="155000"/>
              </a:lnSpc>
              <a:buFontTx/>
              <a:buBlip>
                <a:blip r:embed="rId3"/>
              </a:buBlip>
            </a:pPr>
            <a:r>
              <a:rPr lang="en-US" sz="2000" b="1"/>
              <a:t>  It should not be of length more than 31 characters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/>
      <p:bldP spid="2457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WordArt 2"/>
          <p:cNvSpPr>
            <a:spLocks noChangeArrowheads="1" noChangeShapeType="1" noTextEdit="1"/>
          </p:cNvSpPr>
          <p:nvPr/>
        </p:nvSpPr>
        <p:spPr bwMode="auto">
          <a:xfrm>
            <a:off x="1905000" y="533400"/>
            <a:ext cx="5181600" cy="6477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r>
              <a:rPr lang="en-IN" sz="3600" b="1" kern="1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100000">
                      <a:srgbClr val="FFCC00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Arial Black"/>
              </a:rPr>
              <a:t>DATA TYPES</a:t>
            </a:r>
          </a:p>
        </p:txBody>
      </p:sp>
      <p:sp>
        <p:nvSpPr>
          <p:cNvPr id="25603" name="WordArt 3"/>
          <p:cNvSpPr>
            <a:spLocks noChangeArrowheads="1" noChangeShapeType="1" noTextEdit="1"/>
          </p:cNvSpPr>
          <p:nvPr/>
        </p:nvSpPr>
        <p:spPr bwMode="auto">
          <a:xfrm>
            <a:off x="1000125" y="2209800"/>
            <a:ext cx="3267075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24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Primary Data Types</a:t>
            </a:r>
          </a:p>
        </p:txBody>
      </p:sp>
      <p:sp>
        <p:nvSpPr>
          <p:cNvPr id="25604" name="WordArt 4"/>
          <p:cNvSpPr>
            <a:spLocks noChangeArrowheads="1" noChangeShapeType="1" noTextEdit="1"/>
          </p:cNvSpPr>
          <p:nvPr/>
        </p:nvSpPr>
        <p:spPr bwMode="auto">
          <a:xfrm>
            <a:off x="4657725" y="2286000"/>
            <a:ext cx="3267075" cy="657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24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Secondary Data Types</a:t>
            </a:r>
          </a:p>
        </p:txBody>
      </p:sp>
      <p:cxnSp>
        <p:nvCxnSpPr>
          <p:cNvPr id="25605" name="AutoShape 5"/>
          <p:cNvCxnSpPr>
            <a:cxnSpLocks noChangeShapeType="1"/>
          </p:cNvCxnSpPr>
          <p:nvPr/>
        </p:nvCxnSpPr>
        <p:spPr bwMode="auto">
          <a:xfrm rot="16200000" flipH="1">
            <a:off x="5029200" y="1524000"/>
            <a:ext cx="1066800" cy="4572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25606" name="AutoShape 6"/>
          <p:cNvCxnSpPr>
            <a:cxnSpLocks noChangeShapeType="1"/>
          </p:cNvCxnSpPr>
          <p:nvPr/>
        </p:nvCxnSpPr>
        <p:spPr bwMode="auto">
          <a:xfrm rot="5400000">
            <a:off x="3352800" y="1524000"/>
            <a:ext cx="838200" cy="381000"/>
          </a:xfrm>
          <a:prstGeom prst="bentConnector3">
            <a:avLst>
              <a:gd name="adj1" fmla="val 51704"/>
            </a:avLst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1524000" y="3657600"/>
            <a:ext cx="3048000" cy="2124075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Integer-int   21</a:t>
            </a:r>
          </a:p>
          <a:p>
            <a:pPr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Float-float    3.14</a:t>
            </a:r>
          </a:p>
          <a:p>
            <a:pPr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Character-char  ‘a’</a:t>
            </a:r>
          </a:p>
          <a:p>
            <a:pPr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String –char    “hello”</a:t>
            </a:r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5410200" y="3729038"/>
            <a:ext cx="2057400" cy="2138362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Structure</a:t>
            </a:r>
          </a:p>
          <a:p>
            <a:pPr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Union</a:t>
            </a:r>
          </a:p>
          <a:p>
            <a:pPr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Pointer</a:t>
            </a:r>
          </a:p>
          <a:p>
            <a:pPr>
              <a:spcBef>
                <a:spcPct val="50000"/>
              </a:spcBef>
            </a:pPr>
            <a:r>
              <a:rPr lang="en-US" sz="2400" b="1">
                <a:latin typeface="Times New Roman" pitchFamily="18" charset="0"/>
              </a:rPr>
              <a:t>Enum</a:t>
            </a:r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2514600" y="27432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>
            <a:off x="6248400" y="28194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25603" grpId="0" animBg="1"/>
      <p:bldP spid="25604" grpId="0" animBg="1"/>
      <p:bldP spid="25607" grpId="0" animBg="1"/>
      <p:bldP spid="25608" grpId="0" animBg="1"/>
      <p:bldP spid="25609" grpId="0" animBg="1"/>
      <p:bldP spid="256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WordArt 2"/>
          <p:cNvSpPr>
            <a:spLocks noChangeArrowheads="1" noChangeShapeType="1" noTextEdit="1"/>
          </p:cNvSpPr>
          <p:nvPr/>
        </p:nvSpPr>
        <p:spPr bwMode="auto">
          <a:xfrm>
            <a:off x="2057400" y="457200"/>
            <a:ext cx="57150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Primary Data Types</a:t>
            </a: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1371600"/>
            <a:ext cx="7924800" cy="532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381000" y="684213"/>
            <a:ext cx="8305800" cy="4497387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tabLst>
                <a:tab pos="457200" algn="l"/>
              </a:tabLst>
            </a:pPr>
            <a:r>
              <a:rPr lang="en-US" sz="3200" b="1" u="sng">
                <a:latin typeface="Times New Roman" pitchFamily="18" charset="0"/>
              </a:rPr>
              <a:t>Session Summary</a:t>
            </a:r>
          </a:p>
          <a:p>
            <a:pPr>
              <a:tabLst>
                <a:tab pos="457200" algn="l"/>
              </a:tabLst>
            </a:pPr>
            <a:endParaRPr lang="en-US" sz="3200" b="1">
              <a:latin typeface="Times New Roman" pitchFamily="18" charset="0"/>
            </a:endParaRPr>
          </a:p>
          <a:p>
            <a:pPr algn="just">
              <a:lnSpc>
                <a:spcPct val="280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All variables must be declared in the program before all executable statement</a:t>
            </a:r>
          </a:p>
          <a:p>
            <a:pPr algn="just">
              <a:lnSpc>
                <a:spcPct val="280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Comments statements may or may not be present in a program</a:t>
            </a:r>
          </a:p>
          <a:p>
            <a:pPr algn="just">
              <a:lnSpc>
                <a:spcPct val="280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Comment statement improves the readability of a program</a:t>
            </a:r>
          </a:p>
          <a:p>
            <a:pPr algn="just">
              <a:lnSpc>
                <a:spcPct val="280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A program will always begin by executing the main() function</a:t>
            </a:r>
          </a:p>
          <a:p>
            <a:pPr algn="just">
              <a:lnSpc>
                <a:spcPct val="280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Every C program must contain atleast one function which must be a main()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609600" y="931863"/>
            <a:ext cx="8077200" cy="49053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algn="ctr">
              <a:tabLst>
                <a:tab pos="457200" algn="l"/>
              </a:tabLst>
            </a:pPr>
            <a:r>
              <a:rPr lang="en-US" sz="3200" b="1" u="sng">
                <a:latin typeface="Times New Roman" pitchFamily="18" charset="0"/>
              </a:rPr>
              <a:t>EXERCISES</a:t>
            </a:r>
          </a:p>
          <a:p>
            <a:pPr marL="342900" indent="-342900">
              <a:tabLst>
                <a:tab pos="457200" algn="l"/>
              </a:tabLst>
            </a:pPr>
            <a:endParaRPr lang="en-US" sz="3200" b="1">
              <a:latin typeface="Times New Roman" pitchFamily="18" charset="0"/>
            </a:endParaRPr>
          </a:p>
          <a:p>
            <a:pPr marL="342900" indent="-342900" algn="just">
              <a:lnSpc>
                <a:spcPct val="210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2000" b="1"/>
              <a:t>Why it is required to include header files your C program?</a:t>
            </a:r>
          </a:p>
          <a:p>
            <a:pPr marL="342900" indent="-342900" algn="just">
              <a:lnSpc>
                <a:spcPct val="210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2000" b="1"/>
              <a:t> What is  #include statement? Indicate its use?</a:t>
            </a:r>
          </a:p>
          <a:p>
            <a:pPr marL="342900" indent="-342900" algn="just">
              <a:lnSpc>
                <a:spcPct val="210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2000" b="1"/>
              <a:t>Why is the main() function is so special</a:t>
            </a:r>
          </a:p>
          <a:p>
            <a:pPr marL="342900" indent="-342900" algn="just">
              <a:lnSpc>
                <a:spcPct val="210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2000" b="1"/>
              <a:t> Write a program to calculate Simple and Compound Interest?</a:t>
            </a:r>
          </a:p>
          <a:p>
            <a:pPr marL="342900" indent="-342900" algn="just">
              <a:lnSpc>
                <a:spcPct val="210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2000" b="1"/>
              <a:t>State the use of comment symbol in a program?</a:t>
            </a:r>
          </a:p>
          <a:p>
            <a:pPr marL="342900" indent="-342900" algn="just">
              <a:lnSpc>
                <a:spcPct val="210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2000" b="1"/>
              <a:t> Describe the types of constants? Give example?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WordArt 2"/>
          <p:cNvSpPr>
            <a:spLocks noChangeArrowheads="1" noChangeShapeType="1" noTextEdit="1"/>
          </p:cNvSpPr>
          <p:nvPr/>
        </p:nvSpPr>
        <p:spPr bwMode="auto">
          <a:xfrm>
            <a:off x="1219200" y="3810000"/>
            <a:ext cx="7086600" cy="914400"/>
          </a:xfrm>
          <a:prstGeom prst="rect">
            <a:avLst/>
          </a:prstGeom>
        </p:spPr>
        <p:txBody>
          <a:bodyPr wrap="none" fromWordArt="1">
            <a:prstTxWarp prst="textChevron">
              <a:avLst>
                <a:gd name="adj" fmla="val 2500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Arial Black"/>
              </a:rPr>
              <a:t>OPERATORS IN  "C"</a:t>
            </a:r>
          </a:p>
        </p:txBody>
      </p:sp>
    </p:spTree>
  </p:cSld>
  <p:clrMapOvr>
    <a:masterClrMapping/>
  </p:clrMapOvr>
  <p:transition spd="med" advClick="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828800" y="381000"/>
            <a:ext cx="5376863" cy="823913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cs typeface="Times New Roman" pitchFamily="18" charset="0"/>
              </a:rPr>
              <a:t>Session Objectives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838200" y="1981200"/>
            <a:ext cx="51085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Explain Arithmetic Operators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838200" y="2652713"/>
            <a:ext cx="59801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Understand Arithmetic Expressions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914400" y="3352800"/>
            <a:ext cx="68865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Explain Relational and Logical Operators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914400" y="4038600"/>
            <a:ext cx="58134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Explain the Conditional Operators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933450" y="4724400"/>
            <a:ext cx="52197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Explain the Comma Operators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838200" y="1371600"/>
            <a:ext cx="5010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Explain 8 Types of Operators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990600" y="5348288"/>
            <a:ext cx="54943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Explain Input/Output Statement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3" grpId="0" autoUpdateAnimBg="0"/>
      <p:bldP spid="5124" grpId="0" autoUpdateAnimBg="0"/>
      <p:bldP spid="5125" grpId="0" autoUpdateAnimBg="0"/>
      <p:bldP spid="5126" grpId="0" autoUpdateAnimBg="0"/>
      <p:bldP spid="5127" grpId="0" autoUpdateAnimBg="0"/>
      <p:bldP spid="5128" grpId="0" autoUpdateAnimBg="0"/>
      <p:bldP spid="512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CSC COMPUTER EDUCATION, M.K.B.NAGAR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09600" y="0"/>
            <a:ext cx="7239000" cy="6858000"/>
            <a:chOff x="384" y="0"/>
            <a:chExt cx="4560" cy="4320"/>
          </a:xfrm>
        </p:grpSpPr>
        <p:sp>
          <p:nvSpPr>
            <p:cNvPr id="4100" name="AutoShape 3"/>
            <p:cNvSpPr>
              <a:spLocks noChangeArrowheads="1"/>
            </p:cNvSpPr>
            <p:nvPr/>
          </p:nvSpPr>
          <p:spPr bwMode="auto">
            <a:xfrm>
              <a:off x="384" y="0"/>
              <a:ext cx="4560" cy="4320"/>
            </a:xfrm>
            <a:prstGeom prst="flowChartMultidocumen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480" y="768"/>
              <a:ext cx="3840" cy="3288"/>
              <a:chOff x="720" y="624"/>
              <a:chExt cx="3840" cy="3288"/>
            </a:xfrm>
          </p:grpSpPr>
          <p:sp>
            <p:nvSpPr>
              <p:cNvPr id="4102" name="WordArt 5"/>
              <p:cNvSpPr>
                <a:spLocks noChangeArrowheads="1" noChangeShapeType="1" noTextEdit="1"/>
              </p:cNvSpPr>
              <p:nvPr/>
            </p:nvSpPr>
            <p:spPr bwMode="auto">
              <a:xfrm>
                <a:off x="720" y="624"/>
                <a:ext cx="2424" cy="3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IN" sz="2800" kern="10">
                    <a:ln w="12700">
                      <a:noFill/>
                      <a:round/>
                      <a:headEnd/>
                      <a:tailEnd/>
                    </a:ln>
                    <a:solidFill>
                      <a:srgbClr val="CC0099"/>
                    </a:solidFill>
                    <a:latin typeface="Arial Black"/>
                  </a:rPr>
                  <a:t>Arithmetic Operator</a:t>
                </a:r>
              </a:p>
            </p:txBody>
          </p:sp>
          <p:sp>
            <p:nvSpPr>
              <p:cNvPr id="4103" name="WordArt 6"/>
              <p:cNvSpPr>
                <a:spLocks noChangeArrowheads="1" noChangeShapeType="1" noTextEdit="1"/>
              </p:cNvSpPr>
              <p:nvPr/>
            </p:nvSpPr>
            <p:spPr bwMode="auto">
              <a:xfrm>
                <a:off x="720" y="1008"/>
                <a:ext cx="2382" cy="3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IN" sz="2800" kern="10">
                    <a:ln w="12700">
                      <a:noFill/>
                      <a:round/>
                      <a:headEnd/>
                      <a:tailEnd/>
                    </a:ln>
                    <a:solidFill>
                      <a:srgbClr val="CC0099"/>
                    </a:solidFill>
                    <a:latin typeface="Arial Black"/>
                  </a:rPr>
                  <a:t>Relational Operator</a:t>
                </a:r>
              </a:p>
            </p:txBody>
          </p:sp>
          <p:sp>
            <p:nvSpPr>
              <p:cNvPr id="4104" name="WordArt 7"/>
              <p:cNvSpPr>
                <a:spLocks noChangeArrowheads="1" noChangeShapeType="1" noTextEdit="1"/>
              </p:cNvSpPr>
              <p:nvPr/>
            </p:nvSpPr>
            <p:spPr bwMode="auto">
              <a:xfrm>
                <a:off x="768" y="1392"/>
                <a:ext cx="2040" cy="3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IN" sz="2800" kern="10">
                    <a:ln w="12700">
                      <a:noFill/>
                      <a:round/>
                      <a:headEnd/>
                      <a:tailEnd/>
                    </a:ln>
                    <a:solidFill>
                      <a:srgbClr val="CC0099"/>
                    </a:solidFill>
                    <a:latin typeface="Arial Black"/>
                  </a:rPr>
                  <a:t>Logical Operator</a:t>
                </a:r>
              </a:p>
            </p:txBody>
          </p:sp>
          <p:sp>
            <p:nvSpPr>
              <p:cNvPr id="4105" name="WordArt 8"/>
              <p:cNvSpPr>
                <a:spLocks noChangeArrowheads="1" noChangeShapeType="1" noTextEdit="1"/>
              </p:cNvSpPr>
              <p:nvPr/>
            </p:nvSpPr>
            <p:spPr bwMode="auto">
              <a:xfrm>
                <a:off x="768" y="1776"/>
                <a:ext cx="2586" cy="3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IN" sz="2800" kern="10">
                    <a:ln w="12700">
                      <a:noFill/>
                      <a:round/>
                      <a:headEnd/>
                      <a:tailEnd/>
                    </a:ln>
                    <a:solidFill>
                      <a:srgbClr val="CC0099"/>
                    </a:solidFill>
                    <a:latin typeface="Arial Black"/>
                  </a:rPr>
                  <a:t>Assignment Operator</a:t>
                </a:r>
              </a:p>
            </p:txBody>
          </p:sp>
          <p:sp>
            <p:nvSpPr>
              <p:cNvPr id="4106" name="WordArt 9"/>
              <p:cNvSpPr>
                <a:spLocks noChangeArrowheads="1" noChangeShapeType="1" noTextEdit="1"/>
              </p:cNvSpPr>
              <p:nvPr/>
            </p:nvSpPr>
            <p:spPr bwMode="auto">
              <a:xfrm>
                <a:off x="768" y="2256"/>
                <a:ext cx="3792" cy="3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IN" sz="2800" kern="10">
                    <a:ln w="12700">
                      <a:noFill/>
                      <a:round/>
                      <a:headEnd/>
                      <a:tailEnd/>
                    </a:ln>
                    <a:solidFill>
                      <a:srgbClr val="CC0099"/>
                    </a:solidFill>
                    <a:latin typeface="Arial Black"/>
                  </a:rPr>
                  <a:t>Increment/Decrement Operator</a:t>
                </a:r>
              </a:p>
            </p:txBody>
          </p:sp>
          <p:sp>
            <p:nvSpPr>
              <p:cNvPr id="4107" name="WordArt 10"/>
              <p:cNvSpPr>
                <a:spLocks noChangeArrowheads="1" noChangeShapeType="1" noTextEdit="1"/>
              </p:cNvSpPr>
              <p:nvPr/>
            </p:nvSpPr>
            <p:spPr bwMode="auto">
              <a:xfrm>
                <a:off x="768" y="2736"/>
                <a:ext cx="2604" cy="3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IN" sz="2800" kern="10">
                    <a:ln w="12700">
                      <a:noFill/>
                      <a:round/>
                      <a:headEnd/>
                      <a:tailEnd/>
                    </a:ln>
                    <a:solidFill>
                      <a:srgbClr val="CC0099"/>
                    </a:solidFill>
                    <a:latin typeface="Arial Black"/>
                  </a:rPr>
                  <a:t>Conditional  Operator</a:t>
                </a:r>
              </a:p>
            </p:txBody>
          </p:sp>
          <p:sp>
            <p:nvSpPr>
              <p:cNvPr id="4108" name="WordArt 11"/>
              <p:cNvSpPr>
                <a:spLocks noChangeArrowheads="1" noChangeShapeType="1" noTextEdit="1"/>
              </p:cNvSpPr>
              <p:nvPr/>
            </p:nvSpPr>
            <p:spPr bwMode="auto">
              <a:xfrm>
                <a:off x="816" y="3168"/>
                <a:ext cx="2058" cy="3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IN" sz="2800" kern="10">
                    <a:ln w="12700">
                      <a:noFill/>
                      <a:round/>
                      <a:headEnd/>
                      <a:tailEnd/>
                    </a:ln>
                    <a:solidFill>
                      <a:srgbClr val="CC0099"/>
                    </a:solidFill>
                    <a:latin typeface="Arial Black"/>
                  </a:rPr>
                  <a:t>Bitwise Operator</a:t>
                </a:r>
              </a:p>
            </p:txBody>
          </p:sp>
          <p:sp>
            <p:nvSpPr>
              <p:cNvPr id="4109" name="WordArt 12"/>
              <p:cNvSpPr>
                <a:spLocks noChangeArrowheads="1" noChangeShapeType="1" noTextEdit="1"/>
              </p:cNvSpPr>
              <p:nvPr/>
            </p:nvSpPr>
            <p:spPr bwMode="auto">
              <a:xfrm>
                <a:off x="816" y="3600"/>
                <a:ext cx="2052" cy="31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IN" sz="2800" kern="10">
                    <a:ln w="12700">
                      <a:noFill/>
                      <a:round/>
                      <a:headEnd/>
                      <a:tailEnd/>
                    </a:ln>
                    <a:solidFill>
                      <a:srgbClr val="CC0099"/>
                    </a:solidFill>
                    <a:latin typeface="Arial Black"/>
                  </a:rPr>
                  <a:t>Special Operator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graphicFrame>
        <p:nvGraphicFramePr>
          <p:cNvPr id="7170" name="Group 2"/>
          <p:cNvGraphicFramePr>
            <a:graphicFrameLocks noGrp="1"/>
          </p:cNvGraphicFramePr>
          <p:nvPr/>
        </p:nvGraphicFramePr>
        <p:xfrm>
          <a:off x="1447800" y="2667000"/>
          <a:ext cx="6096000" cy="3657603"/>
        </p:xfrm>
        <a:graphic>
          <a:graphicData uri="http://schemas.openxmlformats.org/drawingml/2006/table">
            <a:tbl>
              <a:tblPr/>
              <a:tblGrid>
                <a:gridCol w="1428750"/>
                <a:gridCol w="2095500"/>
                <a:gridCol w="2571750"/>
              </a:tblGrid>
              <a:tr h="604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957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x=10,y=5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x+y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-&gt; 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28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Subtraction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X-y -&gt;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Multiplication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X*y -&gt; 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/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Division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x/y -&gt;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%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Modulo Division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X%y -&gt;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2209800" y="152400"/>
            <a:ext cx="4419600" cy="609600"/>
            <a:chOff x="768" y="192"/>
            <a:chExt cx="4224" cy="432"/>
          </a:xfrm>
        </p:grpSpPr>
        <p:sp>
          <p:nvSpPr>
            <p:cNvPr id="5155" name="AutoShape 33"/>
            <p:cNvSpPr>
              <a:spLocks noChangeArrowheads="1"/>
            </p:cNvSpPr>
            <p:nvPr/>
          </p:nvSpPr>
          <p:spPr bwMode="auto">
            <a:xfrm>
              <a:off x="768" y="192"/>
              <a:ext cx="4224" cy="432"/>
            </a:xfrm>
            <a:prstGeom prst="flowChartAlternateProcess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Text Box 34"/>
            <p:cNvSpPr txBox="1">
              <a:spLocks noChangeArrowheads="1"/>
            </p:cNvSpPr>
            <p:nvPr/>
          </p:nvSpPr>
          <p:spPr bwMode="auto">
            <a:xfrm>
              <a:off x="912" y="240"/>
              <a:ext cx="3888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800" b="1"/>
                <a:t>Arithmetic Operators</a:t>
              </a:r>
            </a:p>
          </p:txBody>
        </p:sp>
      </p:grpSp>
      <p:sp>
        <p:nvSpPr>
          <p:cNvPr id="7203" name="Text Box 35"/>
          <p:cNvSpPr txBox="1">
            <a:spLocks noChangeArrowheads="1"/>
          </p:cNvSpPr>
          <p:nvPr/>
        </p:nvSpPr>
        <p:spPr bwMode="auto">
          <a:xfrm>
            <a:off x="609600" y="1524000"/>
            <a:ext cx="739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sz="2400" b="1">
                <a:solidFill>
                  <a:srgbClr val="FFFE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Arithmetic Operators are used to perform numerical   operations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3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524000" y="269875"/>
            <a:ext cx="5638800" cy="1330325"/>
            <a:chOff x="960" y="74"/>
            <a:chExt cx="3552" cy="838"/>
          </a:xfrm>
        </p:grpSpPr>
        <p:sp>
          <p:nvSpPr>
            <p:cNvPr id="6199" name="AutoShape 3"/>
            <p:cNvSpPr>
              <a:spLocks noChangeArrowheads="1"/>
            </p:cNvSpPr>
            <p:nvPr/>
          </p:nvSpPr>
          <p:spPr bwMode="auto">
            <a:xfrm>
              <a:off x="960" y="74"/>
              <a:ext cx="3552" cy="838"/>
            </a:xfrm>
            <a:prstGeom prst="flowChartAlternateProcess">
              <a:avLst/>
            </a:prstGeom>
            <a:solidFill>
              <a:srgbClr val="FF7C8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00" name="Text Box 4"/>
            <p:cNvSpPr txBox="1">
              <a:spLocks noChangeArrowheads="1"/>
            </p:cNvSpPr>
            <p:nvPr/>
          </p:nvSpPr>
          <p:spPr bwMode="auto">
            <a:xfrm>
              <a:off x="1079" y="120"/>
              <a:ext cx="3226" cy="737"/>
            </a:xfrm>
            <a:prstGeom prst="rect">
              <a:avLst/>
            </a:prstGeom>
            <a:solidFill>
              <a:srgbClr val="FF7C8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800" b="1">
                  <a:solidFill>
                    <a:schemeClr val="bg1"/>
                  </a:solidFill>
                </a:rPr>
                <a:t>Relational Operators /</a:t>
              </a:r>
            </a:p>
            <a:p>
              <a:pPr algn="ctr">
                <a:spcBef>
                  <a:spcPct val="50000"/>
                </a:spcBef>
              </a:pPr>
              <a:r>
                <a:rPr lang="en-US" sz="2800" b="1">
                  <a:solidFill>
                    <a:schemeClr val="bg1"/>
                  </a:solidFill>
                </a:rPr>
                <a:t>Comparison Operators</a:t>
              </a:r>
            </a:p>
          </p:txBody>
        </p:sp>
      </p:grpSp>
      <p:graphicFrame>
        <p:nvGraphicFramePr>
          <p:cNvPr id="8197" name="Group 5"/>
          <p:cNvGraphicFramePr>
            <a:graphicFrameLocks noGrp="1"/>
          </p:cNvGraphicFramePr>
          <p:nvPr/>
        </p:nvGraphicFramePr>
        <p:xfrm>
          <a:off x="1981200" y="2438400"/>
          <a:ext cx="5029200" cy="3717417"/>
        </p:xfrm>
        <a:graphic>
          <a:graphicData uri="http://schemas.openxmlformats.org/drawingml/2006/table">
            <a:tbl>
              <a:tblPr/>
              <a:tblGrid>
                <a:gridCol w="933450"/>
                <a:gridCol w="1006475"/>
                <a:gridCol w="1077913"/>
                <a:gridCol w="1004887"/>
                <a:gridCol w="1006475"/>
              </a:tblGrid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&lt;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Less Than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x=10,y=5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X&lt;y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Greater Than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X&gt;y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&lt;=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Less than or Equal 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X&lt;=y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&gt;=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Greater than or equal 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X&gt;=y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5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!=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Not Equal 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X!=y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==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Equal 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X==y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247" name="Text Box 55"/>
          <p:cNvSpPr txBox="1">
            <a:spLocks noChangeArrowheads="1"/>
          </p:cNvSpPr>
          <p:nvPr/>
        </p:nvSpPr>
        <p:spPr bwMode="auto">
          <a:xfrm>
            <a:off x="762000" y="1600200"/>
            <a:ext cx="7391400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sz="2400" b="1">
                <a:solidFill>
                  <a:srgbClr val="FFFE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>
                <a:latin typeface="Times New Roman" pitchFamily="18" charset="0"/>
                <a:cs typeface="Times New Roman" pitchFamily="18" charset="0"/>
              </a:rPr>
              <a:t>Relational operators are used to test the relationship between two variables or constant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47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09800" y="76200"/>
            <a:ext cx="4114800" cy="579438"/>
            <a:chOff x="1344" y="240"/>
            <a:chExt cx="2640" cy="365"/>
          </a:xfrm>
        </p:grpSpPr>
        <p:sp>
          <p:nvSpPr>
            <p:cNvPr id="7226" name="AutoShape 3"/>
            <p:cNvSpPr>
              <a:spLocks noChangeArrowheads="1"/>
            </p:cNvSpPr>
            <p:nvPr/>
          </p:nvSpPr>
          <p:spPr bwMode="auto">
            <a:xfrm>
              <a:off x="1344" y="288"/>
              <a:ext cx="2640" cy="288"/>
            </a:xfrm>
            <a:prstGeom prst="flowChartAlternateProcess">
              <a:avLst/>
            </a:prstGeom>
            <a:solidFill>
              <a:srgbClr val="00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7" name="Text Box 4"/>
            <p:cNvSpPr txBox="1">
              <a:spLocks noChangeArrowheads="1"/>
            </p:cNvSpPr>
            <p:nvPr/>
          </p:nvSpPr>
          <p:spPr bwMode="auto">
            <a:xfrm>
              <a:off x="1392" y="240"/>
              <a:ext cx="259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3200" b="1"/>
                <a:t>Logical Operators</a:t>
              </a:r>
            </a:p>
          </p:txBody>
        </p:sp>
      </p:grpSp>
      <p:graphicFrame>
        <p:nvGraphicFramePr>
          <p:cNvPr id="9221" name="Group 5"/>
          <p:cNvGraphicFramePr>
            <a:graphicFrameLocks noGrp="1"/>
          </p:cNvGraphicFramePr>
          <p:nvPr/>
        </p:nvGraphicFramePr>
        <p:xfrm>
          <a:off x="762000" y="1752600"/>
          <a:ext cx="6934200" cy="1526032"/>
        </p:xfrm>
        <a:graphic>
          <a:graphicData uri="http://schemas.openxmlformats.org/drawingml/2006/table">
            <a:tbl>
              <a:tblPr/>
              <a:tblGrid>
                <a:gridCol w="1608138"/>
                <a:gridCol w="1733550"/>
                <a:gridCol w="2547937"/>
                <a:gridCol w="1044575"/>
              </a:tblGrid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&amp;&amp;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Logical 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When x=9, y=5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(x&gt;=5) &amp;&amp; (</a:t>
                      </a: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y==5)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||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Logical 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(X&gt;=6) || (z==‘a’)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!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Logical Not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!(x&gt;8)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  <p:sp>
        <p:nvSpPr>
          <p:cNvPr id="9248" name="Text Box 32"/>
          <p:cNvSpPr txBox="1">
            <a:spLocks noChangeArrowheads="1"/>
          </p:cNvSpPr>
          <p:nvPr/>
        </p:nvSpPr>
        <p:spPr bwMode="auto">
          <a:xfrm>
            <a:off x="381000" y="838200"/>
            <a:ext cx="8382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Logical operators are used to combine two or more relational expressions. This operator is used to test more than one condition at a time.</a:t>
            </a:r>
          </a:p>
        </p:txBody>
      </p:sp>
      <p:sp>
        <p:nvSpPr>
          <p:cNvPr id="7199" name="WordArt 33"/>
          <p:cNvSpPr>
            <a:spLocks noChangeArrowheads="1" noChangeShapeType="1" noTextEdit="1"/>
          </p:cNvSpPr>
          <p:nvPr/>
        </p:nvSpPr>
        <p:spPr bwMode="auto">
          <a:xfrm>
            <a:off x="533400" y="3505200"/>
            <a:ext cx="7543800" cy="5238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6600FF"/>
                </a:solidFill>
                <a:latin typeface="Arial Black"/>
              </a:rPr>
              <a:t>Increment / Decrement Operators (++,--)</a:t>
            </a:r>
          </a:p>
        </p:txBody>
      </p:sp>
      <p:graphicFrame>
        <p:nvGraphicFramePr>
          <p:cNvPr id="9250" name="Group 34"/>
          <p:cNvGraphicFramePr>
            <a:graphicFrameLocks noGrp="1"/>
          </p:cNvGraphicFramePr>
          <p:nvPr/>
        </p:nvGraphicFramePr>
        <p:xfrm>
          <a:off x="762000" y="4343400"/>
          <a:ext cx="6934200" cy="1474089"/>
        </p:xfrm>
        <a:graphic>
          <a:graphicData uri="http://schemas.openxmlformats.org/drawingml/2006/table">
            <a:tbl>
              <a:tblPr/>
              <a:tblGrid>
                <a:gridCol w="1062038"/>
                <a:gridCol w="1458912"/>
                <a:gridCol w="2051050"/>
                <a:gridCol w="990600"/>
                <a:gridCol w="1371600"/>
              </a:tblGrid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Syntax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++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Unary Plus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Variablename++;  (or)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++ variable name;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X=10;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X++;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X=11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--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Unary Minus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Variablename--;  (or)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-- variable name;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X=10;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X--;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X=9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8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914400" y="381000"/>
            <a:ext cx="7175500" cy="823913"/>
          </a:xfrm>
          <a:prstGeom prst="rect">
            <a:avLst/>
          </a:prstGeom>
          <a:solidFill>
            <a:srgbClr val="0033CC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cs typeface="Times New Roman" pitchFamily="18" charset="0"/>
              </a:rPr>
              <a:t>The Assignment Operator</a:t>
            </a:r>
          </a:p>
        </p:txBody>
      </p:sp>
      <p:sp>
        <p:nvSpPr>
          <p:cNvPr id="10243" name="WordArt 3"/>
          <p:cNvSpPr>
            <a:spLocks noChangeArrowheads="1" noChangeShapeType="1" noTextEdit="1"/>
          </p:cNvSpPr>
          <p:nvPr/>
        </p:nvSpPr>
        <p:spPr bwMode="auto">
          <a:xfrm>
            <a:off x="1023938" y="2819400"/>
            <a:ext cx="70961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 spc="720">
                <a:ln w="9525">
                  <a:noFill/>
                  <a:round/>
                  <a:headEnd/>
                  <a:tailEnd/>
                </a:ln>
                <a:solidFill>
                  <a:srgbClr val="009900"/>
                </a:solidFill>
                <a:effectLst>
                  <a:outerShdw dist="45791" dir="3378596" algn="ctr" rotWithShape="0">
                    <a:srgbClr val="4D4D4D"/>
                  </a:outerShdw>
                </a:effectLst>
                <a:latin typeface="Arial Black"/>
              </a:rPr>
              <a:t>variable_name = expression;</a:t>
            </a:r>
          </a:p>
        </p:txBody>
      </p:sp>
      <p:sp>
        <p:nvSpPr>
          <p:cNvPr id="10244" name="Line 4"/>
          <p:cNvSpPr>
            <a:spLocks noChangeShapeType="1"/>
          </p:cNvSpPr>
          <p:nvPr/>
        </p:nvSpPr>
        <p:spPr bwMode="auto">
          <a:xfrm flipH="1">
            <a:off x="1905000" y="3429000"/>
            <a:ext cx="990600" cy="914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stealth" w="lg" len="lg"/>
          </a:ln>
        </p:spPr>
        <p:txBody>
          <a:bodyPr wrap="none"/>
          <a:lstStyle/>
          <a:p>
            <a:endParaRPr lang="en-IN"/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6096000" y="3352800"/>
            <a:ext cx="990600" cy="914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stealth" w="lg" len="lg"/>
          </a:ln>
        </p:spPr>
        <p:txBody>
          <a:bodyPr wrap="none"/>
          <a:lstStyle/>
          <a:p>
            <a:endParaRPr lang="en-IN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4953000" y="3276600"/>
            <a:ext cx="0" cy="10668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stealth" w="lg" len="lg"/>
          </a:ln>
        </p:spPr>
        <p:txBody>
          <a:bodyPr wrap="none"/>
          <a:lstStyle/>
          <a:p>
            <a:endParaRPr lang="en-IN"/>
          </a:p>
        </p:txBody>
      </p:sp>
      <p:sp>
        <p:nvSpPr>
          <p:cNvPr id="10247" name="WordArt 7"/>
          <p:cNvSpPr>
            <a:spLocks noChangeArrowheads="1" noChangeShapeType="1" noTextEdit="1"/>
          </p:cNvSpPr>
          <p:nvPr/>
        </p:nvSpPr>
        <p:spPr bwMode="auto">
          <a:xfrm>
            <a:off x="304800" y="4495800"/>
            <a:ext cx="30480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12700">
                  <a:noFill/>
                  <a:round/>
                  <a:headEnd/>
                  <a:tailEnd/>
                </a:ln>
                <a:solidFill>
                  <a:schemeClr val="bg1"/>
                </a:solidFill>
                <a:latin typeface="Arial Black"/>
              </a:rPr>
              <a:t>LeftHand side variable</a:t>
            </a:r>
          </a:p>
        </p:txBody>
      </p:sp>
      <p:sp>
        <p:nvSpPr>
          <p:cNvPr id="10248" name="WordArt 8"/>
          <p:cNvSpPr>
            <a:spLocks noChangeArrowheads="1" noChangeShapeType="1" noTextEdit="1"/>
          </p:cNvSpPr>
          <p:nvPr/>
        </p:nvSpPr>
        <p:spPr bwMode="auto">
          <a:xfrm>
            <a:off x="5753100" y="4419600"/>
            <a:ext cx="31623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2800" kern="10">
                <a:ln w="12700">
                  <a:noFill/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/>
              </a:rPr>
              <a:t>RightHand Side value</a:t>
            </a:r>
          </a:p>
        </p:txBody>
      </p:sp>
      <p:sp>
        <p:nvSpPr>
          <p:cNvPr id="10249" name="Oval 9"/>
          <p:cNvSpPr>
            <a:spLocks noChangeArrowheads="1"/>
          </p:cNvSpPr>
          <p:nvPr/>
        </p:nvSpPr>
        <p:spPr bwMode="auto">
          <a:xfrm>
            <a:off x="4495800" y="2667000"/>
            <a:ext cx="914400" cy="914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WordArt 10" descr="Purple mesh"/>
          <p:cNvSpPr>
            <a:spLocks noChangeArrowheads="1" noChangeShapeType="1" noTextEdit="1"/>
          </p:cNvSpPr>
          <p:nvPr/>
        </p:nvSpPr>
        <p:spPr bwMode="auto">
          <a:xfrm>
            <a:off x="3657600" y="4419600"/>
            <a:ext cx="1962150" cy="857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24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/>
              </a:rPr>
              <a:t>Assignment</a:t>
            </a:r>
          </a:p>
          <a:p>
            <a:pPr algn="ctr"/>
            <a:r>
              <a:rPr lang="en-IN" sz="24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/>
              </a:rPr>
              <a:t>operator</a:t>
            </a: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304800" y="1371600"/>
            <a:ext cx="8534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4"/>
              </a:buBlip>
            </a:pPr>
            <a:r>
              <a:rPr lang="en-US" sz="2400" b="1">
                <a:solidFill>
                  <a:srgbClr val="FFFE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In C, the assignment operator(=) can be used </a:t>
            </a:r>
            <a:r>
              <a:rPr lang="en-US" sz="2400" b="1">
                <a:latin typeface="Times New Roman" pitchFamily="18" charset="0"/>
              </a:rPr>
              <a:t>for assigning a value to a variable</a:t>
            </a:r>
          </a:p>
        </p:txBody>
      </p:sp>
      <p:sp>
        <p:nvSpPr>
          <p:cNvPr id="8205" name="WordArt 12"/>
          <p:cNvSpPr>
            <a:spLocks noChangeArrowheads="1" noChangeShapeType="1" noTextEdit="1"/>
          </p:cNvSpPr>
          <p:nvPr/>
        </p:nvSpPr>
        <p:spPr bwMode="auto">
          <a:xfrm rot="1262250">
            <a:off x="381000" y="2106613"/>
            <a:ext cx="1295400" cy="838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5556"/>
              </a:avLst>
            </a:prstTxWarp>
          </a:bodyPr>
          <a:lstStyle/>
          <a:p>
            <a:pPr algn="ctr"/>
            <a:r>
              <a:rPr lang="en-IN" sz="20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33CC"/>
                </a:solidFill>
                <a:latin typeface="Arial Black"/>
              </a:rPr>
              <a:t>Syntax 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5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nimBg="1"/>
      <p:bldP spid="10244" grpId="0" animBg="1"/>
      <p:bldP spid="10245" grpId="0" animBg="1"/>
      <p:bldP spid="10246" grpId="0" animBg="1"/>
      <p:bldP spid="10247" grpId="0" animBg="1"/>
      <p:bldP spid="10248" grpId="0" animBg="1"/>
      <p:bldP spid="10249" grpId="0" animBg="1"/>
      <p:bldP spid="10250" grpId="0" animBg="1"/>
      <p:bldP spid="10251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11266" name="WordArt 2"/>
          <p:cNvSpPr>
            <a:spLocks noChangeArrowheads="1" noChangeShapeType="1" noTextEdit="1"/>
          </p:cNvSpPr>
          <p:nvPr/>
        </p:nvSpPr>
        <p:spPr bwMode="auto">
          <a:xfrm>
            <a:off x="457200" y="457200"/>
            <a:ext cx="8001000" cy="762000"/>
          </a:xfrm>
          <a:prstGeom prst="rect">
            <a:avLst/>
          </a:prstGeom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33CC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Shorthand Assignment Operator</a:t>
            </a:r>
          </a:p>
        </p:txBody>
      </p:sp>
      <p:sp>
        <p:nvSpPr>
          <p:cNvPr id="9220" name="WordArt 3"/>
          <p:cNvSpPr>
            <a:spLocks noChangeArrowheads="1" noChangeShapeType="1" noTextEdit="1"/>
          </p:cNvSpPr>
          <p:nvPr/>
        </p:nvSpPr>
        <p:spPr bwMode="auto">
          <a:xfrm>
            <a:off x="381000" y="1524000"/>
            <a:ext cx="1895475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33CC"/>
                </a:solidFill>
                <a:latin typeface="Times New Roman"/>
                <a:cs typeface="Times New Roman"/>
              </a:rPr>
              <a:t>Syntax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43000" y="2057400"/>
            <a:ext cx="5791200" cy="762000"/>
            <a:chOff x="528" y="1392"/>
            <a:chExt cx="3648" cy="480"/>
          </a:xfrm>
        </p:grpSpPr>
        <p:sp>
          <p:nvSpPr>
            <p:cNvPr id="9245" name="AutoShape 5"/>
            <p:cNvSpPr>
              <a:spLocks noChangeArrowheads="1"/>
            </p:cNvSpPr>
            <p:nvPr/>
          </p:nvSpPr>
          <p:spPr bwMode="auto">
            <a:xfrm>
              <a:off x="528" y="1392"/>
              <a:ext cx="3648" cy="480"/>
            </a:xfrm>
            <a:prstGeom prst="foldedCorner">
              <a:avLst>
                <a:gd name="adj" fmla="val 1513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46" name="Text Box 6"/>
            <p:cNvSpPr txBox="1">
              <a:spLocks noChangeArrowheads="1"/>
            </p:cNvSpPr>
            <p:nvPr/>
          </p:nvSpPr>
          <p:spPr bwMode="auto">
            <a:xfrm>
              <a:off x="576" y="1488"/>
              <a:ext cx="360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Variablename &lt;arithmetic Operator&gt;=Expression;</a:t>
              </a:r>
            </a:p>
          </p:txBody>
        </p:sp>
      </p:grpSp>
      <p:graphicFrame>
        <p:nvGraphicFramePr>
          <p:cNvPr id="11271" name="Group 7"/>
          <p:cNvGraphicFramePr>
            <a:graphicFrameLocks noGrp="1"/>
          </p:cNvGraphicFramePr>
          <p:nvPr/>
        </p:nvGraphicFramePr>
        <p:xfrm>
          <a:off x="1295400" y="3657600"/>
          <a:ext cx="7010400" cy="2150110"/>
        </p:xfrm>
        <a:graphic>
          <a:graphicData uri="http://schemas.openxmlformats.org/drawingml/2006/table">
            <a:tbl>
              <a:tblPr/>
              <a:tblGrid>
                <a:gridCol w="2646363"/>
                <a:gridCol w="4364037"/>
              </a:tblGrid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Simple Assignment Operators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Equivalent Shorthand Assignment Operators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x=x+1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X  +=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y=y-1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Y  - =1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z=z*(x+y)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Z *=  (x+y)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Y=y/(x+y)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Y  /=  (x+y)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X=x%z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X %=  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10243" name="WordArt 2" descr="Paper bag"/>
          <p:cNvSpPr>
            <a:spLocks noChangeArrowheads="1" noChangeShapeType="1" noTextEdit="1"/>
          </p:cNvSpPr>
          <p:nvPr/>
        </p:nvSpPr>
        <p:spPr bwMode="auto">
          <a:xfrm>
            <a:off x="2057400" y="304800"/>
            <a:ext cx="4648200" cy="5238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563972" dir="14049741" sx="125000" sy="125000" algn="tl" rotWithShape="0">
                    <a:srgbClr val="C7DFD3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Conditional Operators (?:)</a:t>
            </a:r>
          </a:p>
        </p:txBody>
      </p:sp>
      <p:sp>
        <p:nvSpPr>
          <p:cNvPr id="10244" name="Text Box 3"/>
          <p:cNvSpPr txBox="1">
            <a:spLocks noChangeArrowheads="1"/>
          </p:cNvSpPr>
          <p:nvPr/>
        </p:nvSpPr>
        <p:spPr bwMode="auto">
          <a:xfrm>
            <a:off x="609600" y="914400"/>
            <a:ext cx="8534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Simple conditional operations can be carried out with the conditional operator(?</a:t>
            </a:r>
            <a:r>
              <a:rPr lang="en-US">
                <a:sym typeface="Wingdings" pitchFamily="2" charset="2"/>
              </a:rPr>
              <a:t>:)</a:t>
            </a:r>
            <a:endParaRPr lang="en-US"/>
          </a:p>
        </p:txBody>
      </p:sp>
      <p:sp>
        <p:nvSpPr>
          <p:cNvPr id="10245" name="WordArt 4" descr="Green marble"/>
          <p:cNvSpPr>
            <a:spLocks noChangeArrowheads="1" noChangeShapeType="1" noTextEdit="1"/>
          </p:cNvSpPr>
          <p:nvPr/>
        </p:nvSpPr>
        <p:spPr bwMode="auto">
          <a:xfrm>
            <a:off x="685800" y="1447800"/>
            <a:ext cx="1343025" cy="533400"/>
          </a:xfrm>
          <a:prstGeom prst="rect">
            <a:avLst/>
          </a:prstGeom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noFill/>
                  <a:round/>
                  <a:headEnd/>
                  <a:tailEnd/>
                </a:ln>
                <a:blipFill dpi="0" rotWithShape="1">
                  <a:blip r:embed="rId3"/>
                  <a:srcRect/>
                  <a:tile tx="0" ty="0" sx="100000" sy="100000" flip="none" algn="tl"/>
                </a:blip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Syntax</a:t>
            </a:r>
          </a:p>
        </p:txBody>
      </p:sp>
      <p:sp>
        <p:nvSpPr>
          <p:cNvPr id="10246" name="AutoShape 5"/>
          <p:cNvSpPr>
            <a:spLocks/>
          </p:cNvSpPr>
          <p:nvPr/>
        </p:nvSpPr>
        <p:spPr bwMode="auto">
          <a:xfrm>
            <a:off x="1676400" y="2209800"/>
            <a:ext cx="5181600" cy="342900"/>
          </a:xfrm>
          <a:prstGeom prst="borderCallout2">
            <a:avLst>
              <a:gd name="adj1" fmla="val 33333"/>
              <a:gd name="adj2" fmla="val -1472"/>
              <a:gd name="adj3" fmla="val 33333"/>
              <a:gd name="adj4" fmla="val -4227"/>
              <a:gd name="adj5" fmla="val -55556"/>
              <a:gd name="adj6" fmla="val -710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b="1"/>
              <a:t>Expression1 ? Expression 2:expression 3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981200" y="2743200"/>
            <a:ext cx="4724400" cy="671513"/>
            <a:chOff x="1248" y="1824"/>
            <a:chExt cx="2976" cy="423"/>
          </a:xfrm>
        </p:grpSpPr>
        <p:sp>
          <p:nvSpPr>
            <p:cNvPr id="10251" name="Text Box 7"/>
            <p:cNvSpPr txBox="1">
              <a:spLocks noChangeArrowheads="1"/>
            </p:cNvSpPr>
            <p:nvPr/>
          </p:nvSpPr>
          <p:spPr bwMode="auto">
            <a:xfrm>
              <a:off x="1248" y="2016"/>
              <a:ext cx="86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Condition</a:t>
              </a:r>
            </a:p>
          </p:txBody>
        </p:sp>
        <p:sp>
          <p:nvSpPr>
            <p:cNvPr id="10252" name="Text Box 8"/>
            <p:cNvSpPr txBox="1">
              <a:spLocks noChangeArrowheads="1"/>
            </p:cNvSpPr>
            <p:nvPr/>
          </p:nvSpPr>
          <p:spPr bwMode="auto">
            <a:xfrm>
              <a:off x="2304" y="2016"/>
              <a:ext cx="86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True Part</a:t>
              </a:r>
            </a:p>
          </p:txBody>
        </p:sp>
        <p:sp>
          <p:nvSpPr>
            <p:cNvPr id="10253" name="Text Box 9"/>
            <p:cNvSpPr txBox="1">
              <a:spLocks noChangeArrowheads="1"/>
            </p:cNvSpPr>
            <p:nvPr/>
          </p:nvSpPr>
          <p:spPr bwMode="auto">
            <a:xfrm>
              <a:off x="3360" y="2016"/>
              <a:ext cx="86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False Part</a:t>
              </a:r>
            </a:p>
          </p:txBody>
        </p:sp>
        <p:sp>
          <p:nvSpPr>
            <p:cNvPr id="10254" name="Line 10"/>
            <p:cNvSpPr>
              <a:spLocks noChangeShapeType="1"/>
            </p:cNvSpPr>
            <p:nvPr/>
          </p:nvSpPr>
          <p:spPr bwMode="auto">
            <a:xfrm flipV="1">
              <a:off x="1632" y="1824"/>
              <a:ext cx="48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255" name="Line 11"/>
            <p:cNvSpPr>
              <a:spLocks noChangeShapeType="1"/>
            </p:cNvSpPr>
            <p:nvPr/>
          </p:nvSpPr>
          <p:spPr bwMode="auto">
            <a:xfrm rot="21033161" flipV="1">
              <a:off x="2592" y="1824"/>
              <a:ext cx="48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256" name="Line 12"/>
            <p:cNvSpPr>
              <a:spLocks noChangeShapeType="1"/>
            </p:cNvSpPr>
            <p:nvPr/>
          </p:nvSpPr>
          <p:spPr bwMode="auto">
            <a:xfrm rot="21033161" flipV="1">
              <a:off x="3648" y="1824"/>
              <a:ext cx="48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248" name="AutoShape 13" descr="Green marble"/>
          <p:cNvSpPr>
            <a:spLocks noChangeArrowheads="1"/>
          </p:cNvSpPr>
          <p:nvPr/>
        </p:nvSpPr>
        <p:spPr bwMode="auto">
          <a:xfrm>
            <a:off x="457200" y="3581400"/>
            <a:ext cx="8305800" cy="2743200"/>
          </a:xfrm>
          <a:prstGeom prst="flowChartPredefinedProcess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9" name="Text Box 14"/>
          <p:cNvSpPr txBox="1">
            <a:spLocks noChangeArrowheads="1"/>
          </p:cNvSpPr>
          <p:nvPr/>
        </p:nvSpPr>
        <p:spPr bwMode="auto">
          <a:xfrm>
            <a:off x="1524000" y="3810000"/>
            <a:ext cx="3657600" cy="201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#include&lt;stdio.h&gt;</a:t>
            </a:r>
          </a:p>
          <a:p>
            <a:r>
              <a:rPr lang="en-US" b="1">
                <a:solidFill>
                  <a:schemeClr val="bg1"/>
                </a:solidFill>
              </a:rPr>
              <a:t>void main()</a:t>
            </a:r>
          </a:p>
          <a:p>
            <a:r>
              <a:rPr lang="en-US" b="1">
                <a:solidFill>
                  <a:schemeClr val="bg1"/>
                </a:solidFill>
              </a:rPr>
              <a:t>{</a:t>
            </a:r>
          </a:p>
          <a:p>
            <a:r>
              <a:rPr lang="en-US" b="1">
                <a:solidFill>
                  <a:schemeClr val="bg1"/>
                </a:solidFill>
              </a:rPr>
              <a:t>int a=10,b=5,c;</a:t>
            </a:r>
          </a:p>
          <a:p>
            <a:r>
              <a:rPr lang="en-US" b="1">
                <a:solidFill>
                  <a:schemeClr val="bg1"/>
                </a:solidFill>
              </a:rPr>
              <a:t>c=(a&gt;b)?a:b;</a:t>
            </a:r>
          </a:p>
          <a:p>
            <a:r>
              <a:rPr lang="en-US" b="1">
                <a:solidFill>
                  <a:schemeClr val="bg1"/>
                </a:solidFill>
              </a:rPr>
              <a:t>printf(“The Result is %d",c);</a:t>
            </a:r>
          </a:p>
          <a:p>
            <a:r>
              <a:rPr lang="en-US" b="1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0250" name="AutoShape 15"/>
          <p:cNvSpPr>
            <a:spLocks noChangeArrowheads="1"/>
          </p:cNvSpPr>
          <p:nvPr/>
        </p:nvSpPr>
        <p:spPr bwMode="auto">
          <a:xfrm>
            <a:off x="5334000" y="4191000"/>
            <a:ext cx="2895600" cy="1524000"/>
          </a:xfrm>
          <a:prstGeom prst="cloudCallout">
            <a:avLst>
              <a:gd name="adj1" fmla="val -43310"/>
              <a:gd name="adj2" fmla="val 2333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en-US" sz="2000" b="1">
                <a:solidFill>
                  <a:srgbClr val="CC0000"/>
                </a:solidFill>
              </a:rPr>
              <a:t>OUTPUT</a:t>
            </a:r>
          </a:p>
          <a:p>
            <a:pPr algn="ctr"/>
            <a:r>
              <a:rPr lang="en-US" sz="2000" b="1"/>
              <a:t>The Result is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CSC</a:t>
            </a:r>
          </a:p>
        </p:txBody>
      </p:sp>
      <p:sp>
        <p:nvSpPr>
          <p:cNvPr id="11267" name="WordArt 2"/>
          <p:cNvSpPr>
            <a:spLocks noChangeArrowheads="1" noChangeShapeType="1" noTextEdit="1"/>
          </p:cNvSpPr>
          <p:nvPr/>
        </p:nvSpPr>
        <p:spPr bwMode="auto">
          <a:xfrm>
            <a:off x="1676400" y="152400"/>
            <a:ext cx="51816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BitWise Operators</a:t>
            </a:r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609600" y="762000"/>
            <a:ext cx="8229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Used in applications which require manipulation of individual bits within a word of memory</a:t>
            </a:r>
          </a:p>
        </p:txBody>
      </p:sp>
      <p:graphicFrame>
        <p:nvGraphicFramePr>
          <p:cNvPr id="13316" name="Group 4"/>
          <p:cNvGraphicFramePr>
            <a:graphicFrameLocks noGrp="1"/>
          </p:cNvGraphicFramePr>
          <p:nvPr/>
        </p:nvGraphicFramePr>
        <p:xfrm>
          <a:off x="1752600" y="1447800"/>
          <a:ext cx="4267200" cy="2219325"/>
        </p:xfrm>
        <a:graphic>
          <a:graphicData uri="http://schemas.openxmlformats.org/drawingml/2006/table">
            <a:tbl>
              <a:tblPr/>
              <a:tblGrid>
                <a:gridCol w="2168525"/>
                <a:gridCol w="2098675"/>
              </a:tblGrid>
              <a:tr h="390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Operators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~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One’s Complement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  <a:tr h="182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&lt;&lt;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Left Shift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&gt;&gt;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Right Shift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&amp;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Bitwise 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|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Bitwise 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  <a:tr h="188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^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Bitwise X-OR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sp>
        <p:nvSpPr>
          <p:cNvPr id="11295" name="WordArt 30"/>
          <p:cNvSpPr>
            <a:spLocks noChangeArrowheads="1" noChangeShapeType="1" noTextEdit="1"/>
          </p:cNvSpPr>
          <p:nvPr/>
        </p:nvSpPr>
        <p:spPr bwMode="auto">
          <a:xfrm>
            <a:off x="1600200" y="3733800"/>
            <a:ext cx="5181600" cy="419100"/>
          </a:xfrm>
          <a:prstGeom prst="rect">
            <a:avLst/>
          </a:prstGeom>
        </p:spPr>
        <p:txBody>
          <a:bodyPr wrap="none" fromWordArt="1">
            <a:prstTxWarp prst="textInflateTop">
              <a:avLst>
                <a:gd name="adj" fmla="val 31917"/>
              </a:avLst>
            </a:prstTxWarp>
          </a:bodyPr>
          <a:lstStyle/>
          <a:p>
            <a:pPr algn="ctr"/>
            <a:r>
              <a:rPr lang="en-IN" sz="36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solidFill>
                  <a:srgbClr val="800000"/>
                </a:soli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Special Operators</a:t>
            </a:r>
          </a:p>
        </p:txBody>
      </p:sp>
      <p:graphicFrame>
        <p:nvGraphicFramePr>
          <p:cNvPr id="13343" name="Group 31"/>
          <p:cNvGraphicFramePr>
            <a:graphicFrameLocks noGrp="1"/>
          </p:cNvGraphicFramePr>
          <p:nvPr/>
        </p:nvGraphicFramePr>
        <p:xfrm>
          <a:off x="1219200" y="4267200"/>
          <a:ext cx="6365875" cy="2446338"/>
        </p:xfrm>
        <a:graphic>
          <a:graphicData uri="http://schemas.openxmlformats.org/drawingml/2006/table">
            <a:tbl>
              <a:tblPr/>
              <a:tblGrid>
                <a:gridCol w="1108075"/>
                <a:gridCol w="3505200"/>
                <a:gridCol w="17526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Operators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  <a:tr h="230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,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Comma Operator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Z=(x=5,y=6,x+y)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Pointer indirection Operator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&amp;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Address Operator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scanf(“%d”,&amp;no);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-&gt;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Arrow Operator in Structure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Dot Operator in Structure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  <a:tr h="182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#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String Sizing Operator (prepocessor)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#include&lt;stdio.h&gt;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  <a:tr h="182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##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Token passing Director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1">
                      <a:blip r:embed="rId3"/>
                      <a:srcRect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609600" y="582613"/>
            <a:ext cx="8077200" cy="76200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4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cs typeface="Times New Roman" pitchFamily="18" charset="0"/>
              </a:rPr>
              <a:t>Unformatted I/O Statement</a:t>
            </a:r>
          </a:p>
        </p:txBody>
      </p:sp>
      <p:sp>
        <p:nvSpPr>
          <p:cNvPr id="12292" name="Text Box 3"/>
          <p:cNvSpPr txBox="1">
            <a:spLocks noChangeArrowheads="1"/>
          </p:cNvSpPr>
          <p:nvPr/>
        </p:nvSpPr>
        <p:spPr bwMode="auto">
          <a:xfrm>
            <a:off x="457200" y="1828800"/>
            <a:ext cx="82296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5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Characters can be read and written in C using the </a:t>
            </a:r>
            <a:br>
              <a:rPr lang="en-US" sz="25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5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  following functions.</a:t>
            </a:r>
          </a:p>
        </p:txBody>
      </p:sp>
      <p:pic>
        <p:nvPicPr>
          <p:cNvPr id="12293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" y="2743200"/>
            <a:ext cx="83820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609600" y="381000"/>
            <a:ext cx="71786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4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cs typeface="Times New Roman" pitchFamily="18" charset="0"/>
              </a:rPr>
              <a:t>String Based I/O Operations</a:t>
            </a:r>
          </a:p>
        </p:txBody>
      </p:sp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457200" y="1676400"/>
            <a:ext cx="8229600" cy="205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/>
              <a:t>	gets() &amp; Puts() are used to perform Input output operations on a string</a:t>
            </a:r>
          </a:p>
          <a:p>
            <a:r>
              <a:rPr lang="en-US" sz="2400" b="1" i="1" u="sng">
                <a:solidFill>
                  <a:srgbClr val="0000FF"/>
                </a:solidFill>
              </a:rPr>
              <a:t>syntax :</a:t>
            </a:r>
          </a:p>
          <a:p>
            <a:r>
              <a:rPr lang="en-US" sz="2400" b="1"/>
              <a:t>	gets(variablename);</a:t>
            </a:r>
          </a:p>
          <a:p>
            <a:r>
              <a:rPr lang="en-US" sz="2400" b="1"/>
              <a:t>	puts(variablename);</a:t>
            </a:r>
            <a:r>
              <a:rPr lang="en-US" sz="33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14339" name="WordArt 2"/>
          <p:cNvSpPr>
            <a:spLocks noChangeArrowheads="1" noChangeShapeType="1" noTextEdit="1"/>
          </p:cNvSpPr>
          <p:nvPr/>
        </p:nvSpPr>
        <p:spPr bwMode="auto">
          <a:xfrm>
            <a:off x="685800" y="304800"/>
            <a:ext cx="7696200" cy="1143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26227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latin typeface="Impact"/>
              </a:rPr>
              <a:t>Console Input/Output  Operations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28600" y="1828800"/>
            <a:ext cx="7848600" cy="3673475"/>
            <a:chOff x="844" y="1248"/>
            <a:chExt cx="4656" cy="2314"/>
          </a:xfrm>
        </p:grpSpPr>
        <p:sp>
          <p:nvSpPr>
            <p:cNvPr id="14346" name="WordArt 4"/>
            <p:cNvSpPr>
              <a:spLocks noChangeArrowheads="1" noChangeShapeType="1" noTextEdit="1"/>
            </p:cNvSpPr>
            <p:nvPr/>
          </p:nvSpPr>
          <p:spPr bwMode="auto">
            <a:xfrm>
              <a:off x="1251" y="1248"/>
              <a:ext cx="1008" cy="4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b="1" kern="10">
                  <a:ln w="12700">
                    <a:solidFill>
                      <a:srgbClr val="EAEAEA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79999"/>
                      </a:srgbClr>
                    </a:outerShdw>
                  </a:effectLst>
                  <a:latin typeface="Arial Black"/>
                </a:rPr>
                <a:t>Input</a:t>
              </a:r>
            </a:p>
          </p:txBody>
        </p:sp>
        <p:sp>
          <p:nvSpPr>
            <p:cNvPr id="14347" name="AutoShape 5"/>
            <p:cNvSpPr>
              <a:spLocks noChangeArrowheads="1"/>
            </p:cNvSpPr>
            <p:nvPr/>
          </p:nvSpPr>
          <p:spPr bwMode="auto">
            <a:xfrm>
              <a:off x="935" y="1776"/>
              <a:ext cx="2352" cy="912"/>
            </a:xfrm>
            <a:prstGeom prst="wedgeEllipseCallout">
              <a:avLst>
                <a:gd name="adj1" fmla="val -34185"/>
                <a:gd name="adj2" fmla="val 101537"/>
              </a:avLst>
            </a:prstGeom>
            <a:noFill/>
            <a:ln w="57150" cmpd="thickThin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6000" b="1">
                  <a:solidFill>
                    <a:srgbClr val="CC0099"/>
                  </a:solidFill>
                  <a:latin typeface="Britannic Bold" pitchFamily="34" charset="0"/>
                </a:rPr>
                <a:t>scanf()</a:t>
              </a:r>
            </a:p>
          </p:txBody>
        </p:sp>
        <p:sp>
          <p:nvSpPr>
            <p:cNvPr id="14348" name="Text Box 6"/>
            <p:cNvSpPr txBox="1">
              <a:spLocks noChangeArrowheads="1"/>
            </p:cNvSpPr>
            <p:nvPr/>
          </p:nvSpPr>
          <p:spPr bwMode="auto">
            <a:xfrm>
              <a:off x="844" y="3312"/>
              <a:ext cx="465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>
                  <a:solidFill>
                    <a:srgbClr val="CC0099"/>
                  </a:solidFill>
                </a:rPr>
                <a:t>scanf(“control string”,&amp;variable1,&amp;variable2…..);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819400" y="1828800"/>
            <a:ext cx="6705600" cy="4664075"/>
            <a:chOff x="3072" y="720"/>
            <a:chExt cx="4656" cy="2938"/>
          </a:xfrm>
        </p:grpSpPr>
        <p:sp>
          <p:nvSpPr>
            <p:cNvPr id="14343" name="WordArt 8"/>
            <p:cNvSpPr>
              <a:spLocks noChangeArrowheads="1" noChangeShapeType="1" noTextEdit="1"/>
            </p:cNvSpPr>
            <p:nvPr/>
          </p:nvSpPr>
          <p:spPr bwMode="auto">
            <a:xfrm>
              <a:off x="5040" y="720"/>
              <a:ext cx="1008" cy="4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b="1" kern="10">
                  <a:ln w="12700">
                    <a:solidFill>
                      <a:srgbClr val="EAEAEA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79999"/>
                      </a:srgbClr>
                    </a:outerShdw>
                  </a:effectLst>
                  <a:latin typeface="Arial Black"/>
                </a:rPr>
                <a:t>Output</a:t>
              </a:r>
            </a:p>
          </p:txBody>
        </p:sp>
        <p:sp>
          <p:nvSpPr>
            <p:cNvPr id="14344" name="AutoShape 9"/>
            <p:cNvSpPr>
              <a:spLocks noChangeArrowheads="1"/>
            </p:cNvSpPr>
            <p:nvPr/>
          </p:nvSpPr>
          <p:spPr bwMode="auto">
            <a:xfrm>
              <a:off x="4224" y="1248"/>
              <a:ext cx="2605" cy="912"/>
            </a:xfrm>
            <a:prstGeom prst="wedgeEllipseCallout">
              <a:avLst>
                <a:gd name="adj1" fmla="val -34185"/>
                <a:gd name="adj2" fmla="val 101537"/>
              </a:avLst>
            </a:prstGeom>
            <a:noFill/>
            <a:ln w="57150" cmpd="thickThin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n-US" sz="6000" b="1">
                  <a:solidFill>
                    <a:srgbClr val="CC0099"/>
                  </a:solidFill>
                  <a:latin typeface="Britannic Bold" pitchFamily="34" charset="0"/>
                </a:rPr>
                <a:t>printf()</a:t>
              </a:r>
            </a:p>
          </p:txBody>
        </p:sp>
        <p:sp>
          <p:nvSpPr>
            <p:cNvPr id="14345" name="Text Box 10"/>
            <p:cNvSpPr txBox="1">
              <a:spLocks noChangeArrowheads="1"/>
            </p:cNvSpPr>
            <p:nvPr/>
          </p:nvSpPr>
          <p:spPr bwMode="auto">
            <a:xfrm>
              <a:off x="3072" y="3408"/>
              <a:ext cx="465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>
                  <a:solidFill>
                    <a:srgbClr val="CC0099"/>
                  </a:solidFill>
                </a:rPr>
                <a:t>printf(“control string”,variable1,variable2…..);</a:t>
              </a:r>
            </a:p>
          </p:txBody>
        </p:sp>
      </p:grpSp>
      <p:sp>
        <p:nvSpPr>
          <p:cNvPr id="14342" name="Rectangle 11"/>
          <p:cNvSpPr>
            <a:spLocks noChangeArrowheads="1"/>
          </p:cNvSpPr>
          <p:nvPr/>
        </p:nvSpPr>
        <p:spPr bwMode="auto">
          <a:xfrm>
            <a:off x="704850" y="1371600"/>
            <a:ext cx="6686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b="1">
                <a:solidFill>
                  <a:schemeClr val="tx2"/>
                </a:solidFill>
              </a:rPr>
              <a:t>All console I/O functions produce only text based outputs.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pic>
        <p:nvPicPr>
          <p:cNvPr id="15363" name="Picture 2" descr="untitle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762000"/>
            <a:ext cx="76962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WordArt 3"/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934200" cy="5238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FF"/>
                </a:solidFill>
                <a:latin typeface="Times New Roman"/>
                <a:cs typeface="Times New Roman"/>
              </a:rPr>
              <a:t>Format Specifier (control String)</a:t>
            </a:r>
          </a:p>
        </p:txBody>
      </p:sp>
      <p:sp>
        <p:nvSpPr>
          <p:cNvPr id="15365" name="AutoShape 4"/>
          <p:cNvSpPr>
            <a:spLocks noChangeArrowheads="1"/>
          </p:cNvSpPr>
          <p:nvPr/>
        </p:nvSpPr>
        <p:spPr bwMode="auto">
          <a:xfrm>
            <a:off x="304800" y="4419600"/>
            <a:ext cx="8305800" cy="2133600"/>
          </a:xfrm>
          <a:prstGeom prst="wedgeRectCallout">
            <a:avLst>
              <a:gd name="adj1" fmla="val -46657"/>
              <a:gd name="adj2" fmla="val 5081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1600" b="1"/>
              <a:t>Scanf()  and Printf() Example</a:t>
            </a:r>
          </a:p>
          <a:p>
            <a:r>
              <a:rPr lang="en-US" sz="1600" b="1"/>
              <a:t>#include&lt;stdio.h&gt;</a:t>
            </a:r>
          </a:p>
          <a:p>
            <a:r>
              <a:rPr lang="en-US" sz="1600" b="1"/>
              <a:t>#include&lt;conio.h&gt;		</a:t>
            </a:r>
            <a:r>
              <a:rPr lang="en-US" sz="1400" b="1"/>
              <a:t>           print</a:t>
            </a:r>
            <a:r>
              <a:rPr lang="en-US" sz="1600" b="1"/>
              <a:t>f</a:t>
            </a:r>
            <a:r>
              <a:rPr lang="en-US" sz="1400" b="1"/>
              <a:t>(“Enter the Employee Details”)</a:t>
            </a:r>
          </a:p>
          <a:p>
            <a:r>
              <a:rPr lang="en-US" sz="1600" b="1"/>
              <a:t>void main()		          scanf(“%s %d %f”,&amp;empname,&amp;empno,&amp;salary)</a:t>
            </a:r>
          </a:p>
          <a:p>
            <a:r>
              <a:rPr lang="en-US" sz="1600" b="1"/>
              <a:t>{			          printf(“\n The employee Name is %s”,empname);</a:t>
            </a:r>
          </a:p>
          <a:p>
            <a:r>
              <a:rPr lang="en-US" sz="1600" b="1"/>
              <a:t>char empname[20];	          printf(“\n The employee Number is %d”,empno);</a:t>
            </a:r>
          </a:p>
          <a:p>
            <a:r>
              <a:rPr lang="en-US" sz="1600" b="1"/>
              <a:t>int empno;		         printf(“\n The employee Salary is %f”,salary);</a:t>
            </a:r>
          </a:p>
          <a:p>
            <a:r>
              <a:rPr lang="en-US" sz="1600" b="1"/>
              <a:t>float salary;		         }</a:t>
            </a:r>
          </a:p>
        </p:txBody>
      </p:sp>
      <p:sp>
        <p:nvSpPr>
          <p:cNvPr id="15366" name="Line 5"/>
          <p:cNvSpPr>
            <a:spLocks noChangeShapeType="1"/>
          </p:cNvSpPr>
          <p:nvPr/>
        </p:nvSpPr>
        <p:spPr bwMode="auto">
          <a:xfrm flipV="1">
            <a:off x="2971800" y="47244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5367" name="Line 6"/>
          <p:cNvSpPr>
            <a:spLocks noChangeShapeType="1"/>
          </p:cNvSpPr>
          <p:nvPr/>
        </p:nvSpPr>
        <p:spPr bwMode="auto">
          <a:xfrm>
            <a:off x="304800" y="4749800"/>
            <a:ext cx="830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2138363" y="533400"/>
            <a:ext cx="4410075" cy="762000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cs typeface="Times New Roman" pitchFamily="18" charset="0"/>
              </a:rPr>
              <a:t>Type Conversion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228600" y="1600200"/>
            <a:ext cx="86868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sz="1600" b="1">
                <a:solidFill>
                  <a:srgbClr val="FFFE00"/>
                </a:solidFill>
                <a:cs typeface="Times New Roman" pitchFamily="18" charset="0"/>
              </a:rPr>
              <a:t> </a:t>
            </a:r>
            <a:r>
              <a:rPr lang="en-US" sz="1600" b="1"/>
              <a:t>This is used to convert one data type to another data type. </a:t>
            </a:r>
            <a:r>
              <a:rPr lang="en-US" sz="1600" b="1">
                <a:cs typeface="Times New Roman" pitchFamily="18" charset="0"/>
              </a:rPr>
              <a:t>The automatic type conversions for evaluating an expression   are given below  -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228600" y="4800600"/>
            <a:ext cx="228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sz="2400" b="1">
                <a:solidFill>
                  <a:srgbClr val="FFFE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For example,</a:t>
            </a:r>
          </a:p>
        </p:txBody>
      </p:sp>
      <p:pic>
        <p:nvPicPr>
          <p:cNvPr id="16390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86200" y="4486275"/>
            <a:ext cx="2752725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1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600" y="2438400"/>
            <a:ext cx="8915400" cy="200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autoUpdateAnimBg="0"/>
      <p:bldP spid="20484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447800" y="381000"/>
            <a:ext cx="5446713" cy="823913"/>
          </a:xfrm>
          <a:prstGeom prst="rect">
            <a:avLst/>
          </a:prstGeom>
          <a:solidFill>
            <a:srgbClr val="A5002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cs typeface="Times New Roman" pitchFamily="18" charset="0"/>
              </a:rPr>
              <a:t>The sizeof operator</a:t>
            </a: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457200" y="1295400"/>
            <a:ext cx="6248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5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sizeof is a unary compile-time operator</a:t>
            </a:r>
            <a:r>
              <a:rPr lang="en-US" sz="3200" b="1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4800" b="1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457200" y="2270125"/>
            <a:ext cx="82296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Tx/>
              <a:buBlip>
                <a:blip r:embed="rId3"/>
              </a:buBlip>
            </a:pPr>
            <a:r>
              <a:rPr lang="en-US" sz="25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The use of the sizeof operator shall be clear </a:t>
            </a:r>
            <a:br>
              <a:rPr lang="en-US" sz="2500" b="1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500" b="1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    from the following example - </a:t>
            </a:r>
            <a:endParaRPr lang="en-US" sz="4800" b="1">
              <a:solidFill>
                <a:srgbClr val="FF0066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0" y="3429000"/>
            <a:ext cx="8229600" cy="2436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76200" y="176213"/>
            <a:ext cx="8915400" cy="5919787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tabLst>
                <a:tab pos="457200" algn="l"/>
              </a:tabLst>
            </a:pPr>
            <a:r>
              <a:rPr lang="en-US" sz="3200" b="1" u="sng">
                <a:latin typeface="Times New Roman" pitchFamily="18" charset="0"/>
              </a:rPr>
              <a:t>Session Summary</a:t>
            </a:r>
          </a:p>
          <a:p>
            <a:pPr>
              <a:tabLst>
                <a:tab pos="457200" algn="l"/>
              </a:tabLst>
            </a:pPr>
            <a:endParaRPr lang="en-US" sz="3200" b="1">
              <a:latin typeface="Times New Roman" pitchFamily="18" charset="0"/>
            </a:endParaRPr>
          </a:p>
          <a:p>
            <a:pPr algn="just">
              <a:lnSpc>
                <a:spcPct val="220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The getchar(),getch(),getche() deals with single character input</a:t>
            </a:r>
          </a:p>
          <a:p>
            <a:pPr algn="just">
              <a:lnSpc>
                <a:spcPct val="220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The functions gets() and puts() deals with string input and output respectively</a:t>
            </a:r>
          </a:p>
          <a:p>
            <a:pPr algn="just">
              <a:lnSpc>
                <a:spcPct val="220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printf() display any number of characters,integers,strings, float can be received at a time</a:t>
            </a:r>
          </a:p>
          <a:p>
            <a:pPr algn="just">
              <a:lnSpc>
                <a:spcPct val="220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scanf() receives any number of characters, integers,strings,float at a time.</a:t>
            </a:r>
          </a:p>
          <a:p>
            <a:pPr algn="just">
              <a:lnSpc>
                <a:spcPct val="220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getchar() doesnot require any argument</a:t>
            </a:r>
          </a:p>
          <a:p>
            <a:pPr algn="just">
              <a:lnSpc>
                <a:spcPct val="220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gets() require a single argument</a:t>
            </a:r>
          </a:p>
          <a:p>
            <a:pPr algn="just">
              <a:lnSpc>
                <a:spcPct val="220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In a scanf() strings with spaces cannot be accessed until ENTER key is pressed.</a:t>
            </a:r>
          </a:p>
          <a:p>
            <a:pPr algn="just">
              <a:lnSpc>
                <a:spcPct val="220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In a gets() strings with any number of spaces can be accessed.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52400" y="444500"/>
            <a:ext cx="8686800" cy="61849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algn="ctr">
              <a:tabLst>
                <a:tab pos="457200" algn="l"/>
              </a:tabLst>
            </a:pPr>
            <a:r>
              <a:rPr lang="en-US" sz="2800" b="1" u="sng">
                <a:latin typeface="Times New Roman" pitchFamily="18" charset="0"/>
              </a:rPr>
              <a:t>EXERCISES</a:t>
            </a:r>
          </a:p>
          <a:p>
            <a:pPr marL="342900" indent="-342900">
              <a:tabLst>
                <a:tab pos="457200" algn="l"/>
              </a:tabLst>
            </a:pPr>
            <a:endParaRPr lang="en-US" sz="2800" b="1">
              <a:latin typeface="Times New Roman" pitchFamily="18" charset="0"/>
            </a:endParaRP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</a:t>
            </a:r>
            <a:r>
              <a:rPr lang="en-US" b="1"/>
              <a:t>Describe the different specifiers in scanf() function?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b="1"/>
              <a:t>State the use of ambersand  statement(s) in a scanf() statement?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b="1"/>
              <a:t> Write a program for swapping two numbers using two varaibles?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b="1"/>
              <a:t> Write a program to calculate Simple and Compound Interest?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b="1"/>
              <a:t>  Write a program to convert a decimal Number into its equivalent octal &amp; Hexadecimal number using Format specifiers?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b="1"/>
              <a:t>Write a program to convert temperature in centigrade to farenheit?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b="1"/>
              <a:t>Write a program to find the area of the circle</a:t>
            </a:r>
            <a:r>
              <a:rPr lang="en-US" sz="2000" b="1"/>
              <a:t> </a:t>
            </a:r>
            <a:r>
              <a:rPr lang="en-US" b="1"/>
              <a:t>(area=3.14*r</a:t>
            </a:r>
            <a:r>
              <a:rPr lang="en-US" b="1" baseline="30000"/>
              <a:t>2</a:t>
            </a:r>
            <a:r>
              <a:rPr lang="en-US" b="1"/>
              <a:t>)</a:t>
            </a:r>
            <a:r>
              <a:rPr lang="en-US" sz="1600" b="1"/>
              <a:t>?</a:t>
            </a:r>
            <a:endParaRPr 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914400" y="381000"/>
            <a:ext cx="6858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6000" b="1" i="1">
                <a:solidFill>
                  <a:srgbClr val="FF3300"/>
                </a:solidFill>
                <a:latin typeface="Times New Roman" pitchFamily="18" charset="0"/>
              </a:rPr>
              <a:t>CHAPTER 3</a:t>
            </a:r>
          </a:p>
        </p:txBody>
      </p:sp>
      <p:sp>
        <p:nvSpPr>
          <p:cNvPr id="2051" name="WordArt 3"/>
          <p:cNvSpPr>
            <a:spLocks noChangeArrowheads="1" noChangeShapeType="1" noTextEdit="1"/>
          </p:cNvSpPr>
          <p:nvPr/>
        </p:nvSpPr>
        <p:spPr bwMode="auto">
          <a:xfrm>
            <a:off x="1219200" y="2133600"/>
            <a:ext cx="6858000" cy="2309813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1875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/>
              </a:rPr>
              <a:t>Control Statements</a:t>
            </a:r>
          </a:p>
        </p:txBody>
      </p:sp>
    </p:spTree>
  </p:cSld>
  <p:clrMapOvr>
    <a:masterClrMapping/>
  </p:clrMapOvr>
  <p:transition spd="med">
    <p:wheel spokes="1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828800" y="776288"/>
            <a:ext cx="5376863" cy="823912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cs typeface="Times New Roman" pitchFamily="18" charset="0"/>
              </a:rPr>
              <a:t>Session Objectives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838200" y="2376488"/>
            <a:ext cx="49323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Explain If, If..else statements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838200" y="3048000"/>
            <a:ext cx="5073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Understand Looping concepts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914400" y="3748088"/>
            <a:ext cx="53101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Explain Switch..Case statement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914400" y="4433888"/>
            <a:ext cx="5892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Explain Break,continue Statements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933450" y="5119688"/>
            <a:ext cx="47482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Explain the Goto Statement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838200" y="1766888"/>
            <a:ext cx="61404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Explain Types of Control Statements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3" grpId="0" autoUpdateAnimBg="0"/>
      <p:bldP spid="5124" grpId="0" autoUpdateAnimBg="0"/>
      <p:bldP spid="5125" grpId="0" autoUpdateAnimBg="0"/>
      <p:bldP spid="5126" grpId="0" autoUpdateAnimBg="0"/>
      <p:bldP spid="5127" grpId="0" autoUpdateAnimBg="0"/>
      <p:bldP spid="5128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04800" y="1066800"/>
            <a:ext cx="8534400" cy="2819400"/>
            <a:chOff x="192" y="672"/>
            <a:chExt cx="5376" cy="1776"/>
          </a:xfrm>
        </p:grpSpPr>
        <p:sp>
          <p:nvSpPr>
            <p:cNvPr id="4101" name="WordArt 3"/>
            <p:cNvSpPr>
              <a:spLocks noChangeArrowheads="1" noChangeShapeType="1" noTextEdit="1"/>
            </p:cNvSpPr>
            <p:nvPr/>
          </p:nvSpPr>
          <p:spPr bwMode="auto">
            <a:xfrm>
              <a:off x="1248" y="672"/>
              <a:ext cx="3168" cy="4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b="1" kern="10">
                  <a:ln w="12700">
                    <a:solidFill>
                      <a:srgbClr val="EAEAEA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79999"/>
                      </a:srgbClr>
                    </a:outerShdw>
                  </a:effectLst>
                  <a:latin typeface="Arial Black"/>
                </a:rPr>
                <a:t>Control Statements</a:t>
              </a:r>
            </a:p>
          </p:txBody>
        </p:sp>
        <p:sp>
          <p:nvSpPr>
            <p:cNvPr id="4102" name="WordArt 4"/>
            <p:cNvSpPr>
              <a:spLocks noChangeArrowheads="1" noChangeShapeType="1" noTextEdit="1"/>
            </p:cNvSpPr>
            <p:nvPr/>
          </p:nvSpPr>
          <p:spPr bwMode="auto">
            <a:xfrm>
              <a:off x="192" y="1968"/>
              <a:ext cx="2400" cy="4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b="1" kern="10">
                  <a:ln w="12700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Arial Black"/>
                </a:rPr>
                <a:t>Conditional</a:t>
              </a:r>
            </a:p>
            <a:p>
              <a:pPr algn="ctr"/>
              <a:r>
                <a:rPr lang="en-IN" sz="3600" b="1" kern="10">
                  <a:ln w="12700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Arial Black"/>
                </a:rPr>
                <a:t>Control Statements</a:t>
              </a:r>
            </a:p>
          </p:txBody>
        </p:sp>
        <p:sp>
          <p:nvSpPr>
            <p:cNvPr id="4103" name="WordArt 5"/>
            <p:cNvSpPr>
              <a:spLocks noChangeArrowheads="1" noChangeShapeType="1" noTextEdit="1"/>
            </p:cNvSpPr>
            <p:nvPr/>
          </p:nvSpPr>
          <p:spPr bwMode="auto">
            <a:xfrm>
              <a:off x="3168" y="1920"/>
              <a:ext cx="2400" cy="48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b="1" kern="10">
                  <a:ln w="12700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Arial Black"/>
                </a:rPr>
                <a:t>UnConditional</a:t>
              </a:r>
            </a:p>
            <a:p>
              <a:pPr algn="ctr"/>
              <a:r>
                <a:rPr lang="en-IN" sz="3600" b="1" kern="10">
                  <a:ln w="12700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accent2"/>
                  </a:solidFill>
                  <a:latin typeface="Arial Black"/>
                </a:rPr>
                <a:t>Control Statements</a:t>
              </a:r>
            </a:p>
          </p:txBody>
        </p:sp>
        <p:sp>
          <p:nvSpPr>
            <p:cNvPr id="4104" name="Line 6"/>
            <p:cNvSpPr>
              <a:spLocks noChangeShapeType="1"/>
            </p:cNvSpPr>
            <p:nvPr/>
          </p:nvSpPr>
          <p:spPr bwMode="auto">
            <a:xfrm flipH="1">
              <a:off x="1680" y="1152"/>
              <a:ext cx="960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05" name="Line 7"/>
            <p:cNvSpPr>
              <a:spLocks noChangeShapeType="1"/>
            </p:cNvSpPr>
            <p:nvPr/>
          </p:nvSpPr>
          <p:spPr bwMode="auto">
            <a:xfrm>
              <a:off x="2880" y="1200"/>
              <a:ext cx="1152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152" name="AutoShape 8"/>
          <p:cNvSpPr>
            <a:spLocks noChangeArrowheads="1"/>
          </p:cNvSpPr>
          <p:nvPr/>
        </p:nvSpPr>
        <p:spPr bwMode="auto">
          <a:xfrm>
            <a:off x="0" y="4495800"/>
            <a:ext cx="4191000" cy="1752600"/>
          </a:xfrm>
          <a:prstGeom prst="cloudCallout">
            <a:avLst>
              <a:gd name="adj1" fmla="val -2954"/>
              <a:gd name="adj2" fmla="val -82606"/>
            </a:avLst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just">
              <a:buFontTx/>
              <a:buChar char="•"/>
            </a:pPr>
            <a:r>
              <a:rPr lang="en-US" sz="2000" b="1">
                <a:solidFill>
                  <a:schemeClr val="bg1"/>
                </a:solidFill>
              </a:rPr>
              <a:t>Decision making&amp; Branching </a:t>
            </a:r>
          </a:p>
          <a:p>
            <a:pPr algn="just">
              <a:buFontTx/>
              <a:buChar char="•"/>
            </a:pPr>
            <a:r>
              <a:rPr lang="en-US" sz="2000" b="1">
                <a:solidFill>
                  <a:schemeClr val="bg1"/>
                </a:solidFill>
              </a:rPr>
              <a:t> Looping Statement</a:t>
            </a:r>
          </a:p>
        </p:txBody>
      </p:sp>
      <p:sp>
        <p:nvSpPr>
          <p:cNvPr id="6153" name="AutoShape 9"/>
          <p:cNvSpPr>
            <a:spLocks noChangeArrowheads="1"/>
          </p:cNvSpPr>
          <p:nvPr/>
        </p:nvSpPr>
        <p:spPr bwMode="auto">
          <a:xfrm>
            <a:off x="4800600" y="4419600"/>
            <a:ext cx="3733800" cy="1066800"/>
          </a:xfrm>
          <a:prstGeom prst="cloudCallout">
            <a:avLst>
              <a:gd name="adj1" fmla="val 2806"/>
              <a:gd name="adj2" fmla="val -103569"/>
            </a:avLst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>
              <a:buFontTx/>
              <a:buChar char="•"/>
            </a:pPr>
            <a:r>
              <a:rPr lang="en-US" sz="2000" b="1">
                <a:solidFill>
                  <a:schemeClr val="bg1"/>
                </a:solidFill>
              </a:rPr>
              <a:t> Jumping Statement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2" grpId="0" animBg="1"/>
      <p:bldP spid="615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304800" y="1143000"/>
            <a:ext cx="4191000" cy="4648200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228600" y="304800"/>
            <a:ext cx="85344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/>
              <a:t>	</a:t>
            </a:r>
            <a:r>
              <a:rPr lang="en-US" b="1"/>
              <a:t>By default the statements are executed sequentially. However in practice we have situations where we may have to change the order of executions of statements until specified conditions are met.</a:t>
            </a:r>
          </a:p>
        </p:txBody>
      </p:sp>
      <p:sp>
        <p:nvSpPr>
          <p:cNvPr id="5124" name="WordArt 4"/>
          <p:cNvSpPr>
            <a:spLocks noChangeArrowheads="1" noChangeShapeType="1" noTextEdit="1"/>
          </p:cNvSpPr>
          <p:nvPr/>
        </p:nvSpPr>
        <p:spPr bwMode="auto">
          <a:xfrm>
            <a:off x="914400" y="1752600"/>
            <a:ext cx="3733800" cy="320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if </a:t>
            </a:r>
          </a:p>
          <a:p>
            <a:pPr algn="ctr"/>
            <a:r>
              <a:rPr lang="en-IN" sz="3600" b="1" kern="10">
                <a:ln w="9525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if..else </a:t>
            </a:r>
          </a:p>
          <a:p>
            <a:pPr algn="ctr"/>
            <a:r>
              <a:rPr lang="en-IN" sz="3600" b="1" kern="10">
                <a:ln w="9525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switch </a:t>
            </a:r>
          </a:p>
          <a:p>
            <a:pPr algn="ctr"/>
            <a:r>
              <a:rPr lang="en-IN" sz="3600" b="1" kern="10">
                <a:ln w="9525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goto </a:t>
            </a:r>
          </a:p>
          <a:p>
            <a:pPr algn="ctr"/>
            <a:r>
              <a:rPr lang="en-IN" sz="3600" b="1" kern="10">
                <a:ln w="9525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while</a:t>
            </a:r>
          </a:p>
          <a:p>
            <a:pPr algn="ctr"/>
            <a:r>
              <a:rPr lang="en-IN" sz="3600" b="1" kern="10">
                <a:ln w="9525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do..while </a:t>
            </a:r>
          </a:p>
          <a:p>
            <a:pPr algn="ctr"/>
            <a:r>
              <a:rPr lang="en-IN" sz="3600" b="1" kern="10">
                <a:ln w="9525">
                  <a:noFill/>
                  <a:round/>
                  <a:headEnd/>
                  <a:tailEnd/>
                </a:ln>
                <a:solidFill>
                  <a:srgbClr val="990000"/>
                </a:soli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for 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276600" y="1600200"/>
            <a:ext cx="5867400" cy="1447800"/>
            <a:chOff x="2064" y="1008"/>
            <a:chExt cx="3696" cy="912"/>
          </a:xfrm>
        </p:grpSpPr>
        <p:sp>
          <p:nvSpPr>
            <p:cNvPr id="5134" name="Text Box 6"/>
            <p:cNvSpPr txBox="1">
              <a:spLocks noChangeArrowheads="1"/>
            </p:cNvSpPr>
            <p:nvPr/>
          </p:nvSpPr>
          <p:spPr bwMode="auto">
            <a:xfrm>
              <a:off x="3993" y="1008"/>
              <a:ext cx="1767" cy="832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/>
                <a:t>Decision </a:t>
              </a:r>
            </a:p>
            <a:p>
              <a:pPr>
                <a:spcBef>
                  <a:spcPct val="50000"/>
                </a:spcBef>
              </a:pPr>
              <a:r>
                <a:rPr lang="en-US" sz="2000" b="1"/>
                <a:t>Making &amp; Branching </a:t>
              </a:r>
            </a:p>
            <a:p>
              <a:pPr>
                <a:spcBef>
                  <a:spcPct val="50000"/>
                </a:spcBef>
              </a:pPr>
              <a:r>
                <a:rPr lang="en-US" sz="2000" b="1"/>
                <a:t>Statement</a:t>
              </a:r>
            </a:p>
          </p:txBody>
        </p:sp>
        <p:sp>
          <p:nvSpPr>
            <p:cNvPr id="5135" name="Line 7"/>
            <p:cNvSpPr>
              <a:spLocks noChangeShapeType="1"/>
            </p:cNvSpPr>
            <p:nvPr/>
          </p:nvSpPr>
          <p:spPr bwMode="auto">
            <a:xfrm>
              <a:off x="2592" y="1488"/>
              <a:ext cx="13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36" name="Line 8"/>
            <p:cNvSpPr>
              <a:spLocks noChangeShapeType="1"/>
            </p:cNvSpPr>
            <p:nvPr/>
          </p:nvSpPr>
          <p:spPr bwMode="auto">
            <a:xfrm flipV="1">
              <a:off x="2615" y="1611"/>
              <a:ext cx="1323" cy="3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37" name="Line 9"/>
            <p:cNvSpPr>
              <a:spLocks noChangeShapeType="1"/>
            </p:cNvSpPr>
            <p:nvPr/>
          </p:nvSpPr>
          <p:spPr bwMode="auto">
            <a:xfrm>
              <a:off x="2064" y="1152"/>
              <a:ext cx="18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3581400" y="3200400"/>
            <a:ext cx="4419600" cy="711200"/>
            <a:chOff x="2256" y="2016"/>
            <a:chExt cx="2784" cy="448"/>
          </a:xfrm>
        </p:grpSpPr>
        <p:sp>
          <p:nvSpPr>
            <p:cNvPr id="5132" name="Text Box 11"/>
            <p:cNvSpPr txBox="1">
              <a:spLocks noChangeArrowheads="1"/>
            </p:cNvSpPr>
            <p:nvPr/>
          </p:nvSpPr>
          <p:spPr bwMode="auto">
            <a:xfrm>
              <a:off x="3936" y="2016"/>
              <a:ext cx="1104" cy="44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/>
                <a:t>Jumping Statement</a:t>
              </a:r>
            </a:p>
          </p:txBody>
        </p:sp>
        <p:sp>
          <p:nvSpPr>
            <p:cNvPr id="5133" name="Line 12"/>
            <p:cNvSpPr>
              <a:spLocks noChangeShapeType="1"/>
            </p:cNvSpPr>
            <p:nvPr/>
          </p:nvSpPr>
          <p:spPr bwMode="auto">
            <a:xfrm>
              <a:off x="2256" y="2160"/>
              <a:ext cx="16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3810000" y="3886200"/>
            <a:ext cx="4191000" cy="1143000"/>
            <a:chOff x="2400" y="2448"/>
            <a:chExt cx="2640" cy="720"/>
          </a:xfrm>
        </p:grpSpPr>
        <p:sp>
          <p:nvSpPr>
            <p:cNvPr id="5128" name="Text Box 14"/>
            <p:cNvSpPr txBox="1">
              <a:spLocks noChangeArrowheads="1"/>
            </p:cNvSpPr>
            <p:nvPr/>
          </p:nvSpPr>
          <p:spPr bwMode="auto">
            <a:xfrm>
              <a:off x="3936" y="2720"/>
              <a:ext cx="1104" cy="448"/>
            </a:xfrm>
            <a:prstGeom prst="rect">
              <a:avLst/>
            </a:prstGeom>
            <a:noFill/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/>
                <a:t>Looping Statement</a:t>
              </a:r>
            </a:p>
          </p:txBody>
        </p:sp>
        <p:sp>
          <p:nvSpPr>
            <p:cNvPr id="5129" name="Line 15"/>
            <p:cNvSpPr>
              <a:spLocks noChangeShapeType="1"/>
            </p:cNvSpPr>
            <p:nvPr/>
          </p:nvSpPr>
          <p:spPr bwMode="auto">
            <a:xfrm>
              <a:off x="2592" y="2448"/>
              <a:ext cx="1296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30" name="Line 16"/>
            <p:cNvSpPr>
              <a:spLocks noChangeShapeType="1"/>
            </p:cNvSpPr>
            <p:nvPr/>
          </p:nvSpPr>
          <p:spPr bwMode="auto">
            <a:xfrm>
              <a:off x="2832" y="2784"/>
              <a:ext cx="1104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31" name="Line 17"/>
            <p:cNvSpPr>
              <a:spLocks noChangeShapeType="1"/>
            </p:cNvSpPr>
            <p:nvPr/>
          </p:nvSpPr>
          <p:spPr bwMode="auto">
            <a:xfrm>
              <a:off x="2400" y="3024"/>
              <a:ext cx="15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WordArt 2"/>
          <p:cNvSpPr>
            <a:spLocks noChangeArrowheads="1" noChangeShapeType="1" noTextEdit="1"/>
          </p:cNvSpPr>
          <p:nvPr/>
        </p:nvSpPr>
        <p:spPr bwMode="auto">
          <a:xfrm>
            <a:off x="2286000" y="-76200"/>
            <a:ext cx="3238500" cy="1143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900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Arial Black"/>
              </a:rPr>
              <a:t>If Statement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609600" y="1371600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 u="sng"/>
              <a:t>Syntax :</a:t>
            </a:r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1905000" y="1447800"/>
            <a:ext cx="4572000" cy="2057400"/>
          </a:xfrm>
          <a:prstGeom prst="cloudCallout">
            <a:avLst>
              <a:gd name="adj1" fmla="val -68264"/>
              <a:gd name="adj2" fmla="val -3480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b="1"/>
              <a:t>if(condition)</a:t>
            </a:r>
          </a:p>
          <a:p>
            <a:r>
              <a:rPr lang="en-US" b="1"/>
              <a:t>{</a:t>
            </a:r>
          </a:p>
          <a:p>
            <a:r>
              <a:rPr lang="en-US" b="1"/>
              <a:t>True Block Statement(s);</a:t>
            </a:r>
          </a:p>
          <a:p>
            <a:r>
              <a:rPr lang="en-US" b="1"/>
              <a:t>}</a:t>
            </a:r>
          </a:p>
          <a:p>
            <a:r>
              <a:rPr lang="en-US" b="1"/>
              <a:t>Executable statement(s);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124200" y="3505200"/>
            <a:ext cx="5029200" cy="2743200"/>
            <a:chOff x="1968" y="2208"/>
            <a:chExt cx="3168" cy="1728"/>
          </a:xfrm>
        </p:grpSpPr>
        <p:sp>
          <p:nvSpPr>
            <p:cNvPr id="6151" name="AutoShape 6"/>
            <p:cNvSpPr>
              <a:spLocks noChangeArrowheads="1"/>
            </p:cNvSpPr>
            <p:nvPr/>
          </p:nvSpPr>
          <p:spPr bwMode="auto">
            <a:xfrm>
              <a:off x="2400" y="2496"/>
              <a:ext cx="816" cy="624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152" name="Text Box 7"/>
            <p:cNvSpPr txBox="1">
              <a:spLocks noChangeArrowheads="1"/>
            </p:cNvSpPr>
            <p:nvPr/>
          </p:nvSpPr>
          <p:spPr bwMode="auto">
            <a:xfrm>
              <a:off x="2496" y="2640"/>
              <a:ext cx="6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200" b="1"/>
                <a:t>Test Condition</a:t>
              </a:r>
            </a:p>
          </p:txBody>
        </p:sp>
        <p:sp>
          <p:nvSpPr>
            <p:cNvPr id="6153" name="Text Box 8"/>
            <p:cNvSpPr txBox="1">
              <a:spLocks noChangeArrowheads="1"/>
            </p:cNvSpPr>
            <p:nvPr/>
          </p:nvSpPr>
          <p:spPr bwMode="auto">
            <a:xfrm>
              <a:off x="3504" y="3168"/>
              <a:ext cx="1632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/>
                <a:t>True Block Statements</a:t>
              </a:r>
            </a:p>
          </p:txBody>
        </p:sp>
        <p:sp>
          <p:nvSpPr>
            <p:cNvPr id="6154" name="Text Box 9"/>
            <p:cNvSpPr txBox="1">
              <a:spLocks noChangeArrowheads="1"/>
            </p:cNvSpPr>
            <p:nvPr/>
          </p:nvSpPr>
          <p:spPr bwMode="auto">
            <a:xfrm>
              <a:off x="1968" y="3718"/>
              <a:ext cx="1632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/>
                <a:t>Executable  Statements</a:t>
              </a:r>
            </a:p>
          </p:txBody>
        </p:sp>
        <p:sp>
          <p:nvSpPr>
            <p:cNvPr id="6155" name="Line 10"/>
            <p:cNvSpPr>
              <a:spLocks noChangeShapeType="1"/>
            </p:cNvSpPr>
            <p:nvPr/>
          </p:nvSpPr>
          <p:spPr bwMode="auto">
            <a:xfrm>
              <a:off x="2800" y="3088"/>
              <a:ext cx="0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56" name="Line 11"/>
            <p:cNvSpPr>
              <a:spLocks noChangeShapeType="1"/>
            </p:cNvSpPr>
            <p:nvPr/>
          </p:nvSpPr>
          <p:spPr bwMode="auto">
            <a:xfrm>
              <a:off x="4240" y="280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57" name="Line 12"/>
            <p:cNvSpPr>
              <a:spLocks noChangeShapeType="1"/>
            </p:cNvSpPr>
            <p:nvPr/>
          </p:nvSpPr>
          <p:spPr bwMode="auto">
            <a:xfrm>
              <a:off x="3200" y="2808"/>
              <a:ext cx="10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58" name="Line 13"/>
            <p:cNvSpPr>
              <a:spLocks noChangeShapeType="1"/>
            </p:cNvSpPr>
            <p:nvPr/>
          </p:nvSpPr>
          <p:spPr bwMode="auto">
            <a:xfrm rot="5400000">
              <a:off x="3911" y="3495"/>
              <a:ext cx="2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59" name="Line 14"/>
            <p:cNvSpPr>
              <a:spLocks noChangeShapeType="1"/>
            </p:cNvSpPr>
            <p:nvPr/>
          </p:nvSpPr>
          <p:spPr bwMode="auto">
            <a:xfrm>
              <a:off x="4224" y="3384"/>
              <a:ext cx="0" cy="4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60" name="Text Box 15"/>
            <p:cNvSpPr txBox="1">
              <a:spLocks noChangeArrowheads="1"/>
            </p:cNvSpPr>
            <p:nvPr/>
          </p:nvSpPr>
          <p:spPr bwMode="auto">
            <a:xfrm>
              <a:off x="3216" y="2620"/>
              <a:ext cx="62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/>
                <a:t>TRUE</a:t>
              </a:r>
            </a:p>
          </p:txBody>
        </p:sp>
        <p:sp>
          <p:nvSpPr>
            <p:cNvPr id="6161" name="Text Box 16"/>
            <p:cNvSpPr txBox="1">
              <a:spLocks noChangeArrowheads="1"/>
            </p:cNvSpPr>
            <p:nvPr/>
          </p:nvSpPr>
          <p:spPr bwMode="auto">
            <a:xfrm>
              <a:off x="2208" y="3168"/>
              <a:ext cx="5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/>
                <a:t>FALSE</a:t>
              </a:r>
            </a:p>
          </p:txBody>
        </p:sp>
        <p:sp>
          <p:nvSpPr>
            <p:cNvPr id="6162" name="Line 17"/>
            <p:cNvSpPr>
              <a:spLocks noChangeShapeType="1"/>
            </p:cNvSpPr>
            <p:nvPr/>
          </p:nvSpPr>
          <p:spPr bwMode="auto">
            <a:xfrm>
              <a:off x="2800" y="2208"/>
              <a:ext cx="0" cy="3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150" name="WordArt 18"/>
          <p:cNvSpPr>
            <a:spLocks noChangeArrowheads="1" noChangeShapeType="1" noTextEdit="1"/>
          </p:cNvSpPr>
          <p:nvPr/>
        </p:nvSpPr>
        <p:spPr bwMode="auto">
          <a:xfrm>
            <a:off x="304800" y="3657600"/>
            <a:ext cx="3048000" cy="317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Times New Roman"/>
                <a:cs typeface="Times New Roman"/>
              </a:rPr>
              <a:t>FLOWCHART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WordArt 2"/>
          <p:cNvSpPr>
            <a:spLocks noChangeArrowheads="1" noChangeShapeType="1" noTextEdit="1"/>
          </p:cNvSpPr>
          <p:nvPr/>
        </p:nvSpPr>
        <p:spPr bwMode="auto">
          <a:xfrm>
            <a:off x="2286000" y="0"/>
            <a:ext cx="3581400" cy="1143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900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Arial Black"/>
              </a:rPr>
              <a:t>If - else Statement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609600" y="1447800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 u="sng"/>
              <a:t>Syntax :</a:t>
            </a:r>
          </a:p>
        </p:txBody>
      </p:sp>
      <p:sp>
        <p:nvSpPr>
          <p:cNvPr id="7172" name="AutoShape 4"/>
          <p:cNvSpPr>
            <a:spLocks noChangeArrowheads="1"/>
          </p:cNvSpPr>
          <p:nvPr/>
        </p:nvSpPr>
        <p:spPr bwMode="auto">
          <a:xfrm>
            <a:off x="1905000" y="1524000"/>
            <a:ext cx="4114800" cy="2057400"/>
          </a:xfrm>
          <a:prstGeom prst="cloudCallout">
            <a:avLst>
              <a:gd name="adj1" fmla="val -70292"/>
              <a:gd name="adj2" fmla="val -3480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sz="1400" b="1"/>
              <a:t>if(condition)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True Block Statement(s);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else</a:t>
            </a:r>
          </a:p>
          <a:p>
            <a:r>
              <a:rPr lang="en-US" sz="1400" b="1"/>
              <a:t>{False Block  statement(s);</a:t>
            </a:r>
          </a:p>
          <a:p>
            <a:r>
              <a:rPr lang="en-US" sz="1400" b="1"/>
              <a:t>}</a:t>
            </a:r>
          </a:p>
        </p:txBody>
      </p:sp>
      <p:sp>
        <p:nvSpPr>
          <p:cNvPr id="7173" name="AutoShape 5"/>
          <p:cNvSpPr>
            <a:spLocks noChangeArrowheads="1"/>
          </p:cNvSpPr>
          <p:nvPr/>
        </p:nvSpPr>
        <p:spPr bwMode="auto">
          <a:xfrm>
            <a:off x="3810000" y="3962400"/>
            <a:ext cx="1295400" cy="990600"/>
          </a:xfrm>
          <a:prstGeom prst="diamond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3962400" y="4191000"/>
            <a:ext cx="99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 b="1"/>
              <a:t>Test Condition</a:t>
            </a: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5562600" y="5029200"/>
            <a:ext cx="2590800" cy="346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True Block Statements</a:t>
            </a:r>
          </a:p>
        </p:txBody>
      </p:sp>
      <p:sp>
        <p:nvSpPr>
          <p:cNvPr id="7176" name="Text Box 8"/>
          <p:cNvSpPr txBox="1">
            <a:spLocks noChangeArrowheads="1"/>
          </p:cNvSpPr>
          <p:nvPr/>
        </p:nvSpPr>
        <p:spPr bwMode="auto">
          <a:xfrm>
            <a:off x="838200" y="5067300"/>
            <a:ext cx="2590800" cy="346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False Block  Statements</a:t>
            </a:r>
          </a:p>
        </p:txBody>
      </p:sp>
      <p:sp>
        <p:nvSpPr>
          <p:cNvPr id="7177" name="Line 9"/>
          <p:cNvSpPr>
            <a:spLocks noChangeShapeType="1"/>
          </p:cNvSpPr>
          <p:nvPr/>
        </p:nvSpPr>
        <p:spPr bwMode="auto">
          <a:xfrm>
            <a:off x="4445000" y="4902200"/>
            <a:ext cx="0" cy="142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178" name="Line 10"/>
          <p:cNvSpPr>
            <a:spLocks noChangeShapeType="1"/>
          </p:cNvSpPr>
          <p:nvPr/>
        </p:nvSpPr>
        <p:spPr bwMode="auto">
          <a:xfrm>
            <a:off x="6731000" y="4445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179" name="Line 11"/>
          <p:cNvSpPr>
            <a:spLocks noChangeShapeType="1"/>
          </p:cNvSpPr>
          <p:nvPr/>
        </p:nvSpPr>
        <p:spPr bwMode="auto">
          <a:xfrm>
            <a:off x="5080000" y="4457700"/>
            <a:ext cx="167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180" name="Line 12"/>
          <p:cNvSpPr>
            <a:spLocks noChangeShapeType="1"/>
          </p:cNvSpPr>
          <p:nvPr/>
        </p:nvSpPr>
        <p:spPr bwMode="auto">
          <a:xfrm rot="5400000">
            <a:off x="5559425" y="4902200"/>
            <a:ext cx="6350" cy="2286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181" name="Line 13"/>
          <p:cNvSpPr>
            <a:spLocks noChangeShapeType="1"/>
          </p:cNvSpPr>
          <p:nvPr/>
        </p:nvSpPr>
        <p:spPr bwMode="auto">
          <a:xfrm>
            <a:off x="6705600" y="5372100"/>
            <a:ext cx="0" cy="660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182" name="Text Box 14"/>
          <p:cNvSpPr txBox="1">
            <a:spLocks noChangeArrowheads="1"/>
          </p:cNvSpPr>
          <p:nvPr/>
        </p:nvSpPr>
        <p:spPr bwMode="auto">
          <a:xfrm>
            <a:off x="5105400" y="4159250"/>
            <a:ext cx="990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TRUE</a:t>
            </a:r>
          </a:p>
        </p:txBody>
      </p:sp>
      <p:sp>
        <p:nvSpPr>
          <p:cNvPr id="7183" name="Text Box 15"/>
          <p:cNvSpPr txBox="1">
            <a:spLocks noChangeArrowheads="1"/>
          </p:cNvSpPr>
          <p:nvPr/>
        </p:nvSpPr>
        <p:spPr bwMode="auto">
          <a:xfrm>
            <a:off x="2971800" y="4114800"/>
            <a:ext cx="914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FALSE</a:t>
            </a:r>
          </a:p>
        </p:txBody>
      </p:sp>
      <p:sp>
        <p:nvSpPr>
          <p:cNvPr id="7184" name="Line 16"/>
          <p:cNvSpPr>
            <a:spLocks noChangeShapeType="1"/>
          </p:cNvSpPr>
          <p:nvPr/>
        </p:nvSpPr>
        <p:spPr bwMode="auto">
          <a:xfrm>
            <a:off x="4445000" y="3505200"/>
            <a:ext cx="0" cy="495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185" name="WordArt 17"/>
          <p:cNvSpPr>
            <a:spLocks noChangeArrowheads="1" noChangeShapeType="1" noTextEdit="1"/>
          </p:cNvSpPr>
          <p:nvPr/>
        </p:nvSpPr>
        <p:spPr bwMode="auto">
          <a:xfrm>
            <a:off x="304800" y="3733800"/>
            <a:ext cx="3048000" cy="317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latin typeface="Times New Roman"/>
                <a:cs typeface="Times New Roman"/>
              </a:rPr>
              <a:t>FLOWCHART</a:t>
            </a:r>
          </a:p>
        </p:txBody>
      </p:sp>
      <p:sp>
        <p:nvSpPr>
          <p:cNvPr id="7186" name="Line 18"/>
          <p:cNvSpPr>
            <a:spLocks noChangeShapeType="1"/>
          </p:cNvSpPr>
          <p:nvPr/>
        </p:nvSpPr>
        <p:spPr bwMode="auto">
          <a:xfrm>
            <a:off x="2133600" y="4451350"/>
            <a:ext cx="167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187" name="Line 19"/>
          <p:cNvSpPr>
            <a:spLocks noChangeShapeType="1"/>
          </p:cNvSpPr>
          <p:nvPr/>
        </p:nvSpPr>
        <p:spPr bwMode="auto">
          <a:xfrm>
            <a:off x="2133600" y="44450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188" name="Line 20"/>
          <p:cNvSpPr>
            <a:spLocks noChangeShapeType="1"/>
          </p:cNvSpPr>
          <p:nvPr/>
        </p:nvSpPr>
        <p:spPr bwMode="auto">
          <a:xfrm>
            <a:off x="2133600" y="5397500"/>
            <a:ext cx="0" cy="660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189" name="Line 21"/>
          <p:cNvSpPr>
            <a:spLocks noChangeShapeType="1"/>
          </p:cNvSpPr>
          <p:nvPr/>
        </p:nvSpPr>
        <p:spPr bwMode="auto">
          <a:xfrm rot="5400000">
            <a:off x="3260725" y="4905375"/>
            <a:ext cx="6350" cy="2286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WordArt 2"/>
          <p:cNvSpPr>
            <a:spLocks noChangeArrowheads="1" noChangeShapeType="1" noTextEdit="1"/>
          </p:cNvSpPr>
          <p:nvPr/>
        </p:nvSpPr>
        <p:spPr bwMode="auto">
          <a:xfrm>
            <a:off x="1981200" y="0"/>
            <a:ext cx="4343400" cy="8382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5977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990000"/>
                </a:solidFill>
                <a:latin typeface="Impact"/>
              </a:rPr>
              <a:t>WHILE LOOP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381000" y="990600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 u="sng"/>
              <a:t>Syntax :</a:t>
            </a:r>
          </a:p>
        </p:txBody>
      </p:sp>
      <p:sp>
        <p:nvSpPr>
          <p:cNvPr id="10244" name="AutoShape 4"/>
          <p:cNvSpPr>
            <a:spLocks noChangeArrowheads="1"/>
          </p:cNvSpPr>
          <p:nvPr/>
        </p:nvSpPr>
        <p:spPr bwMode="auto">
          <a:xfrm>
            <a:off x="1905000" y="990600"/>
            <a:ext cx="4267200" cy="1828800"/>
          </a:xfrm>
          <a:prstGeom prst="cloudCallout">
            <a:avLst>
              <a:gd name="adj1" fmla="val -65106"/>
              <a:gd name="adj2" fmla="val -3845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sz="1400" b="1"/>
              <a:t>Initialization counter;</a:t>
            </a:r>
          </a:p>
          <a:p>
            <a:r>
              <a:rPr lang="en-US" sz="1400" b="1"/>
              <a:t>while(condition)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Body of the Loop;</a:t>
            </a:r>
          </a:p>
          <a:p>
            <a:r>
              <a:rPr lang="en-US" sz="1400" b="1"/>
              <a:t>Increment/Decrement counter ;</a:t>
            </a:r>
          </a:p>
          <a:p>
            <a:r>
              <a:rPr lang="en-US" sz="1400" b="1"/>
              <a:t>}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133600" y="2895600"/>
            <a:ext cx="4368800" cy="3810000"/>
            <a:chOff x="1344" y="1776"/>
            <a:chExt cx="2752" cy="2544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2016" y="1776"/>
              <a:ext cx="960" cy="240"/>
              <a:chOff x="2016" y="1968"/>
              <a:chExt cx="960" cy="240"/>
            </a:xfrm>
          </p:grpSpPr>
          <p:sp>
            <p:nvSpPr>
              <p:cNvPr id="8219" name="AutoShape 7"/>
              <p:cNvSpPr>
                <a:spLocks noChangeArrowheads="1"/>
              </p:cNvSpPr>
              <p:nvPr/>
            </p:nvSpPr>
            <p:spPr bwMode="auto">
              <a:xfrm>
                <a:off x="2016" y="1968"/>
                <a:ext cx="912" cy="240"/>
              </a:xfrm>
              <a:prstGeom prst="flowChartTerminator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220" name="Text Box 8"/>
              <p:cNvSpPr txBox="1">
                <a:spLocks noChangeArrowheads="1"/>
              </p:cNvSpPr>
              <p:nvPr/>
            </p:nvSpPr>
            <p:spPr bwMode="auto">
              <a:xfrm>
                <a:off x="2016" y="1968"/>
                <a:ext cx="96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b="1"/>
                  <a:t>Start</a:t>
                </a:r>
              </a:p>
            </p:txBody>
          </p:sp>
        </p:grpSp>
        <p:sp>
          <p:nvSpPr>
            <p:cNvPr id="8199" name="Text Box 9"/>
            <p:cNvSpPr txBox="1">
              <a:spLocks noChangeArrowheads="1"/>
            </p:cNvSpPr>
            <p:nvPr/>
          </p:nvSpPr>
          <p:spPr bwMode="auto">
            <a:xfrm>
              <a:off x="2016" y="2112"/>
              <a:ext cx="960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b="1"/>
                <a:t>Initialize</a:t>
              </a:r>
            </a:p>
          </p:txBody>
        </p:sp>
        <p:sp>
          <p:nvSpPr>
            <p:cNvPr id="8200" name="AutoShape 10"/>
            <p:cNvSpPr>
              <a:spLocks noChangeArrowheads="1"/>
            </p:cNvSpPr>
            <p:nvPr/>
          </p:nvSpPr>
          <p:spPr bwMode="auto">
            <a:xfrm>
              <a:off x="2096" y="2472"/>
              <a:ext cx="816" cy="624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201" name="Text Box 11"/>
            <p:cNvSpPr txBox="1">
              <a:spLocks noChangeArrowheads="1"/>
            </p:cNvSpPr>
            <p:nvPr/>
          </p:nvSpPr>
          <p:spPr bwMode="auto">
            <a:xfrm>
              <a:off x="2208" y="2640"/>
              <a:ext cx="6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200" b="1"/>
                <a:t>Test Condition</a:t>
              </a:r>
            </a:p>
          </p:txBody>
        </p:sp>
        <p:sp>
          <p:nvSpPr>
            <p:cNvPr id="8202" name="Line 12"/>
            <p:cNvSpPr>
              <a:spLocks noChangeShapeType="1"/>
            </p:cNvSpPr>
            <p:nvPr/>
          </p:nvSpPr>
          <p:spPr bwMode="auto">
            <a:xfrm>
              <a:off x="2496" y="307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03" name="Text Box 13"/>
            <p:cNvSpPr txBox="1">
              <a:spLocks noChangeArrowheads="1"/>
            </p:cNvSpPr>
            <p:nvPr/>
          </p:nvSpPr>
          <p:spPr bwMode="auto">
            <a:xfrm>
              <a:off x="2544" y="3052"/>
              <a:ext cx="62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/>
                <a:t>TRUE</a:t>
              </a:r>
            </a:p>
          </p:txBody>
        </p:sp>
        <p:sp>
          <p:nvSpPr>
            <p:cNvPr id="8204" name="Line 14"/>
            <p:cNvSpPr>
              <a:spLocks noChangeShapeType="1"/>
            </p:cNvSpPr>
            <p:nvPr/>
          </p:nvSpPr>
          <p:spPr bwMode="auto">
            <a:xfrm>
              <a:off x="2512" y="230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05" name="Text Box 15"/>
            <p:cNvSpPr txBox="1">
              <a:spLocks noChangeArrowheads="1"/>
            </p:cNvSpPr>
            <p:nvPr/>
          </p:nvSpPr>
          <p:spPr bwMode="auto">
            <a:xfrm>
              <a:off x="2016" y="3238"/>
              <a:ext cx="124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b="1"/>
                <a:t>Body of the loop</a:t>
              </a:r>
            </a:p>
          </p:txBody>
        </p:sp>
        <p:sp>
          <p:nvSpPr>
            <p:cNvPr id="8206" name="Text Box 16"/>
            <p:cNvSpPr txBox="1">
              <a:spLocks noChangeArrowheads="1"/>
            </p:cNvSpPr>
            <p:nvPr/>
          </p:nvSpPr>
          <p:spPr bwMode="auto">
            <a:xfrm>
              <a:off x="2016" y="3718"/>
              <a:ext cx="1248" cy="3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b="1"/>
                <a:t>Increment or Decrement</a:t>
              </a:r>
            </a:p>
          </p:txBody>
        </p:sp>
        <p:sp>
          <p:nvSpPr>
            <p:cNvPr id="8207" name="Line 17"/>
            <p:cNvSpPr>
              <a:spLocks noChangeShapeType="1"/>
            </p:cNvSpPr>
            <p:nvPr/>
          </p:nvSpPr>
          <p:spPr bwMode="auto">
            <a:xfrm>
              <a:off x="2496" y="345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08" name="Line 18"/>
            <p:cNvSpPr>
              <a:spLocks noChangeShapeType="1"/>
            </p:cNvSpPr>
            <p:nvPr/>
          </p:nvSpPr>
          <p:spPr bwMode="auto">
            <a:xfrm>
              <a:off x="2496" y="408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09" name="Line 19"/>
            <p:cNvSpPr>
              <a:spLocks noChangeShapeType="1"/>
            </p:cNvSpPr>
            <p:nvPr/>
          </p:nvSpPr>
          <p:spPr bwMode="auto">
            <a:xfrm>
              <a:off x="2496" y="2016"/>
              <a:ext cx="0" cy="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10" name="Line 20"/>
            <p:cNvSpPr>
              <a:spLocks noChangeShapeType="1"/>
            </p:cNvSpPr>
            <p:nvPr/>
          </p:nvSpPr>
          <p:spPr bwMode="auto">
            <a:xfrm flipH="1">
              <a:off x="1344" y="2400"/>
              <a:ext cx="1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11" name="Line 21"/>
            <p:cNvSpPr>
              <a:spLocks noChangeShapeType="1"/>
            </p:cNvSpPr>
            <p:nvPr/>
          </p:nvSpPr>
          <p:spPr bwMode="auto">
            <a:xfrm flipH="1">
              <a:off x="1344" y="4272"/>
              <a:ext cx="1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12" name="Line 22"/>
            <p:cNvSpPr>
              <a:spLocks noChangeShapeType="1"/>
            </p:cNvSpPr>
            <p:nvPr/>
          </p:nvSpPr>
          <p:spPr bwMode="auto">
            <a:xfrm>
              <a:off x="1344" y="2400"/>
              <a:ext cx="0" cy="19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13" name="Text Box 23"/>
            <p:cNvSpPr txBox="1">
              <a:spLocks noChangeArrowheads="1"/>
            </p:cNvSpPr>
            <p:nvPr/>
          </p:nvSpPr>
          <p:spPr bwMode="auto">
            <a:xfrm>
              <a:off x="2736" y="2496"/>
              <a:ext cx="62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/>
                <a:t>FALSE</a:t>
              </a:r>
            </a:p>
          </p:txBody>
        </p:sp>
        <p:sp>
          <p:nvSpPr>
            <p:cNvPr id="8214" name="Line 24"/>
            <p:cNvSpPr>
              <a:spLocks noChangeShapeType="1"/>
            </p:cNvSpPr>
            <p:nvPr/>
          </p:nvSpPr>
          <p:spPr bwMode="auto">
            <a:xfrm>
              <a:off x="2928" y="2784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15" name="Line 25"/>
            <p:cNvSpPr>
              <a:spLocks noChangeShapeType="1"/>
            </p:cNvSpPr>
            <p:nvPr/>
          </p:nvSpPr>
          <p:spPr bwMode="auto">
            <a:xfrm>
              <a:off x="3696" y="2784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3280" y="3072"/>
              <a:ext cx="816" cy="212"/>
              <a:chOff x="2016" y="1968"/>
              <a:chExt cx="960" cy="265"/>
            </a:xfrm>
          </p:grpSpPr>
          <p:sp>
            <p:nvSpPr>
              <p:cNvPr id="8217" name="AutoShape 27"/>
              <p:cNvSpPr>
                <a:spLocks noChangeArrowheads="1"/>
              </p:cNvSpPr>
              <p:nvPr/>
            </p:nvSpPr>
            <p:spPr bwMode="auto">
              <a:xfrm>
                <a:off x="2016" y="1968"/>
                <a:ext cx="912" cy="240"/>
              </a:xfrm>
              <a:prstGeom prst="flowChartTerminator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218" name="Text Box 28"/>
              <p:cNvSpPr txBox="1">
                <a:spLocks noChangeArrowheads="1"/>
              </p:cNvSpPr>
              <p:nvPr/>
            </p:nvSpPr>
            <p:spPr bwMode="auto">
              <a:xfrm>
                <a:off x="2016" y="1968"/>
                <a:ext cx="96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b="1"/>
                  <a:t>STOP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nimBg="1"/>
      <p:bldP spid="10243" grpId="0"/>
      <p:bldP spid="1024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WordArt 2"/>
          <p:cNvSpPr>
            <a:spLocks noChangeArrowheads="1" noChangeShapeType="1" noTextEdit="1"/>
          </p:cNvSpPr>
          <p:nvPr/>
        </p:nvSpPr>
        <p:spPr bwMode="auto">
          <a:xfrm>
            <a:off x="1524000" y="114300"/>
            <a:ext cx="64484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While Statement Example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1219200"/>
            <a:ext cx="7772400" cy="428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WordArt 2"/>
          <p:cNvSpPr>
            <a:spLocks noChangeArrowheads="1" noChangeShapeType="1" noTextEdit="1"/>
          </p:cNvSpPr>
          <p:nvPr/>
        </p:nvSpPr>
        <p:spPr bwMode="auto">
          <a:xfrm>
            <a:off x="1981200" y="76200"/>
            <a:ext cx="4343400" cy="990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26227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990099"/>
                </a:solidFill>
                <a:latin typeface="Impact"/>
              </a:rPr>
              <a:t>DO.. WHILE LOOP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381000" y="990600"/>
            <a:ext cx="1600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 u="sng"/>
              <a:t>Syntax :</a:t>
            </a:r>
          </a:p>
        </p:txBody>
      </p:sp>
      <p:sp>
        <p:nvSpPr>
          <p:cNvPr id="12292" name="AutoShape 4"/>
          <p:cNvSpPr>
            <a:spLocks noChangeArrowheads="1"/>
          </p:cNvSpPr>
          <p:nvPr/>
        </p:nvSpPr>
        <p:spPr bwMode="auto">
          <a:xfrm>
            <a:off x="2286000" y="990600"/>
            <a:ext cx="4267200" cy="1828800"/>
          </a:xfrm>
          <a:prstGeom prst="cloudCallout">
            <a:avLst>
              <a:gd name="adj1" fmla="val -65106"/>
              <a:gd name="adj2" fmla="val -3845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sz="1400" b="1"/>
              <a:t>Initialization counter;</a:t>
            </a:r>
          </a:p>
          <a:p>
            <a:r>
              <a:rPr lang="en-US" sz="1400" b="1"/>
              <a:t>do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Body of the Loop;</a:t>
            </a:r>
          </a:p>
          <a:p>
            <a:r>
              <a:rPr lang="en-US" sz="1400" b="1"/>
              <a:t>Increment/Decrement counter ;</a:t>
            </a:r>
          </a:p>
          <a:p>
            <a:r>
              <a:rPr lang="en-US" sz="1400" b="1"/>
              <a:t>} </a:t>
            </a:r>
            <a:r>
              <a:rPr lang="en-US" sz="1600" b="1"/>
              <a:t>while(condition);</a:t>
            </a:r>
          </a:p>
          <a:p>
            <a:endParaRPr lang="en-US" sz="1200" b="1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590800" y="2755900"/>
            <a:ext cx="3352800" cy="4102100"/>
            <a:chOff x="1344" y="1728"/>
            <a:chExt cx="2112" cy="2584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2016" y="1728"/>
              <a:ext cx="960" cy="240"/>
              <a:chOff x="2016" y="1968"/>
              <a:chExt cx="960" cy="240"/>
            </a:xfrm>
          </p:grpSpPr>
          <p:sp>
            <p:nvSpPr>
              <p:cNvPr id="10265" name="AutoShape 7"/>
              <p:cNvSpPr>
                <a:spLocks noChangeArrowheads="1"/>
              </p:cNvSpPr>
              <p:nvPr/>
            </p:nvSpPr>
            <p:spPr bwMode="auto">
              <a:xfrm>
                <a:off x="2016" y="1968"/>
                <a:ext cx="912" cy="240"/>
              </a:xfrm>
              <a:prstGeom prst="flowChartTerminator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266" name="Text Box 8"/>
              <p:cNvSpPr txBox="1">
                <a:spLocks noChangeArrowheads="1"/>
              </p:cNvSpPr>
              <p:nvPr/>
            </p:nvSpPr>
            <p:spPr bwMode="auto">
              <a:xfrm>
                <a:off x="2016" y="1968"/>
                <a:ext cx="96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b="1"/>
                  <a:t>Start</a:t>
                </a:r>
              </a:p>
            </p:txBody>
          </p:sp>
        </p:grpSp>
        <p:sp>
          <p:nvSpPr>
            <p:cNvPr id="10247" name="Text Box 9"/>
            <p:cNvSpPr txBox="1">
              <a:spLocks noChangeArrowheads="1"/>
            </p:cNvSpPr>
            <p:nvPr/>
          </p:nvSpPr>
          <p:spPr bwMode="auto">
            <a:xfrm>
              <a:off x="2016" y="2064"/>
              <a:ext cx="960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b="1"/>
                <a:t>Initialize</a:t>
              </a:r>
            </a:p>
          </p:txBody>
        </p:sp>
        <p:sp>
          <p:nvSpPr>
            <p:cNvPr id="10248" name="AutoShape 10"/>
            <p:cNvSpPr>
              <a:spLocks noChangeArrowheads="1"/>
            </p:cNvSpPr>
            <p:nvPr/>
          </p:nvSpPr>
          <p:spPr bwMode="auto">
            <a:xfrm>
              <a:off x="2064" y="3264"/>
              <a:ext cx="816" cy="624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249" name="Text Box 11"/>
            <p:cNvSpPr txBox="1">
              <a:spLocks noChangeArrowheads="1"/>
            </p:cNvSpPr>
            <p:nvPr/>
          </p:nvSpPr>
          <p:spPr bwMode="auto">
            <a:xfrm>
              <a:off x="2176" y="3360"/>
              <a:ext cx="6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200" b="1"/>
                <a:t>Test Condition</a:t>
              </a:r>
            </a:p>
          </p:txBody>
        </p:sp>
        <p:sp>
          <p:nvSpPr>
            <p:cNvPr id="10250" name="Line 12"/>
            <p:cNvSpPr>
              <a:spLocks noChangeShapeType="1"/>
            </p:cNvSpPr>
            <p:nvPr/>
          </p:nvSpPr>
          <p:spPr bwMode="auto">
            <a:xfrm>
              <a:off x="2464" y="387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251" name="Text Box 13"/>
            <p:cNvSpPr txBox="1">
              <a:spLocks noChangeArrowheads="1"/>
            </p:cNvSpPr>
            <p:nvPr/>
          </p:nvSpPr>
          <p:spPr bwMode="auto">
            <a:xfrm>
              <a:off x="1584" y="3340"/>
              <a:ext cx="62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/>
                <a:t>TRUE</a:t>
              </a:r>
            </a:p>
          </p:txBody>
        </p:sp>
        <p:sp>
          <p:nvSpPr>
            <p:cNvPr id="10252" name="Line 14"/>
            <p:cNvSpPr>
              <a:spLocks noChangeShapeType="1"/>
            </p:cNvSpPr>
            <p:nvPr/>
          </p:nvSpPr>
          <p:spPr bwMode="auto">
            <a:xfrm>
              <a:off x="2480" y="3168"/>
              <a:ext cx="0" cy="1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253" name="Text Box 15"/>
            <p:cNvSpPr txBox="1">
              <a:spLocks noChangeArrowheads="1"/>
            </p:cNvSpPr>
            <p:nvPr/>
          </p:nvSpPr>
          <p:spPr bwMode="auto">
            <a:xfrm>
              <a:off x="1872" y="2460"/>
              <a:ext cx="124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b="1"/>
                <a:t>Body of the loop</a:t>
              </a:r>
            </a:p>
          </p:txBody>
        </p:sp>
        <p:sp>
          <p:nvSpPr>
            <p:cNvPr id="10254" name="Text Box 16"/>
            <p:cNvSpPr txBox="1">
              <a:spLocks noChangeArrowheads="1"/>
            </p:cNvSpPr>
            <p:nvPr/>
          </p:nvSpPr>
          <p:spPr bwMode="auto">
            <a:xfrm>
              <a:off x="1536" y="2940"/>
              <a:ext cx="1920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b="1"/>
                <a:t>Increment or Decrement</a:t>
              </a:r>
            </a:p>
          </p:txBody>
        </p:sp>
        <p:sp>
          <p:nvSpPr>
            <p:cNvPr id="10255" name="Line 17"/>
            <p:cNvSpPr>
              <a:spLocks noChangeShapeType="1"/>
            </p:cNvSpPr>
            <p:nvPr/>
          </p:nvSpPr>
          <p:spPr bwMode="auto">
            <a:xfrm>
              <a:off x="2496" y="267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256" name="Line 18"/>
            <p:cNvSpPr>
              <a:spLocks noChangeShapeType="1"/>
            </p:cNvSpPr>
            <p:nvPr/>
          </p:nvSpPr>
          <p:spPr bwMode="auto">
            <a:xfrm>
              <a:off x="2496" y="1968"/>
              <a:ext cx="0" cy="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257" name="Line 19"/>
            <p:cNvSpPr>
              <a:spLocks noChangeShapeType="1"/>
            </p:cNvSpPr>
            <p:nvPr/>
          </p:nvSpPr>
          <p:spPr bwMode="auto">
            <a:xfrm flipH="1">
              <a:off x="1344" y="2352"/>
              <a:ext cx="1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258" name="Line 20"/>
            <p:cNvSpPr>
              <a:spLocks noChangeShapeType="1"/>
            </p:cNvSpPr>
            <p:nvPr/>
          </p:nvSpPr>
          <p:spPr bwMode="auto">
            <a:xfrm flipH="1">
              <a:off x="1344" y="3552"/>
              <a:ext cx="72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259" name="Line 21"/>
            <p:cNvSpPr>
              <a:spLocks noChangeShapeType="1"/>
            </p:cNvSpPr>
            <p:nvPr/>
          </p:nvSpPr>
          <p:spPr bwMode="auto">
            <a:xfrm>
              <a:off x="1344" y="2344"/>
              <a:ext cx="0" cy="12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260" name="Line 22"/>
            <p:cNvSpPr>
              <a:spLocks noChangeShapeType="1"/>
            </p:cNvSpPr>
            <p:nvPr/>
          </p:nvSpPr>
          <p:spPr bwMode="auto">
            <a:xfrm>
              <a:off x="2488" y="225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4" name="Group 23"/>
            <p:cNvGrpSpPr>
              <a:grpSpLocks/>
            </p:cNvGrpSpPr>
            <p:nvPr/>
          </p:nvGrpSpPr>
          <p:grpSpPr bwMode="auto">
            <a:xfrm>
              <a:off x="1984" y="4072"/>
              <a:ext cx="960" cy="240"/>
              <a:chOff x="2016" y="1968"/>
              <a:chExt cx="960" cy="240"/>
            </a:xfrm>
          </p:grpSpPr>
          <p:sp>
            <p:nvSpPr>
              <p:cNvPr id="10263" name="AutoShape 24"/>
              <p:cNvSpPr>
                <a:spLocks noChangeArrowheads="1"/>
              </p:cNvSpPr>
              <p:nvPr/>
            </p:nvSpPr>
            <p:spPr bwMode="auto">
              <a:xfrm>
                <a:off x="2016" y="1968"/>
                <a:ext cx="912" cy="240"/>
              </a:xfrm>
              <a:prstGeom prst="flowChartTerminator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264" name="Text Box 25"/>
              <p:cNvSpPr txBox="1">
                <a:spLocks noChangeArrowheads="1"/>
              </p:cNvSpPr>
              <p:nvPr/>
            </p:nvSpPr>
            <p:spPr bwMode="auto">
              <a:xfrm>
                <a:off x="2016" y="1968"/>
                <a:ext cx="96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b="1"/>
                  <a:t>Stop</a:t>
                </a:r>
              </a:p>
            </p:txBody>
          </p:sp>
        </p:grpSp>
        <p:sp>
          <p:nvSpPr>
            <p:cNvPr id="10262" name="Text Box 26"/>
            <p:cNvSpPr txBox="1">
              <a:spLocks noChangeArrowheads="1"/>
            </p:cNvSpPr>
            <p:nvPr/>
          </p:nvSpPr>
          <p:spPr bwMode="auto">
            <a:xfrm>
              <a:off x="2544" y="3868"/>
              <a:ext cx="62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/>
                <a:t>FALSE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nimBg="1"/>
      <p:bldP spid="12291" grpId="0"/>
      <p:bldP spid="1229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CSC COMPUTER EDUCATION, M.K.B.NAGAR</a:t>
            </a:r>
          </a:p>
        </p:txBody>
      </p:sp>
      <p:sp>
        <p:nvSpPr>
          <p:cNvPr id="11267" name="WordArt 2"/>
          <p:cNvSpPr>
            <a:spLocks noChangeArrowheads="1" noChangeShapeType="1" noTextEdit="1"/>
          </p:cNvSpPr>
          <p:nvPr/>
        </p:nvSpPr>
        <p:spPr bwMode="auto">
          <a:xfrm>
            <a:off x="1447800" y="228600"/>
            <a:ext cx="64484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do..While Statement Example</a:t>
            </a:r>
          </a:p>
        </p:txBody>
      </p:sp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1219200"/>
            <a:ext cx="7162800" cy="353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5-Point Star 5"/>
          <p:cNvSpPr/>
          <p:nvPr/>
        </p:nvSpPr>
        <p:spPr>
          <a:xfrm>
            <a:off x="8001000" y="0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WordArt 2"/>
          <p:cNvSpPr>
            <a:spLocks noChangeArrowheads="1" noChangeShapeType="1" noTextEdit="1"/>
          </p:cNvSpPr>
          <p:nvPr/>
        </p:nvSpPr>
        <p:spPr bwMode="auto">
          <a:xfrm>
            <a:off x="1981200" y="304800"/>
            <a:ext cx="4343400" cy="685800"/>
          </a:xfrm>
          <a:prstGeom prst="rect">
            <a:avLst/>
          </a:prstGeom>
        </p:spPr>
        <p:txBody>
          <a:bodyPr wrap="none" fromWordArt="1">
            <a:prstTxWarp prst="textWave2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99"/>
                </a:solidFill>
                <a:latin typeface="Impact"/>
              </a:rPr>
              <a:t>FOR LOOP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381000" y="1157288"/>
            <a:ext cx="1600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 u="sng"/>
              <a:t>Syntax :</a:t>
            </a:r>
          </a:p>
        </p:txBody>
      </p:sp>
      <p:sp>
        <p:nvSpPr>
          <p:cNvPr id="14340" name="AutoShape 4"/>
          <p:cNvSpPr>
            <a:spLocks noChangeArrowheads="1"/>
          </p:cNvSpPr>
          <p:nvPr/>
        </p:nvSpPr>
        <p:spPr bwMode="auto">
          <a:xfrm>
            <a:off x="1905000" y="1219200"/>
            <a:ext cx="4724400" cy="1219200"/>
          </a:xfrm>
          <a:prstGeom prst="wedgeRoundRectCallout">
            <a:avLst>
              <a:gd name="adj1" fmla="val -63644"/>
              <a:gd name="adj2" fmla="val -3268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sz="1400" b="1"/>
              <a:t>For(initialization;condition;increment/decrement)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Body of the Loop;</a:t>
            </a:r>
          </a:p>
          <a:p>
            <a:r>
              <a:rPr lang="en-US" sz="1400" b="1"/>
              <a:t>}</a:t>
            </a:r>
            <a:endParaRPr lang="en-US" sz="1600" b="1"/>
          </a:p>
          <a:p>
            <a:endParaRPr lang="en-US" sz="1200" b="1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184400" y="2463800"/>
            <a:ext cx="4368800" cy="4038600"/>
            <a:chOff x="1344" y="1776"/>
            <a:chExt cx="2752" cy="2544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2016" y="1776"/>
              <a:ext cx="960" cy="240"/>
              <a:chOff x="2016" y="1968"/>
              <a:chExt cx="960" cy="240"/>
            </a:xfrm>
          </p:grpSpPr>
          <p:sp>
            <p:nvSpPr>
              <p:cNvPr id="12315" name="AutoShape 7"/>
              <p:cNvSpPr>
                <a:spLocks noChangeArrowheads="1"/>
              </p:cNvSpPr>
              <p:nvPr/>
            </p:nvSpPr>
            <p:spPr bwMode="auto">
              <a:xfrm>
                <a:off x="2016" y="1968"/>
                <a:ext cx="912" cy="240"/>
              </a:xfrm>
              <a:prstGeom prst="flowChartTerminator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316" name="Text Box 8"/>
              <p:cNvSpPr txBox="1">
                <a:spLocks noChangeArrowheads="1"/>
              </p:cNvSpPr>
              <p:nvPr/>
            </p:nvSpPr>
            <p:spPr bwMode="auto">
              <a:xfrm>
                <a:off x="2016" y="1968"/>
                <a:ext cx="96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b="1"/>
                  <a:t>Start</a:t>
                </a:r>
              </a:p>
            </p:txBody>
          </p:sp>
        </p:grpSp>
        <p:sp>
          <p:nvSpPr>
            <p:cNvPr id="12295" name="Text Box 9"/>
            <p:cNvSpPr txBox="1">
              <a:spLocks noChangeArrowheads="1"/>
            </p:cNvSpPr>
            <p:nvPr/>
          </p:nvSpPr>
          <p:spPr bwMode="auto">
            <a:xfrm>
              <a:off x="2016" y="2112"/>
              <a:ext cx="960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b="1"/>
                <a:t>Initialize</a:t>
              </a:r>
            </a:p>
          </p:txBody>
        </p:sp>
        <p:sp>
          <p:nvSpPr>
            <p:cNvPr id="12296" name="AutoShape 10"/>
            <p:cNvSpPr>
              <a:spLocks noChangeArrowheads="1"/>
            </p:cNvSpPr>
            <p:nvPr/>
          </p:nvSpPr>
          <p:spPr bwMode="auto">
            <a:xfrm>
              <a:off x="2096" y="2472"/>
              <a:ext cx="816" cy="624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297" name="Text Box 11"/>
            <p:cNvSpPr txBox="1">
              <a:spLocks noChangeArrowheads="1"/>
            </p:cNvSpPr>
            <p:nvPr/>
          </p:nvSpPr>
          <p:spPr bwMode="auto">
            <a:xfrm>
              <a:off x="2208" y="2640"/>
              <a:ext cx="6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200" b="1"/>
                <a:t>Test Condition</a:t>
              </a:r>
            </a:p>
          </p:txBody>
        </p:sp>
        <p:sp>
          <p:nvSpPr>
            <p:cNvPr id="12298" name="Line 12"/>
            <p:cNvSpPr>
              <a:spLocks noChangeShapeType="1"/>
            </p:cNvSpPr>
            <p:nvPr/>
          </p:nvSpPr>
          <p:spPr bwMode="auto">
            <a:xfrm>
              <a:off x="2496" y="307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299" name="Text Box 13"/>
            <p:cNvSpPr txBox="1">
              <a:spLocks noChangeArrowheads="1"/>
            </p:cNvSpPr>
            <p:nvPr/>
          </p:nvSpPr>
          <p:spPr bwMode="auto">
            <a:xfrm>
              <a:off x="2544" y="3052"/>
              <a:ext cx="62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/>
                <a:t>TRUE</a:t>
              </a:r>
            </a:p>
          </p:txBody>
        </p:sp>
        <p:sp>
          <p:nvSpPr>
            <p:cNvPr id="12300" name="Line 14"/>
            <p:cNvSpPr>
              <a:spLocks noChangeShapeType="1"/>
            </p:cNvSpPr>
            <p:nvPr/>
          </p:nvSpPr>
          <p:spPr bwMode="auto">
            <a:xfrm>
              <a:off x="2512" y="230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301" name="Text Box 15"/>
            <p:cNvSpPr txBox="1">
              <a:spLocks noChangeArrowheads="1"/>
            </p:cNvSpPr>
            <p:nvPr/>
          </p:nvSpPr>
          <p:spPr bwMode="auto">
            <a:xfrm>
              <a:off x="2016" y="3238"/>
              <a:ext cx="124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b="1"/>
                <a:t>Body of the loop</a:t>
              </a:r>
            </a:p>
          </p:txBody>
        </p:sp>
        <p:sp>
          <p:nvSpPr>
            <p:cNvPr id="12302" name="Text Box 16"/>
            <p:cNvSpPr txBox="1">
              <a:spLocks noChangeArrowheads="1"/>
            </p:cNvSpPr>
            <p:nvPr/>
          </p:nvSpPr>
          <p:spPr bwMode="auto">
            <a:xfrm>
              <a:off x="2016" y="3718"/>
              <a:ext cx="1248" cy="3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b="1"/>
                <a:t>Increment or Decrement</a:t>
              </a:r>
            </a:p>
          </p:txBody>
        </p:sp>
        <p:sp>
          <p:nvSpPr>
            <p:cNvPr id="12303" name="Line 17"/>
            <p:cNvSpPr>
              <a:spLocks noChangeShapeType="1"/>
            </p:cNvSpPr>
            <p:nvPr/>
          </p:nvSpPr>
          <p:spPr bwMode="auto">
            <a:xfrm>
              <a:off x="2496" y="3456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304" name="Line 18"/>
            <p:cNvSpPr>
              <a:spLocks noChangeShapeType="1"/>
            </p:cNvSpPr>
            <p:nvPr/>
          </p:nvSpPr>
          <p:spPr bwMode="auto">
            <a:xfrm>
              <a:off x="2496" y="408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305" name="Line 19"/>
            <p:cNvSpPr>
              <a:spLocks noChangeShapeType="1"/>
            </p:cNvSpPr>
            <p:nvPr/>
          </p:nvSpPr>
          <p:spPr bwMode="auto">
            <a:xfrm>
              <a:off x="2496" y="2016"/>
              <a:ext cx="0" cy="1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306" name="Line 20"/>
            <p:cNvSpPr>
              <a:spLocks noChangeShapeType="1"/>
            </p:cNvSpPr>
            <p:nvPr/>
          </p:nvSpPr>
          <p:spPr bwMode="auto">
            <a:xfrm flipH="1">
              <a:off x="1344" y="2400"/>
              <a:ext cx="1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307" name="Line 21"/>
            <p:cNvSpPr>
              <a:spLocks noChangeShapeType="1"/>
            </p:cNvSpPr>
            <p:nvPr/>
          </p:nvSpPr>
          <p:spPr bwMode="auto">
            <a:xfrm flipH="1">
              <a:off x="1344" y="4272"/>
              <a:ext cx="11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308" name="Line 22"/>
            <p:cNvSpPr>
              <a:spLocks noChangeShapeType="1"/>
            </p:cNvSpPr>
            <p:nvPr/>
          </p:nvSpPr>
          <p:spPr bwMode="auto">
            <a:xfrm>
              <a:off x="1344" y="2400"/>
              <a:ext cx="0" cy="19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309" name="Text Box 23"/>
            <p:cNvSpPr txBox="1">
              <a:spLocks noChangeArrowheads="1"/>
            </p:cNvSpPr>
            <p:nvPr/>
          </p:nvSpPr>
          <p:spPr bwMode="auto">
            <a:xfrm>
              <a:off x="2736" y="2496"/>
              <a:ext cx="62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/>
                <a:t>FALSE</a:t>
              </a:r>
            </a:p>
          </p:txBody>
        </p:sp>
        <p:sp>
          <p:nvSpPr>
            <p:cNvPr id="12310" name="Line 24"/>
            <p:cNvSpPr>
              <a:spLocks noChangeShapeType="1"/>
            </p:cNvSpPr>
            <p:nvPr/>
          </p:nvSpPr>
          <p:spPr bwMode="auto">
            <a:xfrm>
              <a:off x="2928" y="2784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311" name="Line 25"/>
            <p:cNvSpPr>
              <a:spLocks noChangeShapeType="1"/>
            </p:cNvSpPr>
            <p:nvPr/>
          </p:nvSpPr>
          <p:spPr bwMode="auto">
            <a:xfrm>
              <a:off x="3696" y="2784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3280" y="3072"/>
              <a:ext cx="816" cy="212"/>
              <a:chOff x="2016" y="1968"/>
              <a:chExt cx="960" cy="265"/>
            </a:xfrm>
          </p:grpSpPr>
          <p:sp>
            <p:nvSpPr>
              <p:cNvPr id="12313" name="AutoShape 27"/>
              <p:cNvSpPr>
                <a:spLocks noChangeArrowheads="1"/>
              </p:cNvSpPr>
              <p:nvPr/>
            </p:nvSpPr>
            <p:spPr bwMode="auto">
              <a:xfrm>
                <a:off x="2016" y="1968"/>
                <a:ext cx="912" cy="240"/>
              </a:xfrm>
              <a:prstGeom prst="flowChartTerminator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314" name="Text Box 28"/>
              <p:cNvSpPr txBox="1">
                <a:spLocks noChangeArrowheads="1"/>
              </p:cNvSpPr>
              <p:nvPr/>
            </p:nvSpPr>
            <p:spPr bwMode="auto">
              <a:xfrm>
                <a:off x="2016" y="1968"/>
                <a:ext cx="960" cy="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600" b="1"/>
                  <a:t>STOP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nimBg="1"/>
      <p:bldP spid="14339" grpId="0"/>
      <p:bldP spid="1434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31788" y="554038"/>
            <a:ext cx="8202612" cy="579437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cs typeface="Times New Roman" pitchFamily="18" charset="0"/>
              </a:rPr>
              <a:t>Multiple Initialization / Increments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609600" y="1258888"/>
            <a:ext cx="85693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The following loop is used for multiple initialization</a:t>
            </a:r>
            <a:r>
              <a:rPr lang="en-US" sz="280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-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81200" y="2438400"/>
            <a:ext cx="6096000" cy="347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457200" y="1416050"/>
            <a:ext cx="86868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4025" indent="-454025">
              <a:buFontTx/>
              <a:buBlip>
                <a:blip r:embed="rId3"/>
              </a:buBlip>
              <a:tabLst>
                <a:tab pos="388938" algn="l"/>
              </a:tabLst>
            </a:pPr>
            <a:r>
              <a:rPr lang="en-US" sz="28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The for loop will be termed as a nested for loop when it is written like this : -</a:t>
            </a:r>
          </a:p>
        </p:txBody>
      </p:sp>
      <p:sp>
        <p:nvSpPr>
          <p:cNvPr id="14339" name="WordArt 3" descr="Purple mesh"/>
          <p:cNvSpPr>
            <a:spLocks noChangeArrowheads="1" noChangeShapeType="1" noTextEdit="1"/>
          </p:cNvSpPr>
          <p:nvPr/>
        </p:nvSpPr>
        <p:spPr bwMode="auto">
          <a:xfrm>
            <a:off x="2667000" y="685800"/>
            <a:ext cx="3581400" cy="5238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blipFill dpi="0" rotWithShape="0">
                  <a:blip r:embed="rId4"/>
                  <a:srcRect/>
                  <a:tile tx="0" ty="0" sx="100000" sy="100000" flip="none" algn="tl"/>
                </a:blipFill>
                <a:effectLst>
                  <a:outerShdw dist="563972" dir="14049741" sx="125000" sy="125000" algn="tl" rotWithShape="0">
                    <a:srgbClr val="C7DFD3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Nested for Loops</a:t>
            </a: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14600" y="2743200"/>
            <a:ext cx="3657600" cy="359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0" y="-52388"/>
            <a:ext cx="4343400" cy="40640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Write a “C” Program swapping two numbers</a:t>
            </a: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#include&lt;stdio.h&gt;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void main()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{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 a,b;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printf("enter two number=");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scanf ("%d %d",&amp;a,&amp;b);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b=a+b;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a=b-a;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b=b-a;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printf(“a=%d  b=%d",a,b);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}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4343400" y="279400"/>
            <a:ext cx="4800600" cy="314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Decrement Operator Example</a:t>
            </a: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#include&lt;stdio.h&gt;</a:t>
            </a: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void main()</a:t>
            </a: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{</a:t>
            </a: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 i;</a:t>
            </a: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i=2;</a:t>
            </a: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printf("\n The value of i is %d",i);</a:t>
            </a: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printf("\n The value of i is %d",--i);</a:t>
            </a: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printf("\n The value of i is %d",i);</a:t>
            </a: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}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0" y="4013200"/>
            <a:ext cx="4267200" cy="284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Increment operator(++) Example</a:t>
            </a: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#include&lt;stdio.h&gt;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void main()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{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int i=2;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printf("\n The value of i is %d",i);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printf("\n The value of i is %d",++i);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printf("\n The value of i is %d",i);</a:t>
            </a:r>
            <a:endParaRPr lang="en-US" sz="2000">
              <a:solidFill>
                <a:srgbClr val="800000"/>
              </a:solidFill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  <a:latin typeface="Times New Roman" pitchFamily="18" charset="0"/>
              </a:rPr>
              <a:t>}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4368800" y="3657600"/>
            <a:ext cx="4724400" cy="303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600" b="1">
                <a:solidFill>
                  <a:srgbClr val="800000"/>
                </a:solidFill>
              </a:rPr>
              <a:t>Write a program to convert farenheit into celsius = (far - 32) *5/9</a:t>
            </a:r>
          </a:p>
          <a:p>
            <a:endParaRPr lang="en-US" sz="1600">
              <a:solidFill>
                <a:srgbClr val="800000"/>
              </a:solidFill>
            </a:endParaRPr>
          </a:p>
          <a:p>
            <a:r>
              <a:rPr lang="en-US" sz="1600" b="1">
                <a:solidFill>
                  <a:srgbClr val="800000"/>
                </a:solidFill>
              </a:rPr>
              <a:t>#include&lt;stdio.h&gt;</a:t>
            </a:r>
            <a:endParaRPr lang="en-US" sz="1600">
              <a:solidFill>
                <a:srgbClr val="800000"/>
              </a:solidFill>
            </a:endParaRPr>
          </a:p>
          <a:p>
            <a:r>
              <a:rPr lang="en-US" sz="1600" b="1">
                <a:solidFill>
                  <a:srgbClr val="800000"/>
                </a:solidFill>
              </a:rPr>
              <a:t>void main()</a:t>
            </a:r>
            <a:endParaRPr lang="en-US" sz="1600">
              <a:solidFill>
                <a:srgbClr val="800000"/>
              </a:solidFill>
            </a:endParaRPr>
          </a:p>
          <a:p>
            <a:r>
              <a:rPr lang="en-US" sz="1600" b="1">
                <a:solidFill>
                  <a:srgbClr val="800000"/>
                </a:solidFill>
              </a:rPr>
              <a:t>{</a:t>
            </a:r>
            <a:endParaRPr lang="en-US" sz="1600">
              <a:solidFill>
                <a:srgbClr val="800000"/>
              </a:solidFill>
            </a:endParaRPr>
          </a:p>
          <a:p>
            <a:r>
              <a:rPr lang="en-US" sz="1600" b="1">
                <a:solidFill>
                  <a:srgbClr val="800000"/>
                </a:solidFill>
              </a:rPr>
              <a:t>float faren,celsius;</a:t>
            </a:r>
            <a:endParaRPr lang="en-US" sz="1600">
              <a:solidFill>
                <a:srgbClr val="800000"/>
              </a:solidFill>
            </a:endParaRPr>
          </a:p>
          <a:p>
            <a:r>
              <a:rPr lang="en-US" sz="1600" b="1">
                <a:solidFill>
                  <a:srgbClr val="800000"/>
                </a:solidFill>
              </a:rPr>
              <a:t>printf("\n Enter the farenheit = ");</a:t>
            </a:r>
            <a:endParaRPr lang="en-US" sz="1600">
              <a:solidFill>
                <a:srgbClr val="800000"/>
              </a:solidFill>
            </a:endParaRPr>
          </a:p>
          <a:p>
            <a:r>
              <a:rPr lang="en-US" sz="1600" b="1">
                <a:solidFill>
                  <a:srgbClr val="800000"/>
                </a:solidFill>
              </a:rPr>
              <a:t>scanf(" %f", &amp;faren);</a:t>
            </a:r>
            <a:endParaRPr lang="en-US" sz="1600">
              <a:solidFill>
                <a:srgbClr val="800000"/>
              </a:solidFill>
            </a:endParaRPr>
          </a:p>
          <a:p>
            <a:r>
              <a:rPr lang="en-US" sz="1600" b="1">
                <a:solidFill>
                  <a:srgbClr val="800000"/>
                </a:solidFill>
              </a:rPr>
              <a:t>celsius = (faren -32) *5/9;</a:t>
            </a:r>
            <a:endParaRPr lang="en-US" sz="1600">
              <a:solidFill>
                <a:srgbClr val="800000"/>
              </a:solidFill>
            </a:endParaRPr>
          </a:p>
          <a:p>
            <a:r>
              <a:rPr lang="en-US" sz="1600" b="1">
                <a:solidFill>
                  <a:srgbClr val="800000"/>
                </a:solidFill>
              </a:rPr>
              <a:t>printf("The Celsius is = %f",celsius);</a:t>
            </a:r>
            <a:endParaRPr lang="en-US" sz="1600">
              <a:solidFill>
                <a:srgbClr val="800000"/>
              </a:solidFill>
            </a:endParaRPr>
          </a:p>
          <a:p>
            <a:r>
              <a:rPr lang="en-US" sz="1600" b="1">
                <a:solidFill>
                  <a:srgbClr val="800000"/>
                </a:solidFill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304800" y="88900"/>
            <a:ext cx="8534400" cy="4864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800000"/>
                </a:solidFill>
              </a:rPr>
              <a:t>Write a program to accept your name,address &amp; city and print it one by one</a:t>
            </a:r>
            <a:endParaRPr lang="en-US" sz="1600">
              <a:solidFill>
                <a:srgbClr val="80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800000"/>
                </a:solidFill>
              </a:rPr>
              <a:t>#include&lt;stdio.h&gt;</a:t>
            </a:r>
            <a:endParaRPr lang="en-US" sz="1600">
              <a:solidFill>
                <a:srgbClr val="80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800000"/>
                </a:solidFill>
              </a:rPr>
              <a:t>void main()</a:t>
            </a:r>
            <a:endParaRPr lang="en-US" sz="1600">
              <a:solidFill>
                <a:srgbClr val="80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800000"/>
                </a:solidFill>
              </a:rPr>
              <a:t>{</a:t>
            </a:r>
            <a:endParaRPr lang="en-US" sz="1600">
              <a:solidFill>
                <a:srgbClr val="80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800000"/>
                </a:solidFill>
              </a:rPr>
              <a:t>char name[20],add[30],city[20];</a:t>
            </a:r>
            <a:endParaRPr lang="en-US" sz="1600">
              <a:solidFill>
                <a:srgbClr val="80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800000"/>
                </a:solidFill>
              </a:rPr>
              <a:t>printf("\n Enter the name=");</a:t>
            </a:r>
            <a:endParaRPr lang="en-US" sz="1600">
              <a:solidFill>
                <a:srgbClr val="80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800000"/>
                </a:solidFill>
              </a:rPr>
              <a:t>scanf("%s",name);</a:t>
            </a:r>
            <a:endParaRPr lang="en-US" sz="1600">
              <a:solidFill>
                <a:srgbClr val="80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800000"/>
                </a:solidFill>
              </a:rPr>
              <a:t>printf("\n Enter the Address=");</a:t>
            </a:r>
            <a:endParaRPr lang="en-US" sz="1600">
              <a:solidFill>
                <a:srgbClr val="80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800000"/>
                </a:solidFill>
              </a:rPr>
              <a:t>scanf("%s",add);</a:t>
            </a:r>
            <a:endParaRPr lang="en-US" sz="1600">
              <a:solidFill>
                <a:srgbClr val="80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800000"/>
                </a:solidFill>
              </a:rPr>
              <a:t>printf("\n Enter the City=");</a:t>
            </a:r>
            <a:endParaRPr lang="en-US" sz="1600">
              <a:solidFill>
                <a:srgbClr val="80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800000"/>
                </a:solidFill>
              </a:rPr>
              <a:t>scanf("%s",city);</a:t>
            </a:r>
            <a:endParaRPr lang="en-US" sz="1600">
              <a:solidFill>
                <a:srgbClr val="80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800000"/>
                </a:solidFill>
              </a:rPr>
              <a:t>printf("The  Name is = %s\n",name);</a:t>
            </a:r>
            <a:endParaRPr lang="en-US" sz="1600">
              <a:solidFill>
                <a:srgbClr val="80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800000"/>
                </a:solidFill>
              </a:rPr>
              <a:t>printf("The  Address is = %s\n",add);</a:t>
            </a:r>
            <a:endParaRPr lang="en-US" sz="1600">
              <a:solidFill>
                <a:srgbClr val="80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800000"/>
                </a:solidFill>
              </a:rPr>
              <a:t>printf("The  City is  = %s\n",city);</a:t>
            </a:r>
            <a:endParaRPr lang="en-US" sz="1600">
              <a:solidFill>
                <a:srgbClr val="80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solidFill>
                  <a:srgbClr val="800000"/>
                </a:solidFill>
              </a:rPr>
              <a:t>}</a:t>
            </a:r>
          </a:p>
        </p:txBody>
      </p:sp>
      <p:sp>
        <p:nvSpPr>
          <p:cNvPr id="16387" name="WordArt 3"/>
          <p:cNvSpPr>
            <a:spLocks noChangeArrowheads="1" noChangeShapeType="1" noTextEdit="1"/>
          </p:cNvSpPr>
          <p:nvPr/>
        </p:nvSpPr>
        <p:spPr bwMode="auto">
          <a:xfrm>
            <a:off x="5334000" y="4876800"/>
            <a:ext cx="17526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latin typeface="Arial Black"/>
              </a:rPr>
              <a:t>OUTPUT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1066800" y="5219700"/>
            <a:ext cx="4191000" cy="12287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000099"/>
                </a:solidFill>
              </a:rPr>
              <a:t>Enter the Name = CSCComputer </a:t>
            </a:r>
          </a:p>
          <a:p>
            <a:r>
              <a:rPr lang="en-US" b="1">
                <a:solidFill>
                  <a:srgbClr val="000099"/>
                </a:solidFill>
              </a:rPr>
              <a:t>Enter the Address= Meenambalsalai</a:t>
            </a:r>
          </a:p>
          <a:p>
            <a:r>
              <a:rPr lang="en-US" b="1">
                <a:solidFill>
                  <a:srgbClr val="000099"/>
                </a:solidFill>
              </a:rPr>
              <a:t>Enter the city = Chennai</a:t>
            </a:r>
          </a:p>
          <a:p>
            <a:endParaRPr lang="en-US" b="1">
              <a:solidFill>
                <a:srgbClr val="000099"/>
              </a:solidFill>
            </a:endParaRP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5334000" y="5257800"/>
            <a:ext cx="3810000" cy="12287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000099"/>
                </a:solidFill>
              </a:rPr>
              <a:t>The Name is = CSCComputer </a:t>
            </a:r>
          </a:p>
          <a:p>
            <a:r>
              <a:rPr lang="en-US" b="1">
                <a:solidFill>
                  <a:srgbClr val="000099"/>
                </a:solidFill>
              </a:rPr>
              <a:t>The Address is= Meenambalsalai</a:t>
            </a:r>
          </a:p>
          <a:p>
            <a:r>
              <a:rPr lang="en-US" b="1">
                <a:solidFill>
                  <a:srgbClr val="000099"/>
                </a:solidFill>
              </a:rPr>
              <a:t>The city is = Chennai</a:t>
            </a:r>
          </a:p>
          <a:p>
            <a:endParaRPr lang="en-US" b="1">
              <a:solidFill>
                <a:srgbClr val="000099"/>
              </a:solidFill>
            </a:endParaRPr>
          </a:p>
        </p:txBody>
      </p:sp>
      <p:sp>
        <p:nvSpPr>
          <p:cNvPr id="16390" name="WordArt 6"/>
          <p:cNvSpPr>
            <a:spLocks noChangeArrowheads="1" noChangeShapeType="1" noTextEdit="1"/>
          </p:cNvSpPr>
          <p:nvPr/>
        </p:nvSpPr>
        <p:spPr bwMode="auto">
          <a:xfrm>
            <a:off x="990600" y="4876800"/>
            <a:ext cx="17526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latin typeface="Arial Black"/>
              </a:rPr>
              <a:t>INPUT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381000" y="228600"/>
            <a:ext cx="7772400" cy="594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How to print a Special characters </a:t>
            </a:r>
          </a:p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#include&lt;stdio.h&gt;</a:t>
            </a:r>
          </a:p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#include&lt;conio.h&gt;</a:t>
            </a:r>
          </a:p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void main()</a:t>
            </a:r>
          </a:p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{</a:t>
            </a:r>
          </a:p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char c;</a:t>
            </a:r>
          </a:p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clrscr();</a:t>
            </a:r>
          </a:p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printf("\n This is how to print a double quote : \"\n");</a:t>
            </a:r>
          </a:p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printf("\n This is how to print a backslash : \\\n");</a:t>
            </a:r>
          </a:p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c='\'';</a:t>
            </a:r>
          </a:p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printf("\n c now contains %c\n",c);</a:t>
            </a:r>
          </a:p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printf("\n This is how to print a percent - sign : \%\n");</a:t>
            </a:r>
          </a:p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c='\007';  </a:t>
            </a:r>
            <a:r>
              <a:rPr lang="en-US" sz="2400" b="1" i="1">
                <a:solidFill>
                  <a:srgbClr val="800000"/>
                </a:solidFill>
                <a:latin typeface="Times New Roman" pitchFamily="18" charset="0"/>
              </a:rPr>
              <a:t> /* beep sound code is 7 */</a:t>
            </a:r>
          </a:p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printf("\n c now contains %d\n",c);</a:t>
            </a:r>
          </a:p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getch();</a:t>
            </a:r>
          </a:p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4267200" cy="4502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600" b="1"/>
              <a:t>Write a program to print employee name, </a:t>
            </a:r>
          </a:p>
          <a:p>
            <a:r>
              <a:rPr lang="en-US" sz="1600" b="1"/>
              <a:t>basic pay,pf,lic &amp; calculate the net salary </a:t>
            </a:r>
          </a:p>
          <a:p>
            <a:r>
              <a:rPr lang="en-US" sz="1600" b="1"/>
              <a:t>#include&lt;stdio.h&gt;</a:t>
            </a:r>
            <a:endParaRPr lang="en-US" sz="1600"/>
          </a:p>
          <a:p>
            <a:r>
              <a:rPr lang="en-US" sz="1600" b="1"/>
              <a:t>void main()</a:t>
            </a:r>
            <a:endParaRPr lang="en-US" sz="1600"/>
          </a:p>
          <a:p>
            <a:r>
              <a:rPr lang="en-US" sz="1600" b="1"/>
              <a:t>{</a:t>
            </a:r>
            <a:endParaRPr lang="en-US" sz="1600"/>
          </a:p>
          <a:p>
            <a:r>
              <a:rPr lang="en-US" sz="1600" b="1"/>
              <a:t>char name[20];</a:t>
            </a:r>
            <a:endParaRPr lang="en-US" sz="1600"/>
          </a:p>
          <a:p>
            <a:r>
              <a:rPr lang="en-US" sz="1600" b="1"/>
              <a:t>int basic,pf,lic,net;</a:t>
            </a:r>
            <a:endParaRPr lang="en-US" sz="1600"/>
          </a:p>
          <a:p>
            <a:r>
              <a:rPr lang="en-US" sz="1600" b="1"/>
              <a:t>printf("\n Enter the name=");</a:t>
            </a:r>
            <a:endParaRPr lang="en-US" sz="1600"/>
          </a:p>
          <a:p>
            <a:r>
              <a:rPr lang="en-US" sz="1600" b="1"/>
              <a:t>scanf("%s",name);</a:t>
            </a:r>
            <a:endParaRPr lang="en-US" sz="1600"/>
          </a:p>
          <a:p>
            <a:r>
              <a:rPr lang="en-US" sz="1600" b="1"/>
              <a:t>printf("\n Enter Basic Bpay =");</a:t>
            </a:r>
            <a:endParaRPr lang="en-US" sz="1600"/>
          </a:p>
          <a:p>
            <a:r>
              <a:rPr lang="en-US" sz="1600" b="1"/>
              <a:t>scanf("%d",&amp;basic);</a:t>
            </a:r>
            <a:endParaRPr lang="en-US" sz="1600"/>
          </a:p>
          <a:p>
            <a:r>
              <a:rPr lang="en-US" sz="1600" b="1"/>
              <a:t>printf("\n Enter PF =");</a:t>
            </a:r>
            <a:endParaRPr lang="en-US" sz="1600"/>
          </a:p>
          <a:p>
            <a:r>
              <a:rPr lang="en-US" sz="1600" b="1"/>
              <a:t>scanf("%d",&amp;pf);</a:t>
            </a:r>
            <a:endParaRPr lang="en-US" sz="1600"/>
          </a:p>
          <a:p>
            <a:r>
              <a:rPr lang="en-US" sz="1600" b="1"/>
              <a:t>printf("\n Enter LIC =");</a:t>
            </a:r>
            <a:endParaRPr lang="en-US" sz="1600"/>
          </a:p>
          <a:p>
            <a:r>
              <a:rPr lang="en-US" sz="1600" b="1"/>
              <a:t>scanf("%d",&amp;lic);</a:t>
            </a:r>
            <a:endParaRPr lang="en-US" sz="1600"/>
          </a:p>
          <a:p>
            <a:r>
              <a:rPr lang="en-US" sz="1600" b="1"/>
              <a:t>net = basic – (pf + lic);</a:t>
            </a:r>
            <a:endParaRPr lang="en-US" sz="1600"/>
          </a:p>
          <a:p>
            <a:r>
              <a:rPr lang="en-US" sz="1600" b="1"/>
              <a:t>printf("Net Salary is = %d ",net);</a:t>
            </a:r>
            <a:endParaRPr lang="en-US" sz="1600"/>
          </a:p>
          <a:p>
            <a:r>
              <a:rPr lang="en-US" sz="1600" b="1"/>
              <a:t>}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4343400" y="-22225"/>
            <a:ext cx="4830763" cy="4746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600" b="1"/>
              <a:t>Write a program to find the greatest among two </a:t>
            </a:r>
          </a:p>
          <a:p>
            <a:r>
              <a:rPr lang="en-US" sz="1600" b="1"/>
              <a:t>numbers a,b</a:t>
            </a:r>
          </a:p>
          <a:p>
            <a:r>
              <a:rPr lang="en-US" sz="1600" b="1"/>
              <a:t>#include&lt;stdio.h&gt;</a:t>
            </a:r>
          </a:p>
          <a:p>
            <a:r>
              <a:rPr lang="en-US" sz="1600" b="1"/>
              <a:t>void main()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int a,b;</a:t>
            </a:r>
          </a:p>
          <a:p>
            <a:r>
              <a:rPr lang="en-US" sz="1600" b="1"/>
              <a:t>printf("\n Enter 2 nos.");</a:t>
            </a:r>
          </a:p>
          <a:p>
            <a:r>
              <a:rPr lang="en-US" sz="1600" b="1"/>
              <a:t>scanf("%d %d",&amp;a,&amp;b);</a:t>
            </a:r>
          </a:p>
          <a:p>
            <a:r>
              <a:rPr lang="en-US" sz="1600" b="1"/>
              <a:t>if (a&gt;b) 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printf("A is greatest %d“,a);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else 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printf(" B is greatest %d“,b);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getch();</a:t>
            </a:r>
          </a:p>
          <a:p>
            <a:r>
              <a:rPr lang="en-US" sz="1600" b="1"/>
              <a:t>}</a:t>
            </a:r>
          </a:p>
          <a:p>
            <a:pPr eaLnBrk="0" hangingPunct="0"/>
            <a:endParaRPr lang="en-US" sz="1600" b="1"/>
          </a:p>
        </p:txBody>
      </p:sp>
      <p:sp>
        <p:nvSpPr>
          <p:cNvPr id="18436" name="WordArt 4"/>
          <p:cNvSpPr>
            <a:spLocks noChangeArrowheads="1" noChangeShapeType="1" noTextEdit="1"/>
          </p:cNvSpPr>
          <p:nvPr/>
        </p:nvSpPr>
        <p:spPr bwMode="auto">
          <a:xfrm>
            <a:off x="4343400" y="4876800"/>
            <a:ext cx="17526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latin typeface="Arial Black"/>
              </a:rPr>
              <a:t>OUTPUT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5791200" y="5257800"/>
            <a:ext cx="2362200" cy="12287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000099"/>
                </a:solidFill>
              </a:rPr>
              <a:t>Enter 2 nos. =   100   </a:t>
            </a:r>
          </a:p>
          <a:p>
            <a:r>
              <a:rPr lang="en-US" b="1">
                <a:solidFill>
                  <a:srgbClr val="000099"/>
                </a:solidFill>
              </a:rPr>
              <a:t>20</a:t>
            </a:r>
          </a:p>
          <a:p>
            <a:endParaRPr lang="en-US" b="1">
              <a:solidFill>
                <a:srgbClr val="000099"/>
              </a:solidFill>
            </a:endParaRPr>
          </a:p>
          <a:p>
            <a:r>
              <a:rPr lang="en-US" b="1">
                <a:solidFill>
                  <a:srgbClr val="000099"/>
                </a:solidFill>
              </a:rPr>
              <a:t>A is greatest   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4191000" y="228600"/>
            <a:ext cx="4657725" cy="4832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400" b="1"/>
              <a:t>Write a program to check whether the given number </a:t>
            </a:r>
          </a:p>
          <a:p>
            <a:r>
              <a:rPr lang="en-US" sz="1400" b="1"/>
              <a:t>is positive or negative. </a:t>
            </a:r>
            <a:endParaRPr lang="en-US" sz="1400"/>
          </a:p>
          <a:p>
            <a:r>
              <a:rPr lang="en-US" sz="1400" b="1"/>
              <a:t>#include&lt;stdio.h&gt;</a:t>
            </a:r>
            <a:endParaRPr lang="en-US" sz="1400"/>
          </a:p>
          <a:p>
            <a:r>
              <a:rPr lang="en-US" sz="1400" b="1"/>
              <a:t>void main()</a:t>
            </a:r>
            <a:endParaRPr lang="en-US" sz="1400"/>
          </a:p>
          <a:p>
            <a:r>
              <a:rPr lang="en-US" sz="1400" b="1"/>
              <a:t>{</a:t>
            </a:r>
            <a:endParaRPr lang="en-US" sz="1400"/>
          </a:p>
          <a:p>
            <a:r>
              <a:rPr lang="en-US" sz="1400" b="1"/>
              <a:t>int a;</a:t>
            </a:r>
            <a:endParaRPr lang="en-US" sz="1400"/>
          </a:p>
          <a:p>
            <a:r>
              <a:rPr lang="en-US" sz="1400" b="1"/>
              <a:t>printf("Enter the number=");</a:t>
            </a:r>
            <a:endParaRPr lang="en-US" sz="1400"/>
          </a:p>
          <a:p>
            <a:r>
              <a:rPr lang="en-US" sz="1400" b="1"/>
              <a:t>scanf("%d",&amp;a);</a:t>
            </a:r>
            <a:endParaRPr lang="en-US" sz="1400"/>
          </a:p>
          <a:p>
            <a:r>
              <a:rPr lang="en-US" sz="1400" b="1"/>
              <a:t>if (a&gt;0)</a:t>
            </a:r>
          </a:p>
          <a:p>
            <a:r>
              <a:rPr lang="en-US" sz="1400" b="1"/>
              <a:t>{</a:t>
            </a:r>
            <a:endParaRPr lang="en-US" sz="1400"/>
          </a:p>
          <a:p>
            <a:r>
              <a:rPr lang="en-US" sz="1400" b="1"/>
              <a:t>printf( "Given number is positive %d“,a);</a:t>
            </a:r>
          </a:p>
          <a:p>
            <a:r>
              <a:rPr lang="en-US" sz="1400" b="1"/>
              <a:t>}</a:t>
            </a:r>
            <a:endParaRPr lang="en-US" sz="1400"/>
          </a:p>
          <a:p>
            <a:r>
              <a:rPr lang="en-US" sz="1400" b="1"/>
              <a:t>else if(a&lt;0)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printf("Given number is negative %d“,a);</a:t>
            </a:r>
            <a:endParaRPr lang="en-US" sz="1400"/>
          </a:p>
          <a:p>
            <a:r>
              <a:rPr lang="en-US" sz="1400" b="1"/>
              <a:t>}</a:t>
            </a:r>
          </a:p>
          <a:p>
            <a:r>
              <a:rPr lang="en-US" sz="1400" b="1"/>
              <a:t>else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printf("Given number is Zero %d“,a);</a:t>
            </a:r>
          </a:p>
          <a:p>
            <a:r>
              <a:rPr lang="en-US" sz="1400" b="1"/>
              <a:t>}</a:t>
            </a:r>
            <a:endParaRPr lang="en-US" sz="1400"/>
          </a:p>
          <a:p>
            <a:r>
              <a:rPr lang="en-US" sz="1400" b="1"/>
              <a:t>}</a:t>
            </a:r>
          </a:p>
          <a:p>
            <a:endParaRPr lang="en-US" sz="1400" b="1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152400" y="61913"/>
            <a:ext cx="3511550" cy="5048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400" b="1"/>
              <a:t>Write a program to find the greatest of  </a:t>
            </a:r>
          </a:p>
          <a:p>
            <a:r>
              <a:rPr lang="en-US" sz="1400" b="1"/>
              <a:t>Three numbers</a:t>
            </a:r>
          </a:p>
          <a:p>
            <a:r>
              <a:rPr lang="en-US" sz="1400" b="1"/>
              <a:t>#include&lt;stdio.h&gt;</a:t>
            </a:r>
          </a:p>
          <a:p>
            <a:r>
              <a:rPr lang="en-US" sz="1400" b="1"/>
              <a:t>void main()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int a,b,c;</a:t>
            </a:r>
          </a:p>
          <a:p>
            <a:r>
              <a:rPr lang="en-US" sz="1400" b="1"/>
              <a:t>printf("\n Enter 3 nos. =");</a:t>
            </a:r>
          </a:p>
          <a:p>
            <a:r>
              <a:rPr lang="en-US" sz="1400" b="1"/>
              <a:t>scanf("%d %d %d",&amp;a,&amp;b,&amp;c);</a:t>
            </a:r>
          </a:p>
          <a:p>
            <a:r>
              <a:rPr lang="en-US" sz="1400" b="1"/>
              <a:t>if ((a&gt;b) &amp;&amp; (a&gt;c))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printf("A is greatest %d“,a);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elseif (b&gt;c)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printf(" B is greatest %d“,b);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else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printf("C is greatest %d“,c);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getch();</a:t>
            </a:r>
          </a:p>
          <a:p>
            <a:r>
              <a:rPr lang="en-US" sz="1400" b="1"/>
              <a:t>}</a:t>
            </a:r>
          </a:p>
          <a:p>
            <a:pPr eaLnBrk="0" hangingPunct="0"/>
            <a:endParaRPr lang="en-US" sz="1400" b="1"/>
          </a:p>
        </p:txBody>
      </p:sp>
      <p:sp>
        <p:nvSpPr>
          <p:cNvPr id="19460" name="WordArt 4"/>
          <p:cNvSpPr>
            <a:spLocks noChangeArrowheads="1" noChangeShapeType="1" noTextEdit="1"/>
          </p:cNvSpPr>
          <p:nvPr/>
        </p:nvSpPr>
        <p:spPr bwMode="auto">
          <a:xfrm>
            <a:off x="4876800" y="5365750"/>
            <a:ext cx="17526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latin typeface="Arial Black"/>
              </a:rPr>
              <a:t>OUTPUT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4876800" y="5791200"/>
            <a:ext cx="3505200" cy="6794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000099"/>
                </a:solidFill>
              </a:rPr>
              <a:t>Enter the number =   10</a:t>
            </a:r>
          </a:p>
          <a:p>
            <a:r>
              <a:rPr lang="en-US" b="1">
                <a:solidFill>
                  <a:srgbClr val="000099"/>
                </a:solidFill>
              </a:rPr>
              <a:t>The Given Number is positive</a:t>
            </a:r>
          </a:p>
        </p:txBody>
      </p:sp>
      <p:sp>
        <p:nvSpPr>
          <p:cNvPr id="19462" name="WordArt 6"/>
          <p:cNvSpPr>
            <a:spLocks noChangeArrowheads="1" noChangeShapeType="1" noTextEdit="1"/>
          </p:cNvSpPr>
          <p:nvPr/>
        </p:nvSpPr>
        <p:spPr bwMode="auto">
          <a:xfrm>
            <a:off x="228600" y="5181600"/>
            <a:ext cx="17526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latin typeface="Arial Black"/>
              </a:rPr>
              <a:t>OUTPUT</a:t>
            </a: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1371600" y="5562600"/>
            <a:ext cx="2362200" cy="12287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Enter 3 nos. =   10   </a:t>
            </a:r>
          </a:p>
          <a:p>
            <a:r>
              <a:rPr lang="en-US" b="1">
                <a:solidFill>
                  <a:schemeClr val="bg1"/>
                </a:solidFill>
              </a:rPr>
              <a:t>20</a:t>
            </a:r>
          </a:p>
          <a:p>
            <a:r>
              <a:rPr lang="en-US" b="1">
                <a:solidFill>
                  <a:schemeClr val="bg1"/>
                </a:solidFill>
              </a:rPr>
              <a:t>5</a:t>
            </a:r>
          </a:p>
          <a:p>
            <a:r>
              <a:rPr lang="en-US" b="1">
                <a:solidFill>
                  <a:schemeClr val="bg1"/>
                </a:solidFill>
              </a:rPr>
              <a:t>B is greatest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122238"/>
            <a:ext cx="3429000" cy="4502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600" b="1"/>
              <a:t>Write a progrm input the given year is LEAP YEAR or Not</a:t>
            </a:r>
            <a:endParaRPr lang="en-US" sz="1600"/>
          </a:p>
          <a:p>
            <a:r>
              <a:rPr lang="en-US" sz="1600" b="1"/>
              <a:t>#include&lt;stdio.h&gt;</a:t>
            </a:r>
            <a:endParaRPr lang="en-US" sz="1600"/>
          </a:p>
          <a:p>
            <a:r>
              <a:rPr lang="en-US" sz="1600" b="1"/>
              <a:t>void main()</a:t>
            </a:r>
            <a:endParaRPr lang="en-US" sz="1600"/>
          </a:p>
          <a:p>
            <a:r>
              <a:rPr lang="en-US" sz="1600" b="1"/>
              <a:t>{</a:t>
            </a:r>
            <a:endParaRPr lang="en-US" sz="1600"/>
          </a:p>
          <a:p>
            <a:r>
              <a:rPr lang="en-US" sz="1600" b="1"/>
              <a:t>int year;</a:t>
            </a:r>
            <a:endParaRPr lang="en-US" sz="1600"/>
          </a:p>
          <a:p>
            <a:r>
              <a:rPr lang="en-US" sz="1600" b="1"/>
              <a:t>printf("Enter the year =\n");</a:t>
            </a:r>
            <a:endParaRPr lang="en-US" sz="1600"/>
          </a:p>
          <a:p>
            <a:r>
              <a:rPr lang="en-US" sz="1600" b="1"/>
              <a:t>scanf("%d",&amp;year);</a:t>
            </a:r>
            <a:endParaRPr lang="en-US" sz="1600"/>
          </a:p>
          <a:p>
            <a:r>
              <a:rPr lang="en-US" sz="1600" b="1"/>
              <a:t>if ((year%4)==0)</a:t>
            </a:r>
            <a:endParaRPr lang="en-US" sz="1600"/>
          </a:p>
          <a:p>
            <a:r>
              <a:rPr lang="en-US" sz="1600" b="1"/>
              <a:t>{</a:t>
            </a:r>
            <a:endParaRPr lang="en-US" sz="1600"/>
          </a:p>
          <a:p>
            <a:r>
              <a:rPr lang="en-US" sz="1600" b="1"/>
              <a:t>printf("\n It is a leap year");</a:t>
            </a:r>
            <a:endParaRPr lang="en-US" sz="1600"/>
          </a:p>
          <a:p>
            <a:r>
              <a:rPr lang="en-US" sz="1600" b="1"/>
              <a:t>}</a:t>
            </a:r>
            <a:endParaRPr lang="en-US" sz="1600"/>
          </a:p>
          <a:p>
            <a:r>
              <a:rPr lang="en-US" sz="1600" b="1"/>
              <a:t>else</a:t>
            </a:r>
            <a:endParaRPr lang="en-US" sz="1600"/>
          </a:p>
          <a:p>
            <a:r>
              <a:rPr lang="en-US" sz="1600" b="1"/>
              <a:t>{</a:t>
            </a:r>
            <a:endParaRPr lang="en-US" sz="1600"/>
          </a:p>
          <a:p>
            <a:r>
              <a:rPr lang="en-US" sz="1600" b="1"/>
              <a:t>printf("\n It is not a leap year");</a:t>
            </a:r>
            <a:endParaRPr lang="en-US" sz="1600"/>
          </a:p>
          <a:p>
            <a:r>
              <a:rPr lang="en-US" sz="1600" b="1"/>
              <a:t>}</a:t>
            </a:r>
            <a:endParaRPr lang="en-US" sz="1600"/>
          </a:p>
          <a:p>
            <a:r>
              <a:rPr lang="en-US" sz="1600" b="1"/>
              <a:t>getch();</a:t>
            </a:r>
            <a:endParaRPr lang="en-US" sz="1600"/>
          </a:p>
          <a:p>
            <a:r>
              <a:rPr lang="en-US" sz="1600" b="1"/>
              <a:t>}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3429000" y="-6350"/>
            <a:ext cx="5715000" cy="4502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600" b="1"/>
              <a:t>Write a progrm input the given Number id Odd or Even Number</a:t>
            </a:r>
            <a:endParaRPr lang="en-US" sz="1600"/>
          </a:p>
          <a:p>
            <a:r>
              <a:rPr lang="en-US" sz="1600" b="1"/>
              <a:t>#include&lt;stdio.h&gt;</a:t>
            </a:r>
            <a:endParaRPr lang="en-US" sz="1600"/>
          </a:p>
          <a:p>
            <a:r>
              <a:rPr lang="en-US" sz="1600" b="1"/>
              <a:t>void main()</a:t>
            </a:r>
            <a:endParaRPr lang="en-US" sz="1600"/>
          </a:p>
          <a:p>
            <a:r>
              <a:rPr lang="en-US" sz="1600" b="1"/>
              <a:t>{</a:t>
            </a:r>
            <a:endParaRPr lang="en-US" sz="1600"/>
          </a:p>
          <a:p>
            <a:r>
              <a:rPr lang="en-US" sz="1600" b="1"/>
              <a:t>int no;</a:t>
            </a:r>
            <a:endParaRPr lang="en-US" sz="1600"/>
          </a:p>
          <a:p>
            <a:r>
              <a:rPr lang="en-US" sz="1600" b="1"/>
              <a:t>printf("Enter the Number =\n");</a:t>
            </a:r>
            <a:endParaRPr lang="en-US" sz="1600"/>
          </a:p>
          <a:p>
            <a:r>
              <a:rPr lang="en-US" sz="1600" b="1"/>
              <a:t>scanf("%d",&amp;no);</a:t>
            </a:r>
            <a:endParaRPr lang="en-US" sz="1600"/>
          </a:p>
          <a:p>
            <a:r>
              <a:rPr lang="en-US" sz="1600" b="1"/>
              <a:t>if ((no%2)==0)</a:t>
            </a:r>
            <a:endParaRPr lang="en-US" sz="1600"/>
          </a:p>
          <a:p>
            <a:r>
              <a:rPr lang="en-US" sz="1600" b="1"/>
              <a:t>{</a:t>
            </a:r>
            <a:endParaRPr lang="en-US" sz="1600"/>
          </a:p>
          <a:p>
            <a:r>
              <a:rPr lang="en-US" sz="1600" b="1"/>
              <a:t>printf("\n The Number is Even Number %d“,no);</a:t>
            </a:r>
            <a:endParaRPr lang="en-US" sz="1600"/>
          </a:p>
          <a:p>
            <a:r>
              <a:rPr lang="en-US" sz="1600" b="1"/>
              <a:t>}</a:t>
            </a:r>
            <a:endParaRPr lang="en-US" sz="1600"/>
          </a:p>
          <a:p>
            <a:r>
              <a:rPr lang="en-US" sz="1600" b="1"/>
              <a:t>else</a:t>
            </a:r>
            <a:endParaRPr lang="en-US" sz="1600"/>
          </a:p>
          <a:p>
            <a:r>
              <a:rPr lang="en-US" sz="1600" b="1"/>
              <a:t>{</a:t>
            </a:r>
            <a:endParaRPr lang="en-US" sz="1600"/>
          </a:p>
          <a:p>
            <a:r>
              <a:rPr lang="en-US" sz="1600" b="1"/>
              <a:t>printf("\n The Number is Odd Number %d“,no);</a:t>
            </a:r>
            <a:endParaRPr lang="en-US" sz="1600"/>
          </a:p>
          <a:p>
            <a:r>
              <a:rPr lang="en-US" sz="1600" b="1"/>
              <a:t>}</a:t>
            </a:r>
            <a:endParaRPr lang="en-US" sz="1600"/>
          </a:p>
          <a:p>
            <a:r>
              <a:rPr lang="en-US" sz="1600" b="1"/>
              <a:t>getch();</a:t>
            </a:r>
            <a:endParaRPr lang="en-US" sz="1600"/>
          </a:p>
          <a:p>
            <a:r>
              <a:rPr lang="en-US" sz="1600" b="1"/>
              <a:t>}</a:t>
            </a:r>
          </a:p>
        </p:txBody>
      </p:sp>
      <p:sp>
        <p:nvSpPr>
          <p:cNvPr id="20484" name="WordArt 4"/>
          <p:cNvSpPr>
            <a:spLocks noChangeArrowheads="1" noChangeShapeType="1" noTextEdit="1"/>
          </p:cNvSpPr>
          <p:nvPr/>
        </p:nvSpPr>
        <p:spPr bwMode="auto">
          <a:xfrm>
            <a:off x="4114800" y="4572000"/>
            <a:ext cx="17526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latin typeface="Arial Black"/>
              </a:rPr>
              <a:t>OUTPUT</a:t>
            </a: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4114800" y="4997450"/>
            <a:ext cx="4267200" cy="6794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000099"/>
                </a:solidFill>
              </a:rPr>
              <a:t>Enter the number =   12</a:t>
            </a:r>
          </a:p>
          <a:p>
            <a:r>
              <a:rPr lang="en-US" b="1">
                <a:solidFill>
                  <a:srgbClr val="000099"/>
                </a:solidFill>
              </a:rPr>
              <a:t>The Number is Even Number 12</a:t>
            </a:r>
          </a:p>
        </p:txBody>
      </p:sp>
      <p:sp>
        <p:nvSpPr>
          <p:cNvPr id="20486" name="WordArt 6"/>
          <p:cNvSpPr>
            <a:spLocks noChangeArrowheads="1" noChangeShapeType="1" noTextEdit="1"/>
          </p:cNvSpPr>
          <p:nvPr/>
        </p:nvSpPr>
        <p:spPr bwMode="auto">
          <a:xfrm>
            <a:off x="304800" y="4832350"/>
            <a:ext cx="17526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latin typeface="Arial Black"/>
              </a:rPr>
              <a:t>OUTPUT</a:t>
            </a: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685800" y="5187950"/>
            <a:ext cx="2590800" cy="6794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Enter the Year 2000</a:t>
            </a:r>
          </a:p>
          <a:p>
            <a:r>
              <a:rPr lang="en-US" b="1">
                <a:solidFill>
                  <a:schemeClr val="bg1"/>
                </a:solidFill>
              </a:rPr>
              <a:t>It is a leap year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19050"/>
            <a:ext cx="4267200" cy="4502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1600" b="1"/>
              <a:t>Write a program to print the FIBONACCI SERIES upto N Numbers</a:t>
            </a:r>
          </a:p>
          <a:p>
            <a:r>
              <a:rPr lang="en-US" sz="1600" b="1"/>
              <a:t>#include&lt;stdio.h&gt;</a:t>
            </a:r>
            <a:endParaRPr lang="en-US" sz="1600"/>
          </a:p>
          <a:p>
            <a:r>
              <a:rPr lang="en-US" sz="1600" b="1"/>
              <a:t>void main()</a:t>
            </a:r>
            <a:endParaRPr lang="en-US" sz="1600"/>
          </a:p>
          <a:p>
            <a:r>
              <a:rPr lang="en-US" sz="1600" b="1"/>
              <a:t>{</a:t>
            </a:r>
            <a:endParaRPr lang="en-US" sz="1600"/>
          </a:p>
          <a:p>
            <a:r>
              <a:rPr lang="en-US" sz="1600" b="1"/>
              <a:t>int n,i,f1,f2,f3;</a:t>
            </a:r>
            <a:endParaRPr lang="en-US" sz="1600"/>
          </a:p>
          <a:p>
            <a:r>
              <a:rPr lang="en-US" sz="1600" b="1"/>
              <a:t>printf("enter the number = ");</a:t>
            </a:r>
            <a:endParaRPr lang="en-US" sz="1600"/>
          </a:p>
          <a:p>
            <a:r>
              <a:rPr lang="en-US" sz="1600" b="1"/>
              <a:t>scanf("%d",&amp;n);</a:t>
            </a:r>
            <a:endParaRPr lang="en-US" sz="1600"/>
          </a:p>
          <a:p>
            <a:r>
              <a:rPr lang="en-US" sz="1600" b="1"/>
              <a:t>f1=-1;</a:t>
            </a:r>
            <a:endParaRPr lang="en-US" sz="1600"/>
          </a:p>
          <a:p>
            <a:r>
              <a:rPr lang="en-US" sz="1600" b="1"/>
              <a:t>f2=1;</a:t>
            </a:r>
            <a:endParaRPr lang="en-US" sz="1600"/>
          </a:p>
          <a:p>
            <a:r>
              <a:rPr lang="en-US" sz="1600" b="1"/>
              <a:t>for(i=0;i&lt;=n;i++)</a:t>
            </a:r>
            <a:endParaRPr lang="en-US" sz="1600"/>
          </a:p>
          <a:p>
            <a:r>
              <a:rPr lang="en-US" sz="1600" b="1"/>
              <a:t>{</a:t>
            </a:r>
            <a:endParaRPr lang="en-US" sz="1600"/>
          </a:p>
          <a:p>
            <a:r>
              <a:rPr lang="en-US" sz="1600" b="1"/>
              <a:t>f3=f1+f2;</a:t>
            </a:r>
            <a:endParaRPr lang="en-US" sz="1600"/>
          </a:p>
          <a:p>
            <a:r>
              <a:rPr lang="en-US" sz="1600" b="1"/>
              <a:t>printf("%d\n",f3);</a:t>
            </a:r>
            <a:endParaRPr lang="en-US" sz="1600"/>
          </a:p>
          <a:p>
            <a:r>
              <a:rPr lang="en-US" sz="1600" b="1"/>
              <a:t>f1=f2;</a:t>
            </a:r>
            <a:endParaRPr lang="en-US" sz="1600"/>
          </a:p>
          <a:p>
            <a:r>
              <a:rPr lang="en-US" sz="1600" b="1"/>
              <a:t>f2=f3;</a:t>
            </a:r>
            <a:endParaRPr lang="en-US" sz="1600"/>
          </a:p>
          <a:p>
            <a:r>
              <a:rPr lang="en-US" sz="1600" b="1"/>
              <a:t>}</a:t>
            </a:r>
            <a:endParaRPr lang="en-US" sz="1600"/>
          </a:p>
          <a:p>
            <a:r>
              <a:rPr lang="en-US" sz="1600" b="1"/>
              <a:t>}</a:t>
            </a:r>
            <a:endParaRPr lang="en-US" sz="1600"/>
          </a:p>
        </p:txBody>
      </p:sp>
      <p:sp>
        <p:nvSpPr>
          <p:cNvPr id="21507" name="AutoShape 3"/>
          <p:cNvSpPr>
            <a:spLocks noChangeArrowheads="1"/>
          </p:cNvSpPr>
          <p:nvPr/>
        </p:nvSpPr>
        <p:spPr bwMode="auto">
          <a:xfrm>
            <a:off x="838200" y="5029200"/>
            <a:ext cx="2667000" cy="1981200"/>
          </a:xfrm>
          <a:prstGeom prst="irregularSeal2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21508" name="WordArt 4"/>
          <p:cNvSpPr>
            <a:spLocks noChangeArrowheads="1" noChangeShapeType="1" noTextEdit="1"/>
          </p:cNvSpPr>
          <p:nvPr/>
        </p:nvSpPr>
        <p:spPr bwMode="auto">
          <a:xfrm>
            <a:off x="152400" y="4572000"/>
            <a:ext cx="17526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latin typeface="Arial Black"/>
              </a:rPr>
              <a:t>OUTPUT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1905000" y="5334000"/>
            <a:ext cx="609600" cy="1360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45000"/>
              </a:lnSpc>
              <a:spcBef>
                <a:spcPct val="50000"/>
              </a:spcBef>
            </a:pPr>
            <a:r>
              <a:rPr lang="en-US" sz="1600" b="1"/>
              <a:t>0</a:t>
            </a:r>
          </a:p>
          <a:p>
            <a:pPr>
              <a:lnSpc>
                <a:spcPct val="45000"/>
              </a:lnSpc>
              <a:spcBef>
                <a:spcPct val="50000"/>
              </a:spcBef>
            </a:pPr>
            <a:r>
              <a:rPr lang="en-US" sz="1600" b="1"/>
              <a:t>1</a:t>
            </a:r>
          </a:p>
          <a:p>
            <a:pPr>
              <a:lnSpc>
                <a:spcPct val="45000"/>
              </a:lnSpc>
              <a:spcBef>
                <a:spcPct val="50000"/>
              </a:spcBef>
            </a:pPr>
            <a:r>
              <a:rPr lang="en-US" sz="1600" b="1"/>
              <a:t>1</a:t>
            </a:r>
          </a:p>
          <a:p>
            <a:pPr>
              <a:lnSpc>
                <a:spcPct val="45000"/>
              </a:lnSpc>
              <a:spcBef>
                <a:spcPct val="50000"/>
              </a:spcBef>
            </a:pPr>
            <a:r>
              <a:rPr lang="en-US" sz="1600" b="1"/>
              <a:t>2</a:t>
            </a:r>
          </a:p>
          <a:p>
            <a:pPr>
              <a:lnSpc>
                <a:spcPct val="45000"/>
              </a:lnSpc>
              <a:spcBef>
                <a:spcPct val="50000"/>
              </a:spcBef>
            </a:pPr>
            <a:r>
              <a:rPr lang="en-US" sz="1600" b="1"/>
              <a:t>3</a:t>
            </a:r>
          </a:p>
          <a:p>
            <a:pPr>
              <a:lnSpc>
                <a:spcPct val="45000"/>
              </a:lnSpc>
              <a:spcBef>
                <a:spcPct val="50000"/>
              </a:spcBef>
            </a:pPr>
            <a:r>
              <a:rPr lang="en-US" sz="1600" b="1"/>
              <a:t>5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228600" y="4814888"/>
            <a:ext cx="3200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Enter the number =   5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4800600" y="1588"/>
            <a:ext cx="4343400" cy="40370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2400" b="1"/>
              <a:t>PASCAL TRIANGLE</a:t>
            </a:r>
            <a:r>
              <a:rPr lang="en-US" sz="2400"/>
              <a:t> </a:t>
            </a:r>
          </a:p>
          <a:p>
            <a:r>
              <a:rPr lang="en-US" b="1"/>
              <a:t>#include&lt;stdio.h&gt;</a:t>
            </a:r>
            <a:endParaRPr lang="en-US"/>
          </a:p>
          <a:p>
            <a:r>
              <a:rPr lang="en-US" b="1"/>
              <a:t>void main()</a:t>
            </a:r>
            <a:endParaRPr lang="en-US"/>
          </a:p>
          <a:p>
            <a:r>
              <a:rPr lang="en-US" b="1"/>
              <a:t>{</a:t>
            </a:r>
            <a:endParaRPr lang="en-US"/>
          </a:p>
          <a:p>
            <a:r>
              <a:rPr lang="en-US" b="1"/>
              <a:t>int i,j;</a:t>
            </a:r>
            <a:endParaRPr lang="en-US"/>
          </a:p>
          <a:p>
            <a:r>
              <a:rPr lang="en-US" b="1"/>
              <a:t>clrscr();</a:t>
            </a:r>
            <a:endParaRPr lang="en-US"/>
          </a:p>
          <a:p>
            <a:r>
              <a:rPr lang="en-US" b="1"/>
              <a:t>for(i=1;i&lt;=5;i++)</a:t>
            </a:r>
            <a:endParaRPr lang="en-US"/>
          </a:p>
          <a:p>
            <a:r>
              <a:rPr lang="en-US" b="1"/>
              <a:t>{</a:t>
            </a:r>
            <a:endParaRPr lang="en-US"/>
          </a:p>
          <a:p>
            <a:r>
              <a:rPr lang="en-US" b="1"/>
              <a:t>for(j=1;j&lt;=i;j++)</a:t>
            </a:r>
            <a:endParaRPr lang="en-US"/>
          </a:p>
          <a:p>
            <a:r>
              <a:rPr lang="en-US" b="1"/>
              <a:t>{</a:t>
            </a:r>
            <a:endParaRPr lang="en-US"/>
          </a:p>
          <a:p>
            <a:r>
              <a:rPr lang="en-US" b="1"/>
              <a:t>printf("%d\t",i);</a:t>
            </a:r>
            <a:endParaRPr lang="en-US"/>
          </a:p>
          <a:p>
            <a:r>
              <a:rPr lang="en-US" b="1"/>
              <a:t>}</a:t>
            </a:r>
            <a:endParaRPr lang="en-US"/>
          </a:p>
          <a:p>
            <a:r>
              <a:rPr lang="en-US" b="1"/>
              <a:t>printf("\n");</a:t>
            </a:r>
            <a:endParaRPr lang="en-US"/>
          </a:p>
          <a:p>
            <a:r>
              <a:rPr lang="en-US" b="1"/>
              <a:t>}</a:t>
            </a:r>
          </a:p>
        </p:txBody>
      </p:sp>
      <p:sp>
        <p:nvSpPr>
          <p:cNvPr id="21512" name="Text Box 8"/>
          <p:cNvSpPr txBox="1">
            <a:spLocks noChangeArrowheads="1"/>
          </p:cNvSpPr>
          <p:nvPr/>
        </p:nvSpPr>
        <p:spPr bwMode="auto">
          <a:xfrm>
            <a:off x="4953000" y="4168775"/>
            <a:ext cx="3352800" cy="246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u="sng"/>
              <a:t>Output</a:t>
            </a:r>
          </a:p>
          <a:p>
            <a:pPr>
              <a:spcBef>
                <a:spcPct val="50000"/>
              </a:spcBef>
            </a:pPr>
            <a:r>
              <a:rPr lang="en-US" b="1"/>
              <a:t>1</a:t>
            </a:r>
          </a:p>
          <a:p>
            <a:pPr>
              <a:spcBef>
                <a:spcPct val="50000"/>
              </a:spcBef>
            </a:pPr>
            <a:r>
              <a:rPr lang="en-US" b="1"/>
              <a:t>2 2</a:t>
            </a:r>
          </a:p>
          <a:p>
            <a:pPr>
              <a:spcBef>
                <a:spcPct val="50000"/>
              </a:spcBef>
            </a:pPr>
            <a:r>
              <a:rPr lang="en-US" b="1"/>
              <a:t>3 3 3</a:t>
            </a:r>
          </a:p>
          <a:p>
            <a:pPr>
              <a:spcBef>
                <a:spcPct val="50000"/>
              </a:spcBef>
            </a:pPr>
            <a:r>
              <a:rPr lang="en-US" b="1"/>
              <a:t>4 4 4 4</a:t>
            </a:r>
          </a:p>
          <a:p>
            <a:pPr>
              <a:spcBef>
                <a:spcPct val="50000"/>
              </a:spcBef>
            </a:pPr>
            <a:r>
              <a:rPr lang="en-US" b="1"/>
              <a:t>5 5 5 5 5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381000" y="360363"/>
            <a:ext cx="4038600" cy="31416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b="1"/>
              <a:t>PASCAL TRIANGLE</a:t>
            </a:r>
            <a:r>
              <a:rPr lang="en-US"/>
              <a:t> </a:t>
            </a:r>
          </a:p>
          <a:p>
            <a:r>
              <a:rPr lang="en-US" sz="1400" b="1"/>
              <a:t>#include&lt;stdio.h&gt;</a:t>
            </a:r>
            <a:endParaRPr lang="en-US" sz="1400"/>
          </a:p>
          <a:p>
            <a:r>
              <a:rPr lang="en-US" sz="1400" b="1"/>
              <a:t>void main()</a:t>
            </a:r>
            <a:endParaRPr lang="en-US" sz="1400"/>
          </a:p>
          <a:p>
            <a:r>
              <a:rPr lang="en-US" sz="1400" b="1"/>
              <a:t>{</a:t>
            </a:r>
            <a:endParaRPr lang="en-US" sz="1400"/>
          </a:p>
          <a:p>
            <a:r>
              <a:rPr lang="en-US" sz="1400" b="1"/>
              <a:t>int i,j;</a:t>
            </a:r>
            <a:endParaRPr lang="en-US" sz="1400"/>
          </a:p>
          <a:p>
            <a:r>
              <a:rPr lang="en-US" sz="1400" b="1"/>
              <a:t>clrscr();</a:t>
            </a:r>
            <a:endParaRPr lang="en-US" sz="1400"/>
          </a:p>
          <a:p>
            <a:r>
              <a:rPr lang="en-US" sz="1400" b="1"/>
              <a:t>for(i=1;i&lt;=5;i++)</a:t>
            </a:r>
            <a:endParaRPr lang="en-US" sz="1400"/>
          </a:p>
          <a:p>
            <a:r>
              <a:rPr lang="en-US" sz="1400" b="1"/>
              <a:t>{</a:t>
            </a:r>
            <a:endParaRPr lang="en-US" sz="1400"/>
          </a:p>
          <a:p>
            <a:r>
              <a:rPr lang="en-US" sz="1400" b="1"/>
              <a:t>for(j=1;j&lt;=i;j++)</a:t>
            </a:r>
            <a:endParaRPr lang="en-US" sz="1400"/>
          </a:p>
          <a:p>
            <a:r>
              <a:rPr lang="en-US" sz="1400" b="1"/>
              <a:t>{</a:t>
            </a:r>
            <a:endParaRPr lang="en-US" sz="1400"/>
          </a:p>
          <a:p>
            <a:r>
              <a:rPr lang="en-US" sz="1400" b="1"/>
              <a:t>printf("%d\t",j);</a:t>
            </a:r>
            <a:endParaRPr lang="en-US" sz="1400"/>
          </a:p>
          <a:p>
            <a:r>
              <a:rPr lang="en-US" sz="1400" b="1"/>
              <a:t>}</a:t>
            </a:r>
            <a:endParaRPr lang="en-US" sz="1400"/>
          </a:p>
          <a:p>
            <a:r>
              <a:rPr lang="en-US" sz="1400" b="1"/>
              <a:t>printf("\n");</a:t>
            </a:r>
            <a:endParaRPr lang="en-US" sz="1400"/>
          </a:p>
          <a:p>
            <a:r>
              <a:rPr lang="en-US" sz="1400" b="1"/>
              <a:t>}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1600200" y="3787775"/>
            <a:ext cx="2133600" cy="246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u="sng"/>
              <a:t>Output</a:t>
            </a:r>
          </a:p>
          <a:p>
            <a:pPr>
              <a:spcBef>
                <a:spcPct val="50000"/>
              </a:spcBef>
            </a:pPr>
            <a:r>
              <a:rPr lang="en-US" b="1"/>
              <a:t>1</a:t>
            </a:r>
          </a:p>
          <a:p>
            <a:pPr>
              <a:spcBef>
                <a:spcPct val="50000"/>
              </a:spcBef>
            </a:pPr>
            <a:r>
              <a:rPr lang="en-US" b="1"/>
              <a:t>1 2</a:t>
            </a:r>
          </a:p>
          <a:p>
            <a:pPr>
              <a:spcBef>
                <a:spcPct val="50000"/>
              </a:spcBef>
            </a:pPr>
            <a:r>
              <a:rPr lang="en-US" b="1"/>
              <a:t>1 2 3</a:t>
            </a:r>
          </a:p>
          <a:p>
            <a:pPr>
              <a:spcBef>
                <a:spcPct val="50000"/>
              </a:spcBef>
            </a:pPr>
            <a:r>
              <a:rPr lang="en-US" b="1"/>
              <a:t>1 2 3 4</a:t>
            </a:r>
          </a:p>
          <a:p>
            <a:pPr>
              <a:spcBef>
                <a:spcPct val="50000"/>
              </a:spcBef>
            </a:pPr>
            <a:r>
              <a:rPr lang="en-US" b="1"/>
              <a:t>1 2 3 4 5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800600" y="274638"/>
            <a:ext cx="4038600" cy="33543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b="1"/>
              <a:t>PASCAL TRIANGLE</a:t>
            </a:r>
            <a:r>
              <a:rPr lang="en-US"/>
              <a:t> </a:t>
            </a:r>
          </a:p>
          <a:p>
            <a:r>
              <a:rPr lang="en-US" sz="1400" b="1"/>
              <a:t>#include&lt;stdio.h&gt;</a:t>
            </a:r>
            <a:endParaRPr lang="en-US" sz="1400"/>
          </a:p>
          <a:p>
            <a:r>
              <a:rPr lang="en-US" sz="1400" b="1"/>
              <a:t>void main()</a:t>
            </a:r>
            <a:endParaRPr lang="en-US" sz="1400"/>
          </a:p>
          <a:p>
            <a:r>
              <a:rPr lang="en-US" sz="1400" b="1"/>
              <a:t>{</a:t>
            </a:r>
            <a:endParaRPr lang="en-US" sz="1400"/>
          </a:p>
          <a:p>
            <a:r>
              <a:rPr lang="en-US" sz="1400" b="1"/>
              <a:t>int i,j,c=1;</a:t>
            </a:r>
            <a:endParaRPr lang="en-US" sz="1400"/>
          </a:p>
          <a:p>
            <a:r>
              <a:rPr lang="en-US" sz="1400" b="1"/>
              <a:t>clrscr();</a:t>
            </a:r>
            <a:endParaRPr lang="en-US" sz="1400"/>
          </a:p>
          <a:p>
            <a:r>
              <a:rPr lang="en-US" sz="1400" b="1"/>
              <a:t>for(i=1;i&lt;=5;i++)</a:t>
            </a:r>
            <a:endParaRPr lang="en-US" sz="1400"/>
          </a:p>
          <a:p>
            <a:r>
              <a:rPr lang="en-US" sz="1400" b="1"/>
              <a:t>{</a:t>
            </a:r>
            <a:endParaRPr lang="en-US" sz="1400"/>
          </a:p>
          <a:p>
            <a:r>
              <a:rPr lang="en-US" sz="1400" b="1"/>
              <a:t>for(j=1;j&lt;=i;j++)</a:t>
            </a:r>
            <a:endParaRPr lang="en-US" sz="1400"/>
          </a:p>
          <a:p>
            <a:r>
              <a:rPr lang="en-US" sz="1400" b="1"/>
              <a:t>{</a:t>
            </a:r>
            <a:endParaRPr lang="en-US" sz="1400"/>
          </a:p>
          <a:p>
            <a:r>
              <a:rPr lang="en-US" sz="1400" b="1"/>
              <a:t>printf("%d\t",c);</a:t>
            </a:r>
          </a:p>
          <a:p>
            <a:r>
              <a:rPr lang="en-US" sz="1400" b="1"/>
              <a:t>c++;</a:t>
            </a:r>
            <a:endParaRPr lang="en-US" sz="1400"/>
          </a:p>
          <a:p>
            <a:r>
              <a:rPr lang="en-US" sz="1400" b="1"/>
              <a:t>}</a:t>
            </a:r>
            <a:endParaRPr lang="en-US" sz="1400"/>
          </a:p>
          <a:p>
            <a:r>
              <a:rPr lang="en-US" sz="1400" b="1"/>
              <a:t>printf("\n");</a:t>
            </a:r>
            <a:endParaRPr lang="en-US" sz="1400"/>
          </a:p>
          <a:p>
            <a:r>
              <a:rPr lang="en-US" sz="1400" b="1"/>
              <a:t>}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5105400" y="3808413"/>
            <a:ext cx="3352800" cy="246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u="sng"/>
              <a:t>Output</a:t>
            </a:r>
          </a:p>
          <a:p>
            <a:pPr>
              <a:spcBef>
                <a:spcPct val="50000"/>
              </a:spcBef>
            </a:pPr>
            <a:r>
              <a:rPr lang="en-US" b="1"/>
              <a:t>1</a:t>
            </a:r>
          </a:p>
          <a:p>
            <a:pPr>
              <a:spcBef>
                <a:spcPct val="50000"/>
              </a:spcBef>
            </a:pPr>
            <a:r>
              <a:rPr lang="en-US" b="1"/>
              <a:t>2 3</a:t>
            </a:r>
          </a:p>
          <a:p>
            <a:pPr>
              <a:spcBef>
                <a:spcPct val="50000"/>
              </a:spcBef>
            </a:pPr>
            <a:r>
              <a:rPr lang="en-US" b="1"/>
              <a:t>4 5 6</a:t>
            </a:r>
          </a:p>
          <a:p>
            <a:pPr>
              <a:spcBef>
                <a:spcPct val="50000"/>
              </a:spcBef>
            </a:pPr>
            <a:r>
              <a:rPr lang="en-US" b="1"/>
              <a:t>7 8 9 10</a:t>
            </a:r>
          </a:p>
          <a:p>
            <a:pPr>
              <a:spcBef>
                <a:spcPct val="50000"/>
              </a:spcBef>
            </a:pPr>
            <a:r>
              <a:rPr lang="en-US" b="1"/>
              <a:t>11 12 13 14 15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76200" y="0"/>
            <a:ext cx="4038600" cy="3584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2000" b="1"/>
              <a:t>PASCAL TRIANGLE to print  *</a:t>
            </a:r>
            <a:r>
              <a:rPr lang="en-US" sz="2000"/>
              <a:t> </a:t>
            </a:r>
          </a:p>
          <a:p>
            <a:r>
              <a:rPr lang="en-US" sz="1600" b="1"/>
              <a:t>#include&lt;stdio.h&gt;</a:t>
            </a:r>
            <a:endParaRPr lang="en-US" sz="1600"/>
          </a:p>
          <a:p>
            <a:r>
              <a:rPr lang="en-US" sz="1600" b="1"/>
              <a:t>void main()</a:t>
            </a:r>
            <a:endParaRPr lang="en-US" sz="1600"/>
          </a:p>
          <a:p>
            <a:r>
              <a:rPr lang="en-US" sz="1600" b="1"/>
              <a:t>{</a:t>
            </a:r>
            <a:endParaRPr lang="en-US" sz="1600"/>
          </a:p>
          <a:p>
            <a:r>
              <a:rPr lang="en-US" sz="1600" b="1"/>
              <a:t>int i,j;</a:t>
            </a:r>
            <a:endParaRPr lang="en-US" sz="1600"/>
          </a:p>
          <a:p>
            <a:r>
              <a:rPr lang="en-US" sz="1600" b="1"/>
              <a:t>clrscr();</a:t>
            </a:r>
            <a:endParaRPr lang="en-US" sz="1600"/>
          </a:p>
          <a:p>
            <a:r>
              <a:rPr lang="en-US" sz="1600" b="1"/>
              <a:t>for(i=1;i&lt;=5;i++)</a:t>
            </a:r>
            <a:endParaRPr lang="en-US" sz="1600"/>
          </a:p>
          <a:p>
            <a:r>
              <a:rPr lang="en-US" sz="1600" b="1"/>
              <a:t>{</a:t>
            </a:r>
            <a:endParaRPr lang="en-US" sz="1600"/>
          </a:p>
          <a:p>
            <a:r>
              <a:rPr lang="en-US" sz="1600" b="1"/>
              <a:t>for(j=1;j&lt;=i;j++)</a:t>
            </a:r>
            <a:endParaRPr lang="en-US" sz="1600"/>
          </a:p>
          <a:p>
            <a:r>
              <a:rPr lang="en-US" sz="1600" b="1"/>
              <a:t>{</a:t>
            </a:r>
            <a:endParaRPr lang="en-US" sz="1600"/>
          </a:p>
          <a:p>
            <a:r>
              <a:rPr lang="en-US" sz="1600" b="1"/>
              <a:t>printf(“*");</a:t>
            </a:r>
            <a:endParaRPr lang="en-US" sz="1600"/>
          </a:p>
          <a:p>
            <a:r>
              <a:rPr lang="en-US" sz="1600" b="1"/>
              <a:t>}</a:t>
            </a:r>
            <a:endParaRPr lang="en-US" sz="1600"/>
          </a:p>
          <a:p>
            <a:r>
              <a:rPr lang="en-US" sz="1600" b="1"/>
              <a:t>printf("\n");</a:t>
            </a:r>
            <a:endParaRPr lang="en-US" sz="1600"/>
          </a:p>
          <a:p>
            <a:r>
              <a:rPr lang="en-US" sz="1600" b="1"/>
              <a:t>}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1143000" y="3505200"/>
            <a:ext cx="1905000" cy="2960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u="sng"/>
              <a:t>Output</a:t>
            </a:r>
          </a:p>
          <a:p>
            <a:pPr>
              <a:spcBef>
                <a:spcPct val="50000"/>
              </a:spcBef>
            </a:pPr>
            <a:r>
              <a:rPr lang="en-US" sz="2800" b="1">
                <a:solidFill>
                  <a:schemeClr val="bg1"/>
                </a:solidFill>
              </a:rPr>
              <a:t>*</a:t>
            </a:r>
          </a:p>
          <a:p>
            <a:pPr>
              <a:spcBef>
                <a:spcPct val="50000"/>
              </a:spcBef>
            </a:pPr>
            <a:r>
              <a:rPr lang="en-US" sz="2800" b="1">
                <a:solidFill>
                  <a:schemeClr val="bg1"/>
                </a:solidFill>
              </a:rPr>
              <a:t>* *</a:t>
            </a:r>
          </a:p>
          <a:p>
            <a:r>
              <a:rPr lang="en-US" sz="2800" b="1">
                <a:solidFill>
                  <a:schemeClr val="bg1"/>
                </a:solidFill>
              </a:rPr>
              <a:t>* *  *</a:t>
            </a:r>
          </a:p>
          <a:p>
            <a:r>
              <a:rPr lang="en-US" sz="2800" b="1">
                <a:solidFill>
                  <a:schemeClr val="bg1"/>
                </a:solidFill>
              </a:rPr>
              <a:t>* *  *  *</a:t>
            </a:r>
          </a:p>
          <a:p>
            <a:r>
              <a:rPr lang="en-US" sz="2800" b="1">
                <a:solidFill>
                  <a:schemeClr val="bg1"/>
                </a:solidFill>
              </a:rPr>
              <a:t>* *  *  *  *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4343400" y="160338"/>
            <a:ext cx="4724400" cy="3584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2000" b="1"/>
              <a:t>PASCAL TRIANGLE</a:t>
            </a:r>
            <a:r>
              <a:rPr lang="en-US" sz="2000"/>
              <a:t> </a:t>
            </a:r>
          </a:p>
          <a:p>
            <a:r>
              <a:rPr lang="en-US" sz="1600" b="1"/>
              <a:t>#include&lt;stdio.h&gt;</a:t>
            </a:r>
            <a:endParaRPr lang="en-US" sz="1600"/>
          </a:p>
          <a:p>
            <a:r>
              <a:rPr lang="en-US" sz="1600" b="1"/>
              <a:t>void main()</a:t>
            </a:r>
            <a:endParaRPr lang="en-US" sz="1600"/>
          </a:p>
          <a:p>
            <a:r>
              <a:rPr lang="en-US" sz="1600" b="1"/>
              <a:t>{</a:t>
            </a:r>
            <a:endParaRPr lang="en-US" sz="1600"/>
          </a:p>
          <a:p>
            <a:r>
              <a:rPr lang="en-US" sz="1600" b="1"/>
              <a:t>int i,j;</a:t>
            </a:r>
            <a:endParaRPr lang="en-US" sz="1600"/>
          </a:p>
          <a:p>
            <a:r>
              <a:rPr lang="en-US" sz="1600" b="1"/>
              <a:t>clrscr();</a:t>
            </a:r>
            <a:endParaRPr lang="en-US" sz="1600"/>
          </a:p>
          <a:p>
            <a:r>
              <a:rPr lang="en-US" sz="1600" b="1"/>
              <a:t>for(i=0;i&lt;5;i++)</a:t>
            </a:r>
            <a:endParaRPr lang="en-US" sz="1600"/>
          </a:p>
          <a:p>
            <a:r>
              <a:rPr lang="en-US" sz="1600" b="1"/>
              <a:t>{</a:t>
            </a:r>
            <a:endParaRPr lang="en-US" sz="1600"/>
          </a:p>
          <a:p>
            <a:r>
              <a:rPr lang="en-US" sz="1600" b="1"/>
              <a:t>for(j=i;j&gt;0;j--)</a:t>
            </a:r>
            <a:endParaRPr lang="en-US" sz="1600"/>
          </a:p>
          <a:p>
            <a:r>
              <a:rPr lang="en-US" sz="1600" b="1"/>
              <a:t>{</a:t>
            </a:r>
            <a:endParaRPr lang="en-US" sz="1600"/>
          </a:p>
          <a:p>
            <a:r>
              <a:rPr lang="en-US" sz="1600" b="1"/>
              <a:t>printf("%d\n",j);</a:t>
            </a:r>
          </a:p>
          <a:p>
            <a:r>
              <a:rPr lang="en-US" sz="1600" b="1"/>
              <a:t>}</a:t>
            </a:r>
            <a:endParaRPr lang="en-US" sz="1600"/>
          </a:p>
          <a:p>
            <a:r>
              <a:rPr lang="en-US" sz="1600" b="1"/>
              <a:t>printf("\n");</a:t>
            </a:r>
            <a:endParaRPr lang="en-US" sz="1600"/>
          </a:p>
          <a:p>
            <a:r>
              <a:rPr lang="en-US" sz="1600" b="1"/>
              <a:t>}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5105400" y="3808413"/>
            <a:ext cx="3352800" cy="246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u="sng"/>
              <a:t>Output</a:t>
            </a:r>
          </a:p>
          <a:p>
            <a:pPr>
              <a:spcBef>
                <a:spcPct val="50000"/>
              </a:spcBef>
            </a:pPr>
            <a:r>
              <a:rPr lang="en-US" b="1"/>
              <a:t>1</a:t>
            </a:r>
          </a:p>
          <a:p>
            <a:pPr>
              <a:spcBef>
                <a:spcPct val="50000"/>
              </a:spcBef>
            </a:pPr>
            <a:r>
              <a:rPr lang="en-US" b="1"/>
              <a:t>2 1 </a:t>
            </a:r>
          </a:p>
          <a:p>
            <a:pPr>
              <a:spcBef>
                <a:spcPct val="50000"/>
              </a:spcBef>
            </a:pPr>
            <a:r>
              <a:rPr lang="en-US" b="1"/>
              <a:t>3 2 1</a:t>
            </a:r>
          </a:p>
          <a:p>
            <a:pPr>
              <a:spcBef>
                <a:spcPct val="50000"/>
              </a:spcBef>
            </a:pPr>
            <a:r>
              <a:rPr lang="en-US" b="1"/>
              <a:t>4 3 2 1</a:t>
            </a:r>
          </a:p>
          <a:p>
            <a:pPr>
              <a:spcBef>
                <a:spcPct val="50000"/>
              </a:spcBef>
            </a:pPr>
            <a:r>
              <a:rPr lang="en-US" b="1"/>
              <a:t>5 4 3 2 1</a:t>
            </a:r>
          </a:p>
        </p:txBody>
      </p:sp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685800" y="304800"/>
            <a:ext cx="5410200" cy="6308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/>
              <a:t>To print the word in reverse</a:t>
            </a:r>
          </a:p>
          <a:p>
            <a:r>
              <a:rPr lang="en-US" sz="2000" b="1"/>
              <a:t>#include&lt;stdio.h&gt;</a:t>
            </a:r>
          </a:p>
          <a:p>
            <a:r>
              <a:rPr lang="en-US" sz="2000" b="1"/>
              <a:t>#include&lt;conio.h&gt;</a:t>
            </a:r>
          </a:p>
          <a:p>
            <a:r>
              <a:rPr lang="en-US" sz="2000" b="1"/>
              <a:t>#define size 10</a:t>
            </a:r>
          </a:p>
          <a:p>
            <a:r>
              <a:rPr lang="en-US" sz="2000" b="1"/>
              <a:t>void main()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char name[size+1];</a:t>
            </a:r>
          </a:p>
          <a:p>
            <a:r>
              <a:rPr lang="en-US" sz="2000" b="1"/>
              <a:t>int i=1;</a:t>
            </a:r>
          </a:p>
          <a:p>
            <a:r>
              <a:rPr lang="en-US" sz="2000" b="1"/>
              <a:t>clrscr();</a:t>
            </a:r>
          </a:p>
          <a:p>
            <a:r>
              <a:rPr lang="en-US" sz="2000" b="1"/>
              <a:t>printf("\n Enter Any String");</a:t>
            </a:r>
          </a:p>
          <a:p>
            <a:r>
              <a:rPr lang="en-US" sz="2000" b="1"/>
              <a:t>scanf("%s",name);</a:t>
            </a:r>
          </a:p>
          <a:p>
            <a:r>
              <a:rPr lang="en-US" sz="2000" b="1"/>
              <a:t>printf("\n The Given string is %s\n",name);</a:t>
            </a:r>
          </a:p>
          <a:p>
            <a:r>
              <a:rPr lang="en-US" sz="2000" b="1"/>
              <a:t>for(i=0;name[i]!='\0';i++);</a:t>
            </a:r>
          </a:p>
          <a:p>
            <a:r>
              <a:rPr lang="en-US" sz="2000" b="1"/>
              <a:t>printf("\n\n The Reversed String is");</a:t>
            </a:r>
          </a:p>
          <a:p>
            <a:r>
              <a:rPr lang="en-US" sz="2000" b="1"/>
              <a:t>for(i=size-1;i&gt;=0;i--)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printf("%c",name[i]);</a:t>
            </a:r>
          </a:p>
          <a:p>
            <a:r>
              <a:rPr lang="en-US" sz="2000" b="1"/>
              <a:t>}</a:t>
            </a:r>
          </a:p>
          <a:p>
            <a:r>
              <a:rPr lang="en-US" sz="2000" b="1"/>
              <a:t>getch();</a:t>
            </a:r>
          </a:p>
          <a:p>
            <a:r>
              <a:rPr lang="en-US" sz="2000" b="1"/>
              <a:t>}</a:t>
            </a:r>
          </a:p>
        </p:txBody>
      </p:sp>
      <p:sp>
        <p:nvSpPr>
          <p:cNvPr id="24579" name="WordArt 3"/>
          <p:cNvSpPr>
            <a:spLocks noChangeArrowheads="1" noChangeShapeType="1" noTextEdit="1"/>
          </p:cNvSpPr>
          <p:nvPr/>
        </p:nvSpPr>
        <p:spPr bwMode="auto">
          <a:xfrm>
            <a:off x="4876800" y="1403350"/>
            <a:ext cx="17526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latin typeface="Arial Black"/>
              </a:rPr>
              <a:t>OUTPUT</a:t>
            </a: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4876800" y="1828800"/>
            <a:ext cx="3733800" cy="12287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000099"/>
                </a:solidFill>
              </a:rPr>
              <a:t>Enter Any String : raja</a:t>
            </a:r>
          </a:p>
          <a:p>
            <a:endParaRPr lang="en-US" b="1">
              <a:solidFill>
                <a:srgbClr val="000099"/>
              </a:solidFill>
            </a:endParaRPr>
          </a:p>
          <a:p>
            <a:r>
              <a:rPr lang="en-US" b="1">
                <a:solidFill>
                  <a:srgbClr val="000099"/>
                </a:solidFill>
              </a:rPr>
              <a:t>The Given String is  raja</a:t>
            </a:r>
          </a:p>
          <a:p>
            <a:r>
              <a:rPr lang="en-US" b="1">
                <a:solidFill>
                  <a:srgbClr val="000099"/>
                </a:solidFill>
              </a:rPr>
              <a:t>The Reversed String is  ajar</a:t>
            </a: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WordArt 2"/>
          <p:cNvSpPr>
            <a:spLocks noChangeArrowheads="1" noChangeShapeType="1" noTextEdit="1"/>
          </p:cNvSpPr>
          <p:nvPr/>
        </p:nvSpPr>
        <p:spPr bwMode="auto">
          <a:xfrm>
            <a:off x="2362200" y="777875"/>
            <a:ext cx="4953000" cy="647700"/>
          </a:xfrm>
          <a:prstGeom prst="rect">
            <a:avLst/>
          </a:prstGeom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CC0000">
                        <a:alpha val="50000"/>
                      </a:srgbClr>
                    </a:gs>
                    <a:gs pos="100000">
                      <a:srgbClr val="000000"/>
                    </a:gs>
                  </a:gsLst>
                  <a:lin ang="5400000" scaled="1"/>
                </a:gradFill>
                <a:effectLst>
                  <a:outerShdw dist="45791" dir="2021404" algn="ctr" rotWithShape="0">
                    <a:srgbClr val="9999FF"/>
                  </a:outerShdw>
                </a:effectLst>
                <a:latin typeface="Arial Black"/>
              </a:rPr>
              <a:t>continue Statement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447800" y="1905000"/>
            <a:ext cx="6858000" cy="120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buFontTx/>
              <a:buBlip>
                <a:blip r:embed="rId3"/>
              </a:buBlip>
            </a:pPr>
            <a:r>
              <a:rPr lang="en-US" sz="28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The continue statement causes the next iteration   </a:t>
            </a:r>
          </a:p>
          <a:p>
            <a:pPr algn="just">
              <a:lnSpc>
                <a:spcPct val="140000"/>
              </a:lnSpc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 of the enclosing loop to begin.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1447800" y="3232150"/>
            <a:ext cx="7239000" cy="168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45000"/>
              </a:lnSpc>
              <a:buFontTx/>
              <a:buBlip>
                <a:blip r:embed="rId3"/>
              </a:buBlip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 When this statement is encountered, the remaining </a:t>
            </a:r>
            <a:br>
              <a:rPr lang="en-US" sz="2400" b="1"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statements in the body of the loop are skipped and   </a:t>
            </a:r>
          </a:p>
          <a:p>
            <a:pPr>
              <a:lnSpc>
                <a:spcPct val="145000"/>
              </a:lnSpc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    the control is passed on to the re-initialization step.</a:t>
            </a:r>
          </a:p>
        </p:txBody>
      </p:sp>
      <p:sp>
        <p:nvSpPr>
          <p:cNvPr id="25605" name="WordArt 5"/>
          <p:cNvSpPr>
            <a:spLocks noChangeArrowheads="1" noChangeShapeType="1" noTextEdit="1"/>
          </p:cNvSpPr>
          <p:nvPr/>
        </p:nvSpPr>
        <p:spPr bwMode="auto">
          <a:xfrm>
            <a:off x="1981200" y="5029200"/>
            <a:ext cx="1447800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Syntax :</a:t>
            </a:r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3733800" y="5029200"/>
            <a:ext cx="16002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continue;</a:t>
            </a:r>
          </a:p>
        </p:txBody>
      </p:sp>
    </p:spTree>
  </p:cSld>
  <p:clrMapOvr>
    <a:masterClrMapping/>
  </p:clrMapOvr>
  <p:transition>
    <p:wheel spokes="3"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50888" y="1201738"/>
            <a:ext cx="7707312" cy="3803650"/>
            <a:chOff x="336" y="1094"/>
            <a:chExt cx="5548" cy="2447"/>
          </a:xfrm>
        </p:grpSpPr>
        <p:sp>
          <p:nvSpPr>
            <p:cNvPr id="26627" name="WordArt 3"/>
            <p:cNvSpPr>
              <a:spLocks noChangeArrowheads="1" noChangeShapeType="1" noTextEdit="1"/>
            </p:cNvSpPr>
            <p:nvPr/>
          </p:nvSpPr>
          <p:spPr bwMode="auto">
            <a:xfrm>
              <a:off x="1584" y="1104"/>
              <a:ext cx="1248" cy="4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>
                  <a:ln w="12700">
                    <a:solidFill>
                      <a:srgbClr val="3333CC"/>
                    </a:solidFill>
                    <a:round/>
                    <a:headEnd/>
                    <a:tailEnd/>
                  </a:ln>
                  <a:solidFill>
                    <a:srgbClr val="B2B2B2">
                      <a:alpha val="50195"/>
                    </a:srgbClr>
                  </a:solidFill>
                  <a:effectLst>
                    <a:outerShdw dist="45791" dir="2021404" algn="ctr" rotWithShape="0">
                      <a:srgbClr val="9999FF"/>
                    </a:outerShdw>
                  </a:effectLst>
                  <a:latin typeface="Arial Black"/>
                </a:rPr>
                <a:t>exit()</a:t>
              </a:r>
            </a:p>
          </p:txBody>
        </p:sp>
        <p:sp>
          <p:nvSpPr>
            <p:cNvPr id="26628" name="Text Box 4"/>
            <p:cNvSpPr txBox="1">
              <a:spLocks noChangeArrowheads="1"/>
            </p:cNvSpPr>
            <p:nvPr/>
          </p:nvSpPr>
          <p:spPr bwMode="auto">
            <a:xfrm>
              <a:off x="2928" y="1094"/>
              <a:ext cx="1694" cy="5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4800" b="1">
                  <a:latin typeface="Times New Roman" pitchFamily="18" charset="0"/>
                  <a:cs typeface="Times New Roman" pitchFamily="18" charset="0"/>
                </a:rPr>
                <a:t>function</a:t>
              </a:r>
            </a:p>
          </p:txBody>
        </p:sp>
        <p:sp>
          <p:nvSpPr>
            <p:cNvPr id="26629" name="Text Box 5"/>
            <p:cNvSpPr txBox="1">
              <a:spLocks noChangeArrowheads="1"/>
            </p:cNvSpPr>
            <p:nvPr/>
          </p:nvSpPr>
          <p:spPr bwMode="auto">
            <a:xfrm>
              <a:off x="336" y="1862"/>
              <a:ext cx="4749" cy="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3"/>
                </a:buBlip>
              </a:pPr>
              <a:r>
                <a:rPr lang="en-US" sz="28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The exit() is used to break out of the program. </a:t>
              </a:r>
            </a:p>
          </p:txBody>
        </p:sp>
        <p:sp>
          <p:nvSpPr>
            <p:cNvPr id="26630" name="Text Box 6"/>
            <p:cNvSpPr txBox="1">
              <a:spLocks noChangeArrowheads="1"/>
            </p:cNvSpPr>
            <p:nvPr/>
          </p:nvSpPr>
          <p:spPr bwMode="auto">
            <a:xfrm>
              <a:off x="336" y="2495"/>
              <a:ext cx="5548" cy="10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lnSpc>
                  <a:spcPct val="140000"/>
                </a:lnSpc>
                <a:buFontTx/>
                <a:buBlip>
                  <a:blip r:embed="rId3"/>
                </a:buBlip>
              </a:pPr>
              <a:r>
                <a:rPr lang="en-US" sz="24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The use of this function causes immediate termination of the program and control rests in the hands of the Operating System.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CSC COMPUTER EDUCATION, M.K.B.NAGAR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914400"/>
            <a:ext cx="8547100" cy="4581525"/>
            <a:chOff x="240" y="576"/>
            <a:chExt cx="5708" cy="2886"/>
          </a:xfrm>
        </p:grpSpPr>
        <p:sp>
          <p:nvSpPr>
            <p:cNvPr id="27652" name="WordArt 3"/>
            <p:cNvSpPr>
              <a:spLocks noChangeArrowheads="1" noChangeShapeType="1" noTextEdit="1"/>
            </p:cNvSpPr>
            <p:nvPr/>
          </p:nvSpPr>
          <p:spPr bwMode="auto">
            <a:xfrm>
              <a:off x="1536" y="586"/>
              <a:ext cx="1101" cy="4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>
                  <a:ln w="12700">
                    <a:solidFill>
                      <a:srgbClr val="3333CC"/>
                    </a:solidFill>
                    <a:round/>
                    <a:headEnd/>
                    <a:tailEnd/>
                  </a:ln>
                  <a:solidFill>
                    <a:srgbClr val="B2B2B2">
                      <a:alpha val="50195"/>
                    </a:srgbClr>
                  </a:solidFill>
                  <a:effectLst>
                    <a:outerShdw dist="45791" dir="2021404" algn="ctr" rotWithShape="0">
                      <a:srgbClr val="9999FF"/>
                    </a:outerShdw>
                  </a:effectLst>
                  <a:latin typeface="Arial Black"/>
                </a:rPr>
                <a:t>break</a:t>
              </a:r>
            </a:p>
          </p:txBody>
        </p:sp>
        <p:sp>
          <p:nvSpPr>
            <p:cNvPr id="27653" name="Text Box 4"/>
            <p:cNvSpPr txBox="1">
              <a:spLocks noChangeArrowheads="1"/>
            </p:cNvSpPr>
            <p:nvPr/>
          </p:nvSpPr>
          <p:spPr bwMode="auto">
            <a:xfrm>
              <a:off x="2726" y="576"/>
              <a:ext cx="1683" cy="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4800">
                  <a:latin typeface="Times New Roman" pitchFamily="18" charset="0"/>
                  <a:cs typeface="Times New Roman" pitchFamily="18" charset="0"/>
                </a:rPr>
                <a:t>statement</a:t>
              </a:r>
            </a:p>
          </p:txBody>
        </p:sp>
        <p:sp>
          <p:nvSpPr>
            <p:cNvPr id="27654" name="Text Box 5"/>
            <p:cNvSpPr txBox="1">
              <a:spLocks noChangeArrowheads="1"/>
            </p:cNvSpPr>
            <p:nvPr/>
          </p:nvSpPr>
          <p:spPr bwMode="auto">
            <a:xfrm>
              <a:off x="240" y="1344"/>
              <a:ext cx="5708" cy="5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3"/>
                </a:buBlip>
              </a:pPr>
              <a:r>
                <a:rPr lang="en-US" sz="280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800" b="1">
                  <a:latin typeface="Times New Roman" pitchFamily="18" charset="0"/>
                  <a:cs typeface="Times New Roman" pitchFamily="18" charset="0"/>
                </a:rPr>
                <a:t>The break statement is used to terminate a case in a  </a:t>
              </a:r>
              <a:br>
                <a:rPr lang="en-US" sz="2800" b="1">
                  <a:latin typeface="Times New Roman" pitchFamily="18" charset="0"/>
                  <a:cs typeface="Times New Roman" pitchFamily="18" charset="0"/>
                </a:rPr>
              </a:br>
              <a:r>
                <a:rPr lang="en-US" sz="2800" b="1">
                  <a:latin typeface="Times New Roman" pitchFamily="18" charset="0"/>
                  <a:cs typeface="Times New Roman" pitchFamily="18" charset="0"/>
                </a:rPr>
                <a:t>    switch statement.</a:t>
              </a:r>
            </a:p>
          </p:txBody>
        </p:sp>
        <p:sp>
          <p:nvSpPr>
            <p:cNvPr id="27655" name="Text Box 6"/>
            <p:cNvSpPr txBox="1">
              <a:spLocks noChangeArrowheads="1"/>
            </p:cNvSpPr>
            <p:nvPr/>
          </p:nvSpPr>
          <p:spPr bwMode="auto">
            <a:xfrm>
              <a:off x="240" y="2111"/>
              <a:ext cx="5598" cy="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buFontTx/>
                <a:buBlip>
                  <a:blip r:embed="rId3"/>
                </a:buBlip>
              </a:pPr>
              <a:r>
                <a:rPr lang="en-US" sz="280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8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When the break statement is encountered in a loop, the loop is terminated immediately and control is passed to the statement following the loop.</a:t>
              </a:r>
            </a:p>
          </p:txBody>
        </p:sp>
        <p:sp>
          <p:nvSpPr>
            <p:cNvPr id="27656" name="WordArt 7"/>
            <p:cNvSpPr>
              <a:spLocks noChangeArrowheads="1" noChangeShapeType="1" noTextEdit="1"/>
            </p:cNvSpPr>
            <p:nvPr/>
          </p:nvSpPr>
          <p:spPr bwMode="auto">
            <a:xfrm>
              <a:off x="672" y="3168"/>
              <a:ext cx="1296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b="1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Syntax :</a:t>
              </a:r>
            </a:p>
          </p:txBody>
        </p:sp>
        <p:sp>
          <p:nvSpPr>
            <p:cNvPr id="27657" name="Text Box 8"/>
            <p:cNvSpPr txBox="1">
              <a:spLocks noChangeArrowheads="1"/>
            </p:cNvSpPr>
            <p:nvPr/>
          </p:nvSpPr>
          <p:spPr bwMode="auto">
            <a:xfrm>
              <a:off x="2352" y="3168"/>
              <a:ext cx="1008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/>
                <a:t>break;</a:t>
              </a:r>
            </a:p>
          </p:txBody>
        </p:sp>
      </p:grp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33400" y="381000"/>
            <a:ext cx="8591550" cy="6197600"/>
            <a:chOff x="336" y="240"/>
            <a:chExt cx="5412" cy="3904"/>
          </a:xfrm>
        </p:grpSpPr>
        <p:sp>
          <p:nvSpPr>
            <p:cNvPr id="28675" name="WordArt 3"/>
            <p:cNvSpPr>
              <a:spLocks noChangeArrowheads="1" noChangeShapeType="1" noTextEdit="1"/>
            </p:cNvSpPr>
            <p:nvPr/>
          </p:nvSpPr>
          <p:spPr bwMode="auto">
            <a:xfrm>
              <a:off x="1632" y="336"/>
              <a:ext cx="1101" cy="4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chemeClr val="tx1">
                          <a:alpha val="50000"/>
                        </a:schemeClr>
                      </a:gs>
                      <a:gs pos="100000">
                        <a:srgbClr val="000000"/>
                      </a:gs>
                    </a:gsLst>
                    <a:lin ang="5400000" scaled="1"/>
                  </a:gradFill>
                  <a:latin typeface="Arial Black"/>
                </a:rPr>
                <a:t>goto</a:t>
              </a:r>
            </a:p>
          </p:txBody>
        </p:sp>
        <p:sp>
          <p:nvSpPr>
            <p:cNvPr id="28676" name="Text Box 4"/>
            <p:cNvSpPr txBox="1">
              <a:spLocks noChangeArrowheads="1"/>
            </p:cNvSpPr>
            <p:nvPr/>
          </p:nvSpPr>
          <p:spPr bwMode="auto">
            <a:xfrm>
              <a:off x="2822" y="240"/>
              <a:ext cx="862" cy="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4800">
                  <a:latin typeface="Times New Roman" pitchFamily="18" charset="0"/>
                  <a:cs typeface="Times New Roman" pitchFamily="18" charset="0"/>
                </a:rPr>
                <a:t>label</a:t>
              </a:r>
            </a:p>
          </p:txBody>
        </p:sp>
        <p:sp>
          <p:nvSpPr>
            <p:cNvPr id="28677" name="Text Box 5"/>
            <p:cNvSpPr txBox="1">
              <a:spLocks noChangeArrowheads="1"/>
            </p:cNvSpPr>
            <p:nvPr/>
          </p:nvSpPr>
          <p:spPr bwMode="auto">
            <a:xfrm>
              <a:off x="336" y="1008"/>
              <a:ext cx="5278" cy="5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3"/>
                </a:buBlip>
              </a:pPr>
              <a:r>
                <a:rPr lang="en-US" sz="28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The goto statement transfers control to any other </a:t>
              </a:r>
              <a:br>
                <a:rPr lang="en-US" sz="28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8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   statement within the same function in a C program.</a:t>
              </a:r>
            </a:p>
          </p:txBody>
        </p:sp>
        <p:sp>
          <p:nvSpPr>
            <p:cNvPr id="28678" name="Text Box 6"/>
            <p:cNvSpPr txBox="1">
              <a:spLocks noChangeArrowheads="1"/>
            </p:cNvSpPr>
            <p:nvPr/>
          </p:nvSpPr>
          <p:spPr bwMode="auto">
            <a:xfrm>
              <a:off x="384" y="1776"/>
              <a:ext cx="5364" cy="5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3"/>
                </a:buBlip>
              </a:pPr>
              <a:r>
                <a:rPr lang="en-US" sz="28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They reduce program reliability and make program </a:t>
              </a:r>
              <a:br>
                <a:rPr lang="en-US" sz="28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8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   difficult to maintain.</a:t>
              </a:r>
            </a:p>
          </p:txBody>
        </p:sp>
        <p:sp>
          <p:nvSpPr>
            <p:cNvPr id="28679" name="WordArt 7"/>
            <p:cNvSpPr>
              <a:spLocks noChangeArrowheads="1" noChangeShapeType="1" noTextEdit="1"/>
            </p:cNvSpPr>
            <p:nvPr/>
          </p:nvSpPr>
          <p:spPr bwMode="auto">
            <a:xfrm>
              <a:off x="672" y="2592"/>
              <a:ext cx="1296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b="1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Syntax :</a:t>
              </a:r>
            </a:p>
          </p:txBody>
        </p:sp>
        <p:sp>
          <p:nvSpPr>
            <p:cNvPr id="28680" name="Text Box 8"/>
            <p:cNvSpPr txBox="1">
              <a:spLocks noChangeArrowheads="1"/>
            </p:cNvSpPr>
            <p:nvPr/>
          </p:nvSpPr>
          <p:spPr bwMode="auto">
            <a:xfrm>
              <a:off x="2304" y="2448"/>
              <a:ext cx="1584" cy="16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/>
                <a:t>goto Labelname:</a:t>
              </a:r>
            </a:p>
            <a:p>
              <a:pPr>
                <a:spcBef>
                  <a:spcPct val="50000"/>
                </a:spcBef>
              </a:pPr>
              <a:r>
                <a:rPr lang="en-US" sz="2000" b="1"/>
                <a:t>Statements;</a:t>
              </a:r>
            </a:p>
            <a:p>
              <a:pPr>
                <a:spcBef>
                  <a:spcPct val="50000"/>
                </a:spcBef>
              </a:pPr>
              <a:r>
                <a:rPr lang="en-US" sz="2000" b="1"/>
                <a:t>--</a:t>
              </a:r>
            </a:p>
            <a:p>
              <a:pPr>
                <a:spcBef>
                  <a:spcPct val="50000"/>
                </a:spcBef>
              </a:pPr>
              <a:r>
                <a:rPr lang="en-US" sz="2000" b="1"/>
                <a:t>Labelname:</a:t>
              </a:r>
            </a:p>
            <a:p>
              <a:pPr>
                <a:spcBef>
                  <a:spcPct val="50000"/>
                </a:spcBef>
              </a:pPr>
              <a:r>
                <a:rPr lang="en-US" sz="2000" b="1"/>
                <a:t>---</a:t>
              </a:r>
            </a:p>
            <a:p>
              <a:pPr>
                <a:spcBef>
                  <a:spcPct val="50000"/>
                </a:spcBef>
              </a:pPr>
              <a:r>
                <a:rPr lang="en-US" sz="2000" b="1"/>
                <a:t>Statements;</a:t>
              </a:r>
            </a:p>
          </p:txBody>
        </p:sp>
        <p:sp>
          <p:nvSpPr>
            <p:cNvPr id="28681" name="AutoShape 9"/>
            <p:cNvSpPr>
              <a:spLocks/>
            </p:cNvSpPr>
            <p:nvPr/>
          </p:nvSpPr>
          <p:spPr bwMode="auto">
            <a:xfrm>
              <a:off x="3744" y="2544"/>
              <a:ext cx="336" cy="912"/>
            </a:xfrm>
            <a:prstGeom prst="rightBracket">
              <a:avLst>
                <a:gd name="adj" fmla="val 22619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WordArt 2"/>
          <p:cNvSpPr>
            <a:spLocks noChangeArrowheads="1" noChangeShapeType="1" noTextEdit="1"/>
          </p:cNvSpPr>
          <p:nvPr/>
        </p:nvSpPr>
        <p:spPr bwMode="auto">
          <a:xfrm>
            <a:off x="533400" y="152400"/>
            <a:ext cx="7924800" cy="915988"/>
          </a:xfrm>
          <a:prstGeom prst="rect">
            <a:avLst/>
          </a:prstGeom>
        </p:spPr>
        <p:txBody>
          <a:bodyPr wrap="none" fromWordArt="1">
            <a:prstTxWarp prst="textCanDown">
              <a:avLst>
                <a:gd name="adj" fmla="val 33333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Times New Roman"/>
                <a:cs typeface="Times New Roman"/>
              </a:rPr>
              <a:t>Switch..Case Statements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1143000"/>
            <a:ext cx="4114800" cy="3429000"/>
            <a:chOff x="0" y="720"/>
            <a:chExt cx="2592" cy="2160"/>
          </a:xfrm>
        </p:grpSpPr>
        <p:sp>
          <p:nvSpPr>
            <p:cNvPr id="29702" name="AutoShape 4"/>
            <p:cNvSpPr>
              <a:spLocks noChangeArrowheads="1"/>
            </p:cNvSpPr>
            <p:nvPr/>
          </p:nvSpPr>
          <p:spPr bwMode="auto">
            <a:xfrm>
              <a:off x="672" y="864"/>
              <a:ext cx="1824" cy="201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703" name="Text Box 5"/>
            <p:cNvSpPr txBox="1">
              <a:spLocks noChangeArrowheads="1"/>
            </p:cNvSpPr>
            <p:nvPr/>
          </p:nvSpPr>
          <p:spPr bwMode="auto">
            <a:xfrm>
              <a:off x="0" y="720"/>
              <a:ext cx="96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 i="1" u="sng"/>
                <a:t>Syntax :</a:t>
              </a:r>
            </a:p>
          </p:txBody>
        </p:sp>
        <p:sp>
          <p:nvSpPr>
            <p:cNvPr id="29704" name="Rectangle 6"/>
            <p:cNvSpPr>
              <a:spLocks noChangeArrowheads="1"/>
            </p:cNvSpPr>
            <p:nvPr/>
          </p:nvSpPr>
          <p:spPr bwMode="auto">
            <a:xfrm>
              <a:off x="864" y="912"/>
              <a:ext cx="1728" cy="1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b="1"/>
                <a:t>switch(Expression)</a:t>
              </a:r>
              <a:endParaRPr lang="en-US"/>
            </a:p>
            <a:p>
              <a:r>
                <a:rPr lang="en-US" b="1"/>
                <a:t>{</a:t>
              </a:r>
              <a:endParaRPr lang="en-US"/>
            </a:p>
            <a:p>
              <a:r>
                <a:rPr lang="en-US" b="1"/>
                <a:t>case 1:	Statements;</a:t>
              </a:r>
              <a:endParaRPr lang="en-US"/>
            </a:p>
            <a:p>
              <a:r>
                <a:rPr lang="en-US" b="1"/>
                <a:t>	break;</a:t>
              </a:r>
              <a:endParaRPr lang="en-US"/>
            </a:p>
            <a:p>
              <a:r>
                <a:rPr lang="en-US" b="1"/>
                <a:t>case 2:	Statements;</a:t>
              </a:r>
              <a:endParaRPr lang="en-US"/>
            </a:p>
            <a:p>
              <a:r>
                <a:rPr lang="en-US" b="1"/>
                <a:t>	break;</a:t>
              </a:r>
              <a:endParaRPr lang="en-US"/>
            </a:p>
            <a:p>
              <a:r>
                <a:rPr lang="en-US" b="1"/>
                <a:t>case 3:	Statements;</a:t>
              </a:r>
              <a:endParaRPr lang="en-US"/>
            </a:p>
            <a:p>
              <a:r>
                <a:rPr lang="en-US" b="1"/>
                <a:t>	break;</a:t>
              </a:r>
            </a:p>
            <a:p>
              <a:r>
                <a:rPr lang="en-US" b="1"/>
                <a:t>default :Statements;</a:t>
              </a:r>
            </a:p>
            <a:p>
              <a:r>
                <a:rPr lang="en-US" b="1"/>
                <a:t>	break;</a:t>
              </a:r>
              <a:endParaRPr lang="en-US"/>
            </a:p>
            <a:p>
              <a:r>
                <a:rPr lang="en-US" b="1"/>
                <a:t>}</a:t>
              </a:r>
            </a:p>
          </p:txBody>
        </p:sp>
      </p:grpSp>
      <p:sp>
        <p:nvSpPr>
          <p:cNvPr id="29700" name="WordArt 7"/>
          <p:cNvSpPr>
            <a:spLocks noChangeArrowheads="1" noChangeShapeType="1" noTextEdit="1"/>
          </p:cNvSpPr>
          <p:nvPr/>
        </p:nvSpPr>
        <p:spPr bwMode="auto">
          <a:xfrm>
            <a:off x="533400" y="4648200"/>
            <a:ext cx="790575" cy="428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24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Note</a:t>
            </a:r>
          </a:p>
        </p:txBody>
      </p:sp>
      <p:sp>
        <p:nvSpPr>
          <p:cNvPr id="29701" name="Text Box 8"/>
          <p:cNvSpPr txBox="1">
            <a:spLocks noChangeArrowheads="1"/>
          </p:cNvSpPr>
          <p:nvPr/>
        </p:nvSpPr>
        <p:spPr bwMode="auto">
          <a:xfrm>
            <a:off x="762000" y="5257800"/>
            <a:ext cx="647700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b="1">
                <a:solidFill>
                  <a:schemeClr val="bg1"/>
                </a:solidFill>
              </a:rPr>
              <a:t>  </a:t>
            </a:r>
            <a:r>
              <a:rPr lang="en-US" b="1">
                <a:solidFill>
                  <a:srgbClr val="FFFF00"/>
                </a:solidFill>
              </a:rPr>
              <a:t>Default is Optional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b="1">
                <a:solidFill>
                  <a:srgbClr val="FFFF00"/>
                </a:solidFill>
              </a:rPr>
              <a:t>  It is useful while writing menu driven programs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b="1">
                <a:solidFill>
                  <a:srgbClr val="FFFF00"/>
                </a:solidFill>
              </a:rPr>
              <a:t>  Break statement transfers the control to the end of switch..case statement.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139700" y="223838"/>
            <a:ext cx="5127625" cy="5845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400" b="1"/>
              <a:t>Write a menu type program to solve arithmetic calculation </a:t>
            </a:r>
          </a:p>
          <a:p>
            <a:r>
              <a:rPr lang="en-US" sz="1400" b="1"/>
              <a:t>using switch case stmts. #include&lt;stdio.h&gt;</a:t>
            </a:r>
            <a:endParaRPr lang="en-US" sz="1400"/>
          </a:p>
          <a:p>
            <a:r>
              <a:rPr lang="en-US" sz="1400" b="1"/>
              <a:t>void main()</a:t>
            </a:r>
            <a:endParaRPr lang="en-US" sz="1400"/>
          </a:p>
          <a:p>
            <a:r>
              <a:rPr lang="en-US" sz="1400" b="1"/>
              <a:t>{</a:t>
            </a:r>
            <a:endParaRPr lang="en-US" sz="1400"/>
          </a:p>
          <a:p>
            <a:r>
              <a:rPr lang="en-US" sz="1400" b="1"/>
              <a:t>int a,b,choice,tot;</a:t>
            </a:r>
            <a:endParaRPr lang="en-US" sz="1400"/>
          </a:p>
          <a:p>
            <a:r>
              <a:rPr lang="en-US" sz="1400" b="1"/>
              <a:t>printf("\n 1. Addition");</a:t>
            </a:r>
            <a:endParaRPr lang="en-US" sz="1400"/>
          </a:p>
          <a:p>
            <a:r>
              <a:rPr lang="en-US" sz="1400" b="1"/>
              <a:t>printf("\n 2. Subtraction");</a:t>
            </a:r>
            <a:endParaRPr lang="en-US" sz="1400"/>
          </a:p>
          <a:p>
            <a:r>
              <a:rPr lang="en-US" sz="1400" b="1"/>
              <a:t>printf("\n 3. Multiplication");</a:t>
            </a:r>
            <a:endParaRPr lang="en-US" sz="1400"/>
          </a:p>
          <a:p>
            <a:r>
              <a:rPr lang="en-US" sz="1400" b="1"/>
              <a:t>printf("\n 4. Division");</a:t>
            </a:r>
            <a:endParaRPr lang="en-US" sz="1400"/>
          </a:p>
          <a:p>
            <a:r>
              <a:rPr lang="en-US" sz="1400" b="1"/>
              <a:t>printf("\n Enter the Values=");</a:t>
            </a:r>
            <a:endParaRPr lang="en-US" sz="1400"/>
          </a:p>
          <a:p>
            <a:r>
              <a:rPr lang="en-US" sz="1400" b="1"/>
              <a:t>scanf("%d %d",&amp;a,&amp;b);</a:t>
            </a:r>
            <a:endParaRPr lang="en-US" sz="1400"/>
          </a:p>
          <a:p>
            <a:r>
              <a:rPr lang="en-US" sz="1400" b="1"/>
              <a:t>printf("enter your choice=");</a:t>
            </a:r>
            <a:endParaRPr lang="en-US" sz="1400"/>
          </a:p>
          <a:p>
            <a:r>
              <a:rPr lang="en-US" sz="1400" b="1"/>
              <a:t>scanf("%d",&amp;choice);</a:t>
            </a:r>
            <a:endParaRPr lang="en-US" sz="1400"/>
          </a:p>
          <a:p>
            <a:r>
              <a:rPr lang="en-US" sz="1400" b="1"/>
              <a:t>switch(choice)</a:t>
            </a:r>
            <a:endParaRPr lang="en-US" sz="1400"/>
          </a:p>
          <a:p>
            <a:r>
              <a:rPr lang="en-US" sz="1400" b="1"/>
              <a:t>{</a:t>
            </a:r>
            <a:endParaRPr lang="en-US" sz="1400"/>
          </a:p>
          <a:p>
            <a:r>
              <a:rPr lang="en-US" sz="1400" b="1"/>
              <a:t>case 1:</a:t>
            </a:r>
            <a:endParaRPr lang="en-US" sz="1400"/>
          </a:p>
          <a:p>
            <a:r>
              <a:rPr lang="en-US" sz="1400" b="1"/>
              <a:t>tot = a+b;</a:t>
            </a:r>
            <a:endParaRPr lang="en-US" sz="1400"/>
          </a:p>
          <a:p>
            <a:r>
              <a:rPr lang="en-US" sz="1400" b="1"/>
              <a:t>printf("\n The Addition of 2 nos. % d",tot);</a:t>
            </a:r>
            <a:endParaRPr lang="en-US" sz="1400"/>
          </a:p>
          <a:p>
            <a:r>
              <a:rPr lang="en-US" sz="1400" b="1"/>
              <a:t>break;</a:t>
            </a:r>
            <a:endParaRPr lang="en-US" sz="1400"/>
          </a:p>
          <a:p>
            <a:r>
              <a:rPr lang="en-US" sz="1400" b="1"/>
              <a:t>case 2:</a:t>
            </a:r>
            <a:endParaRPr lang="en-US" sz="1400"/>
          </a:p>
          <a:p>
            <a:r>
              <a:rPr lang="en-US" sz="1400" b="1"/>
              <a:t>tot = a-b;</a:t>
            </a:r>
            <a:endParaRPr lang="en-US" sz="1400"/>
          </a:p>
          <a:p>
            <a:r>
              <a:rPr lang="en-US" sz="1400" b="1"/>
              <a:t>printf("\n The Subtraction of 2 nos. % d",tot);</a:t>
            </a:r>
            <a:endParaRPr lang="en-US" sz="1400"/>
          </a:p>
          <a:p>
            <a:r>
              <a:rPr lang="en-US" sz="1400" b="1"/>
              <a:t>break;</a:t>
            </a:r>
            <a:endParaRPr lang="en-US" sz="1400"/>
          </a:p>
          <a:p>
            <a:r>
              <a:rPr lang="en-US" sz="1400" b="1"/>
              <a:t>case 3:</a:t>
            </a:r>
            <a:endParaRPr lang="en-US" sz="1400"/>
          </a:p>
          <a:p>
            <a:r>
              <a:rPr lang="en-US" sz="1400" b="1"/>
              <a:t>tot = a*b;</a:t>
            </a:r>
            <a:endParaRPr lang="en-US" sz="1400"/>
          </a:p>
          <a:p>
            <a:r>
              <a:rPr lang="en-US" sz="1400" b="1"/>
              <a:t>printf("\n The Multiplication of 2 nos. % d",tot);</a:t>
            </a:r>
            <a:endParaRPr lang="en-US" sz="1400"/>
          </a:p>
          <a:p>
            <a:r>
              <a:rPr lang="en-US" sz="1400" b="1"/>
              <a:t>break;</a:t>
            </a:r>
            <a:endParaRPr lang="en-US" sz="1400"/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5257800" y="228600"/>
            <a:ext cx="3810000" cy="2301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/>
              <a:t>case 4:</a:t>
            </a:r>
            <a:endParaRPr lang="en-US" sz="1600"/>
          </a:p>
          <a:p>
            <a:r>
              <a:rPr lang="en-US" sz="1600" b="1"/>
              <a:t>tot = a/b;</a:t>
            </a:r>
            <a:endParaRPr lang="en-US" sz="1600"/>
          </a:p>
          <a:p>
            <a:r>
              <a:rPr lang="en-US" sz="1600" b="1"/>
              <a:t>printf("\n The Division = % d",tot);</a:t>
            </a:r>
            <a:endParaRPr lang="en-US" sz="1600"/>
          </a:p>
          <a:p>
            <a:r>
              <a:rPr lang="en-US" sz="1600" b="1"/>
              <a:t>break;</a:t>
            </a:r>
            <a:endParaRPr lang="en-US" sz="1600"/>
          </a:p>
          <a:p>
            <a:r>
              <a:rPr lang="en-US" sz="1600" b="1"/>
              <a:t>default:</a:t>
            </a:r>
            <a:endParaRPr lang="en-US" sz="1600"/>
          </a:p>
          <a:p>
            <a:r>
              <a:rPr lang="en-US" sz="1600" b="1"/>
              <a:t>printf("\n invalid");</a:t>
            </a:r>
            <a:endParaRPr lang="en-US" sz="1600"/>
          </a:p>
          <a:p>
            <a:r>
              <a:rPr lang="en-US" sz="1600" b="1"/>
              <a:t>break;</a:t>
            </a:r>
            <a:endParaRPr lang="en-US" sz="1600"/>
          </a:p>
          <a:p>
            <a:r>
              <a:rPr lang="en-US" sz="1600" b="1"/>
              <a:t>}</a:t>
            </a:r>
            <a:endParaRPr lang="en-US" sz="1600"/>
          </a:p>
          <a:p>
            <a:r>
              <a:rPr lang="en-US" sz="1600" b="1"/>
              <a:t>}</a:t>
            </a:r>
            <a:endParaRPr 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0" y="152400"/>
            <a:ext cx="4572000" cy="6483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Write a program to count the number of vowels and consonants in a string</a:t>
            </a:r>
          </a:p>
          <a:p>
            <a:r>
              <a:rPr lang="en-US" sz="1400" b="1"/>
              <a:t>#include&lt;stdio.h&gt;</a:t>
            </a:r>
          </a:p>
          <a:p>
            <a:r>
              <a:rPr lang="en-US" sz="1400" b="1"/>
              <a:t>void main()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int c=0,v=0;</a:t>
            </a:r>
          </a:p>
          <a:p>
            <a:r>
              <a:rPr lang="en-US" sz="1400" b="1"/>
              <a:t>char x;</a:t>
            </a:r>
          </a:p>
          <a:p>
            <a:r>
              <a:rPr lang="en-US" sz="1400" b="1"/>
              <a:t>printf("enter any string \n");</a:t>
            </a:r>
          </a:p>
          <a:p>
            <a:r>
              <a:rPr lang="en-US" sz="1400" b="1"/>
              <a:t>do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switch(x=getchar())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case 'a':</a:t>
            </a:r>
          </a:p>
          <a:p>
            <a:r>
              <a:rPr lang="en-US" sz="1400" b="1"/>
              <a:t>case 'e':</a:t>
            </a:r>
          </a:p>
          <a:p>
            <a:r>
              <a:rPr lang="en-US" sz="1400" b="1"/>
              <a:t>case 'i':</a:t>
            </a:r>
          </a:p>
          <a:p>
            <a:r>
              <a:rPr lang="en-US" sz="1400" b="1"/>
              <a:t>case 'o':</a:t>
            </a:r>
          </a:p>
          <a:p>
            <a:r>
              <a:rPr lang="en-US" sz="1400" b="1"/>
              <a:t>case 'u':</a:t>
            </a:r>
          </a:p>
          <a:p>
            <a:r>
              <a:rPr lang="en-US" sz="1400" b="1"/>
              <a:t>v++;</a:t>
            </a:r>
          </a:p>
          <a:p>
            <a:r>
              <a:rPr lang="en-US" sz="1400" b="1"/>
              <a:t> break;</a:t>
            </a:r>
          </a:p>
          <a:p>
            <a:r>
              <a:rPr lang="en-US" sz="1400" b="1"/>
              <a:t>case '\n':</a:t>
            </a:r>
          </a:p>
          <a:p>
            <a:r>
              <a:rPr lang="en-US" sz="1400" b="1"/>
              <a:t> break;</a:t>
            </a:r>
          </a:p>
          <a:p>
            <a:r>
              <a:rPr lang="en-US" sz="1400" b="1"/>
              <a:t>default:</a:t>
            </a:r>
          </a:p>
          <a:p>
            <a:r>
              <a:rPr lang="en-US" sz="1400" b="1"/>
              <a:t>  c++;</a:t>
            </a:r>
          </a:p>
          <a:p>
            <a:r>
              <a:rPr lang="en-US" sz="1400" b="1"/>
              <a:t>  break;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}while (x!='\n');</a:t>
            </a:r>
          </a:p>
          <a:p>
            <a:r>
              <a:rPr lang="en-US" sz="1400" b="1"/>
              <a:t>printf("no. of vowels is  %d \n",v);</a:t>
            </a:r>
          </a:p>
          <a:p>
            <a:r>
              <a:rPr lang="en-US" sz="1400" b="1"/>
              <a:t>printf("no. of consonants is %d", c);</a:t>
            </a:r>
          </a:p>
          <a:p>
            <a:r>
              <a:rPr lang="en-US" sz="1400" b="1"/>
              <a:t>getch();</a:t>
            </a:r>
          </a:p>
          <a:p>
            <a:r>
              <a:rPr lang="en-US" sz="1400" b="1"/>
              <a:t>}</a:t>
            </a:r>
          </a:p>
        </p:txBody>
      </p:sp>
      <p:sp>
        <p:nvSpPr>
          <p:cNvPr id="31747" name="AutoShape 3"/>
          <p:cNvSpPr>
            <a:spLocks/>
          </p:cNvSpPr>
          <p:nvPr/>
        </p:nvSpPr>
        <p:spPr bwMode="auto">
          <a:xfrm>
            <a:off x="5410200" y="3238500"/>
            <a:ext cx="3276600" cy="876300"/>
          </a:xfrm>
          <a:prstGeom prst="borderCallout1">
            <a:avLst>
              <a:gd name="adj1" fmla="val 13042"/>
              <a:gd name="adj2" fmla="val -2324"/>
              <a:gd name="adj3" fmla="val -213042"/>
              <a:gd name="adj4" fmla="val -232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sz="1400" b="1"/>
              <a:t>Enter Any String  : welcome</a:t>
            </a:r>
          </a:p>
          <a:p>
            <a:r>
              <a:rPr lang="en-US" sz="1400" b="1"/>
              <a:t>No.of Vowels :  3</a:t>
            </a:r>
          </a:p>
          <a:p>
            <a:r>
              <a:rPr lang="en-US" sz="1400" b="1"/>
              <a:t>No.of Consonants :  4</a:t>
            </a:r>
          </a:p>
        </p:txBody>
      </p:sp>
      <p:sp>
        <p:nvSpPr>
          <p:cNvPr id="31748" name="WordArt 4"/>
          <p:cNvSpPr>
            <a:spLocks noChangeArrowheads="1" noChangeShapeType="1" noTextEdit="1"/>
          </p:cNvSpPr>
          <p:nvPr/>
        </p:nvSpPr>
        <p:spPr bwMode="auto">
          <a:xfrm>
            <a:off x="4648200" y="685800"/>
            <a:ext cx="21431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304800" y="152400"/>
            <a:ext cx="4572000" cy="6457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/>
              <a:t>Write a “C” Program to generate Armstrong No.s from 1 to 1000</a:t>
            </a:r>
          </a:p>
          <a:p>
            <a:r>
              <a:rPr lang="en-US" sz="1600" b="1"/>
              <a:t>#include&lt;stdio.h&gt;</a:t>
            </a:r>
          </a:p>
          <a:p>
            <a:r>
              <a:rPr lang="en-US" sz="1600" b="1"/>
              <a:t>void main()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int a,b,s,n,i;</a:t>
            </a:r>
          </a:p>
          <a:p>
            <a:r>
              <a:rPr lang="en-US" sz="1600" b="1"/>
              <a:t>printf("\n Enter the Limit");</a:t>
            </a:r>
          </a:p>
          <a:p>
            <a:r>
              <a:rPr lang="en-US" sz="1600" b="1"/>
              <a:t>scanf("%d",&amp;n);</a:t>
            </a:r>
          </a:p>
          <a:p>
            <a:r>
              <a:rPr lang="en-US" sz="1600" b="1"/>
              <a:t>printf("\n The armstrong Numbers are");</a:t>
            </a:r>
          </a:p>
          <a:p>
            <a:r>
              <a:rPr lang="en-US" sz="1600" b="1"/>
              <a:t>for(i=0;i&lt;=n;i++)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a=i;</a:t>
            </a:r>
          </a:p>
          <a:p>
            <a:r>
              <a:rPr lang="en-US" sz="1600" b="1"/>
              <a:t>s=0;</a:t>
            </a:r>
          </a:p>
          <a:p>
            <a:r>
              <a:rPr lang="en-US" sz="1600" b="1"/>
              <a:t>while(a&gt;0)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b=a%10;</a:t>
            </a:r>
          </a:p>
          <a:p>
            <a:r>
              <a:rPr lang="en-US" sz="1600" b="1"/>
              <a:t>b=b*b*b;</a:t>
            </a:r>
          </a:p>
          <a:p>
            <a:r>
              <a:rPr lang="en-US" sz="1600" b="1"/>
              <a:t>s=s+b;</a:t>
            </a:r>
          </a:p>
          <a:p>
            <a:r>
              <a:rPr lang="en-US" sz="1600" b="1"/>
              <a:t>a=a/10;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if(i==s)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printf("\t %d",i);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}</a:t>
            </a: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5029200" y="457200"/>
            <a:ext cx="3810000" cy="350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Write a program print the given number as reverse format.</a:t>
            </a:r>
          </a:p>
          <a:p>
            <a:r>
              <a:rPr lang="en-US" sz="1400" b="1"/>
              <a:t>#include&lt;stdio.h&gt;</a:t>
            </a:r>
          </a:p>
          <a:p>
            <a:r>
              <a:rPr lang="en-US" sz="1400" b="1"/>
              <a:t>void main()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 int a,b,c=0,n;</a:t>
            </a:r>
          </a:p>
          <a:p>
            <a:r>
              <a:rPr lang="en-US" sz="1400" b="1"/>
              <a:t>printf("\n Enter the Number");</a:t>
            </a:r>
          </a:p>
          <a:p>
            <a:r>
              <a:rPr lang="en-US" sz="1400" b="1"/>
              <a:t>scanf("%d",&amp;a);</a:t>
            </a:r>
          </a:p>
          <a:p>
            <a:r>
              <a:rPr lang="en-US" sz="1400" b="1"/>
              <a:t>while(a&gt;0)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n=a%10;</a:t>
            </a:r>
          </a:p>
          <a:p>
            <a:r>
              <a:rPr lang="en-US" sz="1400" b="1"/>
              <a:t>a=a/10;</a:t>
            </a:r>
          </a:p>
          <a:p>
            <a:r>
              <a:rPr lang="en-US" sz="1400" b="1"/>
              <a:t>c=b+n*10;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printf("\n The reversed numeral is %ld",c);</a:t>
            </a:r>
          </a:p>
          <a:p>
            <a:r>
              <a:rPr lang="en-US" sz="1400" b="1"/>
              <a:t>}</a:t>
            </a:r>
          </a:p>
        </p:txBody>
      </p:sp>
      <p:sp>
        <p:nvSpPr>
          <p:cNvPr id="32772" name="AutoShape 4"/>
          <p:cNvSpPr>
            <a:spLocks/>
          </p:cNvSpPr>
          <p:nvPr/>
        </p:nvSpPr>
        <p:spPr bwMode="auto">
          <a:xfrm>
            <a:off x="5867400" y="5219700"/>
            <a:ext cx="2819400" cy="571500"/>
          </a:xfrm>
          <a:prstGeom prst="borderCallout1">
            <a:avLst>
              <a:gd name="adj1" fmla="val 20000"/>
              <a:gd name="adj2" fmla="val -2704"/>
              <a:gd name="adj3" fmla="val -136389"/>
              <a:gd name="adj4" fmla="val -940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sz="1400" b="1"/>
              <a:t>Enter the Number  : 345</a:t>
            </a:r>
          </a:p>
          <a:p>
            <a:r>
              <a:rPr lang="en-US" sz="1400" b="1"/>
              <a:t>The reversed Numeral is  543</a:t>
            </a:r>
          </a:p>
        </p:txBody>
      </p:sp>
      <p:sp>
        <p:nvSpPr>
          <p:cNvPr id="32773" name="WordArt 5"/>
          <p:cNvSpPr>
            <a:spLocks noChangeArrowheads="1" noChangeShapeType="1" noTextEdit="1"/>
          </p:cNvSpPr>
          <p:nvPr/>
        </p:nvSpPr>
        <p:spPr bwMode="auto">
          <a:xfrm>
            <a:off x="5207000" y="4114800"/>
            <a:ext cx="2143125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228600" y="171450"/>
            <a:ext cx="4648200" cy="50307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b="1"/>
              <a:t>Write a program to convert the number from binary to decimal</a:t>
            </a:r>
          </a:p>
          <a:p>
            <a:r>
              <a:rPr lang="en-US" sz="1200" b="1"/>
              <a:t>#include&lt;stdio.h&gt;</a:t>
            </a:r>
          </a:p>
          <a:p>
            <a:r>
              <a:rPr lang="en-US" sz="1200" b="1"/>
              <a:t>#include&lt;math.h&gt;</a:t>
            </a:r>
          </a:p>
          <a:p>
            <a:r>
              <a:rPr lang="en-US" sz="1200" b="1"/>
              <a:t>void main()</a:t>
            </a:r>
          </a:p>
          <a:p>
            <a:r>
              <a:rPr lang="en-US" sz="1200" b="1"/>
              <a:t>{</a:t>
            </a:r>
          </a:p>
          <a:p>
            <a:r>
              <a:rPr lang="en-US" sz="1200" b="1"/>
              <a:t>int i=0,j=0,sum=0;</a:t>
            </a:r>
          </a:p>
          <a:p>
            <a:r>
              <a:rPr lang="en-US" sz="1200" b="1"/>
              <a:t>long int n,x;</a:t>
            </a:r>
          </a:p>
          <a:p>
            <a:r>
              <a:rPr lang="en-US" sz="1200" b="1"/>
              <a:t>printf("\n Enter Binary Number");</a:t>
            </a:r>
          </a:p>
          <a:p>
            <a:r>
              <a:rPr lang="en-US" sz="1200" b="1"/>
              <a:t>scanf("%ld",&amp;n);</a:t>
            </a:r>
          </a:p>
          <a:p>
            <a:r>
              <a:rPr lang="en-US" sz="1200" b="1"/>
              <a:t>if(n!=0)</a:t>
            </a:r>
          </a:p>
          <a:p>
            <a:r>
              <a:rPr lang="en-US" sz="1200" b="1"/>
              <a:t>{</a:t>
            </a:r>
          </a:p>
          <a:p>
            <a:r>
              <a:rPr lang="en-US" sz="1200" b="1"/>
              <a:t>i=n%10;</a:t>
            </a:r>
          </a:p>
          <a:p>
            <a:r>
              <a:rPr lang="en-US" sz="1200" b="1"/>
              <a:t>if(i==0 || i==1)</a:t>
            </a:r>
          </a:p>
          <a:p>
            <a:r>
              <a:rPr lang="en-US" sz="1200" b="1"/>
              <a:t>{</a:t>
            </a:r>
          </a:p>
          <a:p>
            <a:r>
              <a:rPr lang="en-US" sz="1200" b="1"/>
              <a:t>while(n!= 0)</a:t>
            </a:r>
          </a:p>
          <a:p>
            <a:r>
              <a:rPr lang="en-US" sz="1200" b="1"/>
              <a:t>{</a:t>
            </a:r>
          </a:p>
          <a:p>
            <a:r>
              <a:rPr lang="en-US" sz="1200" b="1"/>
              <a:t>i=n%10;</a:t>
            </a:r>
          </a:p>
          <a:p>
            <a:r>
              <a:rPr lang="en-US" sz="1200" b="1"/>
              <a:t>sum=sum+i*pow(2,j);</a:t>
            </a:r>
          </a:p>
          <a:p>
            <a:r>
              <a:rPr lang="en-US" sz="1200" b="1"/>
              <a:t>n=n/10;</a:t>
            </a:r>
          </a:p>
          <a:p>
            <a:r>
              <a:rPr lang="en-US" sz="1200" b="1"/>
              <a:t>j++;</a:t>
            </a:r>
          </a:p>
          <a:p>
            <a:r>
              <a:rPr lang="en-US" sz="1200" b="1"/>
              <a:t>}}}</a:t>
            </a:r>
          </a:p>
          <a:p>
            <a:r>
              <a:rPr lang="en-US" sz="1200" b="1"/>
              <a:t>if(sum==0)</a:t>
            </a:r>
          </a:p>
          <a:p>
            <a:r>
              <a:rPr lang="en-US" sz="1200" b="1"/>
              <a:t>printf("\n The no is not a binary number");</a:t>
            </a:r>
          </a:p>
          <a:p>
            <a:r>
              <a:rPr lang="en-US" sz="1200" b="1"/>
              <a:t>else</a:t>
            </a:r>
          </a:p>
          <a:p>
            <a:r>
              <a:rPr lang="en-US" sz="1200" b="1"/>
              <a:t>printf("\n The equivalent decimal number is %d",sum);</a:t>
            </a:r>
          </a:p>
          <a:p>
            <a:r>
              <a:rPr lang="en-US" sz="1200" b="1"/>
              <a:t>}</a:t>
            </a:r>
          </a:p>
        </p:txBody>
      </p:sp>
      <p:sp>
        <p:nvSpPr>
          <p:cNvPr id="33795" name="AutoShape 3"/>
          <p:cNvSpPr>
            <a:spLocks/>
          </p:cNvSpPr>
          <p:nvPr/>
        </p:nvSpPr>
        <p:spPr bwMode="auto">
          <a:xfrm>
            <a:off x="762000" y="6248400"/>
            <a:ext cx="2819400" cy="571500"/>
          </a:xfrm>
          <a:prstGeom prst="borderCallout1">
            <a:avLst>
              <a:gd name="adj1" fmla="val 20000"/>
              <a:gd name="adj2" fmla="val -2704"/>
              <a:gd name="adj3" fmla="val -136389"/>
              <a:gd name="adj4" fmla="val -669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sz="1400" b="1"/>
              <a:t>Enter Binary Number  : 101</a:t>
            </a:r>
          </a:p>
          <a:p>
            <a:r>
              <a:rPr lang="en-US" sz="1400" b="1"/>
              <a:t>The Equivalent Decimal No :  5</a:t>
            </a:r>
          </a:p>
        </p:txBody>
      </p:sp>
      <p:sp>
        <p:nvSpPr>
          <p:cNvPr id="33796" name="WordArt 4"/>
          <p:cNvSpPr>
            <a:spLocks noChangeArrowheads="1" noChangeShapeType="1" noTextEdit="1"/>
          </p:cNvSpPr>
          <p:nvPr/>
        </p:nvSpPr>
        <p:spPr bwMode="auto">
          <a:xfrm>
            <a:off x="228600" y="5334000"/>
            <a:ext cx="2143125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OUTPUT</a:t>
            </a: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4876800" y="228600"/>
            <a:ext cx="4191000" cy="3632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 u="sng"/>
              <a:t>'break' statement Example</a:t>
            </a:r>
          </a:p>
          <a:p>
            <a:r>
              <a:rPr lang="en-US" sz="1200" b="1"/>
              <a:t>	'break' stmt is used to terminate loops </a:t>
            </a:r>
          </a:p>
          <a:p>
            <a:r>
              <a:rPr lang="en-US" sz="1200" b="1"/>
              <a:t>or exit from a switch.it can be used within a do-while, </a:t>
            </a:r>
          </a:p>
          <a:p>
            <a:r>
              <a:rPr lang="en-US" sz="1200" b="1"/>
              <a:t> for and switch statement</a:t>
            </a:r>
          </a:p>
          <a:p>
            <a:endParaRPr lang="en-US" sz="1200" b="1"/>
          </a:p>
          <a:p>
            <a:r>
              <a:rPr lang="en-US" sz="1200" b="1"/>
              <a:t>#include&lt;stdio.h&gt;</a:t>
            </a:r>
          </a:p>
          <a:p>
            <a:r>
              <a:rPr lang="en-US" sz="1200" b="1"/>
              <a:t>void main()</a:t>
            </a:r>
          </a:p>
          <a:p>
            <a:r>
              <a:rPr lang="en-US" sz="1200" b="1"/>
              <a:t>{</a:t>
            </a:r>
          </a:p>
          <a:p>
            <a:r>
              <a:rPr lang="en-US" sz="1200" b="1"/>
              <a:t>int i;</a:t>
            </a:r>
          </a:p>
          <a:p>
            <a:r>
              <a:rPr lang="en-US" sz="1200" b="1"/>
              <a:t>printf("The values are\n");</a:t>
            </a:r>
          </a:p>
          <a:p>
            <a:r>
              <a:rPr lang="en-US" sz="1200" b="1"/>
              <a:t>for(i=1;i&lt;=100;i++)</a:t>
            </a:r>
          </a:p>
          <a:p>
            <a:r>
              <a:rPr lang="en-US" sz="1200" b="1"/>
              <a:t>{</a:t>
            </a:r>
          </a:p>
          <a:p>
            <a:r>
              <a:rPr lang="en-US" sz="1200" b="1"/>
              <a:t>printf("They are %d \n",i);</a:t>
            </a:r>
          </a:p>
          <a:p>
            <a:r>
              <a:rPr lang="en-US" sz="1200" b="1"/>
              <a:t>if(i==25)</a:t>
            </a:r>
          </a:p>
          <a:p>
            <a:r>
              <a:rPr lang="en-US" sz="1200" b="1"/>
              <a:t>{</a:t>
            </a:r>
          </a:p>
          <a:p>
            <a:r>
              <a:rPr lang="en-US" sz="1200" b="1"/>
              <a:t>break;</a:t>
            </a:r>
          </a:p>
          <a:p>
            <a:r>
              <a:rPr lang="en-US" sz="1200" b="1"/>
              <a:t>}</a:t>
            </a:r>
          </a:p>
          <a:p>
            <a:r>
              <a:rPr lang="en-US" sz="1200" b="1"/>
              <a:t>}</a:t>
            </a:r>
          </a:p>
          <a:p>
            <a:r>
              <a:rPr lang="en-US" sz="1200" b="1"/>
              <a:t>}</a:t>
            </a:r>
          </a:p>
        </p:txBody>
      </p:sp>
      <p:sp>
        <p:nvSpPr>
          <p:cNvPr id="33798" name="AutoShape 6"/>
          <p:cNvSpPr>
            <a:spLocks/>
          </p:cNvSpPr>
          <p:nvPr/>
        </p:nvSpPr>
        <p:spPr bwMode="auto">
          <a:xfrm>
            <a:off x="6172200" y="5334000"/>
            <a:ext cx="2819400" cy="533400"/>
          </a:xfrm>
          <a:prstGeom prst="borderCallout1">
            <a:avLst>
              <a:gd name="adj1" fmla="val 21431"/>
              <a:gd name="adj2" fmla="val -2704"/>
              <a:gd name="adj3" fmla="val -167560"/>
              <a:gd name="adj4" fmla="val -1030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sz="1400" b="1"/>
              <a:t>Print the Numbers from 1…25</a:t>
            </a:r>
          </a:p>
        </p:txBody>
      </p:sp>
      <p:sp>
        <p:nvSpPr>
          <p:cNvPr id="33799" name="WordArt 7"/>
          <p:cNvSpPr>
            <a:spLocks noChangeArrowheads="1" noChangeShapeType="1" noTextEdit="1"/>
          </p:cNvSpPr>
          <p:nvPr/>
        </p:nvSpPr>
        <p:spPr bwMode="auto">
          <a:xfrm>
            <a:off x="5638800" y="4267200"/>
            <a:ext cx="2143125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CSC COMPUTER EDUCATION, M.K.B.NAGAR</a:t>
            </a:r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1219200" y="76200"/>
            <a:ext cx="6096000" cy="698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i="1"/>
              <a:t>Convert the character from lower to upper and vice versa.</a:t>
            </a:r>
          </a:p>
          <a:p>
            <a:r>
              <a:rPr lang="en-US" sz="2000" b="1">
                <a:latin typeface="Times New Roman" pitchFamily="18" charset="0"/>
              </a:rPr>
              <a:t>#include&lt;stdio.h&gt;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void main()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{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char x,a;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Do {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printf("\n Enter any character");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fflush(stdin);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scanf("%c",&amp;x);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if(x&gt;='A' &amp;&amp; x&lt;='Z')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      printf("\nLower case %c",x+('a' - 'A'));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else if(x&gt;='a' &amp;&amp; x&lt;='z')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       printf("\n Upper case is %c",x - ('a' - 'A'));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             printf("\n That's not a Letter");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printf("\n Another Data[Y/N]?");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fflush(stdin);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scanf("%c",&amp;a);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}while(a=='y');</a:t>
            </a:r>
          </a:p>
          <a:p>
            <a:pPr>
              <a:lnSpc>
                <a:spcPct val="110000"/>
              </a:lnSpc>
            </a:pPr>
            <a:r>
              <a:rPr lang="en-US" sz="2000" b="1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/>
          <p:cNvSpPr>
            <a:spLocks noChangeArrowheads="1"/>
          </p:cNvSpPr>
          <p:nvPr/>
        </p:nvSpPr>
        <p:spPr bwMode="auto">
          <a:xfrm>
            <a:off x="914400" y="1600200"/>
            <a:ext cx="7620000" cy="4343400"/>
          </a:xfrm>
          <a:prstGeom prst="foldedCorner">
            <a:avLst>
              <a:gd name="adj" fmla="val 12500"/>
            </a:avLst>
          </a:prstGeom>
          <a:solidFill>
            <a:srgbClr val="F7FE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IN"/>
          </a:p>
        </p:txBody>
      </p:sp>
      <p:sp>
        <p:nvSpPr>
          <p:cNvPr id="35843" name="WordArt 3"/>
          <p:cNvSpPr>
            <a:spLocks noChangeArrowheads="1" noChangeShapeType="1" noTextEdit="1"/>
          </p:cNvSpPr>
          <p:nvPr/>
        </p:nvSpPr>
        <p:spPr bwMode="auto">
          <a:xfrm>
            <a:off x="2286000" y="609600"/>
            <a:ext cx="42672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Shortcut Keys</a:t>
            </a: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914400" y="1752600"/>
            <a:ext cx="7467600" cy="405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F2 Key	</a:t>
            </a:r>
            <a:r>
              <a:rPr lang="en-US" sz="2000" b="1">
                <a:sym typeface="Wingdings" pitchFamily="2" charset="2"/>
              </a:rPr>
              <a:t>	Save File</a:t>
            </a:r>
          </a:p>
          <a:p>
            <a:pPr>
              <a:spcBef>
                <a:spcPct val="50000"/>
              </a:spcBef>
            </a:pPr>
            <a:r>
              <a:rPr lang="en-US" sz="2000" b="1">
                <a:sym typeface="Wingdings" pitchFamily="2" charset="2"/>
              </a:rPr>
              <a:t>F3		Open an existing File</a:t>
            </a:r>
          </a:p>
          <a:p>
            <a:pPr>
              <a:spcBef>
                <a:spcPct val="50000"/>
              </a:spcBef>
            </a:pPr>
            <a:r>
              <a:rPr lang="en-US" sz="2000" b="1">
                <a:sym typeface="Wingdings" pitchFamily="2" charset="2"/>
              </a:rPr>
              <a:t>F5		Maximize</a:t>
            </a:r>
          </a:p>
          <a:p>
            <a:pPr>
              <a:spcBef>
                <a:spcPct val="50000"/>
              </a:spcBef>
            </a:pPr>
            <a:r>
              <a:rPr lang="en-US" sz="2000" b="1">
                <a:sym typeface="Wingdings" pitchFamily="2" charset="2"/>
              </a:rPr>
              <a:t>F6		Move to next Program</a:t>
            </a:r>
          </a:p>
          <a:p>
            <a:pPr>
              <a:spcBef>
                <a:spcPct val="50000"/>
              </a:spcBef>
            </a:pPr>
            <a:r>
              <a:rPr lang="en-US" sz="2000" b="1">
                <a:sym typeface="Wingdings" pitchFamily="2" charset="2"/>
              </a:rPr>
              <a:t>Alt+F9		To compile (Check Errors)</a:t>
            </a:r>
          </a:p>
          <a:p>
            <a:pPr>
              <a:spcBef>
                <a:spcPct val="50000"/>
              </a:spcBef>
            </a:pPr>
            <a:r>
              <a:rPr lang="en-US" sz="2000" b="1">
                <a:sym typeface="Wingdings" pitchFamily="2" charset="2"/>
              </a:rPr>
              <a:t>Ctrl+F9		Compile and Linking (Execute a Program)</a:t>
            </a:r>
          </a:p>
          <a:p>
            <a:pPr>
              <a:spcBef>
                <a:spcPct val="50000"/>
              </a:spcBef>
            </a:pPr>
            <a:r>
              <a:rPr lang="en-US" sz="2000" b="1">
                <a:sym typeface="Wingdings" pitchFamily="2" charset="2"/>
              </a:rPr>
              <a:t>Alt+F5		Display output mode</a:t>
            </a:r>
          </a:p>
          <a:p>
            <a:pPr>
              <a:spcBef>
                <a:spcPct val="50000"/>
              </a:spcBef>
            </a:pPr>
            <a:r>
              <a:rPr lang="en-US" sz="2000" b="1">
                <a:sym typeface="Wingdings" pitchFamily="2" charset="2"/>
              </a:rPr>
              <a:t>Alt+F3		Close screen</a:t>
            </a:r>
          </a:p>
          <a:p>
            <a:pPr>
              <a:spcBef>
                <a:spcPct val="50000"/>
              </a:spcBef>
            </a:pPr>
            <a:r>
              <a:rPr lang="en-US" sz="2000" b="1">
                <a:sym typeface="Wingdings" pitchFamily="2" charset="2"/>
              </a:rPr>
              <a:t>Quit		Alt+X (come out from Turbo  “C”)</a:t>
            </a:r>
            <a:endParaRPr lang="en-US" sz="20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76200" y="203200"/>
            <a:ext cx="8915400" cy="5864225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tabLst>
                <a:tab pos="457200" algn="l"/>
              </a:tabLst>
            </a:pPr>
            <a:r>
              <a:rPr lang="en-US" sz="3200" b="1" u="sng">
                <a:latin typeface="Times New Roman" pitchFamily="18" charset="0"/>
              </a:rPr>
              <a:t>Session Summary</a:t>
            </a:r>
          </a:p>
          <a:p>
            <a:pPr>
              <a:tabLst>
                <a:tab pos="457200" algn="l"/>
              </a:tabLst>
            </a:pPr>
            <a:endParaRPr lang="en-US" sz="3200" b="1">
              <a:latin typeface="Times New Roman" pitchFamily="18" charset="0"/>
            </a:endParaRP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The if statement is used to make decisions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The switch statement allows us to make a decision from a number of choices.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The break &amp; continue statements used inside a for, while and do..while loops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The loop does does not terminate when a continue statement is encountered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The switch statement can only for test equality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Break used to terminate or exit from a switch statement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The goto statement is used to transfer the control in a loop or function from one point to any other portion in that program where it encounters a label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0" y="0"/>
            <a:ext cx="8686800" cy="66929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algn="ctr">
              <a:tabLst>
                <a:tab pos="457200" algn="l"/>
              </a:tabLst>
            </a:pPr>
            <a:r>
              <a:rPr lang="en-US" sz="2800" b="1" u="sng">
                <a:latin typeface="Times New Roman" pitchFamily="18" charset="0"/>
              </a:rPr>
              <a:t>EXERCISES</a:t>
            </a:r>
          </a:p>
          <a:p>
            <a:pPr marL="342900" indent="-342900">
              <a:tabLst>
                <a:tab pos="457200" algn="l"/>
              </a:tabLst>
            </a:pPr>
            <a:endParaRPr lang="en-US" sz="2800" b="1">
              <a:latin typeface="Times New Roman" pitchFamily="18" charset="0"/>
            </a:endParaRP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find the perfect square using if..else statement?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Write a program to input the given number is prime or Not?</a:t>
            </a:r>
            <a:endParaRPr lang="en-US" b="1"/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perform arithmetic operations using switch statement?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find the mean and standard deviation of N Numbers?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 Write a program to find the number of five hundreds,Hundreds, Fifties,Twenties,Tens,Fives,two’s and one’s in a amount given using while loop?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Write a program to convert Octal number to a Decimal Number?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Write a program to generate N even Numbers and calculate its sum?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Write a program to count the number of digits in an integers using while loop?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Write a program to calculate the sine series?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76200" y="492125"/>
            <a:ext cx="8991600" cy="9985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algn="ctr">
              <a:spcAft>
                <a:spcPct val="55000"/>
              </a:spcAft>
              <a:tabLst>
                <a:tab pos="457200" algn="l"/>
              </a:tabLst>
            </a:pPr>
            <a:r>
              <a:rPr lang="en-US" sz="2800" b="1" u="sng">
                <a:latin typeface="Times New Roman" pitchFamily="18" charset="0"/>
              </a:rPr>
              <a:t>EXERCISES</a:t>
            </a:r>
          </a:p>
          <a:p>
            <a:pPr marL="342900" indent="-342900">
              <a:tabLst>
                <a:tab pos="457200" algn="l"/>
              </a:tabLst>
            </a:pPr>
            <a:r>
              <a:rPr lang="en-US" sz="1600" b="1"/>
              <a:t>  10.  Write a program to print the following Outputs using for while and do..while loops?</a:t>
            </a:r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1981200"/>
            <a:ext cx="16002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0" y="1981200"/>
            <a:ext cx="19050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34000" y="1905000"/>
            <a:ext cx="2286000" cy="166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971800" y="4038600"/>
            <a:ext cx="2057400" cy="186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9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09600" y="4038600"/>
            <a:ext cx="1981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20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486400" y="4117975"/>
            <a:ext cx="2362200" cy="182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trips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WordArt 2"/>
          <p:cNvSpPr>
            <a:spLocks noChangeArrowheads="1" noChangeShapeType="1" noTextEdit="1"/>
          </p:cNvSpPr>
          <p:nvPr/>
        </p:nvSpPr>
        <p:spPr bwMode="auto">
          <a:xfrm>
            <a:off x="1905000" y="3276600"/>
            <a:ext cx="5886450" cy="128587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String Handling Functions</a:t>
            </a:r>
          </a:p>
        </p:txBody>
      </p:sp>
      <p:sp>
        <p:nvSpPr>
          <p:cNvPr id="4099" name="WordArt 3"/>
          <p:cNvSpPr>
            <a:spLocks noChangeArrowheads="1" noChangeShapeType="1" noTextEdit="1"/>
          </p:cNvSpPr>
          <p:nvPr/>
        </p:nvSpPr>
        <p:spPr bwMode="auto">
          <a:xfrm>
            <a:off x="2819400" y="609600"/>
            <a:ext cx="32766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CHAPTER 4</a:t>
            </a:r>
          </a:p>
        </p:txBody>
      </p:sp>
    </p:spTree>
  </p:cSld>
  <p:clrMapOvr>
    <a:masterClrMapping/>
  </p:clrMapOvr>
  <p:transition spd="med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4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nimBg="1"/>
      <p:bldP spid="409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828800" y="776288"/>
            <a:ext cx="5376863" cy="823912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cs typeface="Times New Roman" pitchFamily="18" charset="0"/>
              </a:rPr>
              <a:t>Session Objectives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838200" y="2376488"/>
            <a:ext cx="58562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Explain</a:t>
            </a: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String Handling Functions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914400" y="3124200"/>
            <a:ext cx="62817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Concatenation (joining) of two strings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914400" y="3810000"/>
            <a:ext cx="48958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Copy one string into another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838200" y="1766888"/>
            <a:ext cx="2552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Define String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971550" y="4419600"/>
            <a:ext cx="7891463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Convert Lowercase string into Upper case string</a:t>
            </a:r>
          </a:p>
          <a:p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And Uppercase into Lowercase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990600" y="5500688"/>
            <a:ext cx="48577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Find the length of the string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3" grpId="0" autoUpdateAnimBg="0"/>
      <p:bldP spid="5124" grpId="0" autoUpdateAnimBg="0"/>
      <p:bldP spid="5125" grpId="0" autoUpdateAnimBg="0"/>
      <p:bldP spid="5126" grpId="0" autoUpdateAnimBg="0"/>
      <p:bldP spid="5127" grpId="0" autoUpdateAnimBg="0"/>
      <p:bldP spid="5128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WordArt 2"/>
          <p:cNvSpPr>
            <a:spLocks noChangeArrowheads="1" noChangeShapeType="1" noTextEdit="1"/>
          </p:cNvSpPr>
          <p:nvPr/>
        </p:nvSpPr>
        <p:spPr bwMode="auto">
          <a:xfrm>
            <a:off x="3200400" y="533400"/>
            <a:ext cx="251460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3333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String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381000" y="1371600"/>
            <a:ext cx="8534400" cy="24479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000" b="1"/>
              <a:t>  </a:t>
            </a:r>
            <a:r>
              <a:rPr lang="en-US" sz="2200" b="1">
                <a:latin typeface="Times New Roman" pitchFamily="18" charset="0"/>
              </a:rPr>
              <a:t>It can be defined as a group of characters which is terminated by a NULL 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200" b="1">
                <a:latin typeface="Times New Roman" pitchFamily="18" charset="0"/>
              </a:rPr>
              <a:t>  Each character of  a string occupies one byte and last character  of a string is always the character  ‘\0’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ü"/>
            </a:pPr>
            <a:r>
              <a:rPr lang="en-US" sz="2200" b="1">
                <a:latin typeface="Times New Roman" pitchFamily="18" charset="0"/>
              </a:rPr>
              <a:t>  \0  </a:t>
            </a:r>
            <a:r>
              <a:rPr lang="en-US" sz="2200" b="1">
                <a:latin typeface="Times New Roman" pitchFamily="18" charset="0"/>
                <a:sym typeface="Wingdings" pitchFamily="2" charset="2"/>
              </a:rPr>
              <a:t>  Null character and it stands for a character with a value               of zero</a:t>
            </a:r>
            <a:endParaRPr lang="en-US" sz="2200" b="1">
              <a:latin typeface="Times New Roman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590800" y="3886200"/>
            <a:ext cx="6248400" cy="2719388"/>
            <a:chOff x="1632" y="2448"/>
            <a:chExt cx="3936" cy="1713"/>
          </a:xfrm>
        </p:grpSpPr>
        <p:sp>
          <p:nvSpPr>
            <p:cNvPr id="4101" name="Text Box 5"/>
            <p:cNvSpPr txBox="1">
              <a:spLocks noChangeArrowheads="1"/>
            </p:cNvSpPr>
            <p:nvPr/>
          </p:nvSpPr>
          <p:spPr bwMode="auto">
            <a:xfrm>
              <a:off x="1632" y="2832"/>
              <a:ext cx="2400" cy="1329"/>
            </a:xfrm>
            <a:prstGeom prst="rect">
              <a:avLst/>
            </a:prstGeom>
            <a:noFill/>
            <a:ln w="9525">
              <a:solidFill>
                <a:srgbClr val="3333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/>
                <a:t>strcpy() 	strlwr()</a:t>
              </a:r>
            </a:p>
            <a:p>
              <a:pPr>
                <a:spcBef>
                  <a:spcPct val="50000"/>
                </a:spcBef>
              </a:pPr>
              <a:r>
                <a:rPr lang="en-US" sz="2400" b="1"/>
                <a:t>strcat() 	strcmp()</a:t>
              </a:r>
            </a:p>
            <a:p>
              <a:pPr>
                <a:spcBef>
                  <a:spcPct val="50000"/>
                </a:spcBef>
              </a:pPr>
              <a:r>
                <a:rPr lang="en-US" sz="2400" b="1"/>
                <a:t>strlen()	strcmpi()</a:t>
              </a:r>
            </a:p>
            <a:p>
              <a:pPr>
                <a:spcBef>
                  <a:spcPct val="50000"/>
                </a:spcBef>
              </a:pPr>
              <a:r>
                <a:rPr lang="en-US" sz="2400" b="1"/>
                <a:t>strupr()	 strrev()</a:t>
              </a:r>
            </a:p>
          </p:txBody>
        </p:sp>
        <p:sp>
          <p:nvSpPr>
            <p:cNvPr id="4102" name="WordArt 6"/>
            <p:cNvSpPr>
              <a:spLocks noChangeArrowheads="1" noChangeShapeType="1" noTextEdit="1"/>
            </p:cNvSpPr>
            <p:nvPr/>
          </p:nvSpPr>
          <p:spPr bwMode="auto">
            <a:xfrm>
              <a:off x="1872" y="2448"/>
              <a:ext cx="2256" cy="3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b="1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3333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String Functions</a:t>
              </a:r>
            </a:p>
          </p:txBody>
        </p:sp>
        <p:sp>
          <p:nvSpPr>
            <p:cNvPr id="4103" name="Text Box 7"/>
            <p:cNvSpPr txBox="1">
              <a:spLocks noChangeArrowheads="1"/>
            </p:cNvSpPr>
            <p:nvPr/>
          </p:nvSpPr>
          <p:spPr bwMode="auto">
            <a:xfrm>
              <a:off x="4704" y="3200"/>
              <a:ext cx="864" cy="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/>
                <a:t>string.h</a:t>
              </a:r>
            </a:p>
          </p:txBody>
        </p:sp>
        <p:sp>
          <p:nvSpPr>
            <p:cNvPr id="4104" name="Line 8"/>
            <p:cNvSpPr>
              <a:spLocks noChangeShapeType="1"/>
            </p:cNvSpPr>
            <p:nvPr/>
          </p:nvSpPr>
          <p:spPr bwMode="auto">
            <a:xfrm>
              <a:off x="4032" y="3360"/>
              <a:ext cx="672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  <p:bldP spid="614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381000" y="304800"/>
            <a:ext cx="8229600" cy="5262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u="sng">
                <a:latin typeface="Times New Roman" pitchFamily="18" charset="0"/>
              </a:rPr>
              <a:t>Strcpy() function :</a:t>
            </a:r>
          </a:p>
          <a:p>
            <a:r>
              <a:rPr lang="en-US" sz="2400" b="1">
                <a:latin typeface="Times New Roman" pitchFamily="18" charset="0"/>
              </a:rPr>
              <a:t>          It copies the contents of one string into another string.</a:t>
            </a:r>
          </a:p>
          <a:p>
            <a:r>
              <a:rPr lang="en-US" sz="2400" b="1" u="sng">
                <a:latin typeface="Times New Roman" pitchFamily="18" charset="0"/>
              </a:rPr>
              <a:t>Syntax   : </a:t>
            </a:r>
            <a:r>
              <a:rPr lang="en-US" sz="2400" b="1">
                <a:latin typeface="Times New Roman" pitchFamily="18" charset="0"/>
              </a:rPr>
              <a:t>   strcpy (Destination String ,Source String);</a:t>
            </a:r>
          </a:p>
          <a:p>
            <a:endParaRPr lang="en-US" sz="2400" b="1">
              <a:latin typeface="Times New Roman" pitchFamily="18" charset="0"/>
            </a:endParaRPr>
          </a:p>
          <a:p>
            <a:r>
              <a:rPr lang="en-US" sz="2000" b="1">
                <a:latin typeface="Times New Roman" pitchFamily="18" charset="0"/>
              </a:rPr>
              <a:t>#include&lt;stdio.h&gt;</a:t>
            </a:r>
          </a:p>
          <a:p>
            <a:r>
              <a:rPr lang="en-US" sz="2000" b="1">
                <a:latin typeface="Times New Roman" pitchFamily="18" charset="0"/>
              </a:rPr>
              <a:t>#include&lt;string.h&gt;</a:t>
            </a:r>
          </a:p>
          <a:p>
            <a:r>
              <a:rPr lang="en-US" sz="2000" b="1">
                <a:latin typeface="Times New Roman" pitchFamily="18" charset="0"/>
              </a:rPr>
              <a:t>#include&lt;conio.h&gt;</a:t>
            </a:r>
          </a:p>
          <a:p>
            <a:r>
              <a:rPr lang="en-US" sz="2000" b="1">
                <a:latin typeface="Times New Roman" pitchFamily="18" charset="0"/>
              </a:rPr>
              <a:t>void main()</a:t>
            </a:r>
          </a:p>
          <a:p>
            <a:r>
              <a:rPr lang="en-US" sz="2000" b="1">
                <a:latin typeface="Times New Roman" pitchFamily="18" charset="0"/>
              </a:rPr>
              <a:t>{</a:t>
            </a:r>
          </a:p>
          <a:p>
            <a:r>
              <a:rPr lang="en-US" sz="2000" b="1">
                <a:latin typeface="Times New Roman" pitchFamily="18" charset="0"/>
              </a:rPr>
              <a:t>char str[25],cpy[25];clrscr();</a:t>
            </a:r>
          </a:p>
          <a:p>
            <a:r>
              <a:rPr lang="en-US" sz="2000" b="1">
                <a:latin typeface="Times New Roman" pitchFamily="18" charset="0"/>
              </a:rPr>
              <a:t>printf("\n Enter a String");</a:t>
            </a:r>
          </a:p>
          <a:p>
            <a:r>
              <a:rPr lang="en-US" sz="2000" b="1">
                <a:latin typeface="Times New Roman" pitchFamily="18" charset="0"/>
              </a:rPr>
              <a:t>gets(str);</a:t>
            </a:r>
          </a:p>
          <a:p>
            <a:r>
              <a:rPr lang="en-US" sz="2000" b="1">
                <a:latin typeface="Times New Roman" pitchFamily="18" charset="0"/>
              </a:rPr>
              <a:t>strcpy( cpy, str);</a:t>
            </a:r>
          </a:p>
          <a:p>
            <a:r>
              <a:rPr lang="en-US" sz="2000" b="1">
                <a:latin typeface="Times New Roman" pitchFamily="18" charset="0"/>
              </a:rPr>
              <a:t>printf("\n The copied string is %s",cpy);</a:t>
            </a:r>
          </a:p>
          <a:p>
            <a:r>
              <a:rPr lang="en-US" sz="2000" b="1">
                <a:latin typeface="Times New Roman" pitchFamily="18" charset="0"/>
              </a:rPr>
              <a:t>getch();</a:t>
            </a:r>
          </a:p>
          <a:p>
            <a:r>
              <a:rPr lang="en-US" sz="2000" b="1">
                <a:latin typeface="Times New Roman" pitchFamily="18" charset="0"/>
              </a:rPr>
              <a:t>}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3048000" y="5513388"/>
            <a:ext cx="5257800" cy="119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Enter a String : Apollo</a:t>
            </a:r>
          </a:p>
          <a:p>
            <a:pPr>
              <a:spcBef>
                <a:spcPct val="50000"/>
              </a:spcBef>
            </a:pPr>
            <a:r>
              <a:rPr lang="en-US" b="1"/>
              <a:t>The Source string is : Apollo</a:t>
            </a:r>
          </a:p>
          <a:p>
            <a:pPr>
              <a:spcBef>
                <a:spcPct val="50000"/>
              </a:spcBef>
            </a:pPr>
            <a:r>
              <a:rPr lang="en-US" b="1"/>
              <a:t>The Copied string is : Apollo</a:t>
            </a:r>
          </a:p>
        </p:txBody>
      </p:sp>
      <p:sp>
        <p:nvSpPr>
          <p:cNvPr id="7172" name="AutoShape 4"/>
          <p:cNvSpPr>
            <a:spLocks/>
          </p:cNvSpPr>
          <p:nvPr/>
        </p:nvSpPr>
        <p:spPr bwMode="auto">
          <a:xfrm>
            <a:off x="1066800" y="5867400"/>
            <a:ext cx="1752600" cy="609600"/>
          </a:xfrm>
          <a:prstGeom prst="borderCallout1">
            <a:avLst>
              <a:gd name="adj1" fmla="val 18750"/>
              <a:gd name="adj2" fmla="val -4347"/>
              <a:gd name="adj3" fmla="val -35417"/>
              <a:gd name="adj4" fmla="val -3188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400" b="1"/>
              <a:t>OUTPUT</a:t>
            </a:r>
          </a:p>
        </p:txBody>
      </p:sp>
    </p:spTree>
  </p:cSld>
  <p:clrMapOvr>
    <a:masterClrMapping/>
  </p:clrMapOvr>
  <p:transition spd="med"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nimBg="1"/>
      <p:bldP spid="7171" grpId="0"/>
      <p:bldP spid="7172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381000" y="304800"/>
            <a:ext cx="8229600" cy="5219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u="sng">
                <a:latin typeface="Times New Roman" pitchFamily="18" charset="0"/>
              </a:rPr>
              <a:t>Strcat() function :</a:t>
            </a:r>
          </a:p>
          <a:p>
            <a:r>
              <a:rPr lang="en-US" sz="2400" b="1">
                <a:latin typeface="Times New Roman" pitchFamily="18" charset="0"/>
              </a:rPr>
              <a:t>          It concatenates the source string at the end of the target string.</a:t>
            </a:r>
          </a:p>
          <a:p>
            <a:r>
              <a:rPr lang="en-US" sz="2400" b="1" u="sng">
                <a:latin typeface="Times New Roman" pitchFamily="18" charset="0"/>
              </a:rPr>
              <a:t>Syntax   : </a:t>
            </a:r>
            <a:r>
              <a:rPr lang="en-US" sz="2400" b="1">
                <a:latin typeface="Times New Roman" pitchFamily="18" charset="0"/>
              </a:rPr>
              <a:t>   strcat(string1,string2</a:t>
            </a:r>
            <a:r>
              <a:rPr lang="en-US" sz="2000" b="1"/>
              <a:t>);</a:t>
            </a:r>
          </a:p>
          <a:p>
            <a:r>
              <a:rPr lang="en-US" sz="2000" b="1">
                <a:latin typeface="Times New Roman" pitchFamily="18" charset="0"/>
              </a:rPr>
              <a:t>#include&lt;stdio.h&gt;</a:t>
            </a:r>
          </a:p>
          <a:p>
            <a:r>
              <a:rPr lang="en-US" sz="2000" b="1">
                <a:latin typeface="Times New Roman" pitchFamily="18" charset="0"/>
              </a:rPr>
              <a:t>#include&lt;string.h&gt;</a:t>
            </a:r>
          </a:p>
          <a:p>
            <a:r>
              <a:rPr lang="en-US" sz="2000" b="1">
                <a:latin typeface="Times New Roman" pitchFamily="18" charset="0"/>
              </a:rPr>
              <a:t>#include&lt;conio.h&gt;</a:t>
            </a:r>
          </a:p>
          <a:p>
            <a:r>
              <a:rPr lang="en-US" sz="2000" b="1">
                <a:latin typeface="Times New Roman" pitchFamily="18" charset="0"/>
              </a:rPr>
              <a:t>void main()</a:t>
            </a:r>
          </a:p>
          <a:p>
            <a:r>
              <a:rPr lang="en-US" sz="2000" b="1">
                <a:latin typeface="Times New Roman" pitchFamily="18" charset="0"/>
              </a:rPr>
              <a:t>{</a:t>
            </a:r>
          </a:p>
          <a:p>
            <a:r>
              <a:rPr lang="en-US" sz="2000" b="1">
                <a:latin typeface="Times New Roman" pitchFamily="18" charset="0"/>
              </a:rPr>
              <a:t>char str[25],str1[25];clrscr();</a:t>
            </a:r>
          </a:p>
          <a:p>
            <a:r>
              <a:rPr lang="en-US" sz="2000" b="1">
                <a:latin typeface="Times New Roman" pitchFamily="18" charset="0"/>
              </a:rPr>
              <a:t>printf("\n Enter a String");</a:t>
            </a:r>
          </a:p>
          <a:p>
            <a:r>
              <a:rPr lang="en-US" sz="2000" b="1">
                <a:latin typeface="Times New Roman" pitchFamily="18" charset="0"/>
              </a:rPr>
              <a:t>gets(str);</a:t>
            </a:r>
          </a:p>
          <a:p>
            <a:r>
              <a:rPr lang="en-US" sz="2000" b="1">
                <a:latin typeface="Times New Roman" pitchFamily="18" charset="0"/>
              </a:rPr>
              <a:t>printf("\n Enter another String");</a:t>
            </a:r>
          </a:p>
          <a:p>
            <a:r>
              <a:rPr lang="en-US" sz="2000" b="1">
                <a:latin typeface="Times New Roman" pitchFamily="18" charset="0"/>
              </a:rPr>
              <a:t>gets(str1);</a:t>
            </a:r>
          </a:p>
          <a:p>
            <a:r>
              <a:rPr lang="en-US" sz="2000" b="1">
                <a:latin typeface="Times New Roman" pitchFamily="18" charset="0"/>
              </a:rPr>
              <a:t>printf("\n The concatenated string is %s",strcat(str,str1));getch();</a:t>
            </a:r>
          </a:p>
          <a:p>
            <a:r>
              <a:rPr lang="en-US" sz="2000" b="1">
                <a:latin typeface="Times New Roman" pitchFamily="18" charset="0"/>
              </a:rPr>
              <a:t>}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3048000" y="5513388"/>
            <a:ext cx="54864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Enter a String : Apollo</a:t>
            </a:r>
          </a:p>
          <a:p>
            <a:pPr>
              <a:spcBef>
                <a:spcPct val="50000"/>
              </a:spcBef>
            </a:pPr>
            <a:r>
              <a:rPr lang="en-US" b="1"/>
              <a:t>Enter another String : COMPUTER</a:t>
            </a:r>
          </a:p>
          <a:p>
            <a:pPr>
              <a:spcBef>
                <a:spcPct val="50000"/>
              </a:spcBef>
            </a:pPr>
            <a:r>
              <a:rPr lang="en-US" b="1"/>
              <a:t>The Concatenated string is : Apollo COMPUTER</a:t>
            </a:r>
          </a:p>
        </p:txBody>
      </p:sp>
      <p:sp>
        <p:nvSpPr>
          <p:cNvPr id="6148" name="AutoShape 4"/>
          <p:cNvSpPr>
            <a:spLocks/>
          </p:cNvSpPr>
          <p:nvPr/>
        </p:nvSpPr>
        <p:spPr bwMode="auto">
          <a:xfrm>
            <a:off x="1143000" y="5867400"/>
            <a:ext cx="1752600" cy="609600"/>
          </a:xfrm>
          <a:prstGeom prst="borderCallout1">
            <a:avLst>
              <a:gd name="adj1" fmla="val 18750"/>
              <a:gd name="adj2" fmla="val -4347"/>
              <a:gd name="adj3" fmla="val -41667"/>
              <a:gd name="adj4" fmla="val -2681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400" b="1"/>
              <a:t>OUTPUT</a:t>
            </a:r>
          </a:p>
        </p:txBody>
      </p:sp>
    </p:spTree>
  </p:cSld>
  <p:clrMapOvr>
    <a:masterClrMapping/>
  </p:clrMapOvr>
  <p:transition spd="med">
    <p:comb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-76200"/>
            <a:ext cx="9067800" cy="6026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u="sng"/>
              <a:t>Strcmp() function :</a:t>
            </a:r>
          </a:p>
          <a:p>
            <a:r>
              <a:rPr lang="en-US" sz="2000"/>
              <a:t>       </a:t>
            </a:r>
            <a:r>
              <a:rPr lang="en-US" sz="2000" b="1">
                <a:latin typeface="Times New Roman" pitchFamily="18" charset="0"/>
              </a:rPr>
              <a:t>It compares two strings to find whether the strings are equal or not.</a:t>
            </a:r>
          </a:p>
          <a:p>
            <a:r>
              <a:rPr lang="en-US" sz="2000" b="1" u="sng">
                <a:latin typeface="Times New Roman" pitchFamily="18" charset="0"/>
              </a:rPr>
              <a:t>Syntax   : </a:t>
            </a:r>
            <a:r>
              <a:rPr lang="en-US" sz="2000" b="1">
                <a:latin typeface="Times New Roman" pitchFamily="18" charset="0"/>
              </a:rPr>
              <a:t>   strcmp(string1,string2);</a:t>
            </a:r>
          </a:p>
          <a:p>
            <a:endParaRPr lang="en-US" sz="2000" b="1">
              <a:latin typeface="Times New Roman" pitchFamily="18" charset="0"/>
            </a:endParaRPr>
          </a:p>
          <a:p>
            <a:r>
              <a:rPr lang="en-US" sz="1600" b="1"/>
              <a:t>#include&lt;stdio.h&gt;</a:t>
            </a:r>
          </a:p>
          <a:p>
            <a:r>
              <a:rPr lang="en-US" sz="1600" b="1"/>
              <a:t>#include&lt;string.h&gt;</a:t>
            </a:r>
          </a:p>
          <a:p>
            <a:r>
              <a:rPr lang="en-US" sz="1600" b="1"/>
              <a:t>#include&lt;conio.h&gt;</a:t>
            </a:r>
          </a:p>
          <a:p>
            <a:r>
              <a:rPr lang="en-US" sz="1600" b="1"/>
              <a:t>void main()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char str[25],str1[25];</a:t>
            </a:r>
          </a:p>
          <a:p>
            <a:r>
              <a:rPr lang="en-US" sz="1600" b="1"/>
              <a:t>int x;clrscr();</a:t>
            </a:r>
          </a:p>
          <a:p>
            <a:r>
              <a:rPr lang="en-US" sz="1600" b="1"/>
              <a:t>printf("\n Enter a String");</a:t>
            </a:r>
          </a:p>
          <a:p>
            <a:r>
              <a:rPr lang="en-US" sz="1600" b="1"/>
              <a:t>gets(str);</a:t>
            </a:r>
          </a:p>
          <a:p>
            <a:r>
              <a:rPr lang="en-US" sz="1600" b="1"/>
              <a:t>printf("\n Enter another String");</a:t>
            </a:r>
          </a:p>
          <a:p>
            <a:r>
              <a:rPr lang="en-US" sz="1600" b="1"/>
              <a:t>gets(str1);</a:t>
            </a:r>
          </a:p>
          <a:p>
            <a:r>
              <a:rPr lang="en-US" sz="1600" b="1"/>
              <a:t>x=strcmp(str,str1);</a:t>
            </a:r>
          </a:p>
          <a:p>
            <a:r>
              <a:rPr lang="en-US" sz="1600" b="1"/>
              <a:t>If(x==0)</a:t>
            </a:r>
          </a:p>
          <a:p>
            <a:r>
              <a:rPr lang="en-US" sz="1600" b="1"/>
              <a:t>printf(“\n Strings are equal”);</a:t>
            </a:r>
          </a:p>
          <a:p>
            <a:r>
              <a:rPr lang="en-US" sz="1600" b="1"/>
              <a:t>else if(x&gt;0)</a:t>
            </a:r>
          </a:p>
          <a:p>
            <a:r>
              <a:rPr lang="en-US" sz="1600" b="1"/>
              <a:t>printf("\n The string1 %s is greater than string2 %s”,str,str1);</a:t>
            </a:r>
          </a:p>
          <a:p>
            <a:r>
              <a:rPr lang="en-US" sz="1600" b="1"/>
              <a:t>else</a:t>
            </a:r>
          </a:p>
          <a:p>
            <a:r>
              <a:rPr lang="en-US" sz="1600" b="1"/>
              <a:t>printf("\n The string2 %s is greater than string1 %s”,str1,str);getch();</a:t>
            </a:r>
          </a:p>
          <a:p>
            <a:r>
              <a:rPr lang="en-US" sz="1600" b="1"/>
              <a:t>}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2362200" y="5638800"/>
            <a:ext cx="6553200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700" b="1"/>
              <a:t>Enter a String : JAIKUMAR</a:t>
            </a:r>
          </a:p>
          <a:p>
            <a:pPr>
              <a:spcBef>
                <a:spcPct val="50000"/>
              </a:spcBef>
            </a:pPr>
            <a:r>
              <a:rPr lang="en-US" sz="1700" b="1"/>
              <a:t>Enter another String : SASIKUMAR</a:t>
            </a:r>
          </a:p>
          <a:p>
            <a:pPr>
              <a:spcBef>
                <a:spcPct val="50000"/>
              </a:spcBef>
            </a:pPr>
            <a:r>
              <a:rPr lang="en-US" sz="1700" b="1"/>
              <a:t>The string2 SASIKUMAR is greater than string1 JAIKUMAR</a:t>
            </a:r>
          </a:p>
        </p:txBody>
      </p:sp>
      <p:sp>
        <p:nvSpPr>
          <p:cNvPr id="7172" name="AutoShape 4"/>
          <p:cNvSpPr>
            <a:spLocks/>
          </p:cNvSpPr>
          <p:nvPr/>
        </p:nvSpPr>
        <p:spPr bwMode="auto">
          <a:xfrm>
            <a:off x="533400" y="6096000"/>
            <a:ext cx="1752600" cy="609600"/>
          </a:xfrm>
          <a:prstGeom prst="borderCallout1">
            <a:avLst>
              <a:gd name="adj1" fmla="val 18750"/>
              <a:gd name="adj2" fmla="val -4347"/>
              <a:gd name="adj3" fmla="val -523"/>
              <a:gd name="adj4" fmla="val -2753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400" b="1"/>
              <a:t>OUTPUT</a:t>
            </a:r>
          </a:p>
        </p:txBody>
      </p:sp>
      <p:sp>
        <p:nvSpPr>
          <p:cNvPr id="7173" name="AutoShape 5"/>
          <p:cNvSpPr>
            <a:spLocks noChangeArrowheads="1"/>
          </p:cNvSpPr>
          <p:nvPr/>
        </p:nvSpPr>
        <p:spPr bwMode="auto">
          <a:xfrm>
            <a:off x="3962400" y="1295400"/>
            <a:ext cx="4038600" cy="1828800"/>
          </a:xfrm>
          <a:prstGeom prst="wedgeEllipseCallout">
            <a:avLst>
              <a:gd name="adj1" fmla="val -57231"/>
              <a:gd name="adj2" fmla="val -6119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000" b="1" u="sng"/>
              <a:t>Return values </a:t>
            </a:r>
          </a:p>
          <a:p>
            <a:r>
              <a:rPr lang="en-US" b="1"/>
              <a:t>0         </a:t>
            </a:r>
            <a:r>
              <a:rPr lang="en-US" b="1">
                <a:sym typeface="Wingdings" pitchFamily="2" charset="2"/>
              </a:rPr>
              <a:t>  </a:t>
            </a:r>
            <a:r>
              <a:rPr lang="en-US" b="1"/>
              <a:t>Equal</a:t>
            </a:r>
          </a:p>
          <a:p>
            <a:r>
              <a:rPr lang="en-US" b="1"/>
              <a:t>1         </a:t>
            </a:r>
            <a:r>
              <a:rPr lang="en-US" b="1">
                <a:sym typeface="Wingdings" pitchFamily="2" charset="2"/>
              </a:rPr>
              <a:t>  string1&gt;string2</a:t>
            </a:r>
          </a:p>
          <a:p>
            <a:r>
              <a:rPr lang="en-US" b="1"/>
              <a:t>- 1       </a:t>
            </a:r>
            <a:r>
              <a:rPr lang="en-US" b="1">
                <a:sym typeface="Wingdings" pitchFamily="2" charset="2"/>
              </a:rPr>
              <a:t> string1&lt;string2</a:t>
            </a:r>
            <a:endParaRPr lang="en-US" b="1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-76200"/>
            <a:ext cx="9067800" cy="6026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u="sng"/>
              <a:t>Strcmpi() function :</a:t>
            </a:r>
          </a:p>
          <a:p>
            <a:r>
              <a:rPr lang="en-US" sz="2000" b="1"/>
              <a:t>       </a:t>
            </a:r>
            <a:r>
              <a:rPr lang="en-US" sz="2000" b="1">
                <a:latin typeface="Times New Roman" pitchFamily="18" charset="0"/>
              </a:rPr>
              <a:t>It compares two strings without regard to case to find whether the strings are equal or not. ( i  </a:t>
            </a:r>
            <a:r>
              <a:rPr lang="en-US" sz="2000" b="1">
                <a:latin typeface="Times New Roman" pitchFamily="18" charset="0"/>
                <a:sym typeface="Wingdings" pitchFamily="2" charset="2"/>
              </a:rPr>
              <a:t>  ignorecase)</a:t>
            </a:r>
            <a:endParaRPr lang="en-US" sz="2000" b="1">
              <a:latin typeface="Times New Roman" pitchFamily="18" charset="0"/>
            </a:endParaRPr>
          </a:p>
          <a:p>
            <a:r>
              <a:rPr lang="en-US" sz="2000" b="1" u="sng">
                <a:latin typeface="Times New Roman" pitchFamily="18" charset="0"/>
              </a:rPr>
              <a:t>Syntax   : </a:t>
            </a:r>
            <a:r>
              <a:rPr lang="en-US" sz="2000" b="1">
                <a:latin typeface="Times New Roman" pitchFamily="18" charset="0"/>
              </a:rPr>
              <a:t>   strcmpi(string1,string2);</a:t>
            </a:r>
          </a:p>
          <a:p>
            <a:r>
              <a:rPr lang="en-US" sz="1600" b="1"/>
              <a:t>#include&lt;stdio.h&gt;</a:t>
            </a:r>
          </a:p>
          <a:p>
            <a:r>
              <a:rPr lang="en-US" sz="1600" b="1"/>
              <a:t>#include&lt;string.h&gt;</a:t>
            </a:r>
          </a:p>
          <a:p>
            <a:r>
              <a:rPr lang="en-US" sz="1600" b="1"/>
              <a:t>#include&lt;conio.h&gt;</a:t>
            </a:r>
          </a:p>
          <a:p>
            <a:r>
              <a:rPr lang="en-US" sz="1600" b="1"/>
              <a:t>void main()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char str[25],str1[25];</a:t>
            </a:r>
          </a:p>
          <a:p>
            <a:r>
              <a:rPr lang="en-US" sz="1600" b="1"/>
              <a:t>int x;clrscr();</a:t>
            </a:r>
          </a:p>
          <a:p>
            <a:r>
              <a:rPr lang="en-US" sz="1600" b="1"/>
              <a:t>printf("\n Enter a String");</a:t>
            </a:r>
          </a:p>
          <a:p>
            <a:r>
              <a:rPr lang="en-US" sz="1600" b="1"/>
              <a:t>gets(str);</a:t>
            </a:r>
          </a:p>
          <a:p>
            <a:r>
              <a:rPr lang="en-US" sz="1600" b="1"/>
              <a:t>printf("\n Enter another String");</a:t>
            </a:r>
          </a:p>
          <a:p>
            <a:r>
              <a:rPr lang="en-US" sz="1600" b="1"/>
              <a:t>gets(str1);</a:t>
            </a:r>
          </a:p>
          <a:p>
            <a:r>
              <a:rPr lang="en-US" sz="1600" b="1"/>
              <a:t>x=strcmpi(str,str1);</a:t>
            </a:r>
          </a:p>
          <a:p>
            <a:r>
              <a:rPr lang="en-US" sz="1600" b="1"/>
              <a:t>if(x==0)</a:t>
            </a:r>
          </a:p>
          <a:p>
            <a:r>
              <a:rPr lang="en-US" sz="1600" b="1"/>
              <a:t>printf(“\n The two Strings are equal”);</a:t>
            </a:r>
          </a:p>
          <a:p>
            <a:r>
              <a:rPr lang="en-US" sz="1600" b="1"/>
              <a:t>else if(x&gt;0)</a:t>
            </a:r>
          </a:p>
          <a:p>
            <a:r>
              <a:rPr lang="en-US" sz="1600" b="1"/>
              <a:t>printf("\n The string1 %s is greater than string2 %s”,str,str1);</a:t>
            </a:r>
          </a:p>
          <a:p>
            <a:r>
              <a:rPr lang="en-US" sz="1600" b="1"/>
              <a:t>else</a:t>
            </a:r>
          </a:p>
          <a:p>
            <a:r>
              <a:rPr lang="en-US" sz="1600" b="1"/>
              <a:t>printf("\n The string2 %s is greater than string1 %s”,str1,str);getch();</a:t>
            </a:r>
          </a:p>
          <a:p>
            <a:r>
              <a:rPr lang="en-US" sz="1600" b="1"/>
              <a:t>}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2362200" y="5638800"/>
            <a:ext cx="6553200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700" b="1"/>
              <a:t>Enter a String : JAIKUMAR</a:t>
            </a:r>
          </a:p>
          <a:p>
            <a:pPr>
              <a:spcBef>
                <a:spcPct val="50000"/>
              </a:spcBef>
            </a:pPr>
            <a:r>
              <a:rPr lang="en-US" sz="1700" b="1"/>
              <a:t>Enter another String : jaikumar</a:t>
            </a:r>
          </a:p>
          <a:p>
            <a:pPr>
              <a:spcBef>
                <a:spcPct val="50000"/>
              </a:spcBef>
            </a:pPr>
            <a:r>
              <a:rPr lang="en-US" sz="1700" b="1"/>
              <a:t>The Two strings are equal</a:t>
            </a:r>
          </a:p>
        </p:txBody>
      </p:sp>
      <p:sp>
        <p:nvSpPr>
          <p:cNvPr id="8196" name="AutoShape 4"/>
          <p:cNvSpPr>
            <a:spLocks/>
          </p:cNvSpPr>
          <p:nvPr/>
        </p:nvSpPr>
        <p:spPr bwMode="auto">
          <a:xfrm>
            <a:off x="609600" y="6019800"/>
            <a:ext cx="1752600" cy="609600"/>
          </a:xfrm>
          <a:prstGeom prst="borderCallout1">
            <a:avLst>
              <a:gd name="adj1" fmla="val 18750"/>
              <a:gd name="adj2" fmla="val -4347"/>
              <a:gd name="adj3" fmla="val -25523"/>
              <a:gd name="adj4" fmla="val -2753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400" b="1"/>
              <a:t>OUTPUT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381000" y="304800"/>
            <a:ext cx="8229600" cy="5762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u="sng"/>
              <a:t>strrev() function :</a:t>
            </a:r>
          </a:p>
          <a:p>
            <a:r>
              <a:rPr lang="en-US" sz="2000"/>
              <a:t>          </a:t>
            </a:r>
            <a:r>
              <a:rPr lang="en-US" sz="2400" b="1">
                <a:latin typeface="Times New Roman" pitchFamily="18" charset="0"/>
              </a:rPr>
              <a:t>used to reverse a string. It takes only one argument.</a:t>
            </a:r>
          </a:p>
          <a:p>
            <a:r>
              <a:rPr lang="en-US" sz="2000"/>
              <a:t>  </a:t>
            </a:r>
          </a:p>
          <a:p>
            <a:r>
              <a:rPr lang="en-US" sz="2000" b="1" u="sng"/>
              <a:t>Syntax   : </a:t>
            </a:r>
            <a:r>
              <a:rPr lang="en-US" sz="2000" b="1"/>
              <a:t>   strrev(string);</a:t>
            </a:r>
          </a:p>
          <a:p>
            <a:endParaRPr lang="en-US" sz="2000" b="1"/>
          </a:p>
          <a:p>
            <a:r>
              <a:rPr lang="en-US" sz="2400" b="1">
                <a:latin typeface="Times New Roman" pitchFamily="18" charset="0"/>
              </a:rPr>
              <a:t>#include&lt;stdio.h&gt;</a:t>
            </a:r>
          </a:p>
          <a:p>
            <a:r>
              <a:rPr lang="en-US" sz="2400" b="1">
                <a:latin typeface="Times New Roman" pitchFamily="18" charset="0"/>
              </a:rPr>
              <a:t>#include&lt;string.h&gt;</a:t>
            </a:r>
          </a:p>
          <a:p>
            <a:r>
              <a:rPr lang="en-US" sz="2400" b="1">
                <a:latin typeface="Times New Roman" pitchFamily="18" charset="0"/>
              </a:rPr>
              <a:t>#include&lt;conio.h&gt;</a:t>
            </a:r>
          </a:p>
          <a:p>
            <a:r>
              <a:rPr lang="en-US" sz="2400" b="1">
                <a:latin typeface="Times New Roman" pitchFamily="18" charset="0"/>
              </a:rPr>
              <a:t>void main()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char str[25];clrscr();</a:t>
            </a:r>
          </a:p>
          <a:p>
            <a:r>
              <a:rPr lang="en-US" sz="2400" b="1">
                <a:latin typeface="Times New Roman" pitchFamily="18" charset="0"/>
              </a:rPr>
              <a:t>printf("\n Enter a String");</a:t>
            </a:r>
          </a:p>
          <a:p>
            <a:r>
              <a:rPr lang="en-US" sz="2400" b="1">
                <a:latin typeface="Times New Roman" pitchFamily="18" charset="0"/>
              </a:rPr>
              <a:t>gets(str);</a:t>
            </a:r>
          </a:p>
          <a:p>
            <a:r>
              <a:rPr lang="en-US" sz="2400" b="1">
                <a:latin typeface="Times New Roman" pitchFamily="18" charset="0"/>
              </a:rPr>
              <a:t>printf("\n The Reversed string is %s",strrev(str));</a:t>
            </a:r>
          </a:p>
          <a:p>
            <a:r>
              <a:rPr lang="en-US" sz="2400" b="1">
                <a:latin typeface="Times New Roman" pitchFamily="18" charset="0"/>
              </a:rPr>
              <a:t>getch();</a:t>
            </a:r>
          </a:p>
          <a:p>
            <a:r>
              <a:rPr lang="en-US" sz="2400" b="1">
                <a:latin typeface="Times New Roman" pitchFamily="18" charset="0"/>
              </a:rPr>
              <a:t>}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3048000" y="6078538"/>
            <a:ext cx="5257800" cy="77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Enter a String : SHIVA</a:t>
            </a:r>
          </a:p>
          <a:p>
            <a:pPr>
              <a:spcBef>
                <a:spcPct val="50000"/>
              </a:spcBef>
            </a:pPr>
            <a:r>
              <a:rPr lang="en-US" b="1"/>
              <a:t>The reversed string is : AVIHS</a:t>
            </a:r>
          </a:p>
        </p:txBody>
      </p:sp>
      <p:sp>
        <p:nvSpPr>
          <p:cNvPr id="9220" name="AutoShape 4"/>
          <p:cNvSpPr>
            <a:spLocks/>
          </p:cNvSpPr>
          <p:nvPr/>
        </p:nvSpPr>
        <p:spPr bwMode="auto">
          <a:xfrm>
            <a:off x="1066800" y="6248400"/>
            <a:ext cx="1752600" cy="609600"/>
          </a:xfrm>
          <a:prstGeom prst="borderCallout1">
            <a:avLst>
              <a:gd name="adj1" fmla="val 18750"/>
              <a:gd name="adj2" fmla="val -4347"/>
              <a:gd name="adj3" fmla="val -231773"/>
              <a:gd name="adj4" fmla="val -2074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400" b="1"/>
              <a:t>OUTPUT</a:t>
            </a:r>
          </a:p>
        </p:txBody>
      </p:sp>
    </p:spTree>
  </p:cSld>
  <p:clrMapOvr>
    <a:masterClrMapping/>
  </p:clrMapOvr>
  <p:transition spd="med">
    <p:checker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381000" y="304800"/>
            <a:ext cx="8229600" cy="5343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u="sng"/>
              <a:t>strupr() function :</a:t>
            </a:r>
          </a:p>
          <a:p>
            <a:r>
              <a:rPr lang="en-US" sz="2000"/>
              <a:t>          used to convert a string to uppercase. It takes only one argument.</a:t>
            </a:r>
          </a:p>
          <a:p>
            <a:r>
              <a:rPr lang="en-US" sz="2000"/>
              <a:t>  </a:t>
            </a:r>
          </a:p>
          <a:p>
            <a:r>
              <a:rPr lang="en-US" sz="2000" b="1" u="sng"/>
              <a:t>Syntax   : </a:t>
            </a:r>
            <a:r>
              <a:rPr lang="en-US" sz="2000" b="1"/>
              <a:t>   strupr(string);</a:t>
            </a:r>
          </a:p>
          <a:p>
            <a:endParaRPr lang="en-US" sz="2000" b="1"/>
          </a:p>
          <a:p>
            <a:r>
              <a:rPr lang="en-US" sz="2000" b="1">
                <a:latin typeface="Times New Roman" pitchFamily="18" charset="0"/>
              </a:rPr>
              <a:t>#include&lt;stdio.h&gt;</a:t>
            </a:r>
          </a:p>
          <a:p>
            <a:r>
              <a:rPr lang="en-US" sz="2000" b="1">
                <a:latin typeface="Times New Roman" pitchFamily="18" charset="0"/>
              </a:rPr>
              <a:t>#include&lt;string.h&gt;</a:t>
            </a:r>
          </a:p>
          <a:p>
            <a:r>
              <a:rPr lang="en-US" sz="2000" b="1">
                <a:latin typeface="Times New Roman" pitchFamily="18" charset="0"/>
              </a:rPr>
              <a:t>#include&lt;conio.h&gt;</a:t>
            </a:r>
          </a:p>
          <a:p>
            <a:r>
              <a:rPr lang="en-US" sz="2000" b="1">
                <a:latin typeface="Times New Roman" pitchFamily="18" charset="0"/>
              </a:rPr>
              <a:t>void main()</a:t>
            </a:r>
          </a:p>
          <a:p>
            <a:r>
              <a:rPr lang="en-US" sz="2000" b="1">
                <a:latin typeface="Times New Roman" pitchFamily="18" charset="0"/>
              </a:rPr>
              <a:t>{</a:t>
            </a:r>
          </a:p>
          <a:p>
            <a:r>
              <a:rPr lang="en-US" sz="2000" b="1">
                <a:latin typeface="Times New Roman" pitchFamily="18" charset="0"/>
              </a:rPr>
              <a:t>char str[25];clrscr();</a:t>
            </a:r>
          </a:p>
          <a:p>
            <a:r>
              <a:rPr lang="en-US" sz="2000" b="1">
                <a:latin typeface="Times New Roman" pitchFamily="18" charset="0"/>
              </a:rPr>
              <a:t>printf("\n Enter a String");</a:t>
            </a:r>
          </a:p>
          <a:p>
            <a:r>
              <a:rPr lang="en-US" sz="2000" b="1">
                <a:latin typeface="Times New Roman" pitchFamily="18" charset="0"/>
              </a:rPr>
              <a:t>gets(str);</a:t>
            </a:r>
          </a:p>
          <a:p>
            <a:r>
              <a:rPr lang="en-US" sz="2000" b="1">
                <a:latin typeface="Times New Roman" pitchFamily="18" charset="0"/>
              </a:rPr>
              <a:t>printf("\n The case changed  string is %s",strupr(str));</a:t>
            </a:r>
          </a:p>
          <a:p>
            <a:r>
              <a:rPr lang="en-US" sz="2000" b="1">
                <a:latin typeface="Times New Roman" pitchFamily="18" charset="0"/>
              </a:rPr>
              <a:t>getch();</a:t>
            </a:r>
          </a:p>
          <a:p>
            <a:r>
              <a:rPr lang="en-US" sz="2000" b="1">
                <a:latin typeface="Times New Roman" pitchFamily="18" charset="0"/>
              </a:rPr>
              <a:t>}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3048000" y="5867400"/>
            <a:ext cx="52578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Enter a String : apollo</a:t>
            </a:r>
          </a:p>
          <a:p>
            <a:pPr>
              <a:spcBef>
                <a:spcPct val="50000"/>
              </a:spcBef>
            </a:pPr>
            <a:r>
              <a:rPr lang="en-US" b="1"/>
              <a:t>The case changed string is : APOLLO</a:t>
            </a:r>
          </a:p>
        </p:txBody>
      </p:sp>
      <p:sp>
        <p:nvSpPr>
          <p:cNvPr id="10244" name="AutoShape 4"/>
          <p:cNvSpPr>
            <a:spLocks/>
          </p:cNvSpPr>
          <p:nvPr/>
        </p:nvSpPr>
        <p:spPr bwMode="auto">
          <a:xfrm>
            <a:off x="1143000" y="6019800"/>
            <a:ext cx="1752600" cy="609600"/>
          </a:xfrm>
          <a:prstGeom prst="borderCallout1">
            <a:avLst>
              <a:gd name="adj1" fmla="val 18750"/>
              <a:gd name="adj2" fmla="val -4347"/>
              <a:gd name="adj3" fmla="val -194273"/>
              <a:gd name="adj4" fmla="val -2509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400" b="1"/>
              <a:t>OUTPUT</a:t>
            </a: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381000" y="304800"/>
            <a:ext cx="8229600" cy="5343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u="sng"/>
              <a:t>strlwr() function :</a:t>
            </a:r>
          </a:p>
          <a:p>
            <a:pPr algn="just"/>
            <a:r>
              <a:rPr lang="en-US" sz="2000"/>
              <a:t>          used to convert a string to Lowercase. It takes only one argument.</a:t>
            </a:r>
          </a:p>
          <a:p>
            <a:pPr algn="just"/>
            <a:r>
              <a:rPr lang="en-US" sz="2000"/>
              <a:t>  </a:t>
            </a:r>
          </a:p>
          <a:p>
            <a:r>
              <a:rPr lang="en-US" sz="2000" b="1" u="sng"/>
              <a:t>Syntax   : </a:t>
            </a:r>
            <a:r>
              <a:rPr lang="en-US" sz="2000" b="1"/>
              <a:t>   strlwr(string);</a:t>
            </a:r>
          </a:p>
          <a:p>
            <a:endParaRPr lang="en-US" sz="2000" b="1"/>
          </a:p>
          <a:p>
            <a:r>
              <a:rPr lang="en-US" sz="2000" b="1">
                <a:latin typeface="Times New Roman" pitchFamily="18" charset="0"/>
              </a:rPr>
              <a:t>#include&lt;stdio.h&gt;</a:t>
            </a:r>
          </a:p>
          <a:p>
            <a:r>
              <a:rPr lang="en-US" sz="2000" b="1">
                <a:latin typeface="Times New Roman" pitchFamily="18" charset="0"/>
              </a:rPr>
              <a:t>#include&lt;string.h&gt;</a:t>
            </a:r>
          </a:p>
          <a:p>
            <a:r>
              <a:rPr lang="en-US" sz="2000" b="1">
                <a:latin typeface="Times New Roman" pitchFamily="18" charset="0"/>
              </a:rPr>
              <a:t>#inclue&lt;conio.h&gt;</a:t>
            </a:r>
          </a:p>
          <a:p>
            <a:r>
              <a:rPr lang="en-US" sz="2000" b="1">
                <a:latin typeface="Times New Roman" pitchFamily="18" charset="0"/>
              </a:rPr>
              <a:t>void main()</a:t>
            </a:r>
          </a:p>
          <a:p>
            <a:r>
              <a:rPr lang="en-US" sz="2000" b="1">
                <a:latin typeface="Times New Roman" pitchFamily="18" charset="0"/>
              </a:rPr>
              <a:t>{</a:t>
            </a:r>
          </a:p>
          <a:p>
            <a:r>
              <a:rPr lang="en-US" sz="2000" b="1">
                <a:latin typeface="Times New Roman" pitchFamily="18" charset="0"/>
              </a:rPr>
              <a:t>char str[25];clrscr();</a:t>
            </a:r>
          </a:p>
          <a:p>
            <a:r>
              <a:rPr lang="en-US" sz="2000" b="1">
                <a:latin typeface="Times New Roman" pitchFamily="18" charset="0"/>
              </a:rPr>
              <a:t>printf("\n Enter a String");</a:t>
            </a:r>
          </a:p>
          <a:p>
            <a:r>
              <a:rPr lang="en-US" sz="2000" b="1">
                <a:latin typeface="Times New Roman" pitchFamily="18" charset="0"/>
              </a:rPr>
              <a:t>gets(str);</a:t>
            </a:r>
          </a:p>
          <a:p>
            <a:r>
              <a:rPr lang="en-US" sz="2000" b="1">
                <a:latin typeface="Times New Roman" pitchFamily="18" charset="0"/>
              </a:rPr>
              <a:t>printf("\n The case changed  string is %s",strlwr(str));</a:t>
            </a:r>
          </a:p>
          <a:p>
            <a:r>
              <a:rPr lang="en-US" sz="2000" b="1">
                <a:latin typeface="Times New Roman" pitchFamily="18" charset="0"/>
              </a:rPr>
              <a:t>getch();</a:t>
            </a:r>
          </a:p>
          <a:p>
            <a:r>
              <a:rPr lang="en-US" sz="2000" b="1">
                <a:latin typeface="Times New Roman" pitchFamily="18" charset="0"/>
              </a:rPr>
              <a:t>}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3048000" y="5867400"/>
            <a:ext cx="52578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Enter a String : APOLLO</a:t>
            </a:r>
          </a:p>
          <a:p>
            <a:pPr>
              <a:spcBef>
                <a:spcPct val="50000"/>
              </a:spcBef>
            </a:pPr>
            <a:r>
              <a:rPr lang="en-US" b="1"/>
              <a:t>The case changed string is : apollo</a:t>
            </a:r>
          </a:p>
        </p:txBody>
      </p:sp>
      <p:sp>
        <p:nvSpPr>
          <p:cNvPr id="11268" name="AutoShape 4"/>
          <p:cNvSpPr>
            <a:spLocks/>
          </p:cNvSpPr>
          <p:nvPr/>
        </p:nvSpPr>
        <p:spPr bwMode="auto">
          <a:xfrm>
            <a:off x="1143000" y="5943600"/>
            <a:ext cx="1752600" cy="609600"/>
          </a:xfrm>
          <a:prstGeom prst="borderCallout1">
            <a:avLst>
              <a:gd name="adj1" fmla="val 18750"/>
              <a:gd name="adj2" fmla="val -4347"/>
              <a:gd name="adj3" fmla="val -181773"/>
              <a:gd name="adj4" fmla="val -2509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400" b="1"/>
              <a:t>OUTPUT</a:t>
            </a:r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381000" y="304800"/>
            <a:ext cx="8229600" cy="5343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u="sng"/>
              <a:t>strlen() function :</a:t>
            </a:r>
          </a:p>
          <a:p>
            <a:pPr algn="just"/>
            <a:r>
              <a:rPr lang="en-US" sz="2000"/>
              <a:t>          used to count the number of characters present in a string. It takes only one argument.</a:t>
            </a:r>
          </a:p>
          <a:p>
            <a:r>
              <a:rPr lang="en-US" sz="2000"/>
              <a:t>  </a:t>
            </a:r>
          </a:p>
          <a:p>
            <a:r>
              <a:rPr lang="en-US" sz="2000" b="1" u="sng"/>
              <a:t>Syntax   : </a:t>
            </a:r>
            <a:r>
              <a:rPr lang="en-US" sz="2000" b="1"/>
              <a:t>   int variablename=strlen(string);</a:t>
            </a:r>
          </a:p>
          <a:p>
            <a:endParaRPr lang="en-US" sz="2000" b="1"/>
          </a:p>
          <a:p>
            <a:r>
              <a:rPr lang="en-US" sz="2000" b="1">
                <a:latin typeface="Times New Roman" pitchFamily="18" charset="0"/>
              </a:rPr>
              <a:t>#include&lt;stdio.h&gt;</a:t>
            </a:r>
          </a:p>
          <a:p>
            <a:r>
              <a:rPr lang="en-US" sz="2000" b="1">
                <a:latin typeface="Times New Roman" pitchFamily="18" charset="0"/>
              </a:rPr>
              <a:t>#include&lt;string.h&gt;</a:t>
            </a:r>
          </a:p>
          <a:p>
            <a:r>
              <a:rPr lang="en-US" sz="2000" b="1">
                <a:latin typeface="Times New Roman" pitchFamily="18" charset="0"/>
              </a:rPr>
              <a:t>#include&lt;conio.h&gt;</a:t>
            </a:r>
          </a:p>
          <a:p>
            <a:r>
              <a:rPr lang="en-US" sz="2000" b="1">
                <a:latin typeface="Times New Roman" pitchFamily="18" charset="0"/>
              </a:rPr>
              <a:t>void main()</a:t>
            </a:r>
          </a:p>
          <a:p>
            <a:r>
              <a:rPr lang="en-US" sz="2000" b="1">
                <a:latin typeface="Times New Roman" pitchFamily="18" charset="0"/>
              </a:rPr>
              <a:t>{</a:t>
            </a:r>
          </a:p>
          <a:p>
            <a:r>
              <a:rPr lang="en-US" sz="2000" b="1">
                <a:latin typeface="Times New Roman" pitchFamily="18" charset="0"/>
              </a:rPr>
              <a:t>char str[25];clrscr();</a:t>
            </a:r>
          </a:p>
          <a:p>
            <a:r>
              <a:rPr lang="en-US" sz="2000" b="1">
                <a:latin typeface="Times New Roman" pitchFamily="18" charset="0"/>
              </a:rPr>
              <a:t>printf("\n Enter a String");</a:t>
            </a:r>
          </a:p>
          <a:p>
            <a:r>
              <a:rPr lang="en-US" sz="2000" b="1">
                <a:latin typeface="Times New Roman" pitchFamily="18" charset="0"/>
              </a:rPr>
              <a:t>gets(str);</a:t>
            </a:r>
          </a:p>
          <a:p>
            <a:r>
              <a:rPr lang="en-US" sz="2000" b="1">
                <a:latin typeface="Times New Roman" pitchFamily="18" charset="0"/>
              </a:rPr>
              <a:t>printf("\n The length of the  string is %d",strlen(str));</a:t>
            </a:r>
          </a:p>
          <a:p>
            <a:r>
              <a:rPr lang="en-US" sz="2000" b="1">
                <a:latin typeface="Times New Roman" pitchFamily="18" charset="0"/>
              </a:rPr>
              <a:t>getch();</a:t>
            </a:r>
          </a:p>
          <a:p>
            <a:r>
              <a:rPr lang="en-US" sz="2000" b="1">
                <a:latin typeface="Times New Roman" pitchFamily="18" charset="0"/>
              </a:rPr>
              <a:t>}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3048000" y="5867400"/>
            <a:ext cx="52578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Enter a String : APOLLO</a:t>
            </a:r>
          </a:p>
          <a:p>
            <a:pPr>
              <a:spcBef>
                <a:spcPct val="50000"/>
              </a:spcBef>
            </a:pPr>
            <a:r>
              <a:rPr lang="en-US" b="1"/>
              <a:t>The length of the  string is : 6</a:t>
            </a:r>
          </a:p>
        </p:txBody>
      </p:sp>
      <p:sp>
        <p:nvSpPr>
          <p:cNvPr id="12292" name="AutoShape 4"/>
          <p:cNvSpPr>
            <a:spLocks/>
          </p:cNvSpPr>
          <p:nvPr/>
        </p:nvSpPr>
        <p:spPr bwMode="auto">
          <a:xfrm>
            <a:off x="1143000" y="5943600"/>
            <a:ext cx="1752600" cy="609600"/>
          </a:xfrm>
          <a:prstGeom prst="borderCallout1">
            <a:avLst>
              <a:gd name="adj1" fmla="val 18750"/>
              <a:gd name="adj2" fmla="val -4347"/>
              <a:gd name="adj3" fmla="val -181773"/>
              <a:gd name="adj4" fmla="val -2509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400" b="1"/>
              <a:t>OUTPUT</a:t>
            </a:r>
          </a:p>
        </p:txBody>
      </p:sp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76200" y="376238"/>
            <a:ext cx="8915400" cy="5265737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tabLst>
                <a:tab pos="457200" algn="l"/>
              </a:tabLst>
            </a:pPr>
            <a:r>
              <a:rPr lang="en-US" sz="3200" b="1" u="sng">
                <a:latin typeface="Times New Roman" pitchFamily="18" charset="0"/>
              </a:rPr>
              <a:t>Session Summary</a:t>
            </a:r>
          </a:p>
          <a:p>
            <a:pPr>
              <a:tabLst>
                <a:tab pos="457200" algn="l"/>
              </a:tabLst>
            </a:pPr>
            <a:endParaRPr lang="en-US" sz="3200" b="1">
              <a:latin typeface="Times New Roman" pitchFamily="18" charset="0"/>
            </a:endParaRP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Strings can be read through scanf() and gets() functions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Any copy of characters specified within double quotes is a string constant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Strings can also be read a character by character using the functions scanf() and getchar() etc.,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The strcat() concatenates the second argument with the content of first argument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strcmp() compares two strings to find whether the strings are equal or not.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The strrev() reverses the string passed as arguments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152400" y="781050"/>
            <a:ext cx="8686800" cy="56149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algn="ctr">
              <a:tabLst>
                <a:tab pos="457200" algn="l"/>
              </a:tabLst>
            </a:pPr>
            <a:r>
              <a:rPr lang="en-US" sz="2800" b="1" u="sng">
                <a:latin typeface="Times New Roman" pitchFamily="18" charset="0"/>
              </a:rPr>
              <a:t>EXERCISES</a:t>
            </a:r>
          </a:p>
          <a:p>
            <a:pPr marL="342900" indent="-342900">
              <a:tabLst>
                <a:tab pos="457200" algn="l"/>
              </a:tabLst>
            </a:pPr>
            <a:endParaRPr lang="en-US" sz="2800" b="1">
              <a:latin typeface="Times New Roman" pitchFamily="18" charset="0"/>
            </a:endParaRP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Explain the process of initializing a string?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Explain with examples the different ways of reading strings from the user?</a:t>
            </a:r>
            <a:endParaRPr lang="en-US" b="1"/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extract the middle word of any string?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print the abbreviation of text?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 Write a program to find various combinations of the characters of a given word?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Write a program to check whether the given string is palindrome or not?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Write a program to replace a character in a strin?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endParaRPr 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WordArt 2"/>
          <p:cNvSpPr>
            <a:spLocks noChangeArrowheads="1" noChangeShapeType="1" noTextEdit="1"/>
          </p:cNvSpPr>
          <p:nvPr/>
        </p:nvSpPr>
        <p:spPr bwMode="auto">
          <a:xfrm>
            <a:off x="914400" y="2590800"/>
            <a:ext cx="6553200" cy="15240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r>
              <a:rPr lang="en-IN" sz="3600" b="1" kern="1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100000">
                      <a:srgbClr val="FFCC00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Arial Black"/>
              </a:rPr>
              <a:t>ARRAYS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248400" y="4724400"/>
            <a:ext cx="2514600" cy="1828800"/>
            <a:chOff x="1628" y="1079"/>
            <a:chExt cx="2333" cy="2072"/>
          </a:xfrm>
        </p:grpSpPr>
        <p:sp>
          <p:nvSpPr>
            <p:cNvPr id="2053" name="Freeform 4"/>
            <p:cNvSpPr>
              <a:spLocks/>
            </p:cNvSpPr>
            <p:nvPr/>
          </p:nvSpPr>
          <p:spPr bwMode="auto">
            <a:xfrm>
              <a:off x="1787" y="1315"/>
              <a:ext cx="1653" cy="1765"/>
            </a:xfrm>
            <a:custGeom>
              <a:avLst/>
              <a:gdLst>
                <a:gd name="T0" fmla="*/ 1 w 3306"/>
                <a:gd name="T1" fmla="*/ 0 h 3530"/>
                <a:gd name="T2" fmla="*/ 1 w 3306"/>
                <a:gd name="T3" fmla="*/ 1 h 3530"/>
                <a:gd name="T4" fmla="*/ 1 w 3306"/>
                <a:gd name="T5" fmla="*/ 1 h 3530"/>
                <a:gd name="T6" fmla="*/ 1 w 3306"/>
                <a:gd name="T7" fmla="*/ 1 h 3530"/>
                <a:gd name="T8" fmla="*/ 0 w 3306"/>
                <a:gd name="T9" fmla="*/ 2 h 3530"/>
                <a:gd name="T10" fmla="*/ 1 w 3306"/>
                <a:gd name="T11" fmla="*/ 2 h 3530"/>
                <a:gd name="T12" fmla="*/ 2 w 3306"/>
                <a:gd name="T13" fmla="*/ 2 h 3530"/>
                <a:gd name="T14" fmla="*/ 2 w 3306"/>
                <a:gd name="T15" fmla="*/ 2 h 3530"/>
                <a:gd name="T16" fmla="*/ 2 w 3306"/>
                <a:gd name="T17" fmla="*/ 1 h 3530"/>
                <a:gd name="T18" fmla="*/ 1 w 3306"/>
                <a:gd name="T19" fmla="*/ 0 h 3530"/>
                <a:gd name="T20" fmla="*/ 1 w 3306"/>
                <a:gd name="T21" fmla="*/ 0 h 35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306"/>
                <a:gd name="T34" fmla="*/ 0 h 3530"/>
                <a:gd name="T35" fmla="*/ 3306 w 3306"/>
                <a:gd name="T36" fmla="*/ 3530 h 353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306" h="3530">
                  <a:moveTo>
                    <a:pt x="119" y="0"/>
                  </a:moveTo>
                  <a:lnTo>
                    <a:pt x="121" y="395"/>
                  </a:lnTo>
                  <a:lnTo>
                    <a:pt x="13" y="683"/>
                  </a:lnTo>
                  <a:lnTo>
                    <a:pt x="469" y="1053"/>
                  </a:lnTo>
                  <a:lnTo>
                    <a:pt x="0" y="2051"/>
                  </a:lnTo>
                  <a:lnTo>
                    <a:pt x="722" y="3530"/>
                  </a:lnTo>
                  <a:lnTo>
                    <a:pt x="2254" y="3332"/>
                  </a:lnTo>
                  <a:lnTo>
                    <a:pt x="3306" y="2424"/>
                  </a:lnTo>
                  <a:lnTo>
                    <a:pt x="2287" y="285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" name="Freeform 5"/>
            <p:cNvSpPr>
              <a:spLocks/>
            </p:cNvSpPr>
            <p:nvPr/>
          </p:nvSpPr>
          <p:spPr bwMode="auto">
            <a:xfrm>
              <a:off x="1730" y="1913"/>
              <a:ext cx="374" cy="630"/>
            </a:xfrm>
            <a:custGeom>
              <a:avLst/>
              <a:gdLst>
                <a:gd name="T0" fmla="*/ 0 w 750"/>
                <a:gd name="T1" fmla="*/ 0 h 1260"/>
                <a:gd name="T2" fmla="*/ 0 w 750"/>
                <a:gd name="T3" fmla="*/ 1 h 1260"/>
                <a:gd name="T4" fmla="*/ 0 w 750"/>
                <a:gd name="T5" fmla="*/ 1 h 1260"/>
                <a:gd name="T6" fmla="*/ 0 w 750"/>
                <a:gd name="T7" fmla="*/ 1 h 1260"/>
                <a:gd name="T8" fmla="*/ 0 w 750"/>
                <a:gd name="T9" fmla="*/ 1 h 1260"/>
                <a:gd name="T10" fmla="*/ 0 w 750"/>
                <a:gd name="T11" fmla="*/ 0 h 1260"/>
                <a:gd name="T12" fmla="*/ 0 w 750"/>
                <a:gd name="T13" fmla="*/ 0 h 12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50"/>
                <a:gd name="T22" fmla="*/ 0 h 1260"/>
                <a:gd name="T23" fmla="*/ 750 w 750"/>
                <a:gd name="T24" fmla="*/ 1260 h 126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50" h="1260">
                  <a:moveTo>
                    <a:pt x="386" y="0"/>
                  </a:moveTo>
                  <a:lnTo>
                    <a:pt x="0" y="62"/>
                  </a:lnTo>
                  <a:lnTo>
                    <a:pt x="48" y="175"/>
                  </a:lnTo>
                  <a:lnTo>
                    <a:pt x="750" y="1260"/>
                  </a:lnTo>
                  <a:lnTo>
                    <a:pt x="438" y="163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rgbClr val="CCCC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" name="Freeform 6"/>
            <p:cNvSpPr>
              <a:spLocks/>
            </p:cNvSpPr>
            <p:nvPr/>
          </p:nvSpPr>
          <p:spPr bwMode="auto">
            <a:xfrm>
              <a:off x="1682" y="2223"/>
              <a:ext cx="931" cy="885"/>
            </a:xfrm>
            <a:custGeom>
              <a:avLst/>
              <a:gdLst>
                <a:gd name="T0" fmla="*/ 1 w 1862"/>
                <a:gd name="T1" fmla="*/ 0 h 1770"/>
                <a:gd name="T2" fmla="*/ 0 w 1862"/>
                <a:gd name="T3" fmla="*/ 1 h 1770"/>
                <a:gd name="T4" fmla="*/ 1 w 1862"/>
                <a:gd name="T5" fmla="*/ 1 h 1770"/>
                <a:gd name="T6" fmla="*/ 1 w 1862"/>
                <a:gd name="T7" fmla="*/ 1 h 1770"/>
                <a:gd name="T8" fmla="*/ 1 w 1862"/>
                <a:gd name="T9" fmla="*/ 1 h 1770"/>
                <a:gd name="T10" fmla="*/ 1 w 1862"/>
                <a:gd name="T11" fmla="*/ 1 h 1770"/>
                <a:gd name="T12" fmla="*/ 1 w 1862"/>
                <a:gd name="T13" fmla="*/ 0 h 1770"/>
                <a:gd name="T14" fmla="*/ 1 w 1862"/>
                <a:gd name="T15" fmla="*/ 0 h 17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862"/>
                <a:gd name="T25" fmla="*/ 0 h 1770"/>
                <a:gd name="T26" fmla="*/ 1862 w 1862"/>
                <a:gd name="T27" fmla="*/ 1770 h 177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862" h="1770">
                  <a:moveTo>
                    <a:pt x="318" y="0"/>
                  </a:moveTo>
                  <a:lnTo>
                    <a:pt x="0" y="120"/>
                  </a:lnTo>
                  <a:lnTo>
                    <a:pt x="845" y="1770"/>
                  </a:lnTo>
                  <a:lnTo>
                    <a:pt x="1862" y="1715"/>
                  </a:lnTo>
                  <a:lnTo>
                    <a:pt x="926" y="1523"/>
                  </a:lnTo>
                  <a:lnTo>
                    <a:pt x="263" y="202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rgbClr val="CCCC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6" name="Freeform 7"/>
            <p:cNvSpPr>
              <a:spLocks/>
            </p:cNvSpPr>
            <p:nvPr/>
          </p:nvSpPr>
          <p:spPr bwMode="auto">
            <a:xfrm>
              <a:off x="1649" y="1097"/>
              <a:ext cx="1090" cy="551"/>
            </a:xfrm>
            <a:custGeom>
              <a:avLst/>
              <a:gdLst>
                <a:gd name="T0" fmla="*/ 0 w 2181"/>
                <a:gd name="T1" fmla="*/ 0 h 1100"/>
                <a:gd name="T2" fmla="*/ 0 w 2181"/>
                <a:gd name="T3" fmla="*/ 1 h 1100"/>
                <a:gd name="T4" fmla="*/ 0 w 2181"/>
                <a:gd name="T5" fmla="*/ 1 h 1100"/>
                <a:gd name="T6" fmla="*/ 0 w 2181"/>
                <a:gd name="T7" fmla="*/ 1 h 1100"/>
                <a:gd name="T8" fmla="*/ 1 w 2181"/>
                <a:gd name="T9" fmla="*/ 1 h 1100"/>
                <a:gd name="T10" fmla="*/ 0 w 2181"/>
                <a:gd name="T11" fmla="*/ 1 h 1100"/>
                <a:gd name="T12" fmla="*/ 0 w 2181"/>
                <a:gd name="T13" fmla="*/ 1 h 1100"/>
                <a:gd name="T14" fmla="*/ 0 w 2181"/>
                <a:gd name="T15" fmla="*/ 0 h 1100"/>
                <a:gd name="T16" fmla="*/ 0 w 2181"/>
                <a:gd name="T17" fmla="*/ 0 h 11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81"/>
                <a:gd name="T28" fmla="*/ 0 h 1100"/>
                <a:gd name="T29" fmla="*/ 2181 w 2181"/>
                <a:gd name="T30" fmla="*/ 1100 h 11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81" h="1100">
                  <a:moveTo>
                    <a:pt x="1884" y="0"/>
                  </a:moveTo>
                  <a:lnTo>
                    <a:pt x="25" y="353"/>
                  </a:lnTo>
                  <a:lnTo>
                    <a:pt x="0" y="431"/>
                  </a:lnTo>
                  <a:lnTo>
                    <a:pt x="1789" y="1100"/>
                  </a:lnTo>
                  <a:lnTo>
                    <a:pt x="2181" y="941"/>
                  </a:lnTo>
                  <a:lnTo>
                    <a:pt x="1087" y="585"/>
                  </a:lnTo>
                  <a:lnTo>
                    <a:pt x="1943" y="97"/>
                  </a:lnTo>
                  <a:lnTo>
                    <a:pt x="1884" y="0"/>
                  </a:lnTo>
                  <a:close/>
                </a:path>
              </a:pathLst>
            </a:custGeom>
            <a:solidFill>
              <a:srgbClr val="F0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7" name="Freeform 8"/>
            <p:cNvSpPr>
              <a:spLocks/>
            </p:cNvSpPr>
            <p:nvPr/>
          </p:nvSpPr>
          <p:spPr bwMode="auto">
            <a:xfrm>
              <a:off x="1675" y="1567"/>
              <a:ext cx="1162" cy="525"/>
            </a:xfrm>
            <a:custGeom>
              <a:avLst/>
              <a:gdLst>
                <a:gd name="T0" fmla="*/ 0 w 2325"/>
                <a:gd name="T1" fmla="*/ 0 h 1051"/>
                <a:gd name="T2" fmla="*/ 0 w 2325"/>
                <a:gd name="T3" fmla="*/ 0 h 1051"/>
                <a:gd name="T4" fmla="*/ 0 w 2325"/>
                <a:gd name="T5" fmla="*/ 0 h 1051"/>
                <a:gd name="T6" fmla="*/ 0 w 2325"/>
                <a:gd name="T7" fmla="*/ 0 h 1051"/>
                <a:gd name="T8" fmla="*/ 1 w 2325"/>
                <a:gd name="T9" fmla="*/ 0 h 1051"/>
                <a:gd name="T10" fmla="*/ 1 w 2325"/>
                <a:gd name="T11" fmla="*/ 0 h 1051"/>
                <a:gd name="T12" fmla="*/ 0 w 2325"/>
                <a:gd name="T13" fmla="*/ 0 h 1051"/>
                <a:gd name="T14" fmla="*/ 0 w 2325"/>
                <a:gd name="T15" fmla="*/ 0 h 1051"/>
                <a:gd name="T16" fmla="*/ 0 w 2325"/>
                <a:gd name="T17" fmla="*/ 0 h 1051"/>
                <a:gd name="T18" fmla="*/ 0 w 2325"/>
                <a:gd name="T19" fmla="*/ 0 h 1051"/>
                <a:gd name="T20" fmla="*/ 0 w 2325"/>
                <a:gd name="T21" fmla="*/ 0 h 105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325"/>
                <a:gd name="T34" fmla="*/ 0 h 1051"/>
                <a:gd name="T35" fmla="*/ 2325 w 2325"/>
                <a:gd name="T36" fmla="*/ 1051 h 105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325" h="1051">
                  <a:moveTo>
                    <a:pt x="310" y="0"/>
                  </a:moveTo>
                  <a:lnTo>
                    <a:pt x="0" y="129"/>
                  </a:lnTo>
                  <a:lnTo>
                    <a:pt x="0" y="220"/>
                  </a:lnTo>
                  <a:lnTo>
                    <a:pt x="1738" y="1051"/>
                  </a:lnTo>
                  <a:lnTo>
                    <a:pt x="2291" y="884"/>
                  </a:lnTo>
                  <a:lnTo>
                    <a:pt x="2325" y="734"/>
                  </a:lnTo>
                  <a:lnTo>
                    <a:pt x="2027" y="709"/>
                  </a:lnTo>
                  <a:lnTo>
                    <a:pt x="1730" y="819"/>
                  </a:lnTo>
                  <a:lnTo>
                    <a:pt x="266" y="165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rgbClr val="F0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8" name="Freeform 9"/>
            <p:cNvSpPr>
              <a:spLocks/>
            </p:cNvSpPr>
            <p:nvPr/>
          </p:nvSpPr>
          <p:spPr bwMode="auto">
            <a:xfrm>
              <a:off x="1880" y="1816"/>
              <a:ext cx="875" cy="696"/>
            </a:xfrm>
            <a:custGeom>
              <a:avLst/>
              <a:gdLst>
                <a:gd name="T0" fmla="*/ 0 w 1751"/>
                <a:gd name="T1" fmla="*/ 1 h 1391"/>
                <a:gd name="T2" fmla="*/ 0 w 1751"/>
                <a:gd name="T3" fmla="*/ 1 h 1391"/>
                <a:gd name="T4" fmla="*/ 0 w 1751"/>
                <a:gd name="T5" fmla="*/ 1 h 1391"/>
                <a:gd name="T6" fmla="*/ 0 w 1751"/>
                <a:gd name="T7" fmla="*/ 1 h 1391"/>
                <a:gd name="T8" fmla="*/ 0 w 1751"/>
                <a:gd name="T9" fmla="*/ 1 h 1391"/>
                <a:gd name="T10" fmla="*/ 0 w 1751"/>
                <a:gd name="T11" fmla="*/ 1 h 1391"/>
                <a:gd name="T12" fmla="*/ 0 w 1751"/>
                <a:gd name="T13" fmla="*/ 1 h 1391"/>
                <a:gd name="T14" fmla="*/ 0 w 1751"/>
                <a:gd name="T15" fmla="*/ 1 h 1391"/>
                <a:gd name="T16" fmla="*/ 0 w 1751"/>
                <a:gd name="T17" fmla="*/ 1 h 1391"/>
                <a:gd name="T18" fmla="*/ 0 w 1751"/>
                <a:gd name="T19" fmla="*/ 1 h 1391"/>
                <a:gd name="T20" fmla="*/ 0 w 1751"/>
                <a:gd name="T21" fmla="*/ 1 h 1391"/>
                <a:gd name="T22" fmla="*/ 0 w 1751"/>
                <a:gd name="T23" fmla="*/ 0 h 1391"/>
                <a:gd name="T24" fmla="*/ 0 w 1751"/>
                <a:gd name="T25" fmla="*/ 1 h 1391"/>
                <a:gd name="T26" fmla="*/ 0 w 1751"/>
                <a:gd name="T27" fmla="*/ 1 h 13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751"/>
                <a:gd name="T43" fmla="*/ 0 h 1391"/>
                <a:gd name="T44" fmla="*/ 1751 w 1751"/>
                <a:gd name="T45" fmla="*/ 1391 h 139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751" h="1391">
                  <a:moveTo>
                    <a:pt x="7" y="76"/>
                  </a:moveTo>
                  <a:lnTo>
                    <a:pt x="0" y="232"/>
                  </a:lnTo>
                  <a:lnTo>
                    <a:pt x="13" y="405"/>
                  </a:lnTo>
                  <a:lnTo>
                    <a:pt x="101" y="494"/>
                  </a:lnTo>
                  <a:lnTo>
                    <a:pt x="291" y="540"/>
                  </a:lnTo>
                  <a:lnTo>
                    <a:pt x="1036" y="1087"/>
                  </a:lnTo>
                  <a:lnTo>
                    <a:pt x="1365" y="1340"/>
                  </a:lnTo>
                  <a:lnTo>
                    <a:pt x="1603" y="1391"/>
                  </a:lnTo>
                  <a:lnTo>
                    <a:pt x="1570" y="1076"/>
                  </a:lnTo>
                  <a:lnTo>
                    <a:pt x="1751" y="599"/>
                  </a:lnTo>
                  <a:lnTo>
                    <a:pt x="1384" y="580"/>
                  </a:lnTo>
                  <a:lnTo>
                    <a:pt x="64" y="0"/>
                  </a:lnTo>
                  <a:lnTo>
                    <a:pt x="7" y="76"/>
                  </a:lnTo>
                  <a:close/>
                </a:path>
              </a:pathLst>
            </a:custGeom>
            <a:solidFill>
              <a:srgbClr val="F7A85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9" name="Freeform 10"/>
            <p:cNvSpPr>
              <a:spLocks/>
            </p:cNvSpPr>
            <p:nvPr/>
          </p:nvSpPr>
          <p:spPr bwMode="auto">
            <a:xfrm>
              <a:off x="2413" y="1223"/>
              <a:ext cx="1060" cy="251"/>
            </a:xfrm>
            <a:custGeom>
              <a:avLst/>
              <a:gdLst>
                <a:gd name="T0" fmla="*/ 0 w 2120"/>
                <a:gd name="T1" fmla="*/ 1 h 502"/>
                <a:gd name="T2" fmla="*/ 1 w 2120"/>
                <a:gd name="T3" fmla="*/ 1 h 502"/>
                <a:gd name="T4" fmla="*/ 1 w 2120"/>
                <a:gd name="T5" fmla="*/ 1 h 502"/>
                <a:gd name="T6" fmla="*/ 1 w 2120"/>
                <a:gd name="T7" fmla="*/ 1 h 502"/>
                <a:gd name="T8" fmla="*/ 1 w 2120"/>
                <a:gd name="T9" fmla="*/ 1 h 502"/>
                <a:gd name="T10" fmla="*/ 1 w 2120"/>
                <a:gd name="T11" fmla="*/ 1 h 502"/>
                <a:gd name="T12" fmla="*/ 1 w 2120"/>
                <a:gd name="T13" fmla="*/ 1 h 502"/>
                <a:gd name="T14" fmla="*/ 1 w 2120"/>
                <a:gd name="T15" fmla="*/ 1 h 502"/>
                <a:gd name="T16" fmla="*/ 1 w 2120"/>
                <a:gd name="T17" fmla="*/ 1 h 502"/>
                <a:gd name="T18" fmla="*/ 1 w 2120"/>
                <a:gd name="T19" fmla="*/ 1 h 502"/>
                <a:gd name="T20" fmla="*/ 1 w 2120"/>
                <a:gd name="T21" fmla="*/ 1 h 502"/>
                <a:gd name="T22" fmla="*/ 1 w 2120"/>
                <a:gd name="T23" fmla="*/ 1 h 502"/>
                <a:gd name="T24" fmla="*/ 1 w 2120"/>
                <a:gd name="T25" fmla="*/ 0 h 502"/>
                <a:gd name="T26" fmla="*/ 1 w 2120"/>
                <a:gd name="T27" fmla="*/ 1 h 502"/>
                <a:gd name="T28" fmla="*/ 1 w 2120"/>
                <a:gd name="T29" fmla="*/ 1 h 502"/>
                <a:gd name="T30" fmla="*/ 0 w 2120"/>
                <a:gd name="T31" fmla="*/ 1 h 502"/>
                <a:gd name="T32" fmla="*/ 0 w 2120"/>
                <a:gd name="T33" fmla="*/ 1 h 50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120"/>
                <a:gd name="T52" fmla="*/ 0 h 502"/>
                <a:gd name="T53" fmla="*/ 2120 w 2120"/>
                <a:gd name="T54" fmla="*/ 502 h 50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120" h="502">
                  <a:moveTo>
                    <a:pt x="0" y="376"/>
                  </a:moveTo>
                  <a:lnTo>
                    <a:pt x="69" y="351"/>
                  </a:lnTo>
                  <a:lnTo>
                    <a:pt x="246" y="306"/>
                  </a:lnTo>
                  <a:lnTo>
                    <a:pt x="362" y="277"/>
                  </a:lnTo>
                  <a:lnTo>
                    <a:pt x="493" y="245"/>
                  </a:lnTo>
                  <a:lnTo>
                    <a:pt x="632" y="213"/>
                  </a:lnTo>
                  <a:lnTo>
                    <a:pt x="776" y="178"/>
                  </a:lnTo>
                  <a:lnTo>
                    <a:pt x="921" y="144"/>
                  </a:lnTo>
                  <a:lnTo>
                    <a:pt x="1059" y="112"/>
                  </a:lnTo>
                  <a:lnTo>
                    <a:pt x="1191" y="81"/>
                  </a:lnTo>
                  <a:lnTo>
                    <a:pt x="1307" y="55"/>
                  </a:lnTo>
                  <a:lnTo>
                    <a:pt x="1482" y="15"/>
                  </a:lnTo>
                  <a:lnTo>
                    <a:pt x="1548" y="0"/>
                  </a:lnTo>
                  <a:lnTo>
                    <a:pt x="2120" y="97"/>
                  </a:lnTo>
                  <a:lnTo>
                    <a:pt x="204" y="502"/>
                  </a:lnTo>
                  <a:lnTo>
                    <a:pt x="0" y="376"/>
                  </a:lnTo>
                  <a:close/>
                </a:path>
              </a:pathLst>
            </a:custGeom>
            <a:solidFill>
              <a:srgbClr val="F0EA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0" name="Freeform 11"/>
            <p:cNvSpPr>
              <a:spLocks/>
            </p:cNvSpPr>
            <p:nvPr/>
          </p:nvSpPr>
          <p:spPr bwMode="auto">
            <a:xfrm>
              <a:off x="2398" y="2134"/>
              <a:ext cx="167" cy="268"/>
            </a:xfrm>
            <a:custGeom>
              <a:avLst/>
              <a:gdLst>
                <a:gd name="T0" fmla="*/ 0 w 335"/>
                <a:gd name="T1" fmla="*/ 0 h 536"/>
                <a:gd name="T2" fmla="*/ 0 w 335"/>
                <a:gd name="T3" fmla="*/ 1 h 536"/>
                <a:gd name="T4" fmla="*/ 0 w 335"/>
                <a:gd name="T5" fmla="*/ 1 h 536"/>
                <a:gd name="T6" fmla="*/ 0 w 335"/>
                <a:gd name="T7" fmla="*/ 1 h 536"/>
                <a:gd name="T8" fmla="*/ 0 w 335"/>
                <a:gd name="T9" fmla="*/ 1 h 536"/>
                <a:gd name="T10" fmla="*/ 0 w 335"/>
                <a:gd name="T11" fmla="*/ 1 h 536"/>
                <a:gd name="T12" fmla="*/ 0 w 335"/>
                <a:gd name="T13" fmla="*/ 0 h 536"/>
                <a:gd name="T14" fmla="*/ 0 w 335"/>
                <a:gd name="T15" fmla="*/ 0 h 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35"/>
                <a:gd name="T25" fmla="*/ 0 h 536"/>
                <a:gd name="T26" fmla="*/ 335 w 335"/>
                <a:gd name="T27" fmla="*/ 536 h 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35" h="536">
                  <a:moveTo>
                    <a:pt x="97" y="0"/>
                  </a:moveTo>
                  <a:lnTo>
                    <a:pt x="335" y="26"/>
                  </a:lnTo>
                  <a:lnTo>
                    <a:pt x="175" y="309"/>
                  </a:lnTo>
                  <a:lnTo>
                    <a:pt x="143" y="536"/>
                  </a:lnTo>
                  <a:lnTo>
                    <a:pt x="0" y="450"/>
                  </a:lnTo>
                  <a:lnTo>
                    <a:pt x="32" y="102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rgbClr val="F0EA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1" name="Freeform 12"/>
            <p:cNvSpPr>
              <a:spLocks/>
            </p:cNvSpPr>
            <p:nvPr/>
          </p:nvSpPr>
          <p:spPr bwMode="auto">
            <a:xfrm>
              <a:off x="2276" y="2401"/>
              <a:ext cx="273" cy="159"/>
            </a:xfrm>
            <a:custGeom>
              <a:avLst/>
              <a:gdLst>
                <a:gd name="T0" fmla="*/ 0 w 545"/>
                <a:gd name="T1" fmla="*/ 1 h 317"/>
                <a:gd name="T2" fmla="*/ 1 w 545"/>
                <a:gd name="T3" fmla="*/ 0 h 317"/>
                <a:gd name="T4" fmla="*/ 1 w 545"/>
                <a:gd name="T5" fmla="*/ 1 h 317"/>
                <a:gd name="T6" fmla="*/ 1 w 545"/>
                <a:gd name="T7" fmla="*/ 1 h 317"/>
                <a:gd name="T8" fmla="*/ 0 w 545"/>
                <a:gd name="T9" fmla="*/ 1 h 317"/>
                <a:gd name="T10" fmla="*/ 0 w 545"/>
                <a:gd name="T11" fmla="*/ 1 h 3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5"/>
                <a:gd name="T19" fmla="*/ 0 h 317"/>
                <a:gd name="T20" fmla="*/ 545 w 545"/>
                <a:gd name="T21" fmla="*/ 317 h 31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5" h="317">
                  <a:moveTo>
                    <a:pt x="0" y="21"/>
                  </a:moveTo>
                  <a:lnTo>
                    <a:pt x="224" y="0"/>
                  </a:lnTo>
                  <a:lnTo>
                    <a:pt x="545" y="258"/>
                  </a:lnTo>
                  <a:lnTo>
                    <a:pt x="57" y="317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rgbClr val="F0EA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2" name="Freeform 13"/>
            <p:cNvSpPr>
              <a:spLocks/>
            </p:cNvSpPr>
            <p:nvPr/>
          </p:nvSpPr>
          <p:spPr bwMode="auto">
            <a:xfrm>
              <a:off x="2202" y="2575"/>
              <a:ext cx="1532" cy="484"/>
            </a:xfrm>
            <a:custGeom>
              <a:avLst/>
              <a:gdLst>
                <a:gd name="T0" fmla="*/ 1 w 3063"/>
                <a:gd name="T1" fmla="*/ 1 h 967"/>
                <a:gd name="T2" fmla="*/ 1 w 3063"/>
                <a:gd name="T3" fmla="*/ 1 h 967"/>
                <a:gd name="T4" fmla="*/ 0 w 3063"/>
                <a:gd name="T5" fmla="*/ 1 h 967"/>
                <a:gd name="T6" fmla="*/ 1 w 3063"/>
                <a:gd name="T7" fmla="*/ 1 h 967"/>
                <a:gd name="T8" fmla="*/ 2 w 3063"/>
                <a:gd name="T9" fmla="*/ 1 h 967"/>
                <a:gd name="T10" fmla="*/ 2 w 3063"/>
                <a:gd name="T11" fmla="*/ 1 h 967"/>
                <a:gd name="T12" fmla="*/ 2 w 3063"/>
                <a:gd name="T13" fmla="*/ 1 h 967"/>
                <a:gd name="T14" fmla="*/ 2 w 3063"/>
                <a:gd name="T15" fmla="*/ 1 h 967"/>
                <a:gd name="T16" fmla="*/ 2 w 3063"/>
                <a:gd name="T17" fmla="*/ 1 h 967"/>
                <a:gd name="T18" fmla="*/ 2 w 3063"/>
                <a:gd name="T19" fmla="*/ 1 h 967"/>
                <a:gd name="T20" fmla="*/ 2 w 3063"/>
                <a:gd name="T21" fmla="*/ 1 h 967"/>
                <a:gd name="T22" fmla="*/ 2 w 3063"/>
                <a:gd name="T23" fmla="*/ 1 h 967"/>
                <a:gd name="T24" fmla="*/ 2 w 3063"/>
                <a:gd name="T25" fmla="*/ 1 h 967"/>
                <a:gd name="T26" fmla="*/ 2 w 3063"/>
                <a:gd name="T27" fmla="*/ 1 h 967"/>
                <a:gd name="T28" fmla="*/ 2 w 3063"/>
                <a:gd name="T29" fmla="*/ 0 h 967"/>
                <a:gd name="T30" fmla="*/ 1 w 3063"/>
                <a:gd name="T31" fmla="*/ 1 h 967"/>
                <a:gd name="T32" fmla="*/ 1 w 3063"/>
                <a:gd name="T33" fmla="*/ 1 h 967"/>
                <a:gd name="T34" fmla="*/ 1 w 3063"/>
                <a:gd name="T35" fmla="*/ 1 h 96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063"/>
                <a:gd name="T55" fmla="*/ 0 h 967"/>
                <a:gd name="T56" fmla="*/ 3063 w 3063"/>
                <a:gd name="T57" fmla="*/ 967 h 96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063" h="967">
                  <a:moveTo>
                    <a:pt x="200" y="387"/>
                  </a:moveTo>
                  <a:lnTo>
                    <a:pt x="168" y="579"/>
                  </a:lnTo>
                  <a:lnTo>
                    <a:pt x="0" y="773"/>
                  </a:lnTo>
                  <a:lnTo>
                    <a:pt x="727" y="967"/>
                  </a:lnTo>
                  <a:lnTo>
                    <a:pt x="2170" y="832"/>
                  </a:lnTo>
                  <a:lnTo>
                    <a:pt x="2272" y="792"/>
                  </a:lnTo>
                  <a:lnTo>
                    <a:pt x="2464" y="832"/>
                  </a:lnTo>
                  <a:lnTo>
                    <a:pt x="2632" y="811"/>
                  </a:lnTo>
                  <a:lnTo>
                    <a:pt x="2818" y="781"/>
                  </a:lnTo>
                  <a:lnTo>
                    <a:pt x="2862" y="747"/>
                  </a:lnTo>
                  <a:lnTo>
                    <a:pt x="2932" y="688"/>
                  </a:lnTo>
                  <a:lnTo>
                    <a:pt x="2997" y="631"/>
                  </a:lnTo>
                  <a:lnTo>
                    <a:pt x="3025" y="606"/>
                  </a:lnTo>
                  <a:lnTo>
                    <a:pt x="3063" y="239"/>
                  </a:lnTo>
                  <a:lnTo>
                    <a:pt x="2858" y="0"/>
                  </a:lnTo>
                  <a:lnTo>
                    <a:pt x="1854" y="180"/>
                  </a:lnTo>
                  <a:lnTo>
                    <a:pt x="200" y="387"/>
                  </a:lnTo>
                  <a:close/>
                </a:path>
              </a:pathLst>
            </a:custGeom>
            <a:solidFill>
              <a:srgbClr val="D1BAB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3" name="Freeform 14"/>
            <p:cNvSpPr>
              <a:spLocks/>
            </p:cNvSpPr>
            <p:nvPr/>
          </p:nvSpPr>
          <p:spPr bwMode="auto">
            <a:xfrm>
              <a:off x="1784" y="1958"/>
              <a:ext cx="1972" cy="1113"/>
            </a:xfrm>
            <a:custGeom>
              <a:avLst/>
              <a:gdLst>
                <a:gd name="T0" fmla="*/ 0 w 3945"/>
                <a:gd name="T1" fmla="*/ 0 h 2228"/>
                <a:gd name="T2" fmla="*/ 0 w 3945"/>
                <a:gd name="T3" fmla="*/ 0 h 2228"/>
                <a:gd name="T4" fmla="*/ 0 w 3945"/>
                <a:gd name="T5" fmla="*/ 0 h 2228"/>
                <a:gd name="T6" fmla="*/ 0 w 3945"/>
                <a:gd name="T7" fmla="*/ 0 h 2228"/>
                <a:gd name="T8" fmla="*/ 0 w 3945"/>
                <a:gd name="T9" fmla="*/ 0 h 2228"/>
                <a:gd name="T10" fmla="*/ 0 w 3945"/>
                <a:gd name="T11" fmla="*/ 0 h 2228"/>
                <a:gd name="T12" fmla="*/ 0 w 3945"/>
                <a:gd name="T13" fmla="*/ 0 h 2228"/>
                <a:gd name="T14" fmla="*/ 0 w 3945"/>
                <a:gd name="T15" fmla="*/ 0 h 2228"/>
                <a:gd name="T16" fmla="*/ 1 w 3945"/>
                <a:gd name="T17" fmla="*/ 0 h 2228"/>
                <a:gd name="T18" fmla="*/ 1 w 3945"/>
                <a:gd name="T19" fmla="*/ 0 h 2228"/>
                <a:gd name="T20" fmla="*/ 1 w 3945"/>
                <a:gd name="T21" fmla="*/ 0 h 2228"/>
                <a:gd name="T22" fmla="*/ 1 w 3945"/>
                <a:gd name="T23" fmla="*/ 0 h 2228"/>
                <a:gd name="T24" fmla="*/ 1 w 3945"/>
                <a:gd name="T25" fmla="*/ 0 h 2228"/>
                <a:gd name="T26" fmla="*/ 1 w 3945"/>
                <a:gd name="T27" fmla="*/ 0 h 2228"/>
                <a:gd name="T28" fmla="*/ 1 w 3945"/>
                <a:gd name="T29" fmla="*/ 1 h 2228"/>
                <a:gd name="T30" fmla="*/ 1 w 3945"/>
                <a:gd name="T31" fmla="*/ 0 h 2228"/>
                <a:gd name="T32" fmla="*/ 1 w 3945"/>
                <a:gd name="T33" fmla="*/ 1 h 2228"/>
                <a:gd name="T34" fmla="*/ 0 w 3945"/>
                <a:gd name="T35" fmla="*/ 1 h 2228"/>
                <a:gd name="T36" fmla="*/ 0 w 3945"/>
                <a:gd name="T37" fmla="*/ 1 h 2228"/>
                <a:gd name="T38" fmla="*/ 0 w 3945"/>
                <a:gd name="T39" fmla="*/ 0 h 2228"/>
                <a:gd name="T40" fmla="*/ 1 w 3945"/>
                <a:gd name="T41" fmla="*/ 0 h 2228"/>
                <a:gd name="T42" fmla="*/ 1 w 3945"/>
                <a:gd name="T43" fmla="*/ 0 h 2228"/>
                <a:gd name="T44" fmla="*/ 1 w 3945"/>
                <a:gd name="T45" fmla="*/ 0 h 2228"/>
                <a:gd name="T46" fmla="*/ 1 w 3945"/>
                <a:gd name="T47" fmla="*/ 0 h 2228"/>
                <a:gd name="T48" fmla="*/ 1 w 3945"/>
                <a:gd name="T49" fmla="*/ 0 h 2228"/>
                <a:gd name="T50" fmla="*/ 1 w 3945"/>
                <a:gd name="T51" fmla="*/ 0 h 2228"/>
                <a:gd name="T52" fmla="*/ 1 w 3945"/>
                <a:gd name="T53" fmla="*/ 0 h 2228"/>
                <a:gd name="T54" fmla="*/ 1 w 3945"/>
                <a:gd name="T55" fmla="*/ 0 h 2228"/>
                <a:gd name="T56" fmla="*/ 1 w 3945"/>
                <a:gd name="T57" fmla="*/ 0 h 2228"/>
                <a:gd name="T58" fmla="*/ 1 w 3945"/>
                <a:gd name="T59" fmla="*/ 0 h 2228"/>
                <a:gd name="T60" fmla="*/ 1 w 3945"/>
                <a:gd name="T61" fmla="*/ 0 h 2228"/>
                <a:gd name="T62" fmla="*/ 0 w 3945"/>
                <a:gd name="T63" fmla="*/ 0 h 2228"/>
                <a:gd name="T64" fmla="*/ 0 w 3945"/>
                <a:gd name="T65" fmla="*/ 0 h 2228"/>
                <a:gd name="T66" fmla="*/ 0 w 3945"/>
                <a:gd name="T67" fmla="*/ 0 h 2228"/>
                <a:gd name="T68" fmla="*/ 0 w 3945"/>
                <a:gd name="T69" fmla="*/ 0 h 2228"/>
                <a:gd name="T70" fmla="*/ 0 w 3945"/>
                <a:gd name="T71" fmla="*/ 0 h 2228"/>
                <a:gd name="T72" fmla="*/ 0 w 3945"/>
                <a:gd name="T73" fmla="*/ 0 h 222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3945"/>
                <a:gd name="T112" fmla="*/ 0 h 2228"/>
                <a:gd name="T113" fmla="*/ 3945 w 3945"/>
                <a:gd name="T114" fmla="*/ 2228 h 222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3945" h="2228">
                  <a:moveTo>
                    <a:pt x="19" y="38"/>
                  </a:moveTo>
                  <a:lnTo>
                    <a:pt x="173" y="0"/>
                  </a:lnTo>
                  <a:lnTo>
                    <a:pt x="264" y="238"/>
                  </a:lnTo>
                  <a:lnTo>
                    <a:pt x="393" y="274"/>
                  </a:lnTo>
                  <a:lnTo>
                    <a:pt x="1133" y="812"/>
                  </a:lnTo>
                  <a:lnTo>
                    <a:pt x="861" y="876"/>
                  </a:lnTo>
                  <a:lnTo>
                    <a:pt x="1042" y="1205"/>
                  </a:lnTo>
                  <a:lnTo>
                    <a:pt x="1654" y="1141"/>
                  </a:lnTo>
                  <a:lnTo>
                    <a:pt x="2053" y="1262"/>
                  </a:lnTo>
                  <a:lnTo>
                    <a:pt x="3160" y="909"/>
                  </a:lnTo>
                  <a:lnTo>
                    <a:pt x="3713" y="941"/>
                  </a:lnTo>
                  <a:lnTo>
                    <a:pt x="3945" y="1249"/>
                  </a:lnTo>
                  <a:lnTo>
                    <a:pt x="3882" y="1838"/>
                  </a:lnTo>
                  <a:lnTo>
                    <a:pt x="3681" y="2004"/>
                  </a:lnTo>
                  <a:lnTo>
                    <a:pt x="3268" y="2080"/>
                  </a:lnTo>
                  <a:lnTo>
                    <a:pt x="3076" y="2036"/>
                  </a:lnTo>
                  <a:lnTo>
                    <a:pt x="2922" y="2087"/>
                  </a:lnTo>
                  <a:lnTo>
                    <a:pt x="1435" y="2228"/>
                  </a:lnTo>
                  <a:lnTo>
                    <a:pt x="722" y="2053"/>
                  </a:lnTo>
                  <a:lnTo>
                    <a:pt x="1241" y="1977"/>
                  </a:lnTo>
                  <a:lnTo>
                    <a:pt x="3289" y="1815"/>
                  </a:lnTo>
                  <a:lnTo>
                    <a:pt x="3616" y="1796"/>
                  </a:lnTo>
                  <a:lnTo>
                    <a:pt x="3745" y="1494"/>
                  </a:lnTo>
                  <a:lnTo>
                    <a:pt x="3724" y="1460"/>
                  </a:lnTo>
                  <a:lnTo>
                    <a:pt x="3677" y="1384"/>
                  </a:lnTo>
                  <a:lnTo>
                    <a:pt x="3650" y="1342"/>
                  </a:lnTo>
                  <a:lnTo>
                    <a:pt x="3626" y="1304"/>
                  </a:lnTo>
                  <a:lnTo>
                    <a:pt x="3591" y="1262"/>
                  </a:lnTo>
                  <a:lnTo>
                    <a:pt x="3266" y="1296"/>
                  </a:lnTo>
                  <a:lnTo>
                    <a:pt x="3055" y="1325"/>
                  </a:lnTo>
                  <a:lnTo>
                    <a:pt x="2960" y="1340"/>
                  </a:lnTo>
                  <a:lnTo>
                    <a:pt x="1009" y="1564"/>
                  </a:lnTo>
                  <a:lnTo>
                    <a:pt x="905" y="1593"/>
                  </a:lnTo>
                  <a:lnTo>
                    <a:pt x="0" y="154"/>
                  </a:lnTo>
                  <a:lnTo>
                    <a:pt x="591" y="914"/>
                  </a:lnTo>
                  <a:lnTo>
                    <a:pt x="19" y="38"/>
                  </a:lnTo>
                  <a:close/>
                </a:path>
              </a:pathLst>
            </a:custGeom>
            <a:solidFill>
              <a:srgbClr val="7A7AA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4" name="Freeform 15"/>
            <p:cNvSpPr>
              <a:spLocks/>
            </p:cNvSpPr>
            <p:nvPr/>
          </p:nvSpPr>
          <p:spPr bwMode="auto">
            <a:xfrm>
              <a:off x="3135" y="2393"/>
              <a:ext cx="382" cy="115"/>
            </a:xfrm>
            <a:custGeom>
              <a:avLst/>
              <a:gdLst>
                <a:gd name="T0" fmla="*/ 0 w 764"/>
                <a:gd name="T1" fmla="*/ 1 h 230"/>
                <a:gd name="T2" fmla="*/ 1 w 764"/>
                <a:gd name="T3" fmla="*/ 1 h 230"/>
                <a:gd name="T4" fmla="*/ 1 w 764"/>
                <a:gd name="T5" fmla="*/ 1 h 230"/>
                <a:gd name="T6" fmla="*/ 1 w 764"/>
                <a:gd name="T7" fmla="*/ 1 h 230"/>
                <a:gd name="T8" fmla="*/ 1 w 764"/>
                <a:gd name="T9" fmla="*/ 0 h 230"/>
                <a:gd name="T10" fmla="*/ 1 w 764"/>
                <a:gd name="T11" fmla="*/ 1 h 230"/>
                <a:gd name="T12" fmla="*/ 1 w 764"/>
                <a:gd name="T13" fmla="*/ 1 h 230"/>
                <a:gd name="T14" fmla="*/ 0 w 764"/>
                <a:gd name="T15" fmla="*/ 1 h 230"/>
                <a:gd name="T16" fmla="*/ 0 w 764"/>
                <a:gd name="T17" fmla="*/ 1 h 2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4"/>
                <a:gd name="T28" fmla="*/ 0 h 230"/>
                <a:gd name="T29" fmla="*/ 764 w 764"/>
                <a:gd name="T30" fmla="*/ 230 h 2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4" h="230">
                  <a:moveTo>
                    <a:pt x="0" y="230"/>
                  </a:moveTo>
                  <a:lnTo>
                    <a:pt x="545" y="207"/>
                  </a:lnTo>
                  <a:lnTo>
                    <a:pt x="764" y="182"/>
                  </a:lnTo>
                  <a:lnTo>
                    <a:pt x="669" y="87"/>
                  </a:lnTo>
                  <a:lnTo>
                    <a:pt x="703" y="0"/>
                  </a:lnTo>
                  <a:lnTo>
                    <a:pt x="490" y="38"/>
                  </a:lnTo>
                  <a:lnTo>
                    <a:pt x="199" y="159"/>
                  </a:lnTo>
                  <a:lnTo>
                    <a:pt x="0" y="230"/>
                  </a:lnTo>
                  <a:close/>
                </a:path>
              </a:pathLst>
            </a:custGeom>
            <a:solidFill>
              <a:srgbClr val="948D4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5" name="Freeform 16"/>
            <p:cNvSpPr>
              <a:spLocks/>
            </p:cNvSpPr>
            <p:nvPr/>
          </p:nvSpPr>
          <p:spPr bwMode="auto">
            <a:xfrm>
              <a:off x="2376" y="2095"/>
              <a:ext cx="170" cy="307"/>
            </a:xfrm>
            <a:custGeom>
              <a:avLst/>
              <a:gdLst>
                <a:gd name="T0" fmla="*/ 0 w 341"/>
                <a:gd name="T1" fmla="*/ 1 h 614"/>
                <a:gd name="T2" fmla="*/ 0 w 341"/>
                <a:gd name="T3" fmla="*/ 1 h 614"/>
                <a:gd name="T4" fmla="*/ 0 w 341"/>
                <a:gd name="T5" fmla="*/ 1 h 614"/>
                <a:gd name="T6" fmla="*/ 0 w 341"/>
                <a:gd name="T7" fmla="*/ 0 h 614"/>
                <a:gd name="T8" fmla="*/ 0 w 341"/>
                <a:gd name="T9" fmla="*/ 1 h 614"/>
                <a:gd name="T10" fmla="*/ 0 w 341"/>
                <a:gd name="T11" fmla="*/ 1 h 614"/>
                <a:gd name="T12" fmla="*/ 0 w 341"/>
                <a:gd name="T13" fmla="*/ 1 h 614"/>
                <a:gd name="T14" fmla="*/ 0 w 341"/>
                <a:gd name="T15" fmla="*/ 1 h 614"/>
                <a:gd name="T16" fmla="*/ 0 w 341"/>
                <a:gd name="T17" fmla="*/ 1 h 614"/>
                <a:gd name="T18" fmla="*/ 0 w 341"/>
                <a:gd name="T19" fmla="*/ 1 h 614"/>
                <a:gd name="T20" fmla="*/ 0 w 341"/>
                <a:gd name="T21" fmla="*/ 1 h 614"/>
                <a:gd name="T22" fmla="*/ 0 w 341"/>
                <a:gd name="T23" fmla="*/ 1 h 6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41"/>
                <a:gd name="T37" fmla="*/ 0 h 614"/>
                <a:gd name="T38" fmla="*/ 341 w 341"/>
                <a:gd name="T39" fmla="*/ 614 h 61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41" h="614">
                  <a:moveTo>
                    <a:pt x="12" y="541"/>
                  </a:moveTo>
                  <a:lnTo>
                    <a:pt x="0" y="342"/>
                  </a:lnTo>
                  <a:lnTo>
                    <a:pt x="76" y="123"/>
                  </a:lnTo>
                  <a:lnTo>
                    <a:pt x="141" y="0"/>
                  </a:lnTo>
                  <a:lnTo>
                    <a:pt x="341" y="104"/>
                  </a:lnTo>
                  <a:lnTo>
                    <a:pt x="276" y="137"/>
                  </a:lnTo>
                  <a:lnTo>
                    <a:pt x="154" y="169"/>
                  </a:lnTo>
                  <a:lnTo>
                    <a:pt x="95" y="315"/>
                  </a:lnTo>
                  <a:lnTo>
                    <a:pt x="95" y="471"/>
                  </a:lnTo>
                  <a:lnTo>
                    <a:pt x="187" y="614"/>
                  </a:lnTo>
                  <a:lnTo>
                    <a:pt x="12" y="541"/>
                  </a:lnTo>
                  <a:close/>
                </a:path>
              </a:pathLst>
            </a:custGeom>
            <a:solidFill>
              <a:srgbClr val="B8AD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6" name="Freeform 17"/>
            <p:cNvSpPr>
              <a:spLocks/>
            </p:cNvSpPr>
            <p:nvPr/>
          </p:nvSpPr>
          <p:spPr bwMode="auto">
            <a:xfrm>
              <a:off x="2408" y="1210"/>
              <a:ext cx="891" cy="319"/>
            </a:xfrm>
            <a:custGeom>
              <a:avLst/>
              <a:gdLst>
                <a:gd name="T0" fmla="*/ 0 w 1783"/>
                <a:gd name="T1" fmla="*/ 0 h 639"/>
                <a:gd name="T2" fmla="*/ 0 w 1783"/>
                <a:gd name="T3" fmla="*/ 0 h 639"/>
                <a:gd name="T4" fmla="*/ 0 w 1783"/>
                <a:gd name="T5" fmla="*/ 0 h 639"/>
                <a:gd name="T6" fmla="*/ 0 w 1783"/>
                <a:gd name="T7" fmla="*/ 0 h 639"/>
                <a:gd name="T8" fmla="*/ 0 w 1783"/>
                <a:gd name="T9" fmla="*/ 0 h 639"/>
                <a:gd name="T10" fmla="*/ 0 w 1783"/>
                <a:gd name="T11" fmla="*/ 0 h 639"/>
                <a:gd name="T12" fmla="*/ 0 w 1783"/>
                <a:gd name="T13" fmla="*/ 0 h 639"/>
                <a:gd name="T14" fmla="*/ 0 w 1783"/>
                <a:gd name="T15" fmla="*/ 0 h 6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83"/>
                <a:gd name="T25" fmla="*/ 0 h 639"/>
                <a:gd name="T26" fmla="*/ 1783 w 1783"/>
                <a:gd name="T27" fmla="*/ 639 h 63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83" h="639">
                  <a:moveTo>
                    <a:pt x="0" y="382"/>
                  </a:moveTo>
                  <a:lnTo>
                    <a:pt x="1430" y="0"/>
                  </a:lnTo>
                  <a:lnTo>
                    <a:pt x="1616" y="40"/>
                  </a:lnTo>
                  <a:lnTo>
                    <a:pt x="346" y="397"/>
                  </a:lnTo>
                  <a:lnTo>
                    <a:pt x="1783" y="156"/>
                  </a:lnTo>
                  <a:lnTo>
                    <a:pt x="375" y="639"/>
                  </a:lnTo>
                  <a:lnTo>
                    <a:pt x="0" y="382"/>
                  </a:lnTo>
                  <a:close/>
                </a:path>
              </a:pathLst>
            </a:custGeom>
            <a:solidFill>
              <a:srgbClr val="B8AD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7" name="Freeform 18"/>
            <p:cNvSpPr>
              <a:spLocks/>
            </p:cNvSpPr>
            <p:nvPr/>
          </p:nvSpPr>
          <p:spPr bwMode="auto">
            <a:xfrm>
              <a:off x="2215" y="2367"/>
              <a:ext cx="383" cy="193"/>
            </a:xfrm>
            <a:custGeom>
              <a:avLst/>
              <a:gdLst>
                <a:gd name="T0" fmla="*/ 0 w 766"/>
                <a:gd name="T1" fmla="*/ 1 h 386"/>
                <a:gd name="T2" fmla="*/ 1 w 766"/>
                <a:gd name="T3" fmla="*/ 0 h 386"/>
                <a:gd name="T4" fmla="*/ 1 w 766"/>
                <a:gd name="T5" fmla="*/ 1 h 386"/>
                <a:gd name="T6" fmla="*/ 1 w 766"/>
                <a:gd name="T7" fmla="*/ 1 h 386"/>
                <a:gd name="T8" fmla="*/ 1 w 766"/>
                <a:gd name="T9" fmla="*/ 1 h 386"/>
                <a:gd name="T10" fmla="*/ 1 w 766"/>
                <a:gd name="T11" fmla="*/ 1 h 386"/>
                <a:gd name="T12" fmla="*/ 1 w 766"/>
                <a:gd name="T13" fmla="*/ 1 h 386"/>
                <a:gd name="T14" fmla="*/ 1 w 766"/>
                <a:gd name="T15" fmla="*/ 1 h 386"/>
                <a:gd name="T16" fmla="*/ 1 w 766"/>
                <a:gd name="T17" fmla="*/ 1 h 386"/>
                <a:gd name="T18" fmla="*/ 0 w 766"/>
                <a:gd name="T19" fmla="*/ 1 h 386"/>
                <a:gd name="T20" fmla="*/ 0 w 766"/>
                <a:gd name="T21" fmla="*/ 1 h 3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766"/>
                <a:gd name="T34" fmla="*/ 0 h 386"/>
                <a:gd name="T35" fmla="*/ 766 w 766"/>
                <a:gd name="T36" fmla="*/ 386 h 38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766" h="386">
                  <a:moveTo>
                    <a:pt x="0" y="57"/>
                  </a:moveTo>
                  <a:lnTo>
                    <a:pt x="242" y="0"/>
                  </a:lnTo>
                  <a:lnTo>
                    <a:pt x="551" y="170"/>
                  </a:lnTo>
                  <a:lnTo>
                    <a:pt x="766" y="323"/>
                  </a:lnTo>
                  <a:lnTo>
                    <a:pt x="631" y="346"/>
                  </a:lnTo>
                  <a:lnTo>
                    <a:pt x="483" y="249"/>
                  </a:lnTo>
                  <a:lnTo>
                    <a:pt x="375" y="141"/>
                  </a:lnTo>
                  <a:lnTo>
                    <a:pt x="200" y="122"/>
                  </a:lnTo>
                  <a:lnTo>
                    <a:pt x="181" y="386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B8AD4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8" name="Freeform 19"/>
            <p:cNvSpPr>
              <a:spLocks/>
            </p:cNvSpPr>
            <p:nvPr/>
          </p:nvSpPr>
          <p:spPr bwMode="auto">
            <a:xfrm>
              <a:off x="2813" y="1648"/>
              <a:ext cx="290" cy="780"/>
            </a:xfrm>
            <a:custGeom>
              <a:avLst/>
              <a:gdLst>
                <a:gd name="T0" fmla="*/ 0 w 582"/>
                <a:gd name="T1" fmla="*/ 0 h 1561"/>
                <a:gd name="T2" fmla="*/ 0 w 582"/>
                <a:gd name="T3" fmla="*/ 0 h 1561"/>
                <a:gd name="T4" fmla="*/ 0 w 582"/>
                <a:gd name="T5" fmla="*/ 0 h 1561"/>
                <a:gd name="T6" fmla="*/ 0 w 582"/>
                <a:gd name="T7" fmla="*/ 0 h 1561"/>
                <a:gd name="T8" fmla="*/ 0 w 582"/>
                <a:gd name="T9" fmla="*/ 0 h 1561"/>
                <a:gd name="T10" fmla="*/ 0 w 582"/>
                <a:gd name="T11" fmla="*/ 0 h 1561"/>
                <a:gd name="T12" fmla="*/ 0 w 582"/>
                <a:gd name="T13" fmla="*/ 0 h 1561"/>
                <a:gd name="T14" fmla="*/ 0 w 582"/>
                <a:gd name="T15" fmla="*/ 0 h 1561"/>
                <a:gd name="T16" fmla="*/ 0 w 582"/>
                <a:gd name="T17" fmla="*/ 0 h 1561"/>
                <a:gd name="T18" fmla="*/ 0 w 582"/>
                <a:gd name="T19" fmla="*/ 0 h 1561"/>
                <a:gd name="T20" fmla="*/ 0 w 582"/>
                <a:gd name="T21" fmla="*/ 0 h 1561"/>
                <a:gd name="T22" fmla="*/ 0 w 582"/>
                <a:gd name="T23" fmla="*/ 0 h 1561"/>
                <a:gd name="T24" fmla="*/ 0 w 582"/>
                <a:gd name="T25" fmla="*/ 0 h 1561"/>
                <a:gd name="T26" fmla="*/ 0 w 582"/>
                <a:gd name="T27" fmla="*/ 0 h 1561"/>
                <a:gd name="T28" fmla="*/ 0 w 582"/>
                <a:gd name="T29" fmla="*/ 0 h 1561"/>
                <a:gd name="T30" fmla="*/ 0 w 582"/>
                <a:gd name="T31" fmla="*/ 0 h 1561"/>
                <a:gd name="T32" fmla="*/ 0 w 582"/>
                <a:gd name="T33" fmla="*/ 0 h 1561"/>
                <a:gd name="T34" fmla="*/ 0 w 582"/>
                <a:gd name="T35" fmla="*/ 0 h 156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582"/>
                <a:gd name="T55" fmla="*/ 0 h 1561"/>
                <a:gd name="T56" fmla="*/ 582 w 582"/>
                <a:gd name="T57" fmla="*/ 1561 h 156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582" h="1561">
                  <a:moveTo>
                    <a:pt x="91" y="124"/>
                  </a:moveTo>
                  <a:lnTo>
                    <a:pt x="466" y="0"/>
                  </a:lnTo>
                  <a:lnTo>
                    <a:pt x="582" y="143"/>
                  </a:lnTo>
                  <a:lnTo>
                    <a:pt x="414" y="1000"/>
                  </a:lnTo>
                  <a:lnTo>
                    <a:pt x="240" y="1154"/>
                  </a:lnTo>
                  <a:lnTo>
                    <a:pt x="234" y="1561"/>
                  </a:lnTo>
                  <a:lnTo>
                    <a:pt x="91" y="1399"/>
                  </a:lnTo>
                  <a:lnTo>
                    <a:pt x="63" y="1213"/>
                  </a:lnTo>
                  <a:lnTo>
                    <a:pt x="34" y="1084"/>
                  </a:lnTo>
                  <a:lnTo>
                    <a:pt x="6" y="1023"/>
                  </a:lnTo>
                  <a:lnTo>
                    <a:pt x="0" y="995"/>
                  </a:lnTo>
                  <a:lnTo>
                    <a:pt x="6" y="922"/>
                  </a:lnTo>
                  <a:lnTo>
                    <a:pt x="38" y="708"/>
                  </a:lnTo>
                  <a:lnTo>
                    <a:pt x="78" y="493"/>
                  </a:lnTo>
                  <a:lnTo>
                    <a:pt x="99" y="394"/>
                  </a:lnTo>
                  <a:lnTo>
                    <a:pt x="48" y="156"/>
                  </a:lnTo>
                  <a:lnTo>
                    <a:pt x="91" y="124"/>
                  </a:lnTo>
                  <a:close/>
                </a:path>
              </a:pathLst>
            </a:custGeom>
            <a:solidFill>
              <a:srgbClr val="FFB2B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9" name="Freeform 20"/>
            <p:cNvSpPr>
              <a:spLocks/>
            </p:cNvSpPr>
            <p:nvPr/>
          </p:nvSpPr>
          <p:spPr bwMode="auto">
            <a:xfrm>
              <a:off x="2846" y="1616"/>
              <a:ext cx="305" cy="831"/>
            </a:xfrm>
            <a:custGeom>
              <a:avLst/>
              <a:gdLst>
                <a:gd name="T0" fmla="*/ 0 w 610"/>
                <a:gd name="T1" fmla="*/ 1 h 1661"/>
                <a:gd name="T2" fmla="*/ 1 w 610"/>
                <a:gd name="T3" fmla="*/ 0 h 1661"/>
                <a:gd name="T4" fmla="*/ 1 w 610"/>
                <a:gd name="T5" fmla="*/ 1 h 1661"/>
                <a:gd name="T6" fmla="*/ 1 w 610"/>
                <a:gd name="T7" fmla="*/ 1 h 1661"/>
                <a:gd name="T8" fmla="*/ 1 w 610"/>
                <a:gd name="T9" fmla="*/ 1 h 1661"/>
                <a:gd name="T10" fmla="*/ 1 w 610"/>
                <a:gd name="T11" fmla="*/ 1 h 1661"/>
                <a:gd name="T12" fmla="*/ 1 w 610"/>
                <a:gd name="T13" fmla="*/ 1 h 1661"/>
                <a:gd name="T14" fmla="*/ 1 w 610"/>
                <a:gd name="T15" fmla="*/ 1 h 1661"/>
                <a:gd name="T16" fmla="*/ 1 w 610"/>
                <a:gd name="T17" fmla="*/ 1 h 1661"/>
                <a:gd name="T18" fmla="*/ 1 w 610"/>
                <a:gd name="T19" fmla="*/ 1 h 1661"/>
                <a:gd name="T20" fmla="*/ 1 w 610"/>
                <a:gd name="T21" fmla="*/ 1 h 1661"/>
                <a:gd name="T22" fmla="*/ 1 w 610"/>
                <a:gd name="T23" fmla="*/ 1 h 1661"/>
                <a:gd name="T24" fmla="*/ 1 w 610"/>
                <a:gd name="T25" fmla="*/ 1 h 1661"/>
                <a:gd name="T26" fmla="*/ 1 w 610"/>
                <a:gd name="T27" fmla="*/ 1 h 1661"/>
                <a:gd name="T28" fmla="*/ 1 w 610"/>
                <a:gd name="T29" fmla="*/ 1 h 1661"/>
                <a:gd name="T30" fmla="*/ 1 w 610"/>
                <a:gd name="T31" fmla="*/ 1 h 1661"/>
                <a:gd name="T32" fmla="*/ 1 w 610"/>
                <a:gd name="T33" fmla="*/ 1 h 1661"/>
                <a:gd name="T34" fmla="*/ 1 w 610"/>
                <a:gd name="T35" fmla="*/ 1 h 1661"/>
                <a:gd name="T36" fmla="*/ 1 w 610"/>
                <a:gd name="T37" fmla="*/ 1 h 1661"/>
                <a:gd name="T38" fmla="*/ 1 w 610"/>
                <a:gd name="T39" fmla="*/ 1 h 1661"/>
                <a:gd name="T40" fmla="*/ 1 w 610"/>
                <a:gd name="T41" fmla="*/ 1 h 1661"/>
                <a:gd name="T42" fmla="*/ 1 w 610"/>
                <a:gd name="T43" fmla="*/ 1 h 1661"/>
                <a:gd name="T44" fmla="*/ 1 w 610"/>
                <a:gd name="T45" fmla="*/ 1 h 1661"/>
                <a:gd name="T46" fmla="*/ 1 w 610"/>
                <a:gd name="T47" fmla="*/ 1 h 1661"/>
                <a:gd name="T48" fmla="*/ 1 w 610"/>
                <a:gd name="T49" fmla="*/ 1 h 1661"/>
                <a:gd name="T50" fmla="*/ 1 w 610"/>
                <a:gd name="T51" fmla="*/ 1 h 1661"/>
                <a:gd name="T52" fmla="*/ 1 w 610"/>
                <a:gd name="T53" fmla="*/ 1 h 1661"/>
                <a:gd name="T54" fmla="*/ 0 w 610"/>
                <a:gd name="T55" fmla="*/ 1 h 1661"/>
                <a:gd name="T56" fmla="*/ 0 w 610"/>
                <a:gd name="T57" fmla="*/ 1 h 166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610"/>
                <a:gd name="T88" fmla="*/ 0 h 1661"/>
                <a:gd name="T89" fmla="*/ 610 w 610"/>
                <a:gd name="T90" fmla="*/ 1661 h 1661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610" h="1661">
                  <a:moveTo>
                    <a:pt x="0" y="140"/>
                  </a:moveTo>
                  <a:lnTo>
                    <a:pt x="475" y="0"/>
                  </a:lnTo>
                  <a:lnTo>
                    <a:pt x="610" y="275"/>
                  </a:lnTo>
                  <a:lnTo>
                    <a:pt x="399" y="887"/>
                  </a:lnTo>
                  <a:lnTo>
                    <a:pt x="559" y="1294"/>
                  </a:lnTo>
                  <a:lnTo>
                    <a:pt x="296" y="1235"/>
                  </a:lnTo>
                  <a:lnTo>
                    <a:pt x="180" y="1661"/>
                  </a:lnTo>
                  <a:lnTo>
                    <a:pt x="74" y="1321"/>
                  </a:lnTo>
                  <a:lnTo>
                    <a:pt x="19" y="1003"/>
                  </a:lnTo>
                  <a:lnTo>
                    <a:pt x="116" y="655"/>
                  </a:lnTo>
                  <a:lnTo>
                    <a:pt x="43" y="391"/>
                  </a:lnTo>
                  <a:lnTo>
                    <a:pt x="159" y="275"/>
                  </a:lnTo>
                  <a:lnTo>
                    <a:pt x="296" y="313"/>
                  </a:lnTo>
                  <a:lnTo>
                    <a:pt x="245" y="437"/>
                  </a:lnTo>
                  <a:lnTo>
                    <a:pt x="340" y="501"/>
                  </a:lnTo>
                  <a:lnTo>
                    <a:pt x="148" y="887"/>
                  </a:lnTo>
                  <a:lnTo>
                    <a:pt x="245" y="868"/>
                  </a:lnTo>
                  <a:lnTo>
                    <a:pt x="148" y="1159"/>
                  </a:lnTo>
                  <a:lnTo>
                    <a:pt x="275" y="1011"/>
                  </a:lnTo>
                  <a:lnTo>
                    <a:pt x="334" y="714"/>
                  </a:lnTo>
                  <a:lnTo>
                    <a:pt x="334" y="623"/>
                  </a:lnTo>
                  <a:lnTo>
                    <a:pt x="437" y="405"/>
                  </a:lnTo>
                  <a:lnTo>
                    <a:pt x="367" y="386"/>
                  </a:lnTo>
                  <a:lnTo>
                    <a:pt x="391" y="218"/>
                  </a:lnTo>
                  <a:lnTo>
                    <a:pt x="232" y="192"/>
                  </a:lnTo>
                  <a:lnTo>
                    <a:pt x="256" y="127"/>
                  </a:lnTo>
                  <a:lnTo>
                    <a:pt x="32" y="251"/>
                  </a:lnTo>
                  <a:lnTo>
                    <a:pt x="0" y="140"/>
                  </a:lnTo>
                  <a:close/>
                </a:path>
              </a:pathLst>
            </a:custGeom>
            <a:solidFill>
              <a:srgbClr val="FF4D4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0" name="Freeform 21"/>
            <p:cNvSpPr>
              <a:spLocks/>
            </p:cNvSpPr>
            <p:nvPr/>
          </p:nvSpPr>
          <p:spPr bwMode="auto">
            <a:xfrm>
              <a:off x="1903" y="1938"/>
              <a:ext cx="511" cy="442"/>
            </a:xfrm>
            <a:custGeom>
              <a:avLst/>
              <a:gdLst>
                <a:gd name="T0" fmla="*/ 0 w 1023"/>
                <a:gd name="T1" fmla="*/ 1 h 884"/>
                <a:gd name="T2" fmla="*/ 0 w 1023"/>
                <a:gd name="T3" fmla="*/ 1 h 884"/>
                <a:gd name="T4" fmla="*/ 0 w 1023"/>
                <a:gd name="T5" fmla="*/ 0 h 884"/>
                <a:gd name="T6" fmla="*/ 0 w 1023"/>
                <a:gd name="T7" fmla="*/ 1 h 884"/>
                <a:gd name="T8" fmla="*/ 0 w 1023"/>
                <a:gd name="T9" fmla="*/ 1 h 884"/>
                <a:gd name="T10" fmla="*/ 0 w 1023"/>
                <a:gd name="T11" fmla="*/ 1 h 884"/>
                <a:gd name="T12" fmla="*/ 0 w 1023"/>
                <a:gd name="T13" fmla="*/ 1 h 884"/>
                <a:gd name="T14" fmla="*/ 0 w 1023"/>
                <a:gd name="T15" fmla="*/ 1 h 884"/>
                <a:gd name="T16" fmla="*/ 0 w 1023"/>
                <a:gd name="T17" fmla="*/ 1 h 884"/>
                <a:gd name="T18" fmla="*/ 0 w 1023"/>
                <a:gd name="T19" fmla="*/ 1 h 884"/>
                <a:gd name="T20" fmla="*/ 0 w 1023"/>
                <a:gd name="T21" fmla="*/ 1 h 884"/>
                <a:gd name="T22" fmla="*/ 0 w 1023"/>
                <a:gd name="T23" fmla="*/ 1 h 8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23"/>
                <a:gd name="T37" fmla="*/ 0 h 884"/>
                <a:gd name="T38" fmla="*/ 1023 w 1023"/>
                <a:gd name="T39" fmla="*/ 884 h 88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23" h="884">
                  <a:moveTo>
                    <a:pt x="0" y="175"/>
                  </a:moveTo>
                  <a:lnTo>
                    <a:pt x="78" y="51"/>
                  </a:lnTo>
                  <a:lnTo>
                    <a:pt x="173" y="0"/>
                  </a:lnTo>
                  <a:lnTo>
                    <a:pt x="187" y="124"/>
                  </a:lnTo>
                  <a:lnTo>
                    <a:pt x="451" y="375"/>
                  </a:lnTo>
                  <a:lnTo>
                    <a:pt x="843" y="601"/>
                  </a:lnTo>
                  <a:lnTo>
                    <a:pt x="1023" y="439"/>
                  </a:lnTo>
                  <a:lnTo>
                    <a:pt x="921" y="884"/>
                  </a:lnTo>
                  <a:lnTo>
                    <a:pt x="130" y="297"/>
                  </a:lnTo>
                  <a:lnTo>
                    <a:pt x="27" y="278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B56C4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1" name="Freeform 22"/>
            <p:cNvSpPr>
              <a:spLocks/>
            </p:cNvSpPr>
            <p:nvPr/>
          </p:nvSpPr>
          <p:spPr bwMode="auto">
            <a:xfrm>
              <a:off x="1891" y="1822"/>
              <a:ext cx="581" cy="335"/>
            </a:xfrm>
            <a:custGeom>
              <a:avLst/>
              <a:gdLst>
                <a:gd name="T0" fmla="*/ 1 w 1161"/>
                <a:gd name="T1" fmla="*/ 0 h 671"/>
                <a:gd name="T2" fmla="*/ 0 w 1161"/>
                <a:gd name="T3" fmla="*/ 0 h 671"/>
                <a:gd name="T4" fmla="*/ 1 w 1161"/>
                <a:gd name="T5" fmla="*/ 0 h 671"/>
                <a:gd name="T6" fmla="*/ 1 w 1161"/>
                <a:gd name="T7" fmla="*/ 0 h 671"/>
                <a:gd name="T8" fmla="*/ 1 w 1161"/>
                <a:gd name="T9" fmla="*/ 0 h 671"/>
                <a:gd name="T10" fmla="*/ 1 w 1161"/>
                <a:gd name="T11" fmla="*/ 0 h 671"/>
                <a:gd name="T12" fmla="*/ 1 w 1161"/>
                <a:gd name="T13" fmla="*/ 0 h 671"/>
                <a:gd name="T14" fmla="*/ 1 w 1161"/>
                <a:gd name="T15" fmla="*/ 0 h 671"/>
                <a:gd name="T16" fmla="*/ 1 w 1161"/>
                <a:gd name="T17" fmla="*/ 0 h 6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61"/>
                <a:gd name="T28" fmla="*/ 0 h 671"/>
                <a:gd name="T29" fmla="*/ 1161 w 1161"/>
                <a:gd name="T30" fmla="*/ 671 h 67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61" h="671">
                  <a:moveTo>
                    <a:pt x="41" y="52"/>
                  </a:moveTo>
                  <a:lnTo>
                    <a:pt x="0" y="131"/>
                  </a:lnTo>
                  <a:lnTo>
                    <a:pt x="184" y="156"/>
                  </a:lnTo>
                  <a:lnTo>
                    <a:pt x="988" y="574"/>
                  </a:lnTo>
                  <a:lnTo>
                    <a:pt x="1045" y="671"/>
                  </a:lnTo>
                  <a:lnTo>
                    <a:pt x="1161" y="561"/>
                  </a:lnTo>
                  <a:lnTo>
                    <a:pt x="119" y="0"/>
                  </a:lnTo>
                  <a:lnTo>
                    <a:pt x="41" y="52"/>
                  </a:lnTo>
                  <a:close/>
                </a:path>
              </a:pathLst>
            </a:custGeom>
            <a:solidFill>
              <a:srgbClr val="B56C4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2" name="Freeform 23"/>
            <p:cNvSpPr>
              <a:spLocks/>
            </p:cNvSpPr>
            <p:nvPr/>
          </p:nvSpPr>
          <p:spPr bwMode="auto">
            <a:xfrm>
              <a:off x="2491" y="2009"/>
              <a:ext cx="1455" cy="580"/>
            </a:xfrm>
            <a:custGeom>
              <a:avLst/>
              <a:gdLst>
                <a:gd name="T0" fmla="*/ 1 w 2909"/>
                <a:gd name="T1" fmla="*/ 1 h 1159"/>
                <a:gd name="T2" fmla="*/ 1 w 2909"/>
                <a:gd name="T3" fmla="*/ 1 h 1159"/>
                <a:gd name="T4" fmla="*/ 1 w 2909"/>
                <a:gd name="T5" fmla="*/ 1 h 1159"/>
                <a:gd name="T6" fmla="*/ 1 w 2909"/>
                <a:gd name="T7" fmla="*/ 1 h 1159"/>
                <a:gd name="T8" fmla="*/ 1 w 2909"/>
                <a:gd name="T9" fmla="*/ 1 h 1159"/>
                <a:gd name="T10" fmla="*/ 1 w 2909"/>
                <a:gd name="T11" fmla="*/ 1 h 1159"/>
                <a:gd name="T12" fmla="*/ 1 w 2909"/>
                <a:gd name="T13" fmla="*/ 1 h 1159"/>
                <a:gd name="T14" fmla="*/ 1 w 2909"/>
                <a:gd name="T15" fmla="*/ 1 h 1159"/>
                <a:gd name="T16" fmla="*/ 1 w 2909"/>
                <a:gd name="T17" fmla="*/ 1 h 1159"/>
                <a:gd name="T18" fmla="*/ 1 w 2909"/>
                <a:gd name="T19" fmla="*/ 0 h 1159"/>
                <a:gd name="T20" fmla="*/ 1 w 2909"/>
                <a:gd name="T21" fmla="*/ 1 h 1159"/>
                <a:gd name="T22" fmla="*/ 1 w 2909"/>
                <a:gd name="T23" fmla="*/ 1 h 1159"/>
                <a:gd name="T24" fmla="*/ 1 w 2909"/>
                <a:gd name="T25" fmla="*/ 1 h 1159"/>
                <a:gd name="T26" fmla="*/ 1 w 2909"/>
                <a:gd name="T27" fmla="*/ 1 h 1159"/>
                <a:gd name="T28" fmla="*/ 2 w 2909"/>
                <a:gd name="T29" fmla="*/ 1 h 1159"/>
                <a:gd name="T30" fmla="*/ 2 w 2909"/>
                <a:gd name="T31" fmla="*/ 1 h 1159"/>
                <a:gd name="T32" fmla="*/ 2 w 2909"/>
                <a:gd name="T33" fmla="*/ 1 h 1159"/>
                <a:gd name="T34" fmla="*/ 2 w 2909"/>
                <a:gd name="T35" fmla="*/ 1 h 1159"/>
                <a:gd name="T36" fmla="*/ 1 w 2909"/>
                <a:gd name="T37" fmla="*/ 1 h 1159"/>
                <a:gd name="T38" fmla="*/ 1 w 2909"/>
                <a:gd name="T39" fmla="*/ 1 h 1159"/>
                <a:gd name="T40" fmla="*/ 1 w 2909"/>
                <a:gd name="T41" fmla="*/ 1 h 1159"/>
                <a:gd name="T42" fmla="*/ 0 w 2909"/>
                <a:gd name="T43" fmla="*/ 1 h 1159"/>
                <a:gd name="T44" fmla="*/ 1 w 2909"/>
                <a:gd name="T45" fmla="*/ 1 h 1159"/>
                <a:gd name="T46" fmla="*/ 1 w 2909"/>
                <a:gd name="T47" fmla="*/ 1 h 115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909"/>
                <a:gd name="T73" fmla="*/ 0 h 1159"/>
                <a:gd name="T74" fmla="*/ 2909 w 2909"/>
                <a:gd name="T75" fmla="*/ 1159 h 115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909" h="1159">
                  <a:moveTo>
                    <a:pt x="14" y="663"/>
                  </a:moveTo>
                  <a:lnTo>
                    <a:pt x="116" y="844"/>
                  </a:lnTo>
                  <a:lnTo>
                    <a:pt x="291" y="914"/>
                  </a:lnTo>
                  <a:lnTo>
                    <a:pt x="297" y="657"/>
                  </a:lnTo>
                  <a:lnTo>
                    <a:pt x="413" y="367"/>
                  </a:lnTo>
                  <a:lnTo>
                    <a:pt x="259" y="445"/>
                  </a:lnTo>
                  <a:lnTo>
                    <a:pt x="200" y="488"/>
                  </a:lnTo>
                  <a:lnTo>
                    <a:pt x="181" y="406"/>
                  </a:lnTo>
                  <a:lnTo>
                    <a:pt x="189" y="237"/>
                  </a:lnTo>
                  <a:lnTo>
                    <a:pt x="658" y="0"/>
                  </a:lnTo>
                  <a:lnTo>
                    <a:pt x="649" y="300"/>
                  </a:lnTo>
                  <a:lnTo>
                    <a:pt x="563" y="365"/>
                  </a:lnTo>
                  <a:lnTo>
                    <a:pt x="502" y="695"/>
                  </a:lnTo>
                  <a:lnTo>
                    <a:pt x="620" y="941"/>
                  </a:lnTo>
                  <a:lnTo>
                    <a:pt x="2428" y="393"/>
                  </a:lnTo>
                  <a:lnTo>
                    <a:pt x="2293" y="129"/>
                  </a:lnTo>
                  <a:lnTo>
                    <a:pt x="2909" y="386"/>
                  </a:lnTo>
                  <a:lnTo>
                    <a:pt x="2807" y="458"/>
                  </a:lnTo>
                  <a:lnTo>
                    <a:pt x="639" y="1159"/>
                  </a:lnTo>
                  <a:lnTo>
                    <a:pt x="449" y="1114"/>
                  </a:lnTo>
                  <a:lnTo>
                    <a:pt x="59" y="954"/>
                  </a:lnTo>
                  <a:lnTo>
                    <a:pt x="0" y="773"/>
                  </a:lnTo>
                  <a:lnTo>
                    <a:pt x="14" y="663"/>
                  </a:lnTo>
                  <a:close/>
                </a:path>
              </a:pathLst>
            </a:custGeom>
            <a:solidFill>
              <a:srgbClr val="B56C4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3" name="Freeform 24"/>
            <p:cNvSpPr>
              <a:spLocks/>
            </p:cNvSpPr>
            <p:nvPr/>
          </p:nvSpPr>
          <p:spPr bwMode="auto">
            <a:xfrm>
              <a:off x="3039" y="1761"/>
              <a:ext cx="863" cy="377"/>
            </a:xfrm>
            <a:custGeom>
              <a:avLst/>
              <a:gdLst>
                <a:gd name="T0" fmla="*/ 1 w 1726"/>
                <a:gd name="T1" fmla="*/ 1 h 754"/>
                <a:gd name="T2" fmla="*/ 1 w 1726"/>
                <a:gd name="T3" fmla="*/ 0 h 754"/>
                <a:gd name="T4" fmla="*/ 1 w 1726"/>
                <a:gd name="T5" fmla="*/ 1 h 754"/>
                <a:gd name="T6" fmla="*/ 1 w 1726"/>
                <a:gd name="T7" fmla="*/ 1 h 754"/>
                <a:gd name="T8" fmla="*/ 1 w 1726"/>
                <a:gd name="T9" fmla="*/ 1 h 754"/>
                <a:gd name="T10" fmla="*/ 0 w 1726"/>
                <a:gd name="T11" fmla="*/ 1 h 754"/>
                <a:gd name="T12" fmla="*/ 1 w 1726"/>
                <a:gd name="T13" fmla="*/ 1 h 754"/>
                <a:gd name="T14" fmla="*/ 1 w 1726"/>
                <a:gd name="T15" fmla="*/ 1 h 7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726"/>
                <a:gd name="T25" fmla="*/ 0 h 754"/>
                <a:gd name="T26" fmla="*/ 1726 w 1726"/>
                <a:gd name="T27" fmla="*/ 754 h 75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726" h="754">
                  <a:moveTo>
                    <a:pt x="129" y="270"/>
                  </a:moveTo>
                  <a:lnTo>
                    <a:pt x="817" y="0"/>
                  </a:lnTo>
                  <a:lnTo>
                    <a:pt x="1726" y="218"/>
                  </a:lnTo>
                  <a:lnTo>
                    <a:pt x="1557" y="328"/>
                  </a:lnTo>
                  <a:lnTo>
                    <a:pt x="19" y="754"/>
                  </a:lnTo>
                  <a:lnTo>
                    <a:pt x="0" y="560"/>
                  </a:lnTo>
                  <a:lnTo>
                    <a:pt x="129" y="270"/>
                  </a:lnTo>
                  <a:close/>
                </a:path>
              </a:pathLst>
            </a:custGeom>
            <a:solidFill>
              <a:srgbClr val="B56C4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4" name="Freeform 25"/>
            <p:cNvSpPr>
              <a:spLocks/>
            </p:cNvSpPr>
            <p:nvPr/>
          </p:nvSpPr>
          <p:spPr bwMode="auto">
            <a:xfrm>
              <a:off x="1692" y="1652"/>
              <a:ext cx="893" cy="496"/>
            </a:xfrm>
            <a:custGeom>
              <a:avLst/>
              <a:gdLst>
                <a:gd name="T0" fmla="*/ 0 w 1788"/>
                <a:gd name="T1" fmla="*/ 1 h 992"/>
                <a:gd name="T2" fmla="*/ 0 w 1788"/>
                <a:gd name="T3" fmla="*/ 0 h 992"/>
                <a:gd name="T4" fmla="*/ 0 w 1788"/>
                <a:gd name="T5" fmla="*/ 1 h 992"/>
                <a:gd name="T6" fmla="*/ 0 w 1788"/>
                <a:gd name="T7" fmla="*/ 1 h 992"/>
                <a:gd name="T8" fmla="*/ 0 w 1788"/>
                <a:gd name="T9" fmla="*/ 1 h 992"/>
                <a:gd name="T10" fmla="*/ 0 w 1788"/>
                <a:gd name="T11" fmla="*/ 1 h 9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88"/>
                <a:gd name="T19" fmla="*/ 0 h 992"/>
                <a:gd name="T20" fmla="*/ 1788 w 1788"/>
                <a:gd name="T21" fmla="*/ 992 h 9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88" h="992">
                  <a:moveTo>
                    <a:pt x="0" y="59"/>
                  </a:moveTo>
                  <a:lnTo>
                    <a:pt x="31" y="0"/>
                  </a:lnTo>
                  <a:lnTo>
                    <a:pt x="1788" y="850"/>
                  </a:lnTo>
                  <a:lnTo>
                    <a:pt x="1748" y="992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AE4D4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5" name="Freeform 26"/>
            <p:cNvSpPr>
              <a:spLocks/>
            </p:cNvSpPr>
            <p:nvPr/>
          </p:nvSpPr>
          <p:spPr bwMode="auto">
            <a:xfrm>
              <a:off x="1842" y="1332"/>
              <a:ext cx="1799" cy="609"/>
            </a:xfrm>
            <a:custGeom>
              <a:avLst/>
              <a:gdLst>
                <a:gd name="T0" fmla="*/ 1 w 3597"/>
                <a:gd name="T1" fmla="*/ 0 h 1219"/>
                <a:gd name="T2" fmla="*/ 1 w 3597"/>
                <a:gd name="T3" fmla="*/ 0 h 1219"/>
                <a:gd name="T4" fmla="*/ 1 w 3597"/>
                <a:gd name="T5" fmla="*/ 0 h 1219"/>
                <a:gd name="T6" fmla="*/ 1 w 3597"/>
                <a:gd name="T7" fmla="*/ 0 h 1219"/>
                <a:gd name="T8" fmla="*/ 1 w 3597"/>
                <a:gd name="T9" fmla="*/ 0 h 1219"/>
                <a:gd name="T10" fmla="*/ 1 w 3597"/>
                <a:gd name="T11" fmla="*/ 0 h 1219"/>
                <a:gd name="T12" fmla="*/ 2 w 3597"/>
                <a:gd name="T13" fmla="*/ 0 h 1219"/>
                <a:gd name="T14" fmla="*/ 2 w 3597"/>
                <a:gd name="T15" fmla="*/ 0 h 1219"/>
                <a:gd name="T16" fmla="*/ 2 w 3597"/>
                <a:gd name="T17" fmla="*/ 0 h 1219"/>
                <a:gd name="T18" fmla="*/ 2 w 3597"/>
                <a:gd name="T19" fmla="*/ 0 h 1219"/>
                <a:gd name="T20" fmla="*/ 2 w 3597"/>
                <a:gd name="T21" fmla="*/ 0 h 1219"/>
                <a:gd name="T22" fmla="*/ 2 w 3597"/>
                <a:gd name="T23" fmla="*/ 0 h 1219"/>
                <a:gd name="T24" fmla="*/ 2 w 3597"/>
                <a:gd name="T25" fmla="*/ 0 h 1219"/>
                <a:gd name="T26" fmla="*/ 2 w 3597"/>
                <a:gd name="T27" fmla="*/ 0 h 1219"/>
                <a:gd name="T28" fmla="*/ 1 w 3597"/>
                <a:gd name="T29" fmla="*/ 0 h 1219"/>
                <a:gd name="T30" fmla="*/ 1 w 3597"/>
                <a:gd name="T31" fmla="*/ 0 h 1219"/>
                <a:gd name="T32" fmla="*/ 0 w 3597"/>
                <a:gd name="T33" fmla="*/ 0 h 1219"/>
                <a:gd name="T34" fmla="*/ 1 w 3597"/>
                <a:gd name="T35" fmla="*/ 0 h 1219"/>
                <a:gd name="T36" fmla="*/ 1 w 3597"/>
                <a:gd name="T37" fmla="*/ 0 h 121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597"/>
                <a:gd name="T58" fmla="*/ 0 h 1219"/>
                <a:gd name="T59" fmla="*/ 3597 w 3597"/>
                <a:gd name="T60" fmla="*/ 1219 h 1219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597" h="1219">
                  <a:moveTo>
                    <a:pt x="11" y="361"/>
                  </a:moveTo>
                  <a:lnTo>
                    <a:pt x="1570" y="922"/>
                  </a:lnTo>
                  <a:lnTo>
                    <a:pt x="1506" y="1219"/>
                  </a:lnTo>
                  <a:lnTo>
                    <a:pt x="1846" y="1103"/>
                  </a:lnTo>
                  <a:lnTo>
                    <a:pt x="2040" y="1025"/>
                  </a:lnTo>
                  <a:lnTo>
                    <a:pt x="1989" y="761"/>
                  </a:lnTo>
                  <a:lnTo>
                    <a:pt x="2483" y="569"/>
                  </a:lnTo>
                  <a:lnTo>
                    <a:pt x="2580" y="755"/>
                  </a:lnTo>
                  <a:lnTo>
                    <a:pt x="2523" y="1076"/>
                  </a:lnTo>
                  <a:lnTo>
                    <a:pt x="3217" y="740"/>
                  </a:lnTo>
                  <a:lnTo>
                    <a:pt x="3411" y="755"/>
                  </a:lnTo>
                  <a:lnTo>
                    <a:pt x="3597" y="400"/>
                  </a:lnTo>
                  <a:lnTo>
                    <a:pt x="3578" y="137"/>
                  </a:lnTo>
                  <a:lnTo>
                    <a:pt x="3333" y="0"/>
                  </a:lnTo>
                  <a:lnTo>
                    <a:pt x="1538" y="561"/>
                  </a:lnTo>
                  <a:lnTo>
                    <a:pt x="1403" y="631"/>
                  </a:lnTo>
                  <a:lnTo>
                    <a:pt x="0" y="149"/>
                  </a:lnTo>
                  <a:lnTo>
                    <a:pt x="11" y="361"/>
                  </a:lnTo>
                  <a:close/>
                </a:path>
              </a:pathLst>
            </a:custGeom>
            <a:solidFill>
              <a:srgbClr val="D1BAB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6" name="Freeform 27"/>
            <p:cNvSpPr>
              <a:spLocks/>
            </p:cNvSpPr>
            <p:nvPr/>
          </p:nvSpPr>
          <p:spPr bwMode="auto">
            <a:xfrm>
              <a:off x="1729" y="1094"/>
              <a:ext cx="1921" cy="815"/>
            </a:xfrm>
            <a:custGeom>
              <a:avLst/>
              <a:gdLst>
                <a:gd name="T0" fmla="*/ 0 w 3842"/>
                <a:gd name="T1" fmla="*/ 0 h 1631"/>
                <a:gd name="T2" fmla="*/ 1 w 3842"/>
                <a:gd name="T3" fmla="*/ 0 h 1631"/>
                <a:gd name="T4" fmla="*/ 2 w 3842"/>
                <a:gd name="T5" fmla="*/ 0 h 1631"/>
                <a:gd name="T6" fmla="*/ 1 w 3842"/>
                <a:gd name="T7" fmla="*/ 0 h 1631"/>
                <a:gd name="T8" fmla="*/ 1 w 3842"/>
                <a:gd name="T9" fmla="*/ 0 h 1631"/>
                <a:gd name="T10" fmla="*/ 2 w 3842"/>
                <a:gd name="T11" fmla="*/ 0 h 1631"/>
                <a:gd name="T12" fmla="*/ 2 w 3842"/>
                <a:gd name="T13" fmla="*/ 0 h 1631"/>
                <a:gd name="T14" fmla="*/ 2 w 3842"/>
                <a:gd name="T15" fmla="*/ 0 h 1631"/>
                <a:gd name="T16" fmla="*/ 2 w 3842"/>
                <a:gd name="T17" fmla="*/ 0 h 1631"/>
                <a:gd name="T18" fmla="*/ 2 w 3842"/>
                <a:gd name="T19" fmla="*/ 0 h 1631"/>
                <a:gd name="T20" fmla="*/ 2 w 3842"/>
                <a:gd name="T21" fmla="*/ 0 h 1631"/>
                <a:gd name="T22" fmla="*/ 2 w 3842"/>
                <a:gd name="T23" fmla="*/ 0 h 1631"/>
                <a:gd name="T24" fmla="*/ 2 w 3842"/>
                <a:gd name="T25" fmla="*/ 0 h 1631"/>
                <a:gd name="T26" fmla="*/ 2 w 3842"/>
                <a:gd name="T27" fmla="*/ 0 h 1631"/>
                <a:gd name="T28" fmla="*/ 2 w 3842"/>
                <a:gd name="T29" fmla="*/ 0 h 1631"/>
                <a:gd name="T30" fmla="*/ 2 w 3842"/>
                <a:gd name="T31" fmla="*/ 0 h 1631"/>
                <a:gd name="T32" fmla="*/ 2 w 3842"/>
                <a:gd name="T33" fmla="*/ 0 h 1631"/>
                <a:gd name="T34" fmla="*/ 2 w 3842"/>
                <a:gd name="T35" fmla="*/ 0 h 1631"/>
                <a:gd name="T36" fmla="*/ 2 w 3842"/>
                <a:gd name="T37" fmla="*/ 0 h 1631"/>
                <a:gd name="T38" fmla="*/ 2 w 3842"/>
                <a:gd name="T39" fmla="*/ 0 h 1631"/>
                <a:gd name="T40" fmla="*/ 2 w 3842"/>
                <a:gd name="T41" fmla="*/ 0 h 1631"/>
                <a:gd name="T42" fmla="*/ 2 w 3842"/>
                <a:gd name="T43" fmla="*/ 0 h 1631"/>
                <a:gd name="T44" fmla="*/ 1 w 3842"/>
                <a:gd name="T45" fmla="*/ 0 h 1631"/>
                <a:gd name="T46" fmla="*/ 0 w 3842"/>
                <a:gd name="T47" fmla="*/ 0 h 1631"/>
                <a:gd name="T48" fmla="*/ 0 w 3842"/>
                <a:gd name="T49" fmla="*/ 0 h 16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42"/>
                <a:gd name="T76" fmla="*/ 0 h 1631"/>
                <a:gd name="T77" fmla="*/ 3842 w 3842"/>
                <a:gd name="T78" fmla="*/ 1631 h 163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42" h="1631">
                  <a:moveTo>
                    <a:pt x="0" y="407"/>
                  </a:moveTo>
                  <a:lnTo>
                    <a:pt x="1918" y="0"/>
                  </a:lnTo>
                  <a:lnTo>
                    <a:pt x="2941" y="219"/>
                  </a:lnTo>
                  <a:lnTo>
                    <a:pt x="1275" y="620"/>
                  </a:lnTo>
                  <a:lnTo>
                    <a:pt x="1661" y="755"/>
                  </a:lnTo>
                  <a:lnTo>
                    <a:pt x="3346" y="342"/>
                  </a:lnTo>
                  <a:lnTo>
                    <a:pt x="3517" y="274"/>
                  </a:lnTo>
                  <a:lnTo>
                    <a:pt x="3739" y="394"/>
                  </a:lnTo>
                  <a:lnTo>
                    <a:pt x="3836" y="542"/>
                  </a:lnTo>
                  <a:lnTo>
                    <a:pt x="3842" y="954"/>
                  </a:lnTo>
                  <a:lnTo>
                    <a:pt x="3637" y="1232"/>
                  </a:lnTo>
                  <a:lnTo>
                    <a:pt x="3443" y="1245"/>
                  </a:lnTo>
                  <a:lnTo>
                    <a:pt x="3410" y="1329"/>
                  </a:lnTo>
                  <a:lnTo>
                    <a:pt x="3237" y="1413"/>
                  </a:lnTo>
                  <a:lnTo>
                    <a:pt x="3024" y="1477"/>
                  </a:lnTo>
                  <a:lnTo>
                    <a:pt x="2728" y="1631"/>
                  </a:lnTo>
                  <a:lnTo>
                    <a:pt x="2749" y="1553"/>
                  </a:lnTo>
                  <a:lnTo>
                    <a:pt x="2844" y="1321"/>
                  </a:lnTo>
                  <a:lnTo>
                    <a:pt x="3553" y="1038"/>
                  </a:lnTo>
                  <a:lnTo>
                    <a:pt x="3688" y="871"/>
                  </a:lnTo>
                  <a:lnTo>
                    <a:pt x="3650" y="574"/>
                  </a:lnTo>
                  <a:lnTo>
                    <a:pt x="3553" y="519"/>
                  </a:lnTo>
                  <a:lnTo>
                    <a:pt x="1770" y="1013"/>
                  </a:lnTo>
                  <a:lnTo>
                    <a:pt x="0" y="407"/>
                  </a:lnTo>
                  <a:close/>
                </a:path>
              </a:pathLst>
            </a:custGeom>
            <a:solidFill>
              <a:srgbClr val="AE4D4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7" name="Freeform 28"/>
            <p:cNvSpPr>
              <a:spLocks/>
            </p:cNvSpPr>
            <p:nvPr/>
          </p:nvSpPr>
          <p:spPr bwMode="auto">
            <a:xfrm>
              <a:off x="2736" y="1996"/>
              <a:ext cx="988" cy="502"/>
            </a:xfrm>
            <a:custGeom>
              <a:avLst/>
              <a:gdLst>
                <a:gd name="T0" fmla="*/ 1 w 1975"/>
                <a:gd name="T1" fmla="*/ 0 h 1006"/>
                <a:gd name="T2" fmla="*/ 1 w 1975"/>
                <a:gd name="T3" fmla="*/ 0 h 1006"/>
                <a:gd name="T4" fmla="*/ 1 w 1975"/>
                <a:gd name="T5" fmla="*/ 0 h 1006"/>
                <a:gd name="T6" fmla="*/ 1 w 1975"/>
                <a:gd name="T7" fmla="*/ 0 h 1006"/>
                <a:gd name="T8" fmla="*/ 1 w 1975"/>
                <a:gd name="T9" fmla="*/ 0 h 1006"/>
                <a:gd name="T10" fmla="*/ 1 w 1975"/>
                <a:gd name="T11" fmla="*/ 0 h 1006"/>
                <a:gd name="T12" fmla="*/ 1 w 1975"/>
                <a:gd name="T13" fmla="*/ 0 h 1006"/>
                <a:gd name="T14" fmla="*/ 0 w 1975"/>
                <a:gd name="T15" fmla="*/ 0 h 1006"/>
                <a:gd name="T16" fmla="*/ 1 w 1975"/>
                <a:gd name="T17" fmla="*/ 0 h 1006"/>
                <a:gd name="T18" fmla="*/ 1 w 1975"/>
                <a:gd name="T19" fmla="*/ 0 h 1006"/>
                <a:gd name="T20" fmla="*/ 1 w 1975"/>
                <a:gd name="T21" fmla="*/ 0 h 1006"/>
                <a:gd name="T22" fmla="*/ 1 w 1975"/>
                <a:gd name="T23" fmla="*/ 0 h 1006"/>
                <a:gd name="T24" fmla="*/ 1 w 1975"/>
                <a:gd name="T25" fmla="*/ 0 h 1006"/>
                <a:gd name="T26" fmla="*/ 1 w 1975"/>
                <a:gd name="T27" fmla="*/ 0 h 1006"/>
                <a:gd name="T28" fmla="*/ 1 w 1975"/>
                <a:gd name="T29" fmla="*/ 0 h 1006"/>
                <a:gd name="T30" fmla="*/ 1 w 1975"/>
                <a:gd name="T31" fmla="*/ 0 h 1006"/>
                <a:gd name="T32" fmla="*/ 1 w 1975"/>
                <a:gd name="T33" fmla="*/ 0 h 100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975"/>
                <a:gd name="T52" fmla="*/ 0 h 1006"/>
                <a:gd name="T53" fmla="*/ 1975 w 1975"/>
                <a:gd name="T54" fmla="*/ 1006 h 100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975" h="1006">
                  <a:moveTo>
                    <a:pt x="656" y="304"/>
                  </a:moveTo>
                  <a:lnTo>
                    <a:pt x="1827" y="0"/>
                  </a:lnTo>
                  <a:lnTo>
                    <a:pt x="1814" y="177"/>
                  </a:lnTo>
                  <a:lnTo>
                    <a:pt x="1833" y="323"/>
                  </a:lnTo>
                  <a:lnTo>
                    <a:pt x="1975" y="426"/>
                  </a:lnTo>
                  <a:lnTo>
                    <a:pt x="148" y="1006"/>
                  </a:lnTo>
                  <a:lnTo>
                    <a:pt x="51" y="954"/>
                  </a:lnTo>
                  <a:lnTo>
                    <a:pt x="0" y="787"/>
                  </a:lnTo>
                  <a:lnTo>
                    <a:pt x="70" y="445"/>
                  </a:lnTo>
                  <a:lnTo>
                    <a:pt x="141" y="407"/>
                  </a:lnTo>
                  <a:lnTo>
                    <a:pt x="316" y="755"/>
                  </a:lnTo>
                  <a:lnTo>
                    <a:pt x="407" y="835"/>
                  </a:lnTo>
                  <a:lnTo>
                    <a:pt x="418" y="529"/>
                  </a:lnTo>
                  <a:lnTo>
                    <a:pt x="527" y="426"/>
                  </a:lnTo>
                  <a:lnTo>
                    <a:pt x="743" y="498"/>
                  </a:lnTo>
                  <a:lnTo>
                    <a:pt x="656" y="304"/>
                  </a:lnTo>
                  <a:close/>
                </a:path>
              </a:pathLst>
            </a:custGeom>
            <a:solidFill>
              <a:srgbClr val="D1BABA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8" name="Freeform 29"/>
            <p:cNvSpPr>
              <a:spLocks/>
            </p:cNvSpPr>
            <p:nvPr/>
          </p:nvSpPr>
          <p:spPr bwMode="auto">
            <a:xfrm>
              <a:off x="2569" y="1832"/>
              <a:ext cx="301" cy="170"/>
            </a:xfrm>
            <a:custGeom>
              <a:avLst/>
              <a:gdLst>
                <a:gd name="T0" fmla="*/ 0 w 603"/>
                <a:gd name="T1" fmla="*/ 1 h 340"/>
                <a:gd name="T2" fmla="*/ 0 w 603"/>
                <a:gd name="T3" fmla="*/ 1 h 340"/>
                <a:gd name="T4" fmla="*/ 0 w 603"/>
                <a:gd name="T5" fmla="*/ 1 h 340"/>
                <a:gd name="T6" fmla="*/ 0 w 603"/>
                <a:gd name="T7" fmla="*/ 1 h 340"/>
                <a:gd name="T8" fmla="*/ 0 w 603"/>
                <a:gd name="T9" fmla="*/ 0 h 340"/>
                <a:gd name="T10" fmla="*/ 0 w 603"/>
                <a:gd name="T11" fmla="*/ 1 h 340"/>
                <a:gd name="T12" fmla="*/ 0 w 603"/>
                <a:gd name="T13" fmla="*/ 1 h 3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03"/>
                <a:gd name="T22" fmla="*/ 0 h 340"/>
                <a:gd name="T23" fmla="*/ 603 w 603"/>
                <a:gd name="T24" fmla="*/ 340 h 3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03" h="340">
                  <a:moveTo>
                    <a:pt x="0" y="295"/>
                  </a:moveTo>
                  <a:lnTo>
                    <a:pt x="400" y="257"/>
                  </a:lnTo>
                  <a:lnTo>
                    <a:pt x="379" y="340"/>
                  </a:lnTo>
                  <a:lnTo>
                    <a:pt x="559" y="270"/>
                  </a:lnTo>
                  <a:lnTo>
                    <a:pt x="603" y="0"/>
                  </a:lnTo>
                  <a:lnTo>
                    <a:pt x="0" y="295"/>
                  </a:lnTo>
                  <a:close/>
                </a:path>
              </a:pathLst>
            </a:custGeom>
            <a:solidFill>
              <a:srgbClr val="AE4D4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9" name="Freeform 30"/>
            <p:cNvSpPr>
              <a:spLocks/>
            </p:cNvSpPr>
            <p:nvPr/>
          </p:nvSpPr>
          <p:spPr bwMode="auto">
            <a:xfrm>
              <a:off x="1628" y="1079"/>
              <a:ext cx="1976" cy="697"/>
            </a:xfrm>
            <a:custGeom>
              <a:avLst/>
              <a:gdLst>
                <a:gd name="T0" fmla="*/ 0 w 3953"/>
                <a:gd name="T1" fmla="*/ 1 h 1393"/>
                <a:gd name="T2" fmla="*/ 0 w 3953"/>
                <a:gd name="T3" fmla="*/ 1 h 1393"/>
                <a:gd name="T4" fmla="*/ 0 w 3953"/>
                <a:gd name="T5" fmla="*/ 1 h 1393"/>
                <a:gd name="T6" fmla="*/ 0 w 3953"/>
                <a:gd name="T7" fmla="*/ 1 h 1393"/>
                <a:gd name="T8" fmla="*/ 0 w 3953"/>
                <a:gd name="T9" fmla="*/ 1 h 1393"/>
                <a:gd name="T10" fmla="*/ 0 w 3953"/>
                <a:gd name="T11" fmla="*/ 1 h 1393"/>
                <a:gd name="T12" fmla="*/ 0 w 3953"/>
                <a:gd name="T13" fmla="*/ 1 h 1393"/>
                <a:gd name="T14" fmla="*/ 0 w 3953"/>
                <a:gd name="T15" fmla="*/ 1 h 1393"/>
                <a:gd name="T16" fmla="*/ 0 w 3953"/>
                <a:gd name="T17" fmla="*/ 1 h 1393"/>
                <a:gd name="T18" fmla="*/ 0 w 3953"/>
                <a:gd name="T19" fmla="*/ 1 h 1393"/>
                <a:gd name="T20" fmla="*/ 1 w 3953"/>
                <a:gd name="T21" fmla="*/ 1 h 1393"/>
                <a:gd name="T22" fmla="*/ 1 w 3953"/>
                <a:gd name="T23" fmla="*/ 1 h 1393"/>
                <a:gd name="T24" fmla="*/ 1 w 3953"/>
                <a:gd name="T25" fmla="*/ 1 h 1393"/>
                <a:gd name="T26" fmla="*/ 1 w 3953"/>
                <a:gd name="T27" fmla="*/ 1 h 1393"/>
                <a:gd name="T28" fmla="*/ 1 w 3953"/>
                <a:gd name="T29" fmla="*/ 1 h 1393"/>
                <a:gd name="T30" fmla="*/ 1 w 3953"/>
                <a:gd name="T31" fmla="*/ 1 h 1393"/>
                <a:gd name="T32" fmla="*/ 1 w 3953"/>
                <a:gd name="T33" fmla="*/ 1 h 1393"/>
                <a:gd name="T34" fmla="*/ 1 w 3953"/>
                <a:gd name="T35" fmla="*/ 1 h 1393"/>
                <a:gd name="T36" fmla="*/ 1 w 3953"/>
                <a:gd name="T37" fmla="*/ 1 h 1393"/>
                <a:gd name="T38" fmla="*/ 1 w 3953"/>
                <a:gd name="T39" fmla="*/ 1 h 1393"/>
                <a:gd name="T40" fmla="*/ 1 w 3953"/>
                <a:gd name="T41" fmla="*/ 1 h 1393"/>
                <a:gd name="T42" fmla="*/ 1 w 3953"/>
                <a:gd name="T43" fmla="*/ 1 h 1393"/>
                <a:gd name="T44" fmla="*/ 1 w 3953"/>
                <a:gd name="T45" fmla="*/ 1 h 1393"/>
                <a:gd name="T46" fmla="*/ 0 w 3953"/>
                <a:gd name="T47" fmla="*/ 1 h 1393"/>
                <a:gd name="T48" fmla="*/ 0 w 3953"/>
                <a:gd name="T49" fmla="*/ 1 h 1393"/>
                <a:gd name="T50" fmla="*/ 0 w 3953"/>
                <a:gd name="T51" fmla="*/ 1 h 1393"/>
                <a:gd name="T52" fmla="*/ 0 w 3953"/>
                <a:gd name="T53" fmla="*/ 1 h 1393"/>
                <a:gd name="T54" fmla="*/ 0 w 3953"/>
                <a:gd name="T55" fmla="*/ 1 h 1393"/>
                <a:gd name="T56" fmla="*/ 0 w 3953"/>
                <a:gd name="T57" fmla="*/ 1 h 1393"/>
                <a:gd name="T58" fmla="*/ 1 w 3953"/>
                <a:gd name="T59" fmla="*/ 1 h 1393"/>
                <a:gd name="T60" fmla="*/ 1 w 3953"/>
                <a:gd name="T61" fmla="*/ 1 h 1393"/>
                <a:gd name="T62" fmla="*/ 0 w 3953"/>
                <a:gd name="T63" fmla="*/ 0 h 1393"/>
                <a:gd name="T64" fmla="*/ 0 w 3953"/>
                <a:gd name="T65" fmla="*/ 1 h 1393"/>
                <a:gd name="T66" fmla="*/ 0 w 3953"/>
                <a:gd name="T67" fmla="*/ 1 h 139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953"/>
                <a:gd name="T103" fmla="*/ 0 h 1393"/>
                <a:gd name="T104" fmla="*/ 3953 w 3953"/>
                <a:gd name="T105" fmla="*/ 1393 h 139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953" h="1393">
                  <a:moveTo>
                    <a:pt x="32" y="361"/>
                  </a:moveTo>
                  <a:lnTo>
                    <a:pt x="0" y="494"/>
                  </a:lnTo>
                  <a:lnTo>
                    <a:pt x="350" y="669"/>
                  </a:lnTo>
                  <a:lnTo>
                    <a:pt x="394" y="832"/>
                  </a:lnTo>
                  <a:lnTo>
                    <a:pt x="403" y="975"/>
                  </a:lnTo>
                  <a:lnTo>
                    <a:pt x="359" y="1140"/>
                  </a:lnTo>
                  <a:lnTo>
                    <a:pt x="470" y="998"/>
                  </a:lnTo>
                  <a:lnTo>
                    <a:pt x="525" y="832"/>
                  </a:lnTo>
                  <a:lnTo>
                    <a:pt x="513" y="713"/>
                  </a:lnTo>
                  <a:lnTo>
                    <a:pt x="1850" y="1184"/>
                  </a:lnTo>
                  <a:lnTo>
                    <a:pt x="3755" y="547"/>
                  </a:lnTo>
                  <a:lnTo>
                    <a:pt x="3810" y="713"/>
                  </a:lnTo>
                  <a:lnTo>
                    <a:pt x="3810" y="899"/>
                  </a:lnTo>
                  <a:lnTo>
                    <a:pt x="3679" y="1062"/>
                  </a:lnTo>
                  <a:lnTo>
                    <a:pt x="3053" y="1321"/>
                  </a:lnTo>
                  <a:lnTo>
                    <a:pt x="3021" y="1393"/>
                  </a:lnTo>
                  <a:lnTo>
                    <a:pt x="3746" y="1117"/>
                  </a:lnTo>
                  <a:lnTo>
                    <a:pt x="3888" y="1019"/>
                  </a:lnTo>
                  <a:lnTo>
                    <a:pt x="3953" y="855"/>
                  </a:lnTo>
                  <a:lnTo>
                    <a:pt x="3932" y="635"/>
                  </a:lnTo>
                  <a:lnTo>
                    <a:pt x="3833" y="515"/>
                  </a:lnTo>
                  <a:lnTo>
                    <a:pt x="3734" y="471"/>
                  </a:lnTo>
                  <a:lnTo>
                    <a:pt x="3472" y="591"/>
                  </a:lnTo>
                  <a:lnTo>
                    <a:pt x="1894" y="963"/>
                  </a:lnTo>
                  <a:lnTo>
                    <a:pt x="363" y="490"/>
                  </a:lnTo>
                  <a:lnTo>
                    <a:pt x="1806" y="1041"/>
                  </a:lnTo>
                  <a:lnTo>
                    <a:pt x="1806" y="1096"/>
                  </a:lnTo>
                  <a:lnTo>
                    <a:pt x="65" y="460"/>
                  </a:lnTo>
                  <a:lnTo>
                    <a:pt x="120" y="405"/>
                  </a:lnTo>
                  <a:lnTo>
                    <a:pt x="2057" y="55"/>
                  </a:lnTo>
                  <a:lnTo>
                    <a:pt x="3006" y="230"/>
                  </a:lnTo>
                  <a:lnTo>
                    <a:pt x="2004" y="0"/>
                  </a:lnTo>
                  <a:lnTo>
                    <a:pt x="32" y="3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0" name="Freeform 31"/>
            <p:cNvSpPr>
              <a:spLocks/>
            </p:cNvSpPr>
            <p:nvPr/>
          </p:nvSpPr>
          <p:spPr bwMode="auto">
            <a:xfrm>
              <a:off x="1635" y="1545"/>
              <a:ext cx="1219" cy="618"/>
            </a:xfrm>
            <a:custGeom>
              <a:avLst/>
              <a:gdLst>
                <a:gd name="T0" fmla="*/ 0 w 2440"/>
                <a:gd name="T1" fmla="*/ 0 h 1236"/>
                <a:gd name="T2" fmla="*/ 0 w 2440"/>
                <a:gd name="T3" fmla="*/ 1 h 1236"/>
                <a:gd name="T4" fmla="*/ 0 w 2440"/>
                <a:gd name="T5" fmla="*/ 1 h 1236"/>
                <a:gd name="T6" fmla="*/ 0 w 2440"/>
                <a:gd name="T7" fmla="*/ 1 h 1236"/>
                <a:gd name="T8" fmla="*/ 1 w 2440"/>
                <a:gd name="T9" fmla="*/ 1 h 1236"/>
                <a:gd name="T10" fmla="*/ 1 w 2440"/>
                <a:gd name="T11" fmla="*/ 1 h 1236"/>
                <a:gd name="T12" fmla="*/ 0 w 2440"/>
                <a:gd name="T13" fmla="*/ 1 h 1236"/>
                <a:gd name="T14" fmla="*/ 0 w 2440"/>
                <a:gd name="T15" fmla="*/ 1 h 1236"/>
                <a:gd name="T16" fmla="*/ 0 w 2440"/>
                <a:gd name="T17" fmla="*/ 1 h 1236"/>
                <a:gd name="T18" fmla="*/ 0 w 2440"/>
                <a:gd name="T19" fmla="*/ 1 h 1236"/>
                <a:gd name="T20" fmla="*/ 0 w 2440"/>
                <a:gd name="T21" fmla="*/ 1 h 1236"/>
                <a:gd name="T22" fmla="*/ 0 w 2440"/>
                <a:gd name="T23" fmla="*/ 1 h 1236"/>
                <a:gd name="T24" fmla="*/ 0 w 2440"/>
                <a:gd name="T25" fmla="*/ 1 h 1236"/>
                <a:gd name="T26" fmla="*/ 0 w 2440"/>
                <a:gd name="T27" fmla="*/ 0 h 1236"/>
                <a:gd name="T28" fmla="*/ 0 w 2440"/>
                <a:gd name="T29" fmla="*/ 0 h 12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440"/>
                <a:gd name="T46" fmla="*/ 0 h 1236"/>
                <a:gd name="T47" fmla="*/ 2440 w 2440"/>
                <a:gd name="T48" fmla="*/ 1236 h 12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440" h="1236">
                  <a:moveTo>
                    <a:pt x="413" y="0"/>
                  </a:moveTo>
                  <a:lnTo>
                    <a:pt x="36" y="135"/>
                  </a:lnTo>
                  <a:lnTo>
                    <a:pt x="0" y="272"/>
                  </a:lnTo>
                  <a:lnTo>
                    <a:pt x="1856" y="1236"/>
                  </a:lnTo>
                  <a:lnTo>
                    <a:pt x="2369" y="979"/>
                  </a:lnTo>
                  <a:lnTo>
                    <a:pt x="2440" y="806"/>
                  </a:lnTo>
                  <a:lnTo>
                    <a:pt x="1869" y="1028"/>
                  </a:lnTo>
                  <a:lnTo>
                    <a:pt x="578" y="435"/>
                  </a:lnTo>
                  <a:lnTo>
                    <a:pt x="1805" y="1070"/>
                  </a:lnTo>
                  <a:lnTo>
                    <a:pt x="1833" y="1163"/>
                  </a:lnTo>
                  <a:lnTo>
                    <a:pt x="114" y="272"/>
                  </a:lnTo>
                  <a:lnTo>
                    <a:pt x="99" y="192"/>
                  </a:lnTo>
                  <a:lnTo>
                    <a:pt x="407" y="70"/>
                  </a:lnTo>
                  <a:lnTo>
                    <a:pt x="41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1" name="Freeform 32"/>
            <p:cNvSpPr>
              <a:spLocks/>
            </p:cNvSpPr>
            <p:nvPr/>
          </p:nvSpPr>
          <p:spPr bwMode="auto">
            <a:xfrm>
              <a:off x="1850" y="1616"/>
              <a:ext cx="1020" cy="377"/>
            </a:xfrm>
            <a:custGeom>
              <a:avLst/>
              <a:gdLst>
                <a:gd name="T0" fmla="*/ 0 w 2040"/>
                <a:gd name="T1" fmla="*/ 1 h 752"/>
                <a:gd name="T2" fmla="*/ 1 w 2040"/>
                <a:gd name="T3" fmla="*/ 1 h 752"/>
                <a:gd name="T4" fmla="*/ 1 w 2040"/>
                <a:gd name="T5" fmla="*/ 1 h 752"/>
                <a:gd name="T6" fmla="*/ 1 w 2040"/>
                <a:gd name="T7" fmla="*/ 1 h 752"/>
                <a:gd name="T8" fmla="*/ 1 w 2040"/>
                <a:gd name="T9" fmla="*/ 1 h 752"/>
                <a:gd name="T10" fmla="*/ 1 w 2040"/>
                <a:gd name="T11" fmla="*/ 1 h 752"/>
                <a:gd name="T12" fmla="*/ 1 w 2040"/>
                <a:gd name="T13" fmla="*/ 1 h 752"/>
                <a:gd name="T14" fmla="*/ 1 w 2040"/>
                <a:gd name="T15" fmla="*/ 1 h 752"/>
                <a:gd name="T16" fmla="*/ 1 w 2040"/>
                <a:gd name="T17" fmla="*/ 1 h 752"/>
                <a:gd name="T18" fmla="*/ 1 w 2040"/>
                <a:gd name="T19" fmla="*/ 1 h 752"/>
                <a:gd name="T20" fmla="*/ 1 w 2040"/>
                <a:gd name="T21" fmla="*/ 1 h 752"/>
                <a:gd name="T22" fmla="*/ 1 w 2040"/>
                <a:gd name="T23" fmla="*/ 1 h 752"/>
                <a:gd name="T24" fmla="*/ 1 w 2040"/>
                <a:gd name="T25" fmla="*/ 0 h 752"/>
                <a:gd name="T26" fmla="*/ 1 w 2040"/>
                <a:gd name="T27" fmla="*/ 1 h 752"/>
                <a:gd name="T28" fmla="*/ 1 w 2040"/>
                <a:gd name="T29" fmla="*/ 1 h 752"/>
                <a:gd name="T30" fmla="*/ 1 w 2040"/>
                <a:gd name="T31" fmla="*/ 1 h 752"/>
                <a:gd name="T32" fmla="*/ 1 w 2040"/>
                <a:gd name="T33" fmla="*/ 1 h 752"/>
                <a:gd name="T34" fmla="*/ 1 w 2040"/>
                <a:gd name="T35" fmla="*/ 1 h 752"/>
                <a:gd name="T36" fmla="*/ 1 w 2040"/>
                <a:gd name="T37" fmla="*/ 1 h 752"/>
                <a:gd name="T38" fmla="*/ 0 w 2040"/>
                <a:gd name="T39" fmla="*/ 1 h 752"/>
                <a:gd name="T40" fmla="*/ 0 w 2040"/>
                <a:gd name="T41" fmla="*/ 1 h 75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040"/>
                <a:gd name="T64" fmla="*/ 0 h 752"/>
                <a:gd name="T65" fmla="*/ 2040 w 2040"/>
                <a:gd name="T66" fmla="*/ 752 h 75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040" h="752">
                  <a:moveTo>
                    <a:pt x="0" y="106"/>
                  </a:moveTo>
                  <a:lnTo>
                    <a:pt x="1394" y="752"/>
                  </a:lnTo>
                  <a:lnTo>
                    <a:pt x="2040" y="486"/>
                  </a:lnTo>
                  <a:lnTo>
                    <a:pt x="2040" y="431"/>
                  </a:lnTo>
                  <a:lnTo>
                    <a:pt x="1546" y="621"/>
                  </a:lnTo>
                  <a:lnTo>
                    <a:pt x="1616" y="463"/>
                  </a:lnTo>
                  <a:lnTo>
                    <a:pt x="1865" y="363"/>
                  </a:lnTo>
                  <a:lnTo>
                    <a:pt x="1595" y="393"/>
                  </a:lnTo>
                  <a:lnTo>
                    <a:pt x="1580" y="220"/>
                  </a:lnTo>
                  <a:lnTo>
                    <a:pt x="1489" y="28"/>
                  </a:lnTo>
                  <a:lnTo>
                    <a:pt x="1424" y="72"/>
                  </a:lnTo>
                  <a:lnTo>
                    <a:pt x="1502" y="220"/>
                  </a:lnTo>
                  <a:lnTo>
                    <a:pt x="852" y="0"/>
                  </a:lnTo>
                  <a:lnTo>
                    <a:pt x="1502" y="321"/>
                  </a:lnTo>
                  <a:lnTo>
                    <a:pt x="1521" y="418"/>
                  </a:lnTo>
                  <a:lnTo>
                    <a:pt x="1470" y="538"/>
                  </a:lnTo>
                  <a:lnTo>
                    <a:pt x="460" y="142"/>
                  </a:lnTo>
                  <a:lnTo>
                    <a:pt x="1464" y="600"/>
                  </a:lnTo>
                  <a:lnTo>
                    <a:pt x="1394" y="695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2" name="Freeform 33"/>
            <p:cNvSpPr>
              <a:spLocks/>
            </p:cNvSpPr>
            <p:nvPr/>
          </p:nvSpPr>
          <p:spPr bwMode="auto">
            <a:xfrm>
              <a:off x="2701" y="1473"/>
              <a:ext cx="714" cy="940"/>
            </a:xfrm>
            <a:custGeom>
              <a:avLst/>
              <a:gdLst>
                <a:gd name="T0" fmla="*/ 0 w 1427"/>
                <a:gd name="T1" fmla="*/ 1 h 1880"/>
                <a:gd name="T2" fmla="*/ 1 w 1427"/>
                <a:gd name="T3" fmla="*/ 1 h 1880"/>
                <a:gd name="T4" fmla="*/ 1 w 1427"/>
                <a:gd name="T5" fmla="*/ 0 h 1880"/>
                <a:gd name="T6" fmla="*/ 1 w 1427"/>
                <a:gd name="T7" fmla="*/ 1 h 1880"/>
                <a:gd name="T8" fmla="*/ 1 w 1427"/>
                <a:gd name="T9" fmla="*/ 1 h 1880"/>
                <a:gd name="T10" fmla="*/ 1 w 1427"/>
                <a:gd name="T11" fmla="*/ 1 h 1880"/>
                <a:gd name="T12" fmla="*/ 1 w 1427"/>
                <a:gd name="T13" fmla="*/ 1 h 1880"/>
                <a:gd name="T14" fmla="*/ 1 w 1427"/>
                <a:gd name="T15" fmla="*/ 1 h 1880"/>
                <a:gd name="T16" fmla="*/ 1 w 1427"/>
                <a:gd name="T17" fmla="*/ 1 h 1880"/>
                <a:gd name="T18" fmla="*/ 1 w 1427"/>
                <a:gd name="T19" fmla="*/ 1 h 1880"/>
                <a:gd name="T20" fmla="*/ 1 w 1427"/>
                <a:gd name="T21" fmla="*/ 1 h 1880"/>
                <a:gd name="T22" fmla="*/ 1 w 1427"/>
                <a:gd name="T23" fmla="*/ 1 h 1880"/>
                <a:gd name="T24" fmla="*/ 1 w 1427"/>
                <a:gd name="T25" fmla="*/ 1 h 1880"/>
                <a:gd name="T26" fmla="*/ 1 w 1427"/>
                <a:gd name="T27" fmla="*/ 1 h 1880"/>
                <a:gd name="T28" fmla="*/ 1 w 1427"/>
                <a:gd name="T29" fmla="*/ 1 h 1880"/>
                <a:gd name="T30" fmla="*/ 1 w 1427"/>
                <a:gd name="T31" fmla="*/ 1 h 1880"/>
                <a:gd name="T32" fmla="*/ 1 w 1427"/>
                <a:gd name="T33" fmla="*/ 1 h 1880"/>
                <a:gd name="T34" fmla="*/ 1 w 1427"/>
                <a:gd name="T35" fmla="*/ 1 h 1880"/>
                <a:gd name="T36" fmla="*/ 1 w 1427"/>
                <a:gd name="T37" fmla="*/ 1 h 1880"/>
                <a:gd name="T38" fmla="*/ 1 w 1427"/>
                <a:gd name="T39" fmla="*/ 1 h 1880"/>
                <a:gd name="T40" fmla="*/ 1 w 1427"/>
                <a:gd name="T41" fmla="*/ 1 h 1880"/>
                <a:gd name="T42" fmla="*/ 1 w 1427"/>
                <a:gd name="T43" fmla="*/ 1 h 1880"/>
                <a:gd name="T44" fmla="*/ 1 w 1427"/>
                <a:gd name="T45" fmla="*/ 1 h 1880"/>
                <a:gd name="T46" fmla="*/ 1 w 1427"/>
                <a:gd name="T47" fmla="*/ 1 h 1880"/>
                <a:gd name="T48" fmla="*/ 1 w 1427"/>
                <a:gd name="T49" fmla="*/ 1 h 1880"/>
                <a:gd name="T50" fmla="*/ 1 w 1427"/>
                <a:gd name="T51" fmla="*/ 1 h 1880"/>
                <a:gd name="T52" fmla="*/ 1 w 1427"/>
                <a:gd name="T53" fmla="*/ 1 h 1880"/>
                <a:gd name="T54" fmla="*/ 1 w 1427"/>
                <a:gd name="T55" fmla="*/ 1 h 1880"/>
                <a:gd name="T56" fmla="*/ 1 w 1427"/>
                <a:gd name="T57" fmla="*/ 1 h 1880"/>
                <a:gd name="T58" fmla="*/ 0 w 1427"/>
                <a:gd name="T59" fmla="*/ 1 h 1880"/>
                <a:gd name="T60" fmla="*/ 0 w 1427"/>
                <a:gd name="T61" fmla="*/ 1 h 188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1427"/>
                <a:gd name="T94" fmla="*/ 0 h 1880"/>
                <a:gd name="T95" fmla="*/ 1427 w 1427"/>
                <a:gd name="T96" fmla="*/ 1880 h 1880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1427" h="1880">
                  <a:moveTo>
                    <a:pt x="0" y="486"/>
                  </a:moveTo>
                  <a:lnTo>
                    <a:pt x="528" y="328"/>
                  </a:lnTo>
                  <a:lnTo>
                    <a:pt x="1427" y="0"/>
                  </a:lnTo>
                  <a:lnTo>
                    <a:pt x="806" y="315"/>
                  </a:lnTo>
                  <a:lnTo>
                    <a:pt x="912" y="444"/>
                  </a:lnTo>
                  <a:lnTo>
                    <a:pt x="912" y="600"/>
                  </a:lnTo>
                  <a:lnTo>
                    <a:pt x="827" y="865"/>
                  </a:lnTo>
                  <a:lnTo>
                    <a:pt x="713" y="1152"/>
                  </a:lnTo>
                  <a:lnTo>
                    <a:pt x="707" y="1307"/>
                  </a:lnTo>
                  <a:lnTo>
                    <a:pt x="813" y="1543"/>
                  </a:lnTo>
                  <a:lnTo>
                    <a:pt x="656" y="1359"/>
                  </a:lnTo>
                  <a:lnTo>
                    <a:pt x="635" y="1157"/>
                  </a:lnTo>
                  <a:lnTo>
                    <a:pt x="756" y="823"/>
                  </a:lnTo>
                  <a:lnTo>
                    <a:pt x="849" y="579"/>
                  </a:lnTo>
                  <a:lnTo>
                    <a:pt x="707" y="323"/>
                  </a:lnTo>
                  <a:lnTo>
                    <a:pt x="313" y="473"/>
                  </a:lnTo>
                  <a:lnTo>
                    <a:pt x="349" y="551"/>
                  </a:lnTo>
                  <a:lnTo>
                    <a:pt x="378" y="750"/>
                  </a:lnTo>
                  <a:lnTo>
                    <a:pt x="342" y="979"/>
                  </a:lnTo>
                  <a:lnTo>
                    <a:pt x="285" y="1201"/>
                  </a:lnTo>
                  <a:lnTo>
                    <a:pt x="264" y="1429"/>
                  </a:lnTo>
                  <a:lnTo>
                    <a:pt x="328" y="1651"/>
                  </a:lnTo>
                  <a:lnTo>
                    <a:pt x="477" y="1880"/>
                  </a:lnTo>
                  <a:lnTo>
                    <a:pt x="321" y="1786"/>
                  </a:lnTo>
                  <a:lnTo>
                    <a:pt x="214" y="1543"/>
                  </a:lnTo>
                  <a:lnTo>
                    <a:pt x="192" y="1273"/>
                  </a:lnTo>
                  <a:lnTo>
                    <a:pt x="271" y="922"/>
                  </a:lnTo>
                  <a:lnTo>
                    <a:pt x="300" y="709"/>
                  </a:lnTo>
                  <a:lnTo>
                    <a:pt x="192" y="501"/>
                  </a:lnTo>
                  <a:lnTo>
                    <a:pt x="0" y="48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3" name="Freeform 34"/>
            <p:cNvSpPr>
              <a:spLocks/>
            </p:cNvSpPr>
            <p:nvPr/>
          </p:nvSpPr>
          <p:spPr bwMode="auto">
            <a:xfrm>
              <a:off x="2923" y="2191"/>
              <a:ext cx="185" cy="222"/>
            </a:xfrm>
            <a:custGeom>
              <a:avLst/>
              <a:gdLst>
                <a:gd name="T0" fmla="*/ 1 w 370"/>
                <a:gd name="T1" fmla="*/ 1 h 443"/>
                <a:gd name="T2" fmla="*/ 0 w 370"/>
                <a:gd name="T3" fmla="*/ 1 h 443"/>
                <a:gd name="T4" fmla="*/ 1 w 370"/>
                <a:gd name="T5" fmla="*/ 0 h 443"/>
                <a:gd name="T6" fmla="*/ 1 w 370"/>
                <a:gd name="T7" fmla="*/ 1 h 443"/>
                <a:gd name="T8" fmla="*/ 1 w 370"/>
                <a:gd name="T9" fmla="*/ 1 h 443"/>
                <a:gd name="T10" fmla="*/ 1 w 370"/>
                <a:gd name="T11" fmla="*/ 1 h 443"/>
                <a:gd name="T12" fmla="*/ 1 w 370"/>
                <a:gd name="T13" fmla="*/ 1 h 443"/>
                <a:gd name="T14" fmla="*/ 1 w 370"/>
                <a:gd name="T15" fmla="*/ 1 h 443"/>
                <a:gd name="T16" fmla="*/ 1 w 370"/>
                <a:gd name="T17" fmla="*/ 1 h 44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70"/>
                <a:gd name="T28" fmla="*/ 0 h 443"/>
                <a:gd name="T29" fmla="*/ 370 w 370"/>
                <a:gd name="T30" fmla="*/ 443 h 44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70" h="443">
                  <a:moveTo>
                    <a:pt x="34" y="443"/>
                  </a:moveTo>
                  <a:lnTo>
                    <a:pt x="0" y="207"/>
                  </a:lnTo>
                  <a:lnTo>
                    <a:pt x="93" y="0"/>
                  </a:lnTo>
                  <a:lnTo>
                    <a:pt x="178" y="7"/>
                  </a:lnTo>
                  <a:lnTo>
                    <a:pt x="370" y="106"/>
                  </a:lnTo>
                  <a:lnTo>
                    <a:pt x="142" y="85"/>
                  </a:lnTo>
                  <a:lnTo>
                    <a:pt x="62" y="214"/>
                  </a:lnTo>
                  <a:lnTo>
                    <a:pt x="34" y="44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4" name="Freeform 35"/>
            <p:cNvSpPr>
              <a:spLocks/>
            </p:cNvSpPr>
            <p:nvPr/>
          </p:nvSpPr>
          <p:spPr bwMode="auto">
            <a:xfrm>
              <a:off x="3080" y="1241"/>
              <a:ext cx="584" cy="697"/>
            </a:xfrm>
            <a:custGeom>
              <a:avLst/>
              <a:gdLst>
                <a:gd name="T0" fmla="*/ 0 w 1170"/>
                <a:gd name="T1" fmla="*/ 1 h 1393"/>
                <a:gd name="T2" fmla="*/ 0 w 1170"/>
                <a:gd name="T3" fmla="*/ 1 h 1393"/>
                <a:gd name="T4" fmla="*/ 0 w 1170"/>
                <a:gd name="T5" fmla="*/ 1 h 1393"/>
                <a:gd name="T6" fmla="*/ 0 w 1170"/>
                <a:gd name="T7" fmla="*/ 1 h 1393"/>
                <a:gd name="T8" fmla="*/ 0 w 1170"/>
                <a:gd name="T9" fmla="*/ 1 h 1393"/>
                <a:gd name="T10" fmla="*/ 0 w 1170"/>
                <a:gd name="T11" fmla="*/ 1 h 1393"/>
                <a:gd name="T12" fmla="*/ 0 w 1170"/>
                <a:gd name="T13" fmla="*/ 1 h 1393"/>
                <a:gd name="T14" fmla="*/ 0 w 1170"/>
                <a:gd name="T15" fmla="*/ 1 h 1393"/>
                <a:gd name="T16" fmla="*/ 0 w 1170"/>
                <a:gd name="T17" fmla="*/ 0 h 1393"/>
                <a:gd name="T18" fmla="*/ 0 w 1170"/>
                <a:gd name="T19" fmla="*/ 1 h 1393"/>
                <a:gd name="T20" fmla="*/ 0 w 1170"/>
                <a:gd name="T21" fmla="*/ 1 h 1393"/>
                <a:gd name="T22" fmla="*/ 0 w 1170"/>
                <a:gd name="T23" fmla="*/ 1 h 1393"/>
                <a:gd name="T24" fmla="*/ 0 w 1170"/>
                <a:gd name="T25" fmla="*/ 1 h 1393"/>
                <a:gd name="T26" fmla="*/ 0 w 1170"/>
                <a:gd name="T27" fmla="*/ 1 h 1393"/>
                <a:gd name="T28" fmla="*/ 0 w 1170"/>
                <a:gd name="T29" fmla="*/ 1 h 1393"/>
                <a:gd name="T30" fmla="*/ 0 w 1170"/>
                <a:gd name="T31" fmla="*/ 1 h 1393"/>
                <a:gd name="T32" fmla="*/ 0 w 1170"/>
                <a:gd name="T33" fmla="*/ 1 h 1393"/>
                <a:gd name="T34" fmla="*/ 0 w 1170"/>
                <a:gd name="T35" fmla="*/ 1 h 1393"/>
                <a:gd name="T36" fmla="*/ 0 w 1170"/>
                <a:gd name="T37" fmla="*/ 1 h 139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170"/>
                <a:gd name="T58" fmla="*/ 0 h 1393"/>
                <a:gd name="T59" fmla="*/ 1170 w 1170"/>
                <a:gd name="T60" fmla="*/ 1393 h 139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170" h="1393">
                  <a:moveTo>
                    <a:pt x="86" y="1222"/>
                  </a:moveTo>
                  <a:lnTo>
                    <a:pt x="742" y="922"/>
                  </a:lnTo>
                  <a:lnTo>
                    <a:pt x="896" y="905"/>
                  </a:lnTo>
                  <a:lnTo>
                    <a:pt x="1006" y="800"/>
                  </a:lnTo>
                  <a:lnTo>
                    <a:pt x="1107" y="551"/>
                  </a:lnTo>
                  <a:lnTo>
                    <a:pt x="1063" y="207"/>
                  </a:lnTo>
                  <a:lnTo>
                    <a:pt x="901" y="66"/>
                  </a:lnTo>
                  <a:lnTo>
                    <a:pt x="616" y="160"/>
                  </a:lnTo>
                  <a:lnTo>
                    <a:pt x="852" y="0"/>
                  </a:lnTo>
                  <a:lnTo>
                    <a:pt x="1006" y="51"/>
                  </a:lnTo>
                  <a:lnTo>
                    <a:pt x="1135" y="194"/>
                  </a:lnTo>
                  <a:lnTo>
                    <a:pt x="1170" y="479"/>
                  </a:lnTo>
                  <a:lnTo>
                    <a:pt x="1156" y="678"/>
                  </a:lnTo>
                  <a:lnTo>
                    <a:pt x="1023" y="931"/>
                  </a:lnTo>
                  <a:lnTo>
                    <a:pt x="936" y="984"/>
                  </a:lnTo>
                  <a:lnTo>
                    <a:pt x="778" y="979"/>
                  </a:lnTo>
                  <a:lnTo>
                    <a:pt x="0" y="1393"/>
                  </a:lnTo>
                  <a:lnTo>
                    <a:pt x="86" y="122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5" name="Freeform 36"/>
            <p:cNvSpPr>
              <a:spLocks/>
            </p:cNvSpPr>
            <p:nvPr/>
          </p:nvSpPr>
          <p:spPr bwMode="auto">
            <a:xfrm>
              <a:off x="1863" y="1809"/>
              <a:ext cx="2098" cy="811"/>
            </a:xfrm>
            <a:custGeom>
              <a:avLst/>
              <a:gdLst>
                <a:gd name="T0" fmla="*/ 1 w 4196"/>
                <a:gd name="T1" fmla="*/ 0 h 1621"/>
                <a:gd name="T2" fmla="*/ 0 w 4196"/>
                <a:gd name="T3" fmla="*/ 1 h 1621"/>
                <a:gd name="T4" fmla="*/ 1 w 4196"/>
                <a:gd name="T5" fmla="*/ 1 h 1621"/>
                <a:gd name="T6" fmla="*/ 1 w 4196"/>
                <a:gd name="T7" fmla="*/ 1 h 1621"/>
                <a:gd name="T8" fmla="*/ 1 w 4196"/>
                <a:gd name="T9" fmla="*/ 1 h 1621"/>
                <a:gd name="T10" fmla="*/ 1 w 4196"/>
                <a:gd name="T11" fmla="*/ 1 h 1621"/>
                <a:gd name="T12" fmla="*/ 1 w 4196"/>
                <a:gd name="T13" fmla="*/ 1 h 1621"/>
                <a:gd name="T14" fmla="*/ 1 w 4196"/>
                <a:gd name="T15" fmla="*/ 1 h 1621"/>
                <a:gd name="T16" fmla="*/ 1 w 4196"/>
                <a:gd name="T17" fmla="*/ 1 h 1621"/>
                <a:gd name="T18" fmla="*/ 1 w 4196"/>
                <a:gd name="T19" fmla="*/ 1 h 1621"/>
                <a:gd name="T20" fmla="*/ 1 w 4196"/>
                <a:gd name="T21" fmla="*/ 1 h 1621"/>
                <a:gd name="T22" fmla="*/ 1 w 4196"/>
                <a:gd name="T23" fmla="*/ 1 h 1621"/>
                <a:gd name="T24" fmla="*/ 2 w 4196"/>
                <a:gd name="T25" fmla="*/ 1 h 1621"/>
                <a:gd name="T26" fmla="*/ 2 w 4196"/>
                <a:gd name="T27" fmla="*/ 1 h 1621"/>
                <a:gd name="T28" fmla="*/ 1 w 4196"/>
                <a:gd name="T29" fmla="*/ 1 h 1621"/>
                <a:gd name="T30" fmla="*/ 2 w 4196"/>
                <a:gd name="T31" fmla="*/ 1 h 1621"/>
                <a:gd name="T32" fmla="*/ 1 w 4196"/>
                <a:gd name="T33" fmla="*/ 1 h 1621"/>
                <a:gd name="T34" fmla="*/ 1 w 4196"/>
                <a:gd name="T35" fmla="*/ 1 h 1621"/>
                <a:gd name="T36" fmla="*/ 1 w 4196"/>
                <a:gd name="T37" fmla="*/ 1 h 1621"/>
                <a:gd name="T38" fmla="*/ 1 w 4196"/>
                <a:gd name="T39" fmla="*/ 1 h 1621"/>
                <a:gd name="T40" fmla="*/ 1 w 4196"/>
                <a:gd name="T41" fmla="*/ 1 h 1621"/>
                <a:gd name="T42" fmla="*/ 1 w 4196"/>
                <a:gd name="T43" fmla="*/ 1 h 1621"/>
                <a:gd name="T44" fmla="*/ 1 w 4196"/>
                <a:gd name="T45" fmla="*/ 1 h 1621"/>
                <a:gd name="T46" fmla="*/ 1 w 4196"/>
                <a:gd name="T47" fmla="*/ 1 h 1621"/>
                <a:gd name="T48" fmla="*/ 1 w 4196"/>
                <a:gd name="T49" fmla="*/ 1 h 1621"/>
                <a:gd name="T50" fmla="*/ 1 w 4196"/>
                <a:gd name="T51" fmla="*/ 1 h 1621"/>
                <a:gd name="T52" fmla="*/ 1 w 4196"/>
                <a:gd name="T53" fmla="*/ 1 h 1621"/>
                <a:gd name="T54" fmla="*/ 1 w 4196"/>
                <a:gd name="T55" fmla="*/ 1 h 1621"/>
                <a:gd name="T56" fmla="*/ 1 w 4196"/>
                <a:gd name="T57" fmla="*/ 1 h 1621"/>
                <a:gd name="T58" fmla="*/ 1 w 4196"/>
                <a:gd name="T59" fmla="*/ 1 h 1621"/>
                <a:gd name="T60" fmla="*/ 1 w 4196"/>
                <a:gd name="T61" fmla="*/ 1 h 1621"/>
                <a:gd name="T62" fmla="*/ 1 w 4196"/>
                <a:gd name="T63" fmla="*/ 1 h 1621"/>
                <a:gd name="T64" fmla="*/ 1 w 4196"/>
                <a:gd name="T65" fmla="*/ 1 h 1621"/>
                <a:gd name="T66" fmla="*/ 1 w 4196"/>
                <a:gd name="T67" fmla="*/ 1 h 1621"/>
                <a:gd name="T68" fmla="*/ 1 w 4196"/>
                <a:gd name="T69" fmla="*/ 1 h 1621"/>
                <a:gd name="T70" fmla="*/ 1 w 4196"/>
                <a:gd name="T71" fmla="*/ 1 h 1621"/>
                <a:gd name="T72" fmla="*/ 1 w 4196"/>
                <a:gd name="T73" fmla="*/ 1 h 1621"/>
                <a:gd name="T74" fmla="*/ 1 w 4196"/>
                <a:gd name="T75" fmla="*/ 1 h 1621"/>
                <a:gd name="T76" fmla="*/ 1 w 4196"/>
                <a:gd name="T77" fmla="*/ 1 h 1621"/>
                <a:gd name="T78" fmla="*/ 1 w 4196"/>
                <a:gd name="T79" fmla="*/ 1 h 1621"/>
                <a:gd name="T80" fmla="*/ 1 w 4196"/>
                <a:gd name="T81" fmla="*/ 1 h 1621"/>
                <a:gd name="T82" fmla="*/ 1 w 4196"/>
                <a:gd name="T83" fmla="*/ 1 h 1621"/>
                <a:gd name="T84" fmla="*/ 1 w 4196"/>
                <a:gd name="T85" fmla="*/ 1 h 1621"/>
                <a:gd name="T86" fmla="*/ 1 w 4196"/>
                <a:gd name="T87" fmla="*/ 1 h 1621"/>
                <a:gd name="T88" fmla="*/ 1 w 4196"/>
                <a:gd name="T89" fmla="*/ 1 h 1621"/>
                <a:gd name="T90" fmla="*/ 1 w 4196"/>
                <a:gd name="T91" fmla="*/ 0 h 1621"/>
                <a:gd name="T92" fmla="*/ 1 w 4196"/>
                <a:gd name="T93" fmla="*/ 0 h 162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4196"/>
                <a:gd name="T142" fmla="*/ 0 h 1621"/>
                <a:gd name="T143" fmla="*/ 4196 w 4196"/>
                <a:gd name="T144" fmla="*/ 1621 h 162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4196" h="1621">
                  <a:moveTo>
                    <a:pt x="57" y="0"/>
                  </a:moveTo>
                  <a:lnTo>
                    <a:pt x="0" y="127"/>
                  </a:lnTo>
                  <a:lnTo>
                    <a:pt x="7" y="414"/>
                  </a:lnTo>
                  <a:lnTo>
                    <a:pt x="85" y="577"/>
                  </a:lnTo>
                  <a:lnTo>
                    <a:pt x="214" y="621"/>
                  </a:lnTo>
                  <a:lnTo>
                    <a:pt x="435" y="805"/>
                  </a:lnTo>
                  <a:lnTo>
                    <a:pt x="977" y="1178"/>
                  </a:lnTo>
                  <a:lnTo>
                    <a:pt x="1099" y="1199"/>
                  </a:lnTo>
                  <a:lnTo>
                    <a:pt x="1254" y="1285"/>
                  </a:lnTo>
                  <a:lnTo>
                    <a:pt x="1306" y="1385"/>
                  </a:lnTo>
                  <a:lnTo>
                    <a:pt x="1718" y="1600"/>
                  </a:lnTo>
                  <a:lnTo>
                    <a:pt x="1891" y="1621"/>
                  </a:lnTo>
                  <a:lnTo>
                    <a:pt x="4196" y="899"/>
                  </a:lnTo>
                  <a:lnTo>
                    <a:pt x="4175" y="743"/>
                  </a:lnTo>
                  <a:lnTo>
                    <a:pt x="3561" y="549"/>
                  </a:lnTo>
                  <a:lnTo>
                    <a:pt x="4131" y="800"/>
                  </a:lnTo>
                  <a:lnTo>
                    <a:pt x="1863" y="1513"/>
                  </a:lnTo>
                  <a:lnTo>
                    <a:pt x="1718" y="1385"/>
                  </a:lnTo>
                  <a:lnTo>
                    <a:pt x="1648" y="1199"/>
                  </a:lnTo>
                  <a:lnTo>
                    <a:pt x="1705" y="834"/>
                  </a:lnTo>
                  <a:lnTo>
                    <a:pt x="1604" y="1013"/>
                  </a:lnTo>
                  <a:lnTo>
                    <a:pt x="1583" y="1199"/>
                  </a:lnTo>
                  <a:lnTo>
                    <a:pt x="1648" y="1435"/>
                  </a:lnTo>
                  <a:lnTo>
                    <a:pt x="1705" y="1513"/>
                  </a:lnTo>
                  <a:lnTo>
                    <a:pt x="1370" y="1349"/>
                  </a:lnTo>
                  <a:lnTo>
                    <a:pt x="1306" y="1191"/>
                  </a:lnTo>
                  <a:lnTo>
                    <a:pt x="1291" y="956"/>
                  </a:lnTo>
                  <a:lnTo>
                    <a:pt x="1334" y="792"/>
                  </a:lnTo>
                  <a:lnTo>
                    <a:pt x="1254" y="914"/>
                  </a:lnTo>
                  <a:lnTo>
                    <a:pt x="1226" y="1085"/>
                  </a:lnTo>
                  <a:lnTo>
                    <a:pt x="1213" y="1186"/>
                  </a:lnTo>
                  <a:lnTo>
                    <a:pt x="1091" y="1106"/>
                  </a:lnTo>
                  <a:lnTo>
                    <a:pt x="1070" y="899"/>
                  </a:lnTo>
                  <a:lnTo>
                    <a:pt x="1135" y="657"/>
                  </a:lnTo>
                  <a:lnTo>
                    <a:pt x="1057" y="764"/>
                  </a:lnTo>
                  <a:lnTo>
                    <a:pt x="1000" y="927"/>
                  </a:lnTo>
                  <a:lnTo>
                    <a:pt x="1000" y="1098"/>
                  </a:lnTo>
                  <a:lnTo>
                    <a:pt x="235" y="570"/>
                  </a:lnTo>
                  <a:lnTo>
                    <a:pt x="228" y="414"/>
                  </a:lnTo>
                  <a:lnTo>
                    <a:pt x="235" y="285"/>
                  </a:lnTo>
                  <a:lnTo>
                    <a:pt x="171" y="370"/>
                  </a:lnTo>
                  <a:lnTo>
                    <a:pt x="135" y="507"/>
                  </a:lnTo>
                  <a:lnTo>
                    <a:pt x="57" y="363"/>
                  </a:lnTo>
                  <a:lnTo>
                    <a:pt x="57" y="155"/>
                  </a:lnTo>
                  <a:lnTo>
                    <a:pt x="192" y="70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6" name="Freeform 37"/>
            <p:cNvSpPr>
              <a:spLocks/>
            </p:cNvSpPr>
            <p:nvPr/>
          </p:nvSpPr>
          <p:spPr bwMode="auto">
            <a:xfrm>
              <a:off x="2722" y="2159"/>
              <a:ext cx="193" cy="293"/>
            </a:xfrm>
            <a:custGeom>
              <a:avLst/>
              <a:gdLst>
                <a:gd name="T0" fmla="*/ 1 w 386"/>
                <a:gd name="T1" fmla="*/ 0 h 586"/>
                <a:gd name="T2" fmla="*/ 1 w 386"/>
                <a:gd name="T3" fmla="*/ 1 h 586"/>
                <a:gd name="T4" fmla="*/ 1 w 386"/>
                <a:gd name="T5" fmla="*/ 1 h 586"/>
                <a:gd name="T6" fmla="*/ 0 w 386"/>
                <a:gd name="T7" fmla="*/ 1 h 586"/>
                <a:gd name="T8" fmla="*/ 1 w 386"/>
                <a:gd name="T9" fmla="*/ 1 h 586"/>
                <a:gd name="T10" fmla="*/ 1 w 386"/>
                <a:gd name="T11" fmla="*/ 1 h 586"/>
                <a:gd name="T12" fmla="*/ 1 w 386"/>
                <a:gd name="T13" fmla="*/ 1 h 586"/>
                <a:gd name="T14" fmla="*/ 1 w 386"/>
                <a:gd name="T15" fmla="*/ 1 h 586"/>
                <a:gd name="T16" fmla="*/ 1 w 386"/>
                <a:gd name="T17" fmla="*/ 1 h 586"/>
                <a:gd name="T18" fmla="*/ 1 w 386"/>
                <a:gd name="T19" fmla="*/ 1 h 586"/>
                <a:gd name="T20" fmla="*/ 1 w 386"/>
                <a:gd name="T21" fmla="*/ 0 h 586"/>
                <a:gd name="T22" fmla="*/ 1 w 386"/>
                <a:gd name="T23" fmla="*/ 0 h 58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86"/>
                <a:gd name="T37" fmla="*/ 0 h 586"/>
                <a:gd name="T38" fmla="*/ 386 w 386"/>
                <a:gd name="T39" fmla="*/ 586 h 58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86" h="586">
                  <a:moveTo>
                    <a:pt x="187" y="0"/>
                  </a:moveTo>
                  <a:lnTo>
                    <a:pt x="101" y="65"/>
                  </a:lnTo>
                  <a:lnTo>
                    <a:pt x="59" y="179"/>
                  </a:lnTo>
                  <a:lnTo>
                    <a:pt x="0" y="451"/>
                  </a:lnTo>
                  <a:lnTo>
                    <a:pt x="59" y="586"/>
                  </a:lnTo>
                  <a:lnTo>
                    <a:pt x="386" y="479"/>
                  </a:lnTo>
                  <a:lnTo>
                    <a:pt x="308" y="399"/>
                  </a:lnTo>
                  <a:lnTo>
                    <a:pt x="101" y="458"/>
                  </a:lnTo>
                  <a:lnTo>
                    <a:pt x="109" y="236"/>
                  </a:lnTo>
                  <a:lnTo>
                    <a:pt x="202" y="158"/>
                  </a:lnTo>
                  <a:lnTo>
                    <a:pt x="18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7" name="Freeform 38"/>
            <p:cNvSpPr>
              <a:spLocks/>
            </p:cNvSpPr>
            <p:nvPr/>
          </p:nvSpPr>
          <p:spPr bwMode="auto">
            <a:xfrm>
              <a:off x="2937" y="2281"/>
              <a:ext cx="303" cy="103"/>
            </a:xfrm>
            <a:custGeom>
              <a:avLst/>
              <a:gdLst>
                <a:gd name="T0" fmla="*/ 0 w 607"/>
                <a:gd name="T1" fmla="*/ 0 h 208"/>
                <a:gd name="T2" fmla="*/ 0 w 607"/>
                <a:gd name="T3" fmla="*/ 0 h 208"/>
                <a:gd name="T4" fmla="*/ 0 w 607"/>
                <a:gd name="T5" fmla="*/ 0 h 208"/>
                <a:gd name="T6" fmla="*/ 0 w 607"/>
                <a:gd name="T7" fmla="*/ 0 h 208"/>
                <a:gd name="T8" fmla="*/ 0 w 607"/>
                <a:gd name="T9" fmla="*/ 0 h 2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7"/>
                <a:gd name="T16" fmla="*/ 0 h 208"/>
                <a:gd name="T17" fmla="*/ 607 w 607"/>
                <a:gd name="T18" fmla="*/ 208 h 2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7" h="208">
                  <a:moveTo>
                    <a:pt x="13" y="128"/>
                  </a:moveTo>
                  <a:lnTo>
                    <a:pt x="607" y="0"/>
                  </a:lnTo>
                  <a:lnTo>
                    <a:pt x="0" y="208"/>
                  </a:lnTo>
                  <a:lnTo>
                    <a:pt x="13" y="1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8" name="Freeform 39"/>
            <p:cNvSpPr>
              <a:spLocks/>
            </p:cNvSpPr>
            <p:nvPr/>
          </p:nvSpPr>
          <p:spPr bwMode="auto">
            <a:xfrm>
              <a:off x="1730" y="1920"/>
              <a:ext cx="1966" cy="955"/>
            </a:xfrm>
            <a:custGeom>
              <a:avLst/>
              <a:gdLst>
                <a:gd name="T0" fmla="*/ 1 w 3932"/>
                <a:gd name="T1" fmla="*/ 0 h 1908"/>
                <a:gd name="T2" fmla="*/ 0 w 3932"/>
                <a:gd name="T3" fmla="*/ 1 h 1908"/>
                <a:gd name="T4" fmla="*/ 1 w 3932"/>
                <a:gd name="T5" fmla="*/ 1 h 1908"/>
                <a:gd name="T6" fmla="*/ 1 w 3932"/>
                <a:gd name="T7" fmla="*/ 1 h 1908"/>
                <a:gd name="T8" fmla="*/ 2 w 3932"/>
                <a:gd name="T9" fmla="*/ 1 h 1908"/>
                <a:gd name="T10" fmla="*/ 2 w 3932"/>
                <a:gd name="T11" fmla="*/ 1 h 1908"/>
                <a:gd name="T12" fmla="*/ 2 w 3932"/>
                <a:gd name="T13" fmla="*/ 1 h 1908"/>
                <a:gd name="T14" fmla="*/ 2 w 3932"/>
                <a:gd name="T15" fmla="*/ 1 h 1908"/>
                <a:gd name="T16" fmla="*/ 2 w 3932"/>
                <a:gd name="T17" fmla="*/ 1 h 1908"/>
                <a:gd name="T18" fmla="*/ 2 w 3932"/>
                <a:gd name="T19" fmla="*/ 1 h 1908"/>
                <a:gd name="T20" fmla="*/ 2 w 3932"/>
                <a:gd name="T21" fmla="*/ 1 h 1908"/>
                <a:gd name="T22" fmla="*/ 2 w 3932"/>
                <a:gd name="T23" fmla="*/ 1 h 1908"/>
                <a:gd name="T24" fmla="*/ 2 w 3932"/>
                <a:gd name="T25" fmla="*/ 1 h 1908"/>
                <a:gd name="T26" fmla="*/ 2 w 3932"/>
                <a:gd name="T27" fmla="*/ 1 h 1908"/>
                <a:gd name="T28" fmla="*/ 2 w 3932"/>
                <a:gd name="T29" fmla="*/ 1 h 1908"/>
                <a:gd name="T30" fmla="*/ 2 w 3932"/>
                <a:gd name="T31" fmla="*/ 1 h 1908"/>
                <a:gd name="T32" fmla="*/ 1 w 3932"/>
                <a:gd name="T33" fmla="*/ 1 h 1908"/>
                <a:gd name="T34" fmla="*/ 1 w 3932"/>
                <a:gd name="T35" fmla="*/ 1 h 1908"/>
                <a:gd name="T36" fmla="*/ 1 w 3932"/>
                <a:gd name="T37" fmla="*/ 1 h 1908"/>
                <a:gd name="T38" fmla="*/ 1 w 3932"/>
                <a:gd name="T39" fmla="*/ 1 h 1908"/>
                <a:gd name="T40" fmla="*/ 1 w 3932"/>
                <a:gd name="T41" fmla="*/ 1 h 1908"/>
                <a:gd name="T42" fmla="*/ 1 w 3932"/>
                <a:gd name="T43" fmla="*/ 1 h 1908"/>
                <a:gd name="T44" fmla="*/ 1 w 3932"/>
                <a:gd name="T45" fmla="*/ 0 h 1908"/>
                <a:gd name="T46" fmla="*/ 1 w 3932"/>
                <a:gd name="T47" fmla="*/ 0 h 190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932"/>
                <a:gd name="T73" fmla="*/ 0 h 1908"/>
                <a:gd name="T74" fmla="*/ 3932 w 3932"/>
                <a:gd name="T75" fmla="*/ 1908 h 190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932" h="1908">
                  <a:moveTo>
                    <a:pt x="314" y="0"/>
                  </a:moveTo>
                  <a:lnTo>
                    <a:pt x="0" y="47"/>
                  </a:lnTo>
                  <a:lnTo>
                    <a:pt x="10" y="162"/>
                  </a:lnTo>
                  <a:lnTo>
                    <a:pt x="993" y="1722"/>
                  </a:lnTo>
                  <a:lnTo>
                    <a:pt x="3619" y="1426"/>
                  </a:lnTo>
                  <a:lnTo>
                    <a:pt x="3740" y="1483"/>
                  </a:lnTo>
                  <a:lnTo>
                    <a:pt x="3809" y="1593"/>
                  </a:lnTo>
                  <a:lnTo>
                    <a:pt x="3725" y="1827"/>
                  </a:lnTo>
                  <a:lnTo>
                    <a:pt x="3290" y="1908"/>
                  </a:lnTo>
                  <a:lnTo>
                    <a:pt x="3744" y="1908"/>
                  </a:lnTo>
                  <a:lnTo>
                    <a:pt x="3932" y="1621"/>
                  </a:lnTo>
                  <a:lnTo>
                    <a:pt x="3921" y="1388"/>
                  </a:lnTo>
                  <a:lnTo>
                    <a:pt x="3839" y="1279"/>
                  </a:lnTo>
                  <a:lnTo>
                    <a:pt x="3383" y="1340"/>
                  </a:lnTo>
                  <a:lnTo>
                    <a:pt x="3299" y="1376"/>
                  </a:lnTo>
                  <a:lnTo>
                    <a:pt x="3200" y="1340"/>
                  </a:lnTo>
                  <a:lnTo>
                    <a:pt x="1136" y="1583"/>
                  </a:lnTo>
                  <a:lnTo>
                    <a:pt x="495" y="684"/>
                  </a:lnTo>
                  <a:lnTo>
                    <a:pt x="1065" y="1591"/>
                  </a:lnTo>
                  <a:lnTo>
                    <a:pt x="1014" y="1667"/>
                  </a:lnTo>
                  <a:lnTo>
                    <a:pt x="40" y="89"/>
                  </a:lnTo>
                  <a:lnTo>
                    <a:pt x="289" y="47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9" name="Freeform 40"/>
            <p:cNvSpPr>
              <a:spLocks/>
            </p:cNvSpPr>
            <p:nvPr/>
          </p:nvSpPr>
          <p:spPr bwMode="auto">
            <a:xfrm>
              <a:off x="1781" y="2134"/>
              <a:ext cx="353" cy="825"/>
            </a:xfrm>
            <a:custGeom>
              <a:avLst/>
              <a:gdLst>
                <a:gd name="T0" fmla="*/ 1 w 705"/>
                <a:gd name="T1" fmla="*/ 0 h 1650"/>
                <a:gd name="T2" fmla="*/ 1 w 705"/>
                <a:gd name="T3" fmla="*/ 1 h 1650"/>
                <a:gd name="T4" fmla="*/ 1 w 705"/>
                <a:gd name="T5" fmla="*/ 1 h 1650"/>
                <a:gd name="T6" fmla="*/ 1 w 705"/>
                <a:gd name="T7" fmla="*/ 1 h 1650"/>
                <a:gd name="T8" fmla="*/ 0 w 705"/>
                <a:gd name="T9" fmla="*/ 1 h 1650"/>
                <a:gd name="T10" fmla="*/ 1 w 705"/>
                <a:gd name="T11" fmla="*/ 1 h 1650"/>
                <a:gd name="T12" fmla="*/ 1 w 705"/>
                <a:gd name="T13" fmla="*/ 1 h 1650"/>
                <a:gd name="T14" fmla="*/ 1 w 705"/>
                <a:gd name="T15" fmla="*/ 1 h 1650"/>
                <a:gd name="T16" fmla="*/ 1 w 705"/>
                <a:gd name="T17" fmla="*/ 1 h 1650"/>
                <a:gd name="T18" fmla="*/ 1 w 705"/>
                <a:gd name="T19" fmla="*/ 1 h 1650"/>
                <a:gd name="T20" fmla="*/ 1 w 705"/>
                <a:gd name="T21" fmla="*/ 1 h 1650"/>
                <a:gd name="T22" fmla="*/ 1 w 705"/>
                <a:gd name="T23" fmla="*/ 1 h 1650"/>
                <a:gd name="T24" fmla="*/ 1 w 705"/>
                <a:gd name="T25" fmla="*/ 0 h 1650"/>
                <a:gd name="T26" fmla="*/ 1 w 705"/>
                <a:gd name="T27" fmla="*/ 0 h 165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705"/>
                <a:gd name="T43" fmla="*/ 0 h 1650"/>
                <a:gd name="T44" fmla="*/ 705 w 705"/>
                <a:gd name="T45" fmla="*/ 1650 h 165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705" h="1650">
                  <a:moveTo>
                    <a:pt x="91" y="0"/>
                  </a:moveTo>
                  <a:lnTo>
                    <a:pt x="107" y="121"/>
                  </a:lnTo>
                  <a:lnTo>
                    <a:pt x="86" y="224"/>
                  </a:lnTo>
                  <a:lnTo>
                    <a:pt x="50" y="292"/>
                  </a:lnTo>
                  <a:lnTo>
                    <a:pt x="0" y="328"/>
                  </a:lnTo>
                  <a:lnTo>
                    <a:pt x="185" y="678"/>
                  </a:lnTo>
                  <a:lnTo>
                    <a:pt x="705" y="1650"/>
                  </a:lnTo>
                  <a:lnTo>
                    <a:pt x="321" y="777"/>
                  </a:lnTo>
                  <a:lnTo>
                    <a:pt x="86" y="328"/>
                  </a:lnTo>
                  <a:lnTo>
                    <a:pt x="314" y="598"/>
                  </a:lnTo>
                  <a:lnTo>
                    <a:pt x="135" y="243"/>
                  </a:lnTo>
                  <a:lnTo>
                    <a:pt x="185" y="114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0" name="Freeform 41"/>
            <p:cNvSpPr>
              <a:spLocks/>
            </p:cNvSpPr>
            <p:nvPr/>
          </p:nvSpPr>
          <p:spPr bwMode="auto">
            <a:xfrm>
              <a:off x="1675" y="2207"/>
              <a:ext cx="2110" cy="944"/>
            </a:xfrm>
            <a:custGeom>
              <a:avLst/>
              <a:gdLst>
                <a:gd name="T0" fmla="*/ 0 w 4221"/>
                <a:gd name="T1" fmla="*/ 0 h 1890"/>
                <a:gd name="T2" fmla="*/ 0 w 4221"/>
                <a:gd name="T3" fmla="*/ 0 h 1890"/>
                <a:gd name="T4" fmla="*/ 0 w 4221"/>
                <a:gd name="T5" fmla="*/ 0 h 1890"/>
                <a:gd name="T6" fmla="*/ 0 w 4221"/>
                <a:gd name="T7" fmla="*/ 0 h 1890"/>
                <a:gd name="T8" fmla="*/ 0 w 4221"/>
                <a:gd name="T9" fmla="*/ 0 h 1890"/>
                <a:gd name="T10" fmla="*/ 0 w 4221"/>
                <a:gd name="T11" fmla="*/ 0 h 1890"/>
                <a:gd name="T12" fmla="*/ 1 w 4221"/>
                <a:gd name="T13" fmla="*/ 0 h 1890"/>
                <a:gd name="T14" fmla="*/ 1 w 4221"/>
                <a:gd name="T15" fmla="*/ 0 h 1890"/>
                <a:gd name="T16" fmla="*/ 1 w 4221"/>
                <a:gd name="T17" fmla="*/ 0 h 1890"/>
                <a:gd name="T18" fmla="*/ 1 w 4221"/>
                <a:gd name="T19" fmla="*/ 0 h 1890"/>
                <a:gd name="T20" fmla="*/ 2 w 4221"/>
                <a:gd name="T21" fmla="*/ 0 h 1890"/>
                <a:gd name="T22" fmla="*/ 2 w 4221"/>
                <a:gd name="T23" fmla="*/ 0 h 1890"/>
                <a:gd name="T24" fmla="*/ 2 w 4221"/>
                <a:gd name="T25" fmla="*/ 0 h 1890"/>
                <a:gd name="T26" fmla="*/ 1 w 4221"/>
                <a:gd name="T27" fmla="*/ 0 h 1890"/>
                <a:gd name="T28" fmla="*/ 1 w 4221"/>
                <a:gd name="T29" fmla="*/ 0 h 1890"/>
                <a:gd name="T30" fmla="*/ 1 w 4221"/>
                <a:gd name="T31" fmla="*/ 0 h 1890"/>
                <a:gd name="T32" fmla="*/ 1 w 4221"/>
                <a:gd name="T33" fmla="*/ 0 h 1890"/>
                <a:gd name="T34" fmla="*/ 2 w 4221"/>
                <a:gd name="T35" fmla="*/ 0 h 1890"/>
                <a:gd name="T36" fmla="*/ 2 w 4221"/>
                <a:gd name="T37" fmla="*/ 0 h 1890"/>
                <a:gd name="T38" fmla="*/ 1 w 4221"/>
                <a:gd name="T39" fmla="*/ 0 h 1890"/>
                <a:gd name="T40" fmla="*/ 1 w 4221"/>
                <a:gd name="T41" fmla="*/ 0 h 1890"/>
                <a:gd name="T42" fmla="*/ 1 w 4221"/>
                <a:gd name="T43" fmla="*/ 0 h 1890"/>
                <a:gd name="T44" fmla="*/ 1 w 4221"/>
                <a:gd name="T45" fmla="*/ 0 h 1890"/>
                <a:gd name="T46" fmla="*/ 1 w 4221"/>
                <a:gd name="T47" fmla="*/ 0 h 1890"/>
                <a:gd name="T48" fmla="*/ 0 w 4221"/>
                <a:gd name="T49" fmla="*/ 0 h 1890"/>
                <a:gd name="T50" fmla="*/ 0 w 4221"/>
                <a:gd name="T51" fmla="*/ 0 h 1890"/>
                <a:gd name="T52" fmla="*/ 0 w 4221"/>
                <a:gd name="T53" fmla="*/ 0 h 1890"/>
                <a:gd name="T54" fmla="*/ 0 w 4221"/>
                <a:gd name="T55" fmla="*/ 0 h 1890"/>
                <a:gd name="T56" fmla="*/ 0 w 4221"/>
                <a:gd name="T57" fmla="*/ 0 h 189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221"/>
                <a:gd name="T88" fmla="*/ 0 h 1890"/>
                <a:gd name="T89" fmla="*/ 4221 w 4221"/>
                <a:gd name="T90" fmla="*/ 1890 h 1890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221" h="1890">
                  <a:moveTo>
                    <a:pt x="329" y="0"/>
                  </a:moveTo>
                  <a:lnTo>
                    <a:pt x="154" y="80"/>
                  </a:lnTo>
                  <a:lnTo>
                    <a:pt x="15" y="110"/>
                  </a:lnTo>
                  <a:lnTo>
                    <a:pt x="0" y="203"/>
                  </a:lnTo>
                  <a:lnTo>
                    <a:pt x="572" y="1279"/>
                  </a:lnTo>
                  <a:lnTo>
                    <a:pt x="818" y="1890"/>
                  </a:lnTo>
                  <a:lnTo>
                    <a:pt x="3259" y="1589"/>
                  </a:lnTo>
                  <a:lnTo>
                    <a:pt x="3350" y="1559"/>
                  </a:lnTo>
                  <a:lnTo>
                    <a:pt x="3480" y="1602"/>
                  </a:lnTo>
                  <a:lnTo>
                    <a:pt x="3923" y="1544"/>
                  </a:lnTo>
                  <a:lnTo>
                    <a:pt x="4120" y="1361"/>
                  </a:lnTo>
                  <a:lnTo>
                    <a:pt x="4221" y="911"/>
                  </a:lnTo>
                  <a:lnTo>
                    <a:pt x="4151" y="587"/>
                  </a:lnTo>
                  <a:lnTo>
                    <a:pt x="3841" y="316"/>
                  </a:lnTo>
                  <a:lnTo>
                    <a:pt x="3234" y="468"/>
                  </a:lnTo>
                  <a:lnTo>
                    <a:pt x="3778" y="479"/>
                  </a:lnTo>
                  <a:lnTo>
                    <a:pt x="4012" y="658"/>
                  </a:lnTo>
                  <a:lnTo>
                    <a:pt x="4116" y="814"/>
                  </a:lnTo>
                  <a:lnTo>
                    <a:pt x="4124" y="1046"/>
                  </a:lnTo>
                  <a:lnTo>
                    <a:pt x="4037" y="1323"/>
                  </a:lnTo>
                  <a:lnTo>
                    <a:pt x="3924" y="1449"/>
                  </a:lnTo>
                  <a:lnTo>
                    <a:pt x="3567" y="1496"/>
                  </a:lnTo>
                  <a:lnTo>
                    <a:pt x="3407" y="1445"/>
                  </a:lnTo>
                  <a:lnTo>
                    <a:pt x="3191" y="1553"/>
                  </a:lnTo>
                  <a:lnTo>
                    <a:pt x="886" y="1753"/>
                  </a:lnTo>
                  <a:lnTo>
                    <a:pt x="69" y="139"/>
                  </a:lnTo>
                  <a:lnTo>
                    <a:pt x="348" y="53"/>
                  </a:lnTo>
                  <a:lnTo>
                    <a:pt x="32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1" name="Freeform 42"/>
            <p:cNvSpPr>
              <a:spLocks/>
            </p:cNvSpPr>
            <p:nvPr/>
          </p:nvSpPr>
          <p:spPr bwMode="auto">
            <a:xfrm>
              <a:off x="2145" y="2669"/>
              <a:ext cx="1067" cy="315"/>
            </a:xfrm>
            <a:custGeom>
              <a:avLst/>
              <a:gdLst>
                <a:gd name="T0" fmla="*/ 0 w 2134"/>
                <a:gd name="T1" fmla="*/ 1 h 629"/>
                <a:gd name="T2" fmla="*/ 1 w 2134"/>
                <a:gd name="T3" fmla="*/ 1 h 629"/>
                <a:gd name="T4" fmla="*/ 1 w 2134"/>
                <a:gd name="T5" fmla="*/ 1 h 629"/>
                <a:gd name="T6" fmla="*/ 1 w 2134"/>
                <a:gd name="T7" fmla="*/ 1 h 629"/>
                <a:gd name="T8" fmla="*/ 1 w 2134"/>
                <a:gd name="T9" fmla="*/ 0 h 629"/>
                <a:gd name="T10" fmla="*/ 1 w 2134"/>
                <a:gd name="T11" fmla="*/ 1 h 629"/>
                <a:gd name="T12" fmla="*/ 1 w 2134"/>
                <a:gd name="T13" fmla="*/ 1 h 629"/>
                <a:gd name="T14" fmla="*/ 1 w 2134"/>
                <a:gd name="T15" fmla="*/ 1 h 629"/>
                <a:gd name="T16" fmla="*/ 1 w 2134"/>
                <a:gd name="T17" fmla="*/ 1 h 629"/>
                <a:gd name="T18" fmla="*/ 1 w 2134"/>
                <a:gd name="T19" fmla="*/ 1 h 629"/>
                <a:gd name="T20" fmla="*/ 1 w 2134"/>
                <a:gd name="T21" fmla="*/ 1 h 629"/>
                <a:gd name="T22" fmla="*/ 1 w 2134"/>
                <a:gd name="T23" fmla="*/ 1 h 629"/>
                <a:gd name="T24" fmla="*/ 0 w 2134"/>
                <a:gd name="T25" fmla="*/ 1 h 629"/>
                <a:gd name="T26" fmla="*/ 0 w 2134"/>
                <a:gd name="T27" fmla="*/ 1 h 62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134"/>
                <a:gd name="T43" fmla="*/ 0 h 629"/>
                <a:gd name="T44" fmla="*/ 2134 w 2134"/>
                <a:gd name="T45" fmla="*/ 629 h 62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134" h="629">
                  <a:moveTo>
                    <a:pt x="0" y="629"/>
                  </a:moveTo>
                  <a:lnTo>
                    <a:pt x="171" y="471"/>
                  </a:lnTo>
                  <a:lnTo>
                    <a:pt x="249" y="329"/>
                  </a:lnTo>
                  <a:lnTo>
                    <a:pt x="228" y="158"/>
                  </a:lnTo>
                  <a:lnTo>
                    <a:pt x="1548" y="0"/>
                  </a:lnTo>
                  <a:lnTo>
                    <a:pt x="371" y="201"/>
                  </a:lnTo>
                  <a:lnTo>
                    <a:pt x="320" y="344"/>
                  </a:lnTo>
                  <a:lnTo>
                    <a:pt x="1327" y="287"/>
                  </a:lnTo>
                  <a:lnTo>
                    <a:pt x="299" y="437"/>
                  </a:lnTo>
                  <a:lnTo>
                    <a:pt x="242" y="494"/>
                  </a:lnTo>
                  <a:lnTo>
                    <a:pt x="185" y="528"/>
                  </a:lnTo>
                  <a:lnTo>
                    <a:pt x="2134" y="422"/>
                  </a:lnTo>
                  <a:lnTo>
                    <a:pt x="0" y="62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2" name="Freeform 43"/>
            <p:cNvSpPr>
              <a:spLocks/>
            </p:cNvSpPr>
            <p:nvPr/>
          </p:nvSpPr>
          <p:spPr bwMode="auto">
            <a:xfrm>
              <a:off x="2147" y="2367"/>
              <a:ext cx="489" cy="214"/>
            </a:xfrm>
            <a:custGeom>
              <a:avLst/>
              <a:gdLst>
                <a:gd name="T0" fmla="*/ 1 w 977"/>
                <a:gd name="T1" fmla="*/ 0 h 428"/>
                <a:gd name="T2" fmla="*/ 0 w 977"/>
                <a:gd name="T3" fmla="*/ 1 h 428"/>
                <a:gd name="T4" fmla="*/ 1 w 977"/>
                <a:gd name="T5" fmla="*/ 1 h 428"/>
                <a:gd name="T6" fmla="*/ 1 w 977"/>
                <a:gd name="T7" fmla="*/ 1 h 428"/>
                <a:gd name="T8" fmla="*/ 1 w 977"/>
                <a:gd name="T9" fmla="*/ 1 h 428"/>
                <a:gd name="T10" fmla="*/ 1 w 977"/>
                <a:gd name="T11" fmla="*/ 1 h 428"/>
                <a:gd name="T12" fmla="*/ 1 w 977"/>
                <a:gd name="T13" fmla="*/ 1 h 428"/>
                <a:gd name="T14" fmla="*/ 1 w 977"/>
                <a:gd name="T15" fmla="*/ 1 h 428"/>
                <a:gd name="T16" fmla="*/ 1 w 977"/>
                <a:gd name="T17" fmla="*/ 0 h 428"/>
                <a:gd name="T18" fmla="*/ 1 w 977"/>
                <a:gd name="T19" fmla="*/ 0 h 4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977"/>
                <a:gd name="T31" fmla="*/ 0 h 428"/>
                <a:gd name="T32" fmla="*/ 977 w 977"/>
                <a:gd name="T33" fmla="*/ 428 h 4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977" h="428">
                  <a:moveTo>
                    <a:pt x="377" y="0"/>
                  </a:moveTo>
                  <a:lnTo>
                    <a:pt x="0" y="19"/>
                  </a:lnTo>
                  <a:lnTo>
                    <a:pt x="285" y="428"/>
                  </a:lnTo>
                  <a:lnTo>
                    <a:pt x="977" y="375"/>
                  </a:lnTo>
                  <a:lnTo>
                    <a:pt x="901" y="323"/>
                  </a:lnTo>
                  <a:lnTo>
                    <a:pt x="337" y="342"/>
                  </a:lnTo>
                  <a:lnTo>
                    <a:pt x="186" y="92"/>
                  </a:lnTo>
                  <a:lnTo>
                    <a:pt x="464" y="25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3" name="Freeform 44"/>
            <p:cNvSpPr>
              <a:spLocks/>
            </p:cNvSpPr>
            <p:nvPr/>
          </p:nvSpPr>
          <p:spPr bwMode="auto">
            <a:xfrm>
              <a:off x="2985" y="2496"/>
              <a:ext cx="423" cy="55"/>
            </a:xfrm>
            <a:custGeom>
              <a:avLst/>
              <a:gdLst>
                <a:gd name="T0" fmla="*/ 0 w 846"/>
                <a:gd name="T1" fmla="*/ 1 h 108"/>
                <a:gd name="T2" fmla="*/ 1 w 846"/>
                <a:gd name="T3" fmla="*/ 1 h 108"/>
                <a:gd name="T4" fmla="*/ 1 w 846"/>
                <a:gd name="T5" fmla="*/ 1 h 108"/>
                <a:gd name="T6" fmla="*/ 1 w 846"/>
                <a:gd name="T7" fmla="*/ 1 h 108"/>
                <a:gd name="T8" fmla="*/ 1 w 846"/>
                <a:gd name="T9" fmla="*/ 0 h 108"/>
                <a:gd name="T10" fmla="*/ 1 w 846"/>
                <a:gd name="T11" fmla="*/ 1 h 108"/>
                <a:gd name="T12" fmla="*/ 0 w 846"/>
                <a:gd name="T13" fmla="*/ 1 h 108"/>
                <a:gd name="T14" fmla="*/ 0 w 846"/>
                <a:gd name="T15" fmla="*/ 1 h 1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846"/>
                <a:gd name="T25" fmla="*/ 0 h 108"/>
                <a:gd name="T26" fmla="*/ 846 w 846"/>
                <a:gd name="T27" fmla="*/ 108 h 10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846" h="108">
                  <a:moveTo>
                    <a:pt x="0" y="108"/>
                  </a:moveTo>
                  <a:lnTo>
                    <a:pt x="145" y="91"/>
                  </a:lnTo>
                  <a:lnTo>
                    <a:pt x="434" y="55"/>
                  </a:lnTo>
                  <a:lnTo>
                    <a:pt x="719" y="17"/>
                  </a:lnTo>
                  <a:lnTo>
                    <a:pt x="846" y="0"/>
                  </a:lnTo>
                  <a:lnTo>
                    <a:pt x="211" y="23"/>
                  </a:lnTo>
                  <a:lnTo>
                    <a:pt x="0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4" name="Freeform 45"/>
            <p:cNvSpPr>
              <a:spLocks/>
            </p:cNvSpPr>
            <p:nvPr/>
          </p:nvSpPr>
          <p:spPr bwMode="auto">
            <a:xfrm>
              <a:off x="2252" y="1200"/>
              <a:ext cx="1175" cy="291"/>
            </a:xfrm>
            <a:custGeom>
              <a:avLst/>
              <a:gdLst>
                <a:gd name="T0" fmla="*/ 1 w 2350"/>
                <a:gd name="T1" fmla="*/ 1 h 582"/>
                <a:gd name="T2" fmla="*/ 1 w 2350"/>
                <a:gd name="T3" fmla="*/ 1 h 582"/>
                <a:gd name="T4" fmla="*/ 1 w 2350"/>
                <a:gd name="T5" fmla="*/ 1 h 582"/>
                <a:gd name="T6" fmla="*/ 1 w 2350"/>
                <a:gd name="T7" fmla="*/ 0 h 582"/>
                <a:gd name="T8" fmla="*/ 0 w 2350"/>
                <a:gd name="T9" fmla="*/ 1 h 582"/>
                <a:gd name="T10" fmla="*/ 1 w 2350"/>
                <a:gd name="T11" fmla="*/ 1 h 582"/>
                <a:gd name="T12" fmla="*/ 1 w 2350"/>
                <a:gd name="T13" fmla="*/ 1 h 582"/>
                <a:gd name="T14" fmla="*/ 1 w 2350"/>
                <a:gd name="T15" fmla="*/ 1 h 582"/>
                <a:gd name="T16" fmla="*/ 1 w 2350"/>
                <a:gd name="T17" fmla="*/ 1 h 582"/>
                <a:gd name="T18" fmla="*/ 1 w 2350"/>
                <a:gd name="T19" fmla="*/ 1 h 582"/>
                <a:gd name="T20" fmla="*/ 1 w 2350"/>
                <a:gd name="T21" fmla="*/ 1 h 582"/>
                <a:gd name="T22" fmla="*/ 1 w 2350"/>
                <a:gd name="T23" fmla="*/ 1 h 582"/>
                <a:gd name="T24" fmla="*/ 1 w 2350"/>
                <a:gd name="T25" fmla="*/ 1 h 58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350"/>
                <a:gd name="T40" fmla="*/ 0 h 582"/>
                <a:gd name="T41" fmla="*/ 2350 w 2350"/>
                <a:gd name="T42" fmla="*/ 582 h 58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350" h="582">
                  <a:moveTo>
                    <a:pt x="2350" y="126"/>
                  </a:moveTo>
                  <a:lnTo>
                    <a:pt x="1966" y="61"/>
                  </a:lnTo>
                  <a:lnTo>
                    <a:pt x="1896" y="6"/>
                  </a:lnTo>
                  <a:lnTo>
                    <a:pt x="1791" y="0"/>
                  </a:lnTo>
                  <a:lnTo>
                    <a:pt x="0" y="397"/>
                  </a:lnTo>
                  <a:lnTo>
                    <a:pt x="580" y="582"/>
                  </a:lnTo>
                  <a:lnTo>
                    <a:pt x="2097" y="198"/>
                  </a:lnTo>
                  <a:lnTo>
                    <a:pt x="557" y="496"/>
                  </a:lnTo>
                  <a:lnTo>
                    <a:pt x="400" y="394"/>
                  </a:lnTo>
                  <a:lnTo>
                    <a:pt x="1803" y="55"/>
                  </a:lnTo>
                  <a:lnTo>
                    <a:pt x="1902" y="82"/>
                  </a:lnTo>
                  <a:lnTo>
                    <a:pt x="2350" y="1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5" name="Freeform 46"/>
            <p:cNvSpPr>
              <a:spLocks/>
            </p:cNvSpPr>
            <p:nvPr/>
          </p:nvSpPr>
          <p:spPr bwMode="auto">
            <a:xfrm>
              <a:off x="3122" y="1798"/>
              <a:ext cx="609" cy="246"/>
            </a:xfrm>
            <a:custGeom>
              <a:avLst/>
              <a:gdLst>
                <a:gd name="T0" fmla="*/ 0 w 1217"/>
                <a:gd name="T1" fmla="*/ 1 h 492"/>
                <a:gd name="T2" fmla="*/ 1 w 1217"/>
                <a:gd name="T3" fmla="*/ 1 h 492"/>
                <a:gd name="T4" fmla="*/ 1 w 1217"/>
                <a:gd name="T5" fmla="*/ 0 h 492"/>
                <a:gd name="T6" fmla="*/ 1 w 1217"/>
                <a:gd name="T7" fmla="*/ 1 h 492"/>
                <a:gd name="T8" fmla="*/ 0 w 1217"/>
                <a:gd name="T9" fmla="*/ 1 h 492"/>
                <a:gd name="T10" fmla="*/ 0 w 1217"/>
                <a:gd name="T11" fmla="*/ 1 h 4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17"/>
                <a:gd name="T19" fmla="*/ 0 h 492"/>
                <a:gd name="T20" fmla="*/ 1217 w 1217"/>
                <a:gd name="T21" fmla="*/ 492 h 4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17" h="492">
                  <a:moveTo>
                    <a:pt x="0" y="492"/>
                  </a:moveTo>
                  <a:lnTo>
                    <a:pt x="350" y="152"/>
                  </a:lnTo>
                  <a:lnTo>
                    <a:pt x="854" y="0"/>
                  </a:lnTo>
                  <a:lnTo>
                    <a:pt x="1217" y="152"/>
                  </a:lnTo>
                  <a:lnTo>
                    <a:pt x="0" y="492"/>
                  </a:lnTo>
                  <a:close/>
                </a:path>
              </a:pathLst>
            </a:custGeom>
            <a:solidFill>
              <a:srgbClr val="F7A85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6" name="Freeform 47"/>
            <p:cNvSpPr>
              <a:spLocks/>
            </p:cNvSpPr>
            <p:nvPr/>
          </p:nvSpPr>
          <p:spPr bwMode="auto">
            <a:xfrm>
              <a:off x="2825" y="1741"/>
              <a:ext cx="1083" cy="755"/>
            </a:xfrm>
            <a:custGeom>
              <a:avLst/>
              <a:gdLst>
                <a:gd name="T0" fmla="*/ 1 w 2165"/>
                <a:gd name="T1" fmla="*/ 0 h 1511"/>
                <a:gd name="T2" fmla="*/ 2 w 2165"/>
                <a:gd name="T3" fmla="*/ 0 h 1511"/>
                <a:gd name="T4" fmla="*/ 2 w 2165"/>
                <a:gd name="T5" fmla="*/ 0 h 1511"/>
                <a:gd name="T6" fmla="*/ 1 w 2165"/>
                <a:gd name="T7" fmla="*/ 0 h 1511"/>
                <a:gd name="T8" fmla="*/ 1 w 2165"/>
                <a:gd name="T9" fmla="*/ 0 h 1511"/>
                <a:gd name="T10" fmla="*/ 1 w 2165"/>
                <a:gd name="T11" fmla="*/ 0 h 1511"/>
                <a:gd name="T12" fmla="*/ 1 w 2165"/>
                <a:gd name="T13" fmla="*/ 0 h 1511"/>
                <a:gd name="T14" fmla="*/ 1 w 2165"/>
                <a:gd name="T15" fmla="*/ 0 h 1511"/>
                <a:gd name="T16" fmla="*/ 0 w 2165"/>
                <a:gd name="T17" fmla="*/ 0 h 1511"/>
                <a:gd name="T18" fmla="*/ 1 w 2165"/>
                <a:gd name="T19" fmla="*/ 0 h 1511"/>
                <a:gd name="T20" fmla="*/ 1 w 2165"/>
                <a:gd name="T21" fmla="*/ 0 h 1511"/>
                <a:gd name="T22" fmla="*/ 1 w 2165"/>
                <a:gd name="T23" fmla="*/ 0 h 1511"/>
                <a:gd name="T24" fmla="*/ 1 w 2165"/>
                <a:gd name="T25" fmla="*/ 0 h 1511"/>
                <a:gd name="T26" fmla="*/ 1 w 2165"/>
                <a:gd name="T27" fmla="*/ 0 h 1511"/>
                <a:gd name="T28" fmla="*/ 1 w 2165"/>
                <a:gd name="T29" fmla="*/ 0 h 1511"/>
                <a:gd name="T30" fmla="*/ 1 w 2165"/>
                <a:gd name="T31" fmla="*/ 0 h 1511"/>
                <a:gd name="T32" fmla="*/ 2 w 2165"/>
                <a:gd name="T33" fmla="*/ 0 h 1511"/>
                <a:gd name="T34" fmla="*/ 1 w 2165"/>
                <a:gd name="T35" fmla="*/ 0 h 1511"/>
                <a:gd name="T36" fmla="*/ 1 w 2165"/>
                <a:gd name="T37" fmla="*/ 0 h 1511"/>
                <a:gd name="T38" fmla="*/ 1 w 2165"/>
                <a:gd name="T39" fmla="*/ 0 h 1511"/>
                <a:gd name="T40" fmla="*/ 1 w 2165"/>
                <a:gd name="T41" fmla="*/ 0 h 151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165"/>
                <a:gd name="T64" fmla="*/ 0 h 1511"/>
                <a:gd name="T65" fmla="*/ 2165 w 2165"/>
                <a:gd name="T66" fmla="*/ 1511 h 1511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165" h="1511">
                  <a:moveTo>
                    <a:pt x="1209" y="0"/>
                  </a:moveTo>
                  <a:lnTo>
                    <a:pt x="2122" y="243"/>
                  </a:lnTo>
                  <a:lnTo>
                    <a:pt x="2165" y="386"/>
                  </a:lnTo>
                  <a:lnTo>
                    <a:pt x="1722" y="536"/>
                  </a:lnTo>
                  <a:lnTo>
                    <a:pt x="1665" y="650"/>
                  </a:lnTo>
                  <a:lnTo>
                    <a:pt x="1694" y="779"/>
                  </a:lnTo>
                  <a:lnTo>
                    <a:pt x="1758" y="872"/>
                  </a:lnTo>
                  <a:lnTo>
                    <a:pt x="1886" y="942"/>
                  </a:lnTo>
                  <a:lnTo>
                    <a:pt x="0" y="1511"/>
                  </a:lnTo>
                  <a:lnTo>
                    <a:pt x="1736" y="922"/>
                  </a:lnTo>
                  <a:lnTo>
                    <a:pt x="1622" y="851"/>
                  </a:lnTo>
                  <a:lnTo>
                    <a:pt x="1066" y="971"/>
                  </a:lnTo>
                  <a:lnTo>
                    <a:pt x="1593" y="771"/>
                  </a:lnTo>
                  <a:lnTo>
                    <a:pt x="1601" y="608"/>
                  </a:lnTo>
                  <a:lnTo>
                    <a:pt x="473" y="857"/>
                  </a:lnTo>
                  <a:lnTo>
                    <a:pt x="445" y="737"/>
                  </a:lnTo>
                  <a:lnTo>
                    <a:pt x="2114" y="291"/>
                  </a:lnTo>
                  <a:lnTo>
                    <a:pt x="1264" y="87"/>
                  </a:lnTo>
                  <a:lnTo>
                    <a:pt x="610" y="302"/>
                  </a:lnTo>
                  <a:lnTo>
                    <a:pt x="120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7" name="Freeform 48"/>
            <p:cNvSpPr>
              <a:spLocks/>
            </p:cNvSpPr>
            <p:nvPr/>
          </p:nvSpPr>
          <p:spPr bwMode="auto">
            <a:xfrm>
              <a:off x="3348" y="2415"/>
              <a:ext cx="191" cy="91"/>
            </a:xfrm>
            <a:custGeom>
              <a:avLst/>
              <a:gdLst>
                <a:gd name="T0" fmla="*/ 0 w 383"/>
                <a:gd name="T1" fmla="*/ 0 h 183"/>
                <a:gd name="T2" fmla="*/ 0 w 383"/>
                <a:gd name="T3" fmla="*/ 0 h 183"/>
                <a:gd name="T4" fmla="*/ 0 w 383"/>
                <a:gd name="T5" fmla="*/ 0 h 183"/>
                <a:gd name="T6" fmla="*/ 0 w 383"/>
                <a:gd name="T7" fmla="*/ 0 h 183"/>
                <a:gd name="T8" fmla="*/ 0 w 383"/>
                <a:gd name="T9" fmla="*/ 0 h 183"/>
                <a:gd name="T10" fmla="*/ 0 w 383"/>
                <a:gd name="T11" fmla="*/ 0 h 183"/>
                <a:gd name="T12" fmla="*/ 0 w 383"/>
                <a:gd name="T13" fmla="*/ 0 h 1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83"/>
                <a:gd name="T22" fmla="*/ 0 h 183"/>
                <a:gd name="T23" fmla="*/ 383 w 383"/>
                <a:gd name="T24" fmla="*/ 183 h 18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83" h="183">
                  <a:moveTo>
                    <a:pt x="253" y="0"/>
                  </a:moveTo>
                  <a:lnTo>
                    <a:pt x="383" y="156"/>
                  </a:lnTo>
                  <a:lnTo>
                    <a:pt x="0" y="183"/>
                  </a:lnTo>
                  <a:lnTo>
                    <a:pt x="217" y="114"/>
                  </a:lnTo>
                  <a:lnTo>
                    <a:pt x="166" y="17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45" name="WordArt 49"/>
          <p:cNvSpPr>
            <a:spLocks noChangeArrowheads="1" noChangeShapeType="1" noTextEdit="1"/>
          </p:cNvSpPr>
          <p:nvPr/>
        </p:nvSpPr>
        <p:spPr bwMode="auto">
          <a:xfrm>
            <a:off x="2819400" y="609600"/>
            <a:ext cx="32766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CHAPTER 5</a:t>
            </a:r>
          </a:p>
        </p:txBody>
      </p:sp>
    </p:spTree>
  </p:cSld>
  <p:clrMapOvr>
    <a:masterClrMapping/>
  </p:clrMapOvr>
  <p:transition spd="med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nimBg="1"/>
      <p:bldP spid="414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828800" y="776288"/>
            <a:ext cx="5376863" cy="823912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cs typeface="Times New Roman" pitchFamily="18" charset="0"/>
              </a:rPr>
              <a:t>Session Objectives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838200" y="2376488"/>
            <a:ext cx="70246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Explain Declaration,Initialization of Array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914400" y="3124200"/>
            <a:ext cx="4111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Explain Types of Array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914400" y="3810000"/>
            <a:ext cx="75819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One Dimensional,Two Dimensional and Multi </a:t>
            </a:r>
          </a:p>
          <a:p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  Dimensional Array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838200" y="1766888"/>
            <a:ext cx="29559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80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Explain Arrays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3" grpId="0" autoUpdateAnimBg="0"/>
      <p:bldP spid="5124" grpId="0" autoUpdateAnimBg="0"/>
      <p:bldP spid="5125" grpId="0" autoUpdateAnimBg="0"/>
      <p:bldP spid="5126" grpId="0" autoUpdateAnimBg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457200" y="457200"/>
            <a:ext cx="8686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	Array is defined as a set of homogeneous data items.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457200" y="1066800"/>
            <a:ext cx="86868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        Array is a group of elements of similar data type that are differentiated from one another by their positions within the array.</a:t>
            </a:r>
          </a:p>
        </p:txBody>
      </p:sp>
      <p:sp>
        <p:nvSpPr>
          <p:cNvPr id="4100" name="WordArt 4" descr="White marble"/>
          <p:cNvSpPr>
            <a:spLocks noChangeArrowheads="1" noChangeShapeType="1" noTextEdit="1"/>
          </p:cNvSpPr>
          <p:nvPr/>
        </p:nvSpPr>
        <p:spPr bwMode="auto">
          <a:xfrm>
            <a:off x="533400" y="2286000"/>
            <a:ext cx="4191000" cy="3619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20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blipFill dpi="0" rotWithShape="0">
                  <a:blip r:embed="rId2"/>
                  <a:srcRect/>
                  <a:tile tx="0" ty="0" sx="100000" sy="100000" flip="none" algn="tl"/>
                </a:blipFill>
                <a:latin typeface="Arial Black"/>
              </a:rPr>
              <a:t>DECLARATION OF AN ARRAY</a:t>
            </a:r>
          </a:p>
        </p:txBody>
      </p:sp>
      <p:sp>
        <p:nvSpPr>
          <p:cNvPr id="4101" name="AutoShape 5"/>
          <p:cNvSpPr>
            <a:spLocks noChangeArrowheads="1"/>
          </p:cNvSpPr>
          <p:nvPr/>
        </p:nvSpPr>
        <p:spPr bwMode="auto">
          <a:xfrm>
            <a:off x="2438400" y="2895600"/>
            <a:ext cx="5029200" cy="609600"/>
          </a:xfrm>
          <a:prstGeom prst="cloudCallout">
            <a:avLst>
              <a:gd name="adj1" fmla="val -51611"/>
              <a:gd name="adj2" fmla="val -6927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en-US" sz="1600" b="1"/>
              <a:t>Datatype arrayname[subscript];</a:t>
            </a:r>
          </a:p>
        </p:txBody>
      </p:sp>
      <p:sp>
        <p:nvSpPr>
          <p:cNvPr id="4102" name="WordArt 6"/>
          <p:cNvSpPr>
            <a:spLocks noChangeArrowheads="1" noChangeShapeType="1" noTextEdit="1"/>
          </p:cNvSpPr>
          <p:nvPr/>
        </p:nvSpPr>
        <p:spPr bwMode="auto">
          <a:xfrm>
            <a:off x="457200" y="3981450"/>
            <a:ext cx="4191000" cy="2857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20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latin typeface="Arial Black"/>
              </a:rPr>
              <a:t>POINTS TO BE NOTED  :</a:t>
            </a: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609600" y="4343400"/>
            <a:ext cx="8077200" cy="1812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AutoNum type="arabicParenR"/>
            </a:pPr>
            <a:r>
              <a:rPr lang="en-US" sz="1600" b="1"/>
              <a:t>Array name should be a valid “C” variable</a:t>
            </a:r>
          </a:p>
          <a:p>
            <a:pPr marL="342900" indent="-342900">
              <a:spcBef>
                <a:spcPct val="50000"/>
              </a:spcBef>
              <a:buFontTx/>
              <a:buAutoNum type="arabicParenR"/>
            </a:pPr>
            <a:r>
              <a:rPr lang="en-US" sz="1600" b="1"/>
              <a:t>Array name should be unique</a:t>
            </a:r>
          </a:p>
          <a:p>
            <a:pPr marL="342900" indent="-342900">
              <a:spcBef>
                <a:spcPct val="50000"/>
              </a:spcBef>
              <a:buFontTx/>
              <a:buAutoNum type="arabicParenR"/>
            </a:pPr>
            <a:r>
              <a:rPr lang="en-US" sz="1600" b="1"/>
              <a:t>The elements in the array should be of same type</a:t>
            </a:r>
          </a:p>
          <a:p>
            <a:pPr marL="342900" indent="-342900">
              <a:spcBef>
                <a:spcPct val="50000"/>
              </a:spcBef>
              <a:buFontTx/>
              <a:buAutoNum type="arabicParenR"/>
            </a:pPr>
            <a:r>
              <a:rPr lang="en-US" sz="1600" b="1"/>
              <a:t>Subscript (array size) cannot be negative</a:t>
            </a:r>
          </a:p>
          <a:p>
            <a:pPr marL="342900" indent="-342900">
              <a:spcBef>
                <a:spcPct val="50000"/>
              </a:spcBef>
              <a:buFontTx/>
              <a:buAutoNum type="arabicParenR"/>
            </a:pPr>
            <a:r>
              <a:rPr lang="en-US" sz="1600" b="1"/>
              <a:t>Subscript must always be an integer</a:t>
            </a: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WordArt 2"/>
          <p:cNvSpPr>
            <a:spLocks noChangeArrowheads="1" noChangeShapeType="1" noTextEdit="1"/>
          </p:cNvSpPr>
          <p:nvPr/>
        </p:nvSpPr>
        <p:spPr bwMode="auto">
          <a:xfrm>
            <a:off x="2057400" y="609600"/>
            <a:ext cx="5029200" cy="5715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0501">
                      <a:srgbClr val="0819FB"/>
                    </a:gs>
                    <a:gs pos="17500">
                      <a:srgbClr val="1A8D48"/>
                    </a:gs>
                    <a:gs pos="25999">
                      <a:srgbClr val="FFFF00"/>
                    </a:gs>
                    <a:gs pos="36501">
                      <a:srgbClr val="EE3F17"/>
                    </a:gs>
                    <a:gs pos="44000">
                      <a:srgbClr val="E81766"/>
                    </a:gs>
                    <a:gs pos="50000">
                      <a:srgbClr val="A603AB"/>
                    </a:gs>
                    <a:gs pos="56000">
                      <a:srgbClr val="E81766"/>
                    </a:gs>
                    <a:gs pos="63499">
                      <a:srgbClr val="EE3F17"/>
                    </a:gs>
                    <a:gs pos="74001">
                      <a:srgbClr val="FFFF00"/>
                    </a:gs>
                    <a:gs pos="82500">
                      <a:srgbClr val="1A8D48"/>
                    </a:gs>
                    <a:gs pos="89500">
                      <a:srgbClr val="0819FB"/>
                    </a:gs>
                    <a:gs pos="100000">
                      <a:srgbClr val="A603AB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TYPES OF ARRAY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676400" y="1600200"/>
            <a:ext cx="5791200" cy="3352800"/>
            <a:chOff x="1056" y="1008"/>
            <a:chExt cx="3648" cy="2112"/>
          </a:xfrm>
        </p:grpSpPr>
        <p:sp>
          <p:nvSpPr>
            <p:cNvPr id="5124" name="WordArt 4"/>
            <p:cNvSpPr>
              <a:spLocks noChangeArrowheads="1" noChangeShapeType="1" noTextEdit="1"/>
            </p:cNvSpPr>
            <p:nvPr/>
          </p:nvSpPr>
          <p:spPr bwMode="auto">
            <a:xfrm>
              <a:off x="1344" y="1296"/>
              <a:ext cx="3168" cy="414"/>
            </a:xfrm>
            <a:prstGeom prst="rect">
              <a:avLst/>
            </a:prstGeom>
          </p:spPr>
          <p:txBody>
            <a:bodyPr wrap="none" fromWordArt="1">
              <a:prstTxWarp prst="textDoubleWave1">
                <a:avLst>
                  <a:gd name="adj1" fmla="val 6500"/>
                  <a:gd name="adj2" fmla="val 0"/>
                </a:avLst>
              </a:prstTxWarp>
            </a:bodyPr>
            <a:lstStyle/>
            <a:p>
              <a:pPr algn="ctr"/>
              <a:r>
                <a:rPr lang="en-IN" sz="3600" b="1" kern="10">
                  <a:ln w="12700">
                    <a:solidFill>
                      <a:srgbClr val="000099"/>
                    </a:solidFill>
                    <a:round/>
                    <a:headEnd/>
                    <a:tailEnd/>
                  </a:ln>
                  <a:solidFill>
                    <a:srgbClr val="F7FEFF"/>
                  </a:solidFill>
                  <a:effectLst>
                    <a:outerShdw dist="125724" dir="18900000" algn="ctr" rotWithShape="0">
                      <a:srgbClr val="000099"/>
                    </a:outerShdw>
                  </a:effectLst>
                  <a:latin typeface="Impact"/>
                </a:rPr>
                <a:t>One Dimensional Array</a:t>
              </a:r>
            </a:p>
          </p:txBody>
        </p:sp>
        <p:sp>
          <p:nvSpPr>
            <p:cNvPr id="5125" name="WordArt 5"/>
            <p:cNvSpPr>
              <a:spLocks noChangeArrowheads="1" noChangeShapeType="1" noTextEdit="1"/>
            </p:cNvSpPr>
            <p:nvPr/>
          </p:nvSpPr>
          <p:spPr bwMode="auto">
            <a:xfrm>
              <a:off x="1344" y="1986"/>
              <a:ext cx="3168" cy="414"/>
            </a:xfrm>
            <a:prstGeom prst="rect">
              <a:avLst/>
            </a:prstGeom>
          </p:spPr>
          <p:txBody>
            <a:bodyPr wrap="none" fromWordArt="1">
              <a:prstTxWarp prst="textDoubleWave1">
                <a:avLst>
                  <a:gd name="adj1" fmla="val 6500"/>
                  <a:gd name="adj2" fmla="val 0"/>
                </a:avLst>
              </a:prstTxWarp>
            </a:bodyPr>
            <a:lstStyle/>
            <a:p>
              <a:pPr algn="ctr"/>
              <a:r>
                <a:rPr lang="en-IN" sz="3600" b="1" kern="10">
                  <a:ln w="12700">
                    <a:solidFill>
                      <a:srgbClr val="000099"/>
                    </a:solidFill>
                    <a:round/>
                    <a:headEnd/>
                    <a:tailEnd/>
                  </a:ln>
                  <a:solidFill>
                    <a:srgbClr val="F7FEFF"/>
                  </a:solidFill>
                  <a:effectLst>
                    <a:outerShdw dist="125724" dir="18900000" algn="ctr" rotWithShape="0">
                      <a:srgbClr val="000099"/>
                    </a:outerShdw>
                  </a:effectLst>
                  <a:latin typeface="Impact"/>
                </a:rPr>
                <a:t>Two Dimensional Array</a:t>
              </a:r>
            </a:p>
          </p:txBody>
        </p:sp>
        <p:sp>
          <p:nvSpPr>
            <p:cNvPr id="5126" name="WordArt 6"/>
            <p:cNvSpPr>
              <a:spLocks noChangeArrowheads="1" noChangeShapeType="1" noTextEdit="1"/>
            </p:cNvSpPr>
            <p:nvPr/>
          </p:nvSpPr>
          <p:spPr bwMode="auto">
            <a:xfrm>
              <a:off x="1344" y="2688"/>
              <a:ext cx="3168" cy="414"/>
            </a:xfrm>
            <a:prstGeom prst="rect">
              <a:avLst/>
            </a:prstGeom>
          </p:spPr>
          <p:txBody>
            <a:bodyPr wrap="none" fromWordArt="1">
              <a:prstTxWarp prst="textDoubleWave1">
                <a:avLst>
                  <a:gd name="adj1" fmla="val 6500"/>
                  <a:gd name="adj2" fmla="val 0"/>
                </a:avLst>
              </a:prstTxWarp>
            </a:bodyPr>
            <a:lstStyle/>
            <a:p>
              <a:pPr algn="ctr"/>
              <a:r>
                <a:rPr lang="en-IN" sz="3600" b="1" kern="10">
                  <a:ln w="12700">
                    <a:solidFill>
                      <a:srgbClr val="000099"/>
                    </a:solidFill>
                    <a:round/>
                    <a:headEnd/>
                    <a:tailEnd/>
                  </a:ln>
                  <a:solidFill>
                    <a:srgbClr val="F7FEFF"/>
                  </a:solidFill>
                  <a:effectLst>
                    <a:outerShdw dist="125724" dir="18900000" algn="ctr" rotWithShape="0">
                      <a:srgbClr val="000099"/>
                    </a:outerShdw>
                  </a:effectLst>
                  <a:latin typeface="Impact"/>
                </a:rPr>
                <a:t>Multi Dimensional Array</a:t>
              </a:r>
            </a:p>
          </p:txBody>
        </p:sp>
        <p:sp>
          <p:nvSpPr>
            <p:cNvPr id="5127" name="AutoShape 7"/>
            <p:cNvSpPr>
              <a:spLocks noChangeArrowheads="1"/>
            </p:cNvSpPr>
            <p:nvPr/>
          </p:nvSpPr>
          <p:spPr bwMode="auto">
            <a:xfrm>
              <a:off x="1056" y="1008"/>
              <a:ext cx="3648" cy="2112"/>
            </a:xfrm>
            <a:prstGeom prst="flowChartPunchedCard">
              <a:avLst/>
            </a:prstGeom>
            <a:noFill/>
            <a:ln w="57150" cmpd="thickThin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 spd="med">
    <p:blinds dir="vert"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949325" y="304800"/>
            <a:ext cx="689927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4000" b="1">
                <a:solidFill>
                  <a:srgbClr val="D60093"/>
                </a:solidFill>
                <a:latin typeface="Arial Unicode MS" pitchFamily="34" charset="-128"/>
              </a:rPr>
              <a:t>String Using Array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457200" y="990600"/>
            <a:ext cx="81518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FFFF00"/>
                </a:solidFill>
                <a:latin typeface="Times New Roman" pitchFamily="18" charset="0"/>
              </a:rPr>
              <a:t> </a:t>
            </a: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A string can be defined as a character type array, which is </a:t>
            </a:r>
            <a:br>
              <a:rPr lang="en-US" sz="2400" b="1">
                <a:solidFill>
                  <a:srgbClr val="000099"/>
                </a:solidFill>
                <a:latin typeface="Times New Roman" pitchFamily="18" charset="0"/>
              </a:rPr>
            </a:br>
            <a:r>
              <a:rPr lang="en-US" sz="2400" b="1">
                <a:solidFill>
                  <a:srgbClr val="000099"/>
                </a:solidFill>
                <a:latin typeface="Times New Roman" pitchFamily="18" charset="0"/>
              </a:rPr>
              <a:t>    terminated by a null character.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1828800"/>
            <a:ext cx="4343400" cy="284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152400" y="480060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FFFF00"/>
                </a:solidFill>
                <a:latin typeface="Times New Roman" pitchFamily="18" charset="0"/>
              </a:rPr>
              <a:t> Output -</a:t>
            </a: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5257800"/>
            <a:ext cx="4343400" cy="94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1" name="Rectangle 2"/>
          <p:cNvSpPr>
            <a:spLocks noChangeArrowheads="1"/>
          </p:cNvSpPr>
          <p:nvPr/>
        </p:nvSpPr>
        <p:spPr bwMode="auto">
          <a:xfrm>
            <a:off x="4648200" y="1828800"/>
            <a:ext cx="4191000" cy="4502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/>
              <a:t>Program for String using one dimension array and find it’s length.</a:t>
            </a:r>
          </a:p>
          <a:p>
            <a:r>
              <a:rPr lang="en-US" sz="1600" b="1"/>
              <a:t>#include&lt;stdio.h&gt;</a:t>
            </a:r>
          </a:p>
          <a:p>
            <a:r>
              <a:rPr lang="en-US" sz="1600" b="1"/>
              <a:t>#include&lt;conio.h&gt;</a:t>
            </a:r>
          </a:p>
          <a:p>
            <a:r>
              <a:rPr lang="en-US" sz="1600" b="1"/>
              <a:t>void main()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char name[20];</a:t>
            </a:r>
          </a:p>
          <a:p>
            <a:r>
              <a:rPr lang="en-US" sz="1600" b="1"/>
              <a:t>Int I;</a:t>
            </a:r>
          </a:p>
          <a:p>
            <a:r>
              <a:rPr lang="en-US" sz="1600" b="1"/>
              <a:t>clrscr();</a:t>
            </a:r>
          </a:p>
          <a:p>
            <a:r>
              <a:rPr lang="en-US" sz="1600" b="1"/>
              <a:t>printf(“\nEnter your name:”);</a:t>
            </a:r>
          </a:p>
          <a:p>
            <a:r>
              <a:rPr lang="en-US" sz="1600" b="1"/>
              <a:t>scanf(“%s”,&amp;name);</a:t>
            </a:r>
          </a:p>
          <a:p>
            <a:r>
              <a:rPr lang="en-US" sz="1600" b="1"/>
              <a:t>for(i=0; name[i]!=NULL; i++)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printf(“\nYour Name is:%s”,name);</a:t>
            </a:r>
          </a:p>
          <a:p>
            <a:r>
              <a:rPr lang="en-US" sz="1600" b="1"/>
              <a:t>printf(“\nLength is:%d”,i);</a:t>
            </a:r>
          </a:p>
          <a:p>
            <a:r>
              <a:rPr lang="en-US" sz="1600" b="1"/>
              <a:t>getch();</a:t>
            </a:r>
          </a:p>
          <a:p>
            <a:r>
              <a:rPr lang="en-US" sz="1600" b="1"/>
              <a:t>}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884238" y="304800"/>
            <a:ext cx="7269162" cy="588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>
                <a:solidFill>
                  <a:srgbClr val="CC0000"/>
                </a:solidFill>
                <a:latin typeface="Arial Unicode MS" pitchFamily="34" charset="-128"/>
              </a:rPr>
              <a:t>Single or One  Dimensional Arrays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609600" y="1516063"/>
            <a:ext cx="7848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Tx/>
              <a:buBlip>
                <a:blip r:embed="rId2"/>
              </a:buBlip>
            </a:pPr>
            <a:r>
              <a:rPr lang="en-US" sz="2400" b="1">
                <a:solidFill>
                  <a:srgbClr val="CC0000"/>
                </a:solidFill>
                <a:latin typeface="Times New Roman" pitchFamily="18" charset="0"/>
              </a:rPr>
              <a:t> Arrays whose elements are specified by one subscript are called One dimensional array or linear array.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609600" y="2468563"/>
            <a:ext cx="7848600" cy="88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CC0000"/>
                </a:solidFill>
                <a:latin typeface="Times New Roman" pitchFamily="18" charset="0"/>
              </a:rPr>
              <a:t> </a:t>
            </a:r>
            <a:r>
              <a:rPr lang="en-US" sz="2400" b="1" u="sng">
                <a:solidFill>
                  <a:srgbClr val="CC0000"/>
                </a:solidFill>
                <a:latin typeface="Times New Roman" pitchFamily="18" charset="0"/>
              </a:rPr>
              <a:t>Syntax :</a:t>
            </a:r>
          </a:p>
          <a:p>
            <a:r>
              <a:rPr lang="en-US" sz="2800" b="1">
                <a:solidFill>
                  <a:srgbClr val="CC0000"/>
                </a:solidFill>
                <a:latin typeface="Times New Roman" pitchFamily="18" charset="0"/>
              </a:rPr>
              <a:t>                     datatype arrayname[size];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609600" y="3568700"/>
            <a:ext cx="784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 b="1" i="1">
                <a:solidFill>
                  <a:srgbClr val="CC0000"/>
                </a:solidFill>
                <a:latin typeface="Times New Roman" pitchFamily="18" charset="0"/>
              </a:rPr>
              <a:t>For Example :</a:t>
            </a:r>
          </a:p>
        </p:txBody>
      </p:sp>
      <p:sp>
        <p:nvSpPr>
          <p:cNvPr id="7174" name="WordArt 6"/>
          <p:cNvSpPr>
            <a:spLocks noChangeArrowheads="1" noChangeShapeType="1" noTextEdit="1"/>
          </p:cNvSpPr>
          <p:nvPr/>
        </p:nvSpPr>
        <p:spPr bwMode="auto">
          <a:xfrm>
            <a:off x="2743200" y="4314825"/>
            <a:ext cx="3714750" cy="6381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CC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Arial Black"/>
              </a:rPr>
              <a:t>int a [3] </a:t>
            </a: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762000" y="5287963"/>
            <a:ext cx="7848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 b="1" i="1" u="sng">
                <a:solidFill>
                  <a:srgbClr val="CC0000"/>
                </a:solidFill>
                <a:latin typeface="Times New Roman" pitchFamily="18" charset="0"/>
              </a:rPr>
              <a:t>Note :</a:t>
            </a:r>
          </a:p>
          <a:p>
            <a:r>
              <a:rPr lang="en-US" sz="2400" b="1">
                <a:solidFill>
                  <a:srgbClr val="CC0000"/>
                </a:solidFill>
                <a:latin typeface="Times New Roman" pitchFamily="18" charset="0"/>
              </a:rPr>
              <a:t>      By default array index should starts with zero (0)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304800" y="0"/>
            <a:ext cx="4191000" cy="5016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/>
              <a:t>Write a program for entering data into an array &amp; Reading data from an array</a:t>
            </a:r>
          </a:p>
          <a:p>
            <a:r>
              <a:rPr lang="en-US" sz="1600" b="1"/>
              <a:t>#include&lt;stdio.h&gt;</a:t>
            </a:r>
          </a:p>
          <a:p>
            <a:r>
              <a:rPr lang="en-US" sz="1600" b="1"/>
              <a:t>#include&lt;conio.h&gt;</a:t>
            </a:r>
          </a:p>
          <a:p>
            <a:r>
              <a:rPr lang="en-US" sz="1600" b="1"/>
              <a:t>void main()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int arr[10],i,n;clrscr();</a:t>
            </a:r>
          </a:p>
          <a:p>
            <a:r>
              <a:rPr lang="en-US" sz="1600" b="1"/>
              <a:t>printf("\n Enter no of elements");</a:t>
            </a:r>
          </a:p>
          <a:p>
            <a:r>
              <a:rPr lang="en-US" sz="1600" b="1"/>
              <a:t>scanf("%d",&amp;n);</a:t>
            </a:r>
          </a:p>
          <a:p>
            <a:r>
              <a:rPr lang="en-US" sz="1600" b="1"/>
              <a:t>printf(“\n Enter the elements”);</a:t>
            </a:r>
          </a:p>
          <a:p>
            <a:r>
              <a:rPr lang="en-US" sz="1600" b="1"/>
              <a:t>for(i=0;i&lt;n;i++)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scanf("%d",&amp;arr[i]);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printf(“The array is”);</a:t>
            </a:r>
          </a:p>
          <a:p>
            <a:r>
              <a:rPr lang="en-US" sz="1600" b="1"/>
              <a:t>for(i=0;i&lt;n;i++)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Printf(“\n%d",arr[i]);</a:t>
            </a:r>
          </a:p>
          <a:p>
            <a:r>
              <a:rPr lang="en-US" sz="1600" b="1"/>
              <a:t>}getch();</a:t>
            </a:r>
          </a:p>
          <a:p>
            <a:r>
              <a:rPr lang="en-US" sz="1600" b="1"/>
              <a:t>}</a:t>
            </a:r>
          </a:p>
        </p:txBody>
      </p:sp>
      <p:sp>
        <p:nvSpPr>
          <p:cNvPr id="8195" name="WordArt 3"/>
          <p:cNvSpPr>
            <a:spLocks noChangeArrowheads="1" noChangeShapeType="1" noTextEdit="1"/>
          </p:cNvSpPr>
          <p:nvPr/>
        </p:nvSpPr>
        <p:spPr bwMode="auto">
          <a:xfrm>
            <a:off x="304800" y="4953000"/>
            <a:ext cx="1295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Input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304800" y="4953000"/>
            <a:ext cx="2286000" cy="11223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sz="1600" b="1">
                <a:solidFill>
                  <a:schemeClr val="bg1"/>
                </a:solidFill>
              </a:rPr>
              <a:t>Enter N Elements   : 3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sz="1600" b="1">
                <a:solidFill>
                  <a:schemeClr val="bg1"/>
                </a:solidFill>
              </a:rPr>
              <a:t>Enter arr[0]  :  2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chemeClr val="bg1"/>
                </a:solidFill>
              </a:rPr>
              <a:t>Enter arr[1]  :  5</a:t>
            </a: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chemeClr val="bg1"/>
                </a:solidFill>
              </a:rPr>
              <a:t>Enter arr[2]  :  3</a:t>
            </a:r>
          </a:p>
        </p:txBody>
      </p:sp>
      <p:sp>
        <p:nvSpPr>
          <p:cNvPr id="8197" name="WordArt 5"/>
          <p:cNvSpPr>
            <a:spLocks noChangeArrowheads="1" noChangeShapeType="1" noTextEdit="1"/>
          </p:cNvSpPr>
          <p:nvPr/>
        </p:nvSpPr>
        <p:spPr bwMode="auto">
          <a:xfrm>
            <a:off x="2819400" y="4876800"/>
            <a:ext cx="1295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Output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2895600" y="4876800"/>
            <a:ext cx="1676400" cy="873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en-US" b="1"/>
              <a:t>2</a:t>
            </a:r>
          </a:p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en-US" b="1"/>
              <a:t>5</a:t>
            </a:r>
          </a:p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en-US" b="1"/>
              <a:t>3</a:t>
            </a:r>
            <a:endParaRPr lang="en-US" sz="2000" b="1"/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4800600" y="228600"/>
            <a:ext cx="4191000" cy="4251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/>
              <a:t>Array Initialization</a:t>
            </a:r>
          </a:p>
          <a:p>
            <a:endParaRPr lang="en-US" b="1"/>
          </a:p>
          <a:p>
            <a:r>
              <a:rPr lang="en-US" b="1"/>
              <a:t>#include&lt;stdio.h&gt;</a:t>
            </a:r>
          </a:p>
          <a:p>
            <a:r>
              <a:rPr lang="en-US" b="1"/>
              <a:t>#include&lt;conio.h&gt;</a:t>
            </a:r>
          </a:p>
          <a:p>
            <a:r>
              <a:rPr lang="en-US" b="1"/>
              <a:t>void main()</a:t>
            </a:r>
          </a:p>
          <a:p>
            <a:r>
              <a:rPr lang="en-US" b="1"/>
              <a:t>{</a:t>
            </a:r>
          </a:p>
          <a:p>
            <a:r>
              <a:rPr lang="en-US" b="1"/>
              <a:t>int a[5]={10,20,30,40,50};</a:t>
            </a:r>
          </a:p>
          <a:p>
            <a:r>
              <a:rPr lang="en-US" b="1"/>
              <a:t>int i;</a:t>
            </a:r>
          </a:p>
          <a:p>
            <a:r>
              <a:rPr lang="en-US" b="1"/>
              <a:t>clrscr();</a:t>
            </a:r>
          </a:p>
          <a:p>
            <a:r>
              <a:rPr lang="en-US" b="1"/>
              <a:t>for(i=0;i&lt;5;i++)</a:t>
            </a:r>
          </a:p>
          <a:p>
            <a:r>
              <a:rPr lang="en-US" b="1"/>
              <a:t>{</a:t>
            </a:r>
          </a:p>
          <a:p>
            <a:r>
              <a:rPr lang="en-US" b="1"/>
              <a:t>printf("%d\n",a[i]);</a:t>
            </a:r>
          </a:p>
          <a:p>
            <a:r>
              <a:rPr lang="en-US" b="1"/>
              <a:t>}</a:t>
            </a:r>
          </a:p>
          <a:p>
            <a:r>
              <a:rPr lang="en-US" b="1"/>
              <a:t>getch();</a:t>
            </a:r>
          </a:p>
          <a:p>
            <a:r>
              <a:rPr lang="en-US" b="1"/>
              <a:t>}</a:t>
            </a:r>
          </a:p>
        </p:txBody>
      </p:sp>
      <p:sp>
        <p:nvSpPr>
          <p:cNvPr id="8200" name="WordArt 8"/>
          <p:cNvSpPr>
            <a:spLocks noChangeArrowheads="1" noChangeShapeType="1" noTextEdit="1"/>
          </p:cNvSpPr>
          <p:nvPr/>
        </p:nvSpPr>
        <p:spPr bwMode="auto">
          <a:xfrm>
            <a:off x="5486400" y="4495800"/>
            <a:ext cx="1295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Output</a:t>
            </a:r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5562600" y="4953000"/>
            <a:ext cx="1676400" cy="1479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en-US" b="1"/>
              <a:t>10</a:t>
            </a:r>
          </a:p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en-US" b="1"/>
              <a:t>20</a:t>
            </a:r>
          </a:p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en-US" b="1"/>
              <a:t>30</a:t>
            </a:r>
          </a:p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en-US" b="1"/>
              <a:t>40</a:t>
            </a:r>
          </a:p>
          <a:p>
            <a:pPr algn="ctr">
              <a:lnSpc>
                <a:spcPct val="60000"/>
              </a:lnSpc>
              <a:spcBef>
                <a:spcPct val="50000"/>
              </a:spcBef>
            </a:pPr>
            <a:r>
              <a:rPr lang="en-US" b="1"/>
              <a:t>50</a:t>
            </a:r>
            <a:endParaRPr lang="en-US" sz="2000" b="1"/>
          </a:p>
        </p:txBody>
      </p:sp>
    </p:spTree>
  </p:cSld>
  <p:clrMapOvr>
    <a:masterClrMapping/>
  </p:clrMapOvr>
  <p:transition spd="med">
    <p:push dir="d"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292100" y="92075"/>
            <a:ext cx="4572000" cy="6124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Write a “C” program to sort the given number is in ascending order using one dimensional array</a:t>
            </a:r>
          </a:p>
          <a:p>
            <a:r>
              <a:rPr lang="en-US" sz="1400" b="1"/>
              <a:t>#include&lt;stdio.h&gt;</a:t>
            </a:r>
          </a:p>
          <a:p>
            <a:r>
              <a:rPr lang="en-US" sz="1400" b="1"/>
              <a:t>#include&lt;conio.h&gt;</a:t>
            </a:r>
          </a:p>
          <a:p>
            <a:r>
              <a:rPr lang="en-US" sz="1400" b="1"/>
              <a:t>void main()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int i,j,n, a[10],temp;clrscr();</a:t>
            </a:r>
          </a:p>
          <a:p>
            <a:r>
              <a:rPr lang="en-US" sz="1400" b="1"/>
              <a:t>printf("\n size of array");</a:t>
            </a:r>
          </a:p>
          <a:p>
            <a:r>
              <a:rPr lang="en-US" sz="1400" b="1"/>
              <a:t>scanf("%d",&amp;n);</a:t>
            </a:r>
          </a:p>
          <a:p>
            <a:r>
              <a:rPr lang="en-US" sz="1400" b="1"/>
              <a:t>printf(“array elements:");</a:t>
            </a:r>
          </a:p>
          <a:p>
            <a:r>
              <a:rPr lang="en-US" sz="1400" b="1"/>
              <a:t>for (i=0;i&lt;n;i++)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scanf("%d",&amp;a[i]);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for(i=0;i&lt;n-1;i++)</a:t>
            </a:r>
          </a:p>
          <a:p>
            <a:r>
              <a:rPr lang="en-US" sz="1400" b="1"/>
              <a:t>for(j=i+1;j&lt;n;j++)</a:t>
            </a:r>
          </a:p>
          <a:p>
            <a:r>
              <a:rPr lang="en-US" sz="1400" b="1"/>
              <a:t>if(a[i]&gt;a[j])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temp=a[i];   </a:t>
            </a:r>
          </a:p>
          <a:p>
            <a:r>
              <a:rPr lang="en-US" sz="1400" b="1"/>
              <a:t>a[i]=a[j];      </a:t>
            </a:r>
          </a:p>
          <a:p>
            <a:r>
              <a:rPr lang="en-US" sz="1400" b="1"/>
              <a:t>a[j]=temp;  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printf("\n\nElements in ascending order is\n");</a:t>
            </a:r>
          </a:p>
          <a:p>
            <a:r>
              <a:rPr lang="en-US" sz="1400" b="1"/>
              <a:t>for(i=0;i&lt;n;i++)</a:t>
            </a:r>
          </a:p>
          <a:p>
            <a:r>
              <a:rPr lang="en-US" sz="1400" b="1"/>
              <a:t>printf("%d",a[i]);</a:t>
            </a:r>
          </a:p>
          <a:p>
            <a:r>
              <a:rPr lang="en-US" sz="1400" b="1"/>
              <a:t>getch();</a:t>
            </a:r>
          </a:p>
          <a:p>
            <a:r>
              <a:rPr lang="en-US" sz="1400" b="1"/>
              <a:t>}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4876800" y="304800"/>
            <a:ext cx="4267200" cy="6556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Write a “C” program to find the largest and smallest numbers given in the array</a:t>
            </a:r>
          </a:p>
          <a:p>
            <a:r>
              <a:rPr lang="en-US" sz="1400" b="1"/>
              <a:t>#include&lt;stdio.h&gt;</a:t>
            </a:r>
          </a:p>
          <a:p>
            <a:r>
              <a:rPr lang="en-US" sz="1400" b="1"/>
              <a:t>#include&lt;conio.h&gt;</a:t>
            </a:r>
          </a:p>
          <a:p>
            <a:r>
              <a:rPr lang="en-US" sz="1400" b="1"/>
              <a:t>void main()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int i,n;</a:t>
            </a:r>
          </a:p>
          <a:p>
            <a:r>
              <a:rPr lang="en-US" sz="1400" b="1"/>
              <a:t>float a[20],large,small;clrscr();</a:t>
            </a:r>
          </a:p>
          <a:p>
            <a:r>
              <a:rPr lang="en-US" sz="1400" b="1"/>
              <a:t>printf("\nEnter the N  values");</a:t>
            </a:r>
          </a:p>
          <a:p>
            <a:r>
              <a:rPr lang="en-US" sz="1400" b="1"/>
              <a:t>scanf("%d",&amp;n);</a:t>
            </a:r>
          </a:p>
          <a:p>
            <a:r>
              <a:rPr lang="en-US" sz="1400" b="1"/>
              <a:t>printf("Enter the values one by one :\n");</a:t>
            </a:r>
          </a:p>
          <a:p>
            <a:r>
              <a:rPr lang="en-US" sz="1400" b="1"/>
              <a:t>for(i=0;i&lt;n;i++){</a:t>
            </a:r>
          </a:p>
          <a:p>
            <a:r>
              <a:rPr lang="en-US" sz="1400" b="1"/>
              <a:t>scanf("%f",&amp;a[i]);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large=a[0];</a:t>
            </a:r>
          </a:p>
          <a:p>
            <a:r>
              <a:rPr lang="en-US" sz="1400" b="1"/>
              <a:t>for(i=1;i&lt;n;i++)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if(a[i]&gt;large)</a:t>
            </a:r>
          </a:p>
          <a:p>
            <a:r>
              <a:rPr lang="en-US" sz="1400" b="1"/>
              <a:t>large=a[i];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small=a[0];</a:t>
            </a:r>
          </a:p>
          <a:p>
            <a:r>
              <a:rPr lang="en-US" sz="1400" b="1"/>
              <a:t>for(i=1;i&lt;n;i++)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if(a[i]&lt;small)</a:t>
            </a:r>
          </a:p>
          <a:p>
            <a:r>
              <a:rPr lang="en-US" sz="1400" b="1"/>
              <a:t>small=a[i];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printf("Largest element is = %f\n",large);</a:t>
            </a:r>
          </a:p>
          <a:p>
            <a:r>
              <a:rPr lang="en-US" sz="1400" b="1"/>
              <a:t>printf("Smallest element  = %f\n",small);</a:t>
            </a:r>
          </a:p>
          <a:p>
            <a:r>
              <a:rPr lang="en-US" sz="1400" b="1"/>
              <a:t>getch();</a:t>
            </a:r>
          </a:p>
          <a:p>
            <a:r>
              <a:rPr lang="en-US" sz="1400" b="1"/>
              <a:t>}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884238" y="693738"/>
            <a:ext cx="7269162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4000" b="1">
                <a:solidFill>
                  <a:srgbClr val="CC0000"/>
                </a:solidFill>
                <a:latin typeface="Arial Unicode MS" pitchFamily="34" charset="-128"/>
              </a:rPr>
              <a:t>Two  Dimensional Arrays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609600" y="1752600"/>
            <a:ext cx="7848600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Tx/>
              <a:buBlip>
                <a:blip r:embed="rId2"/>
              </a:buBlip>
            </a:pPr>
            <a:r>
              <a:rPr lang="en-US" sz="2400">
                <a:solidFill>
                  <a:srgbClr val="CC0000"/>
                </a:solidFill>
                <a:latin typeface="Times New Roman" pitchFamily="18" charset="0"/>
              </a:rPr>
              <a:t> </a:t>
            </a:r>
            <a:r>
              <a:rPr lang="en-US" sz="2000">
                <a:solidFill>
                  <a:srgbClr val="CC0000"/>
                </a:solidFill>
                <a:latin typeface="Times New Roman" pitchFamily="18" charset="0"/>
              </a:rPr>
              <a:t> </a:t>
            </a:r>
            <a:r>
              <a:rPr lang="en-US" sz="2400" b="1">
                <a:solidFill>
                  <a:srgbClr val="CC0000"/>
                </a:solidFill>
                <a:latin typeface="Times New Roman" pitchFamily="18" charset="0"/>
              </a:rPr>
              <a:t>Arrays whose elements are specified by two subscript such as row and column are called One dimensional array or linear array.</a:t>
            </a:r>
          </a:p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CC0000"/>
                </a:solidFill>
                <a:latin typeface="Times New Roman" pitchFamily="18" charset="0"/>
              </a:rPr>
              <a:t>  Row </a:t>
            </a:r>
            <a:r>
              <a:rPr lang="en-US" sz="2400" b="1">
                <a:solidFill>
                  <a:srgbClr val="CC0000"/>
                </a:solidFill>
                <a:latin typeface="Times New Roman" pitchFamily="18" charset="0"/>
                <a:sym typeface="Wingdings" pitchFamily="2" charset="2"/>
              </a:rPr>
              <a:t> means horizontally</a:t>
            </a:r>
          </a:p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CC0000"/>
                </a:solidFill>
                <a:latin typeface="Times New Roman" pitchFamily="18" charset="0"/>
                <a:sym typeface="Wingdings" pitchFamily="2" charset="2"/>
              </a:rPr>
              <a:t>  Column  means vertically </a:t>
            </a:r>
          </a:p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CC0000"/>
                </a:solidFill>
                <a:latin typeface="Times New Roman" pitchFamily="18" charset="0"/>
                <a:sym typeface="Wingdings" pitchFamily="2" charset="2"/>
              </a:rPr>
              <a:t> Syntax:datatype arrayname[rows][cols]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609600" y="3886200"/>
            <a:ext cx="7848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>
                <a:solidFill>
                  <a:srgbClr val="CC0000"/>
                </a:solidFill>
                <a:latin typeface="Times New Roman" pitchFamily="18" charset="0"/>
              </a:rPr>
              <a:t> </a:t>
            </a:r>
            <a:r>
              <a:rPr lang="en-US" sz="2400" b="1">
                <a:solidFill>
                  <a:srgbClr val="CC0000"/>
                </a:solidFill>
                <a:latin typeface="Times New Roman" pitchFamily="18" charset="0"/>
              </a:rPr>
              <a:t>A two - dimensional array looks like a school time-table</a:t>
            </a:r>
          </a:p>
          <a:p>
            <a:r>
              <a:rPr lang="en-US" sz="2400" b="1">
                <a:solidFill>
                  <a:srgbClr val="CC0000"/>
                </a:solidFill>
                <a:latin typeface="Times New Roman" pitchFamily="18" charset="0"/>
              </a:rPr>
              <a:t>    consisting of rows and columns. 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609600" y="4800600"/>
            <a:ext cx="784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>
                <a:solidFill>
                  <a:srgbClr val="CC0000"/>
                </a:solidFill>
                <a:latin typeface="Times New Roman" pitchFamily="18" charset="0"/>
              </a:rPr>
              <a:t> </a:t>
            </a:r>
            <a:r>
              <a:rPr lang="en-US" sz="2400" b="1">
                <a:solidFill>
                  <a:srgbClr val="CC0000"/>
                </a:solidFill>
                <a:latin typeface="Times New Roman" pitchFamily="18" charset="0"/>
              </a:rPr>
              <a:t>A two – dimensional array is declared as -</a:t>
            </a:r>
          </a:p>
        </p:txBody>
      </p:sp>
      <p:sp>
        <p:nvSpPr>
          <p:cNvPr id="10246" name="WordArt 6"/>
          <p:cNvSpPr>
            <a:spLocks noChangeArrowheads="1" noChangeShapeType="1" noTextEdit="1"/>
          </p:cNvSpPr>
          <p:nvPr/>
        </p:nvSpPr>
        <p:spPr bwMode="auto">
          <a:xfrm>
            <a:off x="2743200" y="5546725"/>
            <a:ext cx="3714750" cy="6381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CC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Arial Black"/>
              </a:rPr>
              <a:t>int a [3] [3]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0" y="106363"/>
            <a:ext cx="86582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 u="sng">
                <a:solidFill>
                  <a:srgbClr val="CC0000"/>
                </a:solidFill>
                <a:latin typeface="Bookman Old Style" pitchFamily="18" charset="0"/>
              </a:rPr>
              <a:t>Two Dimensional Array Initialization</a:t>
            </a:r>
          </a:p>
        </p:txBody>
      </p:sp>
      <p:sp>
        <p:nvSpPr>
          <p:cNvPr id="11267" name="WordArt 3"/>
          <p:cNvSpPr>
            <a:spLocks noChangeArrowheads="1" noChangeShapeType="1" noTextEdit="1"/>
          </p:cNvSpPr>
          <p:nvPr/>
        </p:nvSpPr>
        <p:spPr bwMode="auto">
          <a:xfrm>
            <a:off x="533400" y="1066800"/>
            <a:ext cx="7953375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24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CC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Arial Black"/>
              </a:rPr>
              <a:t>int ary [3] [4] = { 1, 2, 3, 4, 5, 6, 7, 8, 9, 10, 11, 12 };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228600" y="1981200"/>
            <a:ext cx="784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>
                <a:solidFill>
                  <a:srgbClr val="CC0000"/>
                </a:solidFill>
                <a:latin typeface="Times New Roman" pitchFamily="18" charset="0"/>
              </a:rPr>
              <a:t> The result of the above assignment will be as follows :</a:t>
            </a:r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2590800"/>
            <a:ext cx="84582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0" name="WordArt 6"/>
          <p:cNvSpPr>
            <a:spLocks noChangeArrowheads="1" noChangeShapeType="1" noTextEdit="1"/>
          </p:cNvSpPr>
          <p:nvPr/>
        </p:nvSpPr>
        <p:spPr bwMode="auto">
          <a:xfrm>
            <a:off x="3581400" y="4191000"/>
            <a:ext cx="4267200" cy="2133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b="1" kern="10">
                <a:ln w="9525">
                  <a:solidFill>
                    <a:srgbClr val="000066"/>
                  </a:solidFill>
                  <a:round/>
                  <a:headEnd/>
                  <a:tailEnd/>
                </a:ln>
                <a:solidFill>
                  <a:srgbClr val="CC0000"/>
                </a:solidFill>
                <a:latin typeface="Arial Black"/>
              </a:rPr>
              <a:t>int ary [3] [4] =  </a:t>
            </a:r>
          </a:p>
          <a:p>
            <a:pPr algn="ctr"/>
            <a:r>
              <a:rPr lang="en-IN" b="1" kern="10">
                <a:ln w="9525">
                  <a:solidFill>
                    <a:srgbClr val="000066"/>
                  </a:solidFill>
                  <a:round/>
                  <a:headEnd/>
                  <a:tailEnd/>
                </a:ln>
                <a:solidFill>
                  <a:srgbClr val="CC0000"/>
                </a:solidFill>
                <a:latin typeface="Arial Black"/>
              </a:rPr>
              <a:t>{</a:t>
            </a:r>
          </a:p>
          <a:p>
            <a:pPr algn="ctr"/>
            <a:r>
              <a:rPr lang="en-IN" b="1" kern="10">
                <a:ln w="9525">
                  <a:solidFill>
                    <a:srgbClr val="000066"/>
                  </a:solidFill>
                  <a:round/>
                  <a:headEnd/>
                  <a:tailEnd/>
                </a:ln>
                <a:solidFill>
                  <a:srgbClr val="CC0000"/>
                </a:solidFill>
                <a:latin typeface="Arial Black"/>
              </a:rPr>
              <a:t>{ 1, 2, 3,4},</a:t>
            </a:r>
          </a:p>
          <a:p>
            <a:pPr algn="ctr"/>
            <a:r>
              <a:rPr lang="en-IN" b="1" kern="10">
                <a:ln w="9525">
                  <a:solidFill>
                    <a:srgbClr val="000066"/>
                  </a:solidFill>
                  <a:round/>
                  <a:headEnd/>
                  <a:tailEnd/>
                </a:ln>
                <a:solidFill>
                  <a:srgbClr val="CC0000"/>
                </a:solidFill>
                <a:latin typeface="Arial Black"/>
              </a:rPr>
              <a:t>{ 5, 6 ,7,8},</a:t>
            </a:r>
          </a:p>
          <a:p>
            <a:pPr algn="ctr"/>
            <a:r>
              <a:rPr lang="en-IN" b="1" kern="10">
                <a:ln w="9525">
                  <a:solidFill>
                    <a:srgbClr val="000066"/>
                  </a:solidFill>
                  <a:round/>
                  <a:headEnd/>
                  <a:tailEnd/>
                </a:ln>
                <a:solidFill>
                  <a:srgbClr val="CC0000"/>
                </a:solidFill>
                <a:latin typeface="Arial Black"/>
              </a:rPr>
              <a:t>{ 9, 10,11,12}</a:t>
            </a:r>
          </a:p>
          <a:p>
            <a:pPr algn="ctr"/>
            <a:r>
              <a:rPr lang="en-IN" b="1" kern="10">
                <a:ln w="9525">
                  <a:solidFill>
                    <a:srgbClr val="000066"/>
                  </a:solidFill>
                  <a:round/>
                  <a:headEnd/>
                  <a:tailEnd/>
                </a:ln>
                <a:solidFill>
                  <a:srgbClr val="CC0000"/>
                </a:solidFill>
                <a:latin typeface="Arial Black"/>
              </a:rPr>
              <a:t>};</a:t>
            </a:r>
          </a:p>
        </p:txBody>
      </p:sp>
      <p:sp>
        <p:nvSpPr>
          <p:cNvPr id="11271" name="WordArt 7"/>
          <p:cNvSpPr>
            <a:spLocks noChangeArrowheads="1" noChangeShapeType="1" noTextEdit="1"/>
          </p:cNvSpPr>
          <p:nvPr/>
        </p:nvSpPr>
        <p:spPr bwMode="auto">
          <a:xfrm>
            <a:off x="2057400" y="4876800"/>
            <a:ext cx="109537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(OR)</a:t>
            </a:r>
          </a:p>
        </p:txBody>
      </p:sp>
    </p:spTree>
  </p:cSld>
  <p:clrMapOvr>
    <a:masterClrMapping/>
  </p:clrMapOvr>
  <p:transition spd="med">
    <p:pull dir="lu"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190500" y="63500"/>
            <a:ext cx="3886200" cy="6946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/>
              <a:t>Write a “C” program to perform the addition of two matrices</a:t>
            </a:r>
          </a:p>
          <a:p>
            <a:r>
              <a:rPr lang="en-US" sz="1600" b="1"/>
              <a:t>#include&lt;stdio.h&gt;</a:t>
            </a:r>
          </a:p>
          <a:p>
            <a:r>
              <a:rPr lang="en-US" sz="1600" b="1"/>
              <a:t>#include&lt;conio.h&gt;</a:t>
            </a:r>
          </a:p>
          <a:p>
            <a:r>
              <a:rPr lang="en-US" sz="1600" b="1"/>
              <a:t>void main()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int a[3][3],b[3][3],c[3][3],i,j;</a:t>
            </a:r>
          </a:p>
          <a:p>
            <a:r>
              <a:rPr lang="en-US" sz="1600" b="1"/>
              <a:t>clrscr();</a:t>
            </a:r>
          </a:p>
          <a:p>
            <a:r>
              <a:rPr lang="en-US" sz="1600" b="1"/>
              <a:t>printf("Input A - Matrix\n");</a:t>
            </a:r>
          </a:p>
          <a:p>
            <a:r>
              <a:rPr lang="en-US" sz="1600" b="1"/>
              <a:t>for(i=0;i&lt;3;i++)</a:t>
            </a:r>
          </a:p>
          <a:p>
            <a:r>
              <a:rPr lang="en-US" sz="1600" b="1"/>
              <a:t>for(j=0;j&lt;3;j++)</a:t>
            </a:r>
          </a:p>
          <a:p>
            <a:r>
              <a:rPr lang="en-US" sz="1600" b="1"/>
              <a:t>scanf("%d",&amp;a[i][j]);</a:t>
            </a:r>
          </a:p>
          <a:p>
            <a:r>
              <a:rPr lang="en-US" sz="1600" b="1"/>
              <a:t>printf("Input B - Matrix\n");</a:t>
            </a:r>
          </a:p>
          <a:p>
            <a:r>
              <a:rPr lang="en-US" sz="1600" b="1"/>
              <a:t>for(i=0;i&lt;3;i++)</a:t>
            </a:r>
          </a:p>
          <a:p>
            <a:r>
              <a:rPr lang="en-US" sz="1600" b="1"/>
              <a:t>for(j=0;j&lt;3;j++)</a:t>
            </a:r>
          </a:p>
          <a:p>
            <a:r>
              <a:rPr lang="en-US" sz="1600" b="1"/>
              <a:t>scanf("%d",&amp;b[i][j]);</a:t>
            </a:r>
          </a:p>
          <a:p>
            <a:r>
              <a:rPr lang="en-US" sz="1600" b="1"/>
              <a:t>for(i=0;i&lt;3;i++)</a:t>
            </a:r>
          </a:p>
          <a:p>
            <a:r>
              <a:rPr lang="en-US" sz="1600" b="1"/>
              <a:t>for(j=0;j&lt;3;j++)</a:t>
            </a:r>
          </a:p>
          <a:p>
            <a:r>
              <a:rPr lang="en-US" sz="1600" b="1"/>
              <a:t>c[i][j]=a[i][j]+b[i][j];</a:t>
            </a:r>
          </a:p>
          <a:p>
            <a:r>
              <a:rPr lang="en-US" sz="1600" b="1"/>
              <a:t>printf("Sum of A and B Matrix=\n");</a:t>
            </a:r>
          </a:p>
          <a:p>
            <a:r>
              <a:rPr lang="en-US" sz="1600" b="1"/>
              <a:t>for(i=0;i&lt;3;i++)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for(j=0;j&lt;3;j++)</a:t>
            </a:r>
          </a:p>
          <a:p>
            <a:r>
              <a:rPr lang="en-US" sz="1600" b="1"/>
              <a:t>printf("%5d",c[i][j]);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printf("\n");</a:t>
            </a:r>
          </a:p>
          <a:p>
            <a:r>
              <a:rPr lang="en-US" sz="1600" b="1"/>
              <a:t>}</a:t>
            </a:r>
          </a:p>
          <a:p>
            <a:endParaRPr lang="en-US" sz="1600" b="1"/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4191000" y="76200"/>
            <a:ext cx="4419600" cy="67706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Matrix multiplication using two dimensional array</a:t>
            </a:r>
          </a:p>
          <a:p>
            <a:r>
              <a:rPr lang="en-US" sz="1400" b="1"/>
              <a:t>#include&lt;stdio.h&gt;</a:t>
            </a:r>
          </a:p>
          <a:p>
            <a:r>
              <a:rPr lang="en-US" sz="1400" b="1"/>
              <a:t>#include&lt;conio.h&gt;</a:t>
            </a:r>
          </a:p>
          <a:p>
            <a:r>
              <a:rPr lang="en-US" sz="1400" b="1"/>
              <a:t>void main()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int a[10][10],b[10][10],c[10][10],i,j,m,n,p,q,k;</a:t>
            </a:r>
          </a:p>
          <a:p>
            <a:r>
              <a:rPr lang="en-US" sz="1400" b="1"/>
              <a:t>printf("Input row and column of A matrix \n");</a:t>
            </a:r>
          </a:p>
          <a:p>
            <a:r>
              <a:rPr lang="en-US" sz="1400" b="1"/>
              <a:t>scanf("%d %d",&amp;m,&amp;n);</a:t>
            </a:r>
          </a:p>
          <a:p>
            <a:r>
              <a:rPr lang="en-US" sz="1400" b="1"/>
              <a:t>printf(" Input row and column of B matrix \n");</a:t>
            </a:r>
          </a:p>
          <a:p>
            <a:r>
              <a:rPr lang="en-US" sz="1400" b="1"/>
              <a:t>scanf("%d %d",&amp;p,&amp;q);</a:t>
            </a:r>
          </a:p>
          <a:p>
            <a:r>
              <a:rPr lang="en-US" sz="1400" b="1"/>
              <a:t>if(n==p){</a:t>
            </a:r>
          </a:p>
          <a:p>
            <a:r>
              <a:rPr lang="en-US" sz="1400" b="1"/>
              <a:t>printf(" Matrices can be Multiplied: \n");</a:t>
            </a:r>
          </a:p>
          <a:p>
            <a:r>
              <a:rPr lang="en-US" sz="1400" b="1"/>
              <a:t>printf(" Input A-matrix \n");</a:t>
            </a:r>
          </a:p>
          <a:p>
            <a:r>
              <a:rPr lang="en-US" sz="1400" b="1"/>
              <a:t>for(i=0;i&lt;n;i++)</a:t>
            </a:r>
          </a:p>
          <a:p>
            <a:r>
              <a:rPr lang="en-US" sz="1400" b="1"/>
              <a:t>for(j=0;j&lt;m;j++)</a:t>
            </a:r>
          </a:p>
          <a:p>
            <a:r>
              <a:rPr lang="en-US" sz="1400" b="1"/>
              <a:t>scanf("%d",&amp;a[i][j]);</a:t>
            </a:r>
          </a:p>
          <a:p>
            <a:r>
              <a:rPr lang="en-US" sz="1400" b="1"/>
              <a:t>printf(" Input B-matrix \n");</a:t>
            </a:r>
          </a:p>
          <a:p>
            <a:r>
              <a:rPr lang="en-US" sz="1400" b="1"/>
              <a:t>for(i=0;i&lt;p;i++)</a:t>
            </a:r>
          </a:p>
          <a:p>
            <a:r>
              <a:rPr lang="en-US" sz="1400" b="1"/>
              <a:t>for(j=0;j&lt;q;j++)</a:t>
            </a:r>
          </a:p>
          <a:p>
            <a:r>
              <a:rPr lang="en-US" sz="1400" b="1"/>
              <a:t>scanf("%d",&amp;b[i][j]);</a:t>
            </a:r>
          </a:p>
          <a:p>
            <a:r>
              <a:rPr lang="en-US" sz="1400" b="1"/>
              <a:t>printf("The resultant matrix is\t:\n");</a:t>
            </a:r>
          </a:p>
          <a:p>
            <a:r>
              <a:rPr lang="en-US" sz="1400" b="1"/>
              <a:t>for(i=0;i&lt;n;i++){</a:t>
            </a:r>
          </a:p>
          <a:p>
            <a:r>
              <a:rPr lang="en-US" sz="1400" b="1"/>
              <a:t>for(j=0;j&lt;m;j++){</a:t>
            </a:r>
          </a:p>
          <a:p>
            <a:r>
              <a:rPr lang="en-US" sz="1400" b="1"/>
              <a:t>c[i][j]=0;</a:t>
            </a:r>
          </a:p>
          <a:p>
            <a:r>
              <a:rPr lang="en-US" sz="1400" b="1"/>
              <a:t>for(k=0;k&lt;m;k++)</a:t>
            </a:r>
          </a:p>
          <a:p>
            <a:r>
              <a:rPr lang="en-US" sz="1400" b="1"/>
              <a:t>c[i][j]=c[i][j]+a[i][k]*b[k][j];</a:t>
            </a:r>
          </a:p>
          <a:p>
            <a:r>
              <a:rPr lang="en-US" sz="1400" b="1"/>
              <a:t>printf("%5d",c[i][j]);}</a:t>
            </a:r>
          </a:p>
          <a:p>
            <a:r>
              <a:rPr lang="en-US" sz="1400" b="1"/>
              <a:t>printf("\n");}}</a:t>
            </a:r>
          </a:p>
          <a:p>
            <a:r>
              <a:rPr lang="en-US" sz="1400" b="1"/>
              <a:t>else</a:t>
            </a:r>
          </a:p>
          <a:p>
            <a:r>
              <a:rPr lang="en-US" sz="1400" b="1"/>
              <a:t>printf("Matrices cannot be multiplied \n");getch();</a:t>
            </a:r>
          </a:p>
          <a:p>
            <a:r>
              <a:rPr lang="en-US" sz="1400" b="1"/>
              <a:t>}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228600" y="228600"/>
            <a:ext cx="5410200" cy="6270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Write a “C” program to sort the given names in Alphabetical order using Two dimensional array</a:t>
            </a:r>
          </a:p>
          <a:p>
            <a:r>
              <a:rPr lang="en-US" sz="1400" b="1"/>
              <a:t>#include&lt;stdio.h&gt;</a:t>
            </a:r>
          </a:p>
          <a:p>
            <a:r>
              <a:rPr lang="en-US" sz="1400" b="1"/>
              <a:t>#include&lt;string.h&gt;</a:t>
            </a:r>
          </a:p>
          <a:p>
            <a:r>
              <a:rPr lang="en-US" sz="1400" b="1"/>
              <a:t>#include&lt;conio.h&gt;</a:t>
            </a:r>
          </a:p>
          <a:p>
            <a:r>
              <a:rPr lang="en-US" sz="1400" b="1"/>
              <a:t>void main()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int i,j,n;</a:t>
            </a:r>
          </a:p>
          <a:p>
            <a:r>
              <a:rPr lang="en-US" sz="1400" b="1"/>
              <a:t>char a[10][10],temp[10];clrscr();</a:t>
            </a:r>
          </a:p>
          <a:p>
            <a:r>
              <a:rPr lang="en-US" sz="1400" b="1"/>
              <a:t>printf("\n Enter the N Values");</a:t>
            </a:r>
          </a:p>
          <a:p>
            <a:r>
              <a:rPr lang="en-US" sz="1400" b="1"/>
              <a:t>scanf("%d",&amp;n);</a:t>
            </a:r>
          </a:p>
          <a:p>
            <a:r>
              <a:rPr lang="en-US" sz="1400" b="1"/>
              <a:t>printf("Enter the Names one by one :\n");</a:t>
            </a:r>
          </a:p>
          <a:p>
            <a:r>
              <a:rPr lang="en-US" sz="1400" b="1"/>
              <a:t>for(i=0;i&lt;n;i++)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scanf("%s",&amp;a[i]);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for(i=0;i&lt;n-1;i++)</a:t>
            </a:r>
          </a:p>
          <a:p>
            <a:r>
              <a:rPr lang="en-US" sz="1400" b="1"/>
              <a:t>for(j=i+1;j&lt;n;j++)</a:t>
            </a:r>
          </a:p>
          <a:p>
            <a:r>
              <a:rPr lang="en-US" sz="1400" b="1"/>
              <a:t>if((strcmp(a[i],a[j]))&gt;0)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strcpy(temp,a[i]);</a:t>
            </a:r>
          </a:p>
          <a:p>
            <a:r>
              <a:rPr lang="en-US" sz="1400" b="1"/>
              <a:t>strcpy(a[i],a[j]);</a:t>
            </a:r>
          </a:p>
          <a:p>
            <a:r>
              <a:rPr lang="en-US" sz="1400" b="1"/>
              <a:t>strcpy(a[j],temp);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printf("The Names in Alphabetical Order is =\n");</a:t>
            </a:r>
          </a:p>
          <a:p>
            <a:r>
              <a:rPr lang="en-US" sz="1400" b="1"/>
              <a:t>for(i=0;i&lt;n;i++)</a:t>
            </a:r>
          </a:p>
          <a:p>
            <a:r>
              <a:rPr lang="en-US" sz="1400" b="1"/>
              <a:t>printf("\n%s",a[i]);</a:t>
            </a:r>
          </a:p>
          <a:p>
            <a:r>
              <a:rPr lang="en-US" sz="1400" b="1"/>
              <a:t>getch();</a:t>
            </a:r>
          </a:p>
          <a:p>
            <a:r>
              <a:rPr lang="en-US" sz="1400" b="1"/>
              <a:t>}</a:t>
            </a:r>
            <a:endParaRPr lang="en-US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heel spokes="8"/>
  </p:transition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76200" y="152400"/>
            <a:ext cx="8915400" cy="5265738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tabLst>
                <a:tab pos="457200" algn="l"/>
              </a:tabLst>
            </a:pPr>
            <a:r>
              <a:rPr lang="en-US" sz="3200" b="1" u="sng">
                <a:latin typeface="Times New Roman" pitchFamily="18" charset="0"/>
              </a:rPr>
              <a:t>Session Summary</a:t>
            </a:r>
          </a:p>
          <a:p>
            <a:pPr>
              <a:tabLst>
                <a:tab pos="457200" algn="l"/>
              </a:tabLst>
            </a:pPr>
            <a:endParaRPr lang="en-US" sz="3200" b="1">
              <a:latin typeface="Times New Roman" pitchFamily="18" charset="0"/>
            </a:endParaRP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Arrayname should be a unique and valid “C” Variable name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The number of elements in a multi dimensional array is the product of its subscripts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Arrays can be initialized to the same type in which they are declared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The character array receives the terminating ‘\0’ in the string constant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The individual values in the array are called as elements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It is not necessary to specify the length of an array, explicitly in case if initializers are provided for the array during declaration itself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52400" y="130175"/>
            <a:ext cx="8686800" cy="6118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algn="ctr">
              <a:tabLst>
                <a:tab pos="457200" algn="l"/>
              </a:tabLst>
            </a:pPr>
            <a:r>
              <a:rPr lang="en-US" sz="2800" b="1" u="sng">
                <a:latin typeface="Times New Roman" pitchFamily="18" charset="0"/>
              </a:rPr>
              <a:t>EXERCISES</a:t>
            </a:r>
          </a:p>
          <a:p>
            <a:pPr marL="342900" indent="-342900">
              <a:tabLst>
                <a:tab pos="457200" algn="l"/>
              </a:tabLst>
            </a:pPr>
            <a:endParaRPr lang="en-US" sz="2800" b="1">
              <a:latin typeface="Times New Roman" pitchFamily="18" charset="0"/>
            </a:endParaRP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search an element and to find how many times it is present in the array?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Write a program to find the sum of diagonal elements in a matrix</a:t>
            </a:r>
            <a:endParaRPr lang="en-US" b="1"/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find the second largest  number in an array?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remove the duplicate elements of the array?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 Write a program to merge two arrays and print the merged array in ascending order?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Write a program to insert an element into an sorted array of integers?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Write a program to display only the negative elements of the array?</a:t>
            </a:r>
            <a:endParaRPr 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3200400" y="528638"/>
            <a:ext cx="3621088" cy="823912"/>
          </a:xfrm>
          <a:prstGeom prst="rect">
            <a:avLst/>
          </a:prstGeom>
          <a:solidFill>
            <a:srgbClr val="660033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CHAPTER 6</a:t>
            </a:r>
          </a:p>
        </p:txBody>
      </p:sp>
      <p:sp>
        <p:nvSpPr>
          <p:cNvPr id="4099" name="WordArt 3"/>
          <p:cNvSpPr>
            <a:spLocks noChangeArrowheads="1" noChangeShapeType="1" noTextEdit="1"/>
          </p:cNvSpPr>
          <p:nvPr/>
        </p:nvSpPr>
        <p:spPr bwMode="auto">
          <a:xfrm>
            <a:off x="1524000" y="3200400"/>
            <a:ext cx="6858000" cy="2309813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1875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/>
              </a:rPr>
              <a:t>FUNCTIONS</a:t>
            </a:r>
          </a:p>
        </p:txBody>
      </p:sp>
    </p:spTree>
  </p:cSld>
  <p:clrMapOvr>
    <a:masterClrMapping/>
  </p:clrMapOvr>
  <p:transition spd="med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nimBg="1"/>
      <p:bldP spid="4099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828800" y="776288"/>
            <a:ext cx="5791200" cy="823912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4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cs typeface="Times New Roman" pitchFamily="18" charset="0"/>
              </a:rPr>
              <a:t>Session Objectives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524000" y="2209800"/>
            <a:ext cx="45497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Explain Type of Functions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524000" y="4114800"/>
            <a:ext cx="7035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Discuss category of User defined Functions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524000" y="3505200"/>
            <a:ext cx="72278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Function Declaration, Definition and Calling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1524000" y="2819400"/>
            <a:ext cx="53784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Explain User Defined Functions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1524000" y="4800600"/>
            <a:ext cx="3962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Storage classes in “C”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3" grpId="0" autoUpdateAnimBg="0"/>
      <p:bldP spid="5124" grpId="0" autoUpdateAnimBg="0"/>
      <p:bldP spid="5125" grpId="0" autoUpdateAnimBg="0"/>
      <p:bldP spid="5126" grpId="0" autoUpdateAnimBg="0"/>
      <p:bldP spid="5127" grpId="0" autoUpdateAnimBg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WordArt 2"/>
          <p:cNvSpPr>
            <a:spLocks noChangeArrowheads="1" noChangeShapeType="1" noTextEdit="1"/>
          </p:cNvSpPr>
          <p:nvPr/>
        </p:nvSpPr>
        <p:spPr bwMode="auto">
          <a:xfrm>
            <a:off x="2895600" y="609600"/>
            <a:ext cx="302895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66"/>
                </a:solidFill>
                <a:latin typeface="Arial Black"/>
              </a:rPr>
              <a:t>FUNCTIONS</a:t>
            </a:r>
          </a:p>
        </p:txBody>
      </p:sp>
      <p:sp>
        <p:nvSpPr>
          <p:cNvPr id="6147" name="WordArt 3"/>
          <p:cNvSpPr>
            <a:spLocks noChangeArrowheads="1" noChangeShapeType="1" noTextEdit="1"/>
          </p:cNvSpPr>
          <p:nvPr/>
        </p:nvSpPr>
        <p:spPr bwMode="auto">
          <a:xfrm>
            <a:off x="457200" y="2362200"/>
            <a:ext cx="302895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66"/>
                </a:solidFill>
                <a:latin typeface="Arial Black"/>
              </a:rPr>
              <a:t>Built-In</a:t>
            </a:r>
          </a:p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66"/>
                </a:solidFill>
                <a:latin typeface="Arial Black"/>
              </a:rPr>
              <a:t>Functions</a:t>
            </a:r>
          </a:p>
        </p:txBody>
      </p:sp>
      <p:sp>
        <p:nvSpPr>
          <p:cNvPr id="6148" name="WordArt 4"/>
          <p:cNvSpPr>
            <a:spLocks noChangeArrowheads="1" noChangeShapeType="1" noTextEdit="1"/>
          </p:cNvSpPr>
          <p:nvPr/>
        </p:nvSpPr>
        <p:spPr bwMode="auto">
          <a:xfrm>
            <a:off x="5410200" y="2438400"/>
            <a:ext cx="302895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66"/>
                </a:solidFill>
                <a:latin typeface="Arial Black"/>
              </a:rPr>
              <a:t>User-Defined</a:t>
            </a:r>
          </a:p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66"/>
                </a:solidFill>
                <a:latin typeface="Arial Black"/>
              </a:rPr>
              <a:t>Functions</a:t>
            </a:r>
          </a:p>
        </p:txBody>
      </p:sp>
      <p:sp>
        <p:nvSpPr>
          <p:cNvPr id="6149" name="Line 5"/>
          <p:cNvSpPr>
            <a:spLocks noChangeShapeType="1"/>
          </p:cNvSpPr>
          <p:nvPr/>
        </p:nvSpPr>
        <p:spPr bwMode="auto">
          <a:xfrm flipH="1">
            <a:off x="2286000" y="1143000"/>
            <a:ext cx="1752600" cy="1011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4267200" y="1143000"/>
            <a:ext cx="1905000" cy="1100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4800" y="3657600"/>
            <a:ext cx="3048000" cy="1828800"/>
            <a:chOff x="192" y="2304"/>
            <a:chExt cx="1920" cy="1152"/>
          </a:xfrm>
        </p:grpSpPr>
        <p:sp>
          <p:nvSpPr>
            <p:cNvPr id="4105" name="AutoShape 8"/>
            <p:cNvSpPr>
              <a:spLocks/>
            </p:cNvSpPr>
            <p:nvPr/>
          </p:nvSpPr>
          <p:spPr bwMode="auto">
            <a:xfrm>
              <a:off x="192" y="2304"/>
              <a:ext cx="240" cy="1152"/>
            </a:xfrm>
            <a:prstGeom prst="leftBracket">
              <a:avLst>
                <a:gd name="adj" fmla="val 40000"/>
              </a:avLst>
            </a:prstGeom>
            <a:noFill/>
            <a:ln w="9525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AutoShape 9"/>
            <p:cNvSpPr>
              <a:spLocks/>
            </p:cNvSpPr>
            <p:nvPr/>
          </p:nvSpPr>
          <p:spPr bwMode="auto">
            <a:xfrm>
              <a:off x="1296" y="2334"/>
              <a:ext cx="240" cy="1104"/>
            </a:xfrm>
            <a:prstGeom prst="rightBracket">
              <a:avLst>
                <a:gd name="adj" fmla="val 38333"/>
              </a:avLst>
            </a:prstGeom>
            <a:noFill/>
            <a:ln w="9525">
              <a:solidFill>
                <a:srgbClr val="FF00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7" name="Text Box 10"/>
            <p:cNvSpPr txBox="1">
              <a:spLocks noChangeArrowheads="1"/>
            </p:cNvSpPr>
            <p:nvPr/>
          </p:nvSpPr>
          <p:spPr bwMode="auto">
            <a:xfrm>
              <a:off x="480" y="2304"/>
              <a:ext cx="1632" cy="10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75000"/>
                </a:lnSpc>
                <a:spcBef>
                  <a:spcPct val="50000"/>
                </a:spcBef>
              </a:pPr>
              <a:r>
                <a:rPr lang="en-US" sz="2400" b="1">
                  <a:solidFill>
                    <a:srgbClr val="FF0066"/>
                  </a:solidFill>
                </a:rPr>
                <a:t>scanf()</a:t>
              </a:r>
            </a:p>
            <a:p>
              <a:pPr>
                <a:lnSpc>
                  <a:spcPct val="75000"/>
                </a:lnSpc>
                <a:spcBef>
                  <a:spcPct val="50000"/>
                </a:spcBef>
              </a:pPr>
              <a:r>
                <a:rPr lang="en-US" sz="2400" b="1">
                  <a:solidFill>
                    <a:srgbClr val="FF0066"/>
                  </a:solidFill>
                </a:rPr>
                <a:t>printf()</a:t>
              </a:r>
            </a:p>
            <a:p>
              <a:pPr>
                <a:lnSpc>
                  <a:spcPct val="75000"/>
                </a:lnSpc>
                <a:spcBef>
                  <a:spcPct val="50000"/>
                </a:spcBef>
              </a:pPr>
              <a:r>
                <a:rPr lang="en-US" sz="2400" b="1">
                  <a:solidFill>
                    <a:srgbClr val="FF0066"/>
                  </a:solidFill>
                </a:rPr>
                <a:t>gets()</a:t>
              </a:r>
            </a:p>
            <a:p>
              <a:pPr>
                <a:lnSpc>
                  <a:spcPct val="75000"/>
                </a:lnSpc>
                <a:spcBef>
                  <a:spcPct val="50000"/>
                </a:spcBef>
              </a:pPr>
              <a:r>
                <a:rPr lang="en-US" sz="2400" b="1">
                  <a:solidFill>
                    <a:srgbClr val="FF0066"/>
                  </a:solidFill>
                </a:rPr>
                <a:t>puts()</a:t>
              </a:r>
            </a:p>
          </p:txBody>
        </p:sp>
      </p:grpSp>
      <p:sp>
        <p:nvSpPr>
          <p:cNvPr id="6155" name="AutoShape 11"/>
          <p:cNvSpPr>
            <a:spLocks/>
          </p:cNvSpPr>
          <p:nvPr/>
        </p:nvSpPr>
        <p:spPr bwMode="auto">
          <a:xfrm>
            <a:off x="4487863" y="4040188"/>
            <a:ext cx="3886200" cy="1141412"/>
          </a:xfrm>
          <a:prstGeom prst="borderCallout3">
            <a:avLst>
              <a:gd name="adj1" fmla="val 10014"/>
              <a:gd name="adj2" fmla="val 101963"/>
              <a:gd name="adj3" fmla="val 10014"/>
              <a:gd name="adj4" fmla="val 101963"/>
              <a:gd name="adj5" fmla="val -31991"/>
              <a:gd name="adj6" fmla="val 101963"/>
              <a:gd name="adj7" fmla="val -63699"/>
              <a:gd name="adj8" fmla="val 4146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400" b="1">
                <a:solidFill>
                  <a:srgbClr val="FF0066"/>
                </a:solidFill>
              </a:rPr>
              <a:t>A series of Instructions that are to be executed more than once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2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20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24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1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  <p:bldP spid="6147" grpId="0" animBg="1"/>
      <p:bldP spid="6148" grpId="0" animBg="1"/>
      <p:bldP spid="6149" grpId="0" animBg="1"/>
      <p:bldP spid="6150" grpId="0" animBg="1"/>
      <p:bldP spid="615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228600" y="228600"/>
            <a:ext cx="8915400" cy="58785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b="1" u="sng">
                <a:latin typeface="Times New Roman" pitchFamily="18" charset="0"/>
              </a:rPr>
              <a:t>USER DEFINED FUNCTION :</a:t>
            </a:r>
          </a:p>
          <a:p>
            <a:r>
              <a:rPr lang="en-US" sz="3200" b="1">
                <a:solidFill>
                  <a:srgbClr val="FF0066"/>
                </a:solidFill>
                <a:latin typeface="Times New Roman" pitchFamily="18" charset="0"/>
              </a:rPr>
              <a:t>SYNTAX :(Function Definition)</a:t>
            </a:r>
          </a:p>
          <a:p>
            <a:r>
              <a:rPr lang="en-US" sz="2400" b="1">
                <a:latin typeface="Times New Roman" pitchFamily="18" charset="0"/>
              </a:rPr>
              <a:t>  return_datatype func_name(arguments)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  local variable declaration;</a:t>
            </a:r>
          </a:p>
          <a:p>
            <a:r>
              <a:rPr lang="en-US" sz="2400" b="1">
                <a:latin typeface="Times New Roman" pitchFamily="18" charset="0"/>
              </a:rPr>
              <a:t>  i/o statements;</a:t>
            </a:r>
          </a:p>
          <a:p>
            <a:r>
              <a:rPr lang="en-US" sz="2400" b="1">
                <a:latin typeface="Times New Roman" pitchFamily="18" charset="0"/>
              </a:rPr>
              <a:t>  return(value);</a:t>
            </a:r>
          </a:p>
          <a:p>
            <a:r>
              <a:rPr lang="en-US" sz="2400" b="1">
                <a:latin typeface="Times New Roman" pitchFamily="18" charset="0"/>
              </a:rPr>
              <a:t>}</a:t>
            </a:r>
          </a:p>
          <a:p>
            <a:r>
              <a:rPr lang="en-US" sz="3200" b="1">
                <a:solidFill>
                  <a:srgbClr val="FF0066"/>
                </a:solidFill>
                <a:latin typeface="Times New Roman" pitchFamily="18" charset="0"/>
              </a:rPr>
              <a:t>syntax :(</a:t>
            </a:r>
            <a:r>
              <a:rPr lang="en-US" sz="3200" b="1">
                <a:solidFill>
                  <a:srgbClr val="FF0066"/>
                </a:solidFill>
                <a:latin typeface="Times New Roman" pitchFamily="18" charset="0"/>
                <a:sym typeface="Wingdings" pitchFamily="2" charset="2"/>
              </a:rPr>
              <a:t>Function calling)</a:t>
            </a:r>
            <a:endParaRPr lang="en-US" sz="3200" b="1">
              <a:solidFill>
                <a:srgbClr val="FF0066"/>
              </a:solidFill>
              <a:latin typeface="Times New Roman" pitchFamily="18" charset="0"/>
            </a:endParaRPr>
          </a:p>
          <a:p>
            <a:r>
              <a:rPr lang="en-US" sz="2400" b="1">
                <a:latin typeface="Times New Roman" pitchFamily="18" charset="0"/>
              </a:rPr>
              <a:t>     func_name(arguments );</a:t>
            </a:r>
          </a:p>
          <a:p>
            <a:endParaRPr lang="en-US" sz="2400" b="1">
              <a:latin typeface="Times New Roman" pitchFamily="18" charset="0"/>
            </a:endParaRPr>
          </a:p>
          <a:p>
            <a:r>
              <a:rPr lang="en-US" sz="3200" b="1">
                <a:solidFill>
                  <a:srgbClr val="FF0066"/>
                </a:solidFill>
                <a:latin typeface="Times New Roman" pitchFamily="18" charset="0"/>
              </a:rPr>
              <a:t>syntax :(</a:t>
            </a:r>
            <a:r>
              <a:rPr lang="en-US" sz="3200" b="1">
                <a:solidFill>
                  <a:srgbClr val="FF0066"/>
                </a:solidFill>
                <a:latin typeface="Times New Roman" pitchFamily="18" charset="0"/>
                <a:sym typeface="Wingdings" pitchFamily="2" charset="2"/>
              </a:rPr>
              <a:t>Function Declaration)</a:t>
            </a:r>
            <a:endParaRPr lang="en-US" sz="3200" b="1">
              <a:solidFill>
                <a:srgbClr val="FF0066"/>
              </a:solidFill>
              <a:latin typeface="Times New Roman" pitchFamily="18" charset="0"/>
            </a:endParaRPr>
          </a:p>
          <a:p>
            <a:r>
              <a:rPr lang="en-US" sz="2400" b="1">
                <a:latin typeface="Times New Roman" pitchFamily="18" charset="0"/>
              </a:rPr>
              <a:t>     return_type func_name(datatype1,datatype2,…datatypeN );</a:t>
            </a:r>
          </a:p>
          <a:p>
            <a:endParaRPr lang="en-US" sz="3200" b="1">
              <a:latin typeface="Times New Roman" pitchFamily="18" charset="0"/>
            </a:endParaRPr>
          </a:p>
        </p:txBody>
      </p:sp>
    </p:spTree>
  </p:cSld>
  <p:clrMapOvr>
    <a:masterClrMapping/>
  </p:clrMapOvr>
  <p:transition spd="med">
    <p:split/>
  </p:transition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228600" y="609600"/>
            <a:ext cx="8305800" cy="6740525"/>
          </a:xfrm>
          <a:prstGeom prst="rect">
            <a:avLst/>
          </a:prstGeom>
          <a:solidFill>
            <a:srgbClr val="EAEAEA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latin typeface="Times New Roman" pitchFamily="18" charset="0"/>
              </a:rPr>
              <a:t>#include&lt;stdio.h&gt;</a:t>
            </a:r>
          </a:p>
          <a:p>
            <a:r>
              <a:rPr lang="en-US" sz="2400" b="1">
                <a:latin typeface="Times New Roman" pitchFamily="18" charset="0"/>
              </a:rPr>
              <a:t>#include&lt;conio.h&gt;</a:t>
            </a:r>
          </a:p>
          <a:p>
            <a:r>
              <a:rPr lang="en-US" sz="2400" b="1">
                <a:latin typeface="Times New Roman" pitchFamily="18" charset="0"/>
              </a:rPr>
              <a:t>void hai();   //function declaration</a:t>
            </a:r>
          </a:p>
          <a:p>
            <a:r>
              <a:rPr lang="en-US" sz="2400" b="1">
                <a:latin typeface="Times New Roman" pitchFamily="18" charset="0"/>
              </a:rPr>
              <a:t>void main()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clrscr();</a:t>
            </a:r>
          </a:p>
          <a:p>
            <a:r>
              <a:rPr lang="en-US" sz="2400" b="1">
                <a:latin typeface="Times New Roman" pitchFamily="18" charset="0"/>
              </a:rPr>
              <a:t>printf("Main, Welcome to functions\n");</a:t>
            </a:r>
          </a:p>
          <a:p>
            <a:r>
              <a:rPr lang="en-US" sz="2400" b="1">
                <a:latin typeface="Times New Roman" pitchFamily="18" charset="0"/>
              </a:rPr>
              <a:t>hai();    </a:t>
            </a:r>
          </a:p>
          <a:p>
            <a:r>
              <a:rPr lang="en-US" sz="2400" b="1">
                <a:latin typeface="Times New Roman" pitchFamily="18" charset="0"/>
              </a:rPr>
              <a:t>   //function calling</a:t>
            </a:r>
          </a:p>
          <a:p>
            <a:r>
              <a:rPr lang="en-US" sz="2400" b="1">
                <a:latin typeface="Times New Roman" pitchFamily="18" charset="0"/>
              </a:rPr>
              <a:t>printf("Bye");</a:t>
            </a:r>
          </a:p>
          <a:p>
            <a:r>
              <a:rPr lang="en-US" sz="2400" b="1">
                <a:latin typeface="Times New Roman" pitchFamily="18" charset="0"/>
              </a:rPr>
              <a:t>getch();</a:t>
            </a:r>
          </a:p>
          <a:p>
            <a:r>
              <a:rPr lang="en-US" sz="2400" b="1">
                <a:latin typeface="Times New Roman" pitchFamily="18" charset="0"/>
              </a:rPr>
              <a:t>}</a:t>
            </a:r>
          </a:p>
          <a:p>
            <a:r>
              <a:rPr lang="en-US" sz="2400" b="1">
                <a:latin typeface="Times New Roman" pitchFamily="18" charset="0"/>
              </a:rPr>
              <a:t>void hai()  </a:t>
            </a:r>
          </a:p>
          <a:p>
            <a:r>
              <a:rPr lang="en-US" sz="2400" b="1">
                <a:latin typeface="Times New Roman" pitchFamily="18" charset="0"/>
              </a:rPr>
              <a:t>  //function definition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printf(" Welcome to functions\n");</a:t>
            </a:r>
          </a:p>
          <a:p>
            <a:r>
              <a:rPr lang="en-US" sz="2400" b="1">
                <a:latin typeface="Times New Roman" pitchFamily="18" charset="0"/>
              </a:rPr>
              <a:t>printf("Good Morning\n");</a:t>
            </a:r>
          </a:p>
          <a:p>
            <a:r>
              <a:rPr lang="en-US" sz="2400" b="1">
                <a:latin typeface="Times New Roman" pitchFamily="18" charset="0"/>
              </a:rPr>
              <a:t>}</a:t>
            </a:r>
          </a:p>
        </p:txBody>
      </p:sp>
      <p:sp>
        <p:nvSpPr>
          <p:cNvPr id="6147" name="WordArt 3"/>
          <p:cNvSpPr>
            <a:spLocks noChangeArrowheads="1" noChangeShapeType="1" noTextEdit="1"/>
          </p:cNvSpPr>
          <p:nvPr/>
        </p:nvSpPr>
        <p:spPr bwMode="auto">
          <a:xfrm>
            <a:off x="152400" y="76200"/>
            <a:ext cx="3124200" cy="4191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9933"/>
                </a:solidFill>
                <a:latin typeface="Arial Black"/>
              </a:rPr>
              <a:t>For Example</a:t>
            </a:r>
          </a:p>
        </p:txBody>
      </p:sp>
    </p:spTree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WordArt 2"/>
          <p:cNvSpPr>
            <a:spLocks noChangeArrowheads="1" noChangeShapeType="1" noTextEdit="1"/>
          </p:cNvSpPr>
          <p:nvPr/>
        </p:nvSpPr>
        <p:spPr bwMode="auto">
          <a:xfrm>
            <a:off x="1514475" y="457200"/>
            <a:ext cx="5495925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Category of Functions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219200" y="1828800"/>
            <a:ext cx="7391400" cy="354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60000"/>
              </a:lnSpc>
              <a:buFont typeface="Wingdings" pitchFamily="2" charset="2"/>
              <a:buNone/>
            </a:pPr>
            <a:endParaRPr lang="en-US" sz="2200" b="1">
              <a:solidFill>
                <a:srgbClr val="FF0066"/>
              </a:solidFill>
            </a:endParaRPr>
          </a:p>
          <a:p>
            <a:pPr>
              <a:lnSpc>
                <a:spcPct val="160000"/>
              </a:lnSpc>
              <a:buFont typeface="Wingdings" pitchFamily="2" charset="2"/>
              <a:buChar char="I"/>
            </a:pPr>
            <a:r>
              <a:rPr lang="en-US" sz="2200" b="1">
                <a:solidFill>
                  <a:srgbClr val="FF0066"/>
                </a:solidFill>
              </a:rPr>
              <a:t>   </a:t>
            </a:r>
            <a:r>
              <a:rPr lang="en-US" sz="2400" b="1">
                <a:solidFill>
                  <a:srgbClr val="FF0066"/>
                </a:solidFill>
              </a:rPr>
              <a:t>NO ARGUMENT NO RETURN VALUES</a:t>
            </a:r>
          </a:p>
          <a:p>
            <a:pPr>
              <a:lnSpc>
                <a:spcPct val="160000"/>
              </a:lnSpc>
              <a:buFont typeface="Wingdings" pitchFamily="2" charset="2"/>
              <a:buChar char="I"/>
            </a:pPr>
            <a:r>
              <a:rPr lang="en-US" sz="2400" b="1">
                <a:solidFill>
                  <a:srgbClr val="FF0066"/>
                </a:solidFill>
              </a:rPr>
              <a:t> WITH ARGUMENT BUT NO RETURN VALUES</a:t>
            </a:r>
          </a:p>
          <a:p>
            <a:pPr>
              <a:lnSpc>
                <a:spcPct val="160000"/>
              </a:lnSpc>
              <a:buFont typeface="Wingdings" pitchFamily="2" charset="2"/>
              <a:buChar char="I"/>
            </a:pPr>
            <a:r>
              <a:rPr lang="en-US" sz="2400" b="1">
                <a:solidFill>
                  <a:srgbClr val="FF0066"/>
                </a:solidFill>
              </a:rPr>
              <a:t>  NO ARGUMENT WITH  RETURN VALUES</a:t>
            </a:r>
          </a:p>
          <a:p>
            <a:pPr>
              <a:lnSpc>
                <a:spcPct val="160000"/>
              </a:lnSpc>
              <a:buFont typeface="Wingdings" pitchFamily="2" charset="2"/>
              <a:buChar char="I"/>
            </a:pPr>
            <a:r>
              <a:rPr lang="en-US" sz="2400" b="1">
                <a:solidFill>
                  <a:srgbClr val="FF0066"/>
                </a:solidFill>
              </a:rPr>
              <a:t>  WITH ARGUMENT WITH  RETURN VALUES</a:t>
            </a:r>
          </a:p>
          <a:p>
            <a:pPr>
              <a:lnSpc>
                <a:spcPct val="160000"/>
              </a:lnSpc>
              <a:buFont typeface="Wingdings" pitchFamily="2" charset="2"/>
              <a:buChar char="I"/>
            </a:pPr>
            <a:endParaRPr lang="en-US" sz="2400" b="1">
              <a:solidFill>
                <a:srgbClr val="FF0066"/>
              </a:solidFill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914400" y="1219200"/>
            <a:ext cx="7467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/>
              <a:t>(Based on Return values and passing Arguments)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76200" y="581025"/>
            <a:ext cx="9067800" cy="5694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latin typeface="Times New Roman" pitchFamily="18" charset="0"/>
              </a:rPr>
              <a:t>/*  To perform Addition of two numbers */</a:t>
            </a:r>
          </a:p>
          <a:p>
            <a:r>
              <a:rPr lang="en-US" sz="2800" b="1">
                <a:latin typeface="Times New Roman" pitchFamily="18" charset="0"/>
              </a:rPr>
              <a:t>/* NO ARGUMENT NO RETURN VALUES */</a:t>
            </a:r>
          </a:p>
          <a:p>
            <a:r>
              <a:rPr lang="en-US" sz="2800" b="1">
                <a:latin typeface="Times New Roman" pitchFamily="18" charset="0"/>
              </a:rPr>
              <a:t>#include&lt;stdio.h&gt;</a:t>
            </a:r>
          </a:p>
          <a:p>
            <a:r>
              <a:rPr lang="en-US" sz="2800" b="1">
                <a:latin typeface="Times New Roman" pitchFamily="18" charset="0"/>
              </a:rPr>
              <a:t>#include&lt;conio.h&gt;</a:t>
            </a:r>
          </a:p>
          <a:p>
            <a:r>
              <a:rPr lang="en-US" sz="2800" b="1">
                <a:latin typeface="Times New Roman" pitchFamily="18" charset="0"/>
              </a:rPr>
              <a:t>void  add();			void add()</a:t>
            </a:r>
          </a:p>
          <a:p>
            <a:r>
              <a:rPr lang="en-US" sz="2800" b="1">
                <a:latin typeface="Times New Roman" pitchFamily="18" charset="0"/>
              </a:rPr>
              <a:t>void main()			{</a:t>
            </a:r>
          </a:p>
          <a:p>
            <a:r>
              <a:rPr lang="en-US" sz="2800" b="1">
                <a:latin typeface="Times New Roman" pitchFamily="18" charset="0"/>
              </a:rPr>
              <a:t>{				int a,b,c;</a:t>
            </a:r>
          </a:p>
          <a:p>
            <a:r>
              <a:rPr lang="en-US" sz="2800" b="1">
                <a:latin typeface="Times New Roman" pitchFamily="18" charset="0"/>
              </a:rPr>
              <a:t>clrscr();			printf("Enter two numbers\n");</a:t>
            </a:r>
          </a:p>
          <a:p>
            <a:r>
              <a:rPr lang="en-US" sz="2800" b="1">
                <a:latin typeface="Times New Roman" pitchFamily="18" charset="0"/>
              </a:rPr>
              <a:t>add();			scanf("%d%d",&amp;a,&amp;b);</a:t>
            </a:r>
          </a:p>
          <a:p>
            <a:r>
              <a:rPr lang="en-US" sz="2800" b="1">
                <a:latin typeface="Times New Roman" pitchFamily="18" charset="0"/>
              </a:rPr>
              <a:t>printf("Prg ends");	c=a+b;</a:t>
            </a:r>
          </a:p>
          <a:p>
            <a:r>
              <a:rPr lang="en-US" sz="2800" b="1">
                <a:latin typeface="Times New Roman" pitchFamily="18" charset="0"/>
              </a:rPr>
              <a:t>			          printf("The sum is %d\n",c);</a:t>
            </a:r>
          </a:p>
          <a:p>
            <a:r>
              <a:rPr lang="en-US" sz="2800" b="1">
                <a:latin typeface="Times New Roman" pitchFamily="18" charset="0"/>
              </a:rPr>
              <a:t>getch();</a:t>
            </a:r>
          </a:p>
          <a:p>
            <a:r>
              <a:rPr lang="en-US" sz="2800" b="1">
                <a:latin typeface="Times New Roman" pitchFamily="18" charset="0"/>
              </a:rPr>
              <a:t>}				}</a:t>
            </a:r>
          </a:p>
        </p:txBody>
      </p:sp>
    </p:spTree>
  </p:cSld>
  <p:clrMapOvr>
    <a:masterClrMapping/>
  </p:clrMapOvr>
  <p:transition spd="med">
    <p:wheel spokes="3"/>
  </p:transition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-169863"/>
            <a:ext cx="9144000" cy="7110413"/>
          </a:xfrm>
          <a:prstGeom prst="rect">
            <a:avLst/>
          </a:prstGeom>
          <a:solidFill>
            <a:srgbClr val="660033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/*  To perform Addition of two numbers */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/* WITH ARGUMENT BUT NO RETURN VALUES*/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#include&lt;stdio.h&gt;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#include&lt;conio.h&gt;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void  add(int a,int b);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void main()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{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int x,y;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clrscr();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printf("Enter two numbers");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scanf("%d %d",&amp;x,&amp;y);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add(x,y);    /* Actual Arguments */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getch();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}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void add(int a,int b)    /* Formal Arguments */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{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int c=a+b;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printf("\nThe Addition Value is %d",c);</a:t>
            </a:r>
          </a:p>
          <a:p>
            <a:r>
              <a:rPr lang="en-US" sz="2400" b="1">
                <a:solidFill>
                  <a:schemeClr val="bg1"/>
                </a:solidFill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6200" y="533400"/>
            <a:ext cx="8915400" cy="4048125"/>
            <a:chOff x="240" y="336"/>
            <a:chExt cx="5616" cy="2550"/>
          </a:xfrm>
        </p:grpSpPr>
        <p:sp>
          <p:nvSpPr>
            <p:cNvPr id="10243" name="WordArt 3"/>
            <p:cNvSpPr>
              <a:spLocks noChangeArrowheads="1" noChangeShapeType="1" noTextEdit="1"/>
            </p:cNvSpPr>
            <p:nvPr/>
          </p:nvSpPr>
          <p:spPr bwMode="auto">
            <a:xfrm>
              <a:off x="1536" y="346"/>
              <a:ext cx="1101" cy="4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rgbClr val="B2B2B2">
                      <a:alpha val="50195"/>
                    </a:srgbClr>
                  </a:solidFill>
                  <a:effectLst>
                    <a:outerShdw dist="45791" dir="2021404" algn="ctr" rotWithShape="0">
                      <a:srgbClr val="9999FF"/>
                    </a:outerShdw>
                  </a:effectLst>
                  <a:latin typeface="Arial Black"/>
                </a:rPr>
                <a:t>return</a:t>
              </a:r>
            </a:p>
          </p:txBody>
        </p:sp>
        <p:sp>
          <p:nvSpPr>
            <p:cNvPr id="10244" name="Text Box 4"/>
            <p:cNvSpPr txBox="1">
              <a:spLocks noChangeArrowheads="1"/>
            </p:cNvSpPr>
            <p:nvPr/>
          </p:nvSpPr>
          <p:spPr bwMode="auto">
            <a:xfrm>
              <a:off x="2726" y="336"/>
              <a:ext cx="1849" cy="5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4800" b="1">
                  <a:latin typeface="Times New Roman" pitchFamily="18" charset="0"/>
                  <a:cs typeface="Times New Roman" pitchFamily="18" charset="0"/>
                </a:rPr>
                <a:t>expression</a:t>
              </a:r>
            </a:p>
          </p:txBody>
        </p:sp>
        <p:sp>
          <p:nvSpPr>
            <p:cNvPr id="10245" name="Text Box 5"/>
            <p:cNvSpPr txBox="1">
              <a:spLocks noChangeArrowheads="1"/>
            </p:cNvSpPr>
            <p:nvPr/>
          </p:nvSpPr>
          <p:spPr bwMode="auto">
            <a:xfrm>
              <a:off x="240" y="1114"/>
              <a:ext cx="5604" cy="33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3"/>
                </a:buBlip>
              </a:pPr>
              <a:r>
                <a:rPr lang="en-US" sz="28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The return statement is used to return from a function.</a:t>
              </a:r>
            </a:p>
          </p:txBody>
        </p:sp>
        <p:sp>
          <p:nvSpPr>
            <p:cNvPr id="10246" name="Text Box 6"/>
            <p:cNvSpPr txBox="1">
              <a:spLocks noChangeArrowheads="1"/>
            </p:cNvSpPr>
            <p:nvPr/>
          </p:nvSpPr>
          <p:spPr bwMode="auto">
            <a:xfrm>
              <a:off x="240" y="1689"/>
              <a:ext cx="5430" cy="6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3"/>
                </a:buBlip>
              </a:pPr>
              <a:r>
                <a:rPr lang="en-US" sz="28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It causes execution to return to the point at which the</a:t>
              </a:r>
              <a:br>
                <a:rPr lang="en-US" sz="28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8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   call to the function was made.</a:t>
              </a:r>
            </a:p>
          </p:txBody>
        </p:sp>
        <p:sp>
          <p:nvSpPr>
            <p:cNvPr id="10247" name="Text Box 7"/>
            <p:cNvSpPr txBox="1">
              <a:spLocks noChangeArrowheads="1"/>
            </p:cNvSpPr>
            <p:nvPr/>
          </p:nvSpPr>
          <p:spPr bwMode="auto">
            <a:xfrm>
              <a:off x="240" y="2284"/>
              <a:ext cx="5616" cy="60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3"/>
                </a:buBlip>
              </a:pPr>
              <a:r>
                <a:rPr lang="en-US" sz="28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The return statement can have a value with it, which it </a:t>
              </a:r>
              <a:br>
                <a:rPr lang="en-US" sz="28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800" b="1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    returns to the program.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42875" y="-120650"/>
            <a:ext cx="8991600" cy="7048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/>
              <a:t>/*  To perform Addition of two numbers </a:t>
            </a:r>
          </a:p>
          <a:p>
            <a:r>
              <a:rPr lang="en-US" sz="2400" b="1">
                <a:latin typeface="Times New Roman" pitchFamily="18" charset="0"/>
              </a:rPr>
              <a:t> Without Argument  and With Return values */</a:t>
            </a:r>
          </a:p>
          <a:p>
            <a:r>
              <a:rPr lang="en-US" sz="2400" b="1">
                <a:latin typeface="Times New Roman" pitchFamily="18" charset="0"/>
              </a:rPr>
              <a:t>#include&lt;stdio.h&gt;</a:t>
            </a:r>
          </a:p>
          <a:p>
            <a:r>
              <a:rPr lang="en-US" sz="2400" b="1">
                <a:latin typeface="Times New Roman" pitchFamily="18" charset="0"/>
              </a:rPr>
              <a:t>#include&lt;conio.h&gt;</a:t>
            </a:r>
          </a:p>
          <a:p>
            <a:r>
              <a:rPr lang="en-US" sz="2400" b="1">
                <a:latin typeface="Times New Roman" pitchFamily="18" charset="0"/>
              </a:rPr>
              <a:t>int add();     //declaration</a:t>
            </a:r>
          </a:p>
          <a:p>
            <a:r>
              <a:rPr lang="en-US" sz="2400" b="1">
                <a:latin typeface="Times New Roman" pitchFamily="18" charset="0"/>
              </a:rPr>
              <a:t>void  main()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int c;</a:t>
            </a:r>
          </a:p>
          <a:p>
            <a:r>
              <a:rPr lang="en-US" sz="2400" b="1">
                <a:latin typeface="Times New Roman" pitchFamily="18" charset="0"/>
              </a:rPr>
              <a:t>c=add();      </a:t>
            </a:r>
            <a:r>
              <a:rPr lang="en-US" sz="2000" b="1"/>
              <a:t>/* Return Variable - c */</a:t>
            </a:r>
          </a:p>
          <a:p>
            <a:r>
              <a:rPr lang="en-US" sz="2400" b="1">
                <a:latin typeface="Times New Roman" pitchFamily="18" charset="0"/>
              </a:rPr>
              <a:t>printf("The sum of two numbers is %d",c);</a:t>
            </a:r>
          </a:p>
          <a:p>
            <a:r>
              <a:rPr lang="en-US" sz="2400" b="1">
                <a:latin typeface="Times New Roman" pitchFamily="18" charset="0"/>
              </a:rPr>
              <a:t>}</a:t>
            </a:r>
          </a:p>
          <a:p>
            <a:r>
              <a:rPr lang="en-US" sz="2400" b="1">
                <a:latin typeface="Times New Roman" pitchFamily="18" charset="0"/>
              </a:rPr>
              <a:t>int add()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int a,b,c;</a:t>
            </a:r>
          </a:p>
          <a:p>
            <a:r>
              <a:rPr lang="en-US" sz="2400" b="1">
                <a:latin typeface="Times New Roman" pitchFamily="18" charset="0"/>
              </a:rPr>
              <a:t>printf("Enter two Numbers");</a:t>
            </a:r>
          </a:p>
          <a:p>
            <a:r>
              <a:rPr lang="en-US" sz="2400" b="1">
                <a:latin typeface="Times New Roman" pitchFamily="18" charset="0"/>
              </a:rPr>
              <a:t>scanf("%d %d",&amp;a,&amp;b);</a:t>
            </a:r>
          </a:p>
          <a:p>
            <a:r>
              <a:rPr lang="en-US" sz="2400" b="1">
                <a:latin typeface="Times New Roman" pitchFamily="18" charset="0"/>
              </a:rPr>
              <a:t>c=a+b;</a:t>
            </a:r>
          </a:p>
          <a:p>
            <a:r>
              <a:rPr lang="en-US" sz="2400" b="1">
                <a:latin typeface="Times New Roman" pitchFamily="18" charset="0"/>
              </a:rPr>
              <a:t>return(c);</a:t>
            </a:r>
          </a:p>
          <a:p>
            <a:r>
              <a:rPr lang="en-US" sz="2400" b="1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76200" y="0"/>
            <a:ext cx="8991600" cy="6678613"/>
          </a:xfrm>
          <a:prstGeom prst="rect">
            <a:avLst/>
          </a:prstGeom>
          <a:solidFill>
            <a:srgbClr val="EAEAEA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/>
              <a:t>/*  To perform Addition of two numbers </a:t>
            </a:r>
          </a:p>
          <a:p>
            <a:r>
              <a:rPr lang="en-US" sz="2400" b="1">
                <a:latin typeface="Times New Roman" pitchFamily="18" charset="0"/>
              </a:rPr>
              <a:t> With Argument  and With Return values */</a:t>
            </a:r>
          </a:p>
          <a:p>
            <a:r>
              <a:rPr lang="en-US" sz="2400" b="1">
                <a:latin typeface="Times New Roman" pitchFamily="18" charset="0"/>
              </a:rPr>
              <a:t>#include&lt;stdio.h&gt;</a:t>
            </a:r>
          </a:p>
          <a:p>
            <a:r>
              <a:rPr lang="en-US" sz="2400" b="1">
                <a:latin typeface="Times New Roman" pitchFamily="18" charset="0"/>
              </a:rPr>
              <a:t>int add(int x,int y);     //Function prototype declaration</a:t>
            </a:r>
          </a:p>
          <a:p>
            <a:r>
              <a:rPr lang="en-US" sz="2400" b="1">
                <a:latin typeface="Times New Roman" pitchFamily="18" charset="0"/>
              </a:rPr>
              <a:t>void  main()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int a,b,c;</a:t>
            </a:r>
          </a:p>
          <a:p>
            <a:r>
              <a:rPr lang="en-US" sz="2400" b="1">
                <a:latin typeface="Times New Roman" pitchFamily="18" charset="0"/>
              </a:rPr>
              <a:t>printf("Enter two Numbers");</a:t>
            </a:r>
          </a:p>
          <a:p>
            <a:r>
              <a:rPr lang="en-US" sz="2400" b="1">
                <a:latin typeface="Times New Roman" pitchFamily="18" charset="0"/>
              </a:rPr>
              <a:t>scanf("%d %d",&amp;a,&amp;b);</a:t>
            </a:r>
          </a:p>
          <a:p>
            <a:r>
              <a:rPr lang="en-US" sz="2400" b="1">
                <a:latin typeface="Times New Roman" pitchFamily="18" charset="0"/>
              </a:rPr>
              <a:t>c=add(a,b);  /* Actual Arguments */</a:t>
            </a:r>
          </a:p>
          <a:p>
            <a:r>
              <a:rPr lang="en-US" sz="2400" b="1">
                <a:latin typeface="Times New Roman" pitchFamily="18" charset="0"/>
              </a:rPr>
              <a:t>printf("The sum of two numbers is %d",c);</a:t>
            </a:r>
          </a:p>
          <a:p>
            <a:r>
              <a:rPr lang="en-US" sz="2400" b="1">
                <a:latin typeface="Times New Roman" pitchFamily="18" charset="0"/>
              </a:rPr>
              <a:t>}</a:t>
            </a:r>
          </a:p>
          <a:p>
            <a:r>
              <a:rPr lang="en-US" sz="2400" b="1">
                <a:latin typeface="Times New Roman" pitchFamily="18" charset="0"/>
              </a:rPr>
              <a:t>int add(int x,int y)  /* Formal arguments */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Int z;</a:t>
            </a:r>
          </a:p>
          <a:p>
            <a:r>
              <a:rPr lang="en-US" sz="2400" b="1">
                <a:latin typeface="Times New Roman" pitchFamily="18" charset="0"/>
              </a:rPr>
              <a:t>z=x+y;</a:t>
            </a:r>
          </a:p>
          <a:p>
            <a:r>
              <a:rPr lang="en-US" sz="2400" b="1">
                <a:latin typeface="Times New Roman" pitchFamily="18" charset="0"/>
              </a:rPr>
              <a:t>return(z);</a:t>
            </a:r>
          </a:p>
          <a:p>
            <a:r>
              <a:rPr lang="en-US" sz="2400" b="1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WordArt 2"/>
          <p:cNvSpPr>
            <a:spLocks noChangeArrowheads="1" noChangeShapeType="1" noTextEdit="1"/>
          </p:cNvSpPr>
          <p:nvPr/>
        </p:nvSpPr>
        <p:spPr bwMode="auto">
          <a:xfrm>
            <a:off x="1752600" y="457200"/>
            <a:ext cx="5562600" cy="698500"/>
          </a:xfrm>
          <a:prstGeom prst="rect">
            <a:avLst/>
          </a:prstGeom>
        </p:spPr>
        <p:txBody>
          <a:bodyPr wrap="none" fromWordArt="1">
            <a:prstTxWarp prst="textTriangle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8200"/>
                    </a:gs>
                    <a:gs pos="5000">
                      <a:srgbClr val="FF0000"/>
                    </a:gs>
                    <a:gs pos="17500">
                      <a:srgbClr val="BA0066"/>
                    </a:gs>
                    <a:gs pos="35001">
                      <a:srgbClr val="66008F"/>
                    </a:gs>
                    <a:gs pos="50000">
                      <a:srgbClr val="000082"/>
                    </a:gs>
                    <a:gs pos="64999">
                      <a:srgbClr val="66008F"/>
                    </a:gs>
                    <a:gs pos="82500">
                      <a:srgbClr val="BA0066"/>
                    </a:gs>
                    <a:gs pos="95000">
                      <a:srgbClr val="FF0000"/>
                    </a:gs>
                    <a:gs pos="100000">
                      <a:srgbClr val="FF8200"/>
                    </a:gs>
                  </a:gsLst>
                  <a:lin ang="5400000" scaled="1"/>
                </a:gradFill>
                <a:effectLst>
                  <a:prstShdw prst="shdw13" dist="53882" dir="13500000">
                    <a:srgbClr val="868686">
                      <a:alpha val="50000"/>
                    </a:srgbClr>
                  </a:prstShdw>
                </a:effectLst>
                <a:latin typeface="Times New Roman"/>
                <a:cs typeface="Times New Roman"/>
              </a:rPr>
              <a:t>STORAGE CLASS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381000" y="1371600"/>
            <a:ext cx="87630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Every ‘C’ variable has a characteristic called its Storage Class.</a:t>
            </a:r>
          </a:p>
          <a:p>
            <a:pPr algn="ctr">
              <a:spcBef>
                <a:spcPct val="50000"/>
              </a:spcBef>
            </a:pPr>
            <a:r>
              <a:rPr lang="en-US" sz="2000" b="1"/>
              <a:t>All variables have datatype and storage classes.</a:t>
            </a:r>
          </a:p>
        </p:txBody>
      </p:sp>
      <p:sp>
        <p:nvSpPr>
          <p:cNvPr id="13316" name="WordArt 4"/>
          <p:cNvSpPr>
            <a:spLocks noChangeArrowheads="1" noChangeShapeType="1" noTextEdit="1"/>
          </p:cNvSpPr>
          <p:nvPr/>
        </p:nvSpPr>
        <p:spPr bwMode="auto">
          <a:xfrm>
            <a:off x="2895600" y="2286000"/>
            <a:ext cx="2971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Based On</a:t>
            </a:r>
          </a:p>
        </p:txBody>
      </p:sp>
      <p:sp>
        <p:nvSpPr>
          <p:cNvPr id="13317" name="AutoShape 5"/>
          <p:cNvSpPr>
            <a:spLocks noChangeArrowheads="1"/>
          </p:cNvSpPr>
          <p:nvPr/>
        </p:nvSpPr>
        <p:spPr bwMode="auto">
          <a:xfrm>
            <a:off x="2209800" y="3429000"/>
            <a:ext cx="5562600" cy="2667000"/>
          </a:xfrm>
          <a:prstGeom prst="cloudCallout">
            <a:avLst>
              <a:gd name="adj1" fmla="val -20176"/>
              <a:gd name="adj2" fmla="val -6589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sz="2400" b="1"/>
              <a:t>  Keyword</a:t>
            </a:r>
          </a:p>
          <a:p>
            <a:pPr>
              <a:buFont typeface="Wingdings" pitchFamily="2" charset="2"/>
              <a:buChar char="ü"/>
            </a:pPr>
            <a:r>
              <a:rPr lang="en-US" sz="2400" b="1"/>
              <a:t>  Where it is Declared</a:t>
            </a:r>
          </a:p>
          <a:p>
            <a:pPr>
              <a:buFont typeface="Wingdings" pitchFamily="2" charset="2"/>
              <a:buChar char="ü"/>
            </a:pPr>
            <a:r>
              <a:rPr lang="en-US" sz="2400" b="1"/>
              <a:t>  Storage Area</a:t>
            </a:r>
          </a:p>
          <a:p>
            <a:pPr>
              <a:buFont typeface="Wingdings" pitchFamily="2" charset="2"/>
              <a:buChar char="ü"/>
            </a:pPr>
            <a:r>
              <a:rPr lang="en-US" sz="2400" b="1"/>
              <a:t>  Default Initial value</a:t>
            </a:r>
          </a:p>
          <a:p>
            <a:pPr>
              <a:buFont typeface="Wingdings" pitchFamily="2" charset="2"/>
              <a:buChar char="ü"/>
            </a:pPr>
            <a:r>
              <a:rPr lang="en-US" sz="2400" b="1"/>
              <a:t>  Lifetime of a variable</a:t>
            </a:r>
          </a:p>
        </p:txBody>
      </p:sp>
    </p:spTree>
  </p:cSld>
  <p:clrMapOvr>
    <a:masterClrMapping/>
  </p:clrMapOvr>
  <p:transition spd="med">
    <p:strips dir="ru"/>
  </p:transition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WordArt 2"/>
          <p:cNvSpPr>
            <a:spLocks noChangeArrowheads="1" noChangeShapeType="1" noTextEdit="1"/>
          </p:cNvSpPr>
          <p:nvPr/>
        </p:nvSpPr>
        <p:spPr bwMode="auto">
          <a:xfrm>
            <a:off x="1676400" y="457200"/>
            <a:ext cx="5486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66"/>
                </a:solidFill>
                <a:latin typeface="Arial Black"/>
              </a:rPr>
              <a:t>Four different storage classes in "c"</a:t>
            </a:r>
          </a:p>
        </p:txBody>
      </p:sp>
      <p:sp>
        <p:nvSpPr>
          <p:cNvPr id="16387" name="AutoShape 3"/>
          <p:cNvSpPr>
            <a:spLocks noChangeArrowheads="1"/>
          </p:cNvSpPr>
          <p:nvPr/>
        </p:nvSpPr>
        <p:spPr bwMode="auto">
          <a:xfrm>
            <a:off x="1905000" y="1676400"/>
            <a:ext cx="5334000" cy="2209800"/>
          </a:xfrm>
          <a:prstGeom prst="wedgeRectCallout">
            <a:avLst>
              <a:gd name="adj1" fmla="val -34139"/>
              <a:gd name="adj2" fmla="val -75718"/>
            </a:avLst>
          </a:prstGeom>
          <a:solidFill>
            <a:srgbClr val="FFCC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35000"/>
              </a:lnSpc>
              <a:buFontTx/>
              <a:buAutoNum type="arabicPeriod"/>
            </a:pPr>
            <a:r>
              <a:rPr lang="en-US" sz="2400" b="1"/>
              <a:t>Local or Auto or Internal variable</a:t>
            </a:r>
          </a:p>
          <a:p>
            <a:pPr marL="342900" indent="-342900">
              <a:lnSpc>
                <a:spcPct val="135000"/>
              </a:lnSpc>
              <a:buFontTx/>
              <a:buAutoNum type="arabicPeriod"/>
            </a:pPr>
            <a:r>
              <a:rPr lang="en-US" sz="2400" b="1"/>
              <a:t> External or Global variable</a:t>
            </a:r>
          </a:p>
          <a:p>
            <a:pPr marL="342900" indent="-342900">
              <a:lnSpc>
                <a:spcPct val="135000"/>
              </a:lnSpc>
              <a:buFontTx/>
              <a:buAutoNum type="arabicPeriod"/>
            </a:pPr>
            <a:r>
              <a:rPr lang="en-US" sz="2400" b="1"/>
              <a:t>Static variable</a:t>
            </a:r>
          </a:p>
          <a:p>
            <a:pPr marL="342900" indent="-342900">
              <a:lnSpc>
                <a:spcPct val="135000"/>
              </a:lnSpc>
              <a:buFontTx/>
              <a:buAutoNum type="arabicPeriod"/>
            </a:pPr>
            <a:r>
              <a:rPr lang="en-US" sz="2400" b="1"/>
              <a:t>Register Variable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7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nimBg="1"/>
      <p:bldP spid="16387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WordArt 2" descr="Purple mesh"/>
          <p:cNvSpPr>
            <a:spLocks noChangeArrowheads="1" noChangeShapeType="1" noTextEdit="1"/>
          </p:cNvSpPr>
          <p:nvPr/>
        </p:nvSpPr>
        <p:spPr bwMode="auto">
          <a:xfrm>
            <a:off x="1752600" y="2362200"/>
            <a:ext cx="5638800" cy="1600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5556"/>
              </a:avLst>
            </a:prstTxWarp>
          </a:bodyPr>
          <a:lstStyle/>
          <a:p>
            <a:pPr algn="ctr"/>
            <a:r>
              <a:rPr lang="en-IN" sz="3600" kern="10">
                <a:ln w="9525">
                  <a:noFill/>
                  <a:round/>
                  <a:headEnd/>
                  <a:tailEnd/>
                </a:ln>
                <a:blipFill dpi="0" rotWithShape="1">
                  <a:blip r:embed="rId3"/>
                  <a:srcRect/>
                  <a:tile tx="0" ty="0" sx="100000" sy="100000" flip="none" algn="tl"/>
                </a:blip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Local Variable</a:t>
            </a:r>
          </a:p>
        </p:txBody>
      </p:sp>
    </p:spTree>
  </p:cSld>
  <p:clrMapOvr>
    <a:masterClrMapping/>
  </p:clrMapOvr>
  <p:transition spd="med">
    <p:checker dir="vert"/>
  </p:transition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4495800" cy="685800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2000" b="1"/>
              <a:t>Auto variable are always declared within a function and they are local to the function in which they are declared. Hence they are also named as local variables</a:t>
            </a:r>
          </a:p>
          <a:p>
            <a:pPr algn="just">
              <a:lnSpc>
                <a:spcPct val="130000"/>
              </a:lnSpc>
            </a:pPr>
            <a:endParaRPr lang="en-US" sz="2000" b="1"/>
          </a:p>
          <a:p>
            <a:pPr algn="just">
              <a:lnSpc>
                <a:spcPct val="130000"/>
              </a:lnSpc>
            </a:pPr>
            <a:r>
              <a:rPr lang="en-US" sz="2000" b="1" u="sng"/>
              <a:t>Keyword :</a:t>
            </a:r>
            <a:r>
              <a:rPr lang="en-US" sz="2000" b="1"/>
              <a:t> auto </a:t>
            </a:r>
          </a:p>
          <a:p>
            <a:pPr algn="just">
              <a:lnSpc>
                <a:spcPct val="130000"/>
              </a:lnSpc>
            </a:pPr>
            <a:r>
              <a:rPr lang="en-US" sz="2000" b="1" u="sng"/>
              <a:t>Declaration :</a:t>
            </a:r>
            <a:r>
              <a:rPr lang="en-US" sz="2000" b="1"/>
              <a:t> Inside the function</a:t>
            </a:r>
          </a:p>
          <a:p>
            <a:pPr algn="just">
              <a:lnSpc>
                <a:spcPct val="130000"/>
              </a:lnSpc>
            </a:pPr>
            <a:r>
              <a:rPr lang="en-US" sz="2000" b="1" u="sng"/>
              <a:t>Storage Area :</a:t>
            </a:r>
            <a:r>
              <a:rPr lang="en-US" sz="2000" b="1"/>
              <a:t> Stack</a:t>
            </a:r>
          </a:p>
          <a:p>
            <a:pPr algn="just">
              <a:lnSpc>
                <a:spcPct val="130000"/>
              </a:lnSpc>
            </a:pPr>
            <a:r>
              <a:rPr lang="en-US" sz="2000" b="1" u="sng"/>
              <a:t>Initial Value :</a:t>
            </a:r>
            <a:r>
              <a:rPr lang="en-US" sz="2000" b="1"/>
              <a:t> Garbage value               (At the time of compilation compiler assigns any value)</a:t>
            </a:r>
          </a:p>
          <a:p>
            <a:pPr algn="just">
              <a:lnSpc>
                <a:spcPct val="130000"/>
              </a:lnSpc>
            </a:pPr>
            <a:r>
              <a:rPr lang="en-US" sz="2000" b="1" u="sng"/>
              <a:t>Lifetime :</a:t>
            </a:r>
            <a:r>
              <a:rPr lang="en-US" sz="2000" b="1"/>
              <a:t> Upto that function only</a:t>
            </a:r>
          </a:p>
          <a:p>
            <a:pPr algn="just">
              <a:lnSpc>
                <a:spcPct val="130000"/>
              </a:lnSpc>
            </a:pPr>
            <a:endParaRPr lang="en-US" sz="2000" b="1"/>
          </a:p>
          <a:p>
            <a:pPr algn="just">
              <a:lnSpc>
                <a:spcPct val="130000"/>
              </a:lnSpc>
            </a:pPr>
            <a:r>
              <a:rPr lang="en-US" sz="2000" b="1"/>
              <a:t>Example :</a:t>
            </a:r>
          </a:p>
          <a:p>
            <a:pPr algn="just">
              <a:lnSpc>
                <a:spcPct val="130000"/>
              </a:lnSpc>
            </a:pPr>
            <a:r>
              <a:rPr lang="en-US" sz="2000" b="1"/>
              <a:t>auto int x;  (or)  int x;</a:t>
            </a:r>
          </a:p>
          <a:p>
            <a:pPr algn="just">
              <a:lnSpc>
                <a:spcPct val="130000"/>
              </a:lnSpc>
            </a:pPr>
            <a:endParaRPr lang="en-US" sz="2000" b="1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4495800" y="0"/>
            <a:ext cx="4648200" cy="685800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/>
              <a:t>#include&lt;stdio.h&gt;</a:t>
            </a:r>
          </a:p>
          <a:p>
            <a:r>
              <a:rPr lang="en-US" sz="2000" b="1"/>
              <a:t>void function1();</a:t>
            </a:r>
          </a:p>
          <a:p>
            <a:r>
              <a:rPr lang="en-US" sz="2000" b="1"/>
              <a:t>void function2();</a:t>
            </a:r>
          </a:p>
          <a:p>
            <a:r>
              <a:rPr lang="en-US" sz="2000" b="1"/>
              <a:t>void main()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int m=1000;</a:t>
            </a:r>
          </a:p>
          <a:p>
            <a:r>
              <a:rPr lang="en-US" sz="2000" b="1"/>
              <a:t>function2();</a:t>
            </a:r>
          </a:p>
          <a:p>
            <a:r>
              <a:rPr lang="en-US" sz="2000" b="1"/>
              <a:t>printf("%d\n",m);getch();</a:t>
            </a:r>
          </a:p>
          <a:p>
            <a:r>
              <a:rPr lang="en-US" sz="2000" b="1"/>
              <a:t>}</a:t>
            </a:r>
          </a:p>
          <a:p>
            <a:endParaRPr lang="en-US" sz="2000" b="1"/>
          </a:p>
          <a:p>
            <a:r>
              <a:rPr lang="en-US" sz="2000" b="1"/>
              <a:t>void function1()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int m=10;</a:t>
            </a:r>
          </a:p>
          <a:p>
            <a:r>
              <a:rPr lang="en-US" sz="2000" b="1"/>
              <a:t>printf("%d\n",m);</a:t>
            </a:r>
          </a:p>
          <a:p>
            <a:r>
              <a:rPr lang="en-US" sz="2000" b="1"/>
              <a:t>}</a:t>
            </a:r>
          </a:p>
          <a:p>
            <a:endParaRPr lang="en-US" sz="2000" b="1"/>
          </a:p>
          <a:p>
            <a:r>
              <a:rPr lang="en-US" sz="2000" b="1"/>
              <a:t>void function2()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int m=100;</a:t>
            </a:r>
          </a:p>
          <a:p>
            <a:r>
              <a:rPr lang="en-US" sz="2000" b="1"/>
              <a:t>function1();</a:t>
            </a:r>
          </a:p>
          <a:p>
            <a:r>
              <a:rPr lang="en-US" sz="2000" b="1"/>
              <a:t>printf("%d\n",m);</a:t>
            </a:r>
          </a:p>
          <a:p>
            <a:r>
              <a:rPr lang="en-US" sz="2000" b="1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nimBg="1"/>
      <p:bldP spid="1843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WordArt 2" descr="Purple mesh"/>
          <p:cNvSpPr>
            <a:spLocks noChangeArrowheads="1" noChangeShapeType="1" noTextEdit="1"/>
          </p:cNvSpPr>
          <p:nvPr/>
        </p:nvSpPr>
        <p:spPr bwMode="auto">
          <a:xfrm>
            <a:off x="1752600" y="2362200"/>
            <a:ext cx="5638800" cy="1600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5556"/>
              </a:avLst>
            </a:prstTxWarp>
          </a:bodyPr>
          <a:lstStyle/>
          <a:p>
            <a:pPr algn="ctr"/>
            <a:r>
              <a:rPr lang="en-IN" sz="3600" kern="10">
                <a:ln w="9525">
                  <a:noFill/>
                  <a:round/>
                  <a:headEnd/>
                  <a:tailEnd/>
                </a:ln>
                <a:blipFill dpi="0" rotWithShape="1">
                  <a:blip r:embed="rId3"/>
                  <a:srcRect/>
                  <a:tile tx="0" ty="0" sx="100000" sy="100000" flip="none" algn="tl"/>
                </a:blip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Global Variable</a:t>
            </a: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-228600"/>
            <a:ext cx="4419600" cy="5940425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/>
              <a:t>A variable which can be accessed with in a function and outside the</a:t>
            </a:r>
          </a:p>
          <a:p>
            <a:r>
              <a:rPr lang="en-US" sz="2000" b="1"/>
              <a:t>main function. These variables are also named as Global variables or External variables</a:t>
            </a:r>
          </a:p>
          <a:p>
            <a:r>
              <a:rPr lang="en-US" sz="2000" b="1" u="sng"/>
              <a:t>Keyword :</a:t>
            </a:r>
            <a:r>
              <a:rPr lang="en-US" sz="2000" b="1"/>
              <a:t> extern</a:t>
            </a:r>
          </a:p>
          <a:p>
            <a:pPr algn="just">
              <a:lnSpc>
                <a:spcPct val="130000"/>
              </a:lnSpc>
            </a:pPr>
            <a:r>
              <a:rPr lang="en-US" sz="2000" b="1" u="sng"/>
              <a:t>Declaration :</a:t>
            </a:r>
            <a:r>
              <a:rPr lang="en-US" sz="2000" b="1"/>
              <a:t> Outside of the  main() function</a:t>
            </a:r>
          </a:p>
          <a:p>
            <a:pPr algn="just">
              <a:lnSpc>
                <a:spcPct val="130000"/>
              </a:lnSpc>
            </a:pPr>
            <a:r>
              <a:rPr lang="en-US" sz="2000" b="1" u="sng"/>
              <a:t>Storage Area :</a:t>
            </a:r>
            <a:r>
              <a:rPr lang="en-US" sz="2000" b="1"/>
              <a:t> CPU–memory</a:t>
            </a:r>
          </a:p>
          <a:p>
            <a:pPr algn="just">
              <a:lnSpc>
                <a:spcPct val="130000"/>
              </a:lnSpc>
            </a:pPr>
            <a:r>
              <a:rPr lang="en-US" sz="2000" b="1" u="sng"/>
              <a:t>Initial Value :</a:t>
            </a:r>
            <a:r>
              <a:rPr lang="en-US" sz="2000" b="1"/>
              <a:t> zero</a:t>
            </a:r>
          </a:p>
          <a:p>
            <a:pPr algn="just">
              <a:lnSpc>
                <a:spcPct val="130000"/>
              </a:lnSpc>
            </a:pPr>
            <a:r>
              <a:rPr lang="en-US" sz="2000" b="1" u="sng"/>
              <a:t>Lifetime :</a:t>
            </a:r>
            <a:r>
              <a:rPr lang="en-US" sz="2000" b="1"/>
              <a:t> Upto the entire program</a:t>
            </a:r>
          </a:p>
          <a:p>
            <a:pPr algn="just">
              <a:lnSpc>
                <a:spcPct val="130000"/>
              </a:lnSpc>
            </a:pPr>
            <a:r>
              <a:rPr lang="en-US" sz="2000" b="1"/>
              <a:t>Example :</a:t>
            </a:r>
          </a:p>
          <a:p>
            <a:pPr algn="just">
              <a:lnSpc>
                <a:spcPct val="130000"/>
              </a:lnSpc>
            </a:pPr>
            <a:r>
              <a:rPr lang="en-US" sz="2000" b="1"/>
              <a:t>int x;		   (or)</a:t>
            </a:r>
          </a:p>
          <a:p>
            <a:pPr algn="just">
              <a:lnSpc>
                <a:spcPct val="130000"/>
              </a:lnSpc>
            </a:pPr>
            <a:r>
              <a:rPr lang="en-US" sz="2000" b="1"/>
              <a:t>main()                            main()</a:t>
            </a:r>
          </a:p>
          <a:p>
            <a:pPr algn="just">
              <a:lnSpc>
                <a:spcPct val="130000"/>
              </a:lnSpc>
            </a:pPr>
            <a:r>
              <a:rPr lang="en-US" sz="2000" b="1"/>
              <a:t>{		    {  extern int x;</a:t>
            </a:r>
          </a:p>
          <a:p>
            <a:pPr algn="just">
              <a:lnSpc>
                <a:spcPct val="130000"/>
              </a:lnSpc>
            </a:pPr>
            <a:r>
              <a:rPr lang="en-US" sz="2000" b="1"/>
              <a:t>}		    }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4495800" y="88900"/>
            <a:ext cx="4419600" cy="5354638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#include&lt;stdio.h&gt;</a:t>
            </a:r>
          </a:p>
          <a:p>
            <a:r>
              <a:rPr lang="en-US" b="1"/>
              <a:t>int k=1000;  </a:t>
            </a:r>
          </a:p>
          <a:p>
            <a:r>
              <a:rPr lang="en-US" b="1"/>
              <a:t>void function1();</a:t>
            </a:r>
          </a:p>
          <a:p>
            <a:r>
              <a:rPr lang="en-US" b="1"/>
              <a:t>void function2();</a:t>
            </a:r>
          </a:p>
          <a:p>
            <a:r>
              <a:rPr lang="en-US" b="1"/>
              <a:t>void main()</a:t>
            </a:r>
          </a:p>
          <a:p>
            <a:r>
              <a:rPr lang="en-US" b="1"/>
              <a:t>{</a:t>
            </a:r>
          </a:p>
          <a:p>
            <a:r>
              <a:rPr lang="en-US" b="1"/>
              <a:t>printf(“In main k=%d”,k);</a:t>
            </a:r>
          </a:p>
          <a:p>
            <a:r>
              <a:rPr lang="en-US" b="1"/>
              <a:t>function1();</a:t>
            </a:r>
          </a:p>
          <a:p>
            <a:r>
              <a:rPr lang="en-US" b="1"/>
              <a:t>function2();</a:t>
            </a:r>
          </a:p>
          <a:p>
            <a:r>
              <a:rPr lang="en-US" b="1"/>
              <a:t>getch();</a:t>
            </a:r>
          </a:p>
          <a:p>
            <a:r>
              <a:rPr lang="en-US" b="1"/>
              <a:t>}</a:t>
            </a:r>
          </a:p>
          <a:p>
            <a:r>
              <a:rPr lang="en-US" b="1"/>
              <a:t>void function1()  </a:t>
            </a:r>
          </a:p>
          <a:p>
            <a:r>
              <a:rPr lang="en-US" b="1"/>
              <a:t>{</a:t>
            </a:r>
          </a:p>
          <a:p>
            <a:r>
              <a:rPr lang="en-US" b="1"/>
              <a:t>printf(“In main k=%d",k); </a:t>
            </a:r>
          </a:p>
          <a:p>
            <a:r>
              <a:rPr lang="en-US" b="1"/>
              <a:t> }</a:t>
            </a:r>
          </a:p>
          <a:p>
            <a:r>
              <a:rPr lang="en-US" b="1"/>
              <a:t>void function2()</a:t>
            </a:r>
          </a:p>
          <a:p>
            <a:r>
              <a:rPr lang="en-US" b="1"/>
              <a:t>{</a:t>
            </a:r>
          </a:p>
          <a:p>
            <a:r>
              <a:rPr lang="en-US" b="1"/>
              <a:t>printf(“In main k=%d",k);</a:t>
            </a:r>
          </a:p>
          <a:p>
            <a:r>
              <a:rPr lang="en-US" b="1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nimBg="1"/>
      <p:bldP spid="20483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WordArt 2" descr="Purple mesh"/>
          <p:cNvSpPr>
            <a:spLocks noChangeArrowheads="1" noChangeShapeType="1" noTextEdit="1"/>
          </p:cNvSpPr>
          <p:nvPr/>
        </p:nvSpPr>
        <p:spPr bwMode="auto">
          <a:xfrm>
            <a:off x="1752600" y="2362200"/>
            <a:ext cx="5638800" cy="1600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5556"/>
              </a:avLst>
            </a:prstTxWarp>
          </a:bodyPr>
          <a:lstStyle/>
          <a:p>
            <a:pPr algn="ctr"/>
            <a:r>
              <a:rPr lang="en-IN" sz="3600" kern="10">
                <a:ln w="9525">
                  <a:noFill/>
                  <a:round/>
                  <a:headEnd/>
                  <a:tailEnd/>
                </a:ln>
                <a:blipFill dpi="0" rotWithShape="1">
                  <a:blip r:embed="rId3"/>
                  <a:srcRect/>
                  <a:tile tx="0" ty="0" sx="100000" sy="100000" flip="none" algn="tl"/>
                </a:blip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Static Variable</a:t>
            </a:r>
          </a:p>
        </p:txBody>
      </p:sp>
    </p:spTree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76200" y="76200"/>
            <a:ext cx="4419600" cy="4587875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000" b="1"/>
              <a:t>This variable static is constant and the value is continued in all the</a:t>
            </a:r>
          </a:p>
          <a:p>
            <a:pPr algn="just"/>
            <a:r>
              <a:rPr lang="en-US" sz="2000" b="1"/>
              <a:t>steps. </a:t>
            </a:r>
            <a:endParaRPr lang="en-US" sz="2400" b="1"/>
          </a:p>
          <a:p>
            <a:pPr algn="just">
              <a:lnSpc>
                <a:spcPct val="130000"/>
              </a:lnSpc>
            </a:pPr>
            <a:r>
              <a:rPr lang="en-US" sz="2000" b="1" u="sng"/>
              <a:t>Keyword :</a:t>
            </a:r>
            <a:r>
              <a:rPr lang="en-US" sz="2000" b="1"/>
              <a:t> static </a:t>
            </a:r>
          </a:p>
          <a:p>
            <a:pPr algn="just">
              <a:lnSpc>
                <a:spcPct val="130000"/>
              </a:lnSpc>
            </a:pPr>
            <a:r>
              <a:rPr lang="en-US" sz="2000" b="1" u="sng"/>
              <a:t>Declaration :</a:t>
            </a:r>
            <a:r>
              <a:rPr lang="en-US" sz="2000" b="1"/>
              <a:t> Inside the function</a:t>
            </a:r>
          </a:p>
          <a:p>
            <a:pPr algn="just">
              <a:lnSpc>
                <a:spcPct val="130000"/>
              </a:lnSpc>
            </a:pPr>
            <a:r>
              <a:rPr lang="en-US" sz="2000" b="1" u="sng"/>
              <a:t>Storage Area :</a:t>
            </a:r>
            <a:r>
              <a:rPr lang="en-US" sz="2000" b="1"/>
              <a:t> CPU –  memory</a:t>
            </a:r>
          </a:p>
          <a:p>
            <a:pPr algn="just">
              <a:lnSpc>
                <a:spcPct val="130000"/>
              </a:lnSpc>
            </a:pPr>
            <a:r>
              <a:rPr lang="en-US" sz="2000" b="1" u="sng"/>
              <a:t>Initial Value :</a:t>
            </a:r>
            <a:r>
              <a:rPr lang="en-US" sz="2000" b="1"/>
              <a:t> Zero</a:t>
            </a:r>
          </a:p>
          <a:p>
            <a:pPr algn="just">
              <a:lnSpc>
                <a:spcPct val="130000"/>
              </a:lnSpc>
            </a:pPr>
            <a:r>
              <a:rPr lang="en-US" sz="2000" b="1" u="sng"/>
              <a:t>Lifetime :</a:t>
            </a:r>
            <a:r>
              <a:rPr lang="en-US" sz="2000" b="1"/>
              <a:t> The value of the variable persists between different function calls.</a:t>
            </a:r>
          </a:p>
          <a:p>
            <a:pPr algn="just">
              <a:lnSpc>
                <a:spcPct val="130000"/>
              </a:lnSpc>
            </a:pPr>
            <a:r>
              <a:rPr lang="en-US" sz="2000" b="1"/>
              <a:t>Example :</a:t>
            </a:r>
          </a:p>
          <a:p>
            <a:pPr algn="just">
              <a:lnSpc>
                <a:spcPct val="130000"/>
              </a:lnSpc>
            </a:pPr>
            <a:r>
              <a:rPr lang="en-US" sz="2000" b="1"/>
              <a:t>static int x; </a:t>
            </a: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4495800" y="88900"/>
            <a:ext cx="4419600" cy="501650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/>
              <a:t>/* Example for static variable */</a:t>
            </a:r>
          </a:p>
          <a:p>
            <a:r>
              <a:rPr lang="en-US" sz="2000" b="1"/>
              <a:t>#include&lt;stdio.h&gt;</a:t>
            </a:r>
          </a:p>
          <a:p>
            <a:r>
              <a:rPr lang="en-US" sz="2000" b="1"/>
              <a:t>void stat();</a:t>
            </a:r>
          </a:p>
          <a:p>
            <a:r>
              <a:rPr lang="en-US" sz="2000" b="1"/>
              <a:t>void main()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int i;</a:t>
            </a:r>
          </a:p>
          <a:p>
            <a:r>
              <a:rPr lang="en-US" sz="2000" b="1"/>
              <a:t>for(i=1;i&lt;=5;i++)</a:t>
            </a:r>
          </a:p>
          <a:p>
            <a:r>
              <a:rPr lang="en-US" sz="2000" b="1"/>
              <a:t>stat();     //function call</a:t>
            </a:r>
          </a:p>
          <a:p>
            <a:r>
              <a:rPr lang="en-US" sz="2000" b="1"/>
              <a:t>getch();   </a:t>
            </a:r>
          </a:p>
          <a:p>
            <a:r>
              <a:rPr lang="en-US" sz="2000" b="1"/>
              <a:t>}</a:t>
            </a:r>
          </a:p>
          <a:p>
            <a:r>
              <a:rPr lang="en-US" sz="2000" b="1"/>
              <a:t>void stat()        //function definition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static int x=0;</a:t>
            </a:r>
          </a:p>
          <a:p>
            <a:r>
              <a:rPr lang="en-US" sz="2000" b="1"/>
              <a:t>printf("x=%d\n",x);</a:t>
            </a:r>
          </a:p>
          <a:p>
            <a:r>
              <a:rPr lang="en-US" sz="2000" b="1"/>
              <a:t>x=x+1;</a:t>
            </a:r>
          </a:p>
          <a:p>
            <a:r>
              <a:rPr lang="en-US" sz="2000" b="1"/>
              <a:t>}</a:t>
            </a:r>
          </a:p>
        </p:txBody>
      </p:sp>
      <p:sp>
        <p:nvSpPr>
          <p:cNvPr id="20484" name="AutoShape 4"/>
          <p:cNvSpPr>
            <a:spLocks noChangeArrowheads="1"/>
          </p:cNvSpPr>
          <p:nvPr/>
        </p:nvSpPr>
        <p:spPr bwMode="auto">
          <a:xfrm>
            <a:off x="5791200" y="5029200"/>
            <a:ext cx="2590800" cy="1828800"/>
          </a:xfrm>
          <a:prstGeom prst="cloudCallout">
            <a:avLst>
              <a:gd name="adj1" fmla="val -63542"/>
              <a:gd name="adj2" fmla="val -33769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en-US" sz="1600" b="1"/>
              <a:t>0</a:t>
            </a:r>
          </a:p>
          <a:p>
            <a:pPr algn="ctr"/>
            <a:r>
              <a:rPr lang="en-US" sz="1600" b="1"/>
              <a:t>1</a:t>
            </a:r>
          </a:p>
          <a:p>
            <a:pPr algn="ctr"/>
            <a:r>
              <a:rPr lang="en-US" sz="1600" b="1"/>
              <a:t>2</a:t>
            </a:r>
          </a:p>
          <a:p>
            <a:pPr algn="ctr"/>
            <a:r>
              <a:rPr lang="en-US" sz="1600" b="1"/>
              <a:t>3</a:t>
            </a:r>
          </a:p>
          <a:p>
            <a:pPr algn="ctr"/>
            <a:r>
              <a:rPr lang="en-US" sz="1600" b="1"/>
              <a:t>4</a:t>
            </a:r>
          </a:p>
          <a:p>
            <a:pPr algn="ctr"/>
            <a:r>
              <a:rPr lang="en-US" sz="1600" b="1"/>
              <a:t>5</a:t>
            </a:r>
          </a:p>
        </p:txBody>
      </p:sp>
      <p:sp>
        <p:nvSpPr>
          <p:cNvPr id="20485" name="WordArt 5"/>
          <p:cNvSpPr>
            <a:spLocks noChangeArrowheads="1" noChangeShapeType="1" noTextEdit="1"/>
          </p:cNvSpPr>
          <p:nvPr/>
        </p:nvSpPr>
        <p:spPr bwMode="auto">
          <a:xfrm>
            <a:off x="4267200" y="4876800"/>
            <a:ext cx="169545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Output</a:t>
            </a:r>
          </a:p>
        </p:txBody>
      </p:sp>
    </p:spTree>
  </p:cSld>
  <p:clrMapOvr>
    <a:masterClrMapping/>
  </p:clrMapOvr>
  <p:transition spd="med">
    <p:wheel/>
  </p:transition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152400" y="304800"/>
            <a:ext cx="4572000" cy="6197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/>
              <a:t>/* Example 2  */</a:t>
            </a:r>
          </a:p>
          <a:p>
            <a:r>
              <a:rPr lang="en-US" sz="2000" b="1"/>
              <a:t>#include&lt;stdio.h&gt;</a:t>
            </a:r>
          </a:p>
          <a:p>
            <a:r>
              <a:rPr lang="en-US" sz="2000" b="1"/>
              <a:t>#include&lt;conio.h&gt;</a:t>
            </a:r>
          </a:p>
          <a:p>
            <a:r>
              <a:rPr lang="en-US" sz="2000" b="1"/>
              <a:t>void incre();</a:t>
            </a:r>
          </a:p>
          <a:p>
            <a:r>
              <a:rPr lang="en-US" sz="2000" b="1"/>
              <a:t>  /* Function prototype declaration */</a:t>
            </a:r>
          </a:p>
          <a:p>
            <a:r>
              <a:rPr lang="en-US" sz="2000" b="1"/>
              <a:t>void main()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clrscr();</a:t>
            </a:r>
          </a:p>
          <a:p>
            <a:r>
              <a:rPr lang="en-US" sz="2000" b="1"/>
              <a:t>incre();</a:t>
            </a:r>
          </a:p>
          <a:p>
            <a:r>
              <a:rPr lang="en-US" sz="2000" b="1"/>
              <a:t>incre();</a:t>
            </a:r>
          </a:p>
          <a:p>
            <a:r>
              <a:rPr lang="en-US" sz="2000" b="1"/>
              <a:t>incre();</a:t>
            </a:r>
          </a:p>
          <a:p>
            <a:r>
              <a:rPr lang="en-US" sz="2000" b="1"/>
              <a:t>getch();</a:t>
            </a:r>
          </a:p>
          <a:p>
            <a:r>
              <a:rPr lang="en-US" sz="2000" b="1"/>
              <a:t>}</a:t>
            </a:r>
          </a:p>
          <a:p>
            <a:endParaRPr lang="en-US" sz="2000" b="1"/>
          </a:p>
          <a:p>
            <a:r>
              <a:rPr lang="en-US" sz="2000" b="1"/>
              <a:t>void incre()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static char x=65;</a:t>
            </a:r>
          </a:p>
          <a:p>
            <a:r>
              <a:rPr lang="en-US" sz="2000" b="1"/>
              <a:t>printf("\n The character stored in x is %c",x++);</a:t>
            </a:r>
          </a:p>
          <a:p>
            <a:r>
              <a:rPr lang="en-US" sz="2000" b="1"/>
              <a:t>}</a:t>
            </a:r>
          </a:p>
        </p:txBody>
      </p:sp>
      <p:sp>
        <p:nvSpPr>
          <p:cNvPr id="21507" name="WordArt 3"/>
          <p:cNvSpPr>
            <a:spLocks noChangeArrowheads="1" noChangeShapeType="1" noTextEdit="1"/>
          </p:cNvSpPr>
          <p:nvPr/>
        </p:nvSpPr>
        <p:spPr bwMode="auto">
          <a:xfrm rot="-1241727">
            <a:off x="3657600" y="2438400"/>
            <a:ext cx="1752600" cy="762000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IN" sz="3600" b="1" kern="1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Impact"/>
              </a:rPr>
              <a:t>Output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4724400" y="3581400"/>
            <a:ext cx="3810000" cy="132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The character Stored in x is A</a:t>
            </a:r>
          </a:p>
          <a:p>
            <a:pPr>
              <a:spcBef>
                <a:spcPct val="50000"/>
              </a:spcBef>
            </a:pPr>
            <a:r>
              <a:rPr lang="en-US" sz="2000" b="1"/>
              <a:t>The character Stored in x is B</a:t>
            </a:r>
          </a:p>
          <a:p>
            <a:pPr>
              <a:spcBef>
                <a:spcPct val="50000"/>
              </a:spcBef>
            </a:pPr>
            <a:r>
              <a:rPr lang="en-US" sz="2000" b="1"/>
              <a:t>The character Stored in x is C</a:t>
            </a:r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4876800" y="3048000"/>
            <a:ext cx="12954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 spd="med">
    <p:comb/>
  </p:transition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WordArt 2" descr="Purple mesh"/>
          <p:cNvSpPr>
            <a:spLocks noChangeArrowheads="1" noChangeShapeType="1" noTextEdit="1"/>
          </p:cNvSpPr>
          <p:nvPr/>
        </p:nvSpPr>
        <p:spPr bwMode="auto">
          <a:xfrm>
            <a:off x="1752600" y="2362200"/>
            <a:ext cx="5638800" cy="1600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5556"/>
              </a:avLst>
            </a:prstTxWarp>
          </a:bodyPr>
          <a:lstStyle/>
          <a:p>
            <a:pPr algn="ctr"/>
            <a:r>
              <a:rPr lang="en-IN" sz="3600" kern="10">
                <a:ln w="9525">
                  <a:noFill/>
                  <a:round/>
                  <a:headEnd/>
                  <a:tailEnd/>
                </a:ln>
                <a:blipFill dpi="0" rotWithShape="1">
                  <a:blip r:embed="rId3"/>
                  <a:srcRect/>
                  <a:tile tx="0" ty="0" sx="100000" sy="100000" flip="none" algn="tl"/>
                </a:blip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Register Variable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76200" y="76200"/>
            <a:ext cx="4648200" cy="6689725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b="1"/>
              <a:t>These variables are stored in CPU registers and hence they can be accessed faster than the one which is stored in memory.</a:t>
            </a:r>
          </a:p>
          <a:p>
            <a:pPr algn="just">
              <a:lnSpc>
                <a:spcPct val="130000"/>
              </a:lnSpc>
            </a:pPr>
            <a:r>
              <a:rPr lang="en-US" b="1" u="sng"/>
              <a:t>Keyword :</a:t>
            </a:r>
            <a:r>
              <a:rPr lang="en-US" b="1"/>
              <a:t> register</a:t>
            </a:r>
          </a:p>
          <a:p>
            <a:pPr algn="just">
              <a:lnSpc>
                <a:spcPct val="130000"/>
              </a:lnSpc>
            </a:pPr>
            <a:r>
              <a:rPr lang="en-US" b="1" u="sng"/>
              <a:t>Declaration :</a:t>
            </a:r>
            <a:r>
              <a:rPr lang="en-US" b="1"/>
              <a:t> Inside the function</a:t>
            </a:r>
          </a:p>
          <a:p>
            <a:pPr algn="just">
              <a:lnSpc>
                <a:spcPct val="130000"/>
              </a:lnSpc>
            </a:pPr>
            <a:r>
              <a:rPr lang="en-US" b="1" u="sng"/>
              <a:t>Storage Area :</a:t>
            </a:r>
            <a:r>
              <a:rPr lang="en-US" b="1"/>
              <a:t> CPU - Register</a:t>
            </a:r>
          </a:p>
          <a:p>
            <a:pPr algn="just">
              <a:lnSpc>
                <a:spcPct val="130000"/>
              </a:lnSpc>
            </a:pPr>
            <a:r>
              <a:rPr lang="en-US" b="1" u="sng"/>
              <a:t>Initial Value :</a:t>
            </a:r>
            <a:r>
              <a:rPr lang="en-US" b="1"/>
              <a:t> Garbage value(At the time of compilation compiler assigns any value)</a:t>
            </a:r>
          </a:p>
          <a:p>
            <a:pPr algn="just">
              <a:lnSpc>
                <a:spcPct val="130000"/>
              </a:lnSpc>
            </a:pPr>
            <a:r>
              <a:rPr lang="en-US" b="1" u="sng"/>
              <a:t>Lifetime :</a:t>
            </a:r>
            <a:r>
              <a:rPr lang="en-US" b="1"/>
              <a:t> Upto that function only</a:t>
            </a:r>
          </a:p>
          <a:p>
            <a:pPr algn="just">
              <a:lnSpc>
                <a:spcPct val="130000"/>
              </a:lnSpc>
            </a:pPr>
            <a:r>
              <a:rPr lang="en-US" b="1" i="1" u="sng"/>
              <a:t>Example </a:t>
            </a:r>
            <a:r>
              <a:rPr lang="en-US" b="1" i="1"/>
              <a:t>:  </a:t>
            </a:r>
            <a:r>
              <a:rPr lang="en-US" b="1"/>
              <a:t>register int x;  </a:t>
            </a:r>
          </a:p>
          <a:p>
            <a:pPr algn="just">
              <a:lnSpc>
                <a:spcPct val="130000"/>
              </a:lnSpc>
            </a:pPr>
            <a:r>
              <a:rPr lang="en-US" b="1" u="sng"/>
              <a:t>Note :</a:t>
            </a:r>
          </a:p>
          <a:p>
            <a:pPr algn="just">
              <a:lnSpc>
                <a:spcPct val="130000"/>
              </a:lnSpc>
            </a:pPr>
            <a:r>
              <a:rPr lang="en-US" sz="1600" b="1"/>
              <a:t>       register double x;        register float  y;</a:t>
            </a:r>
            <a:endParaRPr lang="en-US" sz="1400" b="1"/>
          </a:p>
          <a:p>
            <a:pPr algn="just">
              <a:lnSpc>
                <a:spcPct val="130000"/>
              </a:lnSpc>
            </a:pPr>
            <a:r>
              <a:rPr lang="en-US" sz="1600" b="1"/>
              <a:t>Registers are usually a 16bit therefore it</a:t>
            </a:r>
          </a:p>
          <a:p>
            <a:pPr algn="just">
              <a:lnSpc>
                <a:spcPct val="130000"/>
              </a:lnSpc>
            </a:pPr>
            <a:r>
              <a:rPr lang="en-US" sz="1600" b="1"/>
              <a:t> cannot hold a float or double data type value which require 52 &amp; 64 bytes respectively for storing a value. But the compiler would treat as automatic variables</a:t>
            </a:r>
            <a:r>
              <a:rPr lang="en-US" b="1"/>
              <a:t> 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4724400" y="88900"/>
            <a:ext cx="4419600" cy="284480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/>
              <a:t>#include&lt;stdio.h&gt;</a:t>
            </a:r>
          </a:p>
          <a:p>
            <a:r>
              <a:rPr lang="en-US" sz="2000" b="1"/>
              <a:t>#include&lt;conio.h&gt;</a:t>
            </a:r>
          </a:p>
          <a:p>
            <a:r>
              <a:rPr lang="en-US" sz="2000" b="1"/>
              <a:t>void main()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register int x=1;</a:t>
            </a:r>
          </a:p>
          <a:p>
            <a:r>
              <a:rPr lang="en-US" sz="2000" b="1"/>
              <a:t>clrscr();</a:t>
            </a:r>
          </a:p>
          <a:p>
            <a:r>
              <a:rPr lang="en-US" sz="2000" b="1"/>
              <a:t>printf("\n The value is %d",x);</a:t>
            </a:r>
          </a:p>
          <a:p>
            <a:r>
              <a:rPr lang="en-US" sz="2000" b="1"/>
              <a:t>getch();</a:t>
            </a:r>
          </a:p>
          <a:p>
            <a:r>
              <a:rPr lang="en-US" sz="2000" b="1"/>
              <a:t>}</a:t>
            </a:r>
          </a:p>
        </p:txBody>
      </p:sp>
      <p:sp>
        <p:nvSpPr>
          <p:cNvPr id="25604" name="WordArt 4"/>
          <p:cNvSpPr>
            <a:spLocks noChangeArrowheads="1" noChangeShapeType="1" noTextEdit="1"/>
          </p:cNvSpPr>
          <p:nvPr/>
        </p:nvSpPr>
        <p:spPr bwMode="auto">
          <a:xfrm>
            <a:off x="4781550" y="3124200"/>
            <a:ext cx="169545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Output</a:t>
            </a:r>
          </a:p>
        </p:txBody>
      </p:sp>
      <p:sp>
        <p:nvSpPr>
          <p:cNvPr id="25605" name="AutoShape 5"/>
          <p:cNvSpPr>
            <a:spLocks/>
          </p:cNvSpPr>
          <p:nvPr/>
        </p:nvSpPr>
        <p:spPr bwMode="auto">
          <a:xfrm>
            <a:off x="5638800" y="4305300"/>
            <a:ext cx="2590800" cy="876300"/>
          </a:xfrm>
          <a:prstGeom prst="borderCallout1">
            <a:avLst>
              <a:gd name="adj1" fmla="val 13042"/>
              <a:gd name="adj2" fmla="val -2940"/>
              <a:gd name="adj3" fmla="val -77898"/>
              <a:gd name="adj4" fmla="val -1636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000" b="1"/>
              <a:t>1</a:t>
            </a:r>
          </a:p>
        </p:txBody>
      </p:sp>
    </p:spTree>
  </p:cSld>
  <p:clrMapOvr>
    <a:masterClrMapping/>
  </p:clrMapOvr>
  <p:transition spd="med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25603" grpId="0" animBg="1"/>
      <p:bldP spid="25604" grpId="0" animBg="1"/>
      <p:bldP spid="25605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76200" y="381000"/>
            <a:ext cx="8915400" cy="5265738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tabLst>
                <a:tab pos="457200" algn="l"/>
              </a:tabLst>
            </a:pPr>
            <a:r>
              <a:rPr lang="en-US" sz="3200" b="1" u="sng">
                <a:latin typeface="Times New Roman" pitchFamily="18" charset="0"/>
              </a:rPr>
              <a:t>Session Summary</a:t>
            </a:r>
          </a:p>
          <a:p>
            <a:pPr>
              <a:tabLst>
                <a:tab pos="457200" algn="l"/>
              </a:tabLst>
            </a:pPr>
            <a:endParaRPr lang="en-US" sz="3200" b="1">
              <a:latin typeface="Times New Roman" pitchFamily="18" charset="0"/>
            </a:endParaRP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A function is a self contained program segment (block of statements) that performs some specific well defined task.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Three steps in using a function are defining a function, prviding a prototype and calling the function.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Return statement is used to return the information from the function to the calling portion of the program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Scope of a variable is defined as the region over which the variable is visible or valid.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152400" y="1209675"/>
            <a:ext cx="8686800" cy="39608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algn="ctr">
              <a:tabLst>
                <a:tab pos="457200" algn="l"/>
              </a:tabLst>
            </a:pPr>
            <a:r>
              <a:rPr lang="en-US" sz="2800" b="1" u="sng">
                <a:latin typeface="Times New Roman" pitchFamily="18" charset="0"/>
              </a:rPr>
              <a:t>EXERCISES</a:t>
            </a:r>
          </a:p>
          <a:p>
            <a:pPr marL="342900" indent="-342900">
              <a:tabLst>
                <a:tab pos="457200" algn="l"/>
              </a:tabLst>
            </a:pPr>
            <a:endParaRPr lang="en-US" sz="2800" b="1">
              <a:latin typeface="Times New Roman" pitchFamily="18" charset="0"/>
            </a:endParaRP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sort the numbers in ascending order using functions?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Write a program to calculate </a:t>
            </a:r>
            <a:r>
              <a:rPr lang="en-US" sz="2000" b="1"/>
              <a:t>x</a:t>
            </a:r>
            <a:r>
              <a:rPr lang="en-US" sz="2000" b="1" baseline="30000"/>
              <a:t>n</a:t>
            </a:r>
            <a:r>
              <a:rPr lang="en-US" sz="2000" b="1"/>
              <a:t> </a:t>
            </a:r>
            <a:r>
              <a:rPr lang="en-US" sz="1600" b="1"/>
              <a:t>using functions?</a:t>
            </a:r>
            <a:endParaRPr lang="en-US" b="1"/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check whether the year is leap year or not using functions?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find the square of first N Numbers and to calculate its sum? 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 Write a program to swap two numbers using functions?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WordArt 2"/>
          <p:cNvSpPr>
            <a:spLocks noChangeArrowheads="1" noChangeShapeType="1" noTextEdit="1"/>
          </p:cNvSpPr>
          <p:nvPr/>
        </p:nvSpPr>
        <p:spPr bwMode="auto">
          <a:xfrm>
            <a:off x="1219200" y="2209800"/>
            <a:ext cx="6629400" cy="1981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55556"/>
              </a:avLst>
            </a:prstTxWarp>
            <a:scene3d>
              <a:camera prst="legacyObliqueRight"/>
              <a:lightRig rig="legacyHarsh3" dir="t"/>
            </a:scene3d>
            <a:sp3d extrusionH="100000" prstMaterial="legacyMatte">
              <a:extrusionClr>
                <a:srgbClr val="663300"/>
              </a:extrusionClr>
            </a:sp3d>
          </a:bodyPr>
          <a:lstStyle/>
          <a:p>
            <a:pPr algn="ctr"/>
            <a:r>
              <a:rPr lang="en-IN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F200"/>
                    </a:gs>
                    <a:gs pos="45000">
                      <a:srgbClr val="FF7A00"/>
                    </a:gs>
                    <a:gs pos="70000">
                      <a:srgbClr val="FF0300"/>
                    </a:gs>
                    <a:gs pos="100000">
                      <a:srgbClr val="4D0808"/>
                    </a:gs>
                  </a:gsLst>
                  <a:lin ang="5400000" scaled="1"/>
                </a:gradFill>
                <a:latin typeface="Arial Black"/>
              </a:rPr>
              <a:t>RECURSIVE FUNCTION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914400" y="5257800"/>
            <a:ext cx="7315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A Function may call itself again and again is called Recursive Function</a:t>
            </a:r>
          </a:p>
        </p:txBody>
      </p:sp>
      <p:sp>
        <p:nvSpPr>
          <p:cNvPr id="4100" name="WordArt 4"/>
          <p:cNvSpPr>
            <a:spLocks noChangeArrowheads="1" noChangeShapeType="1" noTextEdit="1"/>
          </p:cNvSpPr>
          <p:nvPr/>
        </p:nvSpPr>
        <p:spPr bwMode="auto">
          <a:xfrm>
            <a:off x="3276600" y="1143000"/>
            <a:ext cx="28956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A50021"/>
                </a:solidFill>
                <a:latin typeface="Arial Black"/>
              </a:rPr>
              <a:t>CHAPTER 7</a:t>
            </a:r>
          </a:p>
        </p:txBody>
      </p:sp>
    </p:spTree>
  </p:cSld>
  <p:clrMapOvr>
    <a:masterClrMapping/>
  </p:clrMapOvr>
  <p:transition spd="med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nimBg="1"/>
      <p:bldP spid="4100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828800" y="776288"/>
            <a:ext cx="5376863" cy="82391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4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cs typeface="Times New Roman" pitchFamily="18" charset="0"/>
              </a:rPr>
              <a:t>Session Objectives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676400" y="2438400"/>
            <a:ext cx="47831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Define Recursive  Functions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676400" y="3138488"/>
            <a:ext cx="705643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Write a Program to find the factorial using</a:t>
            </a:r>
          </a:p>
          <a:p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   Recursive  Method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3" grpId="0" autoUpdateAnimBg="0"/>
      <p:bldP spid="5124" grpId="0" autoUpdateAnimBg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1873250" y="111125"/>
            <a:ext cx="4841875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600" b="1">
                <a:latin typeface="Times New Roman" pitchFamily="18" charset="0"/>
                <a:cs typeface="Times New Roman" pitchFamily="18" charset="0"/>
              </a:rPr>
              <a:t>Factorial Function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457200" y="914400"/>
            <a:ext cx="831373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Recursive definition of a process can also be explained with the </a:t>
            </a:r>
            <a:br>
              <a:rPr lang="en-US" sz="2400">
                <a:latin typeface="Times New Roman" pitchFamily="18" charset="0"/>
                <a:cs typeface="Times New Roman" pitchFamily="18" charset="0"/>
              </a:rPr>
            </a:br>
            <a:r>
              <a:rPr lang="en-US" sz="2400">
                <a:latin typeface="Times New Roman" pitchFamily="18" charset="0"/>
                <a:cs typeface="Times New Roman" pitchFamily="18" charset="0"/>
              </a:rPr>
              <a:t>    help of a simple factorial example.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457200" y="1997075"/>
            <a:ext cx="6416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5 factorial (5!) is equal to 5 * 4 * 3 * 2 * 1 = 120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457200" y="2743200"/>
            <a:ext cx="424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We can define this as follows -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452438" y="4283075"/>
            <a:ext cx="77660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This algorithm is called iterative because it calls for explicit</a:t>
            </a:r>
            <a:br>
              <a:rPr lang="en-US" sz="2400">
                <a:latin typeface="Times New Roman" pitchFamily="18" charset="0"/>
                <a:cs typeface="Times New Roman" pitchFamily="18" charset="0"/>
              </a:rPr>
            </a:br>
            <a:r>
              <a:rPr lang="en-US" sz="2400">
                <a:latin typeface="Times New Roman" pitchFamily="18" charset="0"/>
                <a:cs typeface="Times New Roman" pitchFamily="18" charset="0"/>
              </a:rPr>
              <a:t>    repetition of some process until a certain condition is met.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457200" y="5426075"/>
            <a:ext cx="82931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This algorithm can be translated readily into the C function that </a:t>
            </a:r>
            <a:br>
              <a:rPr lang="en-US" sz="2400">
                <a:latin typeface="Times New Roman" pitchFamily="18" charset="0"/>
                <a:cs typeface="Times New Roman" pitchFamily="18" charset="0"/>
              </a:rPr>
            </a:br>
            <a:r>
              <a:rPr lang="en-US" sz="2400">
                <a:latin typeface="Times New Roman" pitchFamily="18" charset="0"/>
                <a:cs typeface="Times New Roman" pitchFamily="18" charset="0"/>
              </a:rPr>
              <a:t>    returns x!, where x is the input parameter.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3282950"/>
            <a:ext cx="7620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utoUpdateAnimBg="0"/>
      <p:bldP spid="6148" grpId="0" autoUpdateAnimBg="0"/>
      <p:bldP spid="6149" grpId="0" autoUpdateAnimBg="0"/>
      <p:bldP spid="6150" grpId="0" autoUpdateAnimBg="0"/>
      <p:bldP spid="6151" grpId="0" autoUpdateAnimBg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873250" y="452438"/>
            <a:ext cx="483235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600">
                <a:latin typeface="Arial Unicode MS" pitchFamily="34" charset="-128"/>
                <a:cs typeface="Times New Roman" pitchFamily="18" charset="0"/>
              </a:rPr>
              <a:t>Factorial Function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457200" y="1447800"/>
            <a:ext cx="8548688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>
                <a:latin typeface="Times New Roman" pitchFamily="18" charset="0"/>
                <a:cs typeface="Times New Roman" pitchFamily="18" charset="0"/>
              </a:rPr>
              <a:t> The following example depicts the actual process that needs to be </a:t>
            </a:r>
            <a:br>
              <a:rPr lang="en-US" sz="2400">
                <a:latin typeface="Times New Roman" pitchFamily="18" charset="0"/>
                <a:cs typeface="Times New Roman" pitchFamily="18" charset="0"/>
              </a:rPr>
            </a:br>
            <a:r>
              <a:rPr lang="en-US" sz="2400">
                <a:latin typeface="Times New Roman" pitchFamily="18" charset="0"/>
                <a:cs typeface="Times New Roman" pitchFamily="18" charset="0"/>
              </a:rPr>
              <a:t>    carried out to calculate the factorial of a number using recursive</a:t>
            </a:r>
            <a:br>
              <a:rPr lang="en-US" sz="2400">
                <a:latin typeface="Times New Roman" pitchFamily="18" charset="0"/>
                <a:cs typeface="Times New Roman" pitchFamily="18" charset="0"/>
              </a:rPr>
            </a:br>
            <a:r>
              <a:rPr lang="en-US" sz="2400">
                <a:latin typeface="Times New Roman" pitchFamily="18" charset="0"/>
                <a:cs typeface="Times New Roman" pitchFamily="18" charset="0"/>
              </a:rPr>
              <a:t>    functions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2743200"/>
            <a:ext cx="7086600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autoUpdateAnimBg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457200" y="304800"/>
            <a:ext cx="5410200" cy="64182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Write a program to find the factorial of a given number using recursive method</a:t>
            </a:r>
          </a:p>
          <a:p>
            <a:r>
              <a:rPr lang="en-US" b="1"/>
              <a:t>#include&lt;stdio.h&gt;</a:t>
            </a:r>
          </a:p>
          <a:p>
            <a:r>
              <a:rPr lang="en-US" b="1"/>
              <a:t>#include&lt;conio.h&gt;</a:t>
            </a:r>
          </a:p>
          <a:p>
            <a:r>
              <a:rPr lang="en-US" b="1"/>
              <a:t>void main()</a:t>
            </a:r>
          </a:p>
          <a:p>
            <a:r>
              <a:rPr lang="en-US" b="1"/>
              <a:t>{</a:t>
            </a:r>
          </a:p>
          <a:p>
            <a:r>
              <a:rPr lang="en-US" b="1"/>
              <a:t>int factorial(int);</a:t>
            </a:r>
          </a:p>
          <a:p>
            <a:r>
              <a:rPr lang="en-US" b="1"/>
              <a:t>int n,d;</a:t>
            </a:r>
          </a:p>
          <a:p>
            <a:r>
              <a:rPr lang="en-US" b="1"/>
              <a:t>clrscr();</a:t>
            </a:r>
          </a:p>
          <a:p>
            <a:r>
              <a:rPr lang="en-US" b="1"/>
              <a:t>printf("enter the number:");</a:t>
            </a:r>
          </a:p>
          <a:p>
            <a:r>
              <a:rPr lang="en-US" b="1"/>
              <a:t>scanf("%d",&amp;n);</a:t>
            </a:r>
          </a:p>
          <a:p>
            <a:r>
              <a:rPr lang="en-US" b="1"/>
              <a:t>d=factorial(n);</a:t>
            </a:r>
          </a:p>
          <a:p>
            <a:r>
              <a:rPr lang="en-US" b="1"/>
              <a:t>printf("\n\n %d!=%d\n",n,d);</a:t>
            </a:r>
          </a:p>
          <a:p>
            <a:r>
              <a:rPr lang="en-US" b="1"/>
              <a:t>getch();</a:t>
            </a:r>
          </a:p>
          <a:p>
            <a:r>
              <a:rPr lang="en-US" b="1"/>
              <a:t>}</a:t>
            </a:r>
          </a:p>
          <a:p>
            <a:endParaRPr lang="en-US" b="1"/>
          </a:p>
          <a:p>
            <a:r>
              <a:rPr lang="en-US" b="1"/>
              <a:t>int factorial(int num)</a:t>
            </a:r>
          </a:p>
          <a:p>
            <a:r>
              <a:rPr lang="en-US" b="1"/>
              <a:t>{</a:t>
            </a:r>
          </a:p>
          <a:p>
            <a:r>
              <a:rPr lang="en-US" b="1"/>
              <a:t>if(num&gt;1)</a:t>
            </a:r>
          </a:p>
          <a:p>
            <a:r>
              <a:rPr lang="en-US" b="1"/>
              <a:t>return(num*factorial(num-1));</a:t>
            </a:r>
          </a:p>
          <a:p>
            <a:r>
              <a:rPr lang="en-US" b="1"/>
              <a:t>else</a:t>
            </a:r>
          </a:p>
          <a:p>
            <a:r>
              <a:rPr lang="en-US" b="1"/>
              <a:t>return(1);</a:t>
            </a:r>
          </a:p>
          <a:p>
            <a:r>
              <a:rPr lang="en-US" b="1"/>
              <a:t>}</a:t>
            </a:r>
          </a:p>
        </p:txBody>
      </p:sp>
      <p:sp>
        <p:nvSpPr>
          <p:cNvPr id="6147" name="WordArt 3"/>
          <p:cNvSpPr>
            <a:spLocks noChangeArrowheads="1" noChangeShapeType="1" noTextEdit="1"/>
          </p:cNvSpPr>
          <p:nvPr/>
        </p:nvSpPr>
        <p:spPr bwMode="auto">
          <a:xfrm>
            <a:off x="6096000" y="1524000"/>
            <a:ext cx="2143125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OUTPUT</a:t>
            </a:r>
          </a:p>
        </p:txBody>
      </p:sp>
      <p:sp>
        <p:nvSpPr>
          <p:cNvPr id="6148" name="AutoShape 4"/>
          <p:cNvSpPr>
            <a:spLocks/>
          </p:cNvSpPr>
          <p:nvPr/>
        </p:nvSpPr>
        <p:spPr bwMode="auto">
          <a:xfrm>
            <a:off x="5943600" y="2133600"/>
            <a:ext cx="3200400" cy="762000"/>
          </a:xfrm>
          <a:prstGeom prst="borderCallout2">
            <a:avLst>
              <a:gd name="adj1" fmla="val 15000"/>
              <a:gd name="adj2" fmla="val -2380"/>
              <a:gd name="adj3" fmla="val 15000"/>
              <a:gd name="adj4" fmla="val -3176"/>
              <a:gd name="adj5" fmla="val -124792"/>
              <a:gd name="adj6" fmla="val -352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1600" b="1"/>
              <a:t>Enter the number :5</a:t>
            </a:r>
          </a:p>
          <a:p>
            <a:pPr algn="ctr"/>
            <a:r>
              <a:rPr lang="en-US" sz="1600" b="1"/>
              <a:t>The factorial Result : 120</a:t>
            </a:r>
          </a:p>
        </p:txBody>
      </p:sp>
    </p:spTree>
  </p:cSld>
  <p:clrMapOvr>
    <a:masterClrMapping/>
  </p:clrMapOvr>
  <p:transition spd="med">
    <p:cover dir="ru"/>
  </p:transition>
  <p:timing>
    <p:tnLst>
      <p:par>
        <p:cTn id="1" dur="indefinite" restart="never" nodeType="tmRoot"/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-14288" y="-15875"/>
            <a:ext cx="4343401" cy="680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/>
              <a:t>/* Fibonacci Series with Recursive Functions */</a:t>
            </a:r>
          </a:p>
          <a:p>
            <a:r>
              <a:rPr lang="en-US" sz="2000" b="1">
                <a:latin typeface="Times New Roman" pitchFamily="18" charset="0"/>
              </a:rPr>
              <a:t>#include&lt;stdio.h&gt;</a:t>
            </a:r>
          </a:p>
          <a:p>
            <a:r>
              <a:rPr lang="en-US" sz="2000" b="1">
                <a:latin typeface="Times New Roman" pitchFamily="18" charset="0"/>
              </a:rPr>
              <a:t>int fib(int n) {</a:t>
            </a:r>
          </a:p>
          <a:p>
            <a:r>
              <a:rPr lang="en-US" sz="2000" b="1">
                <a:latin typeface="Times New Roman" pitchFamily="18" charset="0"/>
              </a:rPr>
              <a:t>int x,y;</a:t>
            </a:r>
          </a:p>
          <a:p>
            <a:r>
              <a:rPr lang="en-US" sz="2000" b="1">
                <a:latin typeface="Times New Roman" pitchFamily="18" charset="0"/>
              </a:rPr>
              <a:t>if(n&lt;=1)</a:t>
            </a:r>
          </a:p>
          <a:p>
            <a:r>
              <a:rPr lang="en-US" sz="2000" b="1">
                <a:latin typeface="Times New Roman" pitchFamily="18" charset="0"/>
              </a:rPr>
              <a:t>return n;</a:t>
            </a:r>
          </a:p>
          <a:p>
            <a:r>
              <a:rPr lang="en-US" sz="2000" b="1">
                <a:latin typeface="Times New Roman" pitchFamily="18" charset="0"/>
              </a:rPr>
              <a:t>else</a:t>
            </a:r>
          </a:p>
          <a:p>
            <a:r>
              <a:rPr lang="en-US" sz="2000" b="1">
                <a:latin typeface="Times New Roman" pitchFamily="18" charset="0"/>
              </a:rPr>
              <a:t>x=fib(n-1);</a:t>
            </a:r>
          </a:p>
          <a:p>
            <a:r>
              <a:rPr lang="en-US" sz="2000" b="1">
                <a:latin typeface="Times New Roman" pitchFamily="18" charset="0"/>
              </a:rPr>
              <a:t>y=fib(n-2);</a:t>
            </a:r>
          </a:p>
          <a:p>
            <a:r>
              <a:rPr lang="en-US" sz="2000" b="1">
                <a:latin typeface="Times New Roman" pitchFamily="18" charset="0"/>
              </a:rPr>
              <a:t>return(x+y);</a:t>
            </a:r>
          </a:p>
          <a:p>
            <a:r>
              <a:rPr lang="en-US" sz="2000" b="1">
                <a:latin typeface="Times New Roman" pitchFamily="18" charset="0"/>
              </a:rPr>
              <a:t>}</a:t>
            </a:r>
          </a:p>
          <a:p>
            <a:r>
              <a:rPr lang="en-US" sz="2000" b="1">
                <a:latin typeface="Times New Roman" pitchFamily="18" charset="0"/>
              </a:rPr>
              <a:t>void main()</a:t>
            </a:r>
          </a:p>
          <a:p>
            <a:r>
              <a:rPr lang="en-US" sz="2000" b="1">
                <a:latin typeface="Times New Roman" pitchFamily="18" charset="0"/>
              </a:rPr>
              <a:t>{</a:t>
            </a:r>
          </a:p>
          <a:p>
            <a:r>
              <a:rPr lang="en-US" sz="2000" b="1">
                <a:latin typeface="Times New Roman" pitchFamily="18" charset="0"/>
              </a:rPr>
              <a:t>int n,num;</a:t>
            </a:r>
          </a:p>
          <a:p>
            <a:r>
              <a:rPr lang="en-US" sz="2000" b="1">
                <a:latin typeface="Times New Roman" pitchFamily="18" charset="0"/>
              </a:rPr>
              <a:t>printf("\n Enter the N Value");</a:t>
            </a:r>
          </a:p>
          <a:p>
            <a:r>
              <a:rPr lang="en-US" sz="2000" b="1">
                <a:latin typeface="Times New Roman" pitchFamily="18" charset="0"/>
              </a:rPr>
              <a:t>scanf("%d",&amp;n);</a:t>
            </a:r>
          </a:p>
          <a:p>
            <a:r>
              <a:rPr lang="en-US" sz="2000" b="1">
                <a:latin typeface="Times New Roman" pitchFamily="18" charset="0"/>
              </a:rPr>
              <a:t>num=fib(n);</a:t>
            </a:r>
          </a:p>
          <a:p>
            <a:r>
              <a:rPr lang="en-US" sz="2000" b="1">
                <a:latin typeface="Times New Roman" pitchFamily="18" charset="0"/>
              </a:rPr>
              <a:t>printf("\n The Number at %dth Position is %d in fibonacci series",n,num);</a:t>
            </a:r>
          </a:p>
          <a:p>
            <a:r>
              <a:rPr lang="en-US" sz="2000" b="1">
                <a:latin typeface="Times New Roman" pitchFamily="18" charset="0"/>
              </a:rPr>
              <a:t>}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4343400" y="0"/>
            <a:ext cx="4648200" cy="680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Times New Roman" pitchFamily="18" charset="0"/>
              </a:rPr>
              <a:t>To multiply two numbers Using Recursive Method</a:t>
            </a:r>
          </a:p>
          <a:p>
            <a:r>
              <a:rPr lang="en-US" sz="2000" b="1">
                <a:latin typeface="Times New Roman" pitchFamily="18" charset="0"/>
              </a:rPr>
              <a:t>#include&lt;stdio.h&gt;</a:t>
            </a:r>
          </a:p>
          <a:p>
            <a:r>
              <a:rPr lang="en-US" sz="2000" b="1">
                <a:latin typeface="Times New Roman" pitchFamily="18" charset="0"/>
              </a:rPr>
              <a:t>#include&lt;conio.h&gt;</a:t>
            </a:r>
          </a:p>
          <a:p>
            <a:r>
              <a:rPr lang="en-US" sz="2000" b="1">
                <a:latin typeface="Times New Roman" pitchFamily="18" charset="0"/>
              </a:rPr>
              <a:t>mul(int a,int b)</a:t>
            </a:r>
          </a:p>
          <a:p>
            <a:r>
              <a:rPr lang="en-US" sz="2000" b="1">
                <a:latin typeface="Times New Roman" pitchFamily="18" charset="0"/>
              </a:rPr>
              <a:t>{</a:t>
            </a:r>
          </a:p>
          <a:p>
            <a:r>
              <a:rPr lang="en-US" sz="2000" b="1">
                <a:latin typeface="Times New Roman" pitchFamily="18" charset="0"/>
              </a:rPr>
              <a:t>if(b==1)</a:t>
            </a:r>
          </a:p>
          <a:p>
            <a:r>
              <a:rPr lang="en-US" sz="2000" b="1">
                <a:latin typeface="Times New Roman" pitchFamily="18" charset="0"/>
              </a:rPr>
              <a:t>return a;</a:t>
            </a:r>
          </a:p>
          <a:p>
            <a:r>
              <a:rPr lang="en-US" sz="2000" b="1">
                <a:latin typeface="Times New Roman" pitchFamily="18" charset="0"/>
              </a:rPr>
              <a:t>else</a:t>
            </a:r>
          </a:p>
          <a:p>
            <a:r>
              <a:rPr lang="en-US" sz="2000" b="1">
                <a:latin typeface="Times New Roman" pitchFamily="18" charset="0"/>
              </a:rPr>
              <a:t>return(mul(a,b-1)+a);</a:t>
            </a:r>
          </a:p>
          <a:p>
            <a:r>
              <a:rPr lang="en-US" sz="2000" b="1">
                <a:latin typeface="Times New Roman" pitchFamily="18" charset="0"/>
              </a:rPr>
              <a:t>}</a:t>
            </a:r>
          </a:p>
          <a:p>
            <a:r>
              <a:rPr lang="en-US" sz="2000" b="1">
                <a:latin typeface="Times New Roman" pitchFamily="18" charset="0"/>
              </a:rPr>
              <a:t>void main()</a:t>
            </a:r>
          </a:p>
          <a:p>
            <a:r>
              <a:rPr lang="en-US" sz="2000" b="1">
                <a:latin typeface="Times New Roman" pitchFamily="18" charset="0"/>
              </a:rPr>
              <a:t>{</a:t>
            </a:r>
          </a:p>
          <a:p>
            <a:r>
              <a:rPr lang="en-US" sz="2000" b="1">
                <a:latin typeface="Times New Roman" pitchFamily="18" charset="0"/>
              </a:rPr>
              <a:t>int a,b,re</a:t>
            </a:r>
          </a:p>
          <a:p>
            <a:r>
              <a:rPr lang="en-US" sz="2000" b="1">
                <a:latin typeface="Times New Roman" pitchFamily="18" charset="0"/>
              </a:rPr>
              <a:t>printf("\n Enter a and sult=0;</a:t>
            </a:r>
          </a:p>
          <a:p>
            <a:r>
              <a:rPr lang="en-US" sz="2000" b="1">
                <a:latin typeface="Times New Roman" pitchFamily="18" charset="0"/>
              </a:rPr>
              <a:t>clrscr(); b values");</a:t>
            </a:r>
          </a:p>
          <a:p>
            <a:r>
              <a:rPr lang="en-US" sz="2000" b="1">
                <a:latin typeface="Times New Roman" pitchFamily="18" charset="0"/>
              </a:rPr>
              <a:t>scanf("%d %d",&amp;a,&amp;b);</a:t>
            </a:r>
          </a:p>
          <a:p>
            <a:r>
              <a:rPr lang="en-US" sz="2000" b="1">
                <a:latin typeface="Times New Roman" pitchFamily="18" charset="0"/>
              </a:rPr>
              <a:t>result=mul(a,b);</a:t>
            </a:r>
          </a:p>
          <a:p>
            <a:r>
              <a:rPr lang="en-US" sz="2000" b="1">
                <a:latin typeface="Times New Roman" pitchFamily="18" charset="0"/>
              </a:rPr>
              <a:t>printf("\n The multiplication is = %d“ ,result);</a:t>
            </a:r>
          </a:p>
          <a:p>
            <a:r>
              <a:rPr lang="en-US" sz="2000" b="1">
                <a:latin typeface="Times New Roman" pitchFamily="18" charset="0"/>
              </a:rPr>
              <a:t>getch();</a:t>
            </a:r>
          </a:p>
          <a:p>
            <a:r>
              <a:rPr lang="en-US" sz="2000" b="1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/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76200" y="977900"/>
            <a:ext cx="8915400" cy="4068763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tabLst>
                <a:tab pos="457200" algn="l"/>
              </a:tabLst>
            </a:pPr>
            <a:r>
              <a:rPr lang="en-US" sz="3200" b="1" u="sng">
                <a:latin typeface="Times New Roman" pitchFamily="18" charset="0"/>
              </a:rPr>
              <a:t>Session Summary</a:t>
            </a:r>
          </a:p>
          <a:p>
            <a:pPr>
              <a:tabLst>
                <a:tab pos="457200" algn="l"/>
              </a:tabLst>
            </a:pPr>
            <a:endParaRPr lang="en-US" sz="3200" b="1">
              <a:latin typeface="Times New Roman" pitchFamily="18" charset="0"/>
            </a:endParaRP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Recursion is a process by which a function calls itself repeatedly until some specified condition has been satisfied.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The function name in the function call and the function definition should be the same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The called function returns only one value per call</a:t>
            </a:r>
          </a:p>
          <a:p>
            <a:pPr algn="just">
              <a:lnSpc>
                <a:spcPct val="245000"/>
              </a:lnSpc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Function definition may appear in any order (i.e., before or after the main() function)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152400" y="1279525"/>
            <a:ext cx="8686800" cy="3819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algn="ctr">
              <a:tabLst>
                <a:tab pos="457200" algn="l"/>
              </a:tabLst>
            </a:pPr>
            <a:r>
              <a:rPr lang="en-US" sz="2800" b="1" u="sng">
                <a:latin typeface="Times New Roman" pitchFamily="18" charset="0"/>
              </a:rPr>
              <a:t>EXERCISES</a:t>
            </a:r>
          </a:p>
          <a:p>
            <a:pPr marL="342900" indent="-342900">
              <a:tabLst>
                <a:tab pos="457200" algn="l"/>
              </a:tabLst>
            </a:pPr>
            <a:endParaRPr lang="en-US" sz="2800" b="1">
              <a:latin typeface="Times New Roman" pitchFamily="18" charset="0"/>
            </a:endParaRP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find the NCR factorial of a given number?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Write a program to search an element using binary search method using Recursive method?</a:t>
            </a:r>
            <a:endParaRPr lang="en-US" b="1"/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find the square of first N Numbers and to calculate its sum?</a:t>
            </a:r>
          </a:p>
          <a:p>
            <a:pPr marL="342900" indent="-342900" algn="just">
              <a:lnSpc>
                <a:spcPct val="235000"/>
              </a:lnSpc>
              <a:buFont typeface="Wingdings" pitchFamily="2" charset="2"/>
              <a:buNone/>
              <a:tabLst>
                <a:tab pos="457200" algn="l"/>
              </a:tabLst>
            </a:pPr>
            <a:endParaRPr lang="en-US" sz="16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WordArt 2"/>
          <p:cNvSpPr>
            <a:spLocks noChangeArrowheads="1" noChangeShapeType="1" noTextEdit="1"/>
          </p:cNvSpPr>
          <p:nvPr/>
        </p:nvSpPr>
        <p:spPr bwMode="auto">
          <a:xfrm>
            <a:off x="3276600" y="914400"/>
            <a:ext cx="28956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A50021"/>
                </a:solidFill>
                <a:latin typeface="Arial Black"/>
              </a:rPr>
              <a:t>CHAPTER 8</a:t>
            </a:r>
          </a:p>
        </p:txBody>
      </p:sp>
      <p:sp>
        <p:nvSpPr>
          <p:cNvPr id="2051" name="WordArt 3"/>
          <p:cNvSpPr>
            <a:spLocks noChangeArrowheads="1" noChangeShapeType="1" noTextEdit="1"/>
          </p:cNvSpPr>
          <p:nvPr/>
        </p:nvSpPr>
        <p:spPr bwMode="auto">
          <a:xfrm>
            <a:off x="2781300" y="3108325"/>
            <a:ext cx="4762500" cy="1616075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>
              <a:defRPr/>
            </a:pPr>
            <a:r>
              <a:rPr lang="en-US" sz="3600" b="1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FF99"/>
                </a:solidFill>
                <a:latin typeface="Arial Black"/>
              </a:rPr>
              <a:t>          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914400" y="838200"/>
            <a:ext cx="1447800" cy="1371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ransition spd="med">
    <p:wheel spokes="1"/>
  </p:transition>
  <p:timing>
    <p:tnLst>
      <p:par>
        <p:cTn id="1" dur="indefinite" restart="never" nodeType="tmRoot"/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858963" y="762000"/>
            <a:ext cx="5837237" cy="823913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4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cs typeface="Times New Roman" pitchFamily="18" charset="0"/>
              </a:rPr>
              <a:t>Session Objectives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050925" y="2424113"/>
            <a:ext cx="31543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Define Structure 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050925" y="3124200"/>
            <a:ext cx="44354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Create Structure variable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066800" y="3733800"/>
            <a:ext cx="6864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Access structure member using . operator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1066800" y="4281488"/>
            <a:ext cx="8280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Array of Structures, passing structure to functions</a:t>
            </a:r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1066800" y="4891088"/>
            <a:ext cx="3352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Nested Structures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3" grpId="0" autoUpdateAnimBg="0"/>
      <p:bldP spid="5124" grpId="0" autoUpdateAnimBg="0"/>
      <p:bldP spid="5125" grpId="0" autoUpdateAnimBg="0"/>
      <p:bldP spid="5126" grpId="0" autoUpdateAnimBg="0"/>
      <p:bldP spid="5127" grpId="0" autoUpdateAnimBg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228600" y="0"/>
            <a:ext cx="8534400" cy="68722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b="1">
                <a:latin typeface="Times New Roman" pitchFamily="18" charset="0"/>
              </a:rPr>
              <a:t>	Structure are collection of different datatype grouped together under a single variable name for convienient handling. 'struct' is a keyword, struct type is a name which identifies the structure.</a:t>
            </a:r>
          </a:p>
          <a:p>
            <a:pPr algn="just"/>
            <a:r>
              <a:rPr lang="en-US" sz="2800" b="1" u="sng">
                <a:latin typeface="Times New Roman" pitchFamily="18" charset="0"/>
              </a:rPr>
              <a:t>syntax :</a:t>
            </a:r>
            <a:r>
              <a:rPr lang="en-US" sz="2800" b="1">
                <a:latin typeface="Times New Roman" pitchFamily="18" charset="0"/>
              </a:rPr>
              <a:t>	struct  &lt;structure name or tagname&gt;</a:t>
            </a:r>
          </a:p>
          <a:p>
            <a:r>
              <a:rPr lang="en-US" sz="2800" b="1">
                <a:latin typeface="Times New Roman" pitchFamily="18" charset="0"/>
              </a:rPr>
              <a:t>		{</a:t>
            </a:r>
          </a:p>
          <a:p>
            <a:r>
              <a:rPr lang="en-US" sz="2800" b="1">
                <a:latin typeface="Times New Roman" pitchFamily="18" charset="0"/>
              </a:rPr>
              <a:t>		datatype member1;</a:t>
            </a:r>
          </a:p>
          <a:p>
            <a:r>
              <a:rPr lang="en-US" sz="2800" b="1">
                <a:latin typeface="Times New Roman" pitchFamily="18" charset="0"/>
              </a:rPr>
              <a:t>		datatype member2;</a:t>
            </a:r>
          </a:p>
          <a:p>
            <a:r>
              <a:rPr lang="en-US" sz="2800" b="1">
                <a:latin typeface="Times New Roman" pitchFamily="18" charset="0"/>
              </a:rPr>
              <a:t>		};</a:t>
            </a:r>
          </a:p>
          <a:p>
            <a:r>
              <a:rPr lang="en-US" sz="2800" b="1">
                <a:latin typeface="Times New Roman" pitchFamily="18" charset="0"/>
              </a:rPr>
              <a:t>struct book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800" b="1">
                <a:latin typeface="Times New Roman" pitchFamily="18" charset="0"/>
              </a:rPr>
              <a:t>int pages;</a:t>
            </a:r>
          </a:p>
          <a:p>
            <a:r>
              <a:rPr lang="en-US" sz="2800" b="1">
                <a:latin typeface="Times New Roman" pitchFamily="18" charset="0"/>
              </a:rPr>
              <a:t>char bookname[10];</a:t>
            </a:r>
          </a:p>
          <a:p>
            <a:r>
              <a:rPr lang="en-US" sz="2800" b="1">
                <a:latin typeface="Times New Roman" pitchFamily="18" charset="0"/>
              </a:rPr>
              <a:t>char author[20];</a:t>
            </a:r>
          </a:p>
          <a:p>
            <a:r>
              <a:rPr lang="en-US" sz="2800" b="1">
                <a:latin typeface="Times New Roman" pitchFamily="18" charset="0"/>
              </a:rPr>
              <a:t>float price;</a:t>
            </a:r>
          </a:p>
          <a:p>
            <a:r>
              <a:rPr lang="en-US" sz="2800" b="1">
                <a:latin typeface="Times New Roman" pitchFamily="18" charset="0"/>
              </a:rPr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76200" y="76200"/>
            <a:ext cx="9067800" cy="6373813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sz="2400" b="1" i="1" u="sng"/>
              <a:t>Individual structure type variables can be declared as follows:</a:t>
            </a:r>
          </a:p>
          <a:p>
            <a:endParaRPr lang="en-US" sz="2800" b="1" i="1" u="sng"/>
          </a:p>
          <a:p>
            <a:r>
              <a:rPr lang="en-US" sz="2400" b="1" i="1" u="sng"/>
              <a:t>Syntax :</a:t>
            </a:r>
          </a:p>
          <a:p>
            <a:r>
              <a:rPr lang="en-US" sz="2000" b="1"/>
              <a:t>	struct structurename variable1,variable2, ..... variable n;</a:t>
            </a:r>
          </a:p>
          <a:p>
            <a:endParaRPr lang="en-US" sz="2000" b="1"/>
          </a:p>
          <a:p>
            <a:r>
              <a:rPr lang="en-US" sz="2400" b="1" i="1" u="sng"/>
              <a:t>Example</a:t>
            </a:r>
          </a:p>
          <a:p>
            <a:r>
              <a:rPr lang="en-US" sz="2000" b="1"/>
              <a:t>	struct  book b1; 	/* b1 is a structure variable name */</a:t>
            </a:r>
          </a:p>
          <a:p>
            <a:endParaRPr lang="en-US" sz="2000" b="1"/>
          </a:p>
          <a:p>
            <a:r>
              <a:rPr lang="en-US" sz="2400" b="1" i="1" u="sng"/>
              <a:t>Member variables can be accessed using the dot or period operator as follows:</a:t>
            </a:r>
          </a:p>
          <a:p>
            <a:endParaRPr lang="en-US" sz="2400" b="1" i="1" u="sng"/>
          </a:p>
          <a:p>
            <a:r>
              <a:rPr lang="en-US" sz="2400" b="1" i="1" u="sng"/>
              <a:t>Syntax : </a:t>
            </a:r>
          </a:p>
          <a:p>
            <a:r>
              <a:rPr lang="en-US" sz="2400" b="1" i="1"/>
              <a:t>          Struct_variablename.membername;</a:t>
            </a:r>
          </a:p>
          <a:p>
            <a:endParaRPr lang="en-US" sz="2400" b="1" i="1"/>
          </a:p>
          <a:p>
            <a:r>
              <a:rPr lang="en-US" sz="2400" b="1" i="1" u="sng"/>
              <a:t>Example</a:t>
            </a:r>
          </a:p>
          <a:p>
            <a:r>
              <a:rPr lang="en-US" sz="2000" b="1"/>
              <a:t>	b1.pages=400;</a:t>
            </a:r>
          </a:p>
          <a:p>
            <a:r>
              <a:rPr lang="en-US" sz="2000" b="1"/>
              <a:t>	b1.price=450.00;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228600" y="0"/>
            <a:ext cx="8686800" cy="6858000"/>
          </a:xfrm>
          <a:prstGeom prst="rect">
            <a:avLst/>
          </a:prstGeom>
          <a:solidFill>
            <a:srgbClr val="993366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u="sng">
                <a:solidFill>
                  <a:schemeClr val="bg1"/>
                </a:solidFill>
                <a:latin typeface="Times New Roman" pitchFamily="18" charset="0"/>
              </a:rPr>
              <a:t>Write a program to create student structure: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#include&lt;stdio.h&gt;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#include&lt;conio.h&gt;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struct student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{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int id;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char name[20];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int m1,m2,m3,total,avg;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}s;	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void main()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{ 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clrscr();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printf("\nEnter the student details");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scanf("%d%s%d%d%d",&amp;s.id,&amp;s.name, &amp;s.m1,&amp;s.m2,&amp;s.m3);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s.total=s.m1+s.m2+s.m3;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s.avg=s.total/3;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printf(“\nNo=%d\nName= %s \nTotal=%d\nAverage= %d ",s.id,s.name,s.total, s.avg);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getch();</a:t>
            </a:r>
          </a:p>
          <a:p>
            <a:r>
              <a:rPr lang="en-US" sz="2200" b="1">
                <a:solidFill>
                  <a:schemeClr val="bg1"/>
                </a:solidFill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576388" y="228600"/>
            <a:ext cx="5813425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800">
                <a:solidFill>
                  <a:srgbClr val="990000"/>
                </a:solidFill>
                <a:latin typeface="Arial Unicode MS" pitchFamily="34" charset="-128"/>
                <a:cs typeface="Times New Roman" pitchFamily="18" charset="0"/>
              </a:rPr>
              <a:t>Initializing Structures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76200" y="1087438"/>
            <a:ext cx="8864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40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Like variables and arrays, structure variables can be initialized at the</a:t>
            </a:r>
            <a:br>
              <a:rPr lang="en-US" sz="240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 beginning of the program.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2550" y="1941513"/>
            <a:ext cx="8375650" cy="2173287"/>
            <a:chOff x="96" y="1258"/>
            <a:chExt cx="5276" cy="1369"/>
          </a:xfrm>
        </p:grpSpPr>
        <p:sp>
          <p:nvSpPr>
            <p:cNvPr id="11273" name="Text Box 5"/>
            <p:cNvSpPr txBox="1">
              <a:spLocks noChangeArrowheads="1"/>
            </p:cNvSpPr>
            <p:nvPr/>
          </p:nvSpPr>
          <p:spPr bwMode="auto">
            <a:xfrm>
              <a:off x="96" y="1258"/>
              <a:ext cx="28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3"/>
                </a:buBlip>
              </a:pPr>
              <a:r>
                <a:rPr lang="en-US" sz="2400">
                  <a:solidFill>
                    <a:srgbClr val="990000"/>
                  </a:solidFill>
                  <a:latin typeface="Times New Roman" pitchFamily="18" charset="0"/>
                  <a:cs typeface="Times New Roman" pitchFamily="18" charset="0"/>
                </a:rPr>
                <a:t> Consider the following program :</a:t>
              </a:r>
            </a:p>
          </p:txBody>
        </p:sp>
        <p:sp>
          <p:nvSpPr>
            <p:cNvPr id="11274" name="WordArt 6"/>
            <p:cNvSpPr>
              <a:spLocks noChangeArrowheads="1" noChangeShapeType="1" noTextEdit="1"/>
            </p:cNvSpPr>
            <p:nvPr/>
          </p:nvSpPr>
          <p:spPr bwMode="auto">
            <a:xfrm>
              <a:off x="384" y="1680"/>
              <a:ext cx="3024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Arial Black"/>
                </a:rPr>
                <a:t>struct employee {</a:t>
              </a:r>
            </a:p>
          </p:txBody>
        </p:sp>
        <p:sp>
          <p:nvSpPr>
            <p:cNvPr id="11275" name="WordArt 7"/>
            <p:cNvSpPr>
              <a:spLocks noChangeArrowheads="1" noChangeShapeType="1" noTextEdit="1"/>
            </p:cNvSpPr>
            <p:nvPr/>
          </p:nvSpPr>
          <p:spPr bwMode="auto">
            <a:xfrm>
              <a:off x="3452" y="1667"/>
              <a:ext cx="1536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Arial Black"/>
                </a:rPr>
                <a:t>int no;</a:t>
              </a:r>
            </a:p>
          </p:txBody>
        </p:sp>
        <p:sp>
          <p:nvSpPr>
            <p:cNvPr id="11276" name="WordArt 8"/>
            <p:cNvSpPr>
              <a:spLocks noChangeArrowheads="1" noChangeShapeType="1" noTextEdit="1"/>
            </p:cNvSpPr>
            <p:nvPr/>
          </p:nvSpPr>
          <p:spPr bwMode="auto">
            <a:xfrm>
              <a:off x="3260" y="2003"/>
              <a:ext cx="2112" cy="3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Arial Black"/>
                </a:rPr>
                <a:t>char name[20];</a:t>
              </a:r>
            </a:p>
          </p:txBody>
        </p:sp>
        <p:sp>
          <p:nvSpPr>
            <p:cNvPr id="11277" name="WordArt 9"/>
            <p:cNvSpPr>
              <a:spLocks noChangeArrowheads="1" noChangeShapeType="1" noTextEdit="1"/>
            </p:cNvSpPr>
            <p:nvPr/>
          </p:nvSpPr>
          <p:spPr bwMode="auto">
            <a:xfrm>
              <a:off x="3308" y="2339"/>
              <a:ext cx="288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Arial Black"/>
                </a:rPr>
                <a:t>};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-457200" y="4114800"/>
            <a:ext cx="8923338" cy="1889125"/>
            <a:chOff x="-96" y="1383"/>
            <a:chExt cx="5621" cy="1545"/>
          </a:xfrm>
        </p:grpSpPr>
        <p:sp>
          <p:nvSpPr>
            <p:cNvPr id="11270" name="Text Box 11"/>
            <p:cNvSpPr txBox="1">
              <a:spLocks noChangeArrowheads="1"/>
            </p:cNvSpPr>
            <p:nvPr/>
          </p:nvSpPr>
          <p:spPr bwMode="auto">
            <a:xfrm>
              <a:off x="-96" y="1383"/>
              <a:ext cx="5621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3"/>
                </a:buBlip>
              </a:pPr>
              <a:r>
                <a:rPr lang="en-US" sz="2400">
                  <a:solidFill>
                    <a:srgbClr val="990000"/>
                  </a:solidFill>
                  <a:latin typeface="Times New Roman" pitchFamily="18" charset="0"/>
                  <a:cs typeface="Times New Roman" pitchFamily="18" charset="0"/>
                </a:rPr>
                <a:t> The variable emp1 and emp2 of the type employee can be initialized </a:t>
              </a:r>
              <a:br>
                <a:rPr lang="en-US" sz="2400">
                  <a:solidFill>
                    <a:srgbClr val="990000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>
                  <a:solidFill>
                    <a:srgbClr val="990000"/>
                  </a:solidFill>
                  <a:latin typeface="Times New Roman" pitchFamily="18" charset="0"/>
                  <a:cs typeface="Times New Roman" pitchFamily="18" charset="0"/>
                </a:rPr>
                <a:t>    when it is declared as</a:t>
              </a:r>
            </a:p>
          </p:txBody>
        </p:sp>
        <p:sp>
          <p:nvSpPr>
            <p:cNvPr id="11271" name="WordArt 12"/>
            <p:cNvSpPr>
              <a:spLocks noChangeArrowheads="1" noChangeShapeType="1" noTextEdit="1"/>
            </p:cNvSpPr>
            <p:nvPr/>
          </p:nvSpPr>
          <p:spPr bwMode="auto">
            <a:xfrm>
              <a:off x="384" y="2040"/>
              <a:ext cx="4704" cy="4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Arial Black"/>
                </a:rPr>
                <a:t>struct employee emp1 = {346, "Abraham" };</a:t>
              </a:r>
            </a:p>
          </p:txBody>
        </p:sp>
        <p:sp>
          <p:nvSpPr>
            <p:cNvPr id="11272" name="WordArt 13"/>
            <p:cNvSpPr>
              <a:spLocks noChangeArrowheads="1" noChangeShapeType="1" noTextEdit="1"/>
            </p:cNvSpPr>
            <p:nvPr/>
          </p:nvSpPr>
          <p:spPr bwMode="auto">
            <a:xfrm>
              <a:off x="384" y="2520"/>
              <a:ext cx="4704" cy="4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Arial Black"/>
                </a:rPr>
                <a:t>struct employee emp2 = {347, "John" };</a:t>
              </a:r>
            </a:p>
          </p:txBody>
        </p:sp>
      </p:grpSp>
    </p:spTree>
  </p:cSld>
  <p:clrMapOvr>
    <a:masterClrMapping/>
  </p:clrMapOvr>
  <p:transition spd="med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85800" y="457200"/>
            <a:ext cx="8305800" cy="4589463"/>
            <a:chOff x="288" y="288"/>
            <a:chExt cx="5232" cy="2891"/>
          </a:xfrm>
        </p:grpSpPr>
        <p:sp>
          <p:nvSpPr>
            <p:cNvPr id="12291" name="WordArt 3"/>
            <p:cNvSpPr>
              <a:spLocks noChangeArrowheads="1" noChangeShapeType="1" noTextEdit="1"/>
            </p:cNvSpPr>
            <p:nvPr/>
          </p:nvSpPr>
          <p:spPr bwMode="auto">
            <a:xfrm>
              <a:off x="960" y="288"/>
              <a:ext cx="3504" cy="408"/>
            </a:xfrm>
            <a:prstGeom prst="rect">
              <a:avLst/>
            </a:prstGeom>
          </p:spPr>
          <p:txBody>
            <a:bodyPr wrap="none" fromWordArt="1">
              <a:prstTxWarp prst="textFadeUp">
                <a:avLst>
                  <a:gd name="adj" fmla="val 9991"/>
                </a:avLst>
              </a:prstTxWarp>
            </a:bodyPr>
            <a:lstStyle/>
            <a:p>
              <a:pPr algn="ctr"/>
              <a:r>
                <a:rPr lang="en-IN" sz="3600" b="1" kern="10">
                  <a:ln w="12700">
                    <a:solidFill>
                      <a:srgbClr val="B2B2B2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520402"/>
                      </a:gs>
                      <a:gs pos="100000">
                        <a:srgbClr val="FFCC00"/>
                      </a:gs>
                    </a:gsLst>
                    <a:lin ang="5400000" scaled="1"/>
                  </a:gradFill>
                  <a:effectLst>
                    <a:outerShdw dist="35921" dir="2700000" sy="50000" rotWithShape="0">
                      <a:srgbClr val="875B0D">
                        <a:alpha val="70000"/>
                      </a:srgbClr>
                    </a:outerShdw>
                  </a:effectLst>
                  <a:latin typeface="Arial Black"/>
                </a:rPr>
                <a:t>Array Of Structures</a:t>
              </a:r>
            </a:p>
          </p:txBody>
        </p:sp>
        <p:sp>
          <p:nvSpPr>
            <p:cNvPr id="12292" name="Text Box 4"/>
            <p:cNvSpPr txBox="1">
              <a:spLocks noChangeArrowheads="1"/>
            </p:cNvSpPr>
            <p:nvPr/>
          </p:nvSpPr>
          <p:spPr bwMode="auto">
            <a:xfrm>
              <a:off x="288" y="864"/>
              <a:ext cx="5232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sz="2000" b="1"/>
                <a:t>                Array of structures are defined as a group of data  of different data types stored in a consecutive memory location with a common variable name.</a:t>
              </a:r>
            </a:p>
          </p:txBody>
        </p:sp>
        <p:sp>
          <p:nvSpPr>
            <p:cNvPr id="12293" name="Text Box 5"/>
            <p:cNvSpPr txBox="1">
              <a:spLocks noChangeArrowheads="1"/>
            </p:cNvSpPr>
            <p:nvPr/>
          </p:nvSpPr>
          <p:spPr bwMode="auto">
            <a:xfrm>
              <a:off x="1536" y="1728"/>
              <a:ext cx="2736" cy="14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For Example,</a:t>
              </a:r>
            </a:p>
            <a:p>
              <a:r>
                <a:rPr lang="en-US" b="1"/>
                <a:t>	struct student</a:t>
              </a:r>
            </a:p>
            <a:p>
              <a:r>
                <a:rPr lang="en-US" b="1"/>
                <a:t>	{</a:t>
              </a:r>
            </a:p>
            <a:p>
              <a:r>
                <a:rPr lang="en-US" b="1"/>
                <a:t>	int sno;</a:t>
              </a:r>
            </a:p>
            <a:p>
              <a:r>
                <a:rPr lang="en-US" b="1"/>
                <a:t>	char name[20],course[10];</a:t>
              </a:r>
            </a:p>
            <a:p>
              <a:r>
                <a:rPr lang="en-US" b="1"/>
                <a:t>	}s[3];</a:t>
              </a:r>
            </a:p>
            <a:p>
              <a:r>
                <a:rPr lang="en-US" b="1"/>
                <a:t>	</a:t>
              </a:r>
            </a:p>
            <a:p>
              <a:pPr>
                <a:spcBef>
                  <a:spcPct val="5000"/>
                </a:spcBef>
              </a:pPr>
              <a:r>
                <a:rPr lang="en-US" b="1"/>
                <a:t>S is an array of structure.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6"/>
          <p:cNvSpPr txBox="1">
            <a:spLocks noChangeArrowheads="1"/>
          </p:cNvSpPr>
          <p:nvPr/>
        </p:nvSpPr>
        <p:spPr bwMode="auto">
          <a:xfrm>
            <a:off x="381000" y="0"/>
            <a:ext cx="8534400" cy="701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"/>
              </a:spcBef>
            </a:pPr>
            <a:r>
              <a:rPr lang="en-US" b="1"/>
              <a:t>#include&lt;stdio.h&gt;</a:t>
            </a:r>
          </a:p>
          <a:p>
            <a:pPr>
              <a:spcBef>
                <a:spcPct val="5000"/>
              </a:spcBef>
            </a:pPr>
            <a:r>
              <a:rPr lang="en-US" b="1"/>
              <a:t>#include&lt;conio.h&gt;</a:t>
            </a:r>
          </a:p>
          <a:p>
            <a:pPr>
              <a:spcBef>
                <a:spcPct val="5000"/>
              </a:spcBef>
            </a:pPr>
            <a:r>
              <a:rPr lang="en-US" b="1"/>
              <a:t>struct student</a:t>
            </a:r>
          </a:p>
          <a:p>
            <a:pPr>
              <a:spcBef>
                <a:spcPct val="5000"/>
              </a:spcBef>
            </a:pPr>
            <a:r>
              <a:rPr lang="en-US" b="1"/>
              <a:t>{</a:t>
            </a:r>
          </a:p>
          <a:p>
            <a:pPr>
              <a:spcBef>
                <a:spcPct val="5000"/>
              </a:spcBef>
            </a:pPr>
            <a:r>
              <a:rPr lang="en-US" b="1"/>
              <a:t>int sno;</a:t>
            </a:r>
          </a:p>
          <a:p>
            <a:pPr>
              <a:spcBef>
                <a:spcPct val="5000"/>
              </a:spcBef>
            </a:pPr>
            <a:r>
              <a:rPr lang="en-US" b="1"/>
              <a:t>char name[20],course[10];</a:t>
            </a:r>
          </a:p>
          <a:p>
            <a:pPr>
              <a:spcBef>
                <a:spcPct val="5000"/>
              </a:spcBef>
            </a:pPr>
            <a:r>
              <a:rPr lang="en-US" b="1"/>
              <a:t>};</a:t>
            </a:r>
          </a:p>
          <a:p>
            <a:pPr>
              <a:spcBef>
                <a:spcPct val="5000"/>
              </a:spcBef>
            </a:pPr>
            <a:r>
              <a:rPr lang="en-US" b="1"/>
              <a:t>void main()</a:t>
            </a:r>
          </a:p>
          <a:p>
            <a:pPr>
              <a:spcBef>
                <a:spcPct val="5000"/>
              </a:spcBef>
            </a:pPr>
            <a:r>
              <a:rPr lang="en-US" b="1"/>
              <a:t>{</a:t>
            </a:r>
          </a:p>
          <a:p>
            <a:pPr>
              <a:spcBef>
                <a:spcPct val="5000"/>
              </a:spcBef>
            </a:pPr>
            <a:r>
              <a:rPr lang="en-US" b="1"/>
              <a:t>struct student s[3];</a:t>
            </a:r>
          </a:p>
          <a:p>
            <a:pPr>
              <a:spcBef>
                <a:spcPct val="5000"/>
              </a:spcBef>
            </a:pPr>
            <a:r>
              <a:rPr lang="en-US" b="1"/>
              <a:t>int i;</a:t>
            </a:r>
          </a:p>
          <a:p>
            <a:pPr>
              <a:spcBef>
                <a:spcPct val="5000"/>
              </a:spcBef>
            </a:pPr>
            <a:r>
              <a:rPr lang="en-US" b="1"/>
              <a:t>printf(“\nEnter Student No,Name and Course:”);</a:t>
            </a:r>
          </a:p>
          <a:p>
            <a:pPr>
              <a:spcBef>
                <a:spcPct val="5000"/>
              </a:spcBef>
            </a:pPr>
            <a:r>
              <a:rPr lang="en-US" b="1"/>
              <a:t>for(i=0; i&lt;3; i++)</a:t>
            </a:r>
          </a:p>
          <a:p>
            <a:pPr>
              <a:spcBef>
                <a:spcPct val="5000"/>
              </a:spcBef>
            </a:pPr>
            <a:r>
              <a:rPr lang="en-US" b="1"/>
              <a:t>{</a:t>
            </a:r>
          </a:p>
          <a:p>
            <a:pPr>
              <a:spcBef>
                <a:spcPct val="5000"/>
              </a:spcBef>
            </a:pPr>
            <a:r>
              <a:rPr lang="en-US" b="1"/>
              <a:t>printf(“\nNo=%d\n”,i+1);</a:t>
            </a:r>
          </a:p>
          <a:p>
            <a:pPr>
              <a:spcBef>
                <a:spcPct val="5000"/>
              </a:spcBef>
            </a:pPr>
            <a:r>
              <a:rPr lang="en-US" b="1"/>
              <a:t>scanf(“%d%s%s”,&amp;s[i].sno,&amp;s[i].name,&amp;s[i].course);</a:t>
            </a:r>
          </a:p>
          <a:p>
            <a:pPr>
              <a:spcBef>
                <a:spcPct val="5000"/>
              </a:spcBef>
            </a:pPr>
            <a:r>
              <a:rPr lang="en-US" b="1"/>
              <a:t>}</a:t>
            </a:r>
          </a:p>
          <a:p>
            <a:pPr>
              <a:spcBef>
                <a:spcPct val="5000"/>
              </a:spcBef>
            </a:pPr>
            <a:r>
              <a:rPr lang="en-US" b="1"/>
              <a:t>printf(“\n--------Student Details----------\n”);</a:t>
            </a:r>
          </a:p>
          <a:p>
            <a:pPr>
              <a:spcBef>
                <a:spcPct val="5000"/>
              </a:spcBef>
            </a:pPr>
            <a:r>
              <a:rPr lang="en-US" b="1"/>
              <a:t>for(i=0;i&lt;3;i++)</a:t>
            </a:r>
          </a:p>
          <a:p>
            <a:pPr>
              <a:spcBef>
                <a:spcPct val="5000"/>
              </a:spcBef>
            </a:pPr>
            <a:r>
              <a:rPr lang="en-US" b="1"/>
              <a:t>{</a:t>
            </a:r>
          </a:p>
          <a:p>
            <a:pPr>
              <a:spcBef>
                <a:spcPct val="5000"/>
              </a:spcBef>
            </a:pPr>
            <a:r>
              <a:rPr lang="en-US" b="1"/>
              <a:t>printf(“\nNo=%d\n”,i+1);</a:t>
            </a:r>
          </a:p>
          <a:p>
            <a:pPr>
              <a:spcBef>
                <a:spcPct val="5000"/>
              </a:spcBef>
            </a:pPr>
            <a:r>
              <a:rPr lang="en-US" b="1"/>
              <a:t>printf(“\Sno=%d”\nName=%s\nCourse=%s”,s[i].sno,s[i].name,s[i].course);</a:t>
            </a:r>
          </a:p>
          <a:p>
            <a:pPr>
              <a:spcBef>
                <a:spcPct val="5000"/>
              </a:spcBef>
            </a:pPr>
            <a:r>
              <a:rPr lang="en-US" b="1"/>
              <a:t>getch();}</a:t>
            </a:r>
          </a:p>
          <a:p>
            <a:pPr>
              <a:spcBef>
                <a:spcPct val="5000"/>
              </a:spcBef>
            </a:pPr>
            <a:endParaRPr lang="en-US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685800" y="381000"/>
            <a:ext cx="7924800" cy="588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>
                <a:solidFill>
                  <a:srgbClr val="990000"/>
                </a:solidFill>
                <a:cs typeface="Times New Roman" pitchFamily="18" charset="0"/>
              </a:rPr>
              <a:t>Passing Structures as Arguments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609600" y="1295400"/>
            <a:ext cx="8001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Tx/>
              <a:buBlip>
                <a:blip r:embed="rId3"/>
              </a:buBlip>
            </a:pPr>
            <a:r>
              <a:rPr lang="en-US" sz="240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A structure variable can be passed as an argument to a function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685800" y="2378075"/>
            <a:ext cx="80010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Tx/>
              <a:buBlip>
                <a:blip r:embed="rId3"/>
              </a:buBlip>
            </a:pPr>
            <a:r>
              <a:rPr lang="en-US" sz="2400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This is a useful facility and it is used to pass groups of logically related data items together instead of passing them one by 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nimBg="1"/>
      <p:bldP spid="13315" grpId="0"/>
      <p:bldP spid="13316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228600" y="0"/>
            <a:ext cx="8915400" cy="6002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latin typeface="Times New Roman" pitchFamily="18" charset="0"/>
              </a:rPr>
              <a:t>/*PASSING STRUCTURES AS ARGUMENT TO FUNCTION*/</a:t>
            </a:r>
          </a:p>
          <a:p>
            <a:r>
              <a:rPr lang="en-US" sz="2400" b="1">
                <a:latin typeface="Times New Roman" pitchFamily="18" charset="0"/>
              </a:rPr>
              <a:t>#include&lt;stdio.h&gt;</a:t>
            </a:r>
          </a:p>
          <a:p>
            <a:r>
              <a:rPr lang="en-US" sz="2400" b="1">
                <a:latin typeface="Times New Roman" pitchFamily="18" charset="0"/>
              </a:rPr>
              <a:t>#include&lt;conio.h&gt;</a:t>
            </a:r>
          </a:p>
          <a:p>
            <a:r>
              <a:rPr lang="en-US" sz="2400" b="1">
                <a:latin typeface="Times New Roman" pitchFamily="18" charset="0"/>
              </a:rPr>
              <a:t>struct customer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char *name;int acct_no;</a:t>
            </a:r>
          </a:p>
          <a:p>
            <a:r>
              <a:rPr lang="en-US" sz="2400" b="1">
                <a:latin typeface="Times New Roman" pitchFamily="18" charset="0"/>
              </a:rPr>
              <a:t>char acct_type;float bal;</a:t>
            </a:r>
          </a:p>
          <a:p>
            <a:r>
              <a:rPr lang="en-US" sz="2400" b="1">
                <a:latin typeface="Times New Roman" pitchFamily="18" charset="0"/>
              </a:rPr>
              <a:t>};</a:t>
            </a:r>
          </a:p>
          <a:p>
            <a:r>
              <a:rPr lang="en-US" sz="2400" b="1">
                <a:latin typeface="Times New Roman" pitchFamily="18" charset="0"/>
              </a:rPr>
              <a:t>struct customer modify(struct customer); </a:t>
            </a:r>
          </a:p>
          <a:p>
            <a:r>
              <a:rPr lang="en-US" sz="2400" b="1">
                <a:latin typeface="Times New Roman" pitchFamily="18" charset="0"/>
              </a:rPr>
              <a:t>void main()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struct customer c;</a:t>
            </a:r>
          </a:p>
          <a:p>
            <a:r>
              <a:rPr lang="en-US" sz="2400" b="1">
                <a:latin typeface="Times New Roman" pitchFamily="18" charset="0"/>
              </a:rPr>
              <a:t>c=modify(c);  //calling</a:t>
            </a:r>
          </a:p>
          <a:p>
            <a:r>
              <a:rPr lang="en-US" sz="2400" b="1">
                <a:latin typeface="Times New Roman" pitchFamily="18" charset="0"/>
              </a:rPr>
              <a:t>printf("\nName=%s\nA/c No=%d\nA/c Type=%c\nA/c Balance= %f",c.name,c.acct_no,c.acct_type,c.bal); </a:t>
            </a:r>
          </a:p>
          <a:p>
            <a:r>
              <a:rPr lang="en-US" sz="2400" b="1">
                <a:latin typeface="Times New Roman" pitchFamily="18" charset="0"/>
              </a:rPr>
              <a:t>getch();}</a:t>
            </a:r>
          </a:p>
        </p:txBody>
      </p:sp>
    </p:spTree>
  </p:cSld>
  <p:clrMapOvr>
    <a:masterClrMapping/>
  </p:clrMapOvr>
  <p:transition spd="med">
    <p:checker/>
  </p:transition>
  <p:timing>
    <p:tnLst>
      <p:par>
        <p:cTn id="1" dur="indefinite" restart="never" nodeType="tmRoot"/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1066800" y="762000"/>
            <a:ext cx="6934200" cy="35401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latin typeface="Times New Roman" pitchFamily="18" charset="0"/>
              </a:rPr>
              <a:t>Struct customer modify(struct customer r)</a:t>
            </a:r>
          </a:p>
          <a:p>
            <a:r>
              <a:rPr lang="en-US" sz="2800" b="1">
                <a:latin typeface="Times New Roman" pitchFamily="18" charset="0"/>
              </a:rPr>
              <a:t>{</a:t>
            </a:r>
          </a:p>
          <a:p>
            <a:r>
              <a:rPr lang="en-US" sz="2800" b="1">
                <a:latin typeface="Times New Roman" pitchFamily="18" charset="0"/>
              </a:rPr>
              <a:t>r.name="Raja";</a:t>
            </a:r>
          </a:p>
          <a:p>
            <a:r>
              <a:rPr lang="en-US" sz="2800" b="1">
                <a:latin typeface="Times New Roman" pitchFamily="18" charset="0"/>
              </a:rPr>
              <a:t>r.acct_no=1567;</a:t>
            </a:r>
          </a:p>
          <a:p>
            <a:r>
              <a:rPr lang="en-US" sz="2800" b="1">
                <a:latin typeface="Times New Roman" pitchFamily="18" charset="0"/>
              </a:rPr>
              <a:t>r.acct_type='R';</a:t>
            </a:r>
          </a:p>
          <a:p>
            <a:r>
              <a:rPr lang="en-US" sz="2800" b="1">
                <a:latin typeface="Times New Roman" pitchFamily="18" charset="0"/>
              </a:rPr>
              <a:t>r.balance=900.00;</a:t>
            </a:r>
          </a:p>
          <a:p>
            <a:r>
              <a:rPr lang="en-US" sz="2800" b="1">
                <a:latin typeface="Times New Roman" pitchFamily="18" charset="0"/>
              </a:rPr>
              <a:t>return(r);</a:t>
            </a:r>
          </a:p>
          <a:p>
            <a:r>
              <a:rPr lang="en-US" sz="2800" b="1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/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0" y="1981200"/>
            <a:ext cx="3048000" cy="4673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Times New Roman" pitchFamily="18" charset="0"/>
              </a:rPr>
              <a:t>#include&lt;stdio.h&gt;</a:t>
            </a:r>
          </a:p>
          <a:p>
            <a:r>
              <a:rPr lang="en-US" sz="2000" b="1">
                <a:latin typeface="Times New Roman" pitchFamily="18" charset="0"/>
              </a:rPr>
              <a:t>#include&lt;conio.h&gt;</a:t>
            </a:r>
          </a:p>
          <a:p>
            <a:r>
              <a:rPr lang="en-US" sz="2000" b="1">
                <a:latin typeface="Times New Roman" pitchFamily="18" charset="0"/>
              </a:rPr>
              <a:t>struct dob</a:t>
            </a:r>
          </a:p>
          <a:p>
            <a:r>
              <a:rPr lang="en-US" sz="2000" b="1">
                <a:latin typeface="Times New Roman" pitchFamily="18" charset="0"/>
              </a:rPr>
              <a:t>{</a:t>
            </a:r>
          </a:p>
          <a:p>
            <a:r>
              <a:rPr lang="en-US" sz="2000" b="1">
                <a:latin typeface="Times New Roman" pitchFamily="18" charset="0"/>
              </a:rPr>
              <a:t>int date,month,year; </a:t>
            </a:r>
          </a:p>
          <a:p>
            <a:r>
              <a:rPr lang="en-US" sz="2000" b="1">
                <a:latin typeface="Times New Roman" pitchFamily="18" charset="0"/>
              </a:rPr>
              <a:t>};</a:t>
            </a:r>
          </a:p>
          <a:p>
            <a:r>
              <a:rPr lang="en-US" sz="2000" b="1">
                <a:latin typeface="Times New Roman" pitchFamily="18" charset="0"/>
              </a:rPr>
              <a:t>struct student</a:t>
            </a:r>
          </a:p>
          <a:p>
            <a:r>
              <a:rPr lang="en-US" sz="2000" b="1">
                <a:latin typeface="Times New Roman" pitchFamily="18" charset="0"/>
              </a:rPr>
              <a:t>{</a:t>
            </a:r>
          </a:p>
          <a:p>
            <a:r>
              <a:rPr lang="en-US" sz="2000" b="1">
                <a:latin typeface="Times New Roman" pitchFamily="18" charset="0"/>
              </a:rPr>
              <a:t>int sno;</a:t>
            </a:r>
          </a:p>
          <a:p>
            <a:r>
              <a:rPr lang="en-US" sz="2000" b="1">
                <a:latin typeface="Times New Roman" pitchFamily="18" charset="0"/>
              </a:rPr>
              <a:t>char sname[10];</a:t>
            </a:r>
          </a:p>
          <a:p>
            <a:r>
              <a:rPr lang="en-US" sz="2000" b="1">
                <a:latin typeface="Times New Roman" pitchFamily="18" charset="0"/>
              </a:rPr>
              <a:t>struct dob sdob;</a:t>
            </a:r>
          </a:p>
          <a:p>
            <a:r>
              <a:rPr lang="en-US" sz="2000" b="1">
                <a:latin typeface="Times New Roman" pitchFamily="18" charset="0"/>
              </a:rPr>
              <a:t>char gender; </a:t>
            </a:r>
          </a:p>
          <a:p>
            <a:r>
              <a:rPr lang="en-US" sz="2000" b="1">
                <a:latin typeface="Times New Roman" pitchFamily="18" charset="0"/>
              </a:rPr>
              <a:t> };</a:t>
            </a:r>
          </a:p>
          <a:p>
            <a:endParaRPr lang="en-US" sz="2000" b="1">
              <a:latin typeface="Times New Roman" pitchFamily="18" charset="0"/>
            </a:endParaRPr>
          </a:p>
          <a:p>
            <a:endParaRPr lang="en-US" sz="2000" b="1">
              <a:latin typeface="Times New Roman" pitchFamily="18" charset="0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124200" y="1981200"/>
            <a:ext cx="6019800" cy="4673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Times New Roman" pitchFamily="18" charset="0"/>
              </a:rPr>
              <a:t>void main()</a:t>
            </a:r>
          </a:p>
          <a:p>
            <a:r>
              <a:rPr lang="en-US" sz="2000" b="1">
                <a:latin typeface="Times New Roman" pitchFamily="18" charset="0"/>
              </a:rPr>
              <a:t>{</a:t>
            </a:r>
          </a:p>
          <a:p>
            <a:r>
              <a:rPr lang="en-US" sz="2000" b="1">
                <a:latin typeface="Times New Roman" pitchFamily="18" charset="0"/>
              </a:rPr>
              <a:t>struct student s;</a:t>
            </a:r>
          </a:p>
          <a:p>
            <a:r>
              <a:rPr lang="en-US" sz="2000" b="1">
                <a:latin typeface="Times New Roman" pitchFamily="18" charset="0"/>
              </a:rPr>
              <a:t>clrscr();</a:t>
            </a:r>
          </a:p>
          <a:p>
            <a:r>
              <a:rPr lang="en-US" sz="2000" b="1">
                <a:latin typeface="Times New Roman" pitchFamily="18" charset="0"/>
              </a:rPr>
              <a:t>printf(“\nEnter the Student No,Name &amp;Gender:");</a:t>
            </a:r>
          </a:p>
          <a:p>
            <a:r>
              <a:rPr lang="en-US" sz="2000" b="1">
                <a:latin typeface="Times New Roman" pitchFamily="18" charset="0"/>
              </a:rPr>
              <a:t>scanf("%d%s%c",&amp;s.sno,s.sname,&amp;s.gender);</a:t>
            </a:r>
          </a:p>
          <a:p>
            <a:r>
              <a:rPr lang="en-US" sz="2000" b="1">
                <a:latin typeface="Times New Roman" pitchFamily="18" charset="0"/>
              </a:rPr>
              <a:t>printf(“\nEnter the Student Date of Birth:");</a:t>
            </a:r>
          </a:p>
          <a:p>
            <a:r>
              <a:rPr lang="en-US" sz="2000" b="1">
                <a:latin typeface="Times New Roman" pitchFamily="18" charset="0"/>
              </a:rPr>
              <a:t>scanf("%d%d%d",&amp;s.sdob.date, &amp;s.sdob.month,&amp;s.sdob.year);</a:t>
            </a:r>
          </a:p>
          <a:p>
            <a:r>
              <a:rPr lang="en-US" sz="2000" b="1">
                <a:latin typeface="Times New Roman" pitchFamily="18" charset="0"/>
              </a:rPr>
              <a:t>printf(“No=%d\nName=%s\nGender=%c”,s.sno,s.sname,s.gender); </a:t>
            </a:r>
          </a:p>
          <a:p>
            <a:r>
              <a:rPr lang="en-US" sz="2000" b="1">
                <a:latin typeface="Times New Roman" pitchFamily="18" charset="0"/>
              </a:rPr>
              <a:t>printf(“Date of Birth=%d\t%d\t%d",s.sdob.date, s.sdob.month,s.sdob.year);</a:t>
            </a:r>
          </a:p>
          <a:p>
            <a:r>
              <a:rPr lang="en-US" sz="2000" b="1">
                <a:latin typeface="Times New Roman" pitchFamily="18" charset="0"/>
              </a:rPr>
              <a:t>getch();</a:t>
            </a:r>
          </a:p>
          <a:p>
            <a:r>
              <a:rPr lang="en-US" sz="2000" b="1">
                <a:latin typeface="Times New Roman" pitchFamily="18" charset="0"/>
              </a:rPr>
              <a:t>}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1447800"/>
            <a:ext cx="952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/* Example Program for Nested Structre*/</a:t>
            </a:r>
          </a:p>
        </p:txBody>
      </p:sp>
      <p:sp>
        <p:nvSpPr>
          <p:cNvPr id="17413" name="Rectangle 6"/>
          <p:cNvSpPr>
            <a:spLocks noChangeArrowheads="1"/>
          </p:cNvSpPr>
          <p:nvPr/>
        </p:nvSpPr>
        <p:spPr bwMode="auto">
          <a:xfrm>
            <a:off x="1143000" y="381000"/>
            <a:ext cx="683895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 structure within another structure is called Nesting of structures.</a:t>
            </a:r>
          </a:p>
          <a:p>
            <a:r>
              <a:rPr lang="en-US"/>
              <a:t>The declaration of the embedded structure must appear </a:t>
            </a:r>
          </a:p>
          <a:p>
            <a:r>
              <a:rPr lang="en-US"/>
              <a:t>before the declaration of the outer structure.</a:t>
            </a:r>
          </a:p>
        </p:txBody>
      </p:sp>
      <p:sp>
        <p:nvSpPr>
          <p:cNvPr id="17414" name="Rectangle 7"/>
          <p:cNvSpPr>
            <a:spLocks noChangeArrowheads="1"/>
          </p:cNvSpPr>
          <p:nvPr/>
        </p:nvSpPr>
        <p:spPr bwMode="auto">
          <a:xfrm>
            <a:off x="0" y="0"/>
            <a:ext cx="6165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u="sng"/>
              <a:t>Nested Structure (A Structure within another structure)</a:t>
            </a: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76200" y="269875"/>
            <a:ext cx="8915400" cy="5487988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tabLst>
                <a:tab pos="457200" algn="l"/>
              </a:tabLst>
            </a:pPr>
            <a:r>
              <a:rPr lang="en-US" sz="3200" b="1" u="sng">
                <a:latin typeface="Times New Roman" pitchFamily="18" charset="0"/>
              </a:rPr>
              <a:t>Session Summary</a:t>
            </a:r>
          </a:p>
          <a:p>
            <a:pPr>
              <a:tabLst>
                <a:tab pos="457200" algn="l"/>
              </a:tabLst>
            </a:pPr>
            <a:endParaRPr lang="en-US" sz="3200" b="1">
              <a:latin typeface="Times New Roman" pitchFamily="18" charset="0"/>
            </a:endParaRP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The keyword “struct” begins the structure definition followed by the tag(i.e strcture name) within the braces the structure members are declared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The structure definition create a new data type that can be used to declare variables.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A member of structure is always referred and accessed using the member access operator(.) via the structure variable name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A structure containing a member that is a pointer to the same structure type is called as a </a:t>
            </a:r>
            <a:r>
              <a:rPr lang="en-US" sz="1600" b="1" i="1" u="sng"/>
              <a:t>self referential structure.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The structure pointer operator (</a:t>
            </a:r>
            <a:r>
              <a:rPr lang="en-US" sz="1600" b="1">
                <a:sym typeface="Wingdings" pitchFamily="2" charset="2"/>
              </a:rPr>
              <a:t>) is used when accessing a member of a structure via a pointer to the structure</a:t>
            </a:r>
            <a:endParaRPr lang="en-US" sz="16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152400" y="965200"/>
            <a:ext cx="8686800" cy="4448175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algn="ctr">
              <a:tabLst>
                <a:tab pos="457200" algn="l"/>
              </a:tabLst>
            </a:pPr>
            <a:r>
              <a:rPr lang="en-US" sz="2800" b="1" u="sng">
                <a:latin typeface="Times New Roman" pitchFamily="18" charset="0"/>
              </a:rPr>
              <a:t>EXERCISES</a:t>
            </a:r>
          </a:p>
          <a:p>
            <a:pPr marL="342900" indent="-342900">
              <a:tabLst>
                <a:tab pos="457200" algn="l"/>
              </a:tabLst>
            </a:pPr>
            <a:endParaRPr lang="en-US" sz="2800" b="1">
              <a:latin typeface="Times New Roman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Define a structure in C that contains the following:</a:t>
            </a:r>
          </a:p>
          <a:p>
            <a:pPr marL="342900" indent="-342900" algn="just">
              <a:lnSpc>
                <a:spcPct val="130000"/>
              </a:lnSpc>
              <a:buFont typeface="Wingdings" pitchFamily="2" charset="2"/>
              <a:buNone/>
              <a:tabLst>
                <a:tab pos="457200" algn="l"/>
              </a:tabLst>
            </a:pPr>
            <a:r>
              <a:rPr lang="en-US" sz="1600" b="1"/>
              <a:t>       a.	An integer quantity called “Won”</a:t>
            </a:r>
          </a:p>
          <a:p>
            <a:pPr marL="342900" indent="-342900" algn="just">
              <a:lnSpc>
                <a:spcPct val="130000"/>
              </a:lnSpc>
              <a:buFont typeface="Wingdings" pitchFamily="2" charset="2"/>
              <a:buNone/>
              <a:tabLst>
                <a:tab pos="457200" algn="l"/>
              </a:tabLst>
            </a:pPr>
            <a:r>
              <a:rPr lang="en-US" sz="1600" b="1"/>
              <a:t>	 b.	An integer quantity called “Lost”</a:t>
            </a:r>
          </a:p>
          <a:p>
            <a:pPr marL="342900" indent="-342900" algn="just">
              <a:lnSpc>
                <a:spcPct val="130000"/>
              </a:lnSpc>
              <a:buFont typeface="Wingdings" pitchFamily="2" charset="2"/>
              <a:buNone/>
              <a:tabLst>
                <a:tab pos="457200" algn="l"/>
              </a:tabLst>
            </a:pPr>
            <a:r>
              <a:rPr lang="en-US" sz="1600" b="1"/>
              <a:t>	 c.	A floating quantity called “Lost”</a:t>
            </a:r>
          </a:p>
          <a:p>
            <a:pPr marL="342900" indent="-342900" algn="just">
              <a:lnSpc>
                <a:spcPct val="130000"/>
              </a:lnSpc>
              <a:buFont typeface="Wingdings" pitchFamily="2" charset="2"/>
              <a:buNone/>
              <a:tabLst>
                <a:tab pos="457200" algn="l"/>
              </a:tabLst>
            </a:pPr>
            <a:r>
              <a:rPr lang="en-US" sz="1600" b="1"/>
              <a:t>	 d.	An array of characters to hold the name</a:t>
            </a:r>
          </a:p>
          <a:p>
            <a:pPr marL="342900" indent="-342900" algn="just">
              <a:lnSpc>
                <a:spcPct val="130000"/>
              </a:lnSpc>
              <a:buFont typeface="Wingdings" pitchFamily="2" charset="2"/>
              <a:buNone/>
              <a:tabLst>
                <a:tab pos="457200" algn="l"/>
              </a:tabLst>
            </a:pPr>
            <a:r>
              <a:rPr lang="en-US" sz="1600" b="1"/>
              <a:t>Include the user defined data type record within the definition?</a:t>
            </a:r>
          </a:p>
          <a:p>
            <a:pPr marL="342900" indent="-342900" algn="just">
              <a:lnSpc>
                <a:spcPct val="130000"/>
              </a:lnSpc>
              <a:buFont typeface="Wingdings" pitchFamily="2" charset="2"/>
              <a:buNone/>
              <a:tabLst>
                <a:tab pos="457200" algn="l"/>
              </a:tabLst>
            </a:pPr>
            <a:endParaRPr lang="en-US" sz="1600" b="1"/>
          </a:p>
          <a:p>
            <a:pPr marL="342900" indent="-342900" algn="just">
              <a:lnSpc>
                <a:spcPct val="130000"/>
              </a:lnSpc>
              <a:buFont typeface="Wingdings" pitchFamily="2" charset="2"/>
              <a:buNone/>
              <a:tabLst>
                <a:tab pos="457200" algn="l"/>
              </a:tabLst>
            </a:pPr>
            <a:r>
              <a:rPr lang="en-US" sz="1600" b="1"/>
              <a:t>2.	Define a structure called student that will describe the following information student name,class,rollno, subject marks &amp; total. Using student declare an array stu_list with 30 elements. Write program in C to read the information about all the 30 students and to display the information?</a:t>
            </a:r>
            <a:endParaRPr 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WordArt 2"/>
          <p:cNvSpPr>
            <a:spLocks noChangeArrowheads="1" noChangeShapeType="1" noTextEdit="1"/>
          </p:cNvSpPr>
          <p:nvPr/>
        </p:nvSpPr>
        <p:spPr bwMode="auto">
          <a:xfrm>
            <a:off x="3276600" y="914400"/>
            <a:ext cx="28956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A50021"/>
                </a:solidFill>
                <a:latin typeface="Arial Black"/>
              </a:rPr>
              <a:t>CHAPTER 9</a:t>
            </a:r>
          </a:p>
        </p:txBody>
      </p:sp>
      <p:sp>
        <p:nvSpPr>
          <p:cNvPr id="4099" name="WordArt 3"/>
          <p:cNvSpPr>
            <a:spLocks noChangeArrowheads="1" noChangeShapeType="1" noTextEdit="1"/>
          </p:cNvSpPr>
          <p:nvPr/>
        </p:nvSpPr>
        <p:spPr bwMode="auto">
          <a:xfrm>
            <a:off x="2819400" y="3124200"/>
            <a:ext cx="4762500" cy="1616075"/>
          </a:xfrm>
          <a:prstGeom prst="rect">
            <a:avLst/>
          </a:prstGeom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FF99"/>
                </a:solidFill>
                <a:latin typeface="Arial Black"/>
              </a:rPr>
              <a:t>UNIONS</a:t>
            </a:r>
          </a:p>
        </p:txBody>
      </p:sp>
    </p:spTree>
  </p:cSld>
  <p:clrMapOvr>
    <a:masterClrMapping/>
  </p:clrMapOvr>
  <p:transition spd="med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nimBg="1"/>
      <p:bldP spid="4099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722438" y="457200"/>
            <a:ext cx="5821362" cy="82391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4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itchFamily="34" charset="-128"/>
                <a:cs typeface="Times New Roman" pitchFamily="18" charset="0"/>
              </a:rPr>
              <a:t>Session Objectives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914400" y="2119313"/>
            <a:ext cx="28098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Discuss Unions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914400" y="2819400"/>
            <a:ext cx="39925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Create Union  variable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930275" y="3443288"/>
            <a:ext cx="63928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Access Union member using . operator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914400" y="4114800"/>
            <a:ext cx="52689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Compare  Structure and Array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914400" y="4800600"/>
            <a:ext cx="62753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8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Difference between structure &amp; union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3" grpId="0" autoUpdateAnimBg="0"/>
      <p:bldP spid="5124" grpId="0" autoUpdateAnimBg="0"/>
      <p:bldP spid="5125" grpId="0" autoUpdateAnimBg="0"/>
      <p:bldP spid="5128" grpId="0" autoUpdateAnimBg="0"/>
      <p:bldP spid="5129" grpId="0" autoUpdateAnimBg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228600" y="0"/>
            <a:ext cx="8534400" cy="6445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b="1">
                <a:latin typeface="Times New Roman" pitchFamily="18" charset="0"/>
              </a:rPr>
              <a:t>	Unions are collection of different datatype grouped together under a single variable name for convienient handling. </a:t>
            </a:r>
          </a:p>
          <a:p>
            <a:pPr algn="just"/>
            <a:r>
              <a:rPr lang="en-US" sz="2800" b="1" u="sng">
                <a:latin typeface="Times New Roman" pitchFamily="18" charset="0"/>
              </a:rPr>
              <a:t>syntax :</a:t>
            </a:r>
            <a:r>
              <a:rPr lang="en-US" sz="2800" b="1">
                <a:latin typeface="Times New Roman" pitchFamily="18" charset="0"/>
              </a:rPr>
              <a:t>	union  &lt;union name &gt;</a:t>
            </a:r>
          </a:p>
          <a:p>
            <a:r>
              <a:rPr lang="en-US" sz="2800" b="1">
                <a:latin typeface="Times New Roman" pitchFamily="18" charset="0"/>
              </a:rPr>
              <a:t>		{</a:t>
            </a:r>
          </a:p>
          <a:p>
            <a:r>
              <a:rPr lang="en-US" sz="2800" b="1">
                <a:latin typeface="Times New Roman" pitchFamily="18" charset="0"/>
              </a:rPr>
              <a:t>		datatype member1;</a:t>
            </a:r>
          </a:p>
          <a:p>
            <a:r>
              <a:rPr lang="en-US" sz="2800" b="1">
                <a:latin typeface="Times New Roman" pitchFamily="18" charset="0"/>
              </a:rPr>
              <a:t>		datatype member2;</a:t>
            </a:r>
          </a:p>
          <a:p>
            <a:r>
              <a:rPr lang="en-US" sz="2800" b="1">
                <a:latin typeface="Times New Roman" pitchFamily="18" charset="0"/>
              </a:rPr>
              <a:t>		};</a:t>
            </a:r>
          </a:p>
          <a:p>
            <a:r>
              <a:rPr lang="en-US" sz="2800" b="1">
                <a:latin typeface="Times New Roman" pitchFamily="18" charset="0"/>
              </a:rPr>
              <a:t>union book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800" b="1">
                <a:latin typeface="Times New Roman" pitchFamily="18" charset="0"/>
              </a:rPr>
              <a:t>int pages;</a:t>
            </a:r>
          </a:p>
          <a:p>
            <a:r>
              <a:rPr lang="en-US" sz="2800" b="1">
                <a:latin typeface="Times New Roman" pitchFamily="18" charset="0"/>
              </a:rPr>
              <a:t>char bookname[10];</a:t>
            </a:r>
          </a:p>
          <a:p>
            <a:r>
              <a:rPr lang="en-US" sz="2800" b="1">
                <a:latin typeface="Times New Roman" pitchFamily="18" charset="0"/>
              </a:rPr>
              <a:t>char author[20];</a:t>
            </a:r>
          </a:p>
          <a:p>
            <a:r>
              <a:rPr lang="en-US" sz="2800" b="1">
                <a:latin typeface="Times New Roman" pitchFamily="18" charset="0"/>
              </a:rPr>
              <a:t>float price;</a:t>
            </a:r>
          </a:p>
          <a:p>
            <a:r>
              <a:rPr lang="en-US" sz="2800" b="1">
                <a:latin typeface="Times New Roman" pitchFamily="18" charset="0"/>
              </a:rPr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381000" y="152400"/>
            <a:ext cx="8305800" cy="6462713"/>
          </a:xfrm>
          <a:prstGeom prst="rect">
            <a:avLst/>
          </a:prstGeom>
          <a:solidFill>
            <a:srgbClr val="993366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#include&lt;stdio.h&gt;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#include&lt;conio.h&gt;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union id {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  char color[20];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  int size;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};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struct clothes {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  char manufacturer[30];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  float cost;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  union id description;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 };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void main()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{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 static struct clothes shirt={"indian",35,"black"};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 clrscr();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 printf("\nsize of union %d bytes",sizeof(union id));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 printf("\n%s %5.2f ",shirt.manufacturer,shirt.cost);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 printf("%s" ,shirt.description.color);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 shirt.description.size=12;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 printf("\n%s %5.2f ",shirt.manufacturer,shirt.cost);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 printf("%d",shirt.description.size);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  getch();</a:t>
            </a:r>
          </a:p>
          <a:p>
            <a:r>
              <a:rPr lang="en-US" b="1">
                <a:solidFill>
                  <a:schemeClr val="bg1"/>
                </a:solidFill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WordArt 2" descr="Paper bag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772400" cy="221138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54199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latin typeface="Arial Black"/>
              </a:rPr>
              <a:t>Difference -</a:t>
            </a:r>
          </a:p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latin typeface="Arial Black"/>
              </a:rPr>
              <a:t>Structure &amp; Arrays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24" name="Group 36"/>
          <p:cNvGraphicFramePr>
            <a:graphicFrameLocks noGrp="1"/>
          </p:cNvGraphicFramePr>
          <p:nvPr/>
        </p:nvGraphicFramePr>
        <p:xfrm>
          <a:off x="0" y="0"/>
          <a:ext cx="9144000" cy="5532756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</a:tblGrid>
              <a:tr h="5477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Structure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681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is a single entity representing a Collection of different data types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It is a single entity representing a Collection of same data 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681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Individual entries in a structure are called Members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Individual entries in an array are called array elements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2127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members of structure are not stored in sequence of memory locations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members of  array are stored in sequence of memory locations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407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Individual structure elements are referred through the use of .(dot or membership) operator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Individual array elements are accessed by its name followed by the square braces[] within which the index is placed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0606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keyword ‘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struct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’ is used to represent the structure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There is no keyword to represent arrays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WordArt 2" descr="Paper bag"/>
          <p:cNvSpPr>
            <a:spLocks noChangeArrowheads="1" noChangeShapeType="1" noTextEdit="1"/>
          </p:cNvSpPr>
          <p:nvPr/>
        </p:nvSpPr>
        <p:spPr bwMode="auto">
          <a:xfrm>
            <a:off x="685800" y="2438400"/>
            <a:ext cx="7772400" cy="2211388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54199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latin typeface="Arial Black"/>
              </a:rPr>
              <a:t>Difference -</a:t>
            </a:r>
          </a:p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latin typeface="Arial Black"/>
              </a:rPr>
              <a:t>Structure &amp; Union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73" name="Group 37"/>
          <p:cNvGraphicFramePr>
            <a:graphicFrameLocks noGrp="1"/>
          </p:cNvGraphicFramePr>
          <p:nvPr/>
        </p:nvGraphicFramePr>
        <p:xfrm>
          <a:off x="0" y="990600"/>
          <a:ext cx="9144000" cy="3964623"/>
        </p:xfrm>
        <a:graphic>
          <a:graphicData uri="http://schemas.openxmlformats.org/drawingml/2006/table">
            <a:tbl>
              <a:tblPr/>
              <a:tblGrid>
                <a:gridCol w="4289425"/>
                <a:gridCol w="4854575"/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Structure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Keyword : struct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Keyword : union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Each member in a structure occupies and uses its own memory space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the members of a union use the same memory space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524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More memory space is required since each member is stored in a separate memory location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Less memory space is required since all member is stored in the same memory locations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All the members of a structure can be initialized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Only the first member of an union can be initialized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852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Possible to have one structure within another structure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Unions within union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not possible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76200" y="776288"/>
            <a:ext cx="8915400" cy="4473575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tabLst>
                <a:tab pos="457200" algn="l"/>
              </a:tabLst>
            </a:pPr>
            <a:r>
              <a:rPr lang="en-US" sz="3200" b="1" u="sng">
                <a:latin typeface="Times New Roman" pitchFamily="18" charset="0"/>
              </a:rPr>
              <a:t>Session Summary</a:t>
            </a:r>
          </a:p>
          <a:p>
            <a:pPr>
              <a:tabLst>
                <a:tab pos="457200" algn="l"/>
              </a:tabLst>
            </a:pPr>
            <a:endParaRPr lang="en-US" sz="3200" b="1">
              <a:latin typeface="Times New Roman" pitchFamily="18" charset="0"/>
            </a:endParaRP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The union is another compound data type may hold the variables of different types and sizes with the compiler keeping track of the size.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The memory space reserved for a union members is large enough to store its largest member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The keyword “union” begins the union declaration followed by the tag (i.e., union name)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Within the braces union members are declared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152400" y="2076450"/>
            <a:ext cx="8686800" cy="2225675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algn="ctr">
              <a:tabLst>
                <a:tab pos="457200" algn="l"/>
              </a:tabLst>
            </a:pPr>
            <a:r>
              <a:rPr lang="en-US" sz="2800" b="1" u="sng">
                <a:latin typeface="Times New Roman" pitchFamily="18" charset="0"/>
              </a:rPr>
              <a:t>EXERCISES</a:t>
            </a:r>
          </a:p>
          <a:p>
            <a:pPr marL="342900" indent="-342900">
              <a:tabLst>
                <a:tab pos="457200" algn="l"/>
              </a:tabLst>
            </a:pPr>
            <a:endParaRPr lang="en-US" sz="2800" b="1">
              <a:latin typeface="Times New Roman" pitchFamily="18" charset="0"/>
            </a:endParaRPr>
          </a:p>
          <a:p>
            <a:pPr marL="342900" indent="-342900" algn="just">
              <a:lnSpc>
                <a:spcPct val="130000"/>
              </a:lnSpc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	Define a union called student that will describe the following information student name,class,rollno, subject marks &amp; total. Using student declare an array stu_list with 30 elements. Write program in C to read the information about all the 30 students and to display the information?</a:t>
            </a:r>
            <a:endParaRPr 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WordArt 2"/>
          <p:cNvSpPr>
            <a:spLocks noChangeArrowheads="1" noChangeShapeType="1" noTextEdit="1"/>
          </p:cNvSpPr>
          <p:nvPr/>
        </p:nvSpPr>
        <p:spPr bwMode="auto">
          <a:xfrm>
            <a:off x="3276600" y="914400"/>
            <a:ext cx="28956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A50021"/>
                </a:solidFill>
                <a:latin typeface="Arial Black"/>
              </a:rPr>
              <a:t>CHAPTER 10</a:t>
            </a:r>
          </a:p>
        </p:txBody>
      </p:sp>
      <p:sp>
        <p:nvSpPr>
          <p:cNvPr id="4099" name="WordArt 3"/>
          <p:cNvSpPr>
            <a:spLocks noChangeArrowheads="1" noChangeShapeType="1" noTextEdit="1"/>
          </p:cNvSpPr>
          <p:nvPr/>
        </p:nvSpPr>
        <p:spPr bwMode="auto">
          <a:xfrm>
            <a:off x="2781300" y="3108325"/>
            <a:ext cx="4762500" cy="1616075"/>
          </a:xfrm>
          <a:prstGeom prst="rect">
            <a:avLst/>
          </a:prstGeom>
        </p:spPr>
        <p:txBody>
          <a:bodyPr wrap="none" fromWordArt="1">
            <a:prstTxWarp prst="textWave2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66"/>
                </a:solidFill>
                <a:latin typeface="Arial Black"/>
              </a:rPr>
              <a:t>POINTERS</a:t>
            </a:r>
          </a:p>
        </p:txBody>
      </p:sp>
    </p:spTree>
  </p:cSld>
  <p:clrMapOvr>
    <a:masterClrMapping/>
  </p:clrMapOvr>
  <p:transition spd="med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nimBg="1"/>
      <p:bldP spid="4099" grpId="0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2057400" y="762000"/>
            <a:ext cx="4503738" cy="701675"/>
          </a:xfrm>
          <a:prstGeom prst="rect">
            <a:avLst/>
          </a:prstGeom>
          <a:solidFill>
            <a:srgbClr val="993366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Arial Unicode MS" pitchFamily="34" charset="-128"/>
                <a:cs typeface="Times New Roman" pitchFamily="18" charset="0"/>
              </a:rPr>
              <a:t>Session Objectives</a:t>
            </a:r>
            <a:endParaRPr lang="en-US" sz="3200" b="1">
              <a:solidFill>
                <a:schemeClr val="bg1"/>
              </a:solidFill>
              <a:latin typeface="Arial Unicode MS" pitchFamily="34" charset="-128"/>
              <a:cs typeface="Times New Roman" pitchFamily="18" charset="0"/>
            </a:endParaRP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685800" y="3124200"/>
            <a:ext cx="6475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How to Declare and access a pointer variable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685800" y="4572000"/>
            <a:ext cx="5233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Explain the use of pointers to array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762000" y="3886200"/>
            <a:ext cx="5543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Explain Pointer Increment/Decrement</a:t>
            </a: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762000" y="2438400"/>
            <a:ext cx="3508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Advantages of pointer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1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4" grpId="0" autoUpdateAnimBg="0"/>
      <p:bldP spid="5126" grpId="0" autoUpdateAnimBg="0"/>
      <p:bldP spid="5128" grpId="0" autoUpdateAnimBg="0"/>
      <p:bldP spid="5129" grpId="0" autoUpdateAnimBg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685800" y="2057400"/>
            <a:ext cx="7772400" cy="3581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800" b="1">
                <a:latin typeface="Times New Roman" pitchFamily="18" charset="0"/>
              </a:rPr>
              <a:t>Pointer is the variable which stores the address of the  another variable  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800" b="1">
                <a:latin typeface="Times New Roman" pitchFamily="18" charset="0"/>
              </a:rPr>
              <a:t>Declaration of pointer :</a:t>
            </a:r>
          </a:p>
          <a:p>
            <a:pPr marL="342900" indent="-342900">
              <a:spcBef>
                <a:spcPct val="20000"/>
              </a:spcBef>
            </a:pPr>
            <a:r>
              <a:rPr lang="en-US" sz="2800" b="1">
                <a:latin typeface="Times New Roman" pitchFamily="18" charset="0"/>
              </a:rPr>
              <a:t>       syntax :   datatype  *pointername;</a:t>
            </a:r>
          </a:p>
          <a:p>
            <a:pPr marL="342900" indent="-342900">
              <a:spcBef>
                <a:spcPct val="20000"/>
              </a:spcBef>
            </a:pPr>
            <a:r>
              <a:rPr lang="en-US" sz="2800" b="1">
                <a:latin typeface="Times New Roman" pitchFamily="18" charset="0"/>
              </a:rPr>
              <a:t>Example :</a:t>
            </a:r>
          </a:p>
          <a:p>
            <a:pPr marL="342900" indent="-342900">
              <a:spcBef>
                <a:spcPct val="20000"/>
              </a:spcBef>
            </a:pPr>
            <a:r>
              <a:rPr lang="en-US" sz="2800" b="1">
                <a:latin typeface="Times New Roman" pitchFamily="18" charset="0"/>
              </a:rPr>
              <a:t>    int *ptr;</a:t>
            </a:r>
          </a:p>
          <a:p>
            <a:pPr marL="342900" indent="-342900">
              <a:spcBef>
                <a:spcPct val="20000"/>
              </a:spcBef>
            </a:pPr>
            <a:r>
              <a:rPr lang="en-US" sz="2800" b="1">
                <a:latin typeface="Times New Roman" pitchFamily="18" charset="0"/>
              </a:rPr>
              <a:t>    char *pt;</a:t>
            </a:r>
            <a:endParaRPr lang="en-US" sz="2800">
              <a:latin typeface="Times New Roman" pitchFamily="18" charset="0"/>
            </a:endParaRPr>
          </a:p>
        </p:txBody>
      </p:sp>
      <p:sp>
        <p:nvSpPr>
          <p:cNvPr id="6147" name="WordArt 3"/>
          <p:cNvSpPr>
            <a:spLocks noChangeArrowheads="1" noChangeShapeType="1" noTextEdit="1"/>
          </p:cNvSpPr>
          <p:nvPr/>
        </p:nvSpPr>
        <p:spPr bwMode="auto">
          <a:xfrm>
            <a:off x="2362200" y="685800"/>
            <a:ext cx="4572000" cy="874713"/>
          </a:xfrm>
          <a:prstGeom prst="rect">
            <a:avLst/>
          </a:prstGeom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  <a:scene3d>
              <a:camera prst="legacyPerspectiveFront">
                <a:rot lat="20519984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IN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POINTERS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  <p:bldP spid="6147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457200" y="0"/>
            <a:ext cx="7239000" cy="350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b="1" u="sng"/>
              <a:t>Assigning data to the pointer variable</a:t>
            </a:r>
          </a:p>
          <a:p>
            <a:pPr algn="ctr"/>
            <a:endParaRPr lang="en-US" sz="2400" b="1" u="sng"/>
          </a:p>
          <a:p>
            <a:r>
              <a:rPr lang="en-US" sz="2400" b="1" u="sng"/>
              <a:t>syntax :</a:t>
            </a:r>
          </a:p>
          <a:p>
            <a:r>
              <a:rPr lang="en-US" sz="2400" b="1"/>
              <a:t>        pointervariablename=&amp;variablename;</a:t>
            </a:r>
          </a:p>
          <a:p>
            <a:endParaRPr lang="en-US" sz="2400" b="1"/>
          </a:p>
          <a:p>
            <a:r>
              <a:rPr lang="en-US" sz="2000" b="1"/>
              <a:t>For Example :</a:t>
            </a:r>
          </a:p>
          <a:p>
            <a:r>
              <a:rPr lang="en-US" sz="2000" b="1"/>
              <a:t>int  *a,b=10;</a:t>
            </a:r>
          </a:p>
          <a:p>
            <a:r>
              <a:rPr lang="en-US" sz="2000" b="1"/>
              <a:t>a=&amp;b</a:t>
            </a:r>
            <a:r>
              <a:rPr lang="en-US" sz="2400" b="1"/>
              <a:t>;</a:t>
            </a:r>
          </a:p>
          <a:p>
            <a:r>
              <a:rPr lang="en-US" sz="2000" b="1"/>
              <a:t>int *p,quantity=20;</a:t>
            </a:r>
          </a:p>
          <a:p>
            <a:r>
              <a:rPr lang="en-US" b="1"/>
              <a:t>p</a:t>
            </a:r>
            <a:r>
              <a:rPr lang="en-US" sz="2000" b="1"/>
              <a:t>=&amp;quantity;</a:t>
            </a: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277813" y="3643313"/>
            <a:ext cx="3429000" cy="3122612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i="1" u="sng"/>
              <a:t>For Example :</a:t>
            </a:r>
          </a:p>
          <a:p>
            <a:r>
              <a:rPr lang="en-US" b="1"/>
              <a:t>#include&lt;stdio.h&gt;</a:t>
            </a:r>
          </a:p>
          <a:p>
            <a:r>
              <a:rPr lang="en-US" b="1"/>
              <a:t>void main()</a:t>
            </a:r>
          </a:p>
          <a:p>
            <a:r>
              <a:rPr lang="en-US" b="1"/>
              <a:t>{</a:t>
            </a:r>
          </a:p>
          <a:p>
            <a:r>
              <a:rPr lang="en-US" b="1"/>
              <a:t>int val=100;</a:t>
            </a:r>
          </a:p>
          <a:p>
            <a:r>
              <a:rPr lang="en-US" b="1"/>
              <a:t>clrscr();</a:t>
            </a:r>
          </a:p>
          <a:p>
            <a:r>
              <a:rPr lang="en-US" b="1"/>
              <a:t>printf("%u\n",&amp;val);</a:t>
            </a:r>
          </a:p>
          <a:p>
            <a:r>
              <a:rPr lang="en-US" b="1"/>
              <a:t>printf("%d\n",val);</a:t>
            </a:r>
          </a:p>
          <a:p>
            <a:r>
              <a:rPr lang="en-US" b="1"/>
              <a:t>printf("%d\n",*(&amp;val));</a:t>
            </a:r>
          </a:p>
          <a:p>
            <a:r>
              <a:rPr lang="en-US" b="1"/>
              <a:t>getch();</a:t>
            </a:r>
          </a:p>
          <a:p>
            <a:r>
              <a:rPr lang="en-US" b="1"/>
              <a:t>}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419600" y="1905000"/>
            <a:ext cx="4495800" cy="2816225"/>
            <a:chOff x="2448" y="720"/>
            <a:chExt cx="2899" cy="1774"/>
          </a:xfrm>
        </p:grpSpPr>
        <p:sp>
          <p:nvSpPr>
            <p:cNvPr id="5128" name="Text Box 5"/>
            <p:cNvSpPr txBox="1">
              <a:spLocks noChangeArrowheads="1"/>
            </p:cNvSpPr>
            <p:nvPr/>
          </p:nvSpPr>
          <p:spPr bwMode="auto">
            <a:xfrm>
              <a:off x="2448" y="720"/>
              <a:ext cx="2899" cy="17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600" b="1"/>
                <a:t>Variable	         Value           Address</a:t>
              </a:r>
            </a:p>
            <a:p>
              <a:r>
                <a:rPr lang="en-US" sz="1600" b="1"/>
                <a:t>            </a:t>
              </a:r>
            </a:p>
            <a:p>
              <a:r>
                <a:rPr lang="en-US" sz="1600" b="1"/>
                <a:t>  Quantity                                      65524       </a:t>
              </a:r>
            </a:p>
            <a:p>
              <a:r>
                <a:rPr lang="en-US" sz="1600" b="1"/>
                <a:t>          </a:t>
              </a:r>
            </a:p>
            <a:p>
              <a:endParaRPr lang="en-US" sz="1600" b="1"/>
            </a:p>
            <a:p>
              <a:r>
                <a:rPr lang="en-US" sz="1600" b="1"/>
                <a:t>   P                                                65522</a:t>
              </a:r>
              <a:endParaRPr lang="en-US" sz="2000" b="1"/>
            </a:p>
          </p:txBody>
        </p:sp>
        <p:sp>
          <p:nvSpPr>
            <p:cNvPr id="5129" name="Text Box 6"/>
            <p:cNvSpPr txBox="1">
              <a:spLocks noChangeArrowheads="1"/>
            </p:cNvSpPr>
            <p:nvPr/>
          </p:nvSpPr>
          <p:spPr bwMode="auto">
            <a:xfrm>
              <a:off x="3283" y="1124"/>
              <a:ext cx="492" cy="4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400"/>
                <a:t>20</a:t>
              </a:r>
              <a:endParaRPr lang="en-US"/>
            </a:p>
          </p:txBody>
        </p:sp>
        <p:sp>
          <p:nvSpPr>
            <p:cNvPr id="5130" name="Text Box 7"/>
            <p:cNvSpPr txBox="1">
              <a:spLocks noChangeArrowheads="1"/>
            </p:cNvSpPr>
            <p:nvPr/>
          </p:nvSpPr>
          <p:spPr bwMode="auto">
            <a:xfrm>
              <a:off x="3283" y="1470"/>
              <a:ext cx="492" cy="30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en-US" sz="1400"/>
                <a:t>65524</a:t>
              </a:r>
              <a:endParaRPr lang="en-US"/>
            </a:p>
          </p:txBody>
        </p:sp>
        <p:sp>
          <p:nvSpPr>
            <p:cNvPr id="5131" name="Line 8"/>
            <p:cNvSpPr>
              <a:spLocks noChangeShapeType="1"/>
            </p:cNvSpPr>
            <p:nvPr/>
          </p:nvSpPr>
          <p:spPr bwMode="auto">
            <a:xfrm>
              <a:off x="3795" y="1585"/>
              <a:ext cx="141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32" name="Line 9"/>
            <p:cNvSpPr>
              <a:spLocks noChangeShapeType="1"/>
            </p:cNvSpPr>
            <p:nvPr/>
          </p:nvSpPr>
          <p:spPr bwMode="auto">
            <a:xfrm>
              <a:off x="3795" y="1240"/>
              <a:ext cx="141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33" name="Line 10"/>
            <p:cNvSpPr>
              <a:spLocks noChangeShapeType="1"/>
            </p:cNvSpPr>
            <p:nvPr/>
          </p:nvSpPr>
          <p:spPr bwMode="auto">
            <a:xfrm>
              <a:off x="3971" y="1244"/>
              <a:ext cx="1" cy="6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276600" y="2895600"/>
            <a:ext cx="1128713" cy="533400"/>
            <a:chOff x="2064" y="1824"/>
            <a:chExt cx="711" cy="336"/>
          </a:xfrm>
        </p:grpSpPr>
        <p:sp>
          <p:nvSpPr>
            <p:cNvPr id="5126" name="AutoShape 12"/>
            <p:cNvSpPr>
              <a:spLocks/>
            </p:cNvSpPr>
            <p:nvPr/>
          </p:nvSpPr>
          <p:spPr bwMode="auto">
            <a:xfrm>
              <a:off x="2064" y="1824"/>
              <a:ext cx="240" cy="336"/>
            </a:xfrm>
            <a:prstGeom prst="rightBrace">
              <a:avLst>
                <a:gd name="adj1" fmla="val 11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7" name="Line 13"/>
            <p:cNvSpPr>
              <a:spLocks noChangeShapeType="1"/>
            </p:cNvSpPr>
            <p:nvPr/>
          </p:nvSpPr>
          <p:spPr bwMode="auto">
            <a:xfrm>
              <a:off x="2247" y="1986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685800" y="685800"/>
            <a:ext cx="8153400" cy="3484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>
                <a:solidFill>
                  <a:srgbClr val="D60093"/>
                </a:solidFill>
              </a:rPr>
              <a:t>Why are Pointers Used ?</a:t>
            </a:r>
          </a:p>
          <a:p>
            <a:pPr algn="just">
              <a:lnSpc>
                <a:spcPct val="125000"/>
              </a:lnSpc>
              <a:spcBef>
                <a:spcPct val="50000"/>
              </a:spcBef>
              <a:buFont typeface="Wingdings" pitchFamily="2" charset="2"/>
              <a:buChar char="Æ"/>
            </a:pPr>
            <a:r>
              <a:rPr lang="en-US" sz="2000" b="1">
                <a:solidFill>
                  <a:srgbClr val="800000"/>
                </a:solidFill>
                <a:latin typeface="Bookman Old Style" pitchFamily="18" charset="0"/>
              </a:rPr>
              <a:t>  To return more than one value from a function</a:t>
            </a:r>
          </a:p>
          <a:p>
            <a:pPr algn="just">
              <a:lnSpc>
                <a:spcPct val="125000"/>
              </a:lnSpc>
              <a:spcBef>
                <a:spcPct val="50000"/>
              </a:spcBef>
              <a:buFont typeface="Wingdings" pitchFamily="2" charset="2"/>
              <a:buChar char="Æ"/>
            </a:pPr>
            <a:r>
              <a:rPr lang="en-US" sz="2000" b="1">
                <a:solidFill>
                  <a:srgbClr val="800000"/>
                </a:solidFill>
                <a:latin typeface="Bookman Old Style" pitchFamily="18" charset="0"/>
              </a:rPr>
              <a:t>  To pass arrays &amp; strings more conveniently from one function to another and manipulate arrays more easily. </a:t>
            </a:r>
          </a:p>
          <a:p>
            <a:pPr algn="just">
              <a:lnSpc>
                <a:spcPct val="125000"/>
              </a:lnSpc>
              <a:spcBef>
                <a:spcPct val="50000"/>
              </a:spcBef>
              <a:buFont typeface="Wingdings" pitchFamily="2" charset="2"/>
              <a:buChar char="Æ"/>
            </a:pPr>
            <a:r>
              <a:rPr lang="en-US" sz="2000" b="1">
                <a:solidFill>
                  <a:srgbClr val="800000"/>
                </a:solidFill>
                <a:latin typeface="Bookman Old Style" pitchFamily="18" charset="0"/>
              </a:rPr>
              <a:t>To allocate memory and access it (Dynamic Memory Allocation)</a:t>
            </a:r>
          </a:p>
          <a:p>
            <a:pPr algn="just">
              <a:lnSpc>
                <a:spcPct val="125000"/>
              </a:lnSpc>
              <a:spcBef>
                <a:spcPct val="50000"/>
              </a:spcBef>
              <a:buFont typeface="Wingdings" pitchFamily="2" charset="2"/>
              <a:buChar char="Æ"/>
            </a:pPr>
            <a:r>
              <a:rPr lang="en-US" sz="2000" b="1">
                <a:solidFill>
                  <a:srgbClr val="800000"/>
                </a:solidFill>
                <a:latin typeface="Bookman Old Style" pitchFamily="18" charset="0"/>
              </a:rPr>
              <a:t>  To create complex data structures such as Linked List.</a:t>
            </a:r>
            <a:endParaRPr lang="en-US">
              <a:solidFill>
                <a:srgbClr val="8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47625" y="1069975"/>
            <a:ext cx="9020175" cy="483235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solidFill>
              <a:srgbClr val="CC33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lnSpc>
                <a:spcPct val="165000"/>
              </a:lnSpc>
              <a:tabLst>
                <a:tab pos="228600" algn="l"/>
              </a:tabLst>
              <a:defRPr/>
            </a:pPr>
            <a:r>
              <a:rPr lang="en-US" sz="2800" b="1" i="1" u="sng" dirty="0">
                <a:latin typeface="Bookman Old Style" pitchFamily="18" charset="0"/>
              </a:rPr>
              <a:t>Advantages:</a:t>
            </a:r>
          </a:p>
          <a:p>
            <a:pPr algn="just">
              <a:lnSpc>
                <a:spcPct val="165000"/>
              </a:lnSpc>
              <a:buFont typeface="Wingdings" pitchFamily="2" charset="2"/>
              <a:buChar char="J"/>
              <a:tabLst>
                <a:tab pos="228600" algn="l"/>
              </a:tabLst>
              <a:defRPr/>
            </a:pPr>
            <a:r>
              <a:rPr lang="en-US" sz="2000" b="1" dirty="0">
                <a:latin typeface="Bookman Old Style" pitchFamily="18" charset="0"/>
              </a:rPr>
              <a:t> </a:t>
            </a:r>
            <a:r>
              <a:rPr lang="en-US" sz="2000" b="1" dirty="0">
                <a:latin typeface="Times New Roman" pitchFamily="18" charset="0"/>
              </a:rPr>
              <a:t>It provides a way of accessing a variable without referring to the variable directly and also allow us to access a variable that is defined outside the function.</a:t>
            </a:r>
          </a:p>
          <a:p>
            <a:pPr algn="just">
              <a:lnSpc>
                <a:spcPct val="165000"/>
              </a:lnSpc>
              <a:buFont typeface="Wingdings" pitchFamily="2" charset="2"/>
              <a:buChar char="J"/>
              <a:tabLst>
                <a:tab pos="228600" algn="l"/>
              </a:tabLst>
              <a:defRPr/>
            </a:pPr>
            <a:r>
              <a:rPr lang="en-US" sz="2000" b="1" dirty="0">
                <a:latin typeface="Times New Roman" pitchFamily="18" charset="0"/>
              </a:rPr>
              <a:t>  Pointers reduce the length and complexity of a program and they increase the execution speed.</a:t>
            </a:r>
          </a:p>
          <a:p>
            <a:pPr algn="just">
              <a:lnSpc>
                <a:spcPct val="165000"/>
              </a:lnSpc>
              <a:buFont typeface="Wingdings" pitchFamily="2" charset="2"/>
              <a:buChar char="J"/>
              <a:tabLst>
                <a:tab pos="228600" algn="l"/>
              </a:tabLst>
              <a:defRPr/>
            </a:pPr>
            <a:r>
              <a:rPr lang="en-US" sz="2000" b="1" dirty="0">
                <a:latin typeface="Times New Roman" pitchFamily="18" charset="0"/>
              </a:rPr>
              <a:t>  The use of a pointer array to character strings results in saving of data storage space in memory.</a:t>
            </a:r>
          </a:p>
          <a:p>
            <a:pPr algn="just">
              <a:lnSpc>
                <a:spcPct val="165000"/>
              </a:lnSpc>
              <a:buFont typeface="Wingdings" pitchFamily="2" charset="2"/>
              <a:buChar char="J"/>
              <a:tabLst>
                <a:tab pos="228600" algn="l"/>
              </a:tabLst>
              <a:defRPr/>
            </a:pPr>
            <a:r>
              <a:rPr lang="en-US" sz="2000" b="1" dirty="0">
                <a:latin typeface="Times New Roman" pitchFamily="18" charset="0"/>
              </a:rPr>
              <a:t>Pointer arrays give a convenient method for storing strings and many of the ‘C’ Built-in functions that work with strings use Pointers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228600" y="23813"/>
            <a:ext cx="8382000" cy="6689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20000"/>
              </a:spcAft>
            </a:pPr>
            <a:r>
              <a:rPr lang="en-US" sz="2600" b="1">
                <a:latin typeface="Times New Roman" pitchFamily="18" charset="0"/>
              </a:rPr>
              <a:t>//Example program for Integer Pointer</a:t>
            </a:r>
          </a:p>
          <a:p>
            <a:pPr>
              <a:spcAft>
                <a:spcPct val="20000"/>
              </a:spcAft>
            </a:pPr>
            <a:r>
              <a:rPr lang="en-US" sz="2600" b="1">
                <a:latin typeface="Times New Roman" pitchFamily="18" charset="0"/>
              </a:rPr>
              <a:t>#include&lt;stdio.h&gt;</a:t>
            </a:r>
          </a:p>
          <a:p>
            <a:pPr>
              <a:spcAft>
                <a:spcPct val="20000"/>
              </a:spcAft>
            </a:pPr>
            <a:r>
              <a:rPr lang="en-US" sz="2600" b="1">
                <a:latin typeface="Times New Roman" pitchFamily="18" charset="0"/>
              </a:rPr>
              <a:t>#include&lt;conio.h&gt;</a:t>
            </a:r>
          </a:p>
          <a:p>
            <a:pPr>
              <a:spcAft>
                <a:spcPct val="20000"/>
              </a:spcAft>
            </a:pPr>
            <a:r>
              <a:rPr lang="en-US" sz="2600" b="1">
                <a:latin typeface="Times New Roman" pitchFamily="18" charset="0"/>
              </a:rPr>
              <a:t>void main()</a:t>
            </a:r>
          </a:p>
          <a:p>
            <a:pPr>
              <a:spcAft>
                <a:spcPct val="20000"/>
              </a:spcAft>
            </a:pPr>
            <a:r>
              <a:rPr lang="en-US" sz="2600" b="1">
                <a:latin typeface="Times New Roman" pitchFamily="18" charset="0"/>
              </a:rPr>
              <a:t>{</a:t>
            </a:r>
          </a:p>
          <a:p>
            <a:pPr>
              <a:spcAft>
                <a:spcPct val="20000"/>
              </a:spcAft>
            </a:pPr>
            <a:r>
              <a:rPr lang="en-US" sz="2600" b="1">
                <a:latin typeface="Times New Roman" pitchFamily="18" charset="0"/>
              </a:rPr>
              <a:t>int n=10;</a:t>
            </a:r>
          </a:p>
          <a:p>
            <a:pPr>
              <a:spcAft>
                <a:spcPct val="20000"/>
              </a:spcAft>
            </a:pPr>
            <a:r>
              <a:rPr lang="en-US" sz="2600" b="1">
                <a:latin typeface="Times New Roman" pitchFamily="18" charset="0"/>
              </a:rPr>
              <a:t>int *ptr;</a:t>
            </a:r>
          </a:p>
          <a:p>
            <a:pPr>
              <a:spcAft>
                <a:spcPct val="20000"/>
              </a:spcAft>
            </a:pPr>
            <a:r>
              <a:rPr lang="en-US" sz="2600" b="1">
                <a:latin typeface="Times New Roman" pitchFamily="18" charset="0"/>
              </a:rPr>
              <a:t>ptr=&amp;n;</a:t>
            </a:r>
          </a:p>
          <a:p>
            <a:pPr>
              <a:spcAft>
                <a:spcPct val="20000"/>
              </a:spcAft>
            </a:pPr>
            <a:r>
              <a:rPr lang="en-US" sz="2600" b="1">
                <a:latin typeface="Times New Roman" pitchFamily="18" charset="0"/>
              </a:rPr>
              <a:t>clrscr();</a:t>
            </a:r>
          </a:p>
          <a:p>
            <a:pPr>
              <a:spcAft>
                <a:spcPct val="20000"/>
              </a:spcAft>
            </a:pPr>
            <a:r>
              <a:rPr lang="en-US" sz="2600" b="1">
                <a:latin typeface="Times New Roman" pitchFamily="18" charset="0"/>
              </a:rPr>
              <a:t>printf("Value of n is %d",n);</a:t>
            </a:r>
          </a:p>
          <a:p>
            <a:pPr>
              <a:spcAft>
                <a:spcPct val="20000"/>
              </a:spcAft>
            </a:pPr>
            <a:r>
              <a:rPr lang="en-US" sz="2600" b="1">
                <a:latin typeface="Times New Roman" pitchFamily="18" charset="0"/>
              </a:rPr>
              <a:t>printf("\nAddress of n is %x",&amp;n);</a:t>
            </a:r>
          </a:p>
          <a:p>
            <a:pPr>
              <a:spcAft>
                <a:spcPct val="20000"/>
              </a:spcAft>
            </a:pPr>
            <a:r>
              <a:rPr lang="en-US" sz="2600" b="1">
                <a:latin typeface="Times New Roman" pitchFamily="18" charset="0"/>
              </a:rPr>
              <a:t>printf("\nAddres of pointer is %x",ptr);</a:t>
            </a:r>
          </a:p>
          <a:p>
            <a:pPr>
              <a:spcAft>
                <a:spcPct val="20000"/>
              </a:spcAft>
            </a:pPr>
            <a:r>
              <a:rPr lang="en-US" sz="2600" b="1">
                <a:latin typeface="Times New Roman" pitchFamily="18" charset="0"/>
              </a:rPr>
              <a:t>printf("\nvalue stored in pointer is %d",*ptr);</a:t>
            </a:r>
          </a:p>
          <a:p>
            <a:pPr>
              <a:spcAft>
                <a:spcPct val="20000"/>
              </a:spcAft>
            </a:pPr>
            <a:r>
              <a:rPr lang="en-US" sz="2600" b="1">
                <a:latin typeface="Times New Roman" pitchFamily="18" charset="0"/>
              </a:rPr>
              <a:t>getch();}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228600" y="0"/>
            <a:ext cx="8534400" cy="6678613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i="1" u="sng"/>
              <a:t>Example program for Character Pointer, Pointer to character array and Pointer increment.</a:t>
            </a:r>
          </a:p>
          <a:p>
            <a:r>
              <a:rPr lang="en-US" sz="2000" b="1"/>
              <a:t>#include&lt;stdio.h&gt;</a:t>
            </a:r>
          </a:p>
          <a:p>
            <a:r>
              <a:rPr lang="en-US" sz="2000" b="1"/>
              <a:t>#include&lt;conio.h&gt;</a:t>
            </a:r>
          </a:p>
          <a:p>
            <a:endParaRPr lang="en-US" sz="2000" b="1"/>
          </a:p>
          <a:p>
            <a:r>
              <a:rPr lang="en-US" sz="2000" b="1"/>
              <a:t>void main()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char name[20];</a:t>
            </a:r>
          </a:p>
          <a:p>
            <a:r>
              <a:rPr lang="en-US" sz="2000" b="1"/>
              <a:t>char *i;</a:t>
            </a:r>
          </a:p>
          <a:p>
            <a:r>
              <a:rPr lang="en-US" sz="2000" b="1"/>
              <a:t>clrscr();</a:t>
            </a:r>
          </a:p>
          <a:p>
            <a:r>
              <a:rPr lang="en-US" sz="2000" b="1"/>
              <a:t>printf("\n Enter your name ");</a:t>
            </a:r>
          </a:p>
          <a:p>
            <a:r>
              <a:rPr lang="en-US" sz="2000" b="1"/>
              <a:t>gets(name);</a:t>
            </a:r>
          </a:p>
          <a:p>
            <a:r>
              <a:rPr lang="en-US" sz="2000" b="1"/>
              <a:t>i=name;</a:t>
            </a:r>
          </a:p>
          <a:p>
            <a:r>
              <a:rPr lang="en-US" sz="2000" b="1"/>
              <a:t>printf("\n Now printing your name is    :");</a:t>
            </a:r>
          </a:p>
          <a:p>
            <a:r>
              <a:rPr lang="en-US" sz="2000" b="1"/>
              <a:t>while(*i != '\0')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printf("%c",*i);</a:t>
            </a:r>
          </a:p>
          <a:p>
            <a:r>
              <a:rPr lang="en-US" sz="2000" b="1"/>
              <a:t>i++;</a:t>
            </a:r>
          </a:p>
          <a:p>
            <a:r>
              <a:rPr lang="en-US" sz="2000" b="1"/>
              <a:t>}</a:t>
            </a:r>
          </a:p>
          <a:p>
            <a:r>
              <a:rPr lang="en-US" sz="2000" b="1"/>
              <a:t>getch();</a:t>
            </a:r>
          </a:p>
          <a:p>
            <a:r>
              <a:rPr lang="en-US" sz="2000" b="1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228600"/>
            <a:ext cx="6324600" cy="6191250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/>
              <a:t>//Example Program for Pointer to integer Array</a:t>
            </a:r>
          </a:p>
          <a:p>
            <a:r>
              <a:rPr lang="en-US" sz="2200" b="1"/>
              <a:t>#include&lt;stdio.h&gt;</a:t>
            </a:r>
          </a:p>
          <a:p>
            <a:r>
              <a:rPr lang="en-US" sz="2200" b="1"/>
              <a:t>#include&lt;conio.h&gt;</a:t>
            </a:r>
          </a:p>
          <a:p>
            <a:r>
              <a:rPr lang="en-US" sz="2200" b="1"/>
              <a:t>void main()</a:t>
            </a:r>
          </a:p>
          <a:p>
            <a:r>
              <a:rPr lang="en-US" sz="2200" b="1"/>
              <a:t>{</a:t>
            </a:r>
          </a:p>
          <a:p>
            <a:r>
              <a:rPr lang="en-US" sz="2200" b="1"/>
              <a:t>int arr[]={10,20,30,40};</a:t>
            </a:r>
          </a:p>
          <a:p>
            <a:r>
              <a:rPr lang="en-US" sz="2200" b="1"/>
              <a:t>int *ptr,i;</a:t>
            </a:r>
          </a:p>
          <a:p>
            <a:r>
              <a:rPr lang="en-US" sz="2200" b="1"/>
              <a:t>clrscr();</a:t>
            </a:r>
          </a:p>
          <a:p>
            <a:r>
              <a:rPr lang="en-US" sz="2200" b="1"/>
              <a:t>ptr=arr;  </a:t>
            </a:r>
            <a:r>
              <a:rPr lang="en-US" sz="2000" b="1"/>
              <a:t>// same as &amp;arr[0];</a:t>
            </a:r>
            <a:endParaRPr lang="en-US" sz="2200" b="1"/>
          </a:p>
          <a:p>
            <a:r>
              <a:rPr lang="en-US" sz="2200" b="1"/>
              <a:t>printf("\n The Result of the array is ");</a:t>
            </a:r>
          </a:p>
          <a:p>
            <a:r>
              <a:rPr lang="en-US" sz="2200" b="1"/>
              <a:t>for(i=0;i&lt;4;i++)</a:t>
            </a:r>
          </a:p>
          <a:p>
            <a:r>
              <a:rPr lang="en-US" sz="2200" b="1"/>
              <a:t>{</a:t>
            </a:r>
          </a:p>
          <a:p>
            <a:r>
              <a:rPr lang="en-US" sz="2200" b="1"/>
              <a:t>printf("%d\n",*ptr);</a:t>
            </a:r>
          </a:p>
          <a:p>
            <a:r>
              <a:rPr lang="en-US" sz="2200" b="1"/>
              <a:t>ptr++;</a:t>
            </a:r>
          </a:p>
          <a:p>
            <a:r>
              <a:rPr lang="en-US" sz="2200" b="1"/>
              <a:t>}</a:t>
            </a:r>
          </a:p>
          <a:p>
            <a:r>
              <a:rPr lang="en-US" sz="2200" b="1"/>
              <a:t>getch();</a:t>
            </a:r>
          </a:p>
          <a:p>
            <a:r>
              <a:rPr lang="en-US" sz="2200" b="1"/>
              <a:t>}</a:t>
            </a:r>
          </a:p>
        </p:txBody>
      </p:sp>
      <p:sp>
        <p:nvSpPr>
          <p:cNvPr id="10243" name="WordArt 3"/>
          <p:cNvSpPr>
            <a:spLocks noChangeArrowheads="1" noChangeShapeType="1" noTextEdit="1"/>
          </p:cNvSpPr>
          <p:nvPr/>
        </p:nvSpPr>
        <p:spPr bwMode="auto">
          <a:xfrm rot="5400000">
            <a:off x="4814888" y="2424112"/>
            <a:ext cx="3962400" cy="638175"/>
          </a:xfrm>
          <a:prstGeom prst="rect">
            <a:avLst/>
          </a:prstGeom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IN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Arial Black"/>
              </a:rPr>
              <a:t>Output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7543800" y="1828800"/>
            <a:ext cx="1447800" cy="21002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10</a:t>
            </a:r>
          </a:p>
          <a:p>
            <a:pPr algn="ctr">
              <a:spcBef>
                <a:spcPct val="50000"/>
              </a:spcBef>
            </a:pPr>
            <a:r>
              <a:rPr lang="en-US" sz="2400" b="1"/>
              <a:t>20</a:t>
            </a:r>
          </a:p>
          <a:p>
            <a:pPr algn="ctr">
              <a:spcBef>
                <a:spcPct val="50000"/>
              </a:spcBef>
            </a:pPr>
            <a:r>
              <a:rPr lang="en-US" sz="2400" b="1"/>
              <a:t>30</a:t>
            </a:r>
          </a:p>
          <a:p>
            <a:pPr algn="ctr">
              <a:spcBef>
                <a:spcPct val="50000"/>
              </a:spcBef>
            </a:pPr>
            <a:r>
              <a:rPr lang="en-US" sz="2400" b="1"/>
              <a:t>40</a:t>
            </a: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7010400" y="2590800"/>
            <a:ext cx="838200" cy="457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scene3d>
            <a:camera prst="legacyPerspectiveFront">
              <a:rot lat="20519984" lon="1080000" rev="0"/>
            </a:camera>
            <a:lightRig rig="legacyHarsh2" dir="b"/>
          </a:scene3d>
          <a:sp3d extrusionH="430200" prstMaterial="legacyMatte">
            <a:bevelT w="13500" h="13500" prst="angle"/>
            <a:bevelB w="13500" h="13500" prst="angle"/>
            <a:extrusionClr>
              <a:srgbClr val="FF6600"/>
            </a:extrusionClr>
          </a:sp3d>
        </p:spPr>
        <p:txBody>
          <a:bodyPr>
            <a:flatTx/>
          </a:bodyPr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2057400" y="152400"/>
            <a:ext cx="4300538" cy="711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Pointer Arithmetic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52400" y="914400"/>
            <a:ext cx="84201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Addition and subtraction are the only operations that can be </a:t>
            </a:r>
            <a:b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  performed on pointers.</a:t>
            </a: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152400" y="1752600"/>
            <a:ext cx="541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Take a look at the following example</a:t>
            </a:r>
            <a:r>
              <a:rPr lang="en-US" sz="2400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:</a:t>
            </a: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152400" y="2362200"/>
            <a:ext cx="542607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>
              <a:buFontTx/>
              <a:buBlip>
                <a:blip r:embed="rId2"/>
              </a:buBlip>
            </a:pPr>
            <a:r>
              <a:rPr lang="en-US" sz="24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Let var be an integer type variable </a:t>
            </a:r>
            <a:b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  having the value 500 and stored at the</a:t>
            </a:r>
            <a:b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   address 1000.</a:t>
            </a: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228600" y="3657600"/>
            <a:ext cx="85217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Tx/>
              <a:buBlip>
                <a:blip r:embed="rId2"/>
              </a:buBlip>
            </a:pPr>
            <a:r>
              <a:rPr lang="en-US" sz="24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Then ptr_var has the value 1000 stored in it. Since integers are 2 bytes long, after the expression “ptr_var++;” ptr_var will have the value as 1002 and not 1001. </a:t>
            </a:r>
          </a:p>
        </p:txBody>
      </p:sp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0" y="2286000"/>
            <a:ext cx="3005138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0" name="Text Box 8"/>
          <p:cNvSpPr txBox="1">
            <a:spLocks noChangeArrowheads="1"/>
          </p:cNvSpPr>
          <p:nvPr/>
        </p:nvSpPr>
        <p:spPr bwMode="auto">
          <a:xfrm>
            <a:off x="304800" y="4953000"/>
            <a:ext cx="84963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Tx/>
              <a:buBlip>
                <a:blip r:embed="rId2"/>
              </a:buBlip>
            </a:pPr>
            <a:r>
              <a:rPr lang="en-US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Each time a pointer is incremented, it points to the memory location  of the next element of its base type.</a:t>
            </a: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304800" y="5867400"/>
            <a:ext cx="83661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Tx/>
              <a:buBlip>
                <a:blip r:embed="rId2"/>
              </a:buBlip>
            </a:pPr>
            <a:r>
              <a:rPr lang="en-US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All other pointers will increase or decrease depending on the length  of the data type they are pointing to.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utoUpdateAnimBg="0"/>
      <p:bldP spid="13316" grpId="0" autoUpdateAnimBg="0"/>
      <p:bldP spid="13317" grpId="0" autoUpdateAnimBg="0"/>
      <p:bldP spid="13318" grpId="0" autoUpdateAnimBg="0"/>
      <p:bldP spid="13320" grpId="0" autoUpdateAnimBg="0"/>
      <p:bldP spid="13321" grpId="0" autoUpdateAnimBg="0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228600" y="152400"/>
            <a:ext cx="8610600" cy="59499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b="1">
                <a:latin typeface="Times New Roman" pitchFamily="18" charset="0"/>
              </a:rPr>
              <a:t>Pointer Increment &amp; Decrement Operations with different data type.</a:t>
            </a:r>
          </a:p>
          <a:p>
            <a:r>
              <a:rPr lang="en-US" sz="3200" b="1">
                <a:latin typeface="Times New Roman" pitchFamily="18" charset="0"/>
              </a:rPr>
              <a:t>#include&lt;stdio.h&gt;</a:t>
            </a:r>
          </a:p>
          <a:p>
            <a:r>
              <a:rPr lang="en-US" sz="3200" b="1">
                <a:latin typeface="Times New Roman" pitchFamily="18" charset="0"/>
              </a:rPr>
              <a:t>void main()</a:t>
            </a:r>
          </a:p>
          <a:p>
            <a:r>
              <a:rPr lang="en-US" sz="3200" b="1">
                <a:latin typeface="Times New Roman" pitchFamily="18" charset="0"/>
              </a:rPr>
              <a:t>{</a:t>
            </a:r>
          </a:p>
          <a:p>
            <a:r>
              <a:rPr lang="en-US" sz="3200" b="1">
                <a:latin typeface="Times New Roman" pitchFamily="18" charset="0"/>
              </a:rPr>
              <a:t>int i=100,*iptr;</a:t>
            </a:r>
          </a:p>
          <a:p>
            <a:r>
              <a:rPr lang="en-US" sz="3200" b="1">
                <a:latin typeface="Times New Roman" pitchFamily="18" charset="0"/>
              </a:rPr>
              <a:t>float f=122.354,*fptr;</a:t>
            </a:r>
          </a:p>
          <a:p>
            <a:r>
              <a:rPr lang="en-US" sz="3200" b="1">
                <a:latin typeface="Times New Roman" pitchFamily="18" charset="0"/>
              </a:rPr>
              <a:t>char c='d',*cptr;</a:t>
            </a:r>
          </a:p>
          <a:p>
            <a:r>
              <a:rPr lang="en-US" sz="3200" b="1">
                <a:latin typeface="Times New Roman" pitchFamily="18" charset="0"/>
              </a:rPr>
              <a:t>clrscr();</a:t>
            </a:r>
          </a:p>
          <a:p>
            <a:r>
              <a:rPr lang="en-US" sz="3200" b="1">
                <a:latin typeface="Times New Roman" pitchFamily="18" charset="0"/>
              </a:rPr>
              <a:t>iptr=&amp;i;</a:t>
            </a:r>
          </a:p>
          <a:p>
            <a:r>
              <a:rPr lang="en-US" sz="3200" b="1">
                <a:latin typeface="Times New Roman" pitchFamily="18" charset="0"/>
              </a:rPr>
              <a:t>fptr=&amp;f;</a:t>
            </a:r>
          </a:p>
          <a:p>
            <a:r>
              <a:rPr lang="en-US" sz="3200" b="1">
                <a:latin typeface="Times New Roman" pitchFamily="18" charset="0"/>
              </a:rPr>
              <a:t>cptr=&amp;c;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381000" y="152400"/>
            <a:ext cx="8382000" cy="65071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latin typeface="Times New Roman" pitchFamily="18" charset="0"/>
              </a:rPr>
              <a:t>printf("The values of the variables");</a:t>
            </a:r>
          </a:p>
          <a:p>
            <a:r>
              <a:rPr lang="en-US" sz="2800" b="1">
                <a:latin typeface="Times New Roman" pitchFamily="18" charset="0"/>
              </a:rPr>
              <a:t>printf("\n%d",*iptr);</a:t>
            </a:r>
          </a:p>
          <a:p>
            <a:r>
              <a:rPr lang="en-US" sz="2800" b="1">
                <a:latin typeface="Times New Roman" pitchFamily="18" charset="0"/>
              </a:rPr>
              <a:t>printf("\n%f",*fptr);</a:t>
            </a:r>
          </a:p>
          <a:p>
            <a:r>
              <a:rPr lang="en-US" sz="2800" b="1">
                <a:latin typeface="Times New Roman" pitchFamily="18" charset="0"/>
              </a:rPr>
              <a:t>printf("\n%c",*cptr);</a:t>
            </a:r>
          </a:p>
          <a:p>
            <a:r>
              <a:rPr lang="en-US" sz="2800" b="1">
                <a:latin typeface="Times New Roman" pitchFamily="18" charset="0"/>
              </a:rPr>
              <a:t>printf("\nStarting Address");</a:t>
            </a:r>
          </a:p>
          <a:p>
            <a:r>
              <a:rPr lang="en-US" sz="2800" b="1">
                <a:latin typeface="Times New Roman" pitchFamily="18" charset="0"/>
              </a:rPr>
              <a:t>printf("\n iptr=%u",iptr);</a:t>
            </a:r>
          </a:p>
          <a:p>
            <a:r>
              <a:rPr lang="en-US" sz="2800" b="1">
                <a:latin typeface="Times New Roman" pitchFamily="18" charset="0"/>
              </a:rPr>
              <a:t>printf("\n fptr=%u",fptr);</a:t>
            </a:r>
          </a:p>
          <a:p>
            <a:r>
              <a:rPr lang="en-US" sz="2800" b="1">
                <a:latin typeface="Times New Roman" pitchFamily="18" charset="0"/>
              </a:rPr>
              <a:t>printf("\n cptr=%u",cptr);</a:t>
            </a:r>
          </a:p>
          <a:p>
            <a:r>
              <a:rPr lang="en-US" sz="2800" b="1">
                <a:latin typeface="Times New Roman" pitchFamily="18" charset="0"/>
              </a:rPr>
              <a:t>iptr++;</a:t>
            </a:r>
          </a:p>
          <a:p>
            <a:r>
              <a:rPr lang="en-US" sz="2800" b="1">
                <a:latin typeface="Times New Roman" pitchFamily="18" charset="0"/>
              </a:rPr>
              <a:t>fptr++;</a:t>
            </a:r>
          </a:p>
          <a:p>
            <a:r>
              <a:rPr lang="en-US" sz="2800" b="1">
                <a:latin typeface="Times New Roman" pitchFamily="18" charset="0"/>
              </a:rPr>
              <a:t>cptr++;</a:t>
            </a:r>
          </a:p>
          <a:p>
            <a:r>
              <a:rPr lang="en-US" sz="2800" b="1">
                <a:latin typeface="Times New Roman" pitchFamily="18" charset="0"/>
              </a:rPr>
              <a:t>printf("\nAfter Pointer Incrementing");</a:t>
            </a:r>
          </a:p>
          <a:p>
            <a:r>
              <a:rPr lang="en-US" sz="2800" b="1">
                <a:latin typeface="Times New Roman" pitchFamily="18" charset="0"/>
              </a:rPr>
              <a:t>printf("\n iptr=%u",iptr);</a:t>
            </a:r>
          </a:p>
          <a:p>
            <a:r>
              <a:rPr lang="en-US" sz="2800" b="1">
                <a:latin typeface="Times New Roman" pitchFamily="18" charset="0"/>
              </a:rPr>
              <a:t>printf("\n fptr=%u",fptr);</a:t>
            </a:r>
          </a:p>
          <a:p>
            <a:r>
              <a:rPr lang="en-US" sz="2800" b="1">
                <a:latin typeface="Times New Roman" pitchFamily="18" charset="0"/>
              </a:rPr>
              <a:t>printf("\n cptr=%u",cptr);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1066800" y="1143000"/>
            <a:ext cx="7086600" cy="39449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latin typeface="Times New Roman" pitchFamily="18" charset="0"/>
              </a:rPr>
              <a:t>iptr--;</a:t>
            </a:r>
          </a:p>
          <a:p>
            <a:r>
              <a:rPr lang="en-US" sz="2800" b="1">
                <a:latin typeface="Times New Roman" pitchFamily="18" charset="0"/>
              </a:rPr>
              <a:t>fptr--;</a:t>
            </a:r>
          </a:p>
          <a:p>
            <a:r>
              <a:rPr lang="en-US" sz="2800" b="1">
                <a:latin typeface="Times New Roman" pitchFamily="18" charset="0"/>
              </a:rPr>
              <a:t>cptr--;</a:t>
            </a:r>
          </a:p>
          <a:p>
            <a:r>
              <a:rPr lang="en-US" sz="2800" b="1">
                <a:latin typeface="Times New Roman" pitchFamily="18" charset="0"/>
              </a:rPr>
              <a:t>printf("\nAfter Pointer Decrementing");</a:t>
            </a:r>
          </a:p>
          <a:p>
            <a:r>
              <a:rPr lang="en-US" sz="2800" b="1">
                <a:latin typeface="Times New Roman" pitchFamily="18" charset="0"/>
              </a:rPr>
              <a:t>printf("\n iptr=%u",iptr);</a:t>
            </a:r>
          </a:p>
          <a:p>
            <a:r>
              <a:rPr lang="en-US" sz="2800" b="1">
                <a:latin typeface="Times New Roman" pitchFamily="18" charset="0"/>
              </a:rPr>
              <a:t>printf("\n fptr=%u",fptr);</a:t>
            </a:r>
          </a:p>
          <a:p>
            <a:r>
              <a:rPr lang="en-US" sz="2800" b="1">
                <a:latin typeface="Times New Roman" pitchFamily="18" charset="0"/>
              </a:rPr>
              <a:t>printf("\n cptr=%u",cptr);</a:t>
            </a:r>
          </a:p>
          <a:p>
            <a:r>
              <a:rPr lang="en-US" sz="2800" b="1">
                <a:latin typeface="Times New Roman" pitchFamily="18" charset="0"/>
              </a:rPr>
              <a:t>getch();</a:t>
            </a:r>
          </a:p>
          <a:p>
            <a:r>
              <a:rPr lang="en-US" sz="2800" b="1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WordArt 2" descr="Paper bag"/>
          <p:cNvSpPr>
            <a:spLocks noChangeArrowheads="1" noChangeShapeType="1" noTextEdit="1"/>
          </p:cNvSpPr>
          <p:nvPr/>
        </p:nvSpPr>
        <p:spPr bwMode="auto">
          <a:xfrm>
            <a:off x="1981200" y="914400"/>
            <a:ext cx="5915025" cy="5238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blipFill dpi="0" rotWithShape="0">
                  <a:blip r:embed="rId2"/>
                  <a:srcRect/>
                  <a:tile tx="0" ty="0" sx="100000" sy="100000" flip="none" algn="tl"/>
                </a:blipFill>
                <a:effectLst>
                  <a:outerShdw dist="563972" dir="14049741" sx="125000" sy="125000" algn="tl" rotWithShape="0">
                    <a:srgbClr val="C7DFD3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The Pointer Special Operators</a:t>
            </a:r>
          </a:p>
        </p:txBody>
      </p:sp>
      <p:sp>
        <p:nvSpPr>
          <p:cNvPr id="15363" name="AutoShape 3"/>
          <p:cNvSpPr>
            <a:spLocks noChangeArrowheads="1"/>
          </p:cNvSpPr>
          <p:nvPr/>
        </p:nvSpPr>
        <p:spPr bwMode="auto">
          <a:xfrm>
            <a:off x="1295400" y="2133600"/>
            <a:ext cx="6705600" cy="3886200"/>
          </a:xfrm>
          <a:prstGeom prst="verticalScroll">
            <a:avLst>
              <a:gd name="adj" fmla="val 10028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2209800" y="2743200"/>
            <a:ext cx="5181600" cy="286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400" b="1"/>
              <a:t>&amp;  </a:t>
            </a:r>
            <a:r>
              <a:rPr lang="en-US" sz="2400" b="1">
                <a:sym typeface="Wingdings" pitchFamily="2" charset="2"/>
              </a:rPr>
              <a:t>  Returns the memory address of the operand</a:t>
            </a:r>
            <a:endParaRPr lang="en-US" sz="2400" b="1"/>
          </a:p>
          <a:p>
            <a:pPr algn="just">
              <a:spcBef>
                <a:spcPct val="50000"/>
              </a:spcBef>
            </a:pPr>
            <a:r>
              <a:rPr lang="en-US" sz="2400" b="1">
                <a:sym typeface="Wingdings" pitchFamily="2" charset="2"/>
              </a:rPr>
              <a:t>*   It is the complement of &amp;. </a:t>
            </a:r>
            <a:br>
              <a:rPr lang="en-US" sz="2400" b="1">
                <a:sym typeface="Wingdings" pitchFamily="2" charset="2"/>
              </a:rPr>
            </a:br>
            <a:r>
              <a:rPr lang="en-US" sz="2400" b="1">
                <a:sym typeface="Wingdings" pitchFamily="2" charset="2"/>
              </a:rPr>
              <a:t/>
            </a:r>
            <a:br>
              <a:rPr lang="en-US" sz="2400" b="1">
                <a:sym typeface="Wingdings" pitchFamily="2" charset="2"/>
              </a:rPr>
            </a:br>
            <a:r>
              <a:rPr lang="en-US" sz="2400" b="1">
                <a:sym typeface="Wingdings" pitchFamily="2" charset="2"/>
              </a:rPr>
              <a:t>It returns the  value contained in the memory location pointed to by the pointer variable’s value</a:t>
            </a:r>
            <a:endParaRPr 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228600" y="0"/>
            <a:ext cx="8534400" cy="6308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latin typeface="Times New Roman" pitchFamily="18" charset="0"/>
              </a:rPr>
              <a:t>Write a C program to find the length of the string Using Pointer</a:t>
            </a:r>
          </a:p>
          <a:p>
            <a:r>
              <a:rPr lang="en-US" sz="2400" b="1">
                <a:latin typeface="Times New Roman" pitchFamily="18" charset="0"/>
              </a:rPr>
              <a:t>#include&lt;stdio.h&gt;</a:t>
            </a:r>
          </a:p>
          <a:p>
            <a:r>
              <a:rPr lang="en-US" sz="2400" b="1">
                <a:latin typeface="Times New Roman" pitchFamily="18" charset="0"/>
              </a:rPr>
              <a:t>#include&lt;string.h&gt;</a:t>
            </a:r>
          </a:p>
          <a:p>
            <a:r>
              <a:rPr lang="en-US" sz="2400" b="1">
                <a:latin typeface="Times New Roman" pitchFamily="18" charset="0"/>
              </a:rPr>
              <a:t>void main()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char text[20],*pt;</a:t>
            </a:r>
          </a:p>
          <a:p>
            <a:r>
              <a:rPr lang="en-US" sz="2400" b="1">
                <a:latin typeface="Times New Roman" pitchFamily="18" charset="0"/>
              </a:rPr>
              <a:t>int len;</a:t>
            </a:r>
          </a:p>
          <a:p>
            <a:r>
              <a:rPr lang="en-US" sz="2400" b="1">
                <a:latin typeface="Times New Roman" pitchFamily="18" charset="0"/>
              </a:rPr>
              <a:t>pt=text;</a:t>
            </a:r>
          </a:p>
          <a:p>
            <a:r>
              <a:rPr lang="en-US" sz="2400" b="1">
                <a:latin typeface="Times New Roman" pitchFamily="18" charset="0"/>
              </a:rPr>
              <a:t>printf("Enter the string");</a:t>
            </a:r>
          </a:p>
          <a:p>
            <a:r>
              <a:rPr lang="en-US" sz="2400" b="1">
                <a:latin typeface="Times New Roman" pitchFamily="18" charset="0"/>
              </a:rPr>
              <a:t>scanf("%s",text);</a:t>
            </a:r>
          </a:p>
          <a:p>
            <a:r>
              <a:rPr lang="en-US" sz="2400" b="1">
                <a:latin typeface="Times New Roman" pitchFamily="18" charset="0"/>
              </a:rPr>
              <a:t>while(*pt!='\0')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putchar(*pt++);</a:t>
            </a:r>
          </a:p>
          <a:p>
            <a:r>
              <a:rPr lang="en-US" sz="2400" b="1">
                <a:latin typeface="Times New Roman" pitchFamily="18" charset="0"/>
              </a:rPr>
              <a:t>}</a:t>
            </a:r>
          </a:p>
          <a:p>
            <a:r>
              <a:rPr lang="en-US" sz="2400" b="1">
                <a:latin typeface="Times New Roman" pitchFamily="18" charset="0"/>
              </a:rPr>
              <a:t>len=pt -text;</a:t>
            </a:r>
          </a:p>
          <a:p>
            <a:r>
              <a:rPr lang="en-US" sz="2400" b="1">
                <a:latin typeface="Times New Roman" pitchFamily="18" charset="0"/>
              </a:rPr>
              <a:t>printf("\nLength of the string is %d",len);</a:t>
            </a:r>
          </a:p>
          <a:p>
            <a:r>
              <a:rPr lang="en-US" sz="2400" b="1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381000" y="892175"/>
            <a:ext cx="8763000" cy="49752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b="1">
                <a:latin typeface="Times New Roman" pitchFamily="18" charset="0"/>
              </a:rPr>
              <a:t>/*Add Two Numbers using pointers*/</a:t>
            </a:r>
          </a:p>
          <a:p>
            <a:r>
              <a:rPr lang="en-US" sz="3200" b="1">
                <a:latin typeface="Times New Roman" pitchFamily="18" charset="0"/>
              </a:rPr>
              <a:t>#include&lt;stdio.h&gt;</a:t>
            </a:r>
          </a:p>
          <a:p>
            <a:r>
              <a:rPr lang="en-US" sz="3200" b="1">
                <a:latin typeface="Times New Roman" pitchFamily="18" charset="0"/>
              </a:rPr>
              <a:t>void main()</a:t>
            </a:r>
          </a:p>
          <a:p>
            <a:r>
              <a:rPr lang="en-US" sz="3200" b="1">
                <a:latin typeface="Times New Roman" pitchFamily="18" charset="0"/>
              </a:rPr>
              <a:t>{</a:t>
            </a:r>
          </a:p>
          <a:p>
            <a:r>
              <a:rPr lang="en-US" sz="3200" b="1">
                <a:latin typeface="Times New Roman" pitchFamily="18" charset="0"/>
              </a:rPr>
              <a:t>int a,b,*c=&amp;a,*d=&amp;b;</a:t>
            </a:r>
          </a:p>
          <a:p>
            <a:r>
              <a:rPr lang="en-US" sz="3200" b="1">
                <a:latin typeface="Times New Roman" pitchFamily="18" charset="0"/>
              </a:rPr>
              <a:t>printf(“Enter two numbers to be summed");</a:t>
            </a:r>
          </a:p>
          <a:p>
            <a:r>
              <a:rPr lang="en-US" sz="3200" b="1">
                <a:latin typeface="Times New Roman" pitchFamily="18" charset="0"/>
              </a:rPr>
              <a:t>scanf("%d %d",&amp;a,&amp;b);</a:t>
            </a:r>
          </a:p>
          <a:p>
            <a:r>
              <a:rPr lang="en-US" sz="3200" b="1">
                <a:latin typeface="Times New Roman" pitchFamily="18" charset="0"/>
              </a:rPr>
              <a:t>printf(“The sum of two numbers=%d",*c + *d);</a:t>
            </a:r>
          </a:p>
          <a:p>
            <a:r>
              <a:rPr lang="en-US" sz="3200" b="1">
                <a:latin typeface="Times New Roman" pitchFamily="18" charset="0"/>
              </a:rPr>
              <a:t>getch();</a:t>
            </a:r>
          </a:p>
          <a:p>
            <a:r>
              <a:rPr lang="en-US" sz="3200" b="1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WordArt 2"/>
          <p:cNvSpPr>
            <a:spLocks noChangeArrowheads="1" noChangeShapeType="1" noTextEdit="1"/>
          </p:cNvSpPr>
          <p:nvPr/>
        </p:nvSpPr>
        <p:spPr bwMode="auto">
          <a:xfrm>
            <a:off x="1676400" y="2209800"/>
            <a:ext cx="6142038" cy="10668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100000">
                      <a:srgbClr val="FFCC00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Arial Black"/>
              </a:rPr>
              <a:t>Passing Parameters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nimBg="1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2209800" y="593725"/>
            <a:ext cx="4503738" cy="701675"/>
          </a:xfrm>
          <a:prstGeom prst="rect">
            <a:avLst/>
          </a:prstGeom>
          <a:solidFill>
            <a:srgbClr val="993366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Arial Unicode MS" pitchFamily="34" charset="-128"/>
                <a:cs typeface="Times New Roman" pitchFamily="18" charset="0"/>
              </a:rPr>
              <a:t>Session Objectives</a:t>
            </a:r>
            <a:endParaRPr lang="en-US" sz="3200" b="1">
              <a:solidFill>
                <a:schemeClr val="bg1"/>
              </a:solidFill>
              <a:latin typeface="Arial Unicode MS" pitchFamily="34" charset="-128"/>
              <a:cs typeface="Times New Roman" pitchFamily="18" charset="0"/>
            </a:endParaRP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990600" y="2667000"/>
            <a:ext cx="701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Pointer to Structure and accessing it’s members. </a:t>
            </a:r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990600" y="3429000"/>
            <a:ext cx="3176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String using Pointer</a:t>
            </a:r>
          </a:p>
        </p:txBody>
      </p:sp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990600" y="1905000"/>
            <a:ext cx="4471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Two types of Function calling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48" grpId="0" autoUpdateAnimBg="0"/>
      <p:bldP spid="31750" grpId="0" autoUpdateAnimBg="0"/>
      <p:bldP spid="31751" grpId="0" autoUpdateAnimBg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WordArt 2" descr="Paper bag"/>
          <p:cNvSpPr>
            <a:spLocks noChangeArrowheads="1" noChangeShapeType="1" noTextEdit="1"/>
          </p:cNvSpPr>
          <p:nvPr/>
        </p:nvSpPr>
        <p:spPr bwMode="auto">
          <a:xfrm>
            <a:off x="609600" y="762000"/>
            <a:ext cx="5029200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effectLst>
                  <a:outerShdw dist="563972" dir="14049741" sx="125000" sy="125000" algn="tl" rotWithShape="0">
                    <a:srgbClr val="C7DFD3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passing values to a Function</a:t>
            </a:r>
          </a:p>
        </p:txBody>
      </p:sp>
      <p:sp>
        <p:nvSpPr>
          <p:cNvPr id="15363" name="AutoShape 3"/>
          <p:cNvSpPr>
            <a:spLocks/>
          </p:cNvSpPr>
          <p:nvPr/>
        </p:nvSpPr>
        <p:spPr bwMode="auto">
          <a:xfrm>
            <a:off x="1371600" y="2019300"/>
            <a:ext cx="6858000" cy="2400300"/>
          </a:xfrm>
          <a:prstGeom prst="accentBorderCallout1">
            <a:avLst>
              <a:gd name="adj1" fmla="val 4764"/>
              <a:gd name="adj2" fmla="val -1111"/>
              <a:gd name="adj3" fmla="val -28306"/>
              <a:gd name="adj4" fmla="val -4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/>
            <a:r>
              <a:rPr lang="en-US" sz="2800" b="1">
                <a:latin typeface="Bookman Old Style" pitchFamily="18" charset="0"/>
              </a:rPr>
              <a:t>Functions communicate with each other by passing arguments.</a:t>
            </a:r>
          </a:p>
          <a:p>
            <a:pPr marL="342900" indent="-342900"/>
            <a:r>
              <a:rPr lang="en-US" sz="2800" b="1" u="sng">
                <a:latin typeface="Bookman Old Style" pitchFamily="18" charset="0"/>
              </a:rPr>
              <a:t>It can be passed in Two Ways</a:t>
            </a:r>
          </a:p>
          <a:p>
            <a:pPr marL="342900" indent="-342900">
              <a:buFontTx/>
              <a:buAutoNum type="arabicPeriod"/>
            </a:pPr>
            <a:r>
              <a:rPr lang="en-US" sz="3200" b="1">
                <a:solidFill>
                  <a:srgbClr val="0000FF"/>
                </a:solidFill>
                <a:latin typeface="Britannic Bold" pitchFamily="34" charset="0"/>
              </a:rPr>
              <a:t>Call By Value</a:t>
            </a:r>
          </a:p>
          <a:p>
            <a:pPr marL="342900" indent="-342900"/>
            <a:r>
              <a:rPr lang="en-US" sz="3200" b="1">
                <a:solidFill>
                  <a:srgbClr val="0000FF"/>
                </a:solidFill>
                <a:latin typeface="Britannic Bold" pitchFamily="34" charset="0"/>
              </a:rPr>
              <a:t>2. Call by Reference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10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nimBg="1"/>
      <p:bldP spid="15363" grpId="0" animBg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295400" y="838200"/>
            <a:ext cx="6934200" cy="4114800"/>
            <a:chOff x="816" y="528"/>
            <a:chExt cx="4368" cy="2592"/>
          </a:xfrm>
        </p:grpSpPr>
        <p:sp>
          <p:nvSpPr>
            <p:cNvPr id="6147" name="Oval 3"/>
            <p:cNvSpPr>
              <a:spLocks noChangeArrowheads="1"/>
            </p:cNvSpPr>
            <p:nvPr/>
          </p:nvSpPr>
          <p:spPr bwMode="auto">
            <a:xfrm>
              <a:off x="1920" y="528"/>
              <a:ext cx="1920" cy="672"/>
            </a:xfrm>
            <a:prstGeom prst="ellipse">
              <a:avLst/>
            </a:prstGeom>
            <a:gradFill rotWithShape="0">
              <a:gsLst>
                <a:gs pos="0">
                  <a:srgbClr val="00CCFF"/>
                </a:gs>
                <a:gs pos="100000">
                  <a:srgbClr val="005E76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8" name="Oval 4"/>
            <p:cNvSpPr>
              <a:spLocks noChangeArrowheads="1"/>
            </p:cNvSpPr>
            <p:nvPr/>
          </p:nvSpPr>
          <p:spPr bwMode="auto">
            <a:xfrm>
              <a:off x="3168" y="2400"/>
              <a:ext cx="2016" cy="7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9" name="Oval 5"/>
            <p:cNvSpPr>
              <a:spLocks noChangeArrowheads="1"/>
            </p:cNvSpPr>
            <p:nvPr/>
          </p:nvSpPr>
          <p:spPr bwMode="auto">
            <a:xfrm>
              <a:off x="816" y="2400"/>
              <a:ext cx="1824" cy="57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0" name="Line 6"/>
            <p:cNvSpPr>
              <a:spLocks noChangeShapeType="1"/>
            </p:cNvSpPr>
            <p:nvPr/>
          </p:nvSpPr>
          <p:spPr bwMode="auto">
            <a:xfrm>
              <a:off x="2976" y="1248"/>
              <a:ext cx="864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6151" name="Line 7"/>
            <p:cNvSpPr>
              <a:spLocks noChangeShapeType="1"/>
            </p:cNvSpPr>
            <p:nvPr/>
          </p:nvSpPr>
          <p:spPr bwMode="auto">
            <a:xfrm flipH="1">
              <a:off x="1968" y="1296"/>
              <a:ext cx="768" cy="10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6152" name="Text Box 8"/>
            <p:cNvSpPr txBox="1">
              <a:spLocks noChangeArrowheads="1"/>
            </p:cNvSpPr>
            <p:nvPr/>
          </p:nvSpPr>
          <p:spPr bwMode="auto">
            <a:xfrm>
              <a:off x="2160" y="564"/>
              <a:ext cx="1344" cy="5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solidFill>
                    <a:srgbClr val="800000"/>
                  </a:solidFill>
                  <a:latin typeface="Tahoma" pitchFamily="34" charset="0"/>
                </a:rPr>
                <a:t>Passing Parameters</a:t>
              </a:r>
            </a:p>
          </p:txBody>
        </p:sp>
        <p:sp>
          <p:nvSpPr>
            <p:cNvPr id="6153" name="Text Box 9"/>
            <p:cNvSpPr txBox="1">
              <a:spLocks noChangeArrowheads="1"/>
            </p:cNvSpPr>
            <p:nvPr/>
          </p:nvSpPr>
          <p:spPr bwMode="auto">
            <a:xfrm>
              <a:off x="1092" y="2484"/>
              <a:ext cx="14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solidFill>
                    <a:srgbClr val="800000"/>
                  </a:solidFill>
                  <a:latin typeface="Tahoma" pitchFamily="34" charset="0"/>
                </a:rPr>
                <a:t>Call by value</a:t>
              </a:r>
            </a:p>
          </p:txBody>
        </p:sp>
        <p:sp>
          <p:nvSpPr>
            <p:cNvPr id="6154" name="Text Box 10"/>
            <p:cNvSpPr txBox="1">
              <a:spLocks noChangeArrowheads="1"/>
            </p:cNvSpPr>
            <p:nvPr/>
          </p:nvSpPr>
          <p:spPr bwMode="auto">
            <a:xfrm>
              <a:off x="3360" y="2592"/>
              <a:ext cx="18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solidFill>
                    <a:srgbClr val="800000"/>
                  </a:solidFill>
                  <a:latin typeface="Tahoma" pitchFamily="34" charset="0"/>
                </a:rPr>
                <a:t>Call by reference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WordArt 2"/>
          <p:cNvSpPr>
            <a:spLocks noChangeArrowheads="1" noChangeShapeType="1" noTextEdit="1"/>
          </p:cNvSpPr>
          <p:nvPr/>
        </p:nvSpPr>
        <p:spPr bwMode="auto">
          <a:xfrm>
            <a:off x="2057400" y="1066800"/>
            <a:ext cx="4953000" cy="6477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r>
              <a:rPr lang="en-IN" sz="3600" b="1" kern="1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100000">
                      <a:srgbClr val="FFCC00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Arial Black"/>
              </a:rPr>
              <a:t>CALL BY VALUE</a:t>
            </a:r>
          </a:p>
        </p:txBody>
      </p:sp>
      <p:sp>
        <p:nvSpPr>
          <p:cNvPr id="19459" name="AutoShape 3"/>
          <p:cNvSpPr>
            <a:spLocks noChangeArrowheads="1"/>
          </p:cNvSpPr>
          <p:nvPr/>
        </p:nvSpPr>
        <p:spPr bwMode="auto">
          <a:xfrm>
            <a:off x="1447800" y="2209800"/>
            <a:ext cx="6477000" cy="3276600"/>
          </a:xfrm>
          <a:prstGeom prst="wedgeRoundRectCallout">
            <a:avLst>
              <a:gd name="adj1" fmla="val -7866"/>
              <a:gd name="adj2" fmla="val 63083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buFont typeface="Wingdings" pitchFamily="2" charset="2"/>
              <a:buChar char="ü"/>
            </a:pPr>
            <a:r>
              <a:rPr lang="en-US" sz="2400" b="1">
                <a:solidFill>
                  <a:srgbClr val="CC3300"/>
                </a:solidFill>
                <a:latin typeface="Times New Roman" pitchFamily="18" charset="0"/>
              </a:rPr>
              <a:t>  The values are passed through temporary variables. Any manipulation to be done only on these temporary variables.</a:t>
            </a:r>
          </a:p>
          <a:p>
            <a:pPr algn="just">
              <a:buFont typeface="Wingdings" pitchFamily="2" charset="2"/>
              <a:buNone/>
            </a:pPr>
            <a:endParaRPr lang="en-US" sz="2400" b="1">
              <a:solidFill>
                <a:srgbClr val="CC3300"/>
              </a:solidFill>
              <a:latin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400" b="1">
                <a:solidFill>
                  <a:srgbClr val="CC3300"/>
                </a:solidFill>
                <a:latin typeface="Times New Roman" pitchFamily="18" charset="0"/>
              </a:rPr>
              <a:t>  The called function does not access the actual memory location of the original variable and therefore cannot change its value.</a:t>
            </a:r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4419600" y="1752600"/>
            <a:ext cx="0" cy="45720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9461" name="WordArt 5"/>
          <p:cNvSpPr>
            <a:spLocks noChangeArrowheads="1" noChangeShapeType="1" noTextEdit="1"/>
          </p:cNvSpPr>
          <p:nvPr/>
        </p:nvSpPr>
        <p:spPr bwMode="auto">
          <a:xfrm>
            <a:off x="1295400" y="5943600"/>
            <a:ext cx="7096125" cy="381000"/>
          </a:xfrm>
          <a:prstGeom prst="rect">
            <a:avLst/>
          </a:prstGeom>
        </p:spPr>
        <p:txBody>
          <a:bodyPr wrap="none" fromWordArt="1">
            <a:prstTxWarp prst="textWave2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9933"/>
                </a:solidFill>
                <a:latin typeface="Arial Black"/>
              </a:rPr>
              <a:t>In C, Call by Value is Default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nimBg="1"/>
      <p:bldP spid="19459" grpId="0" animBg="1"/>
      <p:bldP spid="19460" grpId="0" animBg="1"/>
      <p:bldP spid="19461" grpId="0" animBg="1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5562600" cy="68024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latin typeface="Times New Roman" pitchFamily="18" charset="0"/>
              </a:rPr>
              <a:t>/* CALL BY VALUE EXAMPLE*/</a:t>
            </a:r>
          </a:p>
          <a:p>
            <a:r>
              <a:rPr lang="en-US" sz="2400" b="1">
                <a:latin typeface="Times New Roman" pitchFamily="18" charset="0"/>
              </a:rPr>
              <a:t>#include&lt;stdio.h&gt;</a:t>
            </a:r>
          </a:p>
          <a:p>
            <a:r>
              <a:rPr lang="en-US" sz="2400" b="1">
                <a:latin typeface="Times New Roman" pitchFamily="18" charset="0"/>
              </a:rPr>
              <a:t>#include&lt;conio.h&gt;</a:t>
            </a:r>
          </a:p>
          <a:p>
            <a:r>
              <a:rPr lang="en-US" sz="2400" b="1">
                <a:latin typeface="Times New Roman" pitchFamily="18" charset="0"/>
              </a:rPr>
              <a:t>void  add(int,int);</a:t>
            </a:r>
          </a:p>
          <a:p>
            <a:r>
              <a:rPr lang="en-US" sz="2400" b="1">
                <a:latin typeface="Times New Roman" pitchFamily="18" charset="0"/>
              </a:rPr>
              <a:t>void main()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int x,y;</a:t>
            </a:r>
          </a:p>
          <a:p>
            <a:r>
              <a:rPr lang="en-US" sz="2400" b="1">
                <a:latin typeface="Times New Roman" pitchFamily="18" charset="0"/>
              </a:rPr>
              <a:t>clrscr();</a:t>
            </a:r>
          </a:p>
          <a:p>
            <a:r>
              <a:rPr lang="en-US" sz="2400" b="1">
                <a:latin typeface="Times New Roman" pitchFamily="18" charset="0"/>
              </a:rPr>
              <a:t>printf("Enter two number");</a:t>
            </a:r>
          </a:p>
          <a:p>
            <a:r>
              <a:rPr lang="en-US" sz="2400" b="1">
                <a:latin typeface="Times New Roman" pitchFamily="18" charset="0"/>
              </a:rPr>
              <a:t>scanf("\t\t%d %d",&amp;x,&amp;y);</a:t>
            </a:r>
          </a:p>
          <a:p>
            <a:r>
              <a:rPr lang="en-US" sz="2400" b="1">
                <a:latin typeface="Times New Roman" pitchFamily="18" charset="0"/>
              </a:rPr>
              <a:t>add(x,y);</a:t>
            </a:r>
          </a:p>
          <a:p>
            <a:r>
              <a:rPr lang="en-US" sz="2400" b="1">
                <a:latin typeface="Times New Roman" pitchFamily="18" charset="0"/>
              </a:rPr>
              <a:t>getch();</a:t>
            </a:r>
          </a:p>
          <a:p>
            <a:r>
              <a:rPr lang="en-US" sz="2400" b="1">
                <a:latin typeface="Times New Roman" pitchFamily="18" charset="0"/>
              </a:rPr>
              <a:t>}</a:t>
            </a:r>
          </a:p>
          <a:p>
            <a:r>
              <a:rPr lang="en-US" sz="2400" b="1">
                <a:latin typeface="Times New Roman" pitchFamily="18" charset="0"/>
              </a:rPr>
              <a:t>void add(int a,int b)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int c=a+b;</a:t>
            </a:r>
          </a:p>
          <a:p>
            <a:r>
              <a:rPr lang="en-US" sz="2400" b="1">
                <a:latin typeface="Times New Roman" pitchFamily="18" charset="0"/>
              </a:rPr>
              <a:t>printf("\t\tThe C Value is %d",c);</a:t>
            </a:r>
          </a:p>
          <a:p>
            <a:r>
              <a:rPr lang="en-US" sz="2400" b="1">
                <a:latin typeface="Times New Roman" pitchFamily="18" charset="0"/>
              </a:rPr>
              <a:t>}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8195" name="WordArt 3"/>
          <p:cNvSpPr>
            <a:spLocks noChangeArrowheads="1" noChangeShapeType="1" noTextEdit="1"/>
          </p:cNvSpPr>
          <p:nvPr/>
        </p:nvSpPr>
        <p:spPr bwMode="auto">
          <a:xfrm>
            <a:off x="6324600" y="1828800"/>
            <a:ext cx="17526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latin typeface="Arial Black"/>
              </a:rPr>
              <a:t>OUTPUT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5791200" y="2362200"/>
            <a:ext cx="2971800" cy="95408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FF0066"/>
                </a:solidFill>
              </a:rPr>
              <a:t>Enter two number =   60   </a:t>
            </a:r>
          </a:p>
          <a:p>
            <a:r>
              <a:rPr lang="en-US" b="1">
                <a:solidFill>
                  <a:srgbClr val="FF0066"/>
                </a:solidFill>
              </a:rPr>
              <a:t>20</a:t>
            </a:r>
          </a:p>
          <a:p>
            <a:r>
              <a:rPr lang="en-US" b="1">
                <a:solidFill>
                  <a:srgbClr val="FF0066"/>
                </a:solidFill>
              </a:rPr>
              <a:t>The C Value is 80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/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228600" y="1752600"/>
            <a:ext cx="8915400" cy="4800600"/>
          </a:xfrm>
          <a:prstGeom prst="rect">
            <a:avLst/>
          </a:prstGeom>
          <a:solidFill>
            <a:schemeClr val="accent2"/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533400" y="715963"/>
            <a:ext cx="8151813" cy="64135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Pointers as Function Arguments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457200" y="2438400"/>
            <a:ext cx="8474075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 address of the data item is passed and thus the function can  freely access the contents of that address from within the function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533400" y="1768475"/>
            <a:ext cx="5349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i="1" u="sng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When pointers are passed to a function :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369888" y="3810000"/>
            <a:ext cx="85455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 this way, function arguments permit data-items to be altered in the  calling routine and the function.</a:t>
            </a:r>
          </a:p>
        </p:txBody>
      </p:sp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388938" y="5029200"/>
            <a:ext cx="8602662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When the arguments are pointers or arrays, a call by reference is made</a:t>
            </a:r>
            <a:r>
              <a:rPr lang="en-US" sz="1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 the function as opposed to a call by value for the variable arguments.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autoUpdateAnimBg="0"/>
      <p:bldP spid="7175" grpId="0" autoUpdateAnimBg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WordArt 2"/>
          <p:cNvSpPr>
            <a:spLocks noChangeArrowheads="1" noChangeShapeType="1" noTextEdit="1"/>
          </p:cNvSpPr>
          <p:nvPr/>
        </p:nvSpPr>
        <p:spPr bwMode="auto">
          <a:xfrm>
            <a:off x="2057400" y="914400"/>
            <a:ext cx="4953000" cy="6477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r>
              <a:rPr lang="en-IN" sz="3600" b="1" kern="1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100000">
                      <a:srgbClr val="FFCC00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Arial Black"/>
              </a:rPr>
              <a:t>CALL BY REFERENCE</a:t>
            </a:r>
          </a:p>
        </p:txBody>
      </p:sp>
      <p:sp>
        <p:nvSpPr>
          <p:cNvPr id="23555" name="AutoShape 3"/>
          <p:cNvSpPr>
            <a:spLocks noChangeArrowheads="1"/>
          </p:cNvSpPr>
          <p:nvPr/>
        </p:nvSpPr>
        <p:spPr bwMode="auto">
          <a:xfrm>
            <a:off x="1447800" y="2057400"/>
            <a:ext cx="6553200" cy="2743200"/>
          </a:xfrm>
          <a:prstGeom prst="wedgeRoundRectCallout">
            <a:avLst>
              <a:gd name="adj1" fmla="val -44477"/>
              <a:gd name="adj2" fmla="val 5335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buFont typeface="Wingdings" pitchFamily="2" charset="2"/>
              <a:buNone/>
            </a:pPr>
            <a:endParaRPr lang="en-US" sz="2400" b="1">
              <a:solidFill>
                <a:srgbClr val="CC3300"/>
              </a:solidFill>
              <a:latin typeface="Times New Roman" pitchFamily="18" charset="0"/>
            </a:endParaRPr>
          </a:p>
          <a:p>
            <a:pPr algn="just">
              <a:buFont typeface="Wingdings" pitchFamily="2" charset="2"/>
              <a:buChar char="ü"/>
            </a:pPr>
            <a:r>
              <a:rPr lang="en-US" sz="2400" b="1">
                <a:solidFill>
                  <a:srgbClr val="CC3300"/>
                </a:solidFill>
                <a:latin typeface="Times New Roman" pitchFamily="18" charset="0"/>
              </a:rPr>
              <a:t>  The function is allowed  access the actual memory location(Address) of the argument (original variable) and therefore can change its value.</a:t>
            </a:r>
          </a:p>
        </p:txBody>
      </p:sp>
      <p:sp>
        <p:nvSpPr>
          <p:cNvPr id="23556" name="Line 4"/>
          <p:cNvSpPr>
            <a:spLocks noChangeShapeType="1"/>
          </p:cNvSpPr>
          <p:nvPr/>
        </p:nvSpPr>
        <p:spPr bwMode="auto">
          <a:xfrm>
            <a:off x="4419600" y="1600200"/>
            <a:ext cx="0" cy="45720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45" name="WordArt 5"/>
          <p:cNvSpPr>
            <a:spLocks noChangeArrowheads="1" noChangeShapeType="1" noTextEdit="1"/>
          </p:cNvSpPr>
          <p:nvPr/>
        </p:nvSpPr>
        <p:spPr bwMode="auto">
          <a:xfrm>
            <a:off x="1295400" y="5638800"/>
            <a:ext cx="7096125" cy="533400"/>
          </a:xfrm>
          <a:prstGeom prst="rect">
            <a:avLst/>
          </a:prstGeom>
        </p:spPr>
        <p:txBody>
          <a:bodyPr wrap="none" fromWordArt="1">
            <a:prstTxWarp prst="textWave2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9933"/>
                </a:solidFill>
                <a:latin typeface="Arial Black"/>
              </a:rPr>
              <a:t>In C, Pointers are used to make this.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nimBg="1"/>
      <p:bldP spid="23555" grpId="0" animBg="1"/>
      <p:bldP spid="23556" grpId="0" animBg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152400" y="214313"/>
            <a:ext cx="8839200" cy="56530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latin typeface="Times New Roman" pitchFamily="18" charset="0"/>
              </a:rPr>
              <a:t>/*CALL BY REFERENCE as well as to swap 2 numbers </a:t>
            </a:r>
          </a:p>
          <a:p>
            <a:r>
              <a:rPr lang="en-US" sz="2800" b="1">
                <a:latin typeface="Times New Roman" pitchFamily="18" charset="0"/>
              </a:rPr>
              <a:t> using pointers */</a:t>
            </a:r>
          </a:p>
          <a:p>
            <a:r>
              <a:rPr lang="en-US" sz="2800" b="1">
                <a:latin typeface="Times New Roman" pitchFamily="18" charset="0"/>
              </a:rPr>
              <a:t>#include&lt;stdio.h&gt;</a:t>
            </a:r>
          </a:p>
          <a:p>
            <a:r>
              <a:rPr lang="en-US" sz="2800" b="1">
                <a:latin typeface="Times New Roman" pitchFamily="18" charset="0"/>
              </a:rPr>
              <a:t>void swap(int *,int *);</a:t>
            </a:r>
          </a:p>
          <a:p>
            <a:r>
              <a:rPr lang="en-US" sz="2800" b="1">
                <a:latin typeface="Times New Roman" pitchFamily="18" charset="0"/>
              </a:rPr>
              <a:t>void main()</a:t>
            </a:r>
          </a:p>
          <a:p>
            <a:r>
              <a:rPr lang="en-US" sz="2800" b="1">
                <a:latin typeface="Times New Roman" pitchFamily="18" charset="0"/>
              </a:rPr>
              <a:t>{</a:t>
            </a:r>
          </a:p>
          <a:p>
            <a:r>
              <a:rPr lang="en-US" sz="2800" b="1">
                <a:latin typeface="Times New Roman" pitchFamily="18" charset="0"/>
              </a:rPr>
              <a:t>int a,b;</a:t>
            </a:r>
          </a:p>
          <a:p>
            <a:r>
              <a:rPr lang="en-US" sz="2800" b="1">
                <a:latin typeface="Times New Roman" pitchFamily="18" charset="0"/>
              </a:rPr>
              <a:t>printf("\nEnter the numbers to swap");</a:t>
            </a:r>
          </a:p>
          <a:p>
            <a:r>
              <a:rPr lang="en-US" sz="2800" b="1">
                <a:latin typeface="Times New Roman" pitchFamily="18" charset="0"/>
              </a:rPr>
              <a:t>scanf("%d %d",&amp;a,&amp;b);</a:t>
            </a:r>
          </a:p>
          <a:p>
            <a:r>
              <a:rPr lang="en-US" sz="2800" b="1">
                <a:latin typeface="Times New Roman" pitchFamily="18" charset="0"/>
              </a:rPr>
              <a:t>printf("The values before swapping :");</a:t>
            </a:r>
          </a:p>
          <a:p>
            <a:r>
              <a:rPr lang="en-US" sz="2800" b="1">
                <a:latin typeface="Times New Roman" pitchFamily="18" charset="0"/>
              </a:rPr>
              <a:t>printf("\n%d %d",a,b);</a:t>
            </a:r>
          </a:p>
          <a:p>
            <a:r>
              <a:rPr lang="en-US" sz="2800" b="1">
                <a:latin typeface="Times New Roman" pitchFamily="18" charset="0"/>
              </a:rPr>
              <a:t>swap(&amp;a,&amp;b);</a:t>
            </a:r>
          </a:p>
          <a:p>
            <a:r>
              <a:rPr lang="en-US" sz="2800" b="1">
                <a:latin typeface="Times New Roman" pitchFamily="18" charset="0"/>
              </a:rPr>
              <a:t>}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7391400" y="6019800"/>
            <a:ext cx="152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Continue….</a:t>
            </a:r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/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228600" y="76200"/>
            <a:ext cx="8305800" cy="3517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latin typeface="Times New Roman" pitchFamily="18" charset="0"/>
              </a:rPr>
              <a:t>void swap(int *c,int *d)</a:t>
            </a:r>
          </a:p>
          <a:p>
            <a:r>
              <a:rPr lang="en-US" sz="2800" b="1">
                <a:latin typeface="Times New Roman" pitchFamily="18" charset="0"/>
              </a:rPr>
              <a:t>{</a:t>
            </a:r>
          </a:p>
          <a:p>
            <a:r>
              <a:rPr lang="en-US" sz="2800" b="1">
                <a:latin typeface="Times New Roman" pitchFamily="18" charset="0"/>
              </a:rPr>
              <a:t>int *t;</a:t>
            </a:r>
          </a:p>
          <a:p>
            <a:r>
              <a:rPr lang="en-US" sz="2800" b="1">
                <a:latin typeface="Times New Roman" pitchFamily="18" charset="0"/>
              </a:rPr>
              <a:t>*t=*c;</a:t>
            </a:r>
          </a:p>
          <a:p>
            <a:r>
              <a:rPr lang="en-US" sz="2800" b="1">
                <a:latin typeface="Times New Roman" pitchFamily="18" charset="0"/>
              </a:rPr>
              <a:t>*c=*d;</a:t>
            </a:r>
          </a:p>
          <a:p>
            <a:r>
              <a:rPr lang="en-US" sz="2800" b="1">
                <a:latin typeface="Times New Roman" pitchFamily="18" charset="0"/>
              </a:rPr>
              <a:t>*d=*t;</a:t>
            </a:r>
          </a:p>
          <a:p>
            <a:r>
              <a:rPr lang="en-US" sz="2800" b="1">
                <a:latin typeface="Times New Roman" pitchFamily="18" charset="0"/>
              </a:rPr>
              <a:t>printf("\n The swapped values are %d %d",*c,*d);</a:t>
            </a:r>
          </a:p>
          <a:p>
            <a:r>
              <a:rPr lang="en-US" sz="2800" b="1">
                <a:latin typeface="Times New Roman" pitchFamily="18" charset="0"/>
              </a:rPr>
              <a:t>}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5638800" y="4267200"/>
            <a:ext cx="3048000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i="1" u="sng"/>
              <a:t>NOTE :</a:t>
            </a:r>
          </a:p>
          <a:p>
            <a:pPr>
              <a:spcBef>
                <a:spcPct val="50000"/>
              </a:spcBef>
            </a:pPr>
            <a:r>
              <a:rPr lang="en-US" sz="2400" b="1"/>
              <a:t>&amp;  </a:t>
            </a:r>
            <a:r>
              <a:rPr lang="en-US" sz="2400" b="1">
                <a:sym typeface="Wingdings" pitchFamily="2" charset="2"/>
              </a:rPr>
              <a:t>  Address of</a:t>
            </a:r>
          </a:p>
          <a:p>
            <a:pPr>
              <a:spcBef>
                <a:spcPct val="50000"/>
              </a:spcBef>
            </a:pPr>
            <a:r>
              <a:rPr lang="en-US" sz="2400" b="1">
                <a:sym typeface="Wingdings" pitchFamily="2" charset="2"/>
              </a:rPr>
              <a:t>*    Content of</a:t>
            </a:r>
            <a:endParaRPr lang="en-US" sz="2400" b="1"/>
          </a:p>
        </p:txBody>
      </p:sp>
      <p:sp>
        <p:nvSpPr>
          <p:cNvPr id="12292" name="WordArt 4"/>
          <p:cNvSpPr>
            <a:spLocks noChangeArrowheads="1" noChangeShapeType="1" noTextEdit="1"/>
          </p:cNvSpPr>
          <p:nvPr/>
        </p:nvSpPr>
        <p:spPr bwMode="auto">
          <a:xfrm>
            <a:off x="609600" y="4114800"/>
            <a:ext cx="1752600" cy="22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6600"/>
                </a:solidFill>
                <a:latin typeface="Arial Black"/>
              </a:rPr>
              <a:t>OUTPUT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609600" y="4419600"/>
            <a:ext cx="4648200" cy="12287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Enter the  numbers to swap =   5</a:t>
            </a:r>
          </a:p>
          <a:p>
            <a:r>
              <a:rPr lang="en-US" b="1"/>
              <a:t>6</a:t>
            </a:r>
          </a:p>
          <a:p>
            <a:r>
              <a:rPr lang="en-US" b="1"/>
              <a:t>The values before swapping : 5  6</a:t>
            </a:r>
          </a:p>
          <a:p>
            <a:r>
              <a:rPr lang="en-US" b="1"/>
              <a:t>The swapped values are  :   6    5</a:t>
            </a:r>
          </a:p>
        </p:txBody>
      </p:sp>
    </p:spTree>
  </p:cSld>
  <p:clrMapOvr>
    <a:masterClrMapping/>
  </p:clrMapOvr>
  <p:transition spd="med">
    <p:cover dir="r"/>
  </p:transition>
  <p:timing>
    <p:tnLst>
      <p:par>
        <p:cTn id="1" dur="indefinite" restart="never" nodeType="tmRoot"/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363663" y="298450"/>
            <a:ext cx="65611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6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Pointers To Structures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533400" y="1485900"/>
            <a:ext cx="8229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Tx/>
              <a:buBlip>
                <a:blip r:embed="rId2"/>
              </a:buBlip>
            </a:pPr>
            <a:r>
              <a:rPr lang="en-US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Pointers to structures are allowed in C and Members are accessed by using -&gt; (arrow) operator.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533400" y="2781300"/>
            <a:ext cx="8229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Tx/>
              <a:buBlip>
                <a:blip r:embed="rId2"/>
              </a:buBlip>
            </a:pPr>
            <a:r>
              <a:rPr lang="en-US" sz="2400" b="1">
                <a:solidFill>
                  <a:srgbClr val="990000"/>
                </a:solidFill>
                <a:latin typeface="Times New Roman" pitchFamily="18" charset="0"/>
                <a:cs typeface="Times New Roman" pitchFamily="18" charset="0"/>
              </a:rPr>
              <a:t>    The following statement declares ptr as a pointer to data of  that type -</a:t>
            </a:r>
          </a:p>
        </p:txBody>
      </p:sp>
      <p:sp>
        <p:nvSpPr>
          <p:cNvPr id="9221" name="WordArt 5"/>
          <p:cNvSpPr>
            <a:spLocks noChangeArrowheads="1" noChangeShapeType="1" noTextEdit="1"/>
          </p:cNvSpPr>
          <p:nvPr/>
        </p:nvSpPr>
        <p:spPr bwMode="auto">
          <a:xfrm>
            <a:off x="2295525" y="3771900"/>
            <a:ext cx="45529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/>
              </a:rPr>
              <a:t>struct book *ptr;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/>
      <p:bldP spid="9220" grpId="0"/>
      <p:bldP spid="9221" grpId="0" animBg="1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-4763"/>
            <a:ext cx="4419600" cy="6862763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/>
              <a:t>How the structure can be accessed by a pointer variable</a:t>
            </a:r>
          </a:p>
          <a:p>
            <a:r>
              <a:rPr lang="en-US" sz="2000" b="1">
                <a:latin typeface="Times New Roman" pitchFamily="18" charset="0"/>
              </a:rPr>
              <a:t>#include&lt;stdio.h&gt;</a:t>
            </a:r>
          </a:p>
          <a:p>
            <a:r>
              <a:rPr lang="en-US" sz="2000" b="1">
                <a:latin typeface="Times New Roman" pitchFamily="18" charset="0"/>
              </a:rPr>
              <a:t>#include&lt;stdlib.h&gt;</a:t>
            </a:r>
          </a:p>
          <a:p>
            <a:r>
              <a:rPr lang="en-US" sz="2000" b="1">
                <a:latin typeface="Times New Roman" pitchFamily="18" charset="0"/>
              </a:rPr>
              <a:t>struct student</a:t>
            </a:r>
          </a:p>
          <a:p>
            <a:r>
              <a:rPr lang="en-US" sz="2000" b="1">
                <a:latin typeface="Times New Roman" pitchFamily="18" charset="0"/>
              </a:rPr>
              <a:t>{</a:t>
            </a:r>
          </a:p>
          <a:p>
            <a:r>
              <a:rPr lang="en-US" sz="2000" b="1">
                <a:latin typeface="Times New Roman" pitchFamily="18" charset="0"/>
              </a:rPr>
              <a:t>int roll_no;</a:t>
            </a:r>
          </a:p>
          <a:p>
            <a:r>
              <a:rPr lang="en-US" sz="2000" b="1">
                <a:latin typeface="Times New Roman" pitchFamily="18" charset="0"/>
              </a:rPr>
              <a:t>char name[20];</a:t>
            </a:r>
          </a:p>
          <a:p>
            <a:r>
              <a:rPr lang="en-US" sz="2000" b="1">
                <a:latin typeface="Times New Roman" pitchFamily="18" charset="0"/>
              </a:rPr>
              <a:t>float marks;</a:t>
            </a:r>
          </a:p>
          <a:p>
            <a:r>
              <a:rPr lang="en-US" sz="2000" b="1">
                <a:latin typeface="Times New Roman" pitchFamily="18" charset="0"/>
              </a:rPr>
              <a:t>}st;</a:t>
            </a:r>
          </a:p>
          <a:p>
            <a:r>
              <a:rPr lang="en-US" sz="2000" b="1">
                <a:latin typeface="Times New Roman" pitchFamily="18" charset="0"/>
              </a:rPr>
              <a:t>void main()</a:t>
            </a:r>
          </a:p>
          <a:p>
            <a:r>
              <a:rPr lang="en-US" sz="2000" b="1">
                <a:latin typeface="Times New Roman" pitchFamily="18" charset="0"/>
              </a:rPr>
              <a:t>{</a:t>
            </a:r>
          </a:p>
          <a:p>
            <a:r>
              <a:rPr lang="en-US" sz="2000" b="1">
                <a:latin typeface="Times New Roman" pitchFamily="18" charset="0"/>
              </a:rPr>
              <a:t>struct student *ptr;</a:t>
            </a:r>
          </a:p>
          <a:p>
            <a:r>
              <a:rPr lang="en-US" sz="2000" b="1">
                <a:latin typeface="Times New Roman" pitchFamily="18" charset="0"/>
              </a:rPr>
              <a:t>printf("\n \t Enter the record");</a:t>
            </a:r>
          </a:p>
          <a:p>
            <a:r>
              <a:rPr lang="en-US" sz="2000" b="1">
                <a:latin typeface="Times New Roman" pitchFamily="18" charset="0"/>
              </a:rPr>
              <a:t>printf("\n Enter the Roll Number");</a:t>
            </a:r>
          </a:p>
          <a:p>
            <a:r>
              <a:rPr lang="en-US" sz="2000" b="1">
                <a:latin typeface="Times New Roman" pitchFamily="18" charset="0"/>
              </a:rPr>
              <a:t>scanf("%d",&amp;st.roll_no);</a:t>
            </a:r>
          </a:p>
          <a:p>
            <a:endParaRPr lang="en-US" sz="2000" b="1">
              <a:latin typeface="Times New Roman" pitchFamily="18" charset="0"/>
            </a:endParaRPr>
          </a:p>
          <a:p>
            <a:r>
              <a:rPr lang="en-US" sz="2000" b="1">
                <a:latin typeface="Times New Roman" pitchFamily="18" charset="0"/>
              </a:rPr>
              <a:t>printf("\n Enter the Name");</a:t>
            </a:r>
          </a:p>
          <a:p>
            <a:r>
              <a:rPr lang="en-US" sz="2000" b="1">
                <a:latin typeface="Times New Roman" pitchFamily="18" charset="0"/>
              </a:rPr>
              <a:t>scanf("%s",st.name);</a:t>
            </a:r>
          </a:p>
          <a:p>
            <a:endParaRPr lang="en-US" sz="2000" b="1">
              <a:latin typeface="Times New Roman" pitchFamily="18" charset="0"/>
            </a:endParaRPr>
          </a:p>
          <a:p>
            <a:r>
              <a:rPr lang="en-US" sz="2000" b="1">
                <a:latin typeface="Times New Roman" pitchFamily="18" charset="0"/>
              </a:rPr>
              <a:t>printf("\n Enter the Marks");</a:t>
            </a:r>
          </a:p>
          <a:p>
            <a:r>
              <a:rPr lang="en-US" sz="2000" b="1">
                <a:latin typeface="Times New Roman" pitchFamily="18" charset="0"/>
              </a:rPr>
              <a:t>scanf("%f",&amp;st.marks);</a:t>
            </a: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4495800" y="152400"/>
            <a:ext cx="4648200" cy="409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>
                <a:latin typeface="Times New Roman" pitchFamily="18" charset="0"/>
              </a:rPr>
              <a:t>ptr=&amp;st;</a:t>
            </a:r>
          </a:p>
          <a:p>
            <a:r>
              <a:rPr lang="en-US" sz="2000" b="1">
                <a:latin typeface="Times New Roman" pitchFamily="18" charset="0"/>
              </a:rPr>
              <a:t>printf("\n display the details using structure variables");</a:t>
            </a:r>
          </a:p>
          <a:p>
            <a:endParaRPr lang="en-US" sz="2000" b="1">
              <a:latin typeface="Times New Roman" pitchFamily="18" charset="0"/>
            </a:endParaRPr>
          </a:p>
          <a:p>
            <a:r>
              <a:rPr lang="en-US" sz="2000" b="1">
                <a:latin typeface="Times New Roman" pitchFamily="18" charset="0"/>
              </a:rPr>
              <a:t>printf( "%d %s %f", st.roll_no, st.name, st.marks);</a:t>
            </a:r>
          </a:p>
          <a:p>
            <a:endParaRPr lang="en-US" sz="2000" b="1">
              <a:latin typeface="Times New Roman" pitchFamily="18" charset="0"/>
            </a:endParaRPr>
          </a:p>
          <a:p>
            <a:r>
              <a:rPr lang="en-US" sz="2000" b="1">
                <a:latin typeface="Times New Roman" pitchFamily="18" charset="0"/>
              </a:rPr>
              <a:t>printf("\n display the details using pointer variables");</a:t>
            </a:r>
          </a:p>
          <a:p>
            <a:r>
              <a:rPr lang="en-US" sz="2000" b="1">
                <a:latin typeface="Times New Roman" pitchFamily="18" charset="0"/>
              </a:rPr>
              <a:t>printf( "%d %s %f",ptr-&gt;roll_no,         ptr-&gt;name, ptr-&gt;marks);</a:t>
            </a:r>
          </a:p>
          <a:p>
            <a:r>
              <a:rPr lang="en-US" sz="2000" b="1">
                <a:latin typeface="Times New Roman" pitchFamily="18" charset="0"/>
              </a:rPr>
              <a:t>}</a:t>
            </a:r>
          </a:p>
          <a:p>
            <a:endParaRPr lang="en-US" sz="2000" b="1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ext Box 2"/>
          <p:cNvSpPr txBox="1">
            <a:spLocks noChangeArrowheads="1"/>
          </p:cNvSpPr>
          <p:nvPr/>
        </p:nvSpPr>
        <p:spPr bwMode="auto">
          <a:xfrm>
            <a:off x="2362200" y="0"/>
            <a:ext cx="42497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000">
                <a:solidFill>
                  <a:srgbClr val="CC0000"/>
                </a:solidFill>
                <a:latin typeface="Arial Unicode MS" pitchFamily="34" charset="-128"/>
                <a:cs typeface="Times New Roman" pitchFamily="18" charset="0"/>
              </a:rPr>
              <a:t>Pointers &amp; Strings</a:t>
            </a:r>
          </a:p>
        </p:txBody>
      </p:sp>
      <p:sp>
        <p:nvSpPr>
          <p:cNvPr id="1029" name="Text Box 3"/>
          <p:cNvSpPr txBox="1">
            <a:spLocks noChangeArrowheads="1"/>
          </p:cNvSpPr>
          <p:nvPr/>
        </p:nvSpPr>
        <p:spPr bwMode="auto">
          <a:xfrm>
            <a:off x="0" y="685800"/>
            <a:ext cx="62865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400" b="1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 Using strings as pointers can be explained with the help of the</a:t>
            </a:r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533400" y="1600200"/>
          <a:ext cx="7543800" cy="3508375"/>
        </p:xfrm>
        <a:graphic>
          <a:graphicData uri="http://schemas.openxmlformats.org/presentationml/2006/ole">
            <p:oleObj spid="_x0000_s3074" name="Bitmap Image" r:id="rId4" imgW="5200000" imgH="2419048" progId="Paint.Picture">
              <p:embed/>
            </p:oleObj>
          </a:graphicData>
        </a:graphic>
      </p:graphicFrame>
      <p:graphicFrame>
        <p:nvGraphicFramePr>
          <p:cNvPr id="1027" name="Object 8"/>
          <p:cNvGraphicFramePr>
            <a:graphicFrameLocks noChangeAspect="1"/>
          </p:cNvGraphicFramePr>
          <p:nvPr/>
        </p:nvGraphicFramePr>
        <p:xfrm>
          <a:off x="381000" y="5334000"/>
          <a:ext cx="5410200" cy="1524000"/>
        </p:xfrm>
        <a:graphic>
          <a:graphicData uri="http://schemas.openxmlformats.org/presentationml/2006/ole">
            <p:oleObj spid="_x0000_s3075" name="Bitmap Image" r:id="rId5" imgW="3172268" imgH="905001" progId="Paint.Picture">
              <p:embed/>
            </p:oleObj>
          </a:graphicData>
        </a:graphic>
      </p:graphicFrame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6858000" y="228600"/>
            <a:ext cx="2286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pointers can be explained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524000" y="4114800"/>
            <a:ext cx="6019800" cy="2133600"/>
            <a:chOff x="672" y="720"/>
            <a:chExt cx="3792" cy="1344"/>
          </a:xfrm>
        </p:grpSpPr>
        <p:sp>
          <p:nvSpPr>
            <p:cNvPr id="2054" name="Text Box 3"/>
            <p:cNvSpPr txBox="1">
              <a:spLocks noChangeArrowheads="1"/>
            </p:cNvSpPr>
            <p:nvPr/>
          </p:nvSpPr>
          <p:spPr bwMode="auto">
            <a:xfrm>
              <a:off x="672" y="720"/>
              <a:ext cx="1200" cy="1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/>
                <a:t>Malloc()</a:t>
              </a:r>
            </a:p>
            <a:p>
              <a:pPr>
                <a:spcBef>
                  <a:spcPct val="50000"/>
                </a:spcBef>
              </a:pPr>
              <a:r>
                <a:rPr lang="en-US" sz="2400" b="1"/>
                <a:t>Calloc()</a:t>
              </a:r>
            </a:p>
            <a:p>
              <a:pPr>
                <a:spcBef>
                  <a:spcPct val="50000"/>
                </a:spcBef>
              </a:pPr>
              <a:r>
                <a:rPr lang="en-US" sz="2400" b="1"/>
                <a:t>Realloc()</a:t>
              </a:r>
            </a:p>
            <a:p>
              <a:pPr>
                <a:spcBef>
                  <a:spcPct val="50000"/>
                </a:spcBef>
              </a:pPr>
              <a:r>
                <a:rPr lang="en-US" sz="2400" b="1"/>
                <a:t>Free()</a:t>
              </a:r>
            </a:p>
          </p:txBody>
        </p:sp>
        <p:sp>
          <p:nvSpPr>
            <p:cNvPr id="2055" name="AutoShape 4"/>
            <p:cNvSpPr>
              <a:spLocks/>
            </p:cNvSpPr>
            <p:nvPr/>
          </p:nvSpPr>
          <p:spPr bwMode="auto">
            <a:xfrm>
              <a:off x="1728" y="816"/>
              <a:ext cx="720" cy="1248"/>
            </a:xfrm>
            <a:prstGeom prst="rightBracket">
              <a:avLst>
                <a:gd name="adj" fmla="val 14444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6" name="Line 5"/>
            <p:cNvSpPr>
              <a:spLocks noChangeShapeType="1"/>
            </p:cNvSpPr>
            <p:nvPr/>
          </p:nvSpPr>
          <p:spPr bwMode="auto">
            <a:xfrm>
              <a:off x="2448" y="1440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57" name="Text Box 6"/>
            <p:cNvSpPr txBox="1">
              <a:spLocks noChangeArrowheads="1"/>
            </p:cNvSpPr>
            <p:nvPr/>
          </p:nvSpPr>
          <p:spPr bwMode="auto">
            <a:xfrm>
              <a:off x="3360" y="1248"/>
              <a:ext cx="1104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/>
                <a:t>Alloc.h</a:t>
              </a:r>
            </a:p>
          </p:txBody>
        </p:sp>
      </p:grpSp>
      <p:sp>
        <p:nvSpPr>
          <p:cNvPr id="5127" name="WordArt 7"/>
          <p:cNvSpPr>
            <a:spLocks noChangeArrowheads="1" noChangeShapeType="1" noTextEdit="1"/>
          </p:cNvSpPr>
          <p:nvPr/>
        </p:nvSpPr>
        <p:spPr bwMode="auto">
          <a:xfrm>
            <a:off x="2590800" y="3352800"/>
            <a:ext cx="38862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Library Functions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304800" y="381000"/>
            <a:ext cx="85344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u="sng"/>
              <a:t>Dynamic Memory Management Technique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Æ"/>
            </a:pPr>
            <a:r>
              <a:rPr lang="en-US" sz="2000" b="1"/>
              <a:t>  Used to  allocate additional memory space or to release the unwanted memory space at runtime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Æ"/>
            </a:pPr>
            <a:r>
              <a:rPr lang="en-US" sz="2000" b="1"/>
              <a:t>  Used to optimize the use of storage space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Æ"/>
            </a:pPr>
            <a:r>
              <a:rPr lang="en-US" sz="2000" b="1"/>
              <a:t>  The programmer can allocate memory whenever he decides and releases it after using the memory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20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" grpId="0" animBg="1"/>
      <p:bldP spid="5128" grpId="0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3075" name="WordArt 2"/>
          <p:cNvSpPr>
            <a:spLocks noChangeArrowheads="1" noChangeShapeType="1" noTextEdit="1"/>
          </p:cNvSpPr>
          <p:nvPr/>
        </p:nvSpPr>
        <p:spPr bwMode="auto">
          <a:xfrm rot="-491700">
            <a:off x="1219200" y="1905000"/>
            <a:ext cx="6553200" cy="1674813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72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dist"/>
            <a:r>
              <a:rPr lang="en-IN" sz="3600" b="1" kern="10" spc="72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880000" scaled="1"/>
                </a:gradFill>
                <a:latin typeface="Bookman Old Style"/>
              </a:rPr>
              <a:t>Dynamic Memory Allocation</a:t>
            </a:r>
          </a:p>
        </p:txBody>
      </p:sp>
      <p:sp>
        <p:nvSpPr>
          <p:cNvPr id="3076" name="Text Box 3"/>
          <p:cNvSpPr txBox="1">
            <a:spLocks noChangeArrowheads="1"/>
          </p:cNvSpPr>
          <p:nvPr/>
        </p:nvSpPr>
        <p:spPr bwMode="auto">
          <a:xfrm>
            <a:off x="1447800" y="4343400"/>
            <a:ext cx="6934200" cy="831850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/>
              <a:t>[ It is the process of allocating memory during Runtime (Execution Time) 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CSC COMPUTER EDUCATION, M.K.B.NAGAR</a:t>
            </a:r>
          </a:p>
        </p:txBody>
      </p:sp>
      <p:sp>
        <p:nvSpPr>
          <p:cNvPr id="4099" name="WordArt 2"/>
          <p:cNvSpPr>
            <a:spLocks noChangeArrowheads="1" noChangeShapeType="1" noTextEdit="1"/>
          </p:cNvSpPr>
          <p:nvPr/>
        </p:nvSpPr>
        <p:spPr bwMode="auto">
          <a:xfrm>
            <a:off x="2257425" y="228600"/>
            <a:ext cx="4371975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malloc() Function</a:t>
            </a:r>
          </a:p>
        </p:txBody>
      </p:sp>
      <p:sp>
        <p:nvSpPr>
          <p:cNvPr id="4100" name="Text Box 3"/>
          <p:cNvSpPr txBox="1">
            <a:spLocks noChangeArrowheads="1"/>
          </p:cNvSpPr>
          <p:nvPr/>
        </p:nvSpPr>
        <p:spPr bwMode="auto">
          <a:xfrm>
            <a:off x="685800" y="1143000"/>
            <a:ext cx="7772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000" b="1"/>
              <a:t>	Used to allocate a contiguous block of memory in bytes.</a:t>
            </a:r>
          </a:p>
        </p:txBody>
      </p:sp>
      <p:sp>
        <p:nvSpPr>
          <p:cNvPr id="4101" name="WordArt 4"/>
          <p:cNvSpPr>
            <a:spLocks noChangeArrowheads="1" noChangeShapeType="1" noTextEdit="1"/>
          </p:cNvSpPr>
          <p:nvPr/>
        </p:nvSpPr>
        <p:spPr bwMode="auto">
          <a:xfrm>
            <a:off x="609600" y="2108200"/>
            <a:ext cx="2028825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Syntax :</a:t>
            </a:r>
          </a:p>
        </p:txBody>
      </p:sp>
      <p:sp>
        <p:nvSpPr>
          <p:cNvPr id="4102" name="Text Box 5"/>
          <p:cNvSpPr txBox="1">
            <a:spLocks noChangeArrowheads="1"/>
          </p:cNvSpPr>
          <p:nvPr/>
        </p:nvSpPr>
        <p:spPr bwMode="auto">
          <a:xfrm>
            <a:off x="838200" y="2794000"/>
            <a:ext cx="73152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ptr_name= (cast type *) malloc(int size);</a:t>
            </a:r>
          </a:p>
        </p:txBody>
      </p:sp>
      <p:sp>
        <p:nvSpPr>
          <p:cNvPr id="4103" name="Text Box 6"/>
          <p:cNvSpPr txBox="1">
            <a:spLocks noChangeArrowheads="1"/>
          </p:cNvSpPr>
          <p:nvPr/>
        </p:nvSpPr>
        <p:spPr bwMode="auto">
          <a:xfrm>
            <a:off x="838200" y="3352800"/>
            <a:ext cx="7239000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u="sng"/>
              <a:t>Example 1:</a:t>
            </a:r>
            <a:r>
              <a:rPr lang="en-US" sz="2000" i="1"/>
              <a:t>  int *ptr;</a:t>
            </a:r>
            <a:endParaRPr lang="en-US" sz="2000" b="1" i="1" u="sng"/>
          </a:p>
          <a:p>
            <a:pPr>
              <a:spcBef>
                <a:spcPct val="50000"/>
              </a:spcBef>
            </a:pPr>
            <a:r>
              <a:rPr lang="en-US" sz="2000" b="1"/>
              <a:t>	  ptr=(int*)malloc(10);</a:t>
            </a:r>
          </a:p>
          <a:p>
            <a:pPr>
              <a:spcBef>
                <a:spcPct val="50000"/>
              </a:spcBef>
            </a:pPr>
            <a:r>
              <a:rPr lang="en-US" sz="2000" b="1" i="1" u="sng"/>
              <a:t>Example 2 :</a:t>
            </a:r>
          </a:p>
          <a:p>
            <a:pPr>
              <a:spcBef>
                <a:spcPct val="50000"/>
              </a:spcBef>
            </a:pPr>
            <a:r>
              <a:rPr lang="en-US" sz="2000" b="1"/>
              <a:t>	char *a;</a:t>
            </a:r>
          </a:p>
          <a:p>
            <a:pPr>
              <a:spcBef>
                <a:spcPct val="50000"/>
              </a:spcBef>
            </a:pPr>
            <a:r>
              <a:rPr lang="en-US" sz="2000" b="1"/>
              <a:t>	a=(char*) malloc(10*sizeof(char));</a:t>
            </a:r>
          </a:p>
        </p:txBody>
      </p:sp>
      <p:sp>
        <p:nvSpPr>
          <p:cNvPr id="4104" name="Text Box 7"/>
          <p:cNvSpPr txBox="1">
            <a:spLocks noChangeArrowheads="1"/>
          </p:cNvSpPr>
          <p:nvPr/>
        </p:nvSpPr>
        <p:spPr bwMode="auto">
          <a:xfrm>
            <a:off x="228600" y="5562600"/>
            <a:ext cx="8915400" cy="112871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 u="sng">
                <a:solidFill>
                  <a:schemeClr val="bg1"/>
                </a:solidFill>
              </a:rPr>
              <a:t>Note :</a:t>
            </a:r>
          </a:p>
          <a:p>
            <a:pPr algn="just">
              <a:spcBef>
                <a:spcPct val="50000"/>
              </a:spcBef>
            </a:pPr>
            <a:r>
              <a:rPr lang="en-US" b="1">
                <a:solidFill>
                  <a:schemeClr val="bg1"/>
                </a:solidFill>
              </a:rPr>
              <a:t>      </a:t>
            </a:r>
            <a:r>
              <a:rPr lang="en-US" sz="2000" b="1">
                <a:solidFill>
                  <a:schemeClr val="bg1"/>
                </a:solidFill>
              </a:rPr>
              <a:t>If the memory allocation is success it returns the starting address else if returns NULL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5123" name="WordArt 2" descr="White marble"/>
          <p:cNvSpPr>
            <a:spLocks noChangeArrowheads="1" noChangeShapeType="1" noTextEdit="1"/>
          </p:cNvSpPr>
          <p:nvPr/>
        </p:nvSpPr>
        <p:spPr bwMode="auto">
          <a:xfrm>
            <a:off x="2057400" y="457200"/>
            <a:ext cx="44958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ObliqueRight"/>
              <a:lightRig rig="legacyHarsh3" dir="t"/>
            </a:scene3d>
            <a:sp3d extrusionH="100000" prstMaterial="legacyMatte">
              <a:extrusionClr>
                <a:srgbClr val="663300"/>
              </a:extrusionClr>
            </a:sp3d>
          </a:bodyPr>
          <a:lstStyle/>
          <a:p>
            <a:pPr algn="ctr"/>
            <a:r>
              <a:rPr lang="en-IN" sz="3600" b="1" kern="10">
                <a:ln w="9525"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latin typeface="Arial Black"/>
              </a:rPr>
              <a:t>free() function</a:t>
            </a:r>
          </a:p>
        </p:txBody>
      </p:sp>
      <p:sp>
        <p:nvSpPr>
          <p:cNvPr id="5124" name="Text Box 3"/>
          <p:cNvSpPr txBox="1">
            <a:spLocks noChangeArrowheads="1"/>
          </p:cNvSpPr>
          <p:nvPr/>
        </p:nvSpPr>
        <p:spPr bwMode="auto">
          <a:xfrm>
            <a:off x="304800" y="1219200"/>
            <a:ext cx="8382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/>
              <a:t>           Used to free (release or deallocate) the block of unused or already used memory</a:t>
            </a:r>
          </a:p>
        </p:txBody>
      </p:sp>
      <p:sp>
        <p:nvSpPr>
          <p:cNvPr id="5125" name="WordArt 4"/>
          <p:cNvSpPr>
            <a:spLocks noChangeArrowheads="1" noChangeShapeType="1" noTextEdit="1"/>
          </p:cNvSpPr>
          <p:nvPr/>
        </p:nvSpPr>
        <p:spPr bwMode="auto">
          <a:xfrm>
            <a:off x="609600" y="2108200"/>
            <a:ext cx="2028825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Syntax :</a:t>
            </a:r>
          </a:p>
        </p:txBody>
      </p:sp>
      <p:sp>
        <p:nvSpPr>
          <p:cNvPr id="5126" name="Text Box 5"/>
          <p:cNvSpPr txBox="1">
            <a:spLocks noChangeArrowheads="1"/>
          </p:cNvSpPr>
          <p:nvPr/>
        </p:nvSpPr>
        <p:spPr bwMode="auto">
          <a:xfrm>
            <a:off x="1676400" y="2794000"/>
            <a:ext cx="38862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free(pointer_variable);</a:t>
            </a:r>
          </a:p>
        </p:txBody>
      </p:sp>
      <p:sp>
        <p:nvSpPr>
          <p:cNvPr id="5127" name="Text Box 6"/>
          <p:cNvSpPr txBox="1">
            <a:spLocks noChangeArrowheads="1"/>
          </p:cNvSpPr>
          <p:nvPr/>
        </p:nvSpPr>
        <p:spPr bwMode="auto">
          <a:xfrm>
            <a:off x="838200" y="3489325"/>
            <a:ext cx="72390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u="sng"/>
              <a:t>Example 1:</a:t>
            </a:r>
          </a:p>
          <a:p>
            <a:pPr>
              <a:spcBef>
                <a:spcPct val="50000"/>
              </a:spcBef>
            </a:pPr>
            <a:r>
              <a:rPr lang="en-US" sz="2000" b="1"/>
              <a:t>	  ptr=(int*)malloc(10);</a:t>
            </a:r>
          </a:p>
          <a:p>
            <a:pPr>
              <a:spcBef>
                <a:spcPct val="50000"/>
              </a:spcBef>
            </a:pPr>
            <a:r>
              <a:rPr lang="en-US" sz="2000" b="1"/>
              <a:t>	  free(ptr);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457200" y="228600"/>
            <a:ext cx="8001000" cy="5694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latin typeface="Times New Roman" pitchFamily="18" charset="0"/>
              </a:rPr>
              <a:t>/* malloc() Function Example */</a:t>
            </a:r>
          </a:p>
          <a:p>
            <a:r>
              <a:rPr lang="en-US" sz="2400" b="1">
                <a:latin typeface="Times New Roman" pitchFamily="18" charset="0"/>
              </a:rPr>
              <a:t>#include&lt;stdio.h&gt;</a:t>
            </a:r>
          </a:p>
          <a:p>
            <a:r>
              <a:rPr lang="en-US" sz="2400" b="1">
                <a:latin typeface="Times New Roman" pitchFamily="18" charset="0"/>
              </a:rPr>
              <a:t>#include&lt;alloc.h&gt;</a:t>
            </a:r>
          </a:p>
          <a:p>
            <a:r>
              <a:rPr lang="en-US" sz="2400" b="1">
                <a:latin typeface="Times New Roman" pitchFamily="18" charset="0"/>
              </a:rPr>
              <a:t>void main()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char *str;</a:t>
            </a:r>
          </a:p>
          <a:p>
            <a:r>
              <a:rPr lang="en-US" sz="2400" b="1">
                <a:latin typeface="Times New Roman" pitchFamily="18" charset="0"/>
              </a:rPr>
              <a:t>if((str=(char *)malloc(10))==NULL)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printf("Not enough memory to allocate buffer\n");</a:t>
            </a:r>
          </a:p>
          <a:p>
            <a:r>
              <a:rPr lang="en-US" sz="2400" b="1">
                <a:latin typeface="Times New Roman" pitchFamily="18" charset="0"/>
              </a:rPr>
              <a:t>exit(1);</a:t>
            </a:r>
          </a:p>
          <a:p>
            <a:r>
              <a:rPr lang="en-US" sz="2400" b="1">
                <a:latin typeface="Times New Roman" pitchFamily="18" charset="0"/>
              </a:rPr>
              <a:t>}</a:t>
            </a:r>
          </a:p>
          <a:p>
            <a:r>
              <a:rPr lang="en-US" sz="2400" b="1">
                <a:latin typeface="Times New Roman" pitchFamily="18" charset="0"/>
              </a:rPr>
              <a:t>strcpy(str,"Helloworld");</a:t>
            </a:r>
          </a:p>
          <a:p>
            <a:r>
              <a:rPr lang="en-US" sz="2400" b="1">
                <a:latin typeface="Times New Roman" pitchFamily="18" charset="0"/>
              </a:rPr>
              <a:t>printf("String is %s\n",str);</a:t>
            </a:r>
          </a:p>
          <a:p>
            <a:r>
              <a:rPr lang="en-US" sz="2400" b="1">
                <a:latin typeface="Times New Roman" pitchFamily="18" charset="0"/>
              </a:rPr>
              <a:t>free(str);</a:t>
            </a:r>
          </a:p>
          <a:p>
            <a:r>
              <a:rPr lang="en-US" sz="2400" b="1">
                <a:latin typeface="Times New Roman" pitchFamily="18" charset="0"/>
              </a:rPr>
              <a:t>}</a:t>
            </a:r>
          </a:p>
        </p:txBody>
      </p:sp>
      <p:sp>
        <p:nvSpPr>
          <p:cNvPr id="6148" name="WordArt 3"/>
          <p:cNvSpPr>
            <a:spLocks noChangeArrowheads="1" noChangeShapeType="1" noTextEdit="1"/>
          </p:cNvSpPr>
          <p:nvPr/>
        </p:nvSpPr>
        <p:spPr bwMode="auto">
          <a:xfrm>
            <a:off x="1371600" y="5867400"/>
            <a:ext cx="1905000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1"/>
                </a:solidFill>
                <a:latin typeface="Arial Black"/>
              </a:rPr>
              <a:t>Output :</a:t>
            </a:r>
          </a:p>
        </p:txBody>
      </p:sp>
      <p:sp>
        <p:nvSpPr>
          <p:cNvPr id="6149" name="Text Box 4"/>
          <p:cNvSpPr txBox="1">
            <a:spLocks noChangeArrowheads="1"/>
          </p:cNvSpPr>
          <p:nvPr/>
        </p:nvSpPr>
        <p:spPr bwMode="auto">
          <a:xfrm>
            <a:off x="3124200" y="5867400"/>
            <a:ext cx="28956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>
                <a:solidFill>
                  <a:srgbClr val="990033"/>
                </a:solidFill>
              </a:rPr>
              <a:t>String is HelloWorld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609600" y="508000"/>
            <a:ext cx="7620000" cy="532447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/>
              <a:t>//malloc() Example 2</a:t>
            </a:r>
          </a:p>
          <a:p>
            <a:r>
              <a:rPr lang="en-US" sz="2000" b="1"/>
              <a:t>#include&lt;stdio.h&gt;</a:t>
            </a:r>
          </a:p>
          <a:p>
            <a:r>
              <a:rPr lang="en-US" sz="2000" b="1"/>
              <a:t>#include&lt;conio.h&gt;</a:t>
            </a:r>
          </a:p>
          <a:p>
            <a:r>
              <a:rPr lang="en-US" sz="2000" b="1"/>
              <a:t>#include&lt;alloc.h&gt;</a:t>
            </a:r>
          </a:p>
          <a:p>
            <a:r>
              <a:rPr lang="en-US" sz="2000" b="1">
                <a:latin typeface="Times New Roman" pitchFamily="18" charset="0"/>
              </a:rPr>
              <a:t>void main()</a:t>
            </a:r>
          </a:p>
          <a:p>
            <a:r>
              <a:rPr lang="en-US" sz="2000" b="1">
                <a:latin typeface="Times New Roman" pitchFamily="18" charset="0"/>
              </a:rPr>
              <a:t>{</a:t>
            </a:r>
          </a:p>
          <a:p>
            <a:r>
              <a:rPr lang="en-US" sz="2000" b="1">
                <a:latin typeface="Times New Roman" pitchFamily="18" charset="0"/>
              </a:rPr>
              <a:t>int *ptr;  //static memory allocation</a:t>
            </a:r>
          </a:p>
          <a:p>
            <a:r>
              <a:rPr lang="en-US" sz="2000" b="1">
                <a:latin typeface="Times New Roman" pitchFamily="18" charset="0"/>
              </a:rPr>
              <a:t>clrscr();</a:t>
            </a:r>
          </a:p>
          <a:p>
            <a:r>
              <a:rPr lang="en-US" sz="2000" b="1">
                <a:latin typeface="Times New Roman" pitchFamily="18" charset="0"/>
              </a:rPr>
              <a:t>ptr=(int *) malloc(sizeof(int));</a:t>
            </a:r>
          </a:p>
          <a:p>
            <a:r>
              <a:rPr lang="en-US" sz="2000" b="1">
                <a:latin typeface="Times New Roman" pitchFamily="18" charset="0"/>
              </a:rPr>
              <a:t>*ptr=100; // 100 is the value of *ptr</a:t>
            </a:r>
          </a:p>
          <a:p>
            <a:r>
              <a:rPr lang="en-US" sz="2000" b="1">
                <a:latin typeface="Times New Roman" pitchFamily="18" charset="0"/>
              </a:rPr>
              <a:t>printf("\n%u\n",&amp;ptr);  //address of ptr</a:t>
            </a:r>
          </a:p>
          <a:p>
            <a:r>
              <a:rPr lang="en-US" sz="2000" b="1">
                <a:latin typeface="Times New Roman" pitchFamily="18" charset="0"/>
              </a:rPr>
              <a:t>printf("\n%d\n",*ptr);</a:t>
            </a:r>
          </a:p>
          <a:p>
            <a:r>
              <a:rPr lang="en-US" sz="2000" b="1">
                <a:latin typeface="Times New Roman" pitchFamily="18" charset="0"/>
              </a:rPr>
              <a:t>free(ptr);</a:t>
            </a:r>
          </a:p>
          <a:p>
            <a:r>
              <a:rPr lang="en-US" sz="2000" b="1">
                <a:latin typeface="Times New Roman" pitchFamily="18" charset="0"/>
              </a:rPr>
              <a:t>getch();</a:t>
            </a:r>
          </a:p>
          <a:p>
            <a:r>
              <a:rPr lang="en-US" sz="2000" b="1">
                <a:latin typeface="Times New Roman" pitchFamily="18" charset="0"/>
              </a:rPr>
              <a:t>}</a:t>
            </a:r>
          </a:p>
          <a:p>
            <a:endParaRPr lang="en-US" sz="2000" b="1">
              <a:latin typeface="Times New Roman" pitchFamily="18" charset="0"/>
            </a:endParaRPr>
          </a:p>
          <a:p>
            <a:r>
              <a:rPr lang="en-US" sz="2000" b="1">
                <a:solidFill>
                  <a:srgbClr val="800000"/>
                </a:solidFill>
              </a:rPr>
              <a:t>/* note : *ptr=100 means 100 is a value */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WordArt 2"/>
          <p:cNvSpPr>
            <a:spLocks noChangeArrowheads="1" noChangeShapeType="1" noTextEdit="1"/>
          </p:cNvSpPr>
          <p:nvPr/>
        </p:nvSpPr>
        <p:spPr bwMode="auto">
          <a:xfrm>
            <a:off x="2286000" y="0"/>
            <a:ext cx="4371975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calloc() Function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457200" y="533400"/>
            <a:ext cx="7772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000" b="1"/>
              <a:t>             calloc() used to allocate multiple blocks of continuous  memory in bytes. All the blocks are of same size.</a:t>
            </a:r>
          </a:p>
        </p:txBody>
      </p:sp>
      <p:sp>
        <p:nvSpPr>
          <p:cNvPr id="8196" name="WordArt 4"/>
          <p:cNvSpPr>
            <a:spLocks noChangeArrowheads="1" noChangeShapeType="1" noTextEdit="1"/>
          </p:cNvSpPr>
          <p:nvPr/>
        </p:nvSpPr>
        <p:spPr bwMode="auto">
          <a:xfrm>
            <a:off x="304800" y="1219200"/>
            <a:ext cx="2028825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Syntax :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838200" y="1676400"/>
            <a:ext cx="73152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Ptr_name= (cast type *) calloc(No.of blocks,int size);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152400" y="2209800"/>
            <a:ext cx="8534400" cy="154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u="sng"/>
              <a:t>Example 1:</a:t>
            </a:r>
          </a:p>
          <a:p>
            <a:pPr>
              <a:spcBef>
                <a:spcPct val="50000"/>
              </a:spcBef>
            </a:pPr>
            <a:r>
              <a:rPr lang="en-US" sz="2000" b="1"/>
              <a:t>	  ptr=(int*)calloc(5,10);</a:t>
            </a:r>
          </a:p>
          <a:p>
            <a:pPr algn="just">
              <a:spcBef>
                <a:spcPct val="50000"/>
              </a:spcBef>
            </a:pPr>
            <a:r>
              <a:rPr lang="en-US" b="1"/>
              <a:t>               </a:t>
            </a:r>
            <a:r>
              <a:rPr lang="en-US" b="1">
                <a:latin typeface="Times New Roman" pitchFamily="18" charset="0"/>
              </a:rPr>
              <a:t>On execution of this function 5 memory blocks of size 10 bytes are allocated and the starting address of the first byte is assigned to the pointer ptr of type int.</a:t>
            </a:r>
          </a:p>
        </p:txBody>
      </p:sp>
      <p:graphicFrame>
        <p:nvGraphicFramePr>
          <p:cNvPr id="13345" name="Group 33"/>
          <p:cNvGraphicFramePr>
            <a:graphicFrameLocks noGrp="1"/>
          </p:cNvGraphicFramePr>
          <p:nvPr/>
        </p:nvGraphicFramePr>
        <p:xfrm>
          <a:off x="0" y="4419600"/>
          <a:ext cx="9144000" cy="2438400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</a:tblGrid>
              <a:tr h="4226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Malloc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Calloc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186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This function has one argument which tells no of bytes to be allocated.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This function has two argument which tells no of blocks to be allocated and size of each block.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70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 default, it fill up garbage value to allocated memory when we do not initialize values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By default, it fill up Zero (0) to allocated memory when 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we do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not initialize values.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213" name="Text Box 34"/>
          <p:cNvSpPr txBox="1">
            <a:spLocks noChangeArrowheads="1"/>
          </p:cNvSpPr>
          <p:nvPr/>
        </p:nvSpPr>
        <p:spPr bwMode="auto">
          <a:xfrm>
            <a:off x="609600" y="3886200"/>
            <a:ext cx="7772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u="sng"/>
              <a:t>Difference between malloc and calloc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0" y="457200"/>
            <a:ext cx="9144000" cy="6400800"/>
          </a:xfrm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228600" y="533400"/>
            <a:ext cx="8077200" cy="464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200" b="1">
                <a:latin typeface="Times New Roman" pitchFamily="18" charset="0"/>
              </a:rPr>
              <a:t>/* Calloc() Function  example */</a:t>
            </a:r>
          </a:p>
          <a:p>
            <a:r>
              <a:rPr lang="en-US" sz="2400" b="1">
                <a:latin typeface="Times New Roman" pitchFamily="18" charset="0"/>
              </a:rPr>
              <a:t>#include&lt;stdio.h&gt;</a:t>
            </a:r>
          </a:p>
          <a:p>
            <a:r>
              <a:rPr lang="en-US" sz="2400" b="1">
                <a:latin typeface="Times New Roman" pitchFamily="18" charset="0"/>
              </a:rPr>
              <a:t>#include&lt;string.h&gt;</a:t>
            </a:r>
          </a:p>
          <a:p>
            <a:r>
              <a:rPr lang="en-US" sz="2400" b="1">
                <a:latin typeface="Times New Roman" pitchFamily="18" charset="0"/>
              </a:rPr>
              <a:t>#include&lt;alloc.h&gt;</a:t>
            </a:r>
          </a:p>
          <a:p>
            <a:r>
              <a:rPr lang="en-US" sz="2400" b="1">
                <a:latin typeface="Times New Roman" pitchFamily="18" charset="0"/>
              </a:rPr>
              <a:t>void main()</a:t>
            </a:r>
          </a:p>
          <a:p>
            <a:r>
              <a:rPr lang="en-US" sz="2400" b="1">
                <a:latin typeface="Times New Roman" pitchFamily="18" charset="0"/>
              </a:rPr>
              <a:t>{</a:t>
            </a:r>
          </a:p>
          <a:p>
            <a:r>
              <a:rPr lang="en-US" sz="2400" b="1">
                <a:latin typeface="Times New Roman" pitchFamily="18" charset="0"/>
              </a:rPr>
              <a:t>char *str=NULL;</a:t>
            </a:r>
          </a:p>
          <a:p>
            <a:r>
              <a:rPr lang="en-US" sz="2400" b="1">
                <a:latin typeface="Times New Roman" pitchFamily="18" charset="0"/>
              </a:rPr>
              <a:t>Str=(char *)calloc(20,sizeof(char));</a:t>
            </a:r>
          </a:p>
          <a:p>
            <a:r>
              <a:rPr lang="en-US" sz="2400" b="1">
                <a:latin typeface="Times New Roman" pitchFamily="18" charset="0"/>
              </a:rPr>
              <a:t>strcpy(str,“Hello world");</a:t>
            </a:r>
          </a:p>
          <a:p>
            <a:r>
              <a:rPr lang="en-US" sz="2400" b="1">
                <a:latin typeface="Times New Roman" pitchFamily="18" charset="0"/>
              </a:rPr>
              <a:t>printf("String is %s\n",str);</a:t>
            </a:r>
          </a:p>
          <a:p>
            <a:r>
              <a:rPr lang="en-US" sz="2400" b="1">
                <a:latin typeface="Times New Roman" pitchFamily="18" charset="0"/>
              </a:rPr>
              <a:t>free(str);</a:t>
            </a:r>
          </a:p>
          <a:p>
            <a:r>
              <a:rPr lang="en-US" sz="2400" b="1">
                <a:latin typeface="Times New Roman" pitchFamily="18" charset="0"/>
              </a:rPr>
              <a:t>}</a:t>
            </a:r>
          </a:p>
        </p:txBody>
      </p:sp>
      <p:sp>
        <p:nvSpPr>
          <p:cNvPr id="9220" name="WordArt 3"/>
          <p:cNvSpPr>
            <a:spLocks noChangeArrowheads="1" noChangeShapeType="1" noTextEdit="1"/>
          </p:cNvSpPr>
          <p:nvPr/>
        </p:nvSpPr>
        <p:spPr bwMode="auto">
          <a:xfrm>
            <a:off x="914400" y="5791200"/>
            <a:ext cx="1676400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1"/>
                </a:solidFill>
                <a:latin typeface="Arial Black"/>
              </a:rPr>
              <a:t>Output</a:t>
            </a:r>
          </a:p>
        </p:txBody>
      </p:sp>
      <p:sp>
        <p:nvSpPr>
          <p:cNvPr id="9221" name="Text Box 4"/>
          <p:cNvSpPr txBox="1">
            <a:spLocks noChangeArrowheads="1"/>
          </p:cNvSpPr>
          <p:nvPr/>
        </p:nvSpPr>
        <p:spPr bwMode="auto">
          <a:xfrm>
            <a:off x="2819400" y="5791200"/>
            <a:ext cx="358140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>
                <a:solidFill>
                  <a:srgbClr val="990033"/>
                </a:solidFill>
              </a:rPr>
              <a:t>String is Hello world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nimBg="1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WordArt 2"/>
          <p:cNvSpPr>
            <a:spLocks noChangeArrowheads="1" noChangeShapeType="1" noTextEdit="1"/>
          </p:cNvSpPr>
          <p:nvPr/>
        </p:nvSpPr>
        <p:spPr bwMode="auto">
          <a:xfrm>
            <a:off x="1981200" y="304800"/>
            <a:ext cx="4371975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realloc() Function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685800" y="1371600"/>
            <a:ext cx="77724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000" b="1"/>
              <a:t>            This function used to increase or decrease the size of  memory already allocated by using malloc() or calloc() function</a:t>
            </a:r>
          </a:p>
        </p:txBody>
      </p:sp>
      <p:sp>
        <p:nvSpPr>
          <p:cNvPr id="10244" name="WordArt 4"/>
          <p:cNvSpPr>
            <a:spLocks noChangeArrowheads="1" noChangeShapeType="1" noTextEdit="1"/>
          </p:cNvSpPr>
          <p:nvPr/>
        </p:nvSpPr>
        <p:spPr bwMode="auto">
          <a:xfrm>
            <a:off x="609600" y="2438400"/>
            <a:ext cx="2028825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Syntax :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838200" y="3124200"/>
            <a:ext cx="73152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newPtr_name= (*cast type) realloc(old_ptr,int newsize);</a:t>
            </a: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838200" y="3962400"/>
            <a:ext cx="72390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u="sng"/>
              <a:t>Example 1:</a:t>
            </a:r>
          </a:p>
          <a:p>
            <a:pPr>
              <a:spcBef>
                <a:spcPct val="50000"/>
              </a:spcBef>
            </a:pPr>
            <a:r>
              <a:rPr lang="en-US" sz="2000" b="1" i="1"/>
              <a:t>	y=(int*)malloc(10)</a:t>
            </a:r>
          </a:p>
          <a:p>
            <a:pPr>
              <a:spcBef>
                <a:spcPct val="50000"/>
              </a:spcBef>
            </a:pPr>
            <a:r>
              <a:rPr lang="en-US" sz="2000" b="1"/>
              <a:t>	y=(int*)realloc(y,20);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76200" y="93663"/>
            <a:ext cx="8915400" cy="5842000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tabLst>
                <a:tab pos="457200" algn="l"/>
              </a:tabLst>
            </a:pPr>
            <a:r>
              <a:rPr lang="en-US" sz="3200" b="1" u="sng">
                <a:latin typeface="Times New Roman" pitchFamily="18" charset="0"/>
              </a:rPr>
              <a:t>Session Summary</a:t>
            </a:r>
          </a:p>
          <a:p>
            <a:pPr>
              <a:tabLst>
                <a:tab pos="457200" algn="l"/>
              </a:tabLst>
            </a:pPr>
            <a:endParaRPr lang="en-US" sz="3200" b="1">
              <a:latin typeface="Times New Roman" pitchFamily="18" charset="0"/>
            </a:endParaRP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Like all variables a pointer must be declared before they are used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The indirection (or) the deferencing operator is used to access the value of an address in a pointer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The three values that can be used to initialize a pointer are zero, null  and address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A pointer that has not been initialized is referred to as the </a:t>
            </a:r>
            <a:r>
              <a:rPr lang="en-US" sz="1600" b="1" i="1" u="sng"/>
              <a:t>dangling pointer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Arrays are automatically passed by reference since the value of the array name is the address of the array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Call by reference  is the process of calling a function using pointers to  pass the address as argument must include a pointer as its parameter.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nimBg="1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152400" y="1235075"/>
            <a:ext cx="8686800" cy="3908425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 algn="ctr">
              <a:tabLst>
                <a:tab pos="457200" algn="l"/>
              </a:tabLst>
            </a:pPr>
            <a:r>
              <a:rPr lang="en-US" sz="2800" b="1" u="sng">
                <a:latin typeface="Times New Roman" pitchFamily="18" charset="0"/>
              </a:rPr>
              <a:t>EXERCISES</a:t>
            </a:r>
          </a:p>
          <a:p>
            <a:pPr marL="342900" indent="-342900">
              <a:tabLst>
                <a:tab pos="457200" algn="l"/>
              </a:tabLst>
            </a:pPr>
            <a:endParaRPr lang="en-US" sz="2800" b="1">
              <a:latin typeface="Times New Roman" pitchFamily="18" charset="0"/>
            </a:endParaRPr>
          </a:p>
          <a:p>
            <a:pPr marL="342900" indent="-342900" algn="just">
              <a:lnSpc>
                <a:spcPct val="130000"/>
              </a:lnSpc>
              <a:spcAft>
                <a:spcPct val="60000"/>
              </a:spcAft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find the largest number in an array using pointers</a:t>
            </a:r>
          </a:p>
          <a:p>
            <a:pPr marL="342900" indent="-342900" algn="just">
              <a:lnSpc>
                <a:spcPct val="130000"/>
              </a:lnSpc>
              <a:spcAft>
                <a:spcPct val="60000"/>
              </a:spcAft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sort  the strings in alphabetical  order using pointers</a:t>
            </a:r>
          </a:p>
          <a:p>
            <a:pPr marL="342900" indent="-342900" algn="just">
              <a:lnSpc>
                <a:spcPct val="130000"/>
              </a:lnSpc>
              <a:spcAft>
                <a:spcPct val="60000"/>
              </a:spcAft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copy one string to another using pointers</a:t>
            </a:r>
          </a:p>
          <a:p>
            <a:pPr marL="342900" indent="-342900" algn="just">
              <a:lnSpc>
                <a:spcPct val="130000"/>
              </a:lnSpc>
              <a:spcAft>
                <a:spcPct val="60000"/>
              </a:spcAft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reverse an array using pointers?</a:t>
            </a:r>
          </a:p>
          <a:p>
            <a:pPr marL="342900" indent="-342900" algn="just">
              <a:lnSpc>
                <a:spcPct val="130000"/>
              </a:lnSpc>
              <a:spcAft>
                <a:spcPct val="60000"/>
              </a:spcAft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count the number of vowels in an array of characters using pointers?</a:t>
            </a:r>
          </a:p>
          <a:p>
            <a:pPr marL="342900" indent="-342900" algn="just">
              <a:lnSpc>
                <a:spcPct val="130000"/>
              </a:lnSpc>
              <a:spcAft>
                <a:spcPct val="60000"/>
              </a:spcAft>
              <a:buFont typeface="Wingdings" pitchFamily="2" charset="2"/>
              <a:buAutoNum type="arabicPeriod"/>
              <a:tabLst>
                <a:tab pos="457200" algn="l"/>
              </a:tabLst>
            </a:pPr>
            <a:r>
              <a:rPr lang="en-US" sz="1600" b="1"/>
              <a:t> Write a program to search an element in an array of “N” elements using pointers?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nimBg="1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2"/>
          <p:cNvSpPr>
            <a:spLocks noGrp="1"/>
          </p:cNvSpPr>
          <p:nvPr>
            <p:ph type="ftr" sz="quarter" idx="11"/>
          </p:nvPr>
        </p:nvSpPr>
        <p:spPr>
          <a:xfrm flipH="1">
            <a:off x="0" y="0"/>
            <a:ext cx="9144000" cy="6858000"/>
          </a:xfrm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838200" y="381000"/>
            <a:ext cx="7620000" cy="52625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>
                <a:latin typeface="Times New Roman" pitchFamily="18" charset="0"/>
              </a:rPr>
              <a:t>//REALLOC()  FUNCTION  EXAMPLE</a:t>
            </a:r>
          </a:p>
          <a:p>
            <a:r>
              <a:rPr lang="en-US" sz="2200" b="1">
                <a:latin typeface="Times New Roman" pitchFamily="18" charset="0"/>
              </a:rPr>
              <a:t>#include&lt;stdio.h&gt;</a:t>
            </a:r>
          </a:p>
          <a:p>
            <a:r>
              <a:rPr lang="en-US" sz="2200" b="1">
                <a:latin typeface="Times New Roman" pitchFamily="18" charset="0"/>
              </a:rPr>
              <a:t>#include&lt;string.h&gt;</a:t>
            </a:r>
          </a:p>
          <a:p>
            <a:r>
              <a:rPr lang="en-US" sz="2200" b="1">
                <a:latin typeface="Times New Roman" pitchFamily="18" charset="0"/>
              </a:rPr>
              <a:t>#include&lt;alloc.h&gt;</a:t>
            </a:r>
          </a:p>
          <a:p>
            <a:r>
              <a:rPr lang="en-US" sz="2200" b="1">
                <a:latin typeface="Times New Roman" pitchFamily="18" charset="0"/>
              </a:rPr>
              <a:t>void main()</a:t>
            </a:r>
          </a:p>
          <a:p>
            <a:r>
              <a:rPr lang="en-US" sz="2200" b="1">
                <a:latin typeface="Times New Roman" pitchFamily="18" charset="0"/>
              </a:rPr>
              <a:t>{</a:t>
            </a:r>
          </a:p>
          <a:p>
            <a:r>
              <a:rPr lang="en-US" sz="2200" b="1">
                <a:latin typeface="Times New Roman" pitchFamily="18" charset="0"/>
              </a:rPr>
              <a:t>char *str;</a:t>
            </a:r>
          </a:p>
          <a:p>
            <a:r>
              <a:rPr lang="en-US" sz="2200" b="1">
                <a:latin typeface="Times New Roman" pitchFamily="18" charset="0"/>
              </a:rPr>
              <a:t>str=(char *)malloc(5);</a:t>
            </a:r>
          </a:p>
          <a:p>
            <a:r>
              <a:rPr lang="en-US" sz="2200" b="1">
                <a:latin typeface="Times New Roman" pitchFamily="18" charset="0"/>
              </a:rPr>
              <a:t>strcpy(str,"Kalai");</a:t>
            </a:r>
          </a:p>
          <a:p>
            <a:r>
              <a:rPr lang="en-US" sz="2200" b="1">
                <a:latin typeface="Times New Roman" pitchFamily="18" charset="0"/>
              </a:rPr>
              <a:t>printf("String is %s\n Address is %u\n",str,str);</a:t>
            </a:r>
          </a:p>
          <a:p>
            <a:r>
              <a:rPr lang="en-US" sz="2200" b="1">
                <a:latin typeface="Times New Roman" pitchFamily="18" charset="0"/>
              </a:rPr>
              <a:t>str=(char *)realloc(str,10);</a:t>
            </a:r>
          </a:p>
          <a:p>
            <a:r>
              <a:rPr lang="en-US" sz="2200" b="1">
                <a:latin typeface="Times New Roman" pitchFamily="18" charset="0"/>
              </a:rPr>
              <a:t>strcpy(str,"Sangeetha");</a:t>
            </a:r>
          </a:p>
          <a:p>
            <a:r>
              <a:rPr lang="en-US" sz="2200" b="1">
                <a:latin typeface="Times New Roman" pitchFamily="18" charset="0"/>
              </a:rPr>
              <a:t>printf("String is %s\n New Address is %u\n",str,str);</a:t>
            </a:r>
          </a:p>
          <a:p>
            <a:r>
              <a:rPr lang="en-US" sz="2200" b="1">
                <a:latin typeface="Times New Roman" pitchFamily="18" charset="0"/>
              </a:rPr>
              <a:t>free(str);</a:t>
            </a:r>
          </a:p>
          <a:p>
            <a:r>
              <a:rPr lang="en-US" sz="2200" b="1">
                <a:latin typeface="Times New Roman" pitchFamily="18" charset="0"/>
              </a:rPr>
              <a:t>}</a:t>
            </a:r>
          </a:p>
        </p:txBody>
      </p:sp>
      <p:sp>
        <p:nvSpPr>
          <p:cNvPr id="13316" name="WordArt 3"/>
          <p:cNvSpPr>
            <a:spLocks noChangeArrowheads="1" noChangeShapeType="1" noTextEdit="1"/>
          </p:cNvSpPr>
          <p:nvPr/>
        </p:nvSpPr>
        <p:spPr bwMode="auto">
          <a:xfrm>
            <a:off x="533400" y="5638800"/>
            <a:ext cx="2819400" cy="1219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1"/>
                </a:solidFill>
                <a:latin typeface="Arial Black"/>
              </a:rPr>
              <a:t>Output:</a:t>
            </a:r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3048000" y="5867400"/>
            <a:ext cx="4876800" cy="7794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solidFill>
                  <a:srgbClr val="990033"/>
                </a:solidFill>
              </a:rPr>
              <a:t>String is Kalai address is 65524</a:t>
            </a:r>
          </a:p>
          <a:p>
            <a:pPr algn="ctr">
              <a:spcBef>
                <a:spcPct val="50000"/>
              </a:spcBef>
            </a:pPr>
            <a:r>
              <a:rPr lang="en-US" b="1">
                <a:solidFill>
                  <a:srgbClr val="990033"/>
                </a:solidFill>
              </a:rPr>
              <a:t>String is Sangeetha address is 65524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WordArt 2"/>
          <p:cNvSpPr>
            <a:spLocks noChangeArrowheads="1" noChangeShapeType="1" noTextEdit="1"/>
          </p:cNvSpPr>
          <p:nvPr/>
        </p:nvSpPr>
        <p:spPr bwMode="auto">
          <a:xfrm>
            <a:off x="3276600" y="914400"/>
            <a:ext cx="28956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A50021"/>
                </a:solidFill>
                <a:latin typeface="Arial Black"/>
              </a:rPr>
              <a:t>CHAPTER 11</a:t>
            </a:r>
          </a:p>
        </p:txBody>
      </p:sp>
      <p:sp>
        <p:nvSpPr>
          <p:cNvPr id="4099" name="WordArt 3"/>
          <p:cNvSpPr>
            <a:spLocks noChangeArrowheads="1" noChangeShapeType="1" noTextEdit="1"/>
          </p:cNvSpPr>
          <p:nvPr/>
        </p:nvSpPr>
        <p:spPr bwMode="auto">
          <a:xfrm>
            <a:off x="2781300" y="3108325"/>
            <a:ext cx="4762500" cy="1311275"/>
          </a:xfrm>
          <a:prstGeom prst="rect">
            <a:avLst/>
          </a:prstGeom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FF"/>
                </a:solidFill>
                <a:latin typeface="Arial Black"/>
              </a:rPr>
              <a:t>FILES</a:t>
            </a:r>
          </a:p>
        </p:txBody>
      </p:sp>
    </p:spTree>
  </p:cSld>
  <p:clrMapOvr>
    <a:masterClrMapping/>
  </p:clrMapOvr>
  <p:transition spd="med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409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nimBg="1"/>
      <p:bldP spid="4098" grpId="1" animBg="1"/>
      <p:bldP spid="4099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900238" y="481013"/>
            <a:ext cx="4576762" cy="762000"/>
          </a:xfrm>
          <a:prstGeom prst="rect">
            <a:avLst/>
          </a:prstGeom>
          <a:solidFill>
            <a:srgbClr val="660033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Session Objectives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143000" y="1676400"/>
            <a:ext cx="2168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Explain  files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143000" y="2362200"/>
            <a:ext cx="464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Discuss text File and binary File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143000" y="3124200"/>
            <a:ext cx="5310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Use basic file Operations &amp; functions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1066800" y="3886200"/>
            <a:ext cx="299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Explain file pointer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1066800" y="4572000"/>
            <a:ext cx="7661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3"/>
              </a:buBlip>
            </a:pPr>
            <a: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 Explain Formatted/Unformatted I/O Statements in File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animBg="1"/>
      <p:bldP spid="5123" grpId="0"/>
      <p:bldP spid="5124" grpId="0"/>
      <p:bldP spid="5125" grpId="0"/>
      <p:bldP spid="5126" grpId="0"/>
      <p:bldP spid="5128" grpId="0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32654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342900" indent="-342900"/>
            <a:r>
              <a:rPr lang="en-US" sz="2400" b="1" i="1" u="sng"/>
              <a:t>File :</a:t>
            </a:r>
          </a:p>
          <a:p>
            <a:pPr marL="342900" indent="-342900" algn="just">
              <a:lnSpc>
                <a:spcPct val="115000"/>
              </a:lnSpc>
              <a:spcAft>
                <a:spcPct val="20000"/>
              </a:spcAft>
            </a:pPr>
            <a:r>
              <a:rPr lang="en-US" sz="2000"/>
              <a:t>          </a:t>
            </a:r>
            <a:r>
              <a:rPr lang="en-US" sz="2000" b="1">
                <a:latin typeface="Times New Roman" pitchFamily="18" charset="0"/>
              </a:rPr>
              <a:t>A file is a place on the disk where a group of related data is stored simply defined as “Collection of related information”</a:t>
            </a:r>
          </a:p>
          <a:p>
            <a:pPr marL="342900" indent="-342900" algn="just">
              <a:lnSpc>
                <a:spcPct val="115000"/>
              </a:lnSpc>
              <a:spcAft>
                <a:spcPct val="20000"/>
              </a:spcAft>
            </a:pPr>
            <a:endParaRPr lang="en-US" sz="2000" b="1">
              <a:latin typeface="Times New Roman" pitchFamily="18" charset="0"/>
            </a:endParaRPr>
          </a:p>
          <a:p>
            <a:pPr marL="342900" indent="-342900" algn="just"/>
            <a:r>
              <a:rPr lang="en-US" sz="2400" b="1" i="1" u="sng">
                <a:solidFill>
                  <a:srgbClr val="D60093"/>
                </a:solidFill>
              </a:rPr>
              <a:t>Types of Files:</a:t>
            </a:r>
          </a:p>
          <a:p>
            <a:pPr marL="342900" indent="-342900"/>
            <a:r>
              <a:rPr lang="en-US" sz="2000"/>
              <a:t>		</a:t>
            </a:r>
            <a:r>
              <a:rPr lang="en-US" sz="2000" b="1">
                <a:latin typeface="Times New Roman" pitchFamily="18" charset="0"/>
              </a:rPr>
              <a:t>1. Text File (or) Sequential File</a:t>
            </a:r>
          </a:p>
          <a:p>
            <a:pPr marL="342900" indent="-342900"/>
            <a:r>
              <a:rPr lang="en-US" sz="2000" b="1">
                <a:latin typeface="Times New Roman" pitchFamily="18" charset="0"/>
              </a:rPr>
              <a:t>             2. Binary File (or) Random File</a:t>
            </a:r>
          </a:p>
          <a:p>
            <a:pPr marL="342900" indent="-342900"/>
            <a:endParaRPr lang="en-US" sz="2000" b="1">
              <a:latin typeface="Times New Roman" pitchFamily="18" charset="0"/>
            </a:endParaRPr>
          </a:p>
          <a:p>
            <a:pPr marL="342900" indent="-342900"/>
            <a:endParaRPr lang="en-US" sz="2000" b="1">
              <a:latin typeface="Times New Roman" pitchFamily="18" charset="0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0" y="3276600"/>
            <a:ext cx="9144000" cy="1631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u="sng">
                <a:solidFill>
                  <a:srgbClr val="D60093"/>
                </a:solidFill>
              </a:rPr>
              <a:t>Text File :</a:t>
            </a:r>
          </a:p>
          <a:p>
            <a:pPr algn="just">
              <a:spcBef>
                <a:spcPct val="50000"/>
              </a:spcBef>
            </a:pPr>
            <a:r>
              <a:rPr lang="en-US" sz="2000" b="1"/>
              <a:t>      </a:t>
            </a:r>
            <a:r>
              <a:rPr lang="en-US" sz="2000" b="1">
                <a:latin typeface="Times New Roman" pitchFamily="18" charset="0"/>
              </a:rPr>
              <a:t>It is a Sequence of characters. It can be organized into lines terminated by a newline character.</a:t>
            </a:r>
          </a:p>
          <a:p>
            <a:pPr algn="just">
              <a:spcBef>
                <a:spcPct val="50000"/>
              </a:spcBef>
            </a:pPr>
            <a:endParaRPr lang="en-US" sz="2000" b="1">
              <a:latin typeface="Times New Roman" pitchFamily="18" charset="0"/>
            </a:endParaRP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0" y="4919663"/>
            <a:ext cx="9144000" cy="1938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i="1" u="sng">
                <a:solidFill>
                  <a:srgbClr val="D60093"/>
                </a:solidFill>
              </a:rPr>
              <a:t>Binary File :</a:t>
            </a:r>
          </a:p>
          <a:p>
            <a:pPr algn="just">
              <a:spcBef>
                <a:spcPct val="50000"/>
              </a:spcBef>
            </a:pPr>
            <a:r>
              <a:rPr lang="en-US" sz="2000" b="1"/>
              <a:t>      	</a:t>
            </a:r>
            <a:r>
              <a:rPr lang="en-US" sz="2000" b="1">
                <a:latin typeface="Times New Roman" pitchFamily="18" charset="0"/>
              </a:rPr>
              <a:t>It is a Sequence of Bytes with one-to-one correspondence to those in the external device.</a:t>
            </a:r>
          </a:p>
          <a:p>
            <a:pPr algn="just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	It do not have any flags to indicate the end of the file. It can be determined by the size of the file.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1524000" y="1554163"/>
            <a:ext cx="6781800" cy="3675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40000"/>
              </a:lnSpc>
              <a:tabLst>
                <a:tab pos="228600" algn="l"/>
              </a:tabLst>
            </a:pPr>
            <a:r>
              <a:rPr lang="en-US" sz="3200" b="1" u="sng">
                <a:solidFill>
                  <a:srgbClr val="FF3300"/>
                </a:solidFill>
                <a:latin typeface="Bookman Old Style" pitchFamily="18" charset="0"/>
              </a:rPr>
              <a:t>Basic file operations</a:t>
            </a:r>
          </a:p>
          <a:p>
            <a:pPr>
              <a:lnSpc>
                <a:spcPct val="140000"/>
              </a:lnSpc>
              <a:buFont typeface="Wingdings" pitchFamily="2" charset="2"/>
              <a:buChar char="v"/>
              <a:tabLst>
                <a:tab pos="228600" algn="l"/>
              </a:tabLst>
            </a:pPr>
            <a:r>
              <a:rPr lang="en-US" sz="2800" b="1">
                <a:solidFill>
                  <a:srgbClr val="FF3300"/>
                </a:solidFill>
                <a:latin typeface="Bookman Old Style" pitchFamily="18" charset="0"/>
              </a:rPr>
              <a:t>  Naming a file</a:t>
            </a:r>
          </a:p>
          <a:p>
            <a:pPr>
              <a:lnSpc>
                <a:spcPct val="140000"/>
              </a:lnSpc>
              <a:buFont typeface="Wingdings" pitchFamily="2" charset="2"/>
              <a:buChar char="v"/>
              <a:tabLst>
                <a:tab pos="228600" algn="l"/>
              </a:tabLst>
            </a:pPr>
            <a:r>
              <a:rPr lang="en-US" sz="2800" b="1">
                <a:solidFill>
                  <a:srgbClr val="FF3300"/>
                </a:solidFill>
                <a:latin typeface="Bookman Old Style" pitchFamily="18" charset="0"/>
              </a:rPr>
              <a:t>  Opening a file</a:t>
            </a:r>
          </a:p>
          <a:p>
            <a:pPr>
              <a:lnSpc>
                <a:spcPct val="140000"/>
              </a:lnSpc>
              <a:buFont typeface="Wingdings" pitchFamily="2" charset="2"/>
              <a:buChar char="v"/>
              <a:tabLst>
                <a:tab pos="228600" algn="l"/>
              </a:tabLst>
            </a:pPr>
            <a:r>
              <a:rPr lang="en-US" sz="2800" b="1">
                <a:solidFill>
                  <a:srgbClr val="FF3300"/>
                </a:solidFill>
                <a:latin typeface="Bookman Old Style" pitchFamily="18" charset="0"/>
              </a:rPr>
              <a:t>  Reading data from a file</a:t>
            </a:r>
          </a:p>
          <a:p>
            <a:pPr>
              <a:lnSpc>
                <a:spcPct val="140000"/>
              </a:lnSpc>
              <a:buFont typeface="Wingdings" pitchFamily="2" charset="2"/>
              <a:buChar char="v"/>
              <a:tabLst>
                <a:tab pos="228600" algn="l"/>
              </a:tabLst>
            </a:pPr>
            <a:r>
              <a:rPr lang="en-US" sz="2800" b="1">
                <a:solidFill>
                  <a:srgbClr val="FF3300"/>
                </a:solidFill>
                <a:latin typeface="Bookman Old Style" pitchFamily="18" charset="0"/>
              </a:rPr>
              <a:t>  Writing data to a file </a:t>
            </a:r>
          </a:p>
          <a:p>
            <a:pPr>
              <a:lnSpc>
                <a:spcPct val="140000"/>
              </a:lnSpc>
              <a:buFont typeface="Wingdings" pitchFamily="2" charset="2"/>
              <a:buChar char="v"/>
              <a:tabLst>
                <a:tab pos="228600" algn="l"/>
              </a:tabLst>
            </a:pPr>
            <a:r>
              <a:rPr lang="en-US" sz="2800" b="1">
                <a:solidFill>
                  <a:srgbClr val="FF3300"/>
                </a:solidFill>
                <a:latin typeface="Bookman Old Style" pitchFamily="18" charset="0"/>
              </a:rPr>
              <a:t>  Closing a file</a:t>
            </a:r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152400" y="1371600"/>
            <a:ext cx="8610600" cy="4648200"/>
          </a:xfrm>
          <a:prstGeom prst="hexagon">
            <a:avLst>
              <a:gd name="adj" fmla="val 46311"/>
              <a:gd name="vf" fmla="val 11547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Group 2"/>
          <p:cNvGraphicFramePr>
            <a:graphicFrameLocks noGrp="1"/>
          </p:cNvGraphicFramePr>
          <p:nvPr/>
        </p:nvGraphicFramePr>
        <p:xfrm>
          <a:off x="1219200" y="1447800"/>
          <a:ext cx="7086600" cy="4998720"/>
        </p:xfrm>
        <a:graphic>
          <a:graphicData uri="http://schemas.openxmlformats.org/drawingml/2006/table">
            <a:tbl>
              <a:tblPr/>
              <a:tblGrid>
                <a:gridCol w="1968500"/>
                <a:gridCol w="5118100"/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Function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Operation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fopen()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Creates a new file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Opens an existing file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fclose()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Closes a file which has been opened  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fgetc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() 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Reads a character from a file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fputc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()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Writes a character to a file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fprintf()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Writes a set of data values to a file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fscanf()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Reads a set of data values from a file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fgets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() 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Reads a string from a file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fputs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() 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Writes a string to a file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fseek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()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Sets the position to a desired point in the file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ftell()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Gives the current position in the file(bytes)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rewind()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Set the position to the 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begining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of the file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87" name="Rectangle 43"/>
          <p:cNvSpPr>
            <a:spLocks noChangeArrowheads="1"/>
          </p:cNvSpPr>
          <p:nvPr/>
        </p:nvSpPr>
        <p:spPr bwMode="auto">
          <a:xfrm>
            <a:off x="0" y="57578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60" name="WordArt 44" descr="Walnut"/>
          <p:cNvSpPr>
            <a:spLocks noChangeArrowheads="1" noChangeShapeType="1" noTextEdit="1"/>
          </p:cNvSpPr>
          <p:nvPr/>
        </p:nvSpPr>
        <p:spPr bwMode="auto">
          <a:xfrm>
            <a:off x="2133600" y="152400"/>
            <a:ext cx="5295900" cy="685800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IN" sz="3600" b="1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blipFill dpi="0" rotWithShape="1">
                  <a:blip r:embed="rId2"/>
                  <a:srcRect/>
                  <a:tile tx="0" ty="0" sx="100000" sy="100000" flip="none" algn="tl"/>
                </a:blip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Basic File 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60" grpId="0" animBg="1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5589588"/>
            <a:chOff x="0" y="96"/>
            <a:chExt cx="5760" cy="3778"/>
          </a:xfrm>
        </p:grpSpPr>
        <p:sp>
          <p:nvSpPr>
            <p:cNvPr id="7172" name="WordArt 3"/>
            <p:cNvSpPr>
              <a:spLocks noChangeArrowheads="1" noChangeShapeType="1" noTextEdit="1"/>
            </p:cNvSpPr>
            <p:nvPr/>
          </p:nvSpPr>
          <p:spPr bwMode="auto">
            <a:xfrm>
              <a:off x="84" y="96"/>
              <a:ext cx="1404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b="1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0099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File Pointer</a:t>
              </a:r>
            </a:p>
          </p:txBody>
        </p:sp>
        <p:sp>
          <p:nvSpPr>
            <p:cNvPr id="7173" name="Text Box 4"/>
            <p:cNvSpPr txBox="1">
              <a:spLocks noChangeArrowheads="1"/>
            </p:cNvSpPr>
            <p:nvPr/>
          </p:nvSpPr>
          <p:spPr bwMode="auto">
            <a:xfrm>
              <a:off x="0" y="528"/>
              <a:ext cx="5760" cy="5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sz="2400" b="1"/>
                <a:t>	It is a pointer to a structure which contains the information about the file</a:t>
              </a:r>
            </a:p>
          </p:txBody>
        </p:sp>
        <p:sp>
          <p:nvSpPr>
            <p:cNvPr id="7174" name="WordArt 5"/>
            <p:cNvSpPr>
              <a:spLocks noChangeArrowheads="1" noChangeShapeType="1" noTextEdit="1"/>
            </p:cNvSpPr>
            <p:nvPr/>
          </p:nvSpPr>
          <p:spPr bwMode="auto">
            <a:xfrm>
              <a:off x="48" y="1056"/>
              <a:ext cx="948" cy="24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b="1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0099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Syntax :</a:t>
              </a:r>
            </a:p>
          </p:txBody>
        </p:sp>
        <p:sp>
          <p:nvSpPr>
            <p:cNvPr id="7175" name="Text Box 6"/>
            <p:cNvSpPr txBox="1">
              <a:spLocks noChangeArrowheads="1"/>
            </p:cNvSpPr>
            <p:nvPr/>
          </p:nvSpPr>
          <p:spPr bwMode="auto">
            <a:xfrm>
              <a:off x="1632" y="1104"/>
              <a:ext cx="2112" cy="2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b="1"/>
                <a:t>FILE *filepointername;</a:t>
              </a:r>
            </a:p>
          </p:txBody>
        </p:sp>
        <p:sp>
          <p:nvSpPr>
            <p:cNvPr id="7176" name="WordArt 7"/>
            <p:cNvSpPr>
              <a:spLocks noChangeArrowheads="1" noChangeShapeType="1" noTextEdit="1"/>
            </p:cNvSpPr>
            <p:nvPr/>
          </p:nvSpPr>
          <p:spPr bwMode="auto">
            <a:xfrm>
              <a:off x="144" y="1584"/>
              <a:ext cx="1392" cy="24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>
                  <a:ln w="19050">
                    <a:solidFill>
                      <a:srgbClr val="99CCFF"/>
                    </a:solidFill>
                    <a:round/>
                    <a:headEnd/>
                    <a:tailEnd/>
                  </a:ln>
                  <a:solidFill>
                    <a:srgbClr val="000099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Impact"/>
                </a:rPr>
                <a:t>For Example :</a:t>
              </a:r>
            </a:p>
          </p:txBody>
        </p:sp>
        <p:sp>
          <p:nvSpPr>
            <p:cNvPr id="7177" name="Text Box 8"/>
            <p:cNvSpPr txBox="1">
              <a:spLocks noChangeArrowheads="1"/>
            </p:cNvSpPr>
            <p:nvPr/>
          </p:nvSpPr>
          <p:spPr bwMode="auto">
            <a:xfrm>
              <a:off x="1728" y="1568"/>
              <a:ext cx="2112" cy="2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b="1"/>
                <a:t>FILE *fp;</a:t>
              </a:r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144" y="2352"/>
              <a:ext cx="5424" cy="1522"/>
              <a:chOff x="144" y="2352"/>
              <a:chExt cx="5424" cy="1522"/>
            </a:xfrm>
          </p:grpSpPr>
          <p:sp>
            <p:nvSpPr>
              <p:cNvPr id="7179" name="WordArt 1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44" y="2352"/>
                <a:ext cx="1824" cy="2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IN" sz="3600" b="1" kern="10">
                    <a:ln w="19050">
                      <a:solidFill>
                        <a:srgbClr val="99CCFF"/>
                      </a:solidFill>
                      <a:round/>
                      <a:headEnd/>
                      <a:tailEnd/>
                    </a:ln>
                    <a:solidFill>
                      <a:srgbClr val="333300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Impact"/>
                  </a:rPr>
                  <a:t>Opening a File</a:t>
                </a:r>
              </a:p>
            </p:txBody>
          </p:sp>
          <p:sp>
            <p:nvSpPr>
              <p:cNvPr id="7180" name="WordArt 11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8" y="2976"/>
                <a:ext cx="948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IN" sz="3600" b="1" kern="10">
                    <a:ln w="19050">
                      <a:solidFill>
                        <a:srgbClr val="99CCFF"/>
                      </a:solidFill>
                      <a:round/>
                      <a:headEnd/>
                      <a:tailEnd/>
                    </a:ln>
                    <a:solidFill>
                      <a:srgbClr val="000099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Impact"/>
                  </a:rPr>
                  <a:t>Syntax :</a:t>
                </a:r>
              </a:p>
            </p:txBody>
          </p:sp>
          <p:sp>
            <p:nvSpPr>
              <p:cNvPr id="7181" name="Text Box 12"/>
              <p:cNvSpPr txBox="1">
                <a:spLocks noChangeArrowheads="1"/>
              </p:cNvSpPr>
              <p:nvPr/>
            </p:nvSpPr>
            <p:spPr bwMode="auto">
              <a:xfrm>
                <a:off x="1440" y="2928"/>
                <a:ext cx="4128" cy="27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b="1"/>
                  <a:t>FILE pointername =  fopen(“filename”, “file mode”);</a:t>
                </a:r>
              </a:p>
            </p:txBody>
          </p:sp>
          <p:sp>
            <p:nvSpPr>
              <p:cNvPr id="7182" name="WordArt 13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0" y="3616"/>
                <a:ext cx="13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IN" sz="3600" kern="10">
                    <a:ln w="19050">
                      <a:solidFill>
                        <a:srgbClr val="99CCFF"/>
                      </a:solidFill>
                      <a:round/>
                      <a:headEnd/>
                      <a:tailEnd/>
                    </a:ln>
                    <a:solidFill>
                      <a:srgbClr val="000099"/>
                    </a:soli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Impact"/>
                  </a:rPr>
                  <a:t>For Example :</a:t>
                </a:r>
              </a:p>
            </p:txBody>
          </p:sp>
          <p:sp>
            <p:nvSpPr>
              <p:cNvPr id="7183" name="Text Box 14"/>
              <p:cNvSpPr txBox="1">
                <a:spLocks noChangeArrowheads="1"/>
              </p:cNvSpPr>
              <p:nvPr/>
            </p:nvSpPr>
            <p:spPr bwMode="auto">
              <a:xfrm>
                <a:off x="1824" y="3600"/>
                <a:ext cx="2112" cy="27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b="1"/>
                  <a:t>fp=fopen(“emp.txt”,”w”);</a:t>
                </a:r>
              </a:p>
            </p:txBody>
          </p:sp>
        </p:grpSp>
      </p:grpSp>
      <p:sp>
        <p:nvSpPr>
          <p:cNvPr id="7171" name="Text Box 15"/>
          <p:cNvSpPr txBox="1">
            <a:spLocks noChangeArrowheads="1"/>
          </p:cNvSpPr>
          <p:nvPr/>
        </p:nvSpPr>
        <p:spPr bwMode="auto">
          <a:xfrm>
            <a:off x="0" y="5867400"/>
            <a:ext cx="8991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solidFill>
                  <a:srgbClr val="800000"/>
                </a:solidFill>
                <a:latin typeface="Times New Roman" pitchFamily="18" charset="0"/>
                <a:cs typeface="Times New Roman" pitchFamily="18" charset="0"/>
              </a:rPr>
              <a:t>Normally, A file is associated with a stream by performing an open operation and is disassociated from a stream by a close operation.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CSC COMPUTER EDUCATION, M.K.B.NAGAR</a:t>
            </a:r>
          </a:p>
        </p:txBody>
      </p:sp>
      <p:graphicFrame>
        <p:nvGraphicFramePr>
          <p:cNvPr id="11318" name="Group 54"/>
          <p:cNvGraphicFramePr>
            <a:graphicFrameLocks noGrp="1"/>
          </p:cNvGraphicFramePr>
          <p:nvPr/>
        </p:nvGraphicFramePr>
        <p:xfrm>
          <a:off x="1143000" y="381000"/>
          <a:ext cx="7086600" cy="4785360"/>
        </p:xfrm>
        <a:graphic>
          <a:graphicData uri="http://schemas.openxmlformats.org/drawingml/2006/table">
            <a:tbl>
              <a:tblPr/>
              <a:tblGrid>
                <a:gridCol w="2057400"/>
                <a:gridCol w="5029200"/>
              </a:tblGrid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Mode 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w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Open a text file for Writing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Open a text file for Reading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 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Append to a text  file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rb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Open a binary(random) file for reading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wb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Create  a binary(random) file for Writing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ab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Append to a  binary(random) file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Open a text file for Read/Write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Create a text file for Read/Write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Append or create a text file for Read/Write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rb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Open a binary(random) file for read/write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wb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Create a binary(random) file for read/write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ab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+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Append  a binary(random) file for read/write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239" name="WordArt 46"/>
          <p:cNvSpPr>
            <a:spLocks noChangeArrowheads="1" noChangeShapeType="1" noTextEdit="1"/>
          </p:cNvSpPr>
          <p:nvPr/>
        </p:nvSpPr>
        <p:spPr bwMode="auto">
          <a:xfrm>
            <a:off x="228600" y="5257800"/>
            <a:ext cx="28956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3333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Closing a File</a:t>
            </a:r>
          </a:p>
        </p:txBody>
      </p:sp>
      <p:sp>
        <p:nvSpPr>
          <p:cNvPr id="8240" name="WordArt 47"/>
          <p:cNvSpPr>
            <a:spLocks noChangeArrowheads="1" noChangeShapeType="1" noTextEdit="1"/>
          </p:cNvSpPr>
          <p:nvPr/>
        </p:nvSpPr>
        <p:spPr bwMode="auto">
          <a:xfrm>
            <a:off x="152400" y="5715000"/>
            <a:ext cx="1504950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b="1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00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Syntax :</a:t>
            </a:r>
          </a:p>
        </p:txBody>
      </p:sp>
      <p:sp>
        <p:nvSpPr>
          <p:cNvPr id="8241" name="Text Box 48"/>
          <p:cNvSpPr txBox="1">
            <a:spLocks noChangeArrowheads="1"/>
          </p:cNvSpPr>
          <p:nvPr/>
        </p:nvSpPr>
        <p:spPr bwMode="auto">
          <a:xfrm>
            <a:off x="2895600" y="5765800"/>
            <a:ext cx="35052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fclose(filepointer name);</a:t>
            </a:r>
          </a:p>
        </p:txBody>
      </p:sp>
      <p:sp>
        <p:nvSpPr>
          <p:cNvPr id="8242" name="WordArt 49"/>
          <p:cNvSpPr>
            <a:spLocks noChangeArrowheads="1" noChangeShapeType="1" noTextEdit="1"/>
          </p:cNvSpPr>
          <p:nvPr/>
        </p:nvSpPr>
        <p:spPr bwMode="auto">
          <a:xfrm>
            <a:off x="76200" y="6400800"/>
            <a:ext cx="2209800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0099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For Example :</a:t>
            </a:r>
          </a:p>
        </p:txBody>
      </p:sp>
      <p:sp>
        <p:nvSpPr>
          <p:cNvPr id="8243" name="Text Box 50"/>
          <p:cNvSpPr txBox="1">
            <a:spLocks noChangeArrowheads="1"/>
          </p:cNvSpPr>
          <p:nvPr/>
        </p:nvSpPr>
        <p:spPr bwMode="auto">
          <a:xfrm>
            <a:off x="2895600" y="6400800"/>
            <a:ext cx="18288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fclose(fp);</a:t>
            </a:r>
          </a:p>
        </p:txBody>
      </p:sp>
      <p:sp>
        <p:nvSpPr>
          <p:cNvPr id="8244" name="Text Box 55"/>
          <p:cNvSpPr txBox="1">
            <a:spLocks noChangeArrowheads="1"/>
          </p:cNvSpPr>
          <p:nvPr/>
        </p:nvSpPr>
        <p:spPr bwMode="auto">
          <a:xfrm>
            <a:off x="1524000" y="0"/>
            <a:ext cx="6096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/>
              <a:t>File Modes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1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457200"/>
            <a:ext cx="8763000" cy="6042025"/>
            <a:chOff x="144" y="281"/>
            <a:chExt cx="5884" cy="3806"/>
          </a:xfrm>
        </p:grpSpPr>
        <p:sp>
          <p:nvSpPr>
            <p:cNvPr id="9219" name="Text Box 3"/>
            <p:cNvSpPr txBox="1">
              <a:spLocks noChangeArrowheads="1"/>
            </p:cNvSpPr>
            <p:nvPr/>
          </p:nvSpPr>
          <p:spPr bwMode="auto">
            <a:xfrm>
              <a:off x="1246" y="2256"/>
              <a:ext cx="278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600" b="1">
                  <a:solidFill>
                    <a:srgbClr val="D60093"/>
                  </a:solidFill>
                  <a:latin typeface="Times New Roman" pitchFamily="18" charset="0"/>
                  <a:cs typeface="Times New Roman" pitchFamily="18" charset="0"/>
                </a:rPr>
                <a:t>Reading a character</a:t>
              </a:r>
            </a:p>
          </p:txBody>
        </p:sp>
        <p:sp>
          <p:nvSpPr>
            <p:cNvPr id="9220" name="Text Box 4"/>
            <p:cNvSpPr txBox="1">
              <a:spLocks noChangeArrowheads="1"/>
            </p:cNvSpPr>
            <p:nvPr/>
          </p:nvSpPr>
          <p:spPr bwMode="auto">
            <a:xfrm>
              <a:off x="172" y="2804"/>
              <a:ext cx="5649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 The fgetc() function is used for reading characters from a file</a:t>
              </a:r>
            </a:p>
            <a:p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    opened in read mode, using fopen(). </a:t>
              </a:r>
            </a:p>
          </p:txBody>
        </p:sp>
        <p:sp>
          <p:nvSpPr>
            <p:cNvPr id="9221" name="Text Box 5"/>
            <p:cNvSpPr txBox="1">
              <a:spLocks noChangeArrowheads="1"/>
            </p:cNvSpPr>
            <p:nvPr/>
          </p:nvSpPr>
          <p:spPr bwMode="auto">
            <a:xfrm>
              <a:off x="177" y="3763"/>
              <a:ext cx="99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D60093"/>
                  </a:solidFill>
                  <a:latin typeface="Times New Roman" pitchFamily="18" charset="0"/>
                  <a:cs typeface="Times New Roman" pitchFamily="18" charset="0"/>
                </a:rPr>
                <a:t>Syntax :</a:t>
              </a:r>
            </a:p>
          </p:txBody>
        </p:sp>
        <p:sp>
          <p:nvSpPr>
            <p:cNvPr id="9222" name="WordArt 6"/>
            <p:cNvSpPr>
              <a:spLocks noChangeArrowheads="1" noChangeShapeType="1" noTextEdit="1"/>
            </p:cNvSpPr>
            <p:nvPr/>
          </p:nvSpPr>
          <p:spPr bwMode="auto">
            <a:xfrm>
              <a:off x="1158" y="3751"/>
              <a:ext cx="2922" cy="3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effectLst>
                    <a:outerShdw dist="35921" dir="2700000" algn="ctr" rotWithShape="0">
                      <a:srgbClr val="808080"/>
                    </a:outerShdw>
                  </a:effectLst>
                  <a:latin typeface="Arial Black"/>
                </a:rPr>
                <a:t>int fgetc(FILE *fp);</a:t>
              </a:r>
            </a:p>
          </p:txBody>
        </p:sp>
        <p:sp>
          <p:nvSpPr>
            <p:cNvPr id="9223" name="Text Box 7"/>
            <p:cNvSpPr txBox="1">
              <a:spLocks noChangeArrowheads="1"/>
            </p:cNvSpPr>
            <p:nvPr/>
          </p:nvSpPr>
          <p:spPr bwMode="auto">
            <a:xfrm>
              <a:off x="1200" y="281"/>
              <a:ext cx="2733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600" b="1">
                  <a:solidFill>
                    <a:srgbClr val="D60093"/>
                  </a:solidFill>
                  <a:latin typeface="Times New Roman" pitchFamily="18" charset="0"/>
                  <a:cs typeface="Times New Roman" pitchFamily="18" charset="0"/>
                </a:rPr>
                <a:t>Writing a character</a:t>
              </a:r>
            </a:p>
          </p:txBody>
        </p:sp>
        <p:sp>
          <p:nvSpPr>
            <p:cNvPr id="9224" name="Text Box 8"/>
            <p:cNvSpPr txBox="1">
              <a:spLocks noChangeArrowheads="1"/>
            </p:cNvSpPr>
            <p:nvPr/>
          </p:nvSpPr>
          <p:spPr bwMode="auto">
            <a:xfrm>
              <a:off x="144" y="778"/>
              <a:ext cx="5884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 This fputc() function is used for writing characters to a file, that was previously opened using fopen().</a:t>
              </a:r>
            </a:p>
          </p:txBody>
        </p:sp>
        <p:sp>
          <p:nvSpPr>
            <p:cNvPr id="9225" name="Text Box 9"/>
            <p:cNvSpPr txBox="1">
              <a:spLocks noChangeArrowheads="1"/>
            </p:cNvSpPr>
            <p:nvPr/>
          </p:nvSpPr>
          <p:spPr bwMode="auto">
            <a:xfrm>
              <a:off x="155" y="1392"/>
              <a:ext cx="104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rgbClr val="D60093"/>
                  </a:solidFill>
                  <a:latin typeface="Times New Roman" pitchFamily="18" charset="0"/>
                  <a:cs typeface="Times New Roman" pitchFamily="18" charset="0"/>
                </a:rPr>
                <a:t>Syntax :</a:t>
              </a:r>
            </a:p>
          </p:txBody>
        </p:sp>
        <p:sp>
          <p:nvSpPr>
            <p:cNvPr id="9226" name="WordArt 10"/>
            <p:cNvSpPr>
              <a:spLocks noChangeArrowheads="1" noChangeShapeType="1" noTextEdit="1"/>
            </p:cNvSpPr>
            <p:nvPr/>
          </p:nvSpPr>
          <p:spPr bwMode="auto">
            <a:xfrm>
              <a:off x="1296" y="1440"/>
              <a:ext cx="3408" cy="2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fr-FR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effectLst>
                    <a:outerShdw dist="35921" dir="2700000" algn="ctr" rotWithShape="0">
                      <a:srgbClr val="808080"/>
                    </a:outerShdw>
                  </a:effectLst>
                  <a:latin typeface="Arial Black"/>
                </a:rPr>
                <a:t>int fputc(int ch, FILE *fp);</a:t>
              </a:r>
              <a:endParaRPr lang="en-IN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Arial Black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8600" y="446088"/>
            <a:ext cx="8382000" cy="4438650"/>
            <a:chOff x="144" y="281"/>
            <a:chExt cx="5280" cy="2796"/>
          </a:xfrm>
        </p:grpSpPr>
        <p:sp>
          <p:nvSpPr>
            <p:cNvPr id="10243" name="Text Box 3"/>
            <p:cNvSpPr txBox="1">
              <a:spLocks noChangeArrowheads="1"/>
            </p:cNvSpPr>
            <p:nvPr/>
          </p:nvSpPr>
          <p:spPr bwMode="auto">
            <a:xfrm>
              <a:off x="1152" y="281"/>
              <a:ext cx="276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600" b="1">
                  <a:solidFill>
                    <a:srgbClr val="D60093"/>
                  </a:solidFill>
                  <a:latin typeface="Times New Roman" pitchFamily="18" charset="0"/>
                  <a:cs typeface="Times New Roman" pitchFamily="18" charset="0"/>
                </a:rPr>
                <a:t>String Input / Output</a:t>
              </a:r>
            </a:p>
          </p:txBody>
        </p:sp>
        <p:sp>
          <p:nvSpPr>
            <p:cNvPr id="10244" name="Text Box 4"/>
            <p:cNvSpPr txBox="1">
              <a:spLocks noChangeArrowheads="1"/>
            </p:cNvSpPr>
            <p:nvPr/>
          </p:nvSpPr>
          <p:spPr bwMode="auto">
            <a:xfrm>
              <a:off x="144" y="849"/>
              <a:ext cx="5280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FF66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fputs() and fgets(), which write and read character strings to and  from disk file.</a:t>
              </a:r>
            </a:p>
          </p:txBody>
        </p:sp>
        <p:sp>
          <p:nvSpPr>
            <p:cNvPr id="10245" name="Text Box 5"/>
            <p:cNvSpPr txBox="1">
              <a:spLocks noChangeArrowheads="1"/>
            </p:cNvSpPr>
            <p:nvPr/>
          </p:nvSpPr>
          <p:spPr bwMode="auto">
            <a:xfrm>
              <a:off x="162" y="1584"/>
              <a:ext cx="359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FF66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rgbClr val="D60093"/>
                  </a:solidFill>
                  <a:latin typeface="Times New Roman" pitchFamily="18" charset="0"/>
                  <a:cs typeface="Times New Roman" pitchFamily="18" charset="0"/>
                </a:rPr>
                <a:t>The Syntax for the above functions are -</a:t>
              </a:r>
            </a:p>
          </p:txBody>
        </p:sp>
        <p:sp>
          <p:nvSpPr>
            <p:cNvPr id="10246" name="WordArt 6"/>
            <p:cNvSpPr>
              <a:spLocks noChangeArrowheads="1" noChangeShapeType="1" noTextEdit="1"/>
            </p:cNvSpPr>
            <p:nvPr/>
          </p:nvSpPr>
          <p:spPr bwMode="auto">
            <a:xfrm>
              <a:off x="594" y="2160"/>
              <a:ext cx="4311" cy="3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fr-FR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effectLst>
                    <a:outerShdw dist="35921" dir="2700000" algn="ctr" rotWithShape="0">
                      <a:srgbClr val="808080"/>
                    </a:outerShdw>
                  </a:effectLst>
                  <a:latin typeface="Arial Black"/>
                </a:rPr>
                <a:t>int fputs(const char *str, FILE *fp);</a:t>
              </a:r>
              <a:endParaRPr lang="en-IN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Arial Black"/>
              </a:endParaRPr>
            </a:p>
          </p:txBody>
        </p:sp>
        <p:sp>
          <p:nvSpPr>
            <p:cNvPr id="10247" name="WordArt 7"/>
            <p:cNvSpPr>
              <a:spLocks noChangeArrowheads="1" noChangeShapeType="1" noTextEdit="1"/>
            </p:cNvSpPr>
            <p:nvPr/>
          </p:nvSpPr>
          <p:spPr bwMode="auto">
            <a:xfrm>
              <a:off x="498" y="2784"/>
              <a:ext cx="4686" cy="29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effectLst>
                    <a:outerShdw dist="35921" dir="2700000" algn="ctr" rotWithShape="0">
                      <a:srgbClr val="808080"/>
                    </a:outerShdw>
                  </a:effectLst>
                  <a:latin typeface="Arial Black"/>
                </a:rPr>
                <a:t>char *fgets( char *str, int length, FILE *fp);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04800" y="457200"/>
            <a:ext cx="8458200" cy="5697538"/>
            <a:chOff x="144" y="299"/>
            <a:chExt cx="5328" cy="3589"/>
          </a:xfrm>
        </p:grpSpPr>
        <p:sp>
          <p:nvSpPr>
            <p:cNvPr id="11267" name="Text Box 3"/>
            <p:cNvSpPr txBox="1">
              <a:spLocks noChangeArrowheads="1"/>
            </p:cNvSpPr>
            <p:nvPr/>
          </p:nvSpPr>
          <p:spPr bwMode="auto">
            <a:xfrm>
              <a:off x="1136" y="299"/>
              <a:ext cx="2947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4000" b="1">
                  <a:solidFill>
                    <a:srgbClr val="D60093"/>
                  </a:solidFill>
                  <a:latin typeface="Times New Roman" pitchFamily="18" charset="0"/>
                  <a:cs typeface="Times New Roman" pitchFamily="18" charset="0"/>
                </a:rPr>
                <a:t>fprintf() and fscanf()</a:t>
              </a:r>
            </a:p>
          </p:txBody>
        </p:sp>
        <p:sp>
          <p:nvSpPr>
            <p:cNvPr id="11268" name="Text Box 4"/>
            <p:cNvSpPr txBox="1">
              <a:spLocks noChangeArrowheads="1"/>
            </p:cNvSpPr>
            <p:nvPr/>
          </p:nvSpPr>
          <p:spPr bwMode="auto">
            <a:xfrm>
              <a:off x="144" y="912"/>
              <a:ext cx="5328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FF66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These functions are similar to printf() and scanf() except that they  operate with files.</a:t>
              </a:r>
            </a:p>
          </p:txBody>
        </p:sp>
        <p:sp>
          <p:nvSpPr>
            <p:cNvPr id="11269" name="Text Box 5"/>
            <p:cNvSpPr txBox="1">
              <a:spLocks noChangeArrowheads="1"/>
            </p:cNvSpPr>
            <p:nvPr/>
          </p:nvSpPr>
          <p:spPr bwMode="auto">
            <a:xfrm>
              <a:off x="144" y="1618"/>
              <a:ext cx="1109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2"/>
                </a:buBlip>
              </a:pPr>
              <a:r>
                <a:rPr lang="en-US" sz="3200">
                  <a:solidFill>
                    <a:srgbClr val="FF66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3200" b="1">
                  <a:solidFill>
                    <a:srgbClr val="D60093"/>
                  </a:solidFill>
                  <a:latin typeface="Times New Roman" pitchFamily="18" charset="0"/>
                  <a:cs typeface="Times New Roman" pitchFamily="18" charset="0"/>
                </a:rPr>
                <a:t>Syntax</a:t>
              </a:r>
            </a:p>
          </p:txBody>
        </p:sp>
        <p:sp>
          <p:nvSpPr>
            <p:cNvPr id="11270" name="WordArt 6"/>
            <p:cNvSpPr>
              <a:spLocks noChangeArrowheads="1" noChangeShapeType="1" noTextEdit="1"/>
            </p:cNvSpPr>
            <p:nvPr/>
          </p:nvSpPr>
          <p:spPr bwMode="auto">
            <a:xfrm>
              <a:off x="1824" y="1872"/>
              <a:ext cx="1188" cy="4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>
                  <a:ln w="12700">
                    <a:solidFill>
                      <a:srgbClr val="EAEAEA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/>
                    </a:outerShdw>
                  </a:effectLst>
                  <a:latin typeface="Arial Black"/>
                </a:rPr>
                <a:t>fprintf()</a:t>
              </a:r>
            </a:p>
          </p:txBody>
        </p:sp>
        <p:sp>
          <p:nvSpPr>
            <p:cNvPr id="11271" name="Text Box 7"/>
            <p:cNvSpPr txBox="1">
              <a:spLocks noChangeArrowheads="1"/>
            </p:cNvSpPr>
            <p:nvPr/>
          </p:nvSpPr>
          <p:spPr bwMode="auto">
            <a:xfrm>
              <a:off x="1047" y="2304"/>
              <a:ext cx="33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int fprintf(FILE *fp, format,argument);</a:t>
              </a:r>
            </a:p>
          </p:txBody>
        </p:sp>
        <p:sp>
          <p:nvSpPr>
            <p:cNvPr id="11272" name="WordArt 8"/>
            <p:cNvSpPr>
              <a:spLocks noChangeArrowheads="1" noChangeShapeType="1" noTextEdit="1"/>
            </p:cNvSpPr>
            <p:nvPr/>
          </p:nvSpPr>
          <p:spPr bwMode="auto">
            <a:xfrm>
              <a:off x="2296" y="3144"/>
              <a:ext cx="1188" cy="40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kern="10">
                  <a:ln w="12700">
                    <a:solidFill>
                      <a:srgbClr val="EAEAEA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/>
                    </a:outerShdw>
                  </a:effectLst>
                  <a:latin typeface="Arial Black"/>
                </a:rPr>
                <a:t>fscanf()</a:t>
              </a:r>
            </a:p>
          </p:txBody>
        </p:sp>
        <p:sp>
          <p:nvSpPr>
            <p:cNvPr id="11273" name="Text Box 9"/>
            <p:cNvSpPr txBox="1">
              <a:spLocks noChangeArrowheads="1"/>
            </p:cNvSpPr>
            <p:nvPr/>
          </p:nvSpPr>
          <p:spPr bwMode="auto">
            <a:xfrm>
              <a:off x="1344" y="3600"/>
              <a:ext cx="334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int fscanf(FILE *fp, format,argument);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228600" y="228600"/>
            <a:ext cx="4343400" cy="52625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// Program uses fgets() to get a String from the File</a:t>
            </a:r>
          </a:p>
          <a:p>
            <a:r>
              <a:rPr lang="en-US" sz="1400" b="1"/>
              <a:t>#include&lt;stdio.h&gt;</a:t>
            </a:r>
          </a:p>
          <a:p>
            <a:r>
              <a:rPr lang="en-US" sz="1400" b="1"/>
              <a:t>#include&lt;conio.h&gt;</a:t>
            </a:r>
          </a:p>
          <a:p>
            <a:r>
              <a:rPr lang="en-US" sz="1400" b="1"/>
              <a:t>void main()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FILE *fp;</a:t>
            </a:r>
          </a:p>
          <a:p>
            <a:r>
              <a:rPr lang="en-US" sz="1400" b="1"/>
              <a:t>char s[80];</a:t>
            </a:r>
          </a:p>
          <a:p>
            <a:r>
              <a:rPr lang="en-US" sz="1400" b="1"/>
              <a:t>clrscr();</a:t>
            </a:r>
          </a:p>
          <a:p>
            <a:r>
              <a:rPr lang="en-US" sz="1400" b="1"/>
              <a:t>fp=fopen(“data.txt”,"r");</a:t>
            </a:r>
          </a:p>
          <a:p>
            <a:r>
              <a:rPr lang="en-US" sz="1400" b="1"/>
              <a:t>if(fp==NULL)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printf("\n Cannot open a File");</a:t>
            </a:r>
          </a:p>
          <a:p>
            <a:r>
              <a:rPr lang="en-US" sz="1400" b="1"/>
              <a:t>exit(0);</a:t>
            </a:r>
          </a:p>
          <a:p>
            <a:r>
              <a:rPr lang="en-US" sz="1400" b="1"/>
              <a:t>}</a:t>
            </a:r>
          </a:p>
          <a:p>
            <a:endParaRPr lang="en-US" sz="1400" b="1"/>
          </a:p>
          <a:p>
            <a:r>
              <a:rPr lang="en-US" sz="1400" b="1"/>
              <a:t>printf("\n The Contents of your file is\n");</a:t>
            </a:r>
          </a:p>
          <a:p>
            <a:r>
              <a:rPr lang="en-US" sz="1400" b="1"/>
              <a:t>while(fgets(s,80,fp)!=NULL)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printf("%s",s);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fclose(fp);</a:t>
            </a:r>
          </a:p>
          <a:p>
            <a:r>
              <a:rPr lang="en-US" sz="1400" b="1"/>
              <a:t>getch();</a:t>
            </a:r>
          </a:p>
          <a:p>
            <a:r>
              <a:rPr lang="en-US" sz="1400" b="1"/>
              <a:t>}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4572000" y="228600"/>
            <a:ext cx="4572000" cy="5724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/>
              <a:t>// Program uses fputs() to send a String to a File</a:t>
            </a:r>
          </a:p>
          <a:p>
            <a:r>
              <a:rPr lang="en-US" sz="1600" b="1"/>
              <a:t>#include&lt;stdio.h&gt;</a:t>
            </a:r>
          </a:p>
          <a:p>
            <a:r>
              <a:rPr lang="en-US" sz="1600" b="1"/>
              <a:t>#include&lt;conio.h&gt;</a:t>
            </a:r>
          </a:p>
          <a:p>
            <a:r>
              <a:rPr lang="en-US" sz="1600" b="1"/>
              <a:t>void main()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FILE *fp;</a:t>
            </a:r>
          </a:p>
          <a:p>
            <a:r>
              <a:rPr lang="en-US" sz="1600" b="1"/>
              <a:t>char s[80];</a:t>
            </a:r>
          </a:p>
          <a:p>
            <a:r>
              <a:rPr lang="en-US" sz="1600" b="1"/>
              <a:t>clrscr();</a:t>
            </a:r>
          </a:p>
          <a:p>
            <a:r>
              <a:rPr lang="en-US" sz="1600" b="1"/>
              <a:t>fp=fopen(“data.txt","w");</a:t>
            </a:r>
          </a:p>
          <a:p>
            <a:r>
              <a:rPr lang="en-US" sz="1600" b="1"/>
              <a:t>if(fp==NULL)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printf("\n Cannot open a File");</a:t>
            </a:r>
          </a:p>
          <a:p>
            <a:r>
              <a:rPr lang="en-US" sz="1600" b="1"/>
              <a:t>exit(0);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printf("\n Enter Your Text\n");</a:t>
            </a:r>
          </a:p>
          <a:p>
            <a:r>
              <a:rPr lang="en-US" sz="1600" b="1"/>
              <a:t>while(strcmp(gets(s),"end“)!=0)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fputs(s,fp);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puts("Data Updated Sucessfully");</a:t>
            </a:r>
          </a:p>
          <a:p>
            <a:r>
              <a:rPr lang="en-US" sz="1600" b="1"/>
              <a:t>getch();</a:t>
            </a:r>
          </a:p>
          <a:p>
            <a:r>
              <a:rPr lang="en-US" sz="1600" b="1"/>
              <a:t>}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nimBg="1"/>
      <p:bldP spid="21507" grpId="0" animBg="1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228600" y="212725"/>
            <a:ext cx="4114800" cy="596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/>
              <a:t>// Program uses fgetc() to get a character from the File</a:t>
            </a:r>
          </a:p>
          <a:p>
            <a:r>
              <a:rPr lang="en-US" sz="1600" b="1"/>
              <a:t>#include&lt;stdio.h&gt;</a:t>
            </a:r>
          </a:p>
          <a:p>
            <a:r>
              <a:rPr lang="en-US" sz="1600" b="1"/>
              <a:t>void main()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FILE *fp;</a:t>
            </a:r>
          </a:p>
          <a:p>
            <a:r>
              <a:rPr lang="en-US" sz="1600" b="1"/>
              <a:t>char s[80];</a:t>
            </a:r>
          </a:p>
          <a:p>
            <a:r>
              <a:rPr lang="en-US" sz="1600" b="1"/>
              <a:t>int i,ch;</a:t>
            </a:r>
          </a:p>
          <a:p>
            <a:r>
              <a:rPr lang="en-US" sz="1600" b="1"/>
              <a:t>fp=fopen("first.dat","r");</a:t>
            </a:r>
          </a:p>
          <a:p>
            <a:r>
              <a:rPr lang="en-US" sz="1600" b="1"/>
              <a:t>if(fp==NULL)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printf("\n Unable to open the File");</a:t>
            </a:r>
          </a:p>
          <a:p>
            <a:r>
              <a:rPr lang="en-US" sz="1600" b="1"/>
              <a:t>exit(0);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ch=fgetc(fp);</a:t>
            </a:r>
          </a:p>
          <a:p>
            <a:r>
              <a:rPr lang="en-US" sz="1600" b="1"/>
              <a:t>for(i=0;i&lt;80 &amp;&amp; ch!=EOF;i++)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s[i]=ch;</a:t>
            </a:r>
          </a:p>
          <a:p>
            <a:r>
              <a:rPr lang="en-US" sz="1600" b="1"/>
              <a:t>ch=fgetc(fp);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s[i]='\0';</a:t>
            </a:r>
          </a:p>
          <a:p>
            <a:r>
              <a:rPr lang="en-US" sz="1600" b="1"/>
              <a:t>printf("\n %s",s);</a:t>
            </a:r>
          </a:p>
          <a:p>
            <a:r>
              <a:rPr lang="en-US" sz="1600" b="1"/>
              <a:t>fclose(fp);</a:t>
            </a:r>
          </a:p>
          <a:p>
            <a:r>
              <a:rPr lang="en-US" sz="1600" b="1"/>
              <a:t>}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4343400" y="228600"/>
            <a:ext cx="4572000" cy="5846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/>
              <a:t>// Program uses fputc() to send a character to an ASCII File</a:t>
            </a:r>
          </a:p>
          <a:p>
            <a:r>
              <a:rPr lang="en-US" sz="1600" b="1"/>
              <a:t>#include&lt;stdio.h&gt;</a:t>
            </a:r>
          </a:p>
          <a:p>
            <a:r>
              <a:rPr lang="en-US" sz="1600" b="1"/>
              <a:t>#include&lt;conio.h&gt;</a:t>
            </a:r>
          </a:p>
          <a:p>
            <a:r>
              <a:rPr lang="en-US" sz="1600" b="1"/>
              <a:t>void main()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FILE *fptr;</a:t>
            </a:r>
          </a:p>
          <a:p>
            <a:r>
              <a:rPr lang="en-US" sz="1600" b="1"/>
              <a:t>char strptr[]="This Is a Test \0";</a:t>
            </a:r>
          </a:p>
          <a:p>
            <a:r>
              <a:rPr lang="en-US" sz="1600" b="1"/>
              <a:t>char *p;</a:t>
            </a:r>
          </a:p>
          <a:p>
            <a:r>
              <a:rPr lang="en-US" sz="1600" b="1"/>
              <a:t>clrscr();</a:t>
            </a:r>
          </a:p>
          <a:p>
            <a:r>
              <a:rPr lang="en-US" sz="1600" b="1"/>
              <a:t>fptr=fopen("first.dat","w");</a:t>
            </a:r>
          </a:p>
          <a:p>
            <a:r>
              <a:rPr lang="en-US" sz="1600" b="1"/>
              <a:t>if(fptr==NULL)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printf("\n Unable to open the File");</a:t>
            </a:r>
          </a:p>
          <a:p>
            <a:r>
              <a:rPr lang="en-US" sz="1600" b="1"/>
              <a:t>exit();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for(p=strptr; *p != '\0';p++)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fputc(*p,fptr);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getch();</a:t>
            </a:r>
          </a:p>
          <a:p>
            <a:r>
              <a:rPr lang="en-US" sz="1600" b="1"/>
              <a:t>}</a:t>
            </a:r>
          </a:p>
          <a:p>
            <a:pPr>
              <a:spcBef>
                <a:spcPct val="50000"/>
              </a:spcBef>
            </a:pPr>
            <a:endParaRPr lang="en-US" sz="16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nimBg="1"/>
      <p:bldP spid="22531" grpId="0" animBg="1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228600" y="228600"/>
            <a:ext cx="4572000" cy="63404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// file creation : writing data to a file</a:t>
            </a:r>
          </a:p>
          <a:p>
            <a:r>
              <a:rPr lang="en-US" sz="1400" b="1"/>
              <a:t>#include&lt;stdio.h&gt;</a:t>
            </a:r>
          </a:p>
          <a:p>
            <a:r>
              <a:rPr lang="en-US" sz="1400" b="1"/>
              <a:t>#include&lt;conio.h&gt;</a:t>
            </a:r>
          </a:p>
          <a:p>
            <a:r>
              <a:rPr lang="en-US" sz="1400" b="1"/>
              <a:t>FILE *fp;</a:t>
            </a:r>
          </a:p>
          <a:p>
            <a:r>
              <a:rPr lang="en-US" sz="1400" b="1"/>
              <a:t>void main()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char name[20];</a:t>
            </a:r>
          </a:p>
          <a:p>
            <a:r>
              <a:rPr lang="en-US" sz="1400" b="1"/>
              <a:t>int no,sal;</a:t>
            </a:r>
          </a:p>
          <a:p>
            <a:r>
              <a:rPr lang="en-US" sz="1400" b="1"/>
              <a:t>fp=fopen("emp.dat","w");</a:t>
            </a:r>
          </a:p>
          <a:p>
            <a:r>
              <a:rPr lang="en-US" sz="1400" b="1"/>
              <a:t>if(fp != NULL)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printf("\nEnter the number:");</a:t>
            </a:r>
          </a:p>
          <a:p>
            <a:r>
              <a:rPr lang="en-US" sz="1400" b="1"/>
              <a:t>scanf("%d",&amp;no);</a:t>
            </a:r>
          </a:p>
          <a:p>
            <a:r>
              <a:rPr lang="en-US" sz="1400" b="1"/>
              <a:t>printf("\nEnter the name:");</a:t>
            </a:r>
          </a:p>
          <a:p>
            <a:r>
              <a:rPr lang="en-US" sz="1400" b="1"/>
              <a:t>scanf("%s",&amp;name);</a:t>
            </a:r>
          </a:p>
          <a:p>
            <a:r>
              <a:rPr lang="en-US" sz="1400" b="1"/>
              <a:t>printf("\nEnter the salary:");</a:t>
            </a:r>
          </a:p>
          <a:p>
            <a:r>
              <a:rPr lang="en-US" sz="1400" b="1"/>
              <a:t>scanf("%d",&amp;sal);</a:t>
            </a:r>
          </a:p>
          <a:p>
            <a:r>
              <a:rPr lang="en-US" sz="1400" b="1"/>
              <a:t>fprintf(fp,"The no is %d\n",no);</a:t>
            </a:r>
          </a:p>
          <a:p>
            <a:r>
              <a:rPr lang="en-US" sz="1400" b="1"/>
              <a:t>fprintf(fp,"The name is %s\n",name);</a:t>
            </a:r>
          </a:p>
          <a:p>
            <a:r>
              <a:rPr lang="en-US" sz="1400" b="1"/>
              <a:t>fprintf(fp,"The salary is %d\n",sal);</a:t>
            </a:r>
          </a:p>
          <a:p>
            <a:r>
              <a:rPr lang="en-US" sz="1400" b="1"/>
              <a:t>printf("\n Suceesfully Created");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else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printf("\n File Cannot Opened");</a:t>
            </a:r>
          </a:p>
          <a:p>
            <a:r>
              <a:rPr lang="en-US" sz="1400" b="1"/>
              <a:t>exit(0);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fclose(fp);</a:t>
            </a:r>
          </a:p>
          <a:p>
            <a:r>
              <a:rPr lang="en-US" sz="1400" b="1"/>
              <a:t>}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4953000" y="371475"/>
            <a:ext cx="3962400" cy="596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b="1"/>
              <a:t>Read the contents from the file</a:t>
            </a:r>
          </a:p>
          <a:p>
            <a:r>
              <a:rPr lang="en-US" sz="1600" b="1"/>
              <a:t>#include&lt;stdio.h&gt;</a:t>
            </a:r>
          </a:p>
          <a:p>
            <a:r>
              <a:rPr lang="en-US" sz="1600" b="1"/>
              <a:t>#include&lt;conio.h&gt;</a:t>
            </a:r>
          </a:p>
          <a:p>
            <a:r>
              <a:rPr lang="en-US" sz="1600" b="1"/>
              <a:t>FILE *fp;</a:t>
            </a:r>
          </a:p>
          <a:p>
            <a:r>
              <a:rPr lang="en-US" sz="1600" b="1"/>
              <a:t>void main()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char name[20];</a:t>
            </a:r>
          </a:p>
          <a:p>
            <a:r>
              <a:rPr lang="en-US" sz="1600" b="1"/>
              <a:t>int no,sal;</a:t>
            </a:r>
          </a:p>
          <a:p>
            <a:r>
              <a:rPr lang="en-US" sz="1600" b="1"/>
              <a:t>clrscr();</a:t>
            </a:r>
          </a:p>
          <a:p>
            <a:r>
              <a:rPr lang="en-US" sz="1600" b="1"/>
              <a:t>if((fp=fopen("emp.dat","r"))!=NULL)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while(fscanf(fp,”%d%s%d”,&amp;no,name,&amp;sal)!=EOF)</a:t>
            </a:r>
          </a:p>
          <a:p>
            <a:r>
              <a:rPr lang="en-US" sz="1600" b="1"/>
              <a:t>printf(“\nNo=%d”,no);</a:t>
            </a:r>
          </a:p>
          <a:p>
            <a:r>
              <a:rPr lang="en-US" sz="1600" b="1"/>
              <a:t>printf(“\nName=%s”,name);</a:t>
            </a:r>
          </a:p>
          <a:p>
            <a:r>
              <a:rPr lang="en-US" sz="1600" b="1"/>
              <a:t>printf(“\nSalary=%d”,sal);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else</a:t>
            </a:r>
          </a:p>
          <a:p>
            <a:r>
              <a:rPr lang="en-US" sz="1600" b="1"/>
              <a:t>{</a:t>
            </a:r>
          </a:p>
          <a:p>
            <a:r>
              <a:rPr lang="en-US" sz="1600" b="1"/>
              <a:t>printf("Error in opening a file");</a:t>
            </a:r>
          </a:p>
          <a:p>
            <a:r>
              <a:rPr lang="en-US" sz="1600" b="1"/>
              <a:t>}</a:t>
            </a:r>
          </a:p>
          <a:p>
            <a:r>
              <a:rPr lang="en-US" sz="1600" b="1"/>
              <a:t>fclose(fp);</a:t>
            </a:r>
          </a:p>
          <a:p>
            <a:r>
              <a:rPr lang="en-US" sz="1600" b="1"/>
              <a:t>getch();</a:t>
            </a:r>
          </a:p>
          <a:p>
            <a:r>
              <a:rPr lang="en-US" sz="1600" b="1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nimBg="1"/>
      <p:bldP spid="23555" grpId="0" animBg="1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" y="0"/>
            <a:ext cx="4953000" cy="650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/>
              <a:t>Append the Data to an Existing File</a:t>
            </a:r>
          </a:p>
          <a:p>
            <a:r>
              <a:rPr lang="en-US" sz="2000" b="1"/>
              <a:t>#include&lt;stdio.h&gt;</a:t>
            </a:r>
          </a:p>
          <a:p>
            <a:r>
              <a:rPr lang="en-US" sz="2000" b="1"/>
              <a:t>FILE *fp;</a:t>
            </a:r>
          </a:p>
          <a:p>
            <a:r>
              <a:rPr lang="en-US" sz="2000" b="1"/>
              <a:t>void main()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char name[20];</a:t>
            </a:r>
          </a:p>
          <a:p>
            <a:r>
              <a:rPr lang="en-US" sz="2000" b="1"/>
              <a:t>long int no;</a:t>
            </a:r>
          </a:p>
          <a:p>
            <a:r>
              <a:rPr lang="en-US" sz="2000" b="1"/>
              <a:t>long int sal;</a:t>
            </a:r>
          </a:p>
          <a:p>
            <a:r>
              <a:rPr lang="en-US" sz="2000" b="1"/>
              <a:t>if((fp=fopen (“data.txt","a"))!=NULL)</a:t>
            </a:r>
          </a:p>
          <a:p>
            <a:r>
              <a:rPr lang="en-US" sz="2000" b="1"/>
              <a:t>{</a:t>
            </a:r>
          </a:p>
          <a:p>
            <a:r>
              <a:rPr lang="en-US" sz="2000" b="1"/>
              <a:t>printf("\n enter the number:");</a:t>
            </a:r>
          </a:p>
          <a:p>
            <a:r>
              <a:rPr lang="en-US" sz="2000" b="1"/>
              <a:t>scanf("%d",&amp;no);</a:t>
            </a:r>
          </a:p>
          <a:p>
            <a:r>
              <a:rPr lang="en-US" sz="2000" b="1"/>
              <a:t>printf("\n enter the name:");</a:t>
            </a:r>
          </a:p>
          <a:p>
            <a:r>
              <a:rPr lang="en-US" sz="2000" b="1"/>
              <a:t>scanf("%s",name);</a:t>
            </a:r>
          </a:p>
          <a:p>
            <a:r>
              <a:rPr lang="en-US" sz="2000" b="1"/>
              <a:t>printf("\n enter the salary:");</a:t>
            </a:r>
          </a:p>
          <a:p>
            <a:r>
              <a:rPr lang="en-US" sz="2000" b="1"/>
              <a:t>scanf("%d",&amp;sal);</a:t>
            </a:r>
          </a:p>
          <a:p>
            <a:r>
              <a:rPr lang="en-US" sz="2000" b="1"/>
              <a:t>fprintf(fp,"the no is %d\n", no);</a:t>
            </a:r>
          </a:p>
          <a:p>
            <a:r>
              <a:rPr lang="en-US" sz="2000" b="1"/>
              <a:t>fprintf(fp, "the name is %s\n",name);</a:t>
            </a:r>
          </a:p>
          <a:p>
            <a:r>
              <a:rPr lang="en-US" sz="2000" b="1"/>
              <a:t>fprintf(fp, "the salary is %d\n",sal);</a:t>
            </a:r>
          </a:p>
          <a:p>
            <a:r>
              <a:rPr lang="en-US" sz="2000" b="1"/>
              <a:t>}</a:t>
            </a:r>
          </a:p>
          <a:p>
            <a:r>
              <a:rPr lang="en-US" sz="2000" b="1"/>
              <a:t>fclose (fp);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WordArt 4" descr="Purple mesh"/>
          <p:cNvSpPr>
            <a:spLocks noChangeArrowheads="1" noChangeShapeType="1" noTextEdit="1"/>
          </p:cNvSpPr>
          <p:nvPr/>
        </p:nvSpPr>
        <p:spPr bwMode="auto">
          <a:xfrm>
            <a:off x="576263" y="1828800"/>
            <a:ext cx="7958137" cy="1600200"/>
          </a:xfrm>
          <a:prstGeom prst="rect">
            <a:avLst/>
          </a:prstGeom>
        </p:spPr>
        <p:txBody>
          <a:bodyPr wrap="none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blipFill dpi="0" rotWithShape="1">
                  <a:blip r:embed="rId2"/>
                  <a:srcRect/>
                  <a:tile tx="0" ty="0" sx="100000" sy="100000" flip="none" algn="tl"/>
                </a:blipFill>
                <a:latin typeface="Arial Black"/>
              </a:rPr>
              <a:t>Advaced File Streams &amp; working with</a:t>
            </a:r>
          </a:p>
          <a:p>
            <a:pPr algn="ctr"/>
            <a:r>
              <a:rPr lang="en-IN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blipFill dpi="0" rotWithShape="1">
                  <a:blip r:embed="rId2"/>
                  <a:srcRect/>
                  <a:tile tx="0" ty="0" sx="100000" sy="100000" flip="none" algn="tl"/>
                </a:blipFill>
                <a:latin typeface="Arial Black"/>
              </a:rPr>
              <a:t> Random File 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344488" y="1371600"/>
            <a:ext cx="8382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3333CC"/>
                </a:solidFill>
                <a:latin typeface="Times New Roman" pitchFamily="18" charset="0"/>
                <a:cs typeface="Times New Roman" pitchFamily="18" charset="0"/>
              </a:rPr>
              <a:t> The rewind() function resets the file position indicator to the </a:t>
            </a:r>
            <a:br>
              <a:rPr lang="en-US" sz="2400" b="1">
                <a:solidFill>
                  <a:srgbClr val="3333CC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solidFill>
                  <a:srgbClr val="3333CC"/>
                </a:solidFill>
                <a:latin typeface="Times New Roman" pitchFamily="18" charset="0"/>
                <a:cs typeface="Times New Roman" pitchFamily="18" charset="0"/>
              </a:rPr>
              <a:t>    beginning of the file.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73063" y="454025"/>
            <a:ext cx="7273925" cy="4346575"/>
            <a:chOff x="235" y="286"/>
            <a:chExt cx="4582" cy="2738"/>
          </a:xfrm>
        </p:grpSpPr>
        <p:sp>
          <p:nvSpPr>
            <p:cNvPr id="3076" name="Text Box 4"/>
            <p:cNvSpPr txBox="1">
              <a:spLocks noChangeArrowheads="1"/>
            </p:cNvSpPr>
            <p:nvPr/>
          </p:nvSpPr>
          <p:spPr bwMode="auto">
            <a:xfrm>
              <a:off x="1147" y="286"/>
              <a:ext cx="2509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4000" b="1">
                  <a:solidFill>
                    <a:srgbClr val="D60093"/>
                  </a:solidFill>
                  <a:latin typeface="Times New Roman" pitchFamily="18" charset="0"/>
                  <a:cs typeface="Times New Roman" pitchFamily="18" charset="0"/>
                </a:rPr>
                <a:t>rewind() function</a:t>
              </a:r>
            </a:p>
          </p:txBody>
        </p:sp>
        <p:sp>
          <p:nvSpPr>
            <p:cNvPr id="3077" name="Text Box 5"/>
            <p:cNvSpPr txBox="1">
              <a:spLocks noChangeArrowheads="1"/>
            </p:cNvSpPr>
            <p:nvPr/>
          </p:nvSpPr>
          <p:spPr bwMode="auto">
            <a:xfrm>
              <a:off x="235" y="1776"/>
              <a:ext cx="253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3333CC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rgbClr val="D60093"/>
                  </a:solidFill>
                  <a:latin typeface="Times New Roman" pitchFamily="18" charset="0"/>
                  <a:cs typeface="Times New Roman" pitchFamily="18" charset="0"/>
                </a:rPr>
                <a:t>The syntax for rewind() is :</a:t>
              </a:r>
            </a:p>
          </p:txBody>
        </p:sp>
        <p:sp>
          <p:nvSpPr>
            <p:cNvPr id="3078" name="WordArt 6"/>
            <p:cNvSpPr>
              <a:spLocks noChangeArrowheads="1" noChangeShapeType="1" noTextEdit="1"/>
            </p:cNvSpPr>
            <p:nvPr/>
          </p:nvSpPr>
          <p:spPr bwMode="auto">
            <a:xfrm>
              <a:off x="2122" y="2094"/>
              <a:ext cx="1698" cy="40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effectLst>
                    <a:outerShdw dist="35921" dir="2700000" algn="ctr" rotWithShape="0">
                      <a:srgbClr val="808080"/>
                    </a:outerShdw>
                  </a:effectLst>
                  <a:latin typeface="Arial Black"/>
                </a:rPr>
                <a:t>rewind(fp);</a:t>
              </a:r>
            </a:p>
          </p:txBody>
        </p:sp>
        <p:sp>
          <p:nvSpPr>
            <p:cNvPr id="3079" name="Text Box 7"/>
            <p:cNvSpPr txBox="1">
              <a:spLocks noChangeArrowheads="1"/>
            </p:cNvSpPr>
            <p:nvPr/>
          </p:nvSpPr>
          <p:spPr bwMode="auto">
            <a:xfrm>
              <a:off x="235" y="2736"/>
              <a:ext cx="458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3333CC"/>
                  </a:solidFill>
                  <a:latin typeface="Times New Roman" pitchFamily="18" charset="0"/>
                  <a:cs typeface="Times New Roman" pitchFamily="18" charset="0"/>
                </a:rPr>
                <a:t> The prototype for the rewind() is available in </a:t>
              </a:r>
              <a:r>
                <a:rPr lang="en-US" sz="2400" b="1">
                  <a:solidFill>
                    <a:srgbClr val="D60093"/>
                  </a:solidFill>
                  <a:latin typeface="Times New Roman" pitchFamily="18" charset="0"/>
                  <a:cs typeface="Times New Roman" pitchFamily="18" charset="0"/>
                </a:rPr>
                <a:t>stdio.h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11163" y="550863"/>
            <a:ext cx="8428037" cy="5095875"/>
            <a:chOff x="259" y="347"/>
            <a:chExt cx="5309" cy="3210"/>
          </a:xfrm>
        </p:grpSpPr>
        <p:sp>
          <p:nvSpPr>
            <p:cNvPr id="4099" name="Text Box 3"/>
            <p:cNvSpPr txBox="1">
              <a:spLocks noChangeArrowheads="1"/>
            </p:cNvSpPr>
            <p:nvPr/>
          </p:nvSpPr>
          <p:spPr bwMode="auto">
            <a:xfrm>
              <a:off x="1728" y="347"/>
              <a:ext cx="1709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4000" b="1">
                  <a:solidFill>
                    <a:srgbClr val="D60093"/>
                  </a:solidFill>
                  <a:latin typeface="Times New Roman" pitchFamily="18" charset="0"/>
                  <a:cs typeface="Times New Roman" pitchFamily="18" charset="0"/>
                </a:rPr>
                <a:t>Using feof()</a:t>
              </a:r>
            </a:p>
          </p:txBody>
        </p:sp>
        <p:sp>
          <p:nvSpPr>
            <p:cNvPr id="4100" name="Text Box 4"/>
            <p:cNvSpPr txBox="1">
              <a:spLocks noChangeArrowheads="1"/>
            </p:cNvSpPr>
            <p:nvPr/>
          </p:nvSpPr>
          <p:spPr bwMode="auto">
            <a:xfrm>
              <a:off x="288" y="925"/>
              <a:ext cx="5280" cy="6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FF66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When a file is opened for binary input, an integer value equal to the EOF (End Of File) may be read.</a:t>
              </a:r>
            </a:p>
          </p:txBody>
        </p:sp>
        <p:sp>
          <p:nvSpPr>
            <p:cNvPr id="4101" name="Text Box 5"/>
            <p:cNvSpPr txBox="1">
              <a:spLocks noChangeArrowheads="1"/>
            </p:cNvSpPr>
            <p:nvPr/>
          </p:nvSpPr>
          <p:spPr bwMode="auto">
            <a:xfrm>
              <a:off x="288" y="1703"/>
              <a:ext cx="5280" cy="7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lnSpc>
                  <a:spcPct val="155000"/>
                </a:lnSpc>
                <a:spcBef>
                  <a:spcPct val="25000"/>
                </a:spcBef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FF66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The input routine will indicate an EOF in such a case, even though the end of file has not reached. </a:t>
              </a:r>
            </a:p>
          </p:txBody>
        </p:sp>
        <p:sp>
          <p:nvSpPr>
            <p:cNvPr id="4102" name="Text Box 6"/>
            <p:cNvSpPr txBox="1">
              <a:spLocks noChangeArrowheads="1"/>
            </p:cNvSpPr>
            <p:nvPr/>
          </p:nvSpPr>
          <p:spPr bwMode="auto">
            <a:xfrm>
              <a:off x="259" y="2688"/>
              <a:ext cx="28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FF66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rgbClr val="D60093"/>
                  </a:solidFill>
                  <a:latin typeface="Times New Roman" pitchFamily="18" charset="0"/>
                  <a:cs typeface="Times New Roman" pitchFamily="18" charset="0"/>
                </a:rPr>
                <a:t>The Syntax of this Function is :</a:t>
              </a:r>
            </a:p>
          </p:txBody>
        </p:sp>
        <p:sp>
          <p:nvSpPr>
            <p:cNvPr id="4103" name="WordArt 7"/>
            <p:cNvSpPr>
              <a:spLocks noChangeArrowheads="1" noChangeShapeType="1" noTextEdit="1"/>
            </p:cNvSpPr>
            <p:nvPr/>
          </p:nvSpPr>
          <p:spPr bwMode="auto">
            <a:xfrm>
              <a:off x="768" y="3264"/>
              <a:ext cx="3744" cy="29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effectLst>
                    <a:outerShdw dist="35921" dir="2700000" algn="ctr" rotWithShape="0">
                      <a:srgbClr val="808080"/>
                    </a:outerShdw>
                  </a:effectLst>
                  <a:latin typeface="Arial Black"/>
                </a:rPr>
                <a:t>int feof(FILE *fp);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33388" y="533400"/>
            <a:ext cx="8101012" cy="4572000"/>
            <a:chOff x="273" y="336"/>
            <a:chExt cx="5103" cy="2880"/>
          </a:xfrm>
        </p:grpSpPr>
        <p:sp>
          <p:nvSpPr>
            <p:cNvPr id="5123" name="Text Box 3"/>
            <p:cNvSpPr txBox="1">
              <a:spLocks noChangeArrowheads="1"/>
            </p:cNvSpPr>
            <p:nvPr/>
          </p:nvSpPr>
          <p:spPr bwMode="auto">
            <a:xfrm>
              <a:off x="912" y="336"/>
              <a:ext cx="3780" cy="404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3600" b="1">
                  <a:solidFill>
                    <a:srgbClr val="800000"/>
                  </a:solidFill>
                  <a:latin typeface="Times New Roman" pitchFamily="18" charset="0"/>
                  <a:cs typeface="Times New Roman" pitchFamily="18" charset="0"/>
                </a:rPr>
                <a:t>Current File Pointer Position </a:t>
              </a:r>
            </a:p>
          </p:txBody>
        </p:sp>
        <p:sp>
          <p:nvSpPr>
            <p:cNvPr id="5124" name="Text Box 4"/>
            <p:cNvSpPr txBox="1">
              <a:spLocks noChangeArrowheads="1"/>
            </p:cNvSpPr>
            <p:nvPr/>
          </p:nvSpPr>
          <p:spPr bwMode="auto">
            <a:xfrm>
              <a:off x="346" y="960"/>
              <a:ext cx="5030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FF66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In order to keep track of the position where I/O operations take place a pointer is maintained in the file structure.</a:t>
              </a:r>
            </a:p>
          </p:txBody>
        </p:sp>
        <p:sp>
          <p:nvSpPr>
            <p:cNvPr id="5125" name="Text Box 5"/>
            <p:cNvSpPr txBox="1">
              <a:spLocks noChangeArrowheads="1"/>
            </p:cNvSpPr>
            <p:nvPr/>
          </p:nvSpPr>
          <p:spPr bwMode="auto">
            <a:xfrm>
              <a:off x="273" y="1978"/>
              <a:ext cx="5055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FF66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The current location of the current active pointer can be found with the help of the ftell() function</a:t>
              </a:r>
            </a:p>
          </p:txBody>
        </p:sp>
        <p:sp>
          <p:nvSpPr>
            <p:cNvPr id="5126" name="WordArt 6"/>
            <p:cNvSpPr>
              <a:spLocks noChangeArrowheads="1" noChangeShapeType="1" noTextEdit="1"/>
            </p:cNvSpPr>
            <p:nvPr/>
          </p:nvSpPr>
          <p:spPr bwMode="auto">
            <a:xfrm>
              <a:off x="1104" y="2880"/>
              <a:ext cx="3594" cy="3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effectLst>
                    <a:outerShdw dist="35921" dir="2700000" algn="ctr" rotWithShape="0">
                      <a:srgbClr val="808080"/>
                    </a:outerShdw>
                  </a:effectLst>
                  <a:latin typeface="Arial Black"/>
                </a:rPr>
                <a:t>long int ftell( FILE *fp);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52400" y="327025"/>
            <a:ext cx="8686800" cy="5143500"/>
            <a:chOff x="96" y="206"/>
            <a:chExt cx="5472" cy="3240"/>
          </a:xfrm>
        </p:grpSpPr>
        <p:sp>
          <p:nvSpPr>
            <p:cNvPr id="6147" name="Text Box 3"/>
            <p:cNvSpPr txBox="1">
              <a:spLocks noChangeArrowheads="1"/>
            </p:cNvSpPr>
            <p:nvPr/>
          </p:nvSpPr>
          <p:spPr bwMode="auto">
            <a:xfrm>
              <a:off x="480" y="206"/>
              <a:ext cx="4752" cy="327"/>
            </a:xfrm>
            <a:prstGeom prst="rect">
              <a:avLst/>
            </a:prstGeom>
            <a:solidFill>
              <a:srgbClr val="66FF33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800" b="1">
                  <a:solidFill>
                    <a:srgbClr val="800000"/>
                  </a:solidFill>
                  <a:latin typeface="Bookman Old Style" pitchFamily="18" charset="0"/>
                  <a:cs typeface="Times New Roman" pitchFamily="18" charset="0"/>
                </a:rPr>
                <a:t>Setting Current File Pointer Position</a:t>
              </a:r>
            </a:p>
          </p:txBody>
        </p:sp>
        <p:sp>
          <p:nvSpPr>
            <p:cNvPr id="6148" name="Text Box 4"/>
            <p:cNvSpPr txBox="1">
              <a:spLocks noChangeArrowheads="1"/>
            </p:cNvSpPr>
            <p:nvPr/>
          </p:nvSpPr>
          <p:spPr bwMode="auto">
            <a:xfrm>
              <a:off x="384" y="672"/>
              <a:ext cx="4944" cy="9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just"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FF66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The fseek() function repositions the filepointer by a specified number of bytes from the start, the current position or the end of the stream  depending upon the position specified in the fseek() function.</a:t>
              </a:r>
            </a:p>
          </p:txBody>
        </p:sp>
        <p:sp>
          <p:nvSpPr>
            <p:cNvPr id="6149" name="WordArt 5"/>
            <p:cNvSpPr>
              <a:spLocks noChangeArrowheads="1" noChangeShapeType="1" noTextEdit="1"/>
            </p:cNvSpPr>
            <p:nvPr/>
          </p:nvSpPr>
          <p:spPr bwMode="auto">
            <a:xfrm>
              <a:off x="720" y="2352"/>
              <a:ext cx="4128" cy="30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IN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effectLst>
                    <a:outerShdw dist="35921" dir="2700000" algn="ctr" rotWithShape="0">
                      <a:srgbClr val="808080"/>
                    </a:outerShdw>
                  </a:effectLst>
                  <a:latin typeface="Arial Black"/>
                </a:rPr>
                <a:t>int fseek( FILE *fp, long int offset, int origin);</a:t>
              </a:r>
            </a:p>
          </p:txBody>
        </p:sp>
        <p:sp>
          <p:nvSpPr>
            <p:cNvPr id="6150" name="Text Box 6"/>
            <p:cNvSpPr txBox="1">
              <a:spLocks noChangeArrowheads="1"/>
            </p:cNvSpPr>
            <p:nvPr/>
          </p:nvSpPr>
          <p:spPr bwMode="auto">
            <a:xfrm>
              <a:off x="96" y="1824"/>
              <a:ext cx="335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FF66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rgbClr val="D60093"/>
                  </a:solidFill>
                  <a:latin typeface="Times New Roman" pitchFamily="18" charset="0"/>
                  <a:cs typeface="Times New Roman" pitchFamily="18" charset="0"/>
                </a:rPr>
                <a:t>The Syntax of the fseek() function is -</a:t>
              </a:r>
            </a:p>
          </p:txBody>
        </p:sp>
        <p:sp>
          <p:nvSpPr>
            <p:cNvPr id="6151" name="Text Box 7"/>
            <p:cNvSpPr txBox="1">
              <a:spLocks noChangeArrowheads="1"/>
            </p:cNvSpPr>
            <p:nvPr/>
          </p:nvSpPr>
          <p:spPr bwMode="auto">
            <a:xfrm>
              <a:off x="144" y="2928"/>
              <a:ext cx="5424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Tx/>
                <a:buBlip>
                  <a:blip r:embed="rId2"/>
                </a:buBlip>
              </a:pPr>
              <a:r>
                <a:rPr lang="en-US" sz="2400" b="1">
                  <a:solidFill>
                    <a:srgbClr val="FF66FF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>
                  <a:solidFill>
                    <a:srgbClr val="000099"/>
                  </a:solidFill>
                  <a:latin typeface="Times New Roman" pitchFamily="18" charset="0"/>
                  <a:cs typeface="Times New Roman" pitchFamily="18" charset="0"/>
                </a:rPr>
                <a:t>Here the offset is the number of bytes beyond the file location given by origin.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66713" y="581025"/>
            <a:ext cx="80152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600" b="1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Setting Current File Pointer Position</a:t>
            </a:r>
            <a:r>
              <a:rPr lang="en-US" sz="3600">
                <a:solidFill>
                  <a:srgbClr val="00FFFF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533400" y="1641475"/>
            <a:ext cx="8153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>
                <a:solidFill>
                  <a:srgbClr val="FF66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The origin indicates the starting position of the search and must have  the value of either 0 ,1 or 2.</a:t>
            </a:r>
          </a:p>
        </p:txBody>
      </p:sp>
      <p:graphicFrame>
        <p:nvGraphicFramePr>
          <p:cNvPr id="24580" name="Group 4"/>
          <p:cNvGraphicFramePr>
            <a:graphicFrameLocks noGrp="1"/>
          </p:cNvGraphicFramePr>
          <p:nvPr/>
        </p:nvGraphicFramePr>
        <p:xfrm>
          <a:off x="457200" y="3149600"/>
          <a:ext cx="8305800" cy="2489200"/>
        </p:xfrm>
        <a:graphic>
          <a:graphicData uri="http://schemas.openxmlformats.org/drawingml/2006/table">
            <a:tbl>
              <a:tblPr/>
              <a:tblGrid>
                <a:gridCol w="2971800"/>
                <a:gridCol w="5334000"/>
              </a:tblGrid>
              <a:tr h="622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</a:rPr>
                        <a:t>Origin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Arial" charset="0"/>
                        </a:rPr>
                        <a:t>File Location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60093"/>
                          </a:solidFill>
                          <a:effectLst/>
                          <a:latin typeface="Bookman Old Style" pitchFamily="18" charset="0"/>
                        </a:rPr>
                        <a:t>SEEK_SET or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60093"/>
                          </a:solidFill>
                          <a:effectLst/>
                          <a:latin typeface="Bookman Old Style" pitchFamily="18" charset="0"/>
                        </a:rPr>
                        <a:t>Beginning of file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60093"/>
                          </a:solidFill>
                          <a:effectLst/>
                          <a:latin typeface="Bookman Old Style" pitchFamily="18" charset="0"/>
                        </a:rPr>
                        <a:t>SEEK_CUR or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60093"/>
                          </a:solidFill>
                          <a:effectLst/>
                          <a:latin typeface="Bookman Old Style" pitchFamily="18" charset="0"/>
                        </a:rPr>
                        <a:t>Current file pointer position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60093"/>
                          </a:solidFill>
                          <a:effectLst/>
                          <a:latin typeface="Bookman Old Style" pitchFamily="18" charset="0"/>
                        </a:rPr>
                        <a:t>SEEK_END or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D60093"/>
                          </a:solidFill>
                          <a:effectLst/>
                          <a:latin typeface="Bookman Old Style" pitchFamily="18" charset="0"/>
                        </a:rPr>
                        <a:t>End of file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0" dur="20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3" dur="20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/>
      <p:bldP spid="24579" grpId="0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76200" y="479425"/>
            <a:ext cx="8686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600" b="1">
                <a:solidFill>
                  <a:srgbClr val="D60093"/>
                </a:solidFill>
                <a:latin typeface="Arial Unicode MS" pitchFamily="34" charset="-128"/>
                <a:cs typeface="Times New Roman" pitchFamily="18" charset="0"/>
              </a:rPr>
              <a:t>The fread() and fwrite() function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76200" y="2590800"/>
            <a:ext cx="5116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FF66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rgbClr val="D60093"/>
                </a:solidFill>
                <a:latin typeface="Times New Roman" pitchFamily="18" charset="0"/>
                <a:cs typeface="Times New Roman" pitchFamily="18" charset="0"/>
              </a:rPr>
              <a:t>The Syntax for these functions are</a:t>
            </a:r>
            <a:r>
              <a:rPr lang="en-US" sz="2400" b="1">
                <a:solidFill>
                  <a:srgbClr val="FF66FF"/>
                </a:solidFill>
                <a:latin typeface="Times New Roman" pitchFamily="18" charset="0"/>
                <a:cs typeface="Times New Roman" pitchFamily="18" charset="0"/>
              </a:rPr>
              <a:t> -</a:t>
            </a:r>
          </a:p>
        </p:txBody>
      </p:sp>
      <p:sp>
        <p:nvSpPr>
          <p:cNvPr id="25604" name="Text Box 4"/>
          <p:cNvSpPr txBox="1">
            <a:spLocks noChangeArrowheads="1"/>
          </p:cNvSpPr>
          <p:nvPr/>
        </p:nvSpPr>
        <p:spPr bwMode="auto">
          <a:xfrm>
            <a:off x="130175" y="4038600"/>
            <a:ext cx="9013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size_t fread(void *buffer, size_t num_bytes, size_t count FILE *fp); </a:t>
            </a: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-76200" y="5745163"/>
            <a:ext cx="8980488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2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size_t fwrite(const void *buffer, size_t num_bytes, size_t count FILE *fp);</a:t>
            </a:r>
          </a:p>
        </p:txBody>
      </p:sp>
      <p:sp>
        <p:nvSpPr>
          <p:cNvPr id="25606" name="WordArt 6"/>
          <p:cNvSpPr>
            <a:spLocks noChangeArrowheads="1" noChangeShapeType="1" noTextEdit="1"/>
          </p:cNvSpPr>
          <p:nvPr/>
        </p:nvSpPr>
        <p:spPr bwMode="auto">
          <a:xfrm>
            <a:off x="3590925" y="3276600"/>
            <a:ext cx="16573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/>
              </a:rPr>
              <a:t>fread()</a:t>
            </a:r>
          </a:p>
        </p:txBody>
      </p:sp>
      <p:sp>
        <p:nvSpPr>
          <p:cNvPr id="25607" name="WordArt 7"/>
          <p:cNvSpPr>
            <a:spLocks noChangeArrowheads="1" noChangeShapeType="1" noTextEdit="1"/>
          </p:cNvSpPr>
          <p:nvPr/>
        </p:nvSpPr>
        <p:spPr bwMode="auto">
          <a:xfrm>
            <a:off x="3581400" y="4991100"/>
            <a:ext cx="16573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/>
              </a:rPr>
              <a:t>fwrite()</a:t>
            </a:r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533400" y="1524000"/>
            <a:ext cx="81534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Blip>
                <a:blip r:embed="rId2"/>
              </a:buBlip>
            </a:pPr>
            <a:r>
              <a:rPr lang="en-US" sz="24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Used to read and write an entire block of data to and from a file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8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3" grpId="0"/>
      <p:bldP spid="25604" grpId="0"/>
      <p:bldP spid="25605" grpId="0"/>
      <p:bldP spid="25606" grpId="0" animBg="1"/>
      <p:bldP spid="25607" grpId="0" animBg="1"/>
      <p:bldP spid="25608" grpId="0"/>
    </p:bld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1447800"/>
            <a:ext cx="1981200" cy="520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#include&lt;stdio.h&gt;</a:t>
            </a:r>
          </a:p>
          <a:p>
            <a:r>
              <a:rPr lang="en-US" sz="1400" b="1"/>
              <a:t>#include&lt;stdlib.h&gt;</a:t>
            </a:r>
          </a:p>
          <a:p>
            <a:r>
              <a:rPr lang="en-US" sz="1400" b="1"/>
              <a:t>#include&lt;conio.h&gt;</a:t>
            </a:r>
          </a:p>
          <a:p>
            <a:r>
              <a:rPr lang="en-US" sz="1400" b="1"/>
              <a:t>#include&lt;dos.h&gt;</a:t>
            </a:r>
          </a:p>
          <a:p>
            <a:r>
              <a:rPr lang="en-US" sz="1400" b="1"/>
              <a:t>void add_record();</a:t>
            </a:r>
          </a:p>
          <a:p>
            <a:r>
              <a:rPr lang="en-US" sz="1400" b="1"/>
              <a:t>void view_record();</a:t>
            </a:r>
          </a:p>
          <a:p>
            <a:r>
              <a:rPr lang="en-US" sz="1400" b="1"/>
              <a:t>void modify_record();</a:t>
            </a:r>
          </a:p>
          <a:p>
            <a:r>
              <a:rPr lang="en-US" sz="1400" b="1"/>
              <a:t>void del_record();</a:t>
            </a:r>
          </a:p>
          <a:p>
            <a:endParaRPr lang="en-US" sz="1400" b="1"/>
          </a:p>
          <a:p>
            <a:r>
              <a:rPr lang="en-US" sz="1400" b="1"/>
              <a:t>struct electric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long int scno;</a:t>
            </a:r>
          </a:p>
          <a:p>
            <a:r>
              <a:rPr lang="en-US" sz="1400" b="1"/>
              <a:t>char pname[30];</a:t>
            </a:r>
          </a:p>
          <a:p>
            <a:r>
              <a:rPr lang="en-US" sz="1400" b="1"/>
              <a:t>char area[20];</a:t>
            </a:r>
          </a:p>
          <a:p>
            <a:r>
              <a:rPr lang="en-US" sz="1400" b="1"/>
              <a:t>float cur_reading;</a:t>
            </a:r>
          </a:p>
          <a:p>
            <a:r>
              <a:rPr lang="en-US" sz="1400" b="1"/>
              <a:t>float pre_reading;</a:t>
            </a:r>
          </a:p>
          <a:p>
            <a:r>
              <a:rPr lang="en-US" sz="1400" b="1"/>
              <a:t>};</a:t>
            </a:r>
          </a:p>
          <a:p>
            <a:endParaRPr lang="en-US" sz="1400" b="1"/>
          </a:p>
          <a:p>
            <a:r>
              <a:rPr lang="en-US" sz="1400" b="1"/>
              <a:t>void main()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int ch,i;</a:t>
            </a:r>
          </a:p>
          <a:p>
            <a:r>
              <a:rPr lang="en-US" sz="1400" b="1"/>
              <a:t>MENU:</a:t>
            </a:r>
          </a:p>
          <a:p>
            <a:r>
              <a:rPr lang="en-US" sz="1400" b="1"/>
              <a:t>clrscr();</a:t>
            </a:r>
          </a:p>
        </p:txBody>
      </p:sp>
      <p:sp>
        <p:nvSpPr>
          <p:cNvPr id="9219" name="WordArt 3"/>
          <p:cNvSpPr>
            <a:spLocks noChangeArrowheads="1" noChangeShapeType="1" noTextEdit="1"/>
          </p:cNvSpPr>
          <p:nvPr/>
        </p:nvSpPr>
        <p:spPr bwMode="auto">
          <a:xfrm>
            <a:off x="914400" y="0"/>
            <a:ext cx="63436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RANDOM FILE CREATION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1981200" y="1438275"/>
            <a:ext cx="2743200" cy="5419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printf("\n 1. Add Record ");</a:t>
            </a:r>
          </a:p>
          <a:p>
            <a:r>
              <a:rPr lang="en-US" sz="1400" b="1"/>
              <a:t>printf("\n 2.View Record");</a:t>
            </a:r>
          </a:p>
          <a:p>
            <a:r>
              <a:rPr lang="en-US" sz="1400" b="1"/>
              <a:t>printf("\n 3.Delete a Record");</a:t>
            </a:r>
          </a:p>
          <a:p>
            <a:r>
              <a:rPr lang="en-US" sz="1400" b="1"/>
              <a:t>printf("\n 4.Modify a record");</a:t>
            </a:r>
          </a:p>
          <a:p>
            <a:r>
              <a:rPr lang="en-US" sz="1400" b="1"/>
              <a:t>printf("\n 5.Terminate the Program");</a:t>
            </a:r>
          </a:p>
          <a:p>
            <a:r>
              <a:rPr lang="en-US" sz="1400" b="1"/>
              <a:t>CHOICE :</a:t>
            </a:r>
          </a:p>
          <a:p>
            <a:r>
              <a:rPr lang="en-US" sz="1400" b="1"/>
              <a:t>printf("\n Enter your choice ");</a:t>
            </a:r>
          </a:p>
          <a:p>
            <a:r>
              <a:rPr lang="en-US" sz="1400" b="1"/>
              <a:t>scanf("%d",&amp;ch);</a:t>
            </a:r>
          </a:p>
          <a:p>
            <a:r>
              <a:rPr lang="en-US" sz="1400" b="1"/>
              <a:t>if((ch&lt;1) &amp;&amp; (ch&gt;5))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goto CHOICE;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switch(ch)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case 1:add_record();</a:t>
            </a:r>
          </a:p>
          <a:p>
            <a:r>
              <a:rPr lang="en-US" sz="1400" b="1"/>
              <a:t>	break;</a:t>
            </a:r>
          </a:p>
          <a:p>
            <a:r>
              <a:rPr lang="en-US" sz="1400" b="1"/>
              <a:t>case 2:view_record();</a:t>
            </a:r>
          </a:p>
          <a:p>
            <a:r>
              <a:rPr lang="en-US" sz="1400" b="1"/>
              <a:t>break;</a:t>
            </a:r>
          </a:p>
          <a:p>
            <a:r>
              <a:rPr lang="en-US" sz="1400" b="1"/>
              <a:t>case 3:del_record();</a:t>
            </a:r>
          </a:p>
          <a:p>
            <a:r>
              <a:rPr lang="en-US" sz="1400" b="1"/>
              <a:t>break;</a:t>
            </a:r>
          </a:p>
          <a:p>
            <a:r>
              <a:rPr lang="en-US" sz="1400" b="1"/>
              <a:t>case 4:modify_record();</a:t>
            </a:r>
          </a:p>
          <a:p>
            <a:r>
              <a:rPr lang="en-US" sz="1400" b="1"/>
              <a:t>break;</a:t>
            </a:r>
          </a:p>
          <a:p>
            <a:r>
              <a:rPr lang="en-US" sz="1400" b="1"/>
              <a:t>case 5:exit(0);</a:t>
            </a:r>
          </a:p>
          <a:p>
            <a:r>
              <a:rPr lang="en-US" sz="1400" b="1"/>
              <a:t>}</a:t>
            </a: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4800600" y="1787525"/>
            <a:ext cx="4038600" cy="4994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goto MENU;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void add_record()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struct electric r;</a:t>
            </a:r>
          </a:p>
          <a:p>
            <a:r>
              <a:rPr lang="en-US" sz="1400" b="1"/>
              <a:t>FILE  *eb;</a:t>
            </a:r>
          </a:p>
          <a:p>
            <a:r>
              <a:rPr lang="en-US" sz="1400" b="1"/>
              <a:t>char flag;</a:t>
            </a:r>
          </a:p>
          <a:p>
            <a:r>
              <a:rPr lang="en-US" sz="1400" b="1"/>
              <a:t>eb=fopen("eb.dat","ab+");</a:t>
            </a:r>
          </a:p>
          <a:p>
            <a:r>
              <a:rPr lang="en-US" sz="1400" b="1"/>
              <a:t>clrscr();</a:t>
            </a:r>
          </a:p>
          <a:p>
            <a:r>
              <a:rPr lang="en-US" sz="1400" b="1"/>
              <a:t>do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printf("\n Enter Details");</a:t>
            </a:r>
          </a:p>
          <a:p>
            <a:r>
              <a:rPr lang="en-US" sz="1400" b="1"/>
              <a:t>scanf("%ld %s %s %f %f",&amp;r.scno,r.pname,r.area,&amp;r.pre_reading,&amp;r.cur_reading);</a:t>
            </a:r>
          </a:p>
          <a:p>
            <a:r>
              <a:rPr lang="en-US" sz="1400" b="1"/>
              <a:t>fwrite(&amp;r,sizeof(r),1,eb);</a:t>
            </a:r>
          </a:p>
          <a:p>
            <a:r>
              <a:rPr lang="en-US" sz="1400" b="1"/>
              <a:t>fflush(stdin);</a:t>
            </a:r>
          </a:p>
          <a:p>
            <a:r>
              <a:rPr lang="en-US" sz="1400" b="1"/>
              <a:t>printf("\n Add another record [y/n];");</a:t>
            </a:r>
          </a:p>
          <a:p>
            <a:r>
              <a:rPr lang="en-US" sz="1400" b="1"/>
              <a:t>flag=getchar();</a:t>
            </a:r>
          </a:p>
          <a:p>
            <a:r>
              <a:rPr lang="en-US" sz="1400" b="1"/>
              <a:t>}while(toupper(flag)=='Y');</a:t>
            </a:r>
          </a:p>
          <a:p>
            <a:r>
              <a:rPr lang="en-US" sz="1400" b="1"/>
              <a:t>fclose(eb);</a:t>
            </a:r>
          </a:p>
          <a:p>
            <a:r>
              <a:rPr lang="en-US" sz="1400" b="1"/>
              <a:t>}</a:t>
            </a:r>
          </a:p>
          <a:p>
            <a:endParaRPr lang="en-US" sz="1400" b="1"/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0" y="685800"/>
            <a:ext cx="9144000" cy="517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solidFill>
                  <a:srgbClr val="800000"/>
                </a:solidFill>
              </a:rPr>
              <a:t>Write a “C” Program to add, View ,Modify and Delete Records in Electricity Board Bill Preparation using Random File</a:t>
            </a:r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1752600" y="990600"/>
            <a:ext cx="3917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(Refer Page No:304,Don not Copy)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52400" y="152400"/>
            <a:ext cx="4800600" cy="6483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void view_record()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struct electric r;</a:t>
            </a:r>
          </a:p>
          <a:p>
            <a:r>
              <a:rPr lang="en-US" sz="1400" b="1"/>
              <a:t>FILE *eb;</a:t>
            </a:r>
          </a:p>
          <a:p>
            <a:r>
              <a:rPr lang="en-US" sz="1400" b="1"/>
              <a:t>char flag;</a:t>
            </a:r>
          </a:p>
          <a:p>
            <a:r>
              <a:rPr lang="en-US" sz="1400" b="1"/>
              <a:t>eb=fopen("eb.dat","rb+");</a:t>
            </a:r>
          </a:p>
          <a:p>
            <a:r>
              <a:rPr lang="en-US" sz="1400" b="1"/>
              <a:t>clrscr();</a:t>
            </a:r>
          </a:p>
          <a:p>
            <a:r>
              <a:rPr lang="en-US" sz="1400" b="1"/>
              <a:t>while((fread(&amp;r,sizeof(r),1,eb)!=NULL))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printf("\n The File datas Are \n\n");</a:t>
            </a:r>
          </a:p>
          <a:p>
            <a:r>
              <a:rPr lang="en-US" sz="1400" b="1"/>
              <a:t>printf("%ld %s %s %f %f",r.scno,r.pname,r.area,r.pre_reading,r.cur_reading);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void del_record()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struct electric r;</a:t>
            </a:r>
          </a:p>
          <a:p>
            <a:r>
              <a:rPr lang="en-US" sz="1400" b="1"/>
              <a:t>FILE *eb,*temp;</a:t>
            </a:r>
          </a:p>
          <a:p>
            <a:r>
              <a:rPr lang="en-US" sz="1400" b="1"/>
              <a:t>long int no;</a:t>
            </a:r>
          </a:p>
          <a:p>
            <a:r>
              <a:rPr lang="en-US" sz="1400" b="1"/>
              <a:t>char ch;</a:t>
            </a:r>
          </a:p>
          <a:p>
            <a:r>
              <a:rPr lang="en-US" sz="1400" b="1"/>
              <a:t>temp=fopen("temp.dat","wb+");</a:t>
            </a:r>
          </a:p>
          <a:p>
            <a:r>
              <a:rPr lang="en-US" sz="1400" b="1"/>
              <a:t>eb=fopen("eb.dat","rb+");</a:t>
            </a:r>
          </a:p>
          <a:p>
            <a:r>
              <a:rPr lang="en-US" sz="1400" b="1"/>
              <a:t>clrscr();</a:t>
            </a:r>
          </a:p>
          <a:p>
            <a:r>
              <a:rPr lang="en-US" sz="1400" b="1"/>
              <a:t>printf("\n Enter the Number to Delete :");</a:t>
            </a:r>
          </a:p>
          <a:p>
            <a:r>
              <a:rPr lang="en-US" sz="1400" b="1"/>
              <a:t>scanf("%ld",&amp;no);</a:t>
            </a:r>
          </a:p>
          <a:p>
            <a:r>
              <a:rPr lang="en-US" sz="1400" b="1"/>
              <a:t>while((fread(&amp;r,sizeof(r),1,eb)!=NULL))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if(r.scno==no)</a:t>
            </a:r>
          </a:p>
          <a:p>
            <a:r>
              <a:rPr lang="en-US" sz="1400" b="1"/>
              <a:t>{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5181600" y="228600"/>
            <a:ext cx="3581400" cy="5845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clrscr();</a:t>
            </a:r>
          </a:p>
          <a:p>
            <a:r>
              <a:rPr lang="en-US" sz="1400" b="1"/>
              <a:t>printf("\n The File datas Are \n\n");</a:t>
            </a:r>
          </a:p>
          <a:p>
            <a:r>
              <a:rPr lang="en-US" sz="1400" b="1"/>
              <a:t>printf("%ld %s %s %f %f",r.scno,r.pname,r.area,r.pre_reading,r.cur_reading);</a:t>
            </a:r>
          </a:p>
          <a:p>
            <a:r>
              <a:rPr lang="en-US" sz="1400" b="1"/>
              <a:t>fflush(stdin);</a:t>
            </a:r>
          </a:p>
          <a:p>
            <a:r>
              <a:rPr lang="en-US" sz="1400" b="1"/>
              <a:t>printf("\n Are U Sure to Delete this record[Y/N]:");</a:t>
            </a:r>
          </a:p>
          <a:p>
            <a:r>
              <a:rPr lang="en-US" sz="1400" b="1"/>
              <a:t>ch=getchar();</a:t>
            </a:r>
          </a:p>
          <a:p>
            <a:r>
              <a:rPr lang="en-US" sz="1400" b="1"/>
              <a:t>if(toupper(ch)=='Y')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fwrite(&amp;r,sizeof(r),1,temp);</a:t>
            </a:r>
          </a:p>
          <a:p>
            <a:r>
              <a:rPr lang="en-US" sz="1400" b="1"/>
              <a:t>continue;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else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fwrite(&amp;r,sizeof(r),1,temp);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remove("eb.dat");</a:t>
            </a:r>
          </a:p>
          <a:p>
            <a:r>
              <a:rPr lang="en-US" sz="1400" b="1"/>
              <a:t>rename("temp.dat","eb.dat");</a:t>
            </a:r>
          </a:p>
          <a:p>
            <a:r>
              <a:rPr lang="en-US" sz="1400" b="1"/>
              <a:t>remove("temp.dat");</a:t>
            </a:r>
          </a:p>
          <a:p>
            <a:r>
              <a:rPr lang="en-US" sz="1400" b="1"/>
              <a:t>fclose(eb);</a:t>
            </a:r>
          </a:p>
          <a:p>
            <a:r>
              <a:rPr lang="en-US" sz="1400" b="1"/>
              <a:t>fclose(temp);</a:t>
            </a:r>
          </a:p>
          <a:p>
            <a:r>
              <a:rPr lang="en-US" sz="1400" b="1"/>
              <a:t>return;</a:t>
            </a:r>
          </a:p>
          <a:p>
            <a:r>
              <a:rPr lang="en-US" sz="1400" b="1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228600" y="228600"/>
            <a:ext cx="4572000" cy="58451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void modify_record()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struct electric r;</a:t>
            </a:r>
          </a:p>
          <a:p>
            <a:r>
              <a:rPr lang="en-US" sz="1400" b="1"/>
              <a:t>FILE *eb;</a:t>
            </a:r>
          </a:p>
          <a:p>
            <a:r>
              <a:rPr lang="en-US" sz="1400" b="1"/>
              <a:t>long int no,pos;</a:t>
            </a:r>
          </a:p>
          <a:p>
            <a:r>
              <a:rPr lang="en-US" sz="1400" b="1"/>
              <a:t>char ch;</a:t>
            </a:r>
          </a:p>
          <a:p>
            <a:r>
              <a:rPr lang="en-US" sz="1400" b="1"/>
              <a:t>eb=fopen("eb.dat","rb+");</a:t>
            </a:r>
          </a:p>
          <a:p>
            <a:r>
              <a:rPr lang="en-US" sz="1400" b="1"/>
              <a:t>clrscr();</a:t>
            </a:r>
          </a:p>
          <a:p>
            <a:r>
              <a:rPr lang="en-US" sz="1400" b="1"/>
              <a:t>printf("\n Enter the Service Number to modify :");</a:t>
            </a:r>
          </a:p>
          <a:p>
            <a:r>
              <a:rPr lang="en-US" sz="1400" b="1"/>
              <a:t>scanf("%ld",&amp;no);</a:t>
            </a:r>
          </a:p>
          <a:p>
            <a:r>
              <a:rPr lang="en-US" sz="1400" b="1"/>
              <a:t>while(eb!=NULL)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pos=ftell(eb);</a:t>
            </a:r>
          </a:p>
          <a:p>
            <a:r>
              <a:rPr lang="en-US" sz="1400" b="1"/>
              <a:t>fread(&amp;r,sizeof(r),1,eb);</a:t>
            </a:r>
          </a:p>
          <a:p>
            <a:r>
              <a:rPr lang="en-US" sz="1400" b="1"/>
              <a:t>if(r.scno==no)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clrscr();</a:t>
            </a:r>
          </a:p>
          <a:p>
            <a:r>
              <a:rPr lang="en-US" sz="1400" b="1"/>
              <a:t>printf("\n The File datas Are \n\n");</a:t>
            </a:r>
          </a:p>
          <a:p>
            <a:r>
              <a:rPr lang="en-US" sz="1400" b="1"/>
              <a:t>printf("%ld %s %s %f %f",r.scno,r.pname,r.area,r.pre_reading,r.cur_reading);</a:t>
            </a:r>
          </a:p>
          <a:p>
            <a:r>
              <a:rPr lang="en-US" sz="1400" b="1"/>
              <a:t>fflush(stdin);</a:t>
            </a:r>
          </a:p>
          <a:p>
            <a:r>
              <a:rPr lang="en-US" sz="1400" b="1"/>
              <a:t>printf("\n Are U Sure to Modify this record[Y/N]:");</a:t>
            </a:r>
          </a:p>
          <a:p>
            <a:r>
              <a:rPr lang="en-US" sz="1400" b="1"/>
              <a:t>ch=getchar();</a:t>
            </a:r>
          </a:p>
          <a:p>
            <a:r>
              <a:rPr lang="en-US" sz="1400" b="1"/>
              <a:t>if(toupper(ch)=='Y')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printf("\n Enter Details");</a:t>
            </a: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4876800" y="609600"/>
            <a:ext cx="4114800" cy="350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b="1"/>
              <a:t>scanf("%ld %s %s %f %f",&amp;r.scno,r.pname, r.area,&amp;r.pre_reading,&amp;r.cur_reading);</a:t>
            </a:r>
          </a:p>
          <a:p>
            <a:r>
              <a:rPr lang="en-US" sz="1400" b="1"/>
              <a:t>fseek(eb,0,pos);</a:t>
            </a:r>
          </a:p>
          <a:p>
            <a:r>
              <a:rPr lang="en-US" sz="1400" b="1"/>
              <a:t>fwrite(&amp;r,sizeof(r),1,eb);</a:t>
            </a:r>
          </a:p>
          <a:p>
            <a:r>
              <a:rPr lang="en-US" sz="1400" b="1"/>
              <a:t>puts("Record Updated Sucessfully");</a:t>
            </a:r>
          </a:p>
          <a:p>
            <a:r>
              <a:rPr lang="en-US" sz="1400" b="1"/>
              <a:t>getch();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else</a:t>
            </a:r>
          </a:p>
          <a:p>
            <a:r>
              <a:rPr lang="en-US" sz="1400" b="1"/>
              <a:t>{</a:t>
            </a:r>
          </a:p>
          <a:p>
            <a:r>
              <a:rPr lang="en-US" sz="1400" b="1"/>
              <a:t>puts("Service Number Not Found");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fclose(eb);</a:t>
            </a:r>
          </a:p>
          <a:p>
            <a:r>
              <a:rPr lang="en-US" sz="1400" b="1"/>
              <a:t>return;</a:t>
            </a:r>
          </a:p>
          <a:p>
            <a:r>
              <a:rPr lang="en-US" sz="1400" b="1"/>
              <a:t>}</a:t>
            </a:r>
          </a:p>
          <a:p>
            <a:r>
              <a:rPr lang="en-US" sz="1400" b="1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WordArt 2"/>
          <p:cNvSpPr>
            <a:spLocks noChangeArrowheads="1" noChangeShapeType="1" noTextEdit="1"/>
          </p:cNvSpPr>
          <p:nvPr/>
        </p:nvSpPr>
        <p:spPr bwMode="auto">
          <a:xfrm>
            <a:off x="1676400" y="304800"/>
            <a:ext cx="59436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IN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/>
              </a:rPr>
              <a:t>Points to be  Remember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228600" y="914400"/>
            <a:ext cx="8686800" cy="587216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15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en-US" sz="2000" b="1"/>
              <a:t> </a:t>
            </a:r>
            <a:r>
              <a:rPr lang="en-US" sz="2000" b="1">
                <a:latin typeface="Times New Roman" pitchFamily="18" charset="0"/>
              </a:rPr>
              <a:t>fopen()  opens a stream for use and links a file with that stream</a:t>
            </a:r>
          </a:p>
          <a:p>
            <a:pPr algn="just">
              <a:lnSpc>
                <a:spcPct val="115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en-US" sz="2000" b="1">
                <a:latin typeface="Times New Roman" pitchFamily="18" charset="0"/>
              </a:rPr>
              <a:t> fclose() closes a stream that was opened by  a call to fopen()</a:t>
            </a:r>
          </a:p>
          <a:p>
            <a:pPr algn="just">
              <a:lnSpc>
                <a:spcPct val="115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en-US" sz="2000" b="1">
                <a:latin typeface="Times New Roman" pitchFamily="18" charset="0"/>
              </a:rPr>
              <a:t> fputc()is used to write characters,fgetc() is used to read characters from an open file</a:t>
            </a:r>
          </a:p>
          <a:p>
            <a:pPr algn="just">
              <a:lnSpc>
                <a:spcPct val="115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en-US" sz="2000" b="1">
                <a:latin typeface="Times New Roman" pitchFamily="18" charset="0"/>
              </a:rPr>
              <a:t> fputs is used to   write group of characters(string) fgets() is used to read group of characters from an open file</a:t>
            </a:r>
          </a:p>
          <a:p>
            <a:pPr algn="just">
              <a:lnSpc>
                <a:spcPct val="115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en-US" sz="2000" b="1">
                <a:latin typeface="Times New Roman" pitchFamily="18" charset="0"/>
              </a:rPr>
              <a:t> feof() is used to indicate end-of-file when the file is opened for binary operations</a:t>
            </a:r>
          </a:p>
          <a:p>
            <a:pPr algn="just">
              <a:lnSpc>
                <a:spcPct val="115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en-US" sz="2000" b="1">
                <a:latin typeface="Times New Roman" pitchFamily="18" charset="0"/>
              </a:rPr>
              <a:t> rewind() function resets the file position indicator to the beginning of the file</a:t>
            </a:r>
          </a:p>
          <a:p>
            <a:pPr algn="just">
              <a:lnSpc>
                <a:spcPct val="115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en-US" sz="2000" b="1">
                <a:latin typeface="Times New Roman" pitchFamily="18" charset="0"/>
              </a:rPr>
              <a:t> fprintf() is used to write any type of informations (any datatype) to an file,fscanf() is used to read any type of informations from an open file.</a:t>
            </a:r>
          </a:p>
          <a:p>
            <a:pPr algn="just">
              <a:lnSpc>
                <a:spcPct val="115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en-US" sz="2000" b="1">
                <a:latin typeface="Times New Roman" pitchFamily="18" charset="0"/>
              </a:rPr>
              <a:t> The ftell() used to indicate the current position of file pointer</a:t>
            </a:r>
          </a:p>
          <a:p>
            <a:pPr algn="just">
              <a:lnSpc>
                <a:spcPct val="115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en-US" sz="2000" b="1">
                <a:latin typeface="Times New Roman" pitchFamily="18" charset="0"/>
              </a:rPr>
              <a:t> The fseek() is used to set the position of filepointer  which we can desired</a:t>
            </a:r>
            <a:endParaRPr lang="en-US" sz="20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76200" y="93663"/>
            <a:ext cx="8915400" cy="5842000"/>
          </a:xfrm>
          <a:prstGeom prst="rect">
            <a:avLst/>
          </a:prstGeom>
          <a:noFill/>
          <a:ln w="9525" algn="ctr">
            <a:solidFill>
              <a:srgbClr val="8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tabLst>
                <a:tab pos="457200" algn="l"/>
              </a:tabLst>
            </a:pPr>
            <a:r>
              <a:rPr lang="en-US" sz="3200" b="1" u="sng">
                <a:latin typeface="Times New Roman" pitchFamily="18" charset="0"/>
              </a:rPr>
              <a:t>Session Summary</a:t>
            </a:r>
          </a:p>
          <a:p>
            <a:pPr>
              <a:tabLst>
                <a:tab pos="457200" algn="l"/>
              </a:tabLst>
            </a:pPr>
            <a:endParaRPr lang="en-US" sz="3200" b="1">
              <a:latin typeface="Times New Roman" pitchFamily="18" charset="0"/>
            </a:endParaRP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Storage of information to be read from or written on a auxillary memory device is stored in the form of file.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The data structure of a file is defined in stdio.h which creates a buffer area to store data in a file for reading as well as writing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Function fscanf() &amp; fprintf() are used to perform I/O operations in file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400" b="1"/>
              <a:t>  </a:t>
            </a:r>
            <a:r>
              <a:rPr lang="en-US" sz="1600" b="1"/>
              <a:t>Function fgetc() &amp; fputc() are used to perform Character I/O operations in file</a:t>
            </a:r>
            <a:endParaRPr lang="en-US" b="1" i="1" u="sng"/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  Function fgets() &amp; fputs() are used to perform String I/O operations in file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spcAft>
                <a:spcPct val="135000"/>
              </a:spcAft>
              <a:buFont typeface="Wingdings" pitchFamily="2" charset="2"/>
              <a:buChar char="@"/>
              <a:tabLst>
                <a:tab pos="457200" algn="l"/>
              </a:tabLst>
            </a:pPr>
            <a:r>
              <a:rPr lang="en-US" sz="1600" b="1"/>
              <a:t> Function fseek() used to index a file and can be used to increment or decrement the file pointer by any number of position in a file.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15017</Words>
  <Application>Microsoft Office PowerPoint</Application>
  <PresentationFormat>On-screen Show (4:3)</PresentationFormat>
  <Paragraphs>3335</Paragraphs>
  <Slides>238</Slides>
  <Notes>162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238</vt:i4>
      </vt:variant>
    </vt:vector>
  </HeadingPairs>
  <TitlesOfParts>
    <vt:vector size="241" baseType="lpstr">
      <vt:lpstr>Office Theme</vt:lpstr>
      <vt:lpstr>Bitmap Image</vt:lpstr>
      <vt:lpstr>Package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STAR</dc:creator>
  <cp:lastModifiedBy>STAR</cp:lastModifiedBy>
  <cp:revision>3</cp:revision>
  <dcterms:created xsi:type="dcterms:W3CDTF">2019-12-27T13:46:26Z</dcterms:created>
  <dcterms:modified xsi:type="dcterms:W3CDTF">2019-12-27T13:56:29Z</dcterms:modified>
</cp:coreProperties>
</file>