
<file path=[Content_Types].xml><?xml version="1.0" encoding="utf-8"?>
<Types xmlns="http://schemas.openxmlformats.org/package/2006/content-types">
  <Override PartName="/ppt/slides/slide47.xml" ContentType="application/vnd.openxmlformats-officedocument.presentationml.slide+xml"/>
  <Override PartName="/ppt/slides/slide58.xml" ContentType="application/vnd.openxmlformats-officedocument.presentationml.slide+xml"/>
  <Override PartName="/ppt/slides/slide94.xml" ContentType="application/vnd.openxmlformats-officedocument.presentationml.slide+xml"/>
  <Override PartName="/ppt/slides/slide142.xml" ContentType="application/vnd.openxmlformats-officedocument.presentationml.slide+xml"/>
  <Override PartName="/ppt/slides/slide229.xml" ContentType="application/vnd.openxmlformats-officedocument.presentationml.slide+xml"/>
  <Override PartName="/ppt/slides/slide276.xml" ContentType="application/vnd.openxmlformats-officedocument.presentationml.slide+xml"/>
  <Override PartName="/ppt/notesSlides/notesSlide2.xml" ContentType="application/vnd.openxmlformats-officedocument.presentationml.notesSlide+xml"/>
  <Override PartName="/ppt/slides/slide36.xml" ContentType="application/vnd.openxmlformats-officedocument.presentationml.slide+xml"/>
  <Override PartName="/ppt/slides/slide83.xml" ContentType="application/vnd.openxmlformats-officedocument.presentationml.slide+xml"/>
  <Override PartName="/ppt/slides/slide120.xml" ContentType="application/vnd.openxmlformats-officedocument.presentationml.slide+xml"/>
  <Override PartName="/ppt/slides/slide131.xml" ContentType="application/vnd.openxmlformats-officedocument.presentationml.slide+xml"/>
  <Override PartName="/ppt/slides/slide218.xml" ContentType="application/vnd.openxmlformats-officedocument.presentationml.slide+xml"/>
  <Override PartName="/ppt/slides/slide265.xml" ContentType="application/vnd.openxmlformats-officedocument.presentationml.slide+xml"/>
  <Override PartName="/ppt/slides/slide25.xml" ContentType="application/vnd.openxmlformats-officedocument.presentationml.slide+xml"/>
  <Override PartName="/ppt/slides/slide72.xml" ContentType="application/vnd.openxmlformats-officedocument.presentationml.slide+xml"/>
  <Override PartName="/ppt/slides/slide207.xml" ContentType="application/vnd.openxmlformats-officedocument.presentationml.slide+xml"/>
  <Override PartName="/ppt/slides/slide254.xml" ContentType="application/vnd.openxmlformats-officedocument.presentationml.slid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232.xml" ContentType="application/vnd.openxmlformats-officedocument.presentationml.slide+xml"/>
  <Override PartName="/ppt/slides/slide243.xml" ContentType="application/vnd.openxmlformats-officedocument.presentationml.slide+xml"/>
  <Override PartName="/ppt/notesMasters/notesMaster1.xml" ContentType="application/vnd.openxmlformats-officedocument.presentationml.notesMaster+xml"/>
  <Override PartName="/ppt/slides/slide169.xml" ContentType="application/vnd.openxmlformats-officedocument.presentationml.slide+xml"/>
  <Override PartName="/ppt/slides/slide221.xml" ContentType="application/vnd.openxmlformats-officedocument.presentationml.slide+xml"/>
  <Override PartName="/ppt/tableStyles.xml" ContentType="application/vnd.openxmlformats-officedocument.presentationml.tableStyles+xml"/>
  <Override PartName="/ppt/slides/slide147.xml" ContentType="application/vnd.openxmlformats-officedocument.presentationml.slide+xml"/>
  <Override PartName="/ppt/slides/slide158.xml" ContentType="application/vnd.openxmlformats-officedocument.presentationml.slide+xml"/>
  <Override PartName="/ppt/slides/slide194.xml" ContentType="application/vnd.openxmlformats-officedocument.presentationml.slide+xml"/>
  <Override PartName="/ppt/slides/slide210.xml" ContentType="application/vnd.openxmlformats-officedocument.presentationml.slide+xml"/>
  <Override PartName="/ppt/slides/slide99.xml" ContentType="application/vnd.openxmlformats-officedocument.presentationml.slide+xml"/>
  <Override PartName="/ppt/slides/slide136.xml" ContentType="application/vnd.openxmlformats-officedocument.presentationml.slide+xml"/>
  <Override PartName="/ppt/slides/slide183.xml" ContentType="application/vnd.openxmlformats-officedocument.presentationml.slide+xml"/>
  <Override PartName="/ppt/notesSlides/notesSlide7.xml" ContentType="application/vnd.openxmlformats-officedocument.presentationml.notesSlide+xml"/>
  <Override PartName="/ppt/slides/slide77.xml" ContentType="application/vnd.openxmlformats-officedocument.presentationml.slide+xml"/>
  <Override PartName="/ppt/slides/slide88.xml" ContentType="application/vnd.openxmlformats-officedocument.presentationml.slide+xml"/>
  <Override PartName="/ppt/slides/slide125.xml" ContentType="application/vnd.openxmlformats-officedocument.presentationml.slide+xml"/>
  <Override PartName="/ppt/slides/slide172.xml" ContentType="application/vnd.openxmlformats-officedocument.presentationml.slide+xml"/>
  <Override PartName="/ppt/slides/slide259.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66.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s/slide150.xml" ContentType="application/vnd.openxmlformats-officedocument.presentationml.slide+xml"/>
  <Override PartName="/ppt/slides/slide161.xml" ContentType="application/vnd.openxmlformats-officedocument.presentationml.slide+xml"/>
  <Override PartName="/ppt/slides/slide24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55.xml" ContentType="application/vnd.openxmlformats-officedocument.presentationml.slide+xml"/>
  <Override PartName="/ppt/slides/slide237.xml" ContentType="application/vnd.openxmlformats-officedocument.presentationml.slide+xml"/>
  <Override PartName="/ppt/theme/theme2.xml" ContentType="application/vnd.openxmlformats-officedocument.theme+xml"/>
  <Override PartName="/ppt/slides/slide33.xml" ContentType="application/vnd.openxmlformats-officedocument.presentationml.slide+xml"/>
  <Override PartName="/ppt/slides/slide44.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215.xml" ContentType="application/vnd.openxmlformats-officedocument.presentationml.slide+xml"/>
  <Override PartName="/ppt/slides/slide226.xml" ContentType="application/vnd.openxmlformats-officedocument.presentationml.slide+xml"/>
  <Override PartName="/ppt/slides/slide262.xml" ContentType="application/vnd.openxmlformats-officedocument.presentationml.slide+xml"/>
  <Override PartName="/ppt/slides/slide273.xml" ContentType="application/vnd.openxmlformats-officedocument.presentationml.slide+xml"/>
  <Override PartName="/ppt/presentation.xml" ContentType="application/vnd.openxmlformats-officedocument.presentationml.presentation.main+xml"/>
  <Override PartName="/ppt/slides/slide22.xml" ContentType="application/vnd.openxmlformats-officedocument.presentationml.slide+xml"/>
  <Override PartName="/ppt/slides/slide199.xml" ContentType="application/vnd.openxmlformats-officedocument.presentationml.slide+xml"/>
  <Override PartName="/ppt/slides/slide204.xml" ContentType="application/vnd.openxmlformats-officedocument.presentationml.slide+xml"/>
  <Override PartName="/ppt/slides/slide251.xml" ContentType="application/vnd.openxmlformats-officedocument.presentationml.slide+xml"/>
  <Override PartName="/docProps/app.xml" ContentType="application/vnd.openxmlformats-officedocument.extended-properties+xml"/>
  <Override PartName="/ppt/slides/slide11.xml" ContentType="application/vnd.openxmlformats-officedocument.presentationml.slide+xml"/>
  <Override PartName="/ppt/slides/slide188.xml" ContentType="application/vnd.openxmlformats-officedocument.presentationml.slide+xml"/>
  <Override PartName="/ppt/slides/slide240.xml" ContentType="application/vnd.openxmlformats-officedocument.presentationml.slide+xml"/>
  <Override PartName="/ppt/slides/slide119.xml" ContentType="application/vnd.openxmlformats-officedocument.presentationml.slide+xml"/>
  <Override PartName="/ppt/slides/slide166.xml" ContentType="application/vnd.openxmlformats-officedocument.presentationml.slide+xml"/>
  <Override PartName="/ppt/slides/slide177.xml" ContentType="application/vnd.openxmlformats-officedocument.presentationml.slide+xml"/>
  <Override PartName="/ppt/slideLayouts/slideLayout10.xml" ContentType="application/vnd.openxmlformats-officedocument.presentationml.slideLayout+xml"/>
  <Override PartName="/ppt/slides/slide108.xml" ContentType="application/vnd.openxmlformats-officedocument.presentationml.slide+xml"/>
  <Override PartName="/ppt/slides/slide155.xml" ContentType="application/vnd.openxmlformats-officedocument.presentationml.slide+xml"/>
  <Override PartName="/ppt/slides/slide49.xml" ContentType="application/vnd.openxmlformats-officedocument.presentationml.slide+xml"/>
  <Override PartName="/ppt/slides/slide96.xml" ContentType="application/vnd.openxmlformats-officedocument.presentationml.slide+xml"/>
  <Override PartName="/ppt/slides/slide144.xml" ContentType="application/vnd.openxmlformats-officedocument.presentationml.slide+xml"/>
  <Override PartName="/ppt/slides/slide191.xml" ContentType="application/vnd.openxmlformats-officedocument.presentationml.slide+xml"/>
  <Override PartName="/ppt/notesSlides/notesSlide4.xml" ContentType="application/vnd.openxmlformats-officedocument.presentationml.notesSlide+xml"/>
  <Override PartName="/ppt/slides/slide38.xml" ContentType="application/vnd.openxmlformats-officedocument.presentationml.slide+xml"/>
  <Override PartName="/ppt/slides/slide85.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slides/slide180.xml" ContentType="application/vnd.openxmlformats-officedocument.presentationml.slide+xml"/>
  <Override PartName="/ppt/slides/slide267.xml" ContentType="application/vnd.openxmlformats-officedocument.presentationml.slide+xml"/>
  <Override PartName="/ppt/slides/slide27.xml" ContentType="application/vnd.openxmlformats-officedocument.presentationml.slide+xml"/>
  <Override PartName="/ppt/slides/slide74.xml" ContentType="application/vnd.openxmlformats-officedocument.presentationml.slide+xml"/>
  <Override PartName="/ppt/slides/slide111.xml" ContentType="application/vnd.openxmlformats-officedocument.presentationml.slide+xml"/>
  <Override PartName="/ppt/slides/slide209.xml" ContentType="application/vnd.openxmlformats-officedocument.presentationml.slide+xml"/>
  <Override PartName="/ppt/slides/slide256.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100.xml" ContentType="application/vnd.openxmlformats-officedocument.presentationml.slide+xml"/>
  <Override PartName="/ppt/slides/slide234.xml" ContentType="application/vnd.openxmlformats-officedocument.presentationml.slide+xml"/>
  <Override PartName="/ppt/slides/slide245.xml" ContentType="application/vnd.openxmlformats-officedocument.presentationml.slide+xml"/>
  <Default Extension="wmf" ContentType="image/x-wmf"/>
  <Override PartName="/ppt/slides/slide41.xml" ContentType="application/vnd.openxmlformats-officedocument.presentationml.slide+xml"/>
  <Override PartName="/ppt/slides/slide223.xml" ContentType="application/vnd.openxmlformats-officedocument.presentationml.slide+xml"/>
  <Override PartName="/ppt/slides/slide270.xml" ContentType="application/vnd.openxmlformats-officedocument.presentationml.slide+xml"/>
  <Override PartName="/ppt/slides/slide30.xml" ContentType="application/vnd.openxmlformats-officedocument.presentationml.slide+xml"/>
  <Override PartName="/ppt/slides/slide149.xml" ContentType="application/vnd.openxmlformats-officedocument.presentationml.slide+xml"/>
  <Override PartName="/ppt/slides/slide196.xml" ContentType="application/vnd.openxmlformats-officedocument.presentationml.slide+xml"/>
  <Override PartName="/ppt/slides/slide212.xml" ContentType="application/vnd.openxmlformats-officedocument.presentationml.slide+xml"/>
  <Override PartName="/ppt/slides/slide138.xml" ContentType="application/vnd.openxmlformats-officedocument.presentationml.slide+xml"/>
  <Override PartName="/ppt/slides/slide167.xml" ContentType="application/vnd.openxmlformats-officedocument.presentationml.slide+xml"/>
  <Override PartName="/ppt/slides/slide185.xml" ContentType="application/vnd.openxmlformats-officedocument.presentationml.slide+xml"/>
  <Override PartName="/ppt/slides/slide201.xml" ContentType="application/vnd.openxmlformats-officedocument.presentationml.slide+xml"/>
  <Override PartName="/ppt/notesSlides/notesSlide9.xml" ContentType="application/vnd.openxmlformats-officedocument.presentationml.notesSlide+xml"/>
  <Override PartName="/ppt/slides/slide79.xml" ContentType="application/vnd.openxmlformats-officedocument.presentationml.slide+xml"/>
  <Override PartName="/ppt/slides/slide109.xml" ContentType="application/vnd.openxmlformats-officedocument.presentationml.slide+xml"/>
  <Override PartName="/ppt/slides/slide127.xml" ContentType="application/vnd.openxmlformats-officedocument.presentationml.slide+xml"/>
  <Override PartName="/ppt/slides/slide145.xml" ContentType="application/vnd.openxmlformats-officedocument.presentationml.slide+xml"/>
  <Override PartName="/ppt/slides/slide156.xml" ContentType="application/vnd.openxmlformats-officedocument.presentationml.slide+xml"/>
  <Override PartName="/ppt/slides/slide174.xml" ContentType="application/vnd.openxmlformats-officedocument.presentationml.slide+xml"/>
  <Override PartName="/ppt/slides/slide192.xml" ContentType="application/vnd.openxmlformats-officedocument.presentationml.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s/slide134.xml" ContentType="application/vnd.openxmlformats-officedocument.presentationml.slide+xml"/>
  <Override PartName="/ppt/slides/slide163.xml" ContentType="application/vnd.openxmlformats-officedocument.presentationml.slide+xml"/>
  <Override PartName="/ppt/slides/slide181.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slides/slide141.xml" ContentType="application/vnd.openxmlformats-officedocument.presentationml.slide+xml"/>
  <Override PartName="/ppt/slides/slide152.xml" ContentType="application/vnd.openxmlformats-officedocument.presentationml.slide+xml"/>
  <Override PartName="/ppt/slides/slide170.xml" ContentType="application/vnd.openxmlformats-officedocument.presentationml.slide+xml"/>
  <Override PartName="/ppt/slides/slide239.xml" ContentType="application/vnd.openxmlformats-officedocument.presentationml.slide+xml"/>
  <Override PartName="/ppt/slides/slide257.xml" ContentType="application/vnd.openxmlformats-officedocument.presentationml.slide+xml"/>
  <Override PartName="/ppt/slides/slide268.xml" ContentType="application/vnd.openxmlformats-officedocument.presentationml.slide+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s/slide130.xml" ContentType="application/vnd.openxmlformats-officedocument.presentationml.slide+xml"/>
  <Override PartName="/ppt/slides/slide217.xml" ContentType="application/vnd.openxmlformats-officedocument.presentationml.slide+xml"/>
  <Override PartName="/ppt/slides/slide228.xml" ContentType="application/vnd.openxmlformats-officedocument.presentationml.slide+xml"/>
  <Override PartName="/ppt/slides/slide246.xml" ContentType="application/vnd.openxmlformats-officedocument.presentationml.slide+xml"/>
  <Override PartName="/ppt/slides/slide264.xml" ContentType="application/vnd.openxmlformats-officedocument.presentationml.slide+xml"/>
  <Override PartName="/ppt/slides/slide275.xml" ContentType="application/vnd.openxmlformats-officedocument.presentationml.slide+xml"/>
  <Override PartName="/ppt/slideLayouts/slideLayout5.xml" ContentType="application/vnd.openxmlformats-officedocument.presentationml.slideLayout+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Override PartName="/ppt/slides/slide206.xml" ContentType="application/vnd.openxmlformats-officedocument.presentationml.slide+xml"/>
  <Override PartName="/ppt/slides/slide235.xml" ContentType="application/vnd.openxmlformats-officedocument.presentationml.slide+xml"/>
  <Override PartName="/ppt/slides/slide253.xml" ContentType="application/vnd.openxmlformats-officedocument.presentationml.slide+xml"/>
  <Default Extension="jpeg" ContentType="image/jpeg"/>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s/slide213.xml" ContentType="application/vnd.openxmlformats-officedocument.presentationml.slide+xml"/>
  <Override PartName="/ppt/slides/slide224.xml" ContentType="application/vnd.openxmlformats-officedocument.presentationml.slide+xml"/>
  <Override PartName="/ppt/slides/slide242.xml" ContentType="application/vnd.openxmlformats-officedocument.presentationml.slide+xml"/>
  <Override PartName="/ppt/slides/slide260.xml" ContentType="application/vnd.openxmlformats-officedocument.presentationml.slide+xml"/>
  <Override PartName="/ppt/slides/slide271.xml" ContentType="application/vnd.openxmlformats-officedocument.presentationml.slide+xml"/>
  <Override PartName="/ppt/slideLayouts/slideLayout1.xml" ContentType="application/vnd.openxmlformats-officedocument.presentationml.slideLayout+xml"/>
  <Override PartName="/ppt/slides/slide20.xml" ContentType="application/vnd.openxmlformats-officedocument.presentationml.slide+xml"/>
  <Override PartName="/ppt/slides/slide168.xml" ContentType="application/vnd.openxmlformats-officedocument.presentationml.slide+xml"/>
  <Override PartName="/ppt/slides/slide179.xml" ContentType="application/vnd.openxmlformats-officedocument.presentationml.slide+xml"/>
  <Override PartName="/ppt/slides/slide197.xml" ContentType="application/vnd.openxmlformats-officedocument.presentationml.slide+xml"/>
  <Override PartName="/ppt/slides/slide202.xml" ContentType="application/vnd.openxmlformats-officedocument.presentationml.slide+xml"/>
  <Override PartName="/ppt/slides/slide231.xml" ContentType="application/vnd.openxmlformats-officedocument.presentationml.slide+xml"/>
  <Override PartName="/ppt/slides/slide139.xml" ContentType="application/vnd.openxmlformats-officedocument.presentationml.slide+xml"/>
  <Override PartName="/ppt/slides/slide157.xml" ContentType="application/vnd.openxmlformats-officedocument.presentationml.slide+xml"/>
  <Override PartName="/ppt/slides/slide186.xml" ContentType="application/vnd.openxmlformats-officedocument.presentationml.slide+xml"/>
  <Override PartName="/ppt/slides/slide220.xml" ContentType="application/vnd.openxmlformats-officedocument.presentationml.slide+xml"/>
  <Override PartName="/ppt/slides/slide98.xml" ContentType="application/vnd.openxmlformats-officedocument.presentationml.slide+xml"/>
  <Override PartName="/ppt/slides/slide117.xml" ContentType="application/vnd.openxmlformats-officedocument.presentationml.slide+xml"/>
  <Override PartName="/ppt/slides/slide128.xml" ContentType="application/vnd.openxmlformats-officedocument.presentationml.slide+xml"/>
  <Override PartName="/ppt/slides/slide146.xml" ContentType="application/vnd.openxmlformats-officedocument.presentationml.slide+xml"/>
  <Override PartName="/ppt/slides/slide164.xml" ContentType="application/vnd.openxmlformats-officedocument.presentationml.slide+xml"/>
  <Override PartName="/ppt/slides/slide175.xml" ContentType="application/vnd.openxmlformats-officedocument.presentationml.slide+xml"/>
  <Override PartName="/ppt/slides/slide193.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slides/slide69.xml" ContentType="application/vnd.openxmlformats-officedocument.presentationml.slide+xml"/>
  <Override PartName="/ppt/slides/slide87.xml" ContentType="application/vnd.openxmlformats-officedocument.presentationml.slide+xml"/>
  <Override PartName="/ppt/slides/slide106.xml" ContentType="application/vnd.openxmlformats-officedocument.presentationml.slide+xml"/>
  <Override PartName="/ppt/slides/slide124.xml" ContentType="application/vnd.openxmlformats-officedocument.presentationml.slide+xml"/>
  <Override PartName="/ppt/slides/slide135.xml" ContentType="application/vnd.openxmlformats-officedocument.presentationml.slide+xml"/>
  <Override PartName="/ppt/slides/slide153.xml" ContentType="application/vnd.openxmlformats-officedocument.presentationml.slide+xml"/>
  <Override PartName="/ppt/slides/slide171.xml" ContentType="application/vnd.openxmlformats-officedocument.presentationml.slide+xml"/>
  <Override PartName="/ppt/slides/slide182.xml" ContentType="application/vnd.openxmlformats-officedocument.presentationml.slide+xml"/>
  <Override PartName="/ppt/slides/slide269.xml" ContentType="application/vnd.openxmlformats-officedocument.presentationml.slide+xml"/>
  <Override PartName="/ppt/slides/slide29.xml" ContentType="application/vnd.openxmlformats-officedocument.presentationml.slide+xml"/>
  <Override PartName="/ppt/slides/slide76.xml" ContentType="application/vnd.openxmlformats-officedocument.presentationml.slide+xml"/>
  <Override PartName="/ppt/slides/slide113.xml" ContentType="application/vnd.openxmlformats-officedocument.presentationml.slide+xml"/>
  <Override PartName="/ppt/slides/slide160.xml" ContentType="application/vnd.openxmlformats-officedocument.presentationml.slide+xml"/>
  <Override PartName="/ppt/slides/slide258.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102.xml" ContentType="application/vnd.openxmlformats-officedocument.presentationml.slide+xml"/>
  <Override PartName="/ppt/slides/slide236.xml" ContentType="application/vnd.openxmlformats-officedocument.presentationml.slide+xml"/>
  <Override PartName="/ppt/slides/slide247.xml" ContentType="application/vnd.openxmlformats-officedocument.presentationml.slide+xml"/>
  <Override PartName="/ppt/slideLayouts/slideLayout6.xml" ContentType="application/vnd.openxmlformats-officedocument.presentationml.slideLayout+xml"/>
  <Override PartName="/ppt/slides/slide43.xml" ContentType="application/vnd.openxmlformats-officedocument.presentationml.slide+xml"/>
  <Override PartName="/ppt/slides/slide90.xml" ContentType="application/vnd.openxmlformats-officedocument.presentationml.slide+xml"/>
  <Override PartName="/ppt/slides/slide225.xml" ContentType="application/vnd.openxmlformats-officedocument.presentationml.slide+xml"/>
  <Override PartName="/ppt/slides/slide272.xml" ContentType="application/vnd.openxmlformats-officedocument.presentationml.slide+xml"/>
  <Override PartName="/ppt/theme/theme1.xml" ContentType="application/vnd.openxmlformats-officedocument.theme+xml"/>
  <Override PartName="/ppt/slides/slide32.xml" ContentType="application/vnd.openxmlformats-officedocument.presentationml.slide+xml"/>
  <Override PartName="/ppt/slides/slide214.xml" ContentType="application/vnd.openxmlformats-officedocument.presentationml.slide+xml"/>
  <Override PartName="/ppt/slides/slide261.xml" ContentType="application/vnd.openxmlformats-officedocument.presentationml.slide+xml"/>
  <Override PartName="/ppt/slides/slide10.xml" ContentType="application/vnd.openxmlformats-officedocument.presentationml.slide+xml"/>
  <Override PartName="/ppt/slides/slide21.xml" ContentType="application/vnd.openxmlformats-officedocument.presentationml.slide+xml"/>
  <Override PartName="/ppt/slides/slide187.xml" ContentType="application/vnd.openxmlformats-officedocument.presentationml.slide+xml"/>
  <Override PartName="/ppt/slides/slide198.xml" ContentType="application/vnd.openxmlformats-officedocument.presentationml.slide+xml"/>
  <Override PartName="/ppt/slides/slide203.xml" ContentType="application/vnd.openxmlformats-officedocument.presentationml.slide+xml"/>
  <Override PartName="/ppt/slides/slide250.xml" ContentType="application/vnd.openxmlformats-officedocument.presentationml.slide+xml"/>
  <Override PartName="/ppt/slides/slide129.xml" ContentType="application/vnd.openxmlformats-officedocument.presentationml.slide+xml"/>
  <Override PartName="/ppt/slides/slide176.xml" ContentType="application/vnd.openxmlformats-officedocument.presentationml.slide+xml"/>
  <Override PartName="/ppt/slides/slide118.xml" ContentType="application/vnd.openxmlformats-officedocument.presentationml.slide+xml"/>
  <Override PartName="/ppt/slides/slide165.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107.xml" ContentType="application/vnd.openxmlformats-officedocument.presentationml.slide+xml"/>
  <Override PartName="/ppt/slides/slide143.xml" ContentType="application/vnd.openxmlformats-officedocument.presentationml.slide+xml"/>
  <Override PartName="/ppt/slides/slide154.xml" ContentType="application/vnd.openxmlformats-officedocument.presentationml.slide+xml"/>
  <Override PartName="/ppt/slides/slide190.xml" ContentType="application/vnd.openxmlformats-officedocument.presentationml.slide+xml"/>
  <Override PartName="/ppt/viewProps.xml" ContentType="application/vnd.openxmlformats-officedocument.presentationml.viewProps+xml"/>
  <Override PartName="/ppt/slides/slide48.xml" ContentType="application/vnd.openxmlformats-officedocument.presentationml.slide+xml"/>
  <Override PartName="/ppt/slides/slide95.xml" ContentType="application/vnd.openxmlformats-officedocument.presentationml.slide+xml"/>
  <Override PartName="/ppt/slides/slide132.xml" ContentType="application/vnd.openxmlformats-officedocument.presentationml.slide+xml"/>
  <Override PartName="/ppt/notesSlides/notesSlide3.xml" ContentType="application/vnd.openxmlformats-officedocument.presentationml.notesSlide+xml"/>
  <Default Extension="bin" ContentType="application/vnd.openxmlformats-officedocument.oleObject"/>
  <Override PartName="/ppt/slides/slide26.xml" ContentType="application/vnd.openxmlformats-officedocument.presentationml.slide+xml"/>
  <Override PartName="/ppt/slides/slide37.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slides/slide208.xml" ContentType="application/vnd.openxmlformats-officedocument.presentationml.slide+xml"/>
  <Override PartName="/ppt/slides/slide219.xml" ContentType="application/vnd.openxmlformats-officedocument.presentationml.slide+xml"/>
  <Override PartName="/ppt/slides/slide255.xml" ContentType="application/vnd.openxmlformats-officedocument.presentationml.slide+xml"/>
  <Override PartName="/ppt/slides/slide266.xml" ContentType="application/vnd.openxmlformats-officedocument.presentationml.slide+xml"/>
  <Override PartName="/ppt/presProps.xml" ContentType="application/vnd.openxmlformats-officedocument.presentationml.presProps+xml"/>
  <Override PartName="/ppt/slides/slide1.xml" ContentType="application/vnd.openxmlformats-officedocument.presentationml.slide+xml"/>
  <Override PartName="/ppt/slides/slide15.xml" ContentType="application/vnd.openxmlformats-officedocument.presentationml.slide+xml"/>
  <Override PartName="/ppt/slides/slide62.xml" ContentType="application/vnd.openxmlformats-officedocument.presentationml.slide+xml"/>
  <Override PartName="/ppt/slides/slide110.xml" ContentType="application/vnd.openxmlformats-officedocument.presentationml.slide+xml"/>
  <Override PartName="/ppt/slides/slide244.xml" ContentType="application/vnd.openxmlformats-officedocument.presentationml.slide+xml"/>
  <Override PartName="/ppt/slideLayouts/slideLayout3.xml" ContentType="application/vnd.openxmlformats-officedocument.presentationml.slideLayout+xml"/>
  <Override PartName="/ppt/slides/slide51.xml" ContentType="application/vnd.openxmlformats-officedocument.presentationml.slide+xml"/>
  <Override PartName="/ppt/slides/slide233.xml" ContentType="application/vnd.openxmlformats-officedocument.presentationml.slide+xml"/>
  <Override PartName="/ppt/slides/slide40.xml" ContentType="application/vnd.openxmlformats-officedocument.presentationml.slide+xml"/>
  <Override PartName="/ppt/slides/slide159.xml" ContentType="application/vnd.openxmlformats-officedocument.presentationml.slide+xml"/>
  <Override PartName="/ppt/slides/slide211.xml" ContentType="application/vnd.openxmlformats-officedocument.presentationml.slide+xml"/>
  <Override PartName="/ppt/slides/slide222.xml" ContentType="application/vnd.openxmlformats-officedocument.presentationml.slide+xml"/>
  <Override PartName="/ppt/slides/slide148.xml" ContentType="application/vnd.openxmlformats-officedocument.presentationml.slide+xml"/>
  <Override PartName="/ppt/slides/slide195.xml" ContentType="application/vnd.openxmlformats-officedocument.presentationml.slide+xml"/>
  <Override PartName="/ppt/slides/slide200.xml" ContentType="application/vnd.openxmlformats-officedocument.presentationml.slide+xml"/>
  <Default Extension="gif" ContentType="image/gif"/>
  <Default Extension="vml" ContentType="application/vnd.openxmlformats-officedocument.vmlDrawing"/>
  <Override PartName="/ppt/notesSlides/notesSlide8.xml" ContentType="application/vnd.openxmlformats-officedocument.presentationml.notesSlide+xml"/>
  <Override PartName="/ppt/slides/slide89.xml" ContentType="application/vnd.openxmlformats-officedocument.presentationml.slide+xml"/>
  <Override PartName="/ppt/slides/slide126.xml" ContentType="application/vnd.openxmlformats-officedocument.presentationml.slide+xml"/>
  <Override PartName="/ppt/slides/slide137.xml" ContentType="application/vnd.openxmlformats-officedocument.presentationml.slide+xml"/>
  <Override PartName="/ppt/slides/slide173.xml" ContentType="application/vnd.openxmlformats-officedocument.presentationml.slide+xml"/>
  <Override PartName="/ppt/slides/slide184.xml" ContentType="application/vnd.openxmlformats-officedocument.presentationml.slide+xml"/>
  <Override PartName="/ppt/slides/slide78.xml" ContentType="application/vnd.openxmlformats-officedocument.presentationml.slide+xml"/>
  <Override PartName="/ppt/slides/slide115.xml" ContentType="application/vnd.openxmlformats-officedocument.presentationml.slide+xml"/>
  <Override PartName="/ppt/slides/slide162.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104.xml" ContentType="application/vnd.openxmlformats-officedocument.presentationml.slide+xml"/>
  <Override PartName="/ppt/slides/slide151.xml" ContentType="application/vnd.openxmlformats-officedocument.presentationml.slide+xml"/>
  <Override PartName="/ppt/slides/slide238.xml" ContentType="application/vnd.openxmlformats-officedocument.presentationml.slide+xml"/>
  <Override PartName="/ppt/slides/slide24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5.xml" ContentType="application/vnd.openxmlformats-officedocument.presentationml.slide+xml"/>
  <Override PartName="/ppt/slides/slide92.xml" ContentType="application/vnd.openxmlformats-officedocument.presentationml.slide+xml"/>
  <Override PartName="/ppt/slides/slide140.xml" ContentType="application/vnd.openxmlformats-officedocument.presentationml.slide+xml"/>
  <Override PartName="/ppt/slides/slide227.xml" ContentType="application/vnd.openxmlformats-officedocument.presentationml.slide+xml"/>
  <Override PartName="/ppt/slides/slide274.xml" ContentType="application/vnd.openxmlformats-officedocument.presentationml.slide+xml"/>
  <Override PartName="/ppt/slides/slide34.xml" ContentType="application/vnd.openxmlformats-officedocument.presentationml.slide+xml"/>
  <Override PartName="/ppt/slides/slide81.xml" ContentType="application/vnd.openxmlformats-officedocument.presentationml.slide+xml"/>
  <Override PartName="/ppt/slides/slide216.xml" ContentType="application/vnd.openxmlformats-officedocument.presentationml.slide+xml"/>
  <Override PartName="/ppt/slides/slide263.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70.xml" ContentType="application/vnd.openxmlformats-officedocument.presentationml.slide+xml"/>
  <Override PartName="/ppt/slides/slide189.xml" ContentType="application/vnd.openxmlformats-officedocument.presentationml.slide+xml"/>
  <Override PartName="/ppt/slides/slide205.xml" ContentType="application/vnd.openxmlformats-officedocument.presentationml.slide+xml"/>
  <Override PartName="/ppt/slides/slide241.xml" ContentType="application/vnd.openxmlformats-officedocument.presentationml.slide+xml"/>
  <Override PartName="/ppt/slides/slide252.xml" ContentType="application/vnd.openxmlformats-officedocument.presentationml.slide+xml"/>
  <Override PartName="/ppt/slides/slide12.xml" ContentType="application/vnd.openxmlformats-officedocument.presentationml.slide+xml"/>
  <Override PartName="/ppt/slides/slide178.xml" ContentType="application/vnd.openxmlformats-officedocument.presentationml.slide+xml"/>
  <Override PartName="/ppt/slides/slide230.xml" ContentType="application/vnd.openxmlformats-officedocument.presentationml.slide+xml"/>
  <Override PartName="/ppt/slideLayouts/slideLayout11.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 id="488" r:id="rId234"/>
    <p:sldId id="489" r:id="rId235"/>
    <p:sldId id="490" r:id="rId236"/>
    <p:sldId id="491" r:id="rId237"/>
    <p:sldId id="492" r:id="rId238"/>
    <p:sldId id="493" r:id="rId239"/>
    <p:sldId id="494" r:id="rId240"/>
    <p:sldId id="495" r:id="rId241"/>
    <p:sldId id="496" r:id="rId242"/>
    <p:sldId id="497" r:id="rId243"/>
    <p:sldId id="498" r:id="rId244"/>
    <p:sldId id="499" r:id="rId245"/>
    <p:sldId id="500" r:id="rId246"/>
    <p:sldId id="501" r:id="rId247"/>
    <p:sldId id="502" r:id="rId248"/>
    <p:sldId id="503" r:id="rId249"/>
    <p:sldId id="504" r:id="rId250"/>
    <p:sldId id="505" r:id="rId251"/>
    <p:sldId id="506" r:id="rId252"/>
    <p:sldId id="507" r:id="rId253"/>
    <p:sldId id="508" r:id="rId254"/>
    <p:sldId id="509" r:id="rId255"/>
    <p:sldId id="510" r:id="rId256"/>
    <p:sldId id="511" r:id="rId257"/>
    <p:sldId id="512" r:id="rId258"/>
    <p:sldId id="513" r:id="rId259"/>
    <p:sldId id="514" r:id="rId260"/>
    <p:sldId id="515" r:id="rId261"/>
    <p:sldId id="516" r:id="rId262"/>
    <p:sldId id="517" r:id="rId263"/>
    <p:sldId id="518" r:id="rId264"/>
    <p:sldId id="519" r:id="rId265"/>
    <p:sldId id="520" r:id="rId266"/>
    <p:sldId id="521" r:id="rId267"/>
    <p:sldId id="522" r:id="rId268"/>
    <p:sldId id="523" r:id="rId269"/>
    <p:sldId id="524" r:id="rId270"/>
    <p:sldId id="525" r:id="rId271"/>
    <p:sldId id="526" r:id="rId272"/>
    <p:sldId id="527" r:id="rId273"/>
    <p:sldId id="528" r:id="rId274"/>
    <p:sldId id="529" r:id="rId275"/>
    <p:sldId id="530" r:id="rId276"/>
    <p:sldId id="531" r:id="rId27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4" d="100"/>
          <a:sy n="64" d="100"/>
        </p:scale>
        <p:origin x="-1482" y="-10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openxmlformats.org/officeDocument/2006/relationships/slide" Target="slides/slide246.xml"/><Relationship Id="rId107" Type="http://schemas.openxmlformats.org/officeDocument/2006/relationships/slide" Target="slides/slide106.xml"/><Relationship Id="rId268" Type="http://schemas.openxmlformats.org/officeDocument/2006/relationships/slide" Target="slides/slide267.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58" Type="http://schemas.openxmlformats.org/officeDocument/2006/relationships/slide" Target="slides/slide257.xml"/><Relationship Id="rId279" Type="http://schemas.openxmlformats.org/officeDocument/2006/relationships/presProps" Target="presProps.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269" Type="http://schemas.openxmlformats.org/officeDocument/2006/relationships/slide" Target="slides/slide268.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280" Type="http://schemas.openxmlformats.org/officeDocument/2006/relationships/viewProps" Target="viewProps.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2" Type="http://schemas.openxmlformats.org/officeDocument/2006/relationships/slide" Target="slides/slide201.xml"/><Relationship Id="rId207" Type="http://schemas.openxmlformats.org/officeDocument/2006/relationships/slide" Target="slides/slide206.xml"/><Relationship Id="rId223" Type="http://schemas.openxmlformats.org/officeDocument/2006/relationships/slide" Target="slides/slide222.xml"/><Relationship Id="rId228" Type="http://schemas.openxmlformats.org/officeDocument/2006/relationships/slide" Target="slides/slide227.xml"/><Relationship Id="rId244" Type="http://schemas.openxmlformats.org/officeDocument/2006/relationships/slide" Target="slides/slide243.xml"/><Relationship Id="rId249" Type="http://schemas.openxmlformats.org/officeDocument/2006/relationships/slide" Target="slides/slide24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260" Type="http://schemas.openxmlformats.org/officeDocument/2006/relationships/slide" Target="slides/slide259.xml"/><Relationship Id="rId265" Type="http://schemas.openxmlformats.org/officeDocument/2006/relationships/slide" Target="slides/slide264.xml"/><Relationship Id="rId281" Type="http://schemas.openxmlformats.org/officeDocument/2006/relationships/theme" Target="theme/theme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13" Type="http://schemas.openxmlformats.org/officeDocument/2006/relationships/slide" Target="slides/slide212.xml"/><Relationship Id="rId218" Type="http://schemas.openxmlformats.org/officeDocument/2006/relationships/slide" Target="slides/slide217.xml"/><Relationship Id="rId234" Type="http://schemas.openxmlformats.org/officeDocument/2006/relationships/slide" Target="slides/slide233.xml"/><Relationship Id="rId239" Type="http://schemas.openxmlformats.org/officeDocument/2006/relationships/slide" Target="slides/slide238.xml"/><Relationship Id="rId2" Type="http://schemas.openxmlformats.org/officeDocument/2006/relationships/slide" Target="slides/slide1.xml"/><Relationship Id="rId29" Type="http://schemas.openxmlformats.org/officeDocument/2006/relationships/slide" Target="slides/slide28.xml"/><Relationship Id="rId250" Type="http://schemas.openxmlformats.org/officeDocument/2006/relationships/slide" Target="slides/slide249.xml"/><Relationship Id="rId255" Type="http://schemas.openxmlformats.org/officeDocument/2006/relationships/slide" Target="slides/slide254.xml"/><Relationship Id="rId271" Type="http://schemas.openxmlformats.org/officeDocument/2006/relationships/slide" Target="slides/slide270.xml"/><Relationship Id="rId276" Type="http://schemas.openxmlformats.org/officeDocument/2006/relationships/slide" Target="slides/slide275.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slide" Target="slides/slide207.xml"/><Relationship Id="rId229" Type="http://schemas.openxmlformats.org/officeDocument/2006/relationships/slide" Target="slides/slide228.xml"/><Relationship Id="rId19" Type="http://schemas.openxmlformats.org/officeDocument/2006/relationships/slide" Target="slides/slide18.xml"/><Relationship Id="rId224" Type="http://schemas.openxmlformats.org/officeDocument/2006/relationships/slide" Target="slides/slide223.xml"/><Relationship Id="rId240" Type="http://schemas.openxmlformats.org/officeDocument/2006/relationships/slide" Target="slides/slide239.xml"/><Relationship Id="rId245" Type="http://schemas.openxmlformats.org/officeDocument/2006/relationships/slide" Target="slides/slide244.xml"/><Relationship Id="rId261" Type="http://schemas.openxmlformats.org/officeDocument/2006/relationships/slide" Target="slides/slide260.xml"/><Relationship Id="rId266" Type="http://schemas.openxmlformats.org/officeDocument/2006/relationships/slide" Target="slides/slide265.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282"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219" Type="http://schemas.openxmlformats.org/officeDocument/2006/relationships/slide" Target="slides/slide218.xml"/><Relationship Id="rId3" Type="http://schemas.openxmlformats.org/officeDocument/2006/relationships/slide" Target="slides/slide2.xml"/><Relationship Id="rId214" Type="http://schemas.openxmlformats.org/officeDocument/2006/relationships/slide" Target="slides/slide213.xml"/><Relationship Id="rId230" Type="http://schemas.openxmlformats.org/officeDocument/2006/relationships/slide" Target="slides/slide229.xml"/><Relationship Id="rId235" Type="http://schemas.openxmlformats.org/officeDocument/2006/relationships/slide" Target="slides/slide234.xml"/><Relationship Id="rId251" Type="http://schemas.openxmlformats.org/officeDocument/2006/relationships/slide" Target="slides/slide250.xml"/><Relationship Id="rId256" Type="http://schemas.openxmlformats.org/officeDocument/2006/relationships/slide" Target="slides/slide255.xml"/><Relationship Id="rId277" Type="http://schemas.openxmlformats.org/officeDocument/2006/relationships/slide" Target="slides/slide276.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72" Type="http://schemas.openxmlformats.org/officeDocument/2006/relationships/slide" Target="slides/slide27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slide" Target="slides/slide224.xml"/><Relationship Id="rId241" Type="http://schemas.openxmlformats.org/officeDocument/2006/relationships/slide" Target="slides/slide240.xml"/><Relationship Id="rId246" Type="http://schemas.openxmlformats.org/officeDocument/2006/relationships/slide" Target="slides/slide245.xml"/><Relationship Id="rId267" Type="http://schemas.openxmlformats.org/officeDocument/2006/relationships/slide" Target="slides/slide266.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262" Type="http://schemas.openxmlformats.org/officeDocument/2006/relationships/slide" Target="slides/slide261.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notesMaster" Target="notesMasters/notesMaster1.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BC09D08-22BE-4F23-BA54-61DBB02C6F1A}" type="datetimeFigureOut">
              <a:rPr lang="en-US" smtClean="0"/>
              <a:t>12/27/2019</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5A52821-FF13-4010-AD87-5C8575BC43CD}"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a:noFill/>
          <a:ln/>
        </p:spPr>
        <p:txBody>
          <a:bodyPr/>
          <a:lstStyle/>
          <a:p>
            <a:endParaRPr lang="en-US" smtClean="0"/>
          </a:p>
        </p:txBody>
      </p:sp>
      <p:sp>
        <p:nvSpPr>
          <p:cNvPr id="38916" name="Slide Number Placeholder 3"/>
          <p:cNvSpPr>
            <a:spLocks noGrp="1"/>
          </p:cNvSpPr>
          <p:nvPr>
            <p:ph type="sldNum" sz="quarter" idx="5"/>
          </p:nvPr>
        </p:nvSpPr>
        <p:spPr>
          <a:noFill/>
        </p:spPr>
        <p:txBody>
          <a:bodyPr/>
          <a:lstStyle/>
          <a:p>
            <a:fld id="{B9B91D98-455D-4ADE-827E-795CA6600651}" type="slidenum">
              <a:rPr lang="en-US" smtClean="0"/>
              <a:pPr/>
              <a:t>5</a:t>
            </a:fld>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p>
            <a:fld id="{43550593-40F1-435F-ACD8-B6B98E3CDABF}" type="slidenum">
              <a:rPr lang="en-US" smtClean="0"/>
              <a:pPr/>
              <a:t>8</a:t>
            </a:fld>
            <a:endParaRPr lang="en-US" smtClean="0"/>
          </a:p>
        </p:txBody>
      </p:sp>
      <p:sp>
        <p:nvSpPr>
          <p:cNvPr id="39939" name="Rectangle 2"/>
          <p:cNvSpPr>
            <a:spLocks noRot="1" noChangeArrowheads="1" noTextEdit="1"/>
          </p:cNvSpPr>
          <p:nvPr>
            <p:ph type="sldImg"/>
          </p:nvPr>
        </p:nvSpPr>
        <p:spPr>
          <a:ln/>
        </p:spPr>
      </p:sp>
      <p:sp>
        <p:nvSpPr>
          <p:cNvPr id="39940" name="Rectangle 3"/>
          <p:cNvSpPr>
            <a:spLocks noGrp="1" noChangeArrowheads="1"/>
          </p:cNvSpPr>
          <p:nvPr>
            <p:ph type="body" idx="1"/>
          </p:nvPr>
        </p:nvSpPr>
        <p:spPr>
          <a:xfrm>
            <a:off x="914400" y="4343400"/>
            <a:ext cx="5029200" cy="4114800"/>
          </a:xfrm>
          <a:noFill/>
          <a:ln/>
        </p:spPr>
        <p:txBody>
          <a:bodyPr/>
          <a:lstStyle/>
          <a:p>
            <a:pPr eaLnBrk="1" hangingPunct="1"/>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p>
            <a:fld id="{12E0D25A-5171-4CB4-92AB-86206783BF69}" type="slidenum">
              <a:rPr lang="en-US" smtClean="0"/>
              <a:pPr/>
              <a:t>10</a:t>
            </a:fld>
            <a:endParaRPr lang="en-US" smtClean="0"/>
          </a:p>
        </p:txBody>
      </p:sp>
      <p:sp>
        <p:nvSpPr>
          <p:cNvPr id="40963" name="Rectangle 2"/>
          <p:cNvSpPr>
            <a:spLocks noRot="1" noChangeArrowheads="1" noTextEdit="1"/>
          </p:cNvSpPr>
          <p:nvPr>
            <p:ph type="sldImg"/>
          </p:nvPr>
        </p:nvSpPr>
        <p:spPr>
          <a:ln/>
        </p:spPr>
      </p:sp>
      <p:sp>
        <p:nvSpPr>
          <p:cNvPr id="40964" name="Rectangle 3"/>
          <p:cNvSpPr>
            <a:spLocks noGrp="1" noChangeArrowheads="1"/>
          </p:cNvSpPr>
          <p:nvPr>
            <p:ph type="body" idx="1"/>
          </p:nvPr>
        </p:nvSpPr>
        <p:spPr>
          <a:xfrm>
            <a:off x="914400" y="4343400"/>
            <a:ext cx="5029200" cy="4114800"/>
          </a:xfrm>
          <a:noFill/>
          <a:ln/>
        </p:spPr>
        <p:txBody>
          <a:bodyPr/>
          <a:lstStyle/>
          <a:p>
            <a:pPr eaLnBrk="1" hangingPunct="1"/>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p>
            <a:fld id="{D8E2CC42-77E5-40B0-A4F4-A5092588AB7E}" type="slidenum">
              <a:rPr lang="en-US" smtClean="0"/>
              <a:pPr/>
              <a:t>12</a:t>
            </a:fld>
            <a:endParaRPr lang="en-US" smtClean="0"/>
          </a:p>
        </p:txBody>
      </p:sp>
      <p:sp>
        <p:nvSpPr>
          <p:cNvPr id="41987" name="Rectangle 2"/>
          <p:cNvSpPr>
            <a:spLocks noRot="1" noChangeArrowheads="1" noTextEdit="1"/>
          </p:cNvSpPr>
          <p:nvPr>
            <p:ph type="sldImg"/>
          </p:nvPr>
        </p:nvSpPr>
        <p:spPr>
          <a:ln/>
        </p:spPr>
      </p:sp>
      <p:sp>
        <p:nvSpPr>
          <p:cNvPr id="41988" name="Rectangle 3"/>
          <p:cNvSpPr>
            <a:spLocks noGrp="1" noChangeArrowheads="1"/>
          </p:cNvSpPr>
          <p:nvPr>
            <p:ph type="body" idx="1"/>
          </p:nvPr>
        </p:nvSpPr>
        <p:spPr>
          <a:xfrm>
            <a:off x="914400" y="4343400"/>
            <a:ext cx="5029200" cy="4114800"/>
          </a:xfrm>
          <a:noFill/>
          <a:ln/>
        </p:spPr>
        <p:txBody>
          <a:bodyPr/>
          <a:lstStyle/>
          <a:p>
            <a:pPr eaLnBrk="1" hangingPunct="1"/>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p>
            <a:fld id="{78447426-27BE-4F3B-8E9B-57444400763D}" type="slidenum">
              <a:rPr lang="en-US" smtClean="0"/>
              <a:pPr/>
              <a:t>21</a:t>
            </a:fld>
            <a:endParaRPr lang="en-US" smtClean="0"/>
          </a:p>
        </p:txBody>
      </p:sp>
      <p:sp>
        <p:nvSpPr>
          <p:cNvPr id="43011" name="Rectangle 2"/>
          <p:cNvSpPr>
            <a:spLocks noRot="1" noChangeArrowheads="1" noTextEdit="1"/>
          </p:cNvSpPr>
          <p:nvPr>
            <p:ph type="sldImg"/>
          </p:nvPr>
        </p:nvSpPr>
        <p:spPr>
          <a:ln/>
        </p:spPr>
      </p:sp>
      <p:sp>
        <p:nvSpPr>
          <p:cNvPr id="43012" name="Rectangle 3"/>
          <p:cNvSpPr>
            <a:spLocks noGrp="1" noChangeArrowheads="1"/>
          </p:cNvSpPr>
          <p:nvPr>
            <p:ph type="body" idx="1"/>
          </p:nvPr>
        </p:nvSpPr>
        <p:spPr>
          <a:xfrm>
            <a:off x="914400" y="4343400"/>
            <a:ext cx="5029200" cy="4114800"/>
          </a:xfrm>
          <a:noFill/>
          <a:ln/>
        </p:spPr>
        <p:txBody>
          <a:bodyPr/>
          <a:lstStyle/>
          <a:p>
            <a:pPr eaLnBrk="1" hangingPunct="1"/>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p>
            <a:fld id="{562B0BE5-8831-4FB9-8851-481E61079F1E}" type="slidenum">
              <a:rPr lang="en-US" smtClean="0"/>
              <a:pPr/>
              <a:t>26</a:t>
            </a:fld>
            <a:endParaRPr lang="en-US" smtClean="0"/>
          </a:p>
        </p:txBody>
      </p:sp>
      <p:sp>
        <p:nvSpPr>
          <p:cNvPr id="44035" name="Rectangle 2"/>
          <p:cNvSpPr>
            <a:spLocks noRot="1" noChangeArrowheads="1" noTextEdit="1"/>
          </p:cNvSpPr>
          <p:nvPr>
            <p:ph type="sldImg"/>
          </p:nvPr>
        </p:nvSpPr>
        <p:spPr>
          <a:ln/>
        </p:spPr>
      </p:sp>
      <p:sp>
        <p:nvSpPr>
          <p:cNvPr id="44036" name="Rectangle 3"/>
          <p:cNvSpPr>
            <a:spLocks noGrp="1" noChangeArrowheads="1"/>
          </p:cNvSpPr>
          <p:nvPr>
            <p:ph type="body" idx="1"/>
          </p:nvPr>
        </p:nvSpPr>
        <p:spPr>
          <a:xfrm>
            <a:off x="914400" y="4343400"/>
            <a:ext cx="5029200" cy="4114800"/>
          </a:xfrm>
          <a:noFill/>
          <a:ln/>
        </p:spPr>
        <p:txBody>
          <a:bodyPr/>
          <a:lstStyle/>
          <a:p>
            <a:pPr eaLnBrk="1" hangingPunct="1"/>
            <a:endParaRPr 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p>
            <a:fld id="{2945A344-1793-40EE-85D3-BC60DFA42A30}" type="slidenum">
              <a:rPr lang="en-US" smtClean="0"/>
              <a:pPr/>
              <a:t>28</a:t>
            </a:fld>
            <a:endParaRPr lang="en-US" smtClean="0"/>
          </a:p>
        </p:txBody>
      </p:sp>
      <p:sp>
        <p:nvSpPr>
          <p:cNvPr id="45059" name="Rectangle 2"/>
          <p:cNvSpPr>
            <a:spLocks noRot="1" noChangeArrowheads="1" noTextEdit="1"/>
          </p:cNvSpPr>
          <p:nvPr>
            <p:ph type="sldImg"/>
          </p:nvPr>
        </p:nvSpPr>
        <p:spPr>
          <a:ln/>
        </p:spPr>
      </p:sp>
      <p:sp>
        <p:nvSpPr>
          <p:cNvPr id="45060" name="Rectangle 3"/>
          <p:cNvSpPr>
            <a:spLocks noGrp="1" noChangeArrowheads="1"/>
          </p:cNvSpPr>
          <p:nvPr>
            <p:ph type="body" idx="1"/>
          </p:nvPr>
        </p:nvSpPr>
        <p:spPr>
          <a:xfrm>
            <a:off x="914400" y="4343400"/>
            <a:ext cx="5029200" cy="4114800"/>
          </a:xfrm>
          <a:noFill/>
          <a:ln/>
        </p:spPr>
        <p:txBody>
          <a:bodyPr/>
          <a:lstStyle/>
          <a:p>
            <a:pPr eaLnBrk="1" hangingPunct="1"/>
            <a:endParaRPr 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p>
            <a:fld id="{B738A99F-267A-4421-8907-4123B43B8C0A}" type="slidenum">
              <a:rPr lang="en-US" smtClean="0"/>
              <a:pPr/>
              <a:t>30</a:t>
            </a:fld>
            <a:endParaRPr lang="en-US" smtClean="0"/>
          </a:p>
        </p:txBody>
      </p:sp>
      <p:sp>
        <p:nvSpPr>
          <p:cNvPr id="46083" name="Rectangle 2"/>
          <p:cNvSpPr>
            <a:spLocks noRot="1" noChangeArrowheads="1" noTextEdit="1"/>
          </p:cNvSpPr>
          <p:nvPr>
            <p:ph type="sldImg"/>
          </p:nvPr>
        </p:nvSpPr>
        <p:spPr>
          <a:ln/>
        </p:spPr>
      </p:sp>
      <p:sp>
        <p:nvSpPr>
          <p:cNvPr id="46084" name="Rectangle 3"/>
          <p:cNvSpPr>
            <a:spLocks noGrp="1" noChangeArrowheads="1"/>
          </p:cNvSpPr>
          <p:nvPr>
            <p:ph type="body" idx="1"/>
          </p:nvPr>
        </p:nvSpPr>
        <p:spPr>
          <a:xfrm>
            <a:off x="914400" y="4343400"/>
            <a:ext cx="5029200" cy="4114800"/>
          </a:xfrm>
          <a:noFill/>
          <a:ln/>
        </p:spPr>
        <p:txBody>
          <a:bodyPr/>
          <a:lstStyle/>
          <a:p>
            <a:pPr eaLnBrk="1" hangingPunct="1"/>
            <a:endParaRPr 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noTextEdit="1"/>
          </p:cNvSpPr>
          <p:nvPr>
            <p:ph type="sldImg"/>
          </p:nvPr>
        </p:nvSpPr>
        <p:spPr bwMode="auto">
          <a:noFill/>
          <a:ln>
            <a:solidFill>
              <a:srgbClr val="000000"/>
            </a:solidFill>
            <a:miter lim="800000"/>
            <a:headEnd/>
            <a:tailEnd/>
          </a:ln>
        </p:spPr>
      </p:sp>
      <p:sp>
        <p:nvSpPr>
          <p:cNvPr id="17411"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1741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3CAA51CF-C094-40B0-A373-4D4C5B038B3D}" type="slidenum">
              <a:rPr lang="en-US">
                <a:latin typeface="Arial" pitchFamily="34" charset="0"/>
              </a:rPr>
              <a:pPr/>
              <a:t>133</a:t>
            </a:fld>
            <a:endParaRPr lang="en-US">
              <a:latin typeface="Arial"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4DD08AEC-A148-469D-91E3-99310D925AA8}" type="datetimeFigureOut">
              <a:rPr lang="en-US" smtClean="0"/>
              <a:t>12/27/2019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BCD1E0-ACF8-482F-B4F8-160E630E32CD}"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DD08AEC-A148-469D-91E3-99310D925AA8}" type="datetimeFigureOut">
              <a:rPr lang="en-US" smtClean="0"/>
              <a:t>12/27/2019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BCD1E0-ACF8-482F-B4F8-160E630E32CD}"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DD08AEC-A148-469D-91E3-99310D925AA8}" type="datetimeFigureOut">
              <a:rPr lang="en-US" smtClean="0"/>
              <a:t>12/27/2019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BCD1E0-ACF8-482F-B4F8-160E630E32CD}"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4DD08AEC-A148-469D-91E3-99310D925AA8}" type="datetimeFigureOut">
              <a:rPr lang="en-US" smtClean="0"/>
              <a:t>12/27/2019</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9BCD1E0-ACF8-482F-B4F8-160E630E32CD}"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4DD08AEC-A148-469D-91E3-99310D925AA8}" type="datetimeFigureOut">
              <a:rPr lang="en-US" smtClean="0"/>
              <a:t>12/27/2019</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9BCD1E0-ACF8-482F-B4F8-160E630E32CD}"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4DD08AEC-A148-469D-91E3-99310D925AA8}" type="datetimeFigureOut">
              <a:rPr lang="en-US" smtClean="0"/>
              <a:t>12/27/2019</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9BCD1E0-ACF8-482F-B4F8-160E630E32CD}"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DD08AEC-A148-469D-91E3-99310D925AA8}" type="datetimeFigureOut">
              <a:rPr lang="en-US" smtClean="0"/>
              <a:t>12/27/2019</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9BCD1E0-ACF8-482F-B4F8-160E630E32CD}"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DD08AEC-A148-469D-91E3-99310D925AA8}" type="datetimeFigureOut">
              <a:rPr lang="en-US" smtClean="0"/>
              <a:t>12/27/2019</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9BCD1E0-ACF8-482F-B4F8-160E630E32CD}"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DD08AEC-A148-469D-91E3-99310D925AA8}" type="datetimeFigureOut">
              <a:rPr lang="en-US" smtClean="0"/>
              <a:t>12/27/2019</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9BCD1E0-ACF8-482F-B4F8-160E630E32CD}"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DD08AEC-A148-469D-91E3-99310D925AA8}" type="datetimeFigureOut">
              <a:rPr lang="en-US" smtClean="0"/>
              <a:t>12/27/2019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BCD1E0-ACF8-482F-B4F8-160E630E32CD}"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DD08AEC-A148-469D-91E3-99310D925AA8}" type="datetimeFigureOut">
              <a:rPr lang="en-US" smtClean="0"/>
              <a:t>12/27/2019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BCD1E0-ACF8-482F-B4F8-160E630E32CD}"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D08AEC-A148-469D-91E3-99310D925AA8}" type="datetimeFigureOut">
              <a:rPr lang="en-US" smtClean="0"/>
              <a:t>12/27/2019</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BCD1E0-ACF8-482F-B4F8-160E630E32CD}"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image" Target="../media/image4.wmf"/><Relationship Id="rId7"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7.wmf"/><Relationship Id="rId5" Type="http://schemas.openxmlformats.org/officeDocument/2006/relationships/image" Target="../media/image6.wmf"/><Relationship Id="rId4" Type="http://schemas.openxmlformats.org/officeDocument/2006/relationships/image" Target="../media/image5.wmf"/><Relationship Id="rId9" Type="http://schemas.openxmlformats.org/officeDocument/2006/relationships/image" Target="../media/image10.w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openxmlformats.org/officeDocument/2006/relationships/image" Target="../media/image14.gif"/><Relationship Id="rId4" Type="http://schemas.openxmlformats.org/officeDocument/2006/relationships/image" Target="../media/image13.wmf"/></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image" Target="../media/image22.png"/><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21.png"/><Relationship Id="rId5" Type="http://schemas.openxmlformats.org/officeDocument/2006/relationships/oleObject" Target="../embeddings/oleObject3.bin"/><Relationship Id="rId4" Type="http://schemas.openxmlformats.org/officeDocument/2006/relationships/oleObject" Target="../embeddings/oleObject2.bin"/></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4.png"/><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5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24.png"/><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2" Type="http://schemas.openxmlformats.org/officeDocument/2006/relationships/image" Target="../media/image40.wmf"/><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42.wmf"/></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Subtitle 2"/>
          <p:cNvSpPr>
            <a:spLocks noGrp="1"/>
          </p:cNvSpPr>
          <p:nvPr>
            <p:ph type="subTitle" idx="1"/>
          </p:nvPr>
        </p:nvSpPr>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WordArt 2" descr="Purple mesh"/>
          <p:cNvSpPr>
            <a:spLocks noChangeArrowheads="1" noChangeShapeType="1" noTextEdit="1"/>
          </p:cNvSpPr>
          <p:nvPr/>
        </p:nvSpPr>
        <p:spPr bwMode="auto">
          <a:xfrm>
            <a:off x="1752600" y="2133600"/>
            <a:ext cx="5867400" cy="2895600"/>
          </a:xfrm>
          <a:prstGeom prst="rect">
            <a:avLst/>
          </a:prstGeom>
        </p:spPr>
        <p:txBody>
          <a:bodyPr wrap="none" fromWordArt="1">
            <a:prstTxWarp prst="textCanUp">
              <a:avLst>
                <a:gd name="adj" fmla="val 85713"/>
              </a:avLst>
            </a:prstTxWarp>
          </a:bodyPr>
          <a:lstStyle/>
          <a:p>
            <a:pPr algn="ctr"/>
            <a:r>
              <a:rPr lang="en-IN" sz="8000" b="1" kern="10">
                <a:ln w="12700">
                  <a:solidFill>
                    <a:srgbClr val="B2B2B2"/>
                  </a:solidFill>
                  <a:round/>
                  <a:headEnd/>
                  <a:tailEnd/>
                </a:ln>
                <a:blipFill dpi="0" rotWithShape="0">
                  <a:blip r:embed="rId2"/>
                  <a:srcRect/>
                  <a:tile tx="0" ty="0" sx="100000" sy="100000" flip="none" algn="tl"/>
                </a:blipFill>
                <a:effectLst>
                  <a:prstShdw prst="shdw13" dist="120483" dir="15093903">
                    <a:srgbClr val="800000"/>
                  </a:prstShdw>
                </a:effectLst>
                <a:latin typeface="Arial Black"/>
              </a:rPr>
              <a:t>C++</a:t>
            </a:r>
          </a:p>
        </p:txBody>
      </p:sp>
      <p:pic>
        <p:nvPicPr>
          <p:cNvPr id="4099" name="Picture 3" descr="dozenroses[1]"/>
          <p:cNvPicPr>
            <a:picLocks noChangeAspect="1" noChangeArrowheads="1" noCrop="1"/>
          </p:cNvPicPr>
          <p:nvPr/>
        </p:nvPicPr>
        <p:blipFill>
          <a:blip r:embed="rId3"/>
          <a:srcRect/>
          <a:stretch>
            <a:fillRect/>
          </a:stretch>
        </p:blipFill>
        <p:spPr bwMode="auto">
          <a:xfrm>
            <a:off x="5410200" y="1371600"/>
            <a:ext cx="923925" cy="2362200"/>
          </a:xfrm>
          <a:prstGeom prst="rect">
            <a:avLst/>
          </a:prstGeom>
          <a:noFill/>
          <a:ln w="9525">
            <a:noFill/>
            <a:miter lim="800000"/>
            <a:headEnd/>
            <a:tailEnd/>
          </a:ln>
        </p:spPr>
      </p:pic>
    </p:spTree>
  </p:cSld>
  <p:clrMapOvr>
    <a:masterClrMapping/>
  </p:clrMapOvr>
  <p:transition spd="med">
    <p:wheel spokes="2"/>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WordArt 2"/>
          <p:cNvSpPr>
            <a:spLocks noChangeArrowheads="1" noChangeShapeType="1" noTextEdit="1"/>
          </p:cNvSpPr>
          <p:nvPr/>
        </p:nvSpPr>
        <p:spPr bwMode="auto">
          <a:xfrm>
            <a:off x="1981200" y="1219200"/>
            <a:ext cx="5486400" cy="762000"/>
          </a:xfrm>
          <a:prstGeom prst="rect">
            <a:avLst/>
          </a:prstGeom>
        </p:spPr>
        <p:txBody>
          <a:bodyPr wrap="none" fromWordArt="1">
            <a:prstTxWarp prst="textPlain">
              <a:avLst>
                <a:gd name="adj" fmla="val 50000"/>
              </a:avLst>
            </a:prstTxWarp>
          </a:bodyPr>
          <a:lstStyle/>
          <a:p>
            <a:pPr algn="ctr"/>
            <a:r>
              <a:rPr lang="en-IN"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a:rPr>
              <a:t>CHAPTER 1</a:t>
            </a:r>
          </a:p>
        </p:txBody>
      </p:sp>
      <p:sp>
        <p:nvSpPr>
          <p:cNvPr id="5123" name="WordArt 3"/>
          <p:cNvSpPr>
            <a:spLocks noChangeArrowheads="1" noChangeShapeType="1" noTextEdit="1"/>
          </p:cNvSpPr>
          <p:nvPr/>
        </p:nvSpPr>
        <p:spPr bwMode="auto">
          <a:xfrm>
            <a:off x="762000" y="3886200"/>
            <a:ext cx="7162800" cy="1981200"/>
          </a:xfrm>
          <a:prstGeom prst="rect">
            <a:avLst/>
          </a:prstGeom>
        </p:spPr>
        <p:txBody>
          <a:bodyPr wrap="none" fromWordArt="1">
            <a:prstTxWarp prst="textCascadeUp">
              <a:avLst>
                <a:gd name="adj" fmla="val 43028"/>
              </a:avLst>
            </a:prstTxWarp>
            <a:scene3d>
              <a:camera prst="legacyPerspectiveFront">
                <a:rot lat="20519982" lon="1080000" rev="0"/>
              </a:camera>
              <a:lightRig rig="legacyHarsh2" dir="b"/>
            </a:scene3d>
            <a:sp3d extrusionH="430200" prstMaterial="legacyMatte">
              <a:extrusionClr>
                <a:srgbClr val="FF6600"/>
              </a:extrusionClr>
            </a:sp3d>
          </a:bodyPr>
          <a:lstStyle/>
          <a:p>
            <a:pPr algn="ctr"/>
            <a:r>
              <a:rPr lang="en-IN" sz="3600" kern="10">
                <a:ln w="9525">
                  <a:round/>
                  <a:headEnd/>
                  <a:tailEnd/>
                </a:ln>
                <a:gradFill rotWithShape="1">
                  <a:gsLst>
                    <a:gs pos="0">
                      <a:srgbClr val="FFE701"/>
                    </a:gs>
                    <a:gs pos="100000">
                      <a:srgbClr val="FE3E02"/>
                    </a:gs>
                  </a:gsLst>
                  <a:lin ang="5400000" scaled="1"/>
                </a:gradFill>
                <a:latin typeface="Impact"/>
              </a:rPr>
              <a:t>INTRODUCTION</a:t>
            </a:r>
          </a:p>
        </p:txBody>
      </p:sp>
    </p:spTree>
  </p:cSld>
  <p:clrMapOvr>
    <a:masterClrMapping/>
  </p:clrMapOvr>
  <p:transition spd="med">
    <p:wip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p:cNvSpPr txBox="1">
            <a:spLocks noChangeArrowheads="1"/>
          </p:cNvSpPr>
          <p:nvPr/>
        </p:nvSpPr>
        <p:spPr bwMode="auto">
          <a:xfrm>
            <a:off x="1876425" y="609600"/>
            <a:ext cx="5376863" cy="823913"/>
          </a:xfrm>
          <a:prstGeom prst="rect">
            <a:avLst/>
          </a:prstGeom>
          <a:solidFill>
            <a:srgbClr val="FF0000"/>
          </a:solidFill>
          <a:ln w="9525">
            <a:noFill/>
            <a:miter lim="800000"/>
            <a:headEnd/>
            <a:tailEnd/>
          </a:ln>
          <a:effectLst/>
        </p:spPr>
        <p:txBody>
          <a:bodyPr wrap="none">
            <a:spAutoFit/>
          </a:bodyPr>
          <a:lstStyle/>
          <a:p>
            <a:pPr>
              <a:defRPr/>
            </a:pPr>
            <a:r>
              <a:rPr lang="en-US" sz="4800" b="1">
                <a:solidFill>
                  <a:srgbClr val="66FFFF"/>
                </a:solidFill>
                <a:effectLst>
                  <a:outerShdw blurRad="38100" dist="38100" dir="2700000" algn="tl">
                    <a:srgbClr val="000000"/>
                  </a:outerShdw>
                </a:effectLst>
                <a:latin typeface="Arial Unicode MS" pitchFamily="34" charset="-128"/>
                <a:cs typeface="Times New Roman" pitchFamily="18" charset="0"/>
              </a:rPr>
              <a:t>Session Objectives</a:t>
            </a:r>
          </a:p>
        </p:txBody>
      </p:sp>
      <p:sp>
        <p:nvSpPr>
          <p:cNvPr id="6147" name="Text Box 3"/>
          <p:cNvSpPr txBox="1">
            <a:spLocks noChangeArrowheads="1"/>
          </p:cNvSpPr>
          <p:nvPr/>
        </p:nvSpPr>
        <p:spPr bwMode="auto">
          <a:xfrm>
            <a:off x="885825" y="2452688"/>
            <a:ext cx="4052888" cy="519112"/>
          </a:xfrm>
          <a:prstGeom prst="rect">
            <a:avLst/>
          </a:prstGeom>
          <a:noFill/>
          <a:ln w="9525">
            <a:noFill/>
            <a:miter lim="800000"/>
            <a:headEnd/>
            <a:tailEnd/>
          </a:ln>
        </p:spPr>
        <p:txBody>
          <a:bodyPr wrap="none">
            <a:spAutoFit/>
          </a:bodyPr>
          <a:lstStyle/>
          <a:p>
            <a:pPr>
              <a:buFontTx/>
              <a:buBlip>
                <a:blip r:embed="rId2"/>
              </a:buBlip>
            </a:pPr>
            <a:r>
              <a:rPr lang="en-US" sz="2800">
                <a:solidFill>
                  <a:srgbClr val="FF0000"/>
                </a:solidFill>
                <a:latin typeface="Times New Roman" pitchFamily="18" charset="0"/>
                <a:cs typeface="Times New Roman" pitchFamily="18" charset="0"/>
              </a:rPr>
              <a:t> </a:t>
            </a:r>
            <a:r>
              <a:rPr lang="en-US" sz="2800" b="1">
                <a:solidFill>
                  <a:srgbClr val="FF0000"/>
                </a:solidFill>
                <a:latin typeface="Times New Roman" pitchFamily="18" charset="0"/>
                <a:cs typeface="Times New Roman" pitchFamily="18" charset="0"/>
              </a:rPr>
              <a:t>Define Class &amp; Objects</a:t>
            </a:r>
          </a:p>
        </p:txBody>
      </p:sp>
      <p:sp>
        <p:nvSpPr>
          <p:cNvPr id="6148" name="Text Box 4"/>
          <p:cNvSpPr txBox="1">
            <a:spLocks noChangeArrowheads="1"/>
          </p:cNvSpPr>
          <p:nvPr/>
        </p:nvSpPr>
        <p:spPr bwMode="auto">
          <a:xfrm>
            <a:off x="885825" y="3124200"/>
            <a:ext cx="4278313" cy="519113"/>
          </a:xfrm>
          <a:prstGeom prst="rect">
            <a:avLst/>
          </a:prstGeom>
          <a:noFill/>
          <a:ln w="9525">
            <a:noFill/>
            <a:miter lim="800000"/>
            <a:headEnd/>
            <a:tailEnd/>
          </a:ln>
        </p:spPr>
        <p:txBody>
          <a:bodyPr wrap="none">
            <a:spAutoFit/>
          </a:bodyPr>
          <a:lstStyle/>
          <a:p>
            <a:pPr>
              <a:buFontTx/>
              <a:buBlip>
                <a:blip r:embed="rId2"/>
              </a:buBlip>
            </a:pPr>
            <a:r>
              <a:rPr lang="en-US" sz="2800">
                <a:solidFill>
                  <a:srgbClr val="FF0000"/>
                </a:solidFill>
                <a:latin typeface="Times New Roman" pitchFamily="18" charset="0"/>
                <a:cs typeface="Times New Roman" pitchFamily="18" charset="0"/>
              </a:rPr>
              <a:t> </a:t>
            </a:r>
            <a:r>
              <a:rPr lang="en-US" sz="2800" b="1">
                <a:solidFill>
                  <a:srgbClr val="FF0000"/>
                </a:solidFill>
                <a:latin typeface="Times New Roman" pitchFamily="18" charset="0"/>
                <a:cs typeface="Times New Roman" pitchFamily="18" charset="0"/>
              </a:rPr>
              <a:t>Characteristics of OOPS</a:t>
            </a:r>
          </a:p>
        </p:txBody>
      </p:sp>
      <p:sp>
        <p:nvSpPr>
          <p:cNvPr id="6149" name="Text Box 5"/>
          <p:cNvSpPr txBox="1">
            <a:spLocks noChangeArrowheads="1"/>
          </p:cNvSpPr>
          <p:nvPr/>
        </p:nvSpPr>
        <p:spPr bwMode="auto">
          <a:xfrm>
            <a:off x="962025" y="3824288"/>
            <a:ext cx="2809875" cy="519112"/>
          </a:xfrm>
          <a:prstGeom prst="rect">
            <a:avLst/>
          </a:prstGeom>
          <a:noFill/>
          <a:ln w="9525">
            <a:noFill/>
            <a:miter lim="800000"/>
            <a:headEnd/>
            <a:tailEnd/>
          </a:ln>
        </p:spPr>
        <p:txBody>
          <a:bodyPr wrap="none">
            <a:spAutoFit/>
          </a:bodyPr>
          <a:lstStyle/>
          <a:p>
            <a:pPr>
              <a:buFontTx/>
              <a:buBlip>
                <a:blip r:embed="rId2"/>
              </a:buBlip>
            </a:pPr>
            <a:r>
              <a:rPr lang="en-US" sz="2800">
                <a:solidFill>
                  <a:srgbClr val="FF0000"/>
                </a:solidFill>
                <a:latin typeface="Times New Roman" pitchFamily="18" charset="0"/>
                <a:cs typeface="Times New Roman" pitchFamily="18" charset="0"/>
              </a:rPr>
              <a:t> </a:t>
            </a:r>
            <a:r>
              <a:rPr lang="en-US" sz="2800" b="1">
                <a:solidFill>
                  <a:srgbClr val="FF0000"/>
                </a:solidFill>
                <a:latin typeface="Times New Roman" pitchFamily="18" charset="0"/>
                <a:cs typeface="Times New Roman" pitchFamily="18" charset="0"/>
              </a:rPr>
              <a:t>History of C++</a:t>
            </a:r>
          </a:p>
        </p:txBody>
      </p:sp>
      <p:sp>
        <p:nvSpPr>
          <p:cNvPr id="6150" name="Text Box 6"/>
          <p:cNvSpPr txBox="1">
            <a:spLocks noChangeArrowheads="1"/>
          </p:cNvSpPr>
          <p:nvPr/>
        </p:nvSpPr>
        <p:spPr bwMode="auto">
          <a:xfrm>
            <a:off x="962025" y="4510088"/>
            <a:ext cx="4960938" cy="519112"/>
          </a:xfrm>
          <a:prstGeom prst="rect">
            <a:avLst/>
          </a:prstGeom>
          <a:noFill/>
          <a:ln w="9525">
            <a:noFill/>
            <a:miter lim="800000"/>
            <a:headEnd/>
            <a:tailEnd/>
          </a:ln>
        </p:spPr>
        <p:txBody>
          <a:bodyPr wrap="none">
            <a:spAutoFit/>
          </a:bodyPr>
          <a:lstStyle/>
          <a:p>
            <a:pPr>
              <a:buFontTx/>
              <a:buBlip>
                <a:blip r:embed="rId2"/>
              </a:buBlip>
            </a:pPr>
            <a:r>
              <a:rPr lang="en-US" sz="2800">
                <a:solidFill>
                  <a:srgbClr val="FF0000"/>
                </a:solidFill>
                <a:latin typeface="Times New Roman" pitchFamily="18" charset="0"/>
                <a:cs typeface="Times New Roman" pitchFamily="18" charset="0"/>
              </a:rPr>
              <a:t> </a:t>
            </a:r>
            <a:r>
              <a:rPr lang="en-US" sz="2800" b="1">
                <a:solidFill>
                  <a:srgbClr val="FF0000"/>
                </a:solidFill>
                <a:latin typeface="Times New Roman" pitchFamily="18" charset="0"/>
                <a:cs typeface="Times New Roman" pitchFamily="18" charset="0"/>
              </a:rPr>
              <a:t>Difference Between C &amp; C++</a:t>
            </a:r>
          </a:p>
        </p:txBody>
      </p:sp>
      <p:sp>
        <p:nvSpPr>
          <p:cNvPr id="6151" name="Text Box 7"/>
          <p:cNvSpPr txBox="1">
            <a:spLocks noChangeArrowheads="1"/>
          </p:cNvSpPr>
          <p:nvPr/>
        </p:nvSpPr>
        <p:spPr bwMode="auto">
          <a:xfrm>
            <a:off x="981075" y="5195888"/>
            <a:ext cx="4964113" cy="519112"/>
          </a:xfrm>
          <a:prstGeom prst="rect">
            <a:avLst/>
          </a:prstGeom>
          <a:noFill/>
          <a:ln w="9525">
            <a:noFill/>
            <a:miter lim="800000"/>
            <a:headEnd/>
            <a:tailEnd/>
          </a:ln>
        </p:spPr>
        <p:txBody>
          <a:bodyPr wrap="none">
            <a:spAutoFit/>
          </a:bodyPr>
          <a:lstStyle/>
          <a:p>
            <a:pPr>
              <a:buFontTx/>
              <a:buBlip>
                <a:blip r:embed="rId2"/>
              </a:buBlip>
            </a:pPr>
            <a:r>
              <a:rPr lang="en-US" sz="2800">
                <a:solidFill>
                  <a:srgbClr val="FF0000"/>
                </a:solidFill>
                <a:latin typeface="Times New Roman" pitchFamily="18" charset="0"/>
                <a:cs typeface="Times New Roman" pitchFamily="18" charset="0"/>
              </a:rPr>
              <a:t> </a:t>
            </a:r>
            <a:r>
              <a:rPr lang="en-US" sz="2800" b="1">
                <a:solidFill>
                  <a:srgbClr val="FF0000"/>
                </a:solidFill>
                <a:latin typeface="Times New Roman" pitchFamily="18" charset="0"/>
                <a:cs typeface="Times New Roman" pitchFamily="18" charset="0"/>
              </a:rPr>
              <a:t>C++ Programming Structure</a:t>
            </a:r>
          </a:p>
        </p:txBody>
      </p:sp>
      <p:sp>
        <p:nvSpPr>
          <p:cNvPr id="6152" name="Text Box 8"/>
          <p:cNvSpPr txBox="1">
            <a:spLocks noChangeArrowheads="1"/>
          </p:cNvSpPr>
          <p:nvPr/>
        </p:nvSpPr>
        <p:spPr bwMode="auto">
          <a:xfrm>
            <a:off x="885825" y="1843088"/>
            <a:ext cx="4105275" cy="519112"/>
          </a:xfrm>
          <a:prstGeom prst="rect">
            <a:avLst/>
          </a:prstGeom>
          <a:noFill/>
          <a:ln w="9525">
            <a:noFill/>
            <a:miter lim="800000"/>
            <a:headEnd/>
            <a:tailEnd/>
          </a:ln>
        </p:spPr>
        <p:txBody>
          <a:bodyPr wrap="none">
            <a:spAutoFit/>
          </a:bodyPr>
          <a:lstStyle/>
          <a:p>
            <a:pPr>
              <a:buFontTx/>
              <a:buBlip>
                <a:blip r:embed="rId2"/>
              </a:buBlip>
            </a:pPr>
            <a:r>
              <a:rPr lang="en-US" sz="2800">
                <a:solidFill>
                  <a:srgbClr val="FF0000"/>
                </a:solidFill>
                <a:latin typeface="Times New Roman" pitchFamily="18" charset="0"/>
                <a:cs typeface="Times New Roman" pitchFamily="18" charset="0"/>
              </a:rPr>
              <a:t> </a:t>
            </a:r>
            <a:r>
              <a:rPr lang="en-US" sz="2800" b="1">
                <a:solidFill>
                  <a:srgbClr val="FF0000"/>
                </a:solidFill>
                <a:latin typeface="Times New Roman" pitchFamily="18" charset="0"/>
                <a:cs typeface="Times New Roman" pitchFamily="18" charset="0"/>
              </a:rPr>
              <a:t>Introduction to Objects</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88" fill="hold" grpId="0" nodeType="afterEffect">
                                  <p:stCondLst>
                                    <p:cond delay="0"/>
                                  </p:stCondLst>
                                  <p:childTnLst>
                                    <p:set>
                                      <p:cBhvr>
                                        <p:cTn id="6" dur="1" fill="hold">
                                          <p:stCondLst>
                                            <p:cond delay="0"/>
                                          </p:stCondLst>
                                        </p:cTn>
                                        <p:tgtEl>
                                          <p:spTgt spid="6152"/>
                                        </p:tgtEl>
                                        <p:attrNameLst>
                                          <p:attrName>style.visibility</p:attrName>
                                        </p:attrNameLst>
                                      </p:cBhvr>
                                      <p:to>
                                        <p:strVal val="visible"/>
                                      </p:to>
                                    </p:set>
                                    <p:anim calcmode="lin" valueType="num">
                                      <p:cBhvr>
                                        <p:cTn id="7" dur="500" fill="hold"/>
                                        <p:tgtEl>
                                          <p:spTgt spid="6152"/>
                                        </p:tgtEl>
                                        <p:attrNameLst>
                                          <p:attrName>ppt_w</p:attrName>
                                        </p:attrNameLst>
                                      </p:cBhvr>
                                      <p:tavLst>
                                        <p:tav tm="0">
                                          <p:val>
                                            <p:strVal val="4/3*#ppt_w"/>
                                          </p:val>
                                        </p:tav>
                                        <p:tav tm="100000">
                                          <p:val>
                                            <p:strVal val="#ppt_w"/>
                                          </p:val>
                                        </p:tav>
                                      </p:tavLst>
                                    </p:anim>
                                    <p:anim calcmode="lin" valueType="num">
                                      <p:cBhvr>
                                        <p:cTn id="8" dur="500" fill="hold"/>
                                        <p:tgtEl>
                                          <p:spTgt spid="6152"/>
                                        </p:tgtEl>
                                        <p:attrNameLst>
                                          <p:attrName>ppt_h</p:attrName>
                                        </p:attrNameLst>
                                      </p:cBhvr>
                                      <p:tavLst>
                                        <p:tav tm="0">
                                          <p:val>
                                            <p:strVal val="4/3*#ppt_h"/>
                                          </p:val>
                                        </p:tav>
                                        <p:tav tm="100000">
                                          <p:val>
                                            <p:strVal val="#ppt_h"/>
                                          </p:val>
                                        </p:tav>
                                      </p:tavLst>
                                    </p:anim>
                                  </p:childTnLst>
                                </p:cTn>
                              </p:par>
                            </p:childTnLst>
                          </p:cTn>
                        </p:par>
                        <p:par>
                          <p:cTn id="9" fill="hold">
                            <p:stCondLst>
                              <p:cond delay="500"/>
                            </p:stCondLst>
                            <p:childTnLst>
                              <p:par>
                                <p:cTn id="10" presetID="23" presetClass="entr" presetSubtype="288" fill="hold" grpId="0" nodeType="afterEffect">
                                  <p:stCondLst>
                                    <p:cond delay="0"/>
                                  </p:stCondLst>
                                  <p:childTnLst>
                                    <p:set>
                                      <p:cBhvr>
                                        <p:cTn id="11" dur="1" fill="hold">
                                          <p:stCondLst>
                                            <p:cond delay="0"/>
                                          </p:stCondLst>
                                        </p:cTn>
                                        <p:tgtEl>
                                          <p:spTgt spid="6147"/>
                                        </p:tgtEl>
                                        <p:attrNameLst>
                                          <p:attrName>style.visibility</p:attrName>
                                        </p:attrNameLst>
                                      </p:cBhvr>
                                      <p:to>
                                        <p:strVal val="visible"/>
                                      </p:to>
                                    </p:set>
                                    <p:anim calcmode="lin" valueType="num">
                                      <p:cBhvr>
                                        <p:cTn id="12" dur="500" fill="hold"/>
                                        <p:tgtEl>
                                          <p:spTgt spid="6147"/>
                                        </p:tgtEl>
                                        <p:attrNameLst>
                                          <p:attrName>ppt_w</p:attrName>
                                        </p:attrNameLst>
                                      </p:cBhvr>
                                      <p:tavLst>
                                        <p:tav tm="0">
                                          <p:val>
                                            <p:strVal val="4/3*#ppt_w"/>
                                          </p:val>
                                        </p:tav>
                                        <p:tav tm="100000">
                                          <p:val>
                                            <p:strVal val="#ppt_w"/>
                                          </p:val>
                                        </p:tav>
                                      </p:tavLst>
                                    </p:anim>
                                    <p:anim calcmode="lin" valueType="num">
                                      <p:cBhvr>
                                        <p:cTn id="13" dur="500" fill="hold"/>
                                        <p:tgtEl>
                                          <p:spTgt spid="6147"/>
                                        </p:tgtEl>
                                        <p:attrNameLst>
                                          <p:attrName>ppt_h</p:attrName>
                                        </p:attrNameLst>
                                      </p:cBhvr>
                                      <p:tavLst>
                                        <p:tav tm="0">
                                          <p:val>
                                            <p:strVal val="4/3*#ppt_h"/>
                                          </p:val>
                                        </p:tav>
                                        <p:tav tm="100000">
                                          <p:val>
                                            <p:strVal val="#ppt_h"/>
                                          </p:val>
                                        </p:tav>
                                      </p:tavLst>
                                    </p:anim>
                                  </p:childTnLst>
                                </p:cTn>
                              </p:par>
                            </p:childTnLst>
                          </p:cTn>
                        </p:par>
                        <p:par>
                          <p:cTn id="14" fill="hold">
                            <p:stCondLst>
                              <p:cond delay="1000"/>
                            </p:stCondLst>
                            <p:childTnLst>
                              <p:par>
                                <p:cTn id="15" presetID="23" presetClass="entr" presetSubtype="288" fill="hold" grpId="0" nodeType="afterEffect">
                                  <p:stCondLst>
                                    <p:cond delay="0"/>
                                  </p:stCondLst>
                                  <p:childTnLst>
                                    <p:set>
                                      <p:cBhvr>
                                        <p:cTn id="16" dur="1" fill="hold">
                                          <p:stCondLst>
                                            <p:cond delay="0"/>
                                          </p:stCondLst>
                                        </p:cTn>
                                        <p:tgtEl>
                                          <p:spTgt spid="6148"/>
                                        </p:tgtEl>
                                        <p:attrNameLst>
                                          <p:attrName>style.visibility</p:attrName>
                                        </p:attrNameLst>
                                      </p:cBhvr>
                                      <p:to>
                                        <p:strVal val="visible"/>
                                      </p:to>
                                    </p:set>
                                    <p:anim calcmode="lin" valueType="num">
                                      <p:cBhvr>
                                        <p:cTn id="17" dur="500" fill="hold"/>
                                        <p:tgtEl>
                                          <p:spTgt spid="6148"/>
                                        </p:tgtEl>
                                        <p:attrNameLst>
                                          <p:attrName>ppt_w</p:attrName>
                                        </p:attrNameLst>
                                      </p:cBhvr>
                                      <p:tavLst>
                                        <p:tav tm="0">
                                          <p:val>
                                            <p:strVal val="4/3*#ppt_w"/>
                                          </p:val>
                                        </p:tav>
                                        <p:tav tm="100000">
                                          <p:val>
                                            <p:strVal val="#ppt_w"/>
                                          </p:val>
                                        </p:tav>
                                      </p:tavLst>
                                    </p:anim>
                                    <p:anim calcmode="lin" valueType="num">
                                      <p:cBhvr>
                                        <p:cTn id="18" dur="500" fill="hold"/>
                                        <p:tgtEl>
                                          <p:spTgt spid="6148"/>
                                        </p:tgtEl>
                                        <p:attrNameLst>
                                          <p:attrName>ppt_h</p:attrName>
                                        </p:attrNameLst>
                                      </p:cBhvr>
                                      <p:tavLst>
                                        <p:tav tm="0">
                                          <p:val>
                                            <p:strVal val="4/3*#ppt_h"/>
                                          </p:val>
                                        </p:tav>
                                        <p:tav tm="100000">
                                          <p:val>
                                            <p:strVal val="#ppt_h"/>
                                          </p:val>
                                        </p:tav>
                                      </p:tavLst>
                                    </p:anim>
                                  </p:childTnLst>
                                </p:cTn>
                              </p:par>
                            </p:childTnLst>
                          </p:cTn>
                        </p:par>
                        <p:par>
                          <p:cTn id="19" fill="hold">
                            <p:stCondLst>
                              <p:cond delay="1500"/>
                            </p:stCondLst>
                            <p:childTnLst>
                              <p:par>
                                <p:cTn id="20" presetID="23" presetClass="entr" presetSubtype="288" fill="hold" grpId="0" nodeType="afterEffect">
                                  <p:stCondLst>
                                    <p:cond delay="0"/>
                                  </p:stCondLst>
                                  <p:childTnLst>
                                    <p:set>
                                      <p:cBhvr>
                                        <p:cTn id="21" dur="1" fill="hold">
                                          <p:stCondLst>
                                            <p:cond delay="0"/>
                                          </p:stCondLst>
                                        </p:cTn>
                                        <p:tgtEl>
                                          <p:spTgt spid="6149"/>
                                        </p:tgtEl>
                                        <p:attrNameLst>
                                          <p:attrName>style.visibility</p:attrName>
                                        </p:attrNameLst>
                                      </p:cBhvr>
                                      <p:to>
                                        <p:strVal val="visible"/>
                                      </p:to>
                                    </p:set>
                                    <p:anim calcmode="lin" valueType="num">
                                      <p:cBhvr>
                                        <p:cTn id="22" dur="500" fill="hold"/>
                                        <p:tgtEl>
                                          <p:spTgt spid="6149"/>
                                        </p:tgtEl>
                                        <p:attrNameLst>
                                          <p:attrName>ppt_w</p:attrName>
                                        </p:attrNameLst>
                                      </p:cBhvr>
                                      <p:tavLst>
                                        <p:tav tm="0">
                                          <p:val>
                                            <p:strVal val="4/3*#ppt_w"/>
                                          </p:val>
                                        </p:tav>
                                        <p:tav tm="100000">
                                          <p:val>
                                            <p:strVal val="#ppt_w"/>
                                          </p:val>
                                        </p:tav>
                                      </p:tavLst>
                                    </p:anim>
                                    <p:anim calcmode="lin" valueType="num">
                                      <p:cBhvr>
                                        <p:cTn id="23" dur="500" fill="hold"/>
                                        <p:tgtEl>
                                          <p:spTgt spid="6149"/>
                                        </p:tgtEl>
                                        <p:attrNameLst>
                                          <p:attrName>ppt_h</p:attrName>
                                        </p:attrNameLst>
                                      </p:cBhvr>
                                      <p:tavLst>
                                        <p:tav tm="0">
                                          <p:val>
                                            <p:strVal val="4/3*#ppt_h"/>
                                          </p:val>
                                        </p:tav>
                                        <p:tav tm="100000">
                                          <p:val>
                                            <p:strVal val="#ppt_h"/>
                                          </p:val>
                                        </p:tav>
                                      </p:tavLst>
                                    </p:anim>
                                  </p:childTnLst>
                                </p:cTn>
                              </p:par>
                            </p:childTnLst>
                          </p:cTn>
                        </p:par>
                        <p:par>
                          <p:cTn id="24" fill="hold">
                            <p:stCondLst>
                              <p:cond delay="2000"/>
                            </p:stCondLst>
                            <p:childTnLst>
                              <p:par>
                                <p:cTn id="25" presetID="23" presetClass="entr" presetSubtype="288" fill="hold" grpId="0" nodeType="afterEffect">
                                  <p:stCondLst>
                                    <p:cond delay="0"/>
                                  </p:stCondLst>
                                  <p:childTnLst>
                                    <p:set>
                                      <p:cBhvr>
                                        <p:cTn id="26" dur="1" fill="hold">
                                          <p:stCondLst>
                                            <p:cond delay="0"/>
                                          </p:stCondLst>
                                        </p:cTn>
                                        <p:tgtEl>
                                          <p:spTgt spid="6150"/>
                                        </p:tgtEl>
                                        <p:attrNameLst>
                                          <p:attrName>style.visibility</p:attrName>
                                        </p:attrNameLst>
                                      </p:cBhvr>
                                      <p:to>
                                        <p:strVal val="visible"/>
                                      </p:to>
                                    </p:set>
                                    <p:anim calcmode="lin" valueType="num">
                                      <p:cBhvr>
                                        <p:cTn id="27" dur="500" fill="hold"/>
                                        <p:tgtEl>
                                          <p:spTgt spid="6150"/>
                                        </p:tgtEl>
                                        <p:attrNameLst>
                                          <p:attrName>ppt_w</p:attrName>
                                        </p:attrNameLst>
                                      </p:cBhvr>
                                      <p:tavLst>
                                        <p:tav tm="0">
                                          <p:val>
                                            <p:strVal val="4/3*#ppt_w"/>
                                          </p:val>
                                        </p:tav>
                                        <p:tav tm="100000">
                                          <p:val>
                                            <p:strVal val="#ppt_w"/>
                                          </p:val>
                                        </p:tav>
                                      </p:tavLst>
                                    </p:anim>
                                    <p:anim calcmode="lin" valueType="num">
                                      <p:cBhvr>
                                        <p:cTn id="28" dur="500" fill="hold"/>
                                        <p:tgtEl>
                                          <p:spTgt spid="6150"/>
                                        </p:tgtEl>
                                        <p:attrNameLst>
                                          <p:attrName>ppt_h</p:attrName>
                                        </p:attrNameLst>
                                      </p:cBhvr>
                                      <p:tavLst>
                                        <p:tav tm="0">
                                          <p:val>
                                            <p:strVal val="4/3*#ppt_h"/>
                                          </p:val>
                                        </p:tav>
                                        <p:tav tm="100000">
                                          <p:val>
                                            <p:strVal val="#ppt_h"/>
                                          </p:val>
                                        </p:tav>
                                      </p:tavLst>
                                    </p:anim>
                                  </p:childTnLst>
                                </p:cTn>
                              </p:par>
                            </p:childTnLst>
                          </p:cTn>
                        </p:par>
                        <p:par>
                          <p:cTn id="29" fill="hold">
                            <p:stCondLst>
                              <p:cond delay="2500"/>
                            </p:stCondLst>
                            <p:childTnLst>
                              <p:par>
                                <p:cTn id="30" presetID="23" presetClass="entr" presetSubtype="288" fill="hold" grpId="0" nodeType="afterEffect">
                                  <p:stCondLst>
                                    <p:cond delay="0"/>
                                  </p:stCondLst>
                                  <p:childTnLst>
                                    <p:set>
                                      <p:cBhvr>
                                        <p:cTn id="31" dur="1" fill="hold">
                                          <p:stCondLst>
                                            <p:cond delay="0"/>
                                          </p:stCondLst>
                                        </p:cTn>
                                        <p:tgtEl>
                                          <p:spTgt spid="6151"/>
                                        </p:tgtEl>
                                        <p:attrNameLst>
                                          <p:attrName>style.visibility</p:attrName>
                                        </p:attrNameLst>
                                      </p:cBhvr>
                                      <p:to>
                                        <p:strVal val="visible"/>
                                      </p:to>
                                    </p:set>
                                    <p:anim calcmode="lin" valueType="num">
                                      <p:cBhvr>
                                        <p:cTn id="32" dur="500" fill="hold"/>
                                        <p:tgtEl>
                                          <p:spTgt spid="6151"/>
                                        </p:tgtEl>
                                        <p:attrNameLst>
                                          <p:attrName>ppt_w</p:attrName>
                                        </p:attrNameLst>
                                      </p:cBhvr>
                                      <p:tavLst>
                                        <p:tav tm="0">
                                          <p:val>
                                            <p:strVal val="4/3*#ppt_w"/>
                                          </p:val>
                                        </p:tav>
                                        <p:tav tm="100000">
                                          <p:val>
                                            <p:strVal val="#ppt_w"/>
                                          </p:val>
                                        </p:tav>
                                      </p:tavLst>
                                    </p:anim>
                                    <p:anim calcmode="lin" valueType="num">
                                      <p:cBhvr>
                                        <p:cTn id="33" dur="500" fill="hold"/>
                                        <p:tgtEl>
                                          <p:spTgt spid="6151"/>
                                        </p:tgtEl>
                                        <p:attrNameLst>
                                          <p:attrName>ppt_h</p:attrName>
                                        </p:attrNameLst>
                                      </p:cBhvr>
                                      <p:tavLst>
                                        <p:tav tm="0">
                                          <p:val>
                                            <p:strVal val="4/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autoUpdateAnimBg="0"/>
      <p:bldP spid="6148" grpId="0" autoUpdateAnimBg="0"/>
      <p:bldP spid="6149" grpId="0" autoUpdateAnimBg="0"/>
      <p:bldP spid="6150" grpId="0" autoUpdateAnimBg="0"/>
      <p:bldP spid="6151" grpId="0" autoUpdateAnimBg="0"/>
      <p:bldP spid="6152"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0" y="685800"/>
            <a:ext cx="8270875" cy="6019800"/>
            <a:chOff x="336" y="432"/>
            <a:chExt cx="4874" cy="3651"/>
          </a:xfrm>
        </p:grpSpPr>
        <p:sp>
          <p:nvSpPr>
            <p:cNvPr id="7175" name="Text Box 3"/>
            <p:cNvSpPr txBox="1">
              <a:spLocks noChangeArrowheads="1"/>
            </p:cNvSpPr>
            <p:nvPr/>
          </p:nvSpPr>
          <p:spPr bwMode="auto">
            <a:xfrm>
              <a:off x="1488" y="432"/>
              <a:ext cx="3216" cy="3651"/>
            </a:xfrm>
            <a:prstGeom prst="rect">
              <a:avLst/>
            </a:prstGeom>
            <a:noFill/>
            <a:ln w="9525">
              <a:solidFill>
                <a:srgbClr val="FF3300"/>
              </a:solidFill>
              <a:miter lim="800000"/>
              <a:headEnd/>
              <a:tailEnd/>
            </a:ln>
          </p:spPr>
          <p:txBody>
            <a:bodyPr>
              <a:spAutoFit/>
            </a:bodyPr>
            <a:lstStyle/>
            <a:p>
              <a:pPr algn="ctr">
                <a:spcBef>
                  <a:spcPct val="50000"/>
                </a:spcBef>
              </a:pPr>
              <a:r>
                <a:rPr lang="en-US" sz="4400" b="1">
                  <a:solidFill>
                    <a:srgbClr val="800000"/>
                  </a:solidFill>
                  <a:latin typeface="Times New Roman" pitchFamily="18" charset="0"/>
                </a:rPr>
                <a:t>All around us in the real world are objects.</a:t>
              </a:r>
            </a:p>
            <a:p>
              <a:pPr algn="ctr">
                <a:spcBef>
                  <a:spcPct val="50000"/>
                </a:spcBef>
              </a:pPr>
              <a:r>
                <a:rPr lang="en-US" sz="4400" b="1">
                  <a:solidFill>
                    <a:srgbClr val="800000"/>
                  </a:solidFill>
                  <a:latin typeface="Times New Roman" pitchFamily="18" charset="0"/>
                </a:rPr>
                <a:t>Each object has certain characteristics and exhibits  certain behaviour</a:t>
              </a:r>
            </a:p>
          </p:txBody>
        </p:sp>
        <p:pic>
          <p:nvPicPr>
            <p:cNvPr id="7176" name="Picture 4" descr="tn00561_"/>
            <p:cNvPicPr>
              <a:picLocks noChangeAspect="1" noChangeArrowheads="1"/>
            </p:cNvPicPr>
            <p:nvPr/>
          </p:nvPicPr>
          <p:blipFill>
            <a:blip r:embed="rId3"/>
            <a:srcRect/>
            <a:stretch>
              <a:fillRect/>
            </a:stretch>
          </p:blipFill>
          <p:spPr bwMode="auto">
            <a:xfrm>
              <a:off x="768" y="1152"/>
              <a:ext cx="1008" cy="767"/>
            </a:xfrm>
            <a:prstGeom prst="rect">
              <a:avLst/>
            </a:prstGeom>
            <a:noFill/>
            <a:ln w="9525">
              <a:noFill/>
              <a:miter lim="800000"/>
              <a:headEnd/>
              <a:tailEnd/>
            </a:ln>
          </p:spPr>
        </p:pic>
        <p:pic>
          <p:nvPicPr>
            <p:cNvPr id="7177" name="Picture 5" descr="na01441_"/>
            <p:cNvPicPr>
              <a:picLocks noChangeAspect="1" noChangeArrowheads="1"/>
            </p:cNvPicPr>
            <p:nvPr/>
          </p:nvPicPr>
          <p:blipFill>
            <a:blip r:embed="rId4"/>
            <a:srcRect/>
            <a:stretch>
              <a:fillRect/>
            </a:stretch>
          </p:blipFill>
          <p:spPr bwMode="auto">
            <a:xfrm>
              <a:off x="336" y="2208"/>
              <a:ext cx="941" cy="1062"/>
            </a:xfrm>
            <a:prstGeom prst="rect">
              <a:avLst/>
            </a:prstGeom>
            <a:noFill/>
            <a:ln w="9525">
              <a:noFill/>
              <a:miter lim="800000"/>
              <a:headEnd/>
              <a:tailEnd/>
            </a:ln>
          </p:spPr>
        </p:pic>
        <p:pic>
          <p:nvPicPr>
            <p:cNvPr id="7178" name="Picture 6" descr="bd05515_"/>
            <p:cNvPicPr>
              <a:picLocks noChangeAspect="1" noChangeArrowheads="1"/>
            </p:cNvPicPr>
            <p:nvPr/>
          </p:nvPicPr>
          <p:blipFill>
            <a:blip r:embed="rId5"/>
            <a:srcRect/>
            <a:stretch>
              <a:fillRect/>
            </a:stretch>
          </p:blipFill>
          <p:spPr bwMode="auto">
            <a:xfrm>
              <a:off x="4272" y="1200"/>
              <a:ext cx="938" cy="1008"/>
            </a:xfrm>
            <a:prstGeom prst="rect">
              <a:avLst/>
            </a:prstGeom>
            <a:noFill/>
            <a:ln w="9525">
              <a:noFill/>
              <a:miter lim="800000"/>
              <a:headEnd/>
              <a:tailEnd/>
            </a:ln>
          </p:spPr>
        </p:pic>
      </p:grpSp>
      <p:pic>
        <p:nvPicPr>
          <p:cNvPr id="7171" name="Picture 7" descr="bs00554_"/>
          <p:cNvPicPr>
            <a:picLocks noChangeAspect="1" noChangeArrowheads="1"/>
          </p:cNvPicPr>
          <p:nvPr/>
        </p:nvPicPr>
        <p:blipFill>
          <a:blip r:embed="rId6"/>
          <a:srcRect/>
          <a:stretch>
            <a:fillRect/>
          </a:stretch>
        </p:blipFill>
        <p:spPr bwMode="auto">
          <a:xfrm>
            <a:off x="7315200" y="4876800"/>
            <a:ext cx="1530350" cy="1336675"/>
          </a:xfrm>
          <a:prstGeom prst="rect">
            <a:avLst/>
          </a:prstGeom>
          <a:noFill/>
          <a:ln w="9525">
            <a:noFill/>
            <a:miter lim="800000"/>
            <a:headEnd/>
            <a:tailEnd/>
          </a:ln>
        </p:spPr>
      </p:pic>
      <p:pic>
        <p:nvPicPr>
          <p:cNvPr id="7172" name="Picture 8" descr="ph01035u"/>
          <p:cNvPicPr>
            <a:picLocks noChangeAspect="1" noChangeArrowheads="1"/>
          </p:cNvPicPr>
          <p:nvPr/>
        </p:nvPicPr>
        <p:blipFill>
          <a:blip r:embed="rId7"/>
          <a:srcRect/>
          <a:stretch>
            <a:fillRect/>
          </a:stretch>
        </p:blipFill>
        <p:spPr bwMode="auto">
          <a:xfrm rot="-447712">
            <a:off x="381000" y="5562600"/>
            <a:ext cx="1752600" cy="1174750"/>
          </a:xfrm>
          <a:prstGeom prst="rect">
            <a:avLst/>
          </a:prstGeom>
          <a:noFill/>
          <a:ln w="9525">
            <a:noFill/>
            <a:miter lim="800000"/>
            <a:headEnd/>
            <a:tailEnd/>
          </a:ln>
        </p:spPr>
      </p:pic>
      <p:pic>
        <p:nvPicPr>
          <p:cNvPr id="7173" name="Picture 9" descr="bs00186_"/>
          <p:cNvPicPr>
            <a:picLocks noChangeAspect="1" noChangeArrowheads="1"/>
          </p:cNvPicPr>
          <p:nvPr/>
        </p:nvPicPr>
        <p:blipFill>
          <a:blip r:embed="rId8"/>
          <a:srcRect/>
          <a:stretch>
            <a:fillRect/>
          </a:stretch>
        </p:blipFill>
        <p:spPr bwMode="auto">
          <a:xfrm>
            <a:off x="584200" y="533400"/>
            <a:ext cx="863600" cy="762000"/>
          </a:xfrm>
          <a:prstGeom prst="rect">
            <a:avLst/>
          </a:prstGeom>
          <a:noFill/>
          <a:ln w="9525">
            <a:noFill/>
            <a:miter lim="800000"/>
            <a:headEnd/>
            <a:tailEnd/>
          </a:ln>
        </p:spPr>
      </p:pic>
      <p:pic>
        <p:nvPicPr>
          <p:cNvPr id="7174" name="Picture 10" descr="an01251_"/>
          <p:cNvPicPr>
            <a:picLocks noChangeAspect="1" noChangeArrowheads="1"/>
          </p:cNvPicPr>
          <p:nvPr/>
        </p:nvPicPr>
        <p:blipFill>
          <a:blip r:embed="rId9"/>
          <a:srcRect/>
          <a:stretch>
            <a:fillRect/>
          </a:stretch>
        </p:blipFill>
        <p:spPr bwMode="auto">
          <a:xfrm>
            <a:off x="7239000" y="415925"/>
            <a:ext cx="1649413" cy="1398588"/>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fill="hold" nodeType="withEffect">
                                  <p:stCondLst>
                                    <p:cond delay="0"/>
                                  </p:stCondLst>
                                  <p:childTnLst>
                                    <p:animClr clrSpc="rgb" dir="cw">
                                      <p:cBhvr override="childStyle">
                                        <p:cTn id="6" dur="100" fill="hold"/>
                                        <p:tgtEl>
                                          <p:spTgt spid="2"/>
                                        </p:tgtEl>
                                        <p:attrNameLst>
                                          <p:attrName>style.color</p:attrName>
                                        </p:attrNameLst>
                                      </p:cBhvr>
                                      <p:to>
                                        <a:schemeClr val="accent2"/>
                                      </p:to>
                                    </p:animClr>
                                    <p:animClr clrSpc="rgb" dir="cw">
                                      <p:cBhvr>
                                        <p:cTn id="7" dur="100" fill="hold"/>
                                        <p:tgtEl>
                                          <p:spTgt spid="2"/>
                                        </p:tgtEl>
                                        <p:attrNameLst>
                                          <p:attrName>fillcolor</p:attrName>
                                        </p:attrNameLst>
                                      </p:cBhvr>
                                      <p:to>
                                        <a:schemeClr val="accent2"/>
                                      </p:to>
                                    </p:animClr>
                                    <p:set>
                                      <p:cBhvr>
                                        <p:cTn id="8" dur="100" fill="hold"/>
                                        <p:tgtEl>
                                          <p:spTgt spid="2"/>
                                        </p:tgtEl>
                                        <p:attrNameLst>
                                          <p:attrName>fill.type</p:attrName>
                                        </p:attrNameLst>
                                      </p:cBhvr>
                                      <p:to>
                                        <p:strVal val="solid"/>
                                      </p:to>
                                    </p:set>
                                    <p:set>
                                      <p:cBhvr>
                                        <p:cTn id="9" dur="100" fill="hold"/>
                                        <p:tgtEl>
                                          <p:spTgt spid="2"/>
                                        </p:tgtEl>
                                        <p:attrNameLst>
                                          <p:attrName>fill.on</p:attrName>
                                        </p:attrNameLst>
                                      </p:cBhvr>
                                      <p:to>
                                        <p:strVal val="true"/>
                                      </p:to>
                                    </p:set>
                                    <p:animRot by="120000">
                                      <p:cBhvr>
                                        <p:cTn id="10" dur="100" fill="hold">
                                          <p:stCondLst>
                                            <p:cond delay="0"/>
                                          </p:stCondLst>
                                        </p:cTn>
                                        <p:tgtEl>
                                          <p:spTgt spid="2"/>
                                        </p:tgtEl>
                                        <p:attrNameLst>
                                          <p:attrName>r</p:attrName>
                                        </p:attrNameLst>
                                      </p:cBhvr>
                                    </p:animRot>
                                    <p:animRot by="-240000">
                                      <p:cBhvr>
                                        <p:cTn id="11" dur="200" fill="hold">
                                          <p:stCondLst>
                                            <p:cond delay="200"/>
                                          </p:stCondLst>
                                        </p:cTn>
                                        <p:tgtEl>
                                          <p:spTgt spid="2"/>
                                        </p:tgtEl>
                                        <p:attrNameLst>
                                          <p:attrName>r</p:attrName>
                                        </p:attrNameLst>
                                      </p:cBhvr>
                                    </p:animRot>
                                    <p:animRot by="240000">
                                      <p:cBhvr>
                                        <p:cTn id="12" dur="200" fill="hold">
                                          <p:stCondLst>
                                            <p:cond delay="400"/>
                                          </p:stCondLst>
                                        </p:cTn>
                                        <p:tgtEl>
                                          <p:spTgt spid="2"/>
                                        </p:tgtEl>
                                        <p:attrNameLst>
                                          <p:attrName>r</p:attrName>
                                        </p:attrNameLst>
                                      </p:cBhvr>
                                    </p:animRot>
                                    <p:animRot by="-240000">
                                      <p:cBhvr>
                                        <p:cTn id="13" dur="200" fill="hold">
                                          <p:stCondLst>
                                            <p:cond delay="600"/>
                                          </p:stCondLst>
                                        </p:cTn>
                                        <p:tgtEl>
                                          <p:spTgt spid="2"/>
                                        </p:tgtEl>
                                        <p:attrNameLst>
                                          <p:attrName>r</p:attrName>
                                        </p:attrNameLst>
                                      </p:cBhvr>
                                    </p:animRot>
                                    <p:animRot by="120000">
                                      <p:cBhvr>
                                        <p:cTn id="14" dur="200" fill="hold">
                                          <p:stCondLst>
                                            <p:cond delay="800"/>
                                          </p:stCondLst>
                                        </p:cTn>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WordArt 2"/>
          <p:cNvSpPr>
            <a:spLocks noChangeArrowheads="1" noChangeShapeType="1" noTextEdit="1"/>
          </p:cNvSpPr>
          <p:nvPr/>
        </p:nvSpPr>
        <p:spPr bwMode="auto">
          <a:xfrm rot="-603102">
            <a:off x="576263" y="1752600"/>
            <a:ext cx="8077200" cy="914400"/>
          </a:xfrm>
          <a:prstGeom prst="rect">
            <a:avLst/>
          </a:prstGeom>
        </p:spPr>
        <p:txBody>
          <a:bodyPr wrap="none" fromWordArt="1">
            <a:prstTxWarp prst="textPlain">
              <a:avLst>
                <a:gd name="adj" fmla="val 50000"/>
              </a:avLst>
            </a:prstTxWarp>
          </a:bodyPr>
          <a:lstStyle/>
          <a:p>
            <a:pPr algn="ctr"/>
            <a:r>
              <a:rPr lang="en-IN" sz="5400" b="1"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600000" scaled="1"/>
                </a:gradFill>
                <a:effectLst>
                  <a:outerShdw dist="35921" dir="2700000" sy="50000" kx="2115830" algn="bl" rotWithShape="0">
                    <a:srgbClr val="C0C0C0">
                      <a:alpha val="79999"/>
                    </a:srgbClr>
                  </a:outerShdw>
                </a:effectLst>
                <a:latin typeface="Arial Black"/>
              </a:rPr>
              <a:t>Based On OOP's Concept</a:t>
            </a:r>
          </a:p>
        </p:txBody>
      </p:sp>
      <p:sp>
        <p:nvSpPr>
          <p:cNvPr id="8195" name="WordArt 3"/>
          <p:cNvSpPr>
            <a:spLocks noChangeArrowheads="1" noChangeShapeType="1" noTextEdit="1"/>
          </p:cNvSpPr>
          <p:nvPr/>
        </p:nvSpPr>
        <p:spPr bwMode="auto">
          <a:xfrm>
            <a:off x="1524000" y="4648200"/>
            <a:ext cx="6251575" cy="1295400"/>
          </a:xfrm>
          <a:prstGeom prst="rect">
            <a:avLst/>
          </a:prstGeom>
        </p:spPr>
        <p:txBody>
          <a:bodyPr wrap="none" fromWordArt="1">
            <a:prstTxWarp prst="textFadeUp">
              <a:avLst>
                <a:gd name="adj" fmla="val 5713"/>
              </a:avLst>
            </a:prstTxWarp>
          </a:bodyPr>
          <a:lstStyle/>
          <a:p>
            <a:pPr algn="ctr"/>
            <a:r>
              <a:rPr lang="en-IN" sz="3600" b="1" kern="10">
                <a:ln w="12700">
                  <a:solidFill>
                    <a:srgbClr val="B2B2B2"/>
                  </a:solidFill>
                  <a:round/>
                  <a:headEnd/>
                  <a:tailEnd/>
                </a:ln>
                <a:solidFill>
                  <a:srgbClr val="800000"/>
                </a:solidFill>
                <a:effectLst>
                  <a:outerShdw dist="35921" dir="2700000" sy="50000" rotWithShape="0">
                    <a:srgbClr val="875B0D">
                      <a:alpha val="70000"/>
                    </a:srgbClr>
                  </a:outerShdw>
                </a:effectLst>
                <a:latin typeface="Arial Black"/>
              </a:rPr>
              <a:t>Object Oriented   Programming </a:t>
            </a:r>
          </a:p>
        </p:txBody>
      </p:sp>
      <p:sp>
        <p:nvSpPr>
          <p:cNvPr id="8196" name="Line 4"/>
          <p:cNvSpPr>
            <a:spLocks noChangeShapeType="1"/>
          </p:cNvSpPr>
          <p:nvPr/>
        </p:nvSpPr>
        <p:spPr bwMode="auto">
          <a:xfrm>
            <a:off x="4572000" y="3352800"/>
            <a:ext cx="0" cy="1371600"/>
          </a:xfrm>
          <a:prstGeom prst="line">
            <a:avLst/>
          </a:prstGeom>
          <a:noFill/>
          <a:ln w="38100">
            <a:solidFill>
              <a:srgbClr val="CC0066"/>
            </a:solidFill>
            <a:round/>
            <a:headEnd/>
            <a:tailEnd type="triangle" w="med" len="med"/>
          </a:ln>
        </p:spPr>
        <p:txBody>
          <a:bodyPr/>
          <a:lstStyle/>
          <a:p>
            <a:endParaRPr lang="en-IN"/>
          </a:p>
        </p:txBody>
      </p:sp>
      <p:sp>
        <p:nvSpPr>
          <p:cNvPr id="8197" name="AutoShape 5"/>
          <p:cNvSpPr>
            <a:spLocks/>
          </p:cNvSpPr>
          <p:nvPr/>
        </p:nvSpPr>
        <p:spPr bwMode="auto">
          <a:xfrm rot="6099013">
            <a:off x="4248150" y="2552700"/>
            <a:ext cx="762000" cy="1143000"/>
          </a:xfrm>
          <a:prstGeom prst="rightBrace">
            <a:avLst>
              <a:gd name="adj1" fmla="val 12500"/>
              <a:gd name="adj2" fmla="val 50000"/>
            </a:avLst>
          </a:prstGeom>
          <a:noFill/>
          <a:ln w="38100">
            <a:solidFill>
              <a:srgbClr val="CC0066"/>
            </a:solidFill>
            <a:round/>
            <a:headEnd/>
            <a:tailEnd/>
          </a:ln>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withEffect">
                                  <p:stCondLst>
                                    <p:cond delay="0"/>
                                  </p:stCondLst>
                                  <p:childTnLst>
                                    <p:set>
                                      <p:cBhvr>
                                        <p:cTn id="6" dur="1" fill="hold">
                                          <p:stCondLst>
                                            <p:cond delay="0"/>
                                          </p:stCondLst>
                                        </p:cTn>
                                        <p:tgtEl>
                                          <p:spTgt spid="8194"/>
                                        </p:tgtEl>
                                        <p:attrNameLst>
                                          <p:attrName>style.visibility</p:attrName>
                                        </p:attrNameLst>
                                      </p:cBhvr>
                                      <p:to>
                                        <p:strVal val="visible"/>
                                      </p:to>
                                    </p:set>
                                    <p:animEffect transition="in" filter="strips(downLeft)">
                                      <p:cBhvr>
                                        <p:cTn id="7" dur="500"/>
                                        <p:tgtEl>
                                          <p:spTgt spid="8194"/>
                                        </p:tgtEl>
                                      </p:cBhvr>
                                    </p:animEffect>
                                  </p:childTnLst>
                                </p:cTn>
                              </p:par>
                            </p:childTnLst>
                          </p:cTn>
                        </p:par>
                        <p:par>
                          <p:cTn id="8" fill="hold">
                            <p:stCondLst>
                              <p:cond delay="500"/>
                            </p:stCondLst>
                            <p:childTnLst>
                              <p:par>
                                <p:cTn id="9" presetID="18" presetClass="entr" presetSubtype="12" fill="hold" grpId="0" nodeType="afterEffect">
                                  <p:stCondLst>
                                    <p:cond delay="0"/>
                                  </p:stCondLst>
                                  <p:childTnLst>
                                    <p:set>
                                      <p:cBhvr>
                                        <p:cTn id="10" dur="1" fill="hold">
                                          <p:stCondLst>
                                            <p:cond delay="0"/>
                                          </p:stCondLst>
                                        </p:cTn>
                                        <p:tgtEl>
                                          <p:spTgt spid="8196"/>
                                        </p:tgtEl>
                                        <p:attrNameLst>
                                          <p:attrName>style.visibility</p:attrName>
                                        </p:attrNameLst>
                                      </p:cBhvr>
                                      <p:to>
                                        <p:strVal val="visible"/>
                                      </p:to>
                                    </p:set>
                                    <p:animEffect transition="in" filter="strips(downLeft)">
                                      <p:cBhvr>
                                        <p:cTn id="11" dur="500"/>
                                        <p:tgtEl>
                                          <p:spTgt spid="8196"/>
                                        </p:tgtEl>
                                      </p:cBhvr>
                                    </p:animEffect>
                                  </p:childTnLst>
                                </p:cTn>
                              </p:par>
                            </p:childTnLst>
                          </p:cTn>
                        </p:par>
                        <p:par>
                          <p:cTn id="12" fill="hold">
                            <p:stCondLst>
                              <p:cond delay="1000"/>
                            </p:stCondLst>
                            <p:childTnLst>
                              <p:par>
                                <p:cTn id="13" presetID="23" presetClass="entr" presetSubtype="16" fill="hold" grpId="0" nodeType="afterEffect">
                                  <p:stCondLst>
                                    <p:cond delay="0"/>
                                  </p:stCondLst>
                                  <p:childTnLst>
                                    <p:set>
                                      <p:cBhvr>
                                        <p:cTn id="14" dur="1" fill="hold">
                                          <p:stCondLst>
                                            <p:cond delay="0"/>
                                          </p:stCondLst>
                                        </p:cTn>
                                        <p:tgtEl>
                                          <p:spTgt spid="8195"/>
                                        </p:tgtEl>
                                        <p:attrNameLst>
                                          <p:attrName>style.visibility</p:attrName>
                                        </p:attrNameLst>
                                      </p:cBhvr>
                                      <p:to>
                                        <p:strVal val="visible"/>
                                      </p:to>
                                    </p:set>
                                    <p:anim calcmode="lin" valueType="num">
                                      <p:cBhvr>
                                        <p:cTn id="15" dur="500" fill="hold"/>
                                        <p:tgtEl>
                                          <p:spTgt spid="8195"/>
                                        </p:tgtEl>
                                        <p:attrNameLst>
                                          <p:attrName>ppt_w</p:attrName>
                                        </p:attrNameLst>
                                      </p:cBhvr>
                                      <p:tavLst>
                                        <p:tav tm="0">
                                          <p:val>
                                            <p:fltVal val="0"/>
                                          </p:val>
                                        </p:tav>
                                        <p:tav tm="100000">
                                          <p:val>
                                            <p:strVal val="#ppt_w"/>
                                          </p:val>
                                        </p:tav>
                                      </p:tavLst>
                                    </p:anim>
                                    <p:anim calcmode="lin" valueType="num">
                                      <p:cBhvr>
                                        <p:cTn id="16" dur="500" fill="hold"/>
                                        <p:tgtEl>
                                          <p:spTgt spid="819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animBg="1"/>
      <p:bldP spid="8195" grpId="0" animBg="1"/>
      <p:bldP spid="819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750iL"/>
          <p:cNvPicPr>
            <a:picLocks noChangeAspect="1" noChangeArrowheads="1" noCrop="1"/>
          </p:cNvPicPr>
          <p:nvPr/>
        </p:nvPicPr>
        <p:blipFill>
          <a:blip r:embed="rId2"/>
          <a:srcRect/>
          <a:stretch>
            <a:fillRect/>
          </a:stretch>
        </p:blipFill>
        <p:spPr bwMode="auto">
          <a:xfrm>
            <a:off x="685800" y="2819400"/>
            <a:ext cx="4038600" cy="2514600"/>
          </a:xfrm>
          <a:prstGeom prst="rect">
            <a:avLst/>
          </a:prstGeom>
          <a:noFill/>
          <a:ln w="9525">
            <a:noFill/>
            <a:miter lim="800000"/>
            <a:headEnd/>
            <a:tailEnd/>
          </a:ln>
        </p:spPr>
      </p:pic>
      <p:sp>
        <p:nvSpPr>
          <p:cNvPr id="9219" name="AutoShape 3"/>
          <p:cNvSpPr>
            <a:spLocks noChangeArrowheads="1"/>
          </p:cNvSpPr>
          <p:nvPr/>
        </p:nvSpPr>
        <p:spPr bwMode="auto">
          <a:xfrm>
            <a:off x="5334000" y="2133600"/>
            <a:ext cx="3429000" cy="3810000"/>
          </a:xfrm>
          <a:prstGeom prst="wedgeRectCallout">
            <a:avLst>
              <a:gd name="adj1" fmla="val -65417"/>
              <a:gd name="adj2" fmla="val 22708"/>
            </a:avLst>
          </a:prstGeom>
          <a:noFill/>
          <a:ln w="9525">
            <a:solidFill>
              <a:srgbClr val="0000FF"/>
            </a:solidFill>
            <a:miter lim="800000"/>
            <a:headEnd/>
            <a:tailEnd/>
          </a:ln>
        </p:spPr>
        <p:txBody>
          <a:bodyPr/>
          <a:lstStyle/>
          <a:p>
            <a:pPr eaLnBrk="0" hangingPunct="0">
              <a:lnSpc>
                <a:spcPct val="105000"/>
              </a:lnSpc>
            </a:pPr>
            <a:r>
              <a:rPr lang="en-US" sz="3200" b="1" u="sng">
                <a:solidFill>
                  <a:srgbClr val="800000"/>
                </a:solidFill>
                <a:latin typeface="Times New Roman" pitchFamily="18" charset="0"/>
              </a:rPr>
              <a:t>Data</a:t>
            </a:r>
          </a:p>
          <a:p>
            <a:pPr eaLnBrk="0" hangingPunct="0">
              <a:lnSpc>
                <a:spcPct val="105000"/>
              </a:lnSpc>
            </a:pPr>
            <a:r>
              <a:rPr lang="en-US" sz="3200" b="1">
                <a:solidFill>
                  <a:srgbClr val="800000"/>
                </a:solidFill>
                <a:latin typeface="Times New Roman" pitchFamily="18" charset="0"/>
              </a:rPr>
              <a:t>Color  : Black</a:t>
            </a:r>
          </a:p>
          <a:p>
            <a:pPr eaLnBrk="0" hangingPunct="0">
              <a:lnSpc>
                <a:spcPct val="105000"/>
              </a:lnSpc>
            </a:pPr>
            <a:r>
              <a:rPr lang="en-US" sz="3200" b="1">
                <a:solidFill>
                  <a:srgbClr val="800000"/>
                </a:solidFill>
                <a:latin typeface="Times New Roman" pitchFamily="18" charset="0"/>
              </a:rPr>
              <a:t>Year   : 2008</a:t>
            </a:r>
          </a:p>
          <a:p>
            <a:pPr eaLnBrk="0" hangingPunct="0">
              <a:lnSpc>
                <a:spcPct val="105000"/>
              </a:lnSpc>
            </a:pPr>
            <a:r>
              <a:rPr lang="en-US" sz="3200" b="1" u="sng">
                <a:solidFill>
                  <a:srgbClr val="800000"/>
                </a:solidFill>
                <a:latin typeface="Times New Roman" pitchFamily="18" charset="0"/>
              </a:rPr>
              <a:t>Actions(Function) </a:t>
            </a:r>
          </a:p>
          <a:p>
            <a:pPr eaLnBrk="0" hangingPunct="0">
              <a:lnSpc>
                <a:spcPct val="105000"/>
              </a:lnSpc>
            </a:pPr>
            <a:r>
              <a:rPr lang="en-US" sz="3200" b="1">
                <a:solidFill>
                  <a:srgbClr val="800000"/>
                </a:solidFill>
                <a:latin typeface="Times New Roman" pitchFamily="18" charset="0"/>
              </a:rPr>
              <a:t>Start</a:t>
            </a:r>
          </a:p>
          <a:p>
            <a:pPr eaLnBrk="0" hangingPunct="0">
              <a:lnSpc>
                <a:spcPct val="105000"/>
              </a:lnSpc>
            </a:pPr>
            <a:r>
              <a:rPr lang="en-US" sz="3200" b="1">
                <a:solidFill>
                  <a:srgbClr val="800000"/>
                </a:solidFill>
                <a:latin typeface="Times New Roman" pitchFamily="18" charset="0"/>
              </a:rPr>
              <a:t>Stop</a:t>
            </a:r>
          </a:p>
          <a:p>
            <a:pPr eaLnBrk="0" hangingPunct="0">
              <a:lnSpc>
                <a:spcPct val="105000"/>
              </a:lnSpc>
            </a:pPr>
            <a:r>
              <a:rPr lang="en-US" sz="3200" b="1">
                <a:solidFill>
                  <a:srgbClr val="800000"/>
                </a:solidFill>
                <a:latin typeface="Times New Roman" pitchFamily="18" charset="0"/>
              </a:rPr>
              <a:t>Accelerate</a:t>
            </a:r>
          </a:p>
        </p:txBody>
      </p:sp>
      <p:sp>
        <p:nvSpPr>
          <p:cNvPr id="9220" name="AutoShape 4"/>
          <p:cNvSpPr>
            <a:spLocks noChangeArrowheads="1"/>
          </p:cNvSpPr>
          <p:nvPr/>
        </p:nvSpPr>
        <p:spPr bwMode="auto">
          <a:xfrm>
            <a:off x="1676400" y="838200"/>
            <a:ext cx="4419600" cy="1295400"/>
          </a:xfrm>
          <a:prstGeom prst="cloudCallout">
            <a:avLst>
              <a:gd name="adj1" fmla="val -45259"/>
              <a:gd name="adj2" fmla="val 69977"/>
            </a:avLst>
          </a:prstGeom>
          <a:solidFill>
            <a:srgbClr val="FF5050"/>
          </a:solidFill>
          <a:ln w="9525">
            <a:solidFill>
              <a:schemeClr val="tx1"/>
            </a:solidFill>
            <a:round/>
            <a:headEnd/>
            <a:tailEnd/>
          </a:ln>
        </p:spPr>
        <p:txBody>
          <a:bodyPr/>
          <a:lstStyle/>
          <a:p>
            <a:pPr algn="ctr" eaLnBrk="0" hangingPunct="0"/>
            <a:r>
              <a:rPr lang="en-US" sz="5400">
                <a:solidFill>
                  <a:schemeClr val="bg1"/>
                </a:solidFill>
                <a:latin typeface="Britannic Bold" pitchFamily="34" charset="0"/>
              </a:rPr>
              <a:t>OBJECT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9" presetClass="entr" presetSubtype="0" accel="100000" fill="hold" grpId="0" nodeType="withEffect">
                                  <p:stCondLst>
                                    <p:cond delay="0"/>
                                  </p:stCondLst>
                                  <p:childTnLst>
                                    <p:set>
                                      <p:cBhvr>
                                        <p:cTn id="6" dur="1" fill="hold">
                                          <p:stCondLst>
                                            <p:cond delay="0"/>
                                          </p:stCondLst>
                                        </p:cTn>
                                        <p:tgtEl>
                                          <p:spTgt spid="9220"/>
                                        </p:tgtEl>
                                        <p:attrNameLst>
                                          <p:attrName>style.visibility</p:attrName>
                                        </p:attrNameLst>
                                      </p:cBhvr>
                                      <p:to>
                                        <p:strVal val="visible"/>
                                      </p:to>
                                    </p:set>
                                    <p:anim calcmode="lin" valueType="num">
                                      <p:cBhvr>
                                        <p:cTn id="7" dur="500" fill="hold"/>
                                        <p:tgtEl>
                                          <p:spTgt spid="9220"/>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9220"/>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9220"/>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9220"/>
                                        </p:tgtEl>
                                        <p:attrNameLst>
                                          <p:attrName>ppt_y</p:attrName>
                                        </p:attrNameLst>
                                      </p:cBhvr>
                                      <p:tavLst>
                                        <p:tav tm="0">
                                          <p:val>
                                            <p:strVal val="#ppt_y"/>
                                          </p:val>
                                        </p:tav>
                                        <p:tav tm="100000">
                                          <p:val>
                                            <p:strVal val="#ppt_y"/>
                                          </p:val>
                                        </p:tav>
                                      </p:tavLst>
                                    </p:anim>
                                  </p:childTnLst>
                                </p:cTn>
                              </p:par>
                            </p:childTnLst>
                          </p:cTn>
                        </p:par>
                        <p:par>
                          <p:cTn id="11" fill="hold">
                            <p:stCondLst>
                              <p:cond delay="500"/>
                            </p:stCondLst>
                            <p:childTnLst>
                              <p:par>
                                <p:cTn id="12" presetID="17" presetClass="entr" presetSubtype="10" fill="hold" grpId="0" nodeType="afterEffect">
                                  <p:stCondLst>
                                    <p:cond delay="0"/>
                                  </p:stCondLst>
                                  <p:childTnLst>
                                    <p:set>
                                      <p:cBhvr>
                                        <p:cTn id="13" dur="1" fill="hold">
                                          <p:stCondLst>
                                            <p:cond delay="0"/>
                                          </p:stCondLst>
                                        </p:cTn>
                                        <p:tgtEl>
                                          <p:spTgt spid="9219"/>
                                        </p:tgtEl>
                                        <p:attrNameLst>
                                          <p:attrName>style.visibility</p:attrName>
                                        </p:attrNameLst>
                                      </p:cBhvr>
                                      <p:to>
                                        <p:strVal val="visible"/>
                                      </p:to>
                                    </p:set>
                                    <p:anim calcmode="lin" valueType="num">
                                      <p:cBhvr>
                                        <p:cTn id="14" dur="500" fill="hold"/>
                                        <p:tgtEl>
                                          <p:spTgt spid="9219"/>
                                        </p:tgtEl>
                                        <p:attrNameLst>
                                          <p:attrName>ppt_w</p:attrName>
                                        </p:attrNameLst>
                                      </p:cBhvr>
                                      <p:tavLst>
                                        <p:tav tm="0">
                                          <p:val>
                                            <p:fltVal val="0"/>
                                          </p:val>
                                        </p:tav>
                                        <p:tav tm="100000">
                                          <p:val>
                                            <p:strVal val="#ppt_w"/>
                                          </p:val>
                                        </p:tav>
                                      </p:tavLst>
                                    </p:anim>
                                    <p:anim calcmode="lin" valueType="num">
                                      <p:cBhvr>
                                        <p:cTn id="15" dur="500" fill="hold"/>
                                        <p:tgtEl>
                                          <p:spTgt spid="9219"/>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animBg="1"/>
      <p:bldP spid="922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914400" y="617538"/>
            <a:ext cx="8029575" cy="1143000"/>
          </a:xfrm>
        </p:spPr>
        <p:txBody>
          <a:bodyPr>
            <a:normAutofit fontScale="90000"/>
          </a:bodyPr>
          <a:lstStyle/>
          <a:p>
            <a:pPr eaLnBrk="1" hangingPunct="1"/>
            <a:r>
              <a:rPr lang="en-US" b="1" smtClean="0">
                <a:solidFill>
                  <a:srgbClr val="000099"/>
                </a:solidFill>
              </a:rPr>
              <a:t>The Object-Oriented Approach - III</a:t>
            </a:r>
          </a:p>
        </p:txBody>
      </p:sp>
      <p:sp>
        <p:nvSpPr>
          <p:cNvPr id="10243" name="AutoShape 3"/>
          <p:cNvSpPr>
            <a:spLocks noChangeArrowheads="1"/>
          </p:cNvSpPr>
          <p:nvPr/>
        </p:nvSpPr>
        <p:spPr bwMode="auto">
          <a:xfrm>
            <a:off x="3962400" y="2133600"/>
            <a:ext cx="1828800" cy="2286000"/>
          </a:xfrm>
          <a:prstGeom prst="cube">
            <a:avLst>
              <a:gd name="adj" fmla="val 25000"/>
            </a:avLst>
          </a:prstGeom>
          <a:solidFill>
            <a:schemeClr val="accent1"/>
          </a:solidFill>
          <a:ln w="9525">
            <a:solidFill>
              <a:schemeClr val="tx1"/>
            </a:solidFill>
            <a:miter lim="800000"/>
            <a:headEnd/>
            <a:tailEnd/>
          </a:ln>
        </p:spPr>
        <p:txBody>
          <a:bodyPr wrap="none" anchor="ctr"/>
          <a:lstStyle/>
          <a:p>
            <a:pPr algn="ctr"/>
            <a:r>
              <a:rPr lang="en-US" sz="2400" b="1">
                <a:solidFill>
                  <a:srgbClr val="000099"/>
                </a:solidFill>
                <a:latin typeface="Times New Roman" pitchFamily="18" charset="0"/>
              </a:rPr>
              <a:t>Personnel</a:t>
            </a:r>
          </a:p>
        </p:txBody>
      </p:sp>
      <p:sp>
        <p:nvSpPr>
          <p:cNvPr id="10244" name="AutoShape 4"/>
          <p:cNvSpPr>
            <a:spLocks noChangeArrowheads="1"/>
          </p:cNvSpPr>
          <p:nvPr/>
        </p:nvSpPr>
        <p:spPr bwMode="auto">
          <a:xfrm>
            <a:off x="1524000" y="1981200"/>
            <a:ext cx="1828800" cy="2286000"/>
          </a:xfrm>
          <a:prstGeom prst="cube">
            <a:avLst>
              <a:gd name="adj" fmla="val 25000"/>
            </a:avLst>
          </a:prstGeom>
          <a:solidFill>
            <a:schemeClr val="accent1"/>
          </a:solidFill>
          <a:ln w="9525">
            <a:solidFill>
              <a:schemeClr val="tx1"/>
            </a:solidFill>
            <a:miter lim="800000"/>
            <a:headEnd/>
            <a:tailEnd/>
          </a:ln>
        </p:spPr>
        <p:txBody>
          <a:bodyPr wrap="none" anchor="ctr"/>
          <a:lstStyle/>
          <a:p>
            <a:pPr algn="ctr"/>
            <a:r>
              <a:rPr lang="en-US" sz="2400" b="1">
                <a:solidFill>
                  <a:srgbClr val="000099"/>
                </a:solidFill>
                <a:latin typeface="Times New Roman" pitchFamily="18" charset="0"/>
              </a:rPr>
              <a:t>Accounts</a:t>
            </a:r>
          </a:p>
        </p:txBody>
      </p:sp>
      <p:sp>
        <p:nvSpPr>
          <p:cNvPr id="10245" name="AutoShape 5"/>
          <p:cNvSpPr>
            <a:spLocks noChangeArrowheads="1"/>
          </p:cNvSpPr>
          <p:nvPr/>
        </p:nvSpPr>
        <p:spPr bwMode="auto">
          <a:xfrm>
            <a:off x="6477000" y="1905000"/>
            <a:ext cx="1828800" cy="2286000"/>
          </a:xfrm>
          <a:prstGeom prst="cube">
            <a:avLst>
              <a:gd name="adj" fmla="val 25000"/>
            </a:avLst>
          </a:prstGeom>
          <a:solidFill>
            <a:schemeClr val="accent1"/>
          </a:solidFill>
          <a:ln w="9525">
            <a:solidFill>
              <a:schemeClr val="tx1"/>
            </a:solidFill>
            <a:miter lim="800000"/>
            <a:headEnd/>
            <a:tailEnd/>
          </a:ln>
        </p:spPr>
        <p:txBody>
          <a:bodyPr wrap="none" anchor="ctr"/>
          <a:lstStyle/>
          <a:p>
            <a:pPr algn="ctr"/>
            <a:r>
              <a:rPr lang="en-US" sz="2400" b="1">
                <a:solidFill>
                  <a:srgbClr val="000099"/>
                </a:solidFill>
                <a:latin typeface="Times New Roman" pitchFamily="18" charset="0"/>
              </a:rPr>
              <a:t>Sales</a:t>
            </a:r>
          </a:p>
        </p:txBody>
      </p:sp>
      <p:pic>
        <p:nvPicPr>
          <p:cNvPr id="10246" name="Picture 6" descr="bd05584_"/>
          <p:cNvPicPr>
            <a:picLocks noChangeAspect="1" noChangeArrowheads="1"/>
          </p:cNvPicPr>
          <p:nvPr/>
        </p:nvPicPr>
        <p:blipFill>
          <a:blip r:embed="rId3"/>
          <a:srcRect/>
          <a:stretch>
            <a:fillRect/>
          </a:stretch>
        </p:blipFill>
        <p:spPr bwMode="auto">
          <a:xfrm>
            <a:off x="6858000" y="3429000"/>
            <a:ext cx="1295400" cy="1728788"/>
          </a:xfrm>
          <a:prstGeom prst="rect">
            <a:avLst/>
          </a:prstGeom>
          <a:noFill/>
          <a:ln w="9525">
            <a:noFill/>
            <a:miter lim="800000"/>
            <a:headEnd/>
            <a:tailEnd/>
          </a:ln>
        </p:spPr>
      </p:pic>
      <p:pic>
        <p:nvPicPr>
          <p:cNvPr id="10247" name="Picture 7" descr="bd07153_"/>
          <p:cNvPicPr>
            <a:picLocks noChangeAspect="1" noChangeArrowheads="1"/>
          </p:cNvPicPr>
          <p:nvPr/>
        </p:nvPicPr>
        <p:blipFill>
          <a:blip r:embed="rId4"/>
          <a:srcRect/>
          <a:stretch>
            <a:fillRect/>
          </a:stretch>
        </p:blipFill>
        <p:spPr bwMode="auto">
          <a:xfrm>
            <a:off x="3733800" y="3810000"/>
            <a:ext cx="1646238" cy="1801813"/>
          </a:xfrm>
          <a:prstGeom prst="rect">
            <a:avLst/>
          </a:prstGeom>
          <a:noFill/>
          <a:ln w="9525">
            <a:noFill/>
            <a:miter lim="800000"/>
            <a:headEnd/>
            <a:tailEnd/>
          </a:ln>
        </p:spPr>
      </p:pic>
      <p:pic>
        <p:nvPicPr>
          <p:cNvPr id="10248" name="Picture 8" descr="ag00013_"/>
          <p:cNvPicPr>
            <a:picLocks noChangeAspect="1" noChangeArrowheads="1" noCrop="1"/>
          </p:cNvPicPr>
          <p:nvPr/>
        </p:nvPicPr>
        <p:blipFill>
          <a:blip r:embed="rId5"/>
          <a:srcRect/>
          <a:stretch>
            <a:fillRect/>
          </a:stretch>
        </p:blipFill>
        <p:spPr bwMode="auto">
          <a:xfrm>
            <a:off x="1143000" y="3733800"/>
            <a:ext cx="1714500" cy="1439863"/>
          </a:xfrm>
          <a:prstGeom prst="rect">
            <a:avLst/>
          </a:prstGeom>
          <a:noFill/>
          <a:ln w="9525">
            <a:noFill/>
            <a:miter lim="800000"/>
            <a:headEnd/>
            <a:tailEnd/>
          </a:ln>
        </p:spPr>
      </p:pic>
      <p:sp>
        <p:nvSpPr>
          <p:cNvPr id="10249" name="Text Box 9"/>
          <p:cNvSpPr txBox="1">
            <a:spLocks noChangeArrowheads="1"/>
          </p:cNvSpPr>
          <p:nvPr/>
        </p:nvSpPr>
        <p:spPr bwMode="auto">
          <a:xfrm>
            <a:off x="762000" y="5410200"/>
            <a:ext cx="8001000" cy="1006475"/>
          </a:xfrm>
          <a:prstGeom prst="rect">
            <a:avLst/>
          </a:prstGeom>
          <a:noFill/>
          <a:ln w="9525">
            <a:noFill/>
            <a:miter lim="800000"/>
            <a:headEnd/>
            <a:tailEnd/>
          </a:ln>
        </p:spPr>
        <p:txBody>
          <a:bodyPr>
            <a:spAutoFit/>
          </a:bodyPr>
          <a:lstStyle/>
          <a:p>
            <a:pPr>
              <a:spcBef>
                <a:spcPct val="50000"/>
              </a:spcBef>
            </a:pPr>
            <a:r>
              <a:rPr lang="en-US" sz="2000" b="1">
                <a:solidFill>
                  <a:srgbClr val="000099"/>
                </a:solidFill>
                <a:latin typeface="Times New Roman" pitchFamily="18" charset="0"/>
              </a:rPr>
              <a:t>The real world around is full of objects .We can consider both living beings as well as things as objects.For example,the different  departments in a company are objects.</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AutoShape 2"/>
          <p:cNvSpPr>
            <a:spLocks noChangeArrowheads="1"/>
          </p:cNvSpPr>
          <p:nvPr/>
        </p:nvSpPr>
        <p:spPr bwMode="auto">
          <a:xfrm>
            <a:off x="0" y="0"/>
            <a:ext cx="9144000" cy="6858000"/>
          </a:xfrm>
          <a:prstGeom prst="foldedCorner">
            <a:avLst>
              <a:gd name="adj" fmla="val 12500"/>
            </a:avLst>
          </a:prstGeom>
          <a:noFill/>
          <a:ln w="38100">
            <a:solidFill>
              <a:schemeClr val="bg1"/>
            </a:solidFill>
            <a:round/>
            <a:headEnd/>
            <a:tailEnd/>
          </a:ln>
        </p:spPr>
        <p:txBody>
          <a:bodyPr wrap="none" anchor="ctr"/>
          <a:lstStyle/>
          <a:p>
            <a:pPr algn="ctr" eaLnBrk="0" hangingPunct="0"/>
            <a:endParaRPr lang="en-US">
              <a:solidFill>
                <a:srgbClr val="800000"/>
              </a:solidFill>
              <a:latin typeface="Verdana" pitchFamily="34" charset="0"/>
            </a:endParaRPr>
          </a:p>
        </p:txBody>
      </p:sp>
      <p:sp>
        <p:nvSpPr>
          <p:cNvPr id="13315" name="Text Box 3"/>
          <p:cNvSpPr txBox="1">
            <a:spLocks noChangeArrowheads="1"/>
          </p:cNvSpPr>
          <p:nvPr/>
        </p:nvSpPr>
        <p:spPr bwMode="auto">
          <a:xfrm>
            <a:off x="838200" y="762000"/>
            <a:ext cx="7718425" cy="701675"/>
          </a:xfrm>
          <a:prstGeom prst="rect">
            <a:avLst/>
          </a:prstGeom>
          <a:noFill/>
          <a:ln w="9525">
            <a:noFill/>
            <a:miter lim="800000"/>
            <a:headEnd/>
            <a:tailEnd/>
          </a:ln>
          <a:effectLst/>
        </p:spPr>
        <p:txBody>
          <a:bodyPr wrap="none">
            <a:spAutoFit/>
          </a:bodyPr>
          <a:lstStyle/>
          <a:p>
            <a:pPr>
              <a:defRPr/>
            </a:pPr>
            <a:r>
              <a:rPr lang="en-US" sz="4000" b="1">
                <a:solidFill>
                  <a:srgbClr val="800000"/>
                </a:solidFill>
                <a:effectLst>
                  <a:outerShdw blurRad="38100" dist="38100" dir="2700000" algn="tl">
                    <a:srgbClr val="000000"/>
                  </a:outerShdw>
                </a:effectLst>
                <a:latin typeface="Coronet" pitchFamily="66" charset="0"/>
                <a:cs typeface="Times New Roman" pitchFamily="18" charset="0"/>
              </a:rPr>
              <a:t>Why OOP’s Concept are Used?</a:t>
            </a:r>
          </a:p>
        </p:txBody>
      </p:sp>
      <p:sp>
        <p:nvSpPr>
          <p:cNvPr id="13316" name="Text Box 4"/>
          <p:cNvSpPr txBox="1">
            <a:spLocks noChangeArrowheads="1"/>
          </p:cNvSpPr>
          <p:nvPr/>
        </p:nvSpPr>
        <p:spPr bwMode="auto">
          <a:xfrm>
            <a:off x="533400" y="1752600"/>
            <a:ext cx="8305800" cy="946150"/>
          </a:xfrm>
          <a:prstGeom prst="rect">
            <a:avLst/>
          </a:prstGeom>
          <a:noFill/>
          <a:ln w="9525">
            <a:noFill/>
            <a:miter lim="800000"/>
            <a:headEnd/>
            <a:tailEnd/>
          </a:ln>
        </p:spPr>
        <p:txBody>
          <a:bodyPr>
            <a:spAutoFit/>
          </a:bodyPr>
          <a:lstStyle/>
          <a:p>
            <a:r>
              <a:rPr lang="en-US" sz="2800" b="1">
                <a:solidFill>
                  <a:srgbClr val="800000"/>
                </a:solidFill>
                <a:latin typeface="Times New Roman" pitchFamily="18" charset="0"/>
                <a:cs typeface="Times New Roman" pitchFamily="18" charset="0"/>
              </a:rPr>
              <a:t>	The drawbacks of Traditional Programming approach  are </a:t>
            </a:r>
            <a:endParaRPr lang="en-US" sz="2800" b="1">
              <a:solidFill>
                <a:srgbClr val="800000"/>
              </a:solidFill>
              <a:latin typeface="Bookman Old Style" pitchFamily="18" charset="0"/>
              <a:cs typeface="Times New Roman" pitchFamily="18" charset="0"/>
            </a:endParaRPr>
          </a:p>
        </p:txBody>
      </p:sp>
      <p:sp>
        <p:nvSpPr>
          <p:cNvPr id="13317" name="Text Box 5"/>
          <p:cNvSpPr txBox="1">
            <a:spLocks noChangeArrowheads="1"/>
          </p:cNvSpPr>
          <p:nvPr/>
        </p:nvSpPr>
        <p:spPr bwMode="auto">
          <a:xfrm>
            <a:off x="1460500" y="3001963"/>
            <a:ext cx="4940300" cy="457200"/>
          </a:xfrm>
          <a:prstGeom prst="rect">
            <a:avLst/>
          </a:prstGeom>
          <a:noFill/>
          <a:ln w="9525">
            <a:noFill/>
            <a:miter lim="800000"/>
            <a:headEnd/>
            <a:tailEnd/>
          </a:ln>
        </p:spPr>
        <p:txBody>
          <a:bodyPr>
            <a:spAutoFit/>
          </a:bodyPr>
          <a:lstStyle/>
          <a:p>
            <a:pPr>
              <a:buFontTx/>
              <a:buBlip>
                <a:blip r:embed="rId2"/>
              </a:buBlip>
            </a:pPr>
            <a:r>
              <a:rPr lang="en-US" sz="2400" b="1">
                <a:solidFill>
                  <a:srgbClr val="800000"/>
                </a:solidFill>
                <a:latin typeface="Bookman Old Style" pitchFamily="18" charset="0"/>
                <a:cs typeface="Times New Roman" pitchFamily="18" charset="0"/>
              </a:rPr>
              <a:t>  Unmanageable Programs</a:t>
            </a:r>
          </a:p>
        </p:txBody>
      </p:sp>
      <p:sp>
        <p:nvSpPr>
          <p:cNvPr id="13318" name="Text Box 6"/>
          <p:cNvSpPr txBox="1">
            <a:spLocks noChangeArrowheads="1"/>
          </p:cNvSpPr>
          <p:nvPr/>
        </p:nvSpPr>
        <p:spPr bwMode="auto">
          <a:xfrm>
            <a:off x="1460500" y="3824288"/>
            <a:ext cx="5522913" cy="457200"/>
          </a:xfrm>
          <a:prstGeom prst="rect">
            <a:avLst/>
          </a:prstGeom>
          <a:noFill/>
          <a:ln w="9525">
            <a:noFill/>
            <a:miter lim="800000"/>
            <a:headEnd/>
            <a:tailEnd/>
          </a:ln>
        </p:spPr>
        <p:txBody>
          <a:bodyPr wrap="none">
            <a:spAutoFit/>
          </a:bodyPr>
          <a:lstStyle/>
          <a:p>
            <a:pPr>
              <a:buFontTx/>
              <a:buBlip>
                <a:blip r:embed="rId2"/>
              </a:buBlip>
            </a:pPr>
            <a:r>
              <a:rPr lang="en-US" sz="2400" b="1">
                <a:solidFill>
                  <a:srgbClr val="800000"/>
                </a:solidFill>
                <a:latin typeface="Bookman Old Style" pitchFamily="18" charset="0"/>
                <a:cs typeface="Times New Roman" pitchFamily="18" charset="0"/>
              </a:rPr>
              <a:t>  Code Reusability not Optimum</a:t>
            </a:r>
          </a:p>
        </p:txBody>
      </p:sp>
      <p:sp>
        <p:nvSpPr>
          <p:cNvPr id="13319" name="Text Box 7"/>
          <p:cNvSpPr txBox="1">
            <a:spLocks noChangeArrowheads="1"/>
          </p:cNvSpPr>
          <p:nvPr/>
        </p:nvSpPr>
        <p:spPr bwMode="auto">
          <a:xfrm>
            <a:off x="1460500" y="4724400"/>
            <a:ext cx="5830888" cy="457200"/>
          </a:xfrm>
          <a:prstGeom prst="rect">
            <a:avLst/>
          </a:prstGeom>
          <a:noFill/>
          <a:ln w="9525">
            <a:noFill/>
            <a:miter lim="800000"/>
            <a:headEnd/>
            <a:tailEnd/>
          </a:ln>
        </p:spPr>
        <p:txBody>
          <a:bodyPr wrap="none">
            <a:spAutoFit/>
          </a:bodyPr>
          <a:lstStyle/>
          <a:p>
            <a:pPr>
              <a:buFontTx/>
              <a:buBlip>
                <a:blip r:embed="rId2"/>
              </a:buBlip>
            </a:pPr>
            <a:r>
              <a:rPr lang="en-US" sz="2400" b="1">
                <a:solidFill>
                  <a:srgbClr val="800000"/>
                </a:solidFill>
                <a:latin typeface="Bookman Old Style" pitchFamily="18" charset="0"/>
                <a:cs typeface="Times New Roman" pitchFamily="18" charset="0"/>
              </a:rPr>
              <a:t>  Problems in Modification of Data</a:t>
            </a:r>
          </a:p>
        </p:txBody>
      </p:sp>
      <p:sp>
        <p:nvSpPr>
          <p:cNvPr id="13320" name="Text Box 8"/>
          <p:cNvSpPr txBox="1">
            <a:spLocks noChangeArrowheads="1"/>
          </p:cNvSpPr>
          <p:nvPr/>
        </p:nvSpPr>
        <p:spPr bwMode="auto">
          <a:xfrm>
            <a:off x="1460500" y="5562600"/>
            <a:ext cx="5181600" cy="457200"/>
          </a:xfrm>
          <a:prstGeom prst="rect">
            <a:avLst/>
          </a:prstGeom>
          <a:noFill/>
          <a:ln w="9525">
            <a:noFill/>
            <a:miter lim="800000"/>
            <a:headEnd/>
            <a:tailEnd/>
          </a:ln>
        </p:spPr>
        <p:txBody>
          <a:bodyPr wrap="none">
            <a:spAutoFit/>
          </a:bodyPr>
          <a:lstStyle/>
          <a:p>
            <a:pPr>
              <a:buFontTx/>
              <a:buBlip>
                <a:blip r:embed="rId2"/>
              </a:buBlip>
            </a:pPr>
            <a:r>
              <a:rPr lang="en-US" sz="2400" b="1">
                <a:solidFill>
                  <a:srgbClr val="800000"/>
                </a:solidFill>
                <a:latin typeface="Bookman Old Style" pitchFamily="18" charset="0"/>
                <a:cs typeface="Times New Roman" pitchFamily="18" charset="0"/>
              </a:rPr>
              <a:t>  Difficulty in Implementation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3316"/>
                                        </p:tgtEl>
                                        <p:attrNameLst>
                                          <p:attrName>style.visibility</p:attrName>
                                        </p:attrNameLst>
                                      </p:cBhvr>
                                      <p:to>
                                        <p:strVal val="visible"/>
                                      </p:to>
                                    </p:set>
                                    <p:animEffect transition="in" filter="dissolve">
                                      <p:cBhvr>
                                        <p:cTn id="7" dur="500"/>
                                        <p:tgtEl>
                                          <p:spTgt spid="13316"/>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3317"/>
                                        </p:tgtEl>
                                        <p:attrNameLst>
                                          <p:attrName>style.visibility</p:attrName>
                                        </p:attrNameLst>
                                      </p:cBhvr>
                                      <p:to>
                                        <p:strVal val="visible"/>
                                      </p:to>
                                    </p:set>
                                    <p:animEffect transition="in" filter="dissolve">
                                      <p:cBhvr>
                                        <p:cTn id="11" dur="500"/>
                                        <p:tgtEl>
                                          <p:spTgt spid="13317"/>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13318"/>
                                        </p:tgtEl>
                                        <p:attrNameLst>
                                          <p:attrName>style.visibility</p:attrName>
                                        </p:attrNameLst>
                                      </p:cBhvr>
                                      <p:to>
                                        <p:strVal val="visible"/>
                                      </p:to>
                                    </p:set>
                                    <p:animEffect transition="in" filter="dissolve">
                                      <p:cBhvr>
                                        <p:cTn id="15" dur="500"/>
                                        <p:tgtEl>
                                          <p:spTgt spid="13318"/>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13319"/>
                                        </p:tgtEl>
                                        <p:attrNameLst>
                                          <p:attrName>style.visibility</p:attrName>
                                        </p:attrNameLst>
                                      </p:cBhvr>
                                      <p:to>
                                        <p:strVal val="visible"/>
                                      </p:to>
                                    </p:set>
                                    <p:animEffect transition="in" filter="dissolve">
                                      <p:cBhvr>
                                        <p:cTn id="19" dur="500"/>
                                        <p:tgtEl>
                                          <p:spTgt spid="13319"/>
                                        </p:tgtEl>
                                      </p:cBhvr>
                                    </p:animEffect>
                                  </p:childTnLst>
                                </p:cTn>
                              </p:par>
                            </p:childTnLst>
                          </p:cTn>
                        </p:par>
                        <p:par>
                          <p:cTn id="20" fill="hold">
                            <p:stCondLst>
                              <p:cond delay="2000"/>
                            </p:stCondLst>
                            <p:childTnLst>
                              <p:par>
                                <p:cTn id="21" presetID="9" presetClass="entr" presetSubtype="0" fill="hold" grpId="0" nodeType="afterEffect">
                                  <p:stCondLst>
                                    <p:cond delay="0"/>
                                  </p:stCondLst>
                                  <p:childTnLst>
                                    <p:set>
                                      <p:cBhvr>
                                        <p:cTn id="22" dur="1" fill="hold">
                                          <p:stCondLst>
                                            <p:cond delay="0"/>
                                          </p:stCondLst>
                                        </p:cTn>
                                        <p:tgtEl>
                                          <p:spTgt spid="13320"/>
                                        </p:tgtEl>
                                        <p:attrNameLst>
                                          <p:attrName>style.visibility</p:attrName>
                                        </p:attrNameLst>
                                      </p:cBhvr>
                                      <p:to>
                                        <p:strVal val="visible"/>
                                      </p:to>
                                    </p:set>
                                    <p:animEffect transition="in" filter="dissolve">
                                      <p:cBhvr>
                                        <p:cTn id="23" dur="500"/>
                                        <p:tgtEl>
                                          <p:spTgt spid="133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6" grpId="0" autoUpdateAnimBg="0"/>
      <p:bldP spid="13317" grpId="0" autoUpdateAnimBg="0"/>
      <p:bldP spid="13318" grpId="0" autoUpdateAnimBg="0"/>
      <p:bldP spid="13319" grpId="0" autoUpdateAnimBg="0"/>
      <p:bldP spid="13320"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0" y="274638"/>
            <a:ext cx="8686800" cy="1143000"/>
          </a:xfrm>
        </p:spPr>
        <p:txBody>
          <a:bodyPr/>
          <a:lstStyle/>
          <a:p>
            <a:pPr eaLnBrk="1" hangingPunct="1"/>
            <a:r>
              <a:rPr lang="en-US" smtClean="0">
                <a:solidFill>
                  <a:srgbClr val="800000"/>
                </a:solidFill>
              </a:rPr>
              <a:t>  </a:t>
            </a:r>
            <a:r>
              <a:rPr lang="en-US" b="1" smtClean="0">
                <a:solidFill>
                  <a:srgbClr val="800000"/>
                </a:solidFill>
                <a:latin typeface="Times New Roman" pitchFamily="18" charset="0"/>
              </a:rPr>
              <a:t>Object – Oriented Programming</a:t>
            </a:r>
          </a:p>
        </p:txBody>
      </p:sp>
      <p:sp>
        <p:nvSpPr>
          <p:cNvPr id="12291" name="AutoShape 3"/>
          <p:cNvSpPr>
            <a:spLocks noChangeArrowheads="1"/>
          </p:cNvSpPr>
          <p:nvPr/>
        </p:nvSpPr>
        <p:spPr bwMode="auto">
          <a:xfrm>
            <a:off x="3352800" y="3124200"/>
            <a:ext cx="2286000" cy="2895600"/>
          </a:xfrm>
          <a:prstGeom prst="cube">
            <a:avLst>
              <a:gd name="adj" fmla="val 25000"/>
            </a:avLst>
          </a:prstGeom>
          <a:solidFill>
            <a:schemeClr val="accent1"/>
          </a:solidFill>
          <a:ln w="9525">
            <a:solidFill>
              <a:schemeClr val="tx1"/>
            </a:solidFill>
            <a:miter lim="800000"/>
            <a:headEnd/>
            <a:tailEnd/>
          </a:ln>
        </p:spPr>
        <p:txBody>
          <a:bodyPr wrap="none" anchor="ctr"/>
          <a:lstStyle/>
          <a:p>
            <a:pPr algn="ctr"/>
            <a:r>
              <a:rPr lang="en-US" sz="2400">
                <a:latin typeface="Times New Roman" pitchFamily="18" charset="0"/>
              </a:rPr>
              <a:t>Accounts</a:t>
            </a:r>
          </a:p>
        </p:txBody>
      </p:sp>
      <p:sp>
        <p:nvSpPr>
          <p:cNvPr id="12292" name="Text Box 4"/>
          <p:cNvSpPr txBox="1">
            <a:spLocks noChangeArrowheads="1"/>
          </p:cNvSpPr>
          <p:nvPr/>
        </p:nvSpPr>
        <p:spPr bwMode="auto">
          <a:xfrm>
            <a:off x="685800" y="3200400"/>
            <a:ext cx="2895600" cy="3292475"/>
          </a:xfrm>
          <a:prstGeom prst="rect">
            <a:avLst/>
          </a:prstGeom>
          <a:noFill/>
          <a:ln w="9525">
            <a:noFill/>
            <a:miter lim="800000"/>
            <a:headEnd/>
            <a:tailEnd/>
          </a:ln>
        </p:spPr>
        <p:txBody>
          <a:bodyPr>
            <a:spAutoFit/>
          </a:bodyPr>
          <a:lstStyle/>
          <a:p>
            <a:pPr>
              <a:spcBef>
                <a:spcPct val="50000"/>
              </a:spcBef>
            </a:pPr>
            <a:r>
              <a:rPr lang="en-US" sz="2800" b="1" u="sng">
                <a:solidFill>
                  <a:srgbClr val="800000"/>
                </a:solidFill>
                <a:latin typeface="Times New Roman" pitchFamily="18" charset="0"/>
              </a:rPr>
              <a:t>Data</a:t>
            </a:r>
          </a:p>
          <a:p>
            <a:pPr>
              <a:spcBef>
                <a:spcPct val="50000"/>
              </a:spcBef>
            </a:pPr>
            <a:r>
              <a:rPr lang="en-US" sz="2400" b="1">
                <a:solidFill>
                  <a:srgbClr val="800000"/>
                </a:solidFill>
                <a:latin typeface="Times New Roman" pitchFamily="18" charset="0"/>
              </a:rPr>
              <a:t>Employee details</a:t>
            </a:r>
          </a:p>
          <a:p>
            <a:pPr>
              <a:spcBef>
                <a:spcPct val="50000"/>
              </a:spcBef>
            </a:pPr>
            <a:r>
              <a:rPr lang="en-US" sz="2400" b="1">
                <a:solidFill>
                  <a:srgbClr val="800000"/>
                </a:solidFill>
                <a:latin typeface="Times New Roman" pitchFamily="18" charset="0"/>
              </a:rPr>
              <a:t>Salary statements</a:t>
            </a:r>
          </a:p>
          <a:p>
            <a:pPr>
              <a:spcBef>
                <a:spcPct val="50000"/>
              </a:spcBef>
            </a:pPr>
            <a:r>
              <a:rPr lang="en-US" sz="2400" b="1">
                <a:solidFill>
                  <a:srgbClr val="800000"/>
                </a:solidFill>
                <a:latin typeface="Times New Roman" pitchFamily="18" charset="0"/>
              </a:rPr>
              <a:t>Bills</a:t>
            </a:r>
          </a:p>
          <a:p>
            <a:pPr>
              <a:spcBef>
                <a:spcPct val="50000"/>
              </a:spcBef>
            </a:pPr>
            <a:r>
              <a:rPr lang="en-US" sz="2400" b="1">
                <a:solidFill>
                  <a:srgbClr val="800000"/>
                </a:solidFill>
                <a:latin typeface="Times New Roman" pitchFamily="18" charset="0"/>
              </a:rPr>
              <a:t>Vouchers</a:t>
            </a:r>
          </a:p>
          <a:p>
            <a:pPr>
              <a:spcBef>
                <a:spcPct val="50000"/>
              </a:spcBef>
            </a:pPr>
            <a:r>
              <a:rPr lang="en-US" sz="2400" b="1">
                <a:solidFill>
                  <a:srgbClr val="800000"/>
                </a:solidFill>
                <a:latin typeface="Times New Roman" pitchFamily="18" charset="0"/>
              </a:rPr>
              <a:t>Receipts </a:t>
            </a:r>
          </a:p>
        </p:txBody>
      </p:sp>
      <p:sp>
        <p:nvSpPr>
          <p:cNvPr id="12293" name="Text Box 5"/>
          <p:cNvSpPr txBox="1">
            <a:spLocks noChangeArrowheads="1"/>
          </p:cNvSpPr>
          <p:nvPr/>
        </p:nvSpPr>
        <p:spPr bwMode="auto">
          <a:xfrm>
            <a:off x="5791200" y="3200400"/>
            <a:ext cx="2895600" cy="3257550"/>
          </a:xfrm>
          <a:prstGeom prst="rect">
            <a:avLst/>
          </a:prstGeom>
          <a:noFill/>
          <a:ln w="9525">
            <a:noFill/>
            <a:miter lim="800000"/>
            <a:headEnd/>
            <a:tailEnd/>
          </a:ln>
        </p:spPr>
        <p:txBody>
          <a:bodyPr>
            <a:spAutoFit/>
          </a:bodyPr>
          <a:lstStyle/>
          <a:p>
            <a:pPr>
              <a:spcBef>
                <a:spcPct val="50000"/>
              </a:spcBef>
            </a:pPr>
            <a:r>
              <a:rPr lang="en-US" sz="2800" b="1" u="sng">
                <a:solidFill>
                  <a:srgbClr val="800000"/>
                </a:solidFill>
                <a:latin typeface="Times New Roman" pitchFamily="18" charset="0"/>
              </a:rPr>
              <a:t>Functions</a:t>
            </a:r>
          </a:p>
          <a:p>
            <a:pPr>
              <a:spcBef>
                <a:spcPct val="50000"/>
              </a:spcBef>
            </a:pPr>
            <a:r>
              <a:rPr lang="en-US" sz="2400" b="1">
                <a:solidFill>
                  <a:srgbClr val="800000"/>
                </a:solidFill>
                <a:latin typeface="Times New Roman" pitchFamily="18" charset="0"/>
              </a:rPr>
              <a:t>Calculate salary</a:t>
            </a:r>
          </a:p>
          <a:p>
            <a:pPr>
              <a:spcBef>
                <a:spcPct val="50000"/>
              </a:spcBef>
            </a:pPr>
            <a:r>
              <a:rPr lang="en-US" sz="2400" b="1">
                <a:solidFill>
                  <a:srgbClr val="800000"/>
                </a:solidFill>
                <a:latin typeface="Times New Roman" pitchFamily="18" charset="0"/>
              </a:rPr>
              <a:t>Pay salary </a:t>
            </a:r>
          </a:p>
          <a:p>
            <a:pPr>
              <a:spcBef>
                <a:spcPct val="50000"/>
              </a:spcBef>
            </a:pPr>
            <a:r>
              <a:rPr lang="en-US" sz="2400" b="1">
                <a:solidFill>
                  <a:srgbClr val="800000"/>
                </a:solidFill>
                <a:latin typeface="Times New Roman" pitchFamily="18" charset="0"/>
              </a:rPr>
              <a:t>Pay bills</a:t>
            </a:r>
          </a:p>
          <a:p>
            <a:pPr>
              <a:spcBef>
                <a:spcPct val="50000"/>
              </a:spcBef>
            </a:pPr>
            <a:r>
              <a:rPr lang="en-US" sz="2400" b="1">
                <a:solidFill>
                  <a:srgbClr val="800000"/>
                </a:solidFill>
                <a:latin typeface="Times New Roman" pitchFamily="18" charset="0"/>
              </a:rPr>
              <a:t>Tally accounts</a:t>
            </a:r>
          </a:p>
          <a:p>
            <a:pPr>
              <a:spcBef>
                <a:spcPct val="50000"/>
              </a:spcBef>
            </a:pPr>
            <a:r>
              <a:rPr lang="en-US" sz="2400" b="1">
                <a:solidFill>
                  <a:srgbClr val="800000"/>
                </a:solidFill>
                <a:latin typeface="Times New Roman" pitchFamily="18" charset="0"/>
              </a:rPr>
              <a:t>Transact with banks</a:t>
            </a:r>
          </a:p>
        </p:txBody>
      </p:sp>
      <p:sp>
        <p:nvSpPr>
          <p:cNvPr id="12294" name="Text Box 6"/>
          <p:cNvSpPr txBox="1">
            <a:spLocks noChangeArrowheads="1"/>
          </p:cNvSpPr>
          <p:nvPr/>
        </p:nvSpPr>
        <p:spPr bwMode="auto">
          <a:xfrm>
            <a:off x="457200" y="1600200"/>
            <a:ext cx="8382000" cy="822325"/>
          </a:xfrm>
          <a:prstGeom prst="rect">
            <a:avLst/>
          </a:prstGeom>
          <a:noFill/>
          <a:ln w="9525">
            <a:noFill/>
            <a:miter lim="800000"/>
            <a:headEnd/>
            <a:tailEnd/>
          </a:ln>
        </p:spPr>
        <p:txBody>
          <a:bodyPr>
            <a:spAutoFit/>
          </a:bodyPr>
          <a:lstStyle/>
          <a:p>
            <a:pPr>
              <a:spcBef>
                <a:spcPct val="50000"/>
              </a:spcBef>
            </a:pPr>
            <a:r>
              <a:rPr lang="en-US" sz="2400" b="1">
                <a:solidFill>
                  <a:srgbClr val="800000"/>
                </a:solidFill>
                <a:latin typeface="Times New Roman" pitchFamily="18" charset="0"/>
              </a:rPr>
              <a:t>Here the application has to implement the entities as they are seen in real life and associate  actions and attributes with each.</a:t>
            </a:r>
          </a:p>
        </p:txBody>
      </p:sp>
      <p:pic>
        <p:nvPicPr>
          <p:cNvPr id="12295" name="Picture 7" descr="ag00029_"/>
          <p:cNvPicPr>
            <a:picLocks noChangeAspect="1" noChangeArrowheads="1" noCrop="1"/>
          </p:cNvPicPr>
          <p:nvPr/>
        </p:nvPicPr>
        <p:blipFill>
          <a:blip r:embed="rId3"/>
          <a:srcRect/>
          <a:stretch>
            <a:fillRect/>
          </a:stretch>
        </p:blipFill>
        <p:spPr bwMode="auto">
          <a:xfrm>
            <a:off x="3276600" y="5181600"/>
            <a:ext cx="1714500" cy="13604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AutoShape 2"/>
          <p:cNvSpPr>
            <a:spLocks noChangeArrowheads="1"/>
          </p:cNvSpPr>
          <p:nvPr/>
        </p:nvSpPr>
        <p:spPr bwMode="auto">
          <a:xfrm>
            <a:off x="0" y="0"/>
            <a:ext cx="9144000" cy="6858000"/>
          </a:xfrm>
          <a:prstGeom prst="foldedCorner">
            <a:avLst>
              <a:gd name="adj" fmla="val 12500"/>
            </a:avLst>
          </a:prstGeom>
          <a:noFill/>
          <a:ln w="38100">
            <a:solidFill>
              <a:srgbClr val="CC0066"/>
            </a:solidFill>
            <a:round/>
            <a:headEnd/>
            <a:tailEnd/>
          </a:ln>
        </p:spPr>
        <p:txBody>
          <a:bodyPr wrap="none" anchor="ctr"/>
          <a:lstStyle/>
          <a:p>
            <a:pPr algn="ctr" eaLnBrk="0" hangingPunct="0"/>
            <a:endParaRPr lang="en-US">
              <a:solidFill>
                <a:srgbClr val="FFFF66"/>
              </a:solidFill>
              <a:latin typeface="Verdana" pitchFamily="34" charset="0"/>
            </a:endParaRPr>
          </a:p>
        </p:txBody>
      </p:sp>
      <p:grpSp>
        <p:nvGrpSpPr>
          <p:cNvPr id="2" name="Group 3"/>
          <p:cNvGrpSpPr>
            <a:grpSpLocks/>
          </p:cNvGrpSpPr>
          <p:nvPr/>
        </p:nvGrpSpPr>
        <p:grpSpPr bwMode="auto">
          <a:xfrm>
            <a:off x="304800" y="342900"/>
            <a:ext cx="8204200" cy="5818188"/>
            <a:chOff x="432" y="452"/>
            <a:chExt cx="4427" cy="3153"/>
          </a:xfrm>
        </p:grpSpPr>
        <p:sp>
          <p:nvSpPr>
            <p:cNvPr id="13316" name="Text Box 4"/>
            <p:cNvSpPr txBox="1">
              <a:spLocks noChangeArrowheads="1"/>
            </p:cNvSpPr>
            <p:nvPr/>
          </p:nvSpPr>
          <p:spPr bwMode="auto">
            <a:xfrm>
              <a:off x="432" y="452"/>
              <a:ext cx="4427" cy="513"/>
            </a:xfrm>
            <a:prstGeom prst="rect">
              <a:avLst/>
            </a:prstGeom>
            <a:noFill/>
            <a:ln w="9525">
              <a:noFill/>
              <a:miter lim="800000"/>
              <a:headEnd/>
              <a:tailEnd/>
            </a:ln>
          </p:spPr>
          <p:txBody>
            <a:bodyPr wrap="none">
              <a:spAutoFit/>
            </a:bodyPr>
            <a:lstStyle/>
            <a:p>
              <a:pPr algn="just"/>
              <a:r>
                <a:rPr lang="en-US" sz="2800" b="1">
                  <a:solidFill>
                    <a:srgbClr val="800000"/>
                  </a:solidFill>
                  <a:latin typeface="Times New Roman" pitchFamily="18" charset="0"/>
                  <a:cs typeface="Times New Roman" pitchFamily="18" charset="0"/>
                </a:rPr>
                <a:t>Benefits of Object Oriented Programming approach </a:t>
              </a:r>
              <a:br>
                <a:rPr lang="en-US" sz="2800" b="1">
                  <a:solidFill>
                    <a:srgbClr val="800000"/>
                  </a:solidFill>
                  <a:latin typeface="Times New Roman" pitchFamily="18" charset="0"/>
                  <a:cs typeface="Times New Roman" pitchFamily="18" charset="0"/>
                </a:rPr>
              </a:br>
              <a:r>
                <a:rPr lang="en-US" sz="2800" b="1">
                  <a:solidFill>
                    <a:srgbClr val="800000"/>
                  </a:solidFill>
                  <a:latin typeface="Times New Roman" pitchFamily="18" charset="0"/>
                  <a:cs typeface="Times New Roman" pitchFamily="18" charset="0"/>
                </a:rPr>
                <a:t>are - </a:t>
              </a:r>
            </a:p>
          </p:txBody>
        </p:sp>
        <p:sp>
          <p:nvSpPr>
            <p:cNvPr id="13317" name="Text Box 5"/>
            <p:cNvSpPr txBox="1">
              <a:spLocks noChangeArrowheads="1"/>
            </p:cNvSpPr>
            <p:nvPr/>
          </p:nvSpPr>
          <p:spPr bwMode="auto">
            <a:xfrm>
              <a:off x="672" y="923"/>
              <a:ext cx="3107" cy="282"/>
            </a:xfrm>
            <a:prstGeom prst="rect">
              <a:avLst/>
            </a:prstGeom>
            <a:noFill/>
            <a:ln w="9525">
              <a:noFill/>
              <a:miter lim="800000"/>
              <a:headEnd/>
              <a:tailEnd/>
            </a:ln>
          </p:spPr>
          <p:txBody>
            <a:bodyPr wrap="none">
              <a:spAutoFit/>
            </a:bodyPr>
            <a:lstStyle/>
            <a:p>
              <a:pPr algn="just">
                <a:buFont typeface="Wingdings" pitchFamily="2" charset="2"/>
                <a:buChar char="ü"/>
              </a:pPr>
              <a:r>
                <a:rPr lang="en-US" sz="2800" b="1">
                  <a:solidFill>
                    <a:srgbClr val="800000"/>
                  </a:solidFill>
                  <a:latin typeface="Times New Roman" pitchFamily="18" charset="0"/>
                  <a:cs typeface="Times New Roman" pitchFamily="18" charset="0"/>
                </a:rPr>
                <a:t> OOP offers better implementation</a:t>
              </a:r>
            </a:p>
          </p:txBody>
        </p:sp>
        <p:sp>
          <p:nvSpPr>
            <p:cNvPr id="13318" name="Text Box 6"/>
            <p:cNvSpPr txBox="1">
              <a:spLocks noChangeArrowheads="1"/>
            </p:cNvSpPr>
            <p:nvPr/>
          </p:nvSpPr>
          <p:spPr bwMode="auto">
            <a:xfrm>
              <a:off x="672" y="1355"/>
              <a:ext cx="2876" cy="282"/>
            </a:xfrm>
            <a:prstGeom prst="rect">
              <a:avLst/>
            </a:prstGeom>
            <a:noFill/>
            <a:ln w="9525">
              <a:noFill/>
              <a:miter lim="800000"/>
              <a:headEnd/>
              <a:tailEnd/>
            </a:ln>
          </p:spPr>
          <p:txBody>
            <a:bodyPr wrap="none">
              <a:spAutoFit/>
            </a:bodyPr>
            <a:lstStyle/>
            <a:p>
              <a:pPr algn="just">
                <a:buFont typeface="Wingdings" pitchFamily="2" charset="2"/>
                <a:buChar char="ü"/>
              </a:pPr>
              <a:r>
                <a:rPr lang="en-US" sz="2800" b="1">
                  <a:solidFill>
                    <a:srgbClr val="800000"/>
                  </a:solidFill>
                  <a:latin typeface="Times New Roman" pitchFamily="18" charset="0"/>
                  <a:cs typeface="Times New Roman" pitchFamily="18" charset="0"/>
                </a:rPr>
                <a:t> OOP offers better data security</a:t>
              </a:r>
            </a:p>
          </p:txBody>
        </p:sp>
        <p:sp>
          <p:nvSpPr>
            <p:cNvPr id="13319" name="Text Box 7"/>
            <p:cNvSpPr txBox="1">
              <a:spLocks noChangeArrowheads="1"/>
            </p:cNvSpPr>
            <p:nvPr/>
          </p:nvSpPr>
          <p:spPr bwMode="auto">
            <a:xfrm>
              <a:off x="680" y="1740"/>
              <a:ext cx="3110" cy="281"/>
            </a:xfrm>
            <a:prstGeom prst="rect">
              <a:avLst/>
            </a:prstGeom>
            <a:noFill/>
            <a:ln w="9525">
              <a:noFill/>
              <a:miter lim="800000"/>
              <a:headEnd/>
              <a:tailEnd/>
            </a:ln>
          </p:spPr>
          <p:txBody>
            <a:bodyPr wrap="none">
              <a:spAutoFit/>
            </a:bodyPr>
            <a:lstStyle/>
            <a:p>
              <a:pPr algn="just">
                <a:buFont typeface="Wingdings" pitchFamily="2" charset="2"/>
                <a:buChar char="ü"/>
              </a:pPr>
              <a:r>
                <a:rPr lang="en-US" sz="2800" b="1">
                  <a:solidFill>
                    <a:srgbClr val="800000"/>
                  </a:solidFill>
                  <a:latin typeface="Times New Roman" pitchFamily="18" charset="0"/>
                  <a:cs typeface="Times New Roman" pitchFamily="18" charset="0"/>
                </a:rPr>
                <a:t> OOP offers better code reusability</a:t>
              </a:r>
            </a:p>
          </p:txBody>
        </p:sp>
        <p:sp>
          <p:nvSpPr>
            <p:cNvPr id="13320" name="Text Box 8"/>
            <p:cNvSpPr txBox="1">
              <a:spLocks noChangeArrowheads="1"/>
            </p:cNvSpPr>
            <p:nvPr/>
          </p:nvSpPr>
          <p:spPr bwMode="auto">
            <a:xfrm>
              <a:off x="696" y="2075"/>
              <a:ext cx="2529" cy="282"/>
            </a:xfrm>
            <a:prstGeom prst="rect">
              <a:avLst/>
            </a:prstGeom>
            <a:noFill/>
            <a:ln w="9525">
              <a:noFill/>
              <a:miter lim="800000"/>
              <a:headEnd/>
              <a:tailEnd/>
            </a:ln>
          </p:spPr>
          <p:txBody>
            <a:bodyPr wrap="none">
              <a:spAutoFit/>
            </a:bodyPr>
            <a:lstStyle/>
            <a:p>
              <a:pPr algn="just">
                <a:buFont typeface="Wingdings" pitchFamily="2" charset="2"/>
                <a:buChar char="ü"/>
              </a:pPr>
              <a:r>
                <a:rPr lang="en-US" sz="2800" b="1">
                  <a:solidFill>
                    <a:srgbClr val="800000"/>
                  </a:solidFill>
                  <a:latin typeface="Times New Roman" pitchFamily="18" charset="0"/>
                  <a:cs typeface="Times New Roman" pitchFamily="18" charset="0"/>
                </a:rPr>
                <a:t> OOP offers more flexibility</a:t>
              </a:r>
            </a:p>
          </p:txBody>
        </p:sp>
        <p:sp>
          <p:nvSpPr>
            <p:cNvPr id="13321" name="Text Box 9"/>
            <p:cNvSpPr txBox="1">
              <a:spLocks noChangeArrowheads="1"/>
            </p:cNvSpPr>
            <p:nvPr/>
          </p:nvSpPr>
          <p:spPr bwMode="auto">
            <a:xfrm>
              <a:off x="640" y="2412"/>
              <a:ext cx="3644" cy="281"/>
            </a:xfrm>
            <a:prstGeom prst="rect">
              <a:avLst/>
            </a:prstGeom>
            <a:noFill/>
            <a:ln w="9525">
              <a:noFill/>
              <a:miter lim="800000"/>
              <a:headEnd/>
              <a:tailEnd/>
            </a:ln>
          </p:spPr>
          <p:txBody>
            <a:bodyPr wrap="none">
              <a:spAutoFit/>
            </a:bodyPr>
            <a:lstStyle/>
            <a:p>
              <a:pPr algn="just">
                <a:buFont typeface="Wingdings" pitchFamily="2" charset="2"/>
                <a:buChar char="ü"/>
              </a:pPr>
              <a:r>
                <a:rPr lang="en-US" sz="2800" b="1">
                  <a:solidFill>
                    <a:srgbClr val="800000"/>
                  </a:solidFill>
                  <a:latin typeface="Times New Roman" pitchFamily="18" charset="0"/>
                  <a:cs typeface="Times New Roman" pitchFamily="18" charset="0"/>
                </a:rPr>
                <a:t> OOP offers better manageable programs</a:t>
              </a:r>
            </a:p>
          </p:txBody>
        </p:sp>
        <p:sp>
          <p:nvSpPr>
            <p:cNvPr id="13322" name="Text Box 10"/>
            <p:cNvSpPr txBox="1">
              <a:spLocks noChangeArrowheads="1"/>
            </p:cNvSpPr>
            <p:nvPr/>
          </p:nvSpPr>
          <p:spPr bwMode="auto">
            <a:xfrm>
              <a:off x="688" y="2720"/>
              <a:ext cx="4087" cy="513"/>
            </a:xfrm>
            <a:prstGeom prst="rect">
              <a:avLst/>
            </a:prstGeom>
            <a:noFill/>
            <a:ln w="9525">
              <a:noFill/>
              <a:miter lim="800000"/>
              <a:headEnd/>
              <a:tailEnd/>
            </a:ln>
          </p:spPr>
          <p:txBody>
            <a:bodyPr wrap="none">
              <a:spAutoFit/>
            </a:bodyPr>
            <a:lstStyle/>
            <a:p>
              <a:pPr algn="just">
                <a:buFont typeface="Wingdings" pitchFamily="2" charset="2"/>
                <a:buChar char="ü"/>
              </a:pPr>
              <a:r>
                <a:rPr lang="en-US" sz="2800" b="1">
                  <a:solidFill>
                    <a:srgbClr val="800000"/>
                  </a:solidFill>
                  <a:latin typeface="Times New Roman" pitchFamily="18" charset="0"/>
                  <a:cs typeface="Times New Roman" pitchFamily="18" charset="0"/>
                </a:rPr>
                <a:t> Large complexity in the software development</a:t>
              </a:r>
            </a:p>
            <a:p>
              <a:pPr algn="just">
                <a:buFont typeface="Wingdings" pitchFamily="2" charset="2"/>
                <a:buNone/>
              </a:pPr>
              <a:r>
                <a:rPr lang="en-US" sz="2800" b="1">
                  <a:solidFill>
                    <a:srgbClr val="800000"/>
                  </a:solidFill>
                  <a:latin typeface="Times New Roman" pitchFamily="18" charset="0"/>
                  <a:cs typeface="Times New Roman" pitchFamily="18" charset="0"/>
                </a:rPr>
                <a:t>    can be easily managed</a:t>
              </a:r>
            </a:p>
          </p:txBody>
        </p:sp>
        <p:sp>
          <p:nvSpPr>
            <p:cNvPr id="13323" name="Text Box 11"/>
            <p:cNvSpPr txBox="1">
              <a:spLocks noChangeArrowheads="1"/>
            </p:cNvSpPr>
            <p:nvPr/>
          </p:nvSpPr>
          <p:spPr bwMode="auto">
            <a:xfrm>
              <a:off x="576" y="3324"/>
              <a:ext cx="4263" cy="281"/>
            </a:xfrm>
            <a:prstGeom prst="rect">
              <a:avLst/>
            </a:prstGeom>
            <a:noFill/>
            <a:ln w="9525">
              <a:noFill/>
              <a:miter lim="800000"/>
              <a:headEnd/>
              <a:tailEnd/>
            </a:ln>
          </p:spPr>
          <p:txBody>
            <a:bodyPr wrap="none">
              <a:spAutoFit/>
            </a:bodyPr>
            <a:lstStyle/>
            <a:p>
              <a:pPr algn="just">
                <a:buFont typeface="Wingdings" pitchFamily="2" charset="2"/>
                <a:buChar char="ü"/>
              </a:pPr>
              <a:r>
                <a:rPr lang="en-US" sz="2800" b="1">
                  <a:solidFill>
                    <a:srgbClr val="800000"/>
                  </a:solidFill>
                  <a:latin typeface="Times New Roman" pitchFamily="18" charset="0"/>
                  <a:cs typeface="Times New Roman" pitchFamily="18" charset="0"/>
                </a:rPr>
                <a:t> User defined datatypes can be easily constructed</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4" presetClass="entr" presetSubtype="0" accel="10000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05"/>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 calcmode="lin" valueType="num">
                                      <p:cBhvr>
                                        <p:cTn id="9" dur="1000" fill="hold"/>
                                        <p:tgtEl>
                                          <p:spTgt spid="2"/>
                                        </p:tgtEl>
                                        <p:attrNameLst>
                                          <p:attrName>ppt_x</p:attrName>
                                        </p:attrNameLst>
                                      </p:cBhvr>
                                      <p:tavLst>
                                        <p:tav tm="0">
                                          <p:val>
                                            <p:strVal val="#ppt_x-.2"/>
                                          </p:val>
                                        </p:tav>
                                        <p:tav tm="100000">
                                          <p:val>
                                            <p:strVal val="#ppt_x"/>
                                          </p:val>
                                        </p:tav>
                                      </p:tavLst>
                                    </p:anim>
                                    <p:anim calcmode="lin" valueType="num">
                                      <p:cBhvr>
                                        <p:cTn id="10" dur="1000" fill="hold"/>
                                        <p:tgtEl>
                                          <p:spTgt spid="2"/>
                                        </p:tgtEl>
                                        <p:attrNameLst>
                                          <p:attrName>ppt_y</p:attrName>
                                        </p:attrNameLst>
                                      </p:cBhvr>
                                      <p:tavLst>
                                        <p:tav tm="0">
                                          <p:val>
                                            <p:strVal val="#ppt_y"/>
                                          </p:val>
                                        </p:tav>
                                        <p:tav tm="100000">
                                          <p:val>
                                            <p:strVal val="#ppt_y"/>
                                          </p:val>
                                        </p:tav>
                                      </p:tavLst>
                                    </p:anim>
                                    <p:animEffect transition="in" filter="fade">
                                      <p:cBhvr>
                                        <p:cTn id="11"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762000" y="457200"/>
            <a:ext cx="7793038" cy="1143000"/>
          </a:xfrm>
        </p:spPr>
        <p:txBody>
          <a:bodyPr/>
          <a:lstStyle/>
          <a:p>
            <a:pPr eaLnBrk="1" hangingPunct="1"/>
            <a:r>
              <a:rPr lang="en-US" b="1" smtClean="0">
                <a:solidFill>
                  <a:srgbClr val="000099"/>
                </a:solidFill>
              </a:rPr>
              <a:t>Object Oriented Approach</a:t>
            </a:r>
          </a:p>
        </p:txBody>
      </p:sp>
      <p:sp>
        <p:nvSpPr>
          <p:cNvPr id="14339" name="Oval 3"/>
          <p:cNvSpPr>
            <a:spLocks noChangeArrowheads="1"/>
          </p:cNvSpPr>
          <p:nvPr/>
        </p:nvSpPr>
        <p:spPr bwMode="auto">
          <a:xfrm>
            <a:off x="5791200" y="3200400"/>
            <a:ext cx="2819400" cy="1219200"/>
          </a:xfrm>
          <a:prstGeom prst="ellipse">
            <a:avLst/>
          </a:prstGeom>
          <a:solidFill>
            <a:srgbClr val="99CCFF"/>
          </a:solidFill>
          <a:ln w="6350">
            <a:noFill/>
            <a:round/>
            <a:headEnd/>
            <a:tailEnd/>
          </a:ln>
        </p:spPr>
        <p:txBody>
          <a:bodyPr wrap="none" anchor="ctr"/>
          <a:lstStyle/>
          <a:p>
            <a:endParaRPr lang="en-US"/>
          </a:p>
        </p:txBody>
      </p:sp>
      <p:sp>
        <p:nvSpPr>
          <p:cNvPr id="14340" name="Oval 4"/>
          <p:cNvSpPr>
            <a:spLocks noChangeArrowheads="1"/>
          </p:cNvSpPr>
          <p:nvPr/>
        </p:nvSpPr>
        <p:spPr bwMode="auto">
          <a:xfrm>
            <a:off x="381000" y="4572000"/>
            <a:ext cx="2819400" cy="1219200"/>
          </a:xfrm>
          <a:prstGeom prst="ellipse">
            <a:avLst/>
          </a:prstGeom>
          <a:solidFill>
            <a:srgbClr val="99CCFF"/>
          </a:solidFill>
          <a:ln w="6350">
            <a:noFill/>
            <a:round/>
            <a:headEnd/>
            <a:tailEnd/>
          </a:ln>
        </p:spPr>
        <p:txBody>
          <a:bodyPr wrap="none" anchor="ctr"/>
          <a:lstStyle/>
          <a:p>
            <a:endParaRPr lang="en-US"/>
          </a:p>
        </p:txBody>
      </p:sp>
      <p:sp>
        <p:nvSpPr>
          <p:cNvPr id="14341" name="Oval 5"/>
          <p:cNvSpPr>
            <a:spLocks noChangeArrowheads="1"/>
          </p:cNvSpPr>
          <p:nvPr/>
        </p:nvSpPr>
        <p:spPr bwMode="auto">
          <a:xfrm>
            <a:off x="5791200" y="4572000"/>
            <a:ext cx="2819400" cy="1219200"/>
          </a:xfrm>
          <a:prstGeom prst="ellipse">
            <a:avLst/>
          </a:prstGeom>
          <a:solidFill>
            <a:srgbClr val="99CCFF"/>
          </a:solidFill>
          <a:ln w="6350">
            <a:noFill/>
            <a:round/>
            <a:headEnd/>
            <a:tailEnd/>
          </a:ln>
        </p:spPr>
        <p:txBody>
          <a:bodyPr wrap="none" anchor="ctr"/>
          <a:lstStyle/>
          <a:p>
            <a:endParaRPr lang="en-US"/>
          </a:p>
        </p:txBody>
      </p:sp>
      <p:sp>
        <p:nvSpPr>
          <p:cNvPr id="14342" name="Oval 6"/>
          <p:cNvSpPr>
            <a:spLocks noChangeArrowheads="1"/>
          </p:cNvSpPr>
          <p:nvPr/>
        </p:nvSpPr>
        <p:spPr bwMode="auto">
          <a:xfrm>
            <a:off x="381000" y="3200400"/>
            <a:ext cx="2819400" cy="1219200"/>
          </a:xfrm>
          <a:prstGeom prst="ellipse">
            <a:avLst/>
          </a:prstGeom>
          <a:solidFill>
            <a:srgbClr val="99CCFF"/>
          </a:solidFill>
          <a:ln w="6350">
            <a:noFill/>
            <a:round/>
            <a:headEnd/>
            <a:tailEnd/>
          </a:ln>
        </p:spPr>
        <p:txBody>
          <a:bodyPr wrap="none" anchor="ctr"/>
          <a:lstStyle/>
          <a:p>
            <a:endParaRPr lang="en-US"/>
          </a:p>
        </p:txBody>
      </p:sp>
      <p:sp>
        <p:nvSpPr>
          <p:cNvPr id="14343" name="Oval 7"/>
          <p:cNvSpPr>
            <a:spLocks noChangeArrowheads="1"/>
          </p:cNvSpPr>
          <p:nvPr/>
        </p:nvSpPr>
        <p:spPr bwMode="auto">
          <a:xfrm>
            <a:off x="4724400" y="1981200"/>
            <a:ext cx="2819400" cy="1219200"/>
          </a:xfrm>
          <a:prstGeom prst="ellipse">
            <a:avLst/>
          </a:prstGeom>
          <a:solidFill>
            <a:srgbClr val="99CCFF"/>
          </a:solidFill>
          <a:ln w="6350">
            <a:noFill/>
            <a:round/>
            <a:headEnd/>
            <a:tailEnd/>
          </a:ln>
        </p:spPr>
        <p:txBody>
          <a:bodyPr wrap="none" anchor="ctr"/>
          <a:lstStyle/>
          <a:p>
            <a:endParaRPr lang="en-US"/>
          </a:p>
        </p:txBody>
      </p:sp>
      <p:sp>
        <p:nvSpPr>
          <p:cNvPr id="14344" name="Oval 8"/>
          <p:cNvSpPr>
            <a:spLocks noChangeArrowheads="1"/>
          </p:cNvSpPr>
          <p:nvPr/>
        </p:nvSpPr>
        <p:spPr bwMode="auto">
          <a:xfrm>
            <a:off x="1676400" y="1981200"/>
            <a:ext cx="2819400" cy="1219200"/>
          </a:xfrm>
          <a:prstGeom prst="ellipse">
            <a:avLst/>
          </a:prstGeom>
          <a:solidFill>
            <a:srgbClr val="99CCFF"/>
          </a:solidFill>
          <a:ln w="6350">
            <a:noFill/>
            <a:round/>
            <a:headEnd/>
            <a:tailEnd/>
          </a:ln>
        </p:spPr>
        <p:txBody>
          <a:bodyPr wrap="none" anchor="ctr"/>
          <a:lstStyle/>
          <a:p>
            <a:endParaRPr lang="en-US"/>
          </a:p>
        </p:txBody>
      </p:sp>
      <p:sp>
        <p:nvSpPr>
          <p:cNvPr id="14345" name="Oval 9"/>
          <p:cNvSpPr>
            <a:spLocks noChangeArrowheads="1"/>
          </p:cNvSpPr>
          <p:nvPr/>
        </p:nvSpPr>
        <p:spPr bwMode="auto">
          <a:xfrm>
            <a:off x="3124200" y="5257800"/>
            <a:ext cx="2819400" cy="1219200"/>
          </a:xfrm>
          <a:prstGeom prst="ellipse">
            <a:avLst/>
          </a:prstGeom>
          <a:solidFill>
            <a:srgbClr val="99CCFF"/>
          </a:solidFill>
          <a:ln w="6350">
            <a:noFill/>
            <a:round/>
            <a:headEnd/>
            <a:tailEnd/>
          </a:ln>
        </p:spPr>
        <p:txBody>
          <a:bodyPr wrap="none" anchor="ctr"/>
          <a:lstStyle/>
          <a:p>
            <a:endParaRPr lang="en-US"/>
          </a:p>
        </p:txBody>
      </p:sp>
      <p:sp>
        <p:nvSpPr>
          <p:cNvPr id="14346" name="Text Box 10"/>
          <p:cNvSpPr txBox="1">
            <a:spLocks noChangeArrowheads="1"/>
          </p:cNvSpPr>
          <p:nvPr/>
        </p:nvSpPr>
        <p:spPr bwMode="auto">
          <a:xfrm>
            <a:off x="1981200" y="2133600"/>
            <a:ext cx="2286000" cy="822325"/>
          </a:xfrm>
          <a:prstGeom prst="rect">
            <a:avLst/>
          </a:prstGeom>
          <a:noFill/>
          <a:ln w="6350">
            <a:noFill/>
            <a:miter lim="800000"/>
            <a:headEnd/>
            <a:tailEnd/>
          </a:ln>
        </p:spPr>
        <p:txBody>
          <a:bodyPr>
            <a:spAutoFit/>
          </a:bodyPr>
          <a:lstStyle/>
          <a:p>
            <a:pPr algn="ctr">
              <a:spcBef>
                <a:spcPct val="50000"/>
              </a:spcBef>
            </a:pPr>
            <a:r>
              <a:rPr lang="en-US" sz="2400">
                <a:latin typeface="Times New Roman" pitchFamily="18" charset="0"/>
              </a:rPr>
              <a:t>Problem Identification</a:t>
            </a:r>
          </a:p>
        </p:txBody>
      </p:sp>
      <p:sp>
        <p:nvSpPr>
          <p:cNvPr id="14347" name="Text Box 11"/>
          <p:cNvSpPr txBox="1">
            <a:spLocks noChangeArrowheads="1"/>
          </p:cNvSpPr>
          <p:nvPr/>
        </p:nvSpPr>
        <p:spPr bwMode="auto">
          <a:xfrm>
            <a:off x="4724400" y="2362200"/>
            <a:ext cx="2209800" cy="457200"/>
          </a:xfrm>
          <a:prstGeom prst="rect">
            <a:avLst/>
          </a:prstGeom>
          <a:noFill/>
          <a:ln w="6350">
            <a:noFill/>
            <a:miter lim="800000"/>
            <a:headEnd/>
            <a:tailEnd/>
          </a:ln>
        </p:spPr>
        <p:txBody>
          <a:bodyPr>
            <a:spAutoFit/>
          </a:bodyPr>
          <a:lstStyle/>
          <a:p>
            <a:pPr algn="ctr">
              <a:spcBef>
                <a:spcPct val="50000"/>
              </a:spcBef>
            </a:pPr>
            <a:r>
              <a:rPr lang="en-US" sz="2400">
                <a:latin typeface="Times New Roman" pitchFamily="18" charset="0"/>
              </a:rPr>
              <a:t>Analysis</a:t>
            </a:r>
          </a:p>
        </p:txBody>
      </p:sp>
      <p:sp>
        <p:nvSpPr>
          <p:cNvPr id="14348" name="Text Box 12"/>
          <p:cNvSpPr txBox="1">
            <a:spLocks noChangeArrowheads="1"/>
          </p:cNvSpPr>
          <p:nvPr/>
        </p:nvSpPr>
        <p:spPr bwMode="auto">
          <a:xfrm>
            <a:off x="6400800" y="3505200"/>
            <a:ext cx="1752600" cy="457200"/>
          </a:xfrm>
          <a:prstGeom prst="rect">
            <a:avLst/>
          </a:prstGeom>
          <a:noFill/>
          <a:ln w="6350">
            <a:noFill/>
            <a:miter lim="800000"/>
            <a:headEnd/>
            <a:tailEnd/>
          </a:ln>
        </p:spPr>
        <p:txBody>
          <a:bodyPr>
            <a:spAutoFit/>
          </a:bodyPr>
          <a:lstStyle/>
          <a:p>
            <a:pPr algn="ctr">
              <a:spcBef>
                <a:spcPct val="50000"/>
              </a:spcBef>
            </a:pPr>
            <a:r>
              <a:rPr lang="en-US" sz="2400">
                <a:latin typeface="Times New Roman" pitchFamily="18" charset="0"/>
              </a:rPr>
              <a:t>Design</a:t>
            </a:r>
          </a:p>
        </p:txBody>
      </p:sp>
      <p:sp>
        <p:nvSpPr>
          <p:cNvPr id="14349" name="Text Box 13"/>
          <p:cNvSpPr txBox="1">
            <a:spLocks noChangeArrowheads="1"/>
          </p:cNvSpPr>
          <p:nvPr/>
        </p:nvSpPr>
        <p:spPr bwMode="auto">
          <a:xfrm>
            <a:off x="6019800" y="4953000"/>
            <a:ext cx="2133600" cy="457200"/>
          </a:xfrm>
          <a:prstGeom prst="rect">
            <a:avLst/>
          </a:prstGeom>
          <a:noFill/>
          <a:ln w="6350">
            <a:noFill/>
            <a:miter lim="800000"/>
            <a:headEnd/>
            <a:tailEnd/>
          </a:ln>
        </p:spPr>
        <p:txBody>
          <a:bodyPr>
            <a:spAutoFit/>
          </a:bodyPr>
          <a:lstStyle/>
          <a:p>
            <a:pPr algn="ctr">
              <a:spcBef>
                <a:spcPct val="50000"/>
              </a:spcBef>
            </a:pPr>
            <a:r>
              <a:rPr lang="en-US" sz="2400">
                <a:latin typeface="Times New Roman" pitchFamily="18" charset="0"/>
              </a:rPr>
              <a:t>Development</a:t>
            </a:r>
          </a:p>
        </p:txBody>
      </p:sp>
      <p:sp>
        <p:nvSpPr>
          <p:cNvPr id="14350" name="Text Box 14"/>
          <p:cNvSpPr txBox="1">
            <a:spLocks noChangeArrowheads="1"/>
          </p:cNvSpPr>
          <p:nvPr/>
        </p:nvSpPr>
        <p:spPr bwMode="auto">
          <a:xfrm>
            <a:off x="3200400" y="5638800"/>
            <a:ext cx="2819400" cy="457200"/>
          </a:xfrm>
          <a:prstGeom prst="rect">
            <a:avLst/>
          </a:prstGeom>
          <a:noFill/>
          <a:ln w="6350">
            <a:noFill/>
            <a:miter lim="800000"/>
            <a:headEnd/>
            <a:tailEnd/>
          </a:ln>
        </p:spPr>
        <p:txBody>
          <a:bodyPr>
            <a:spAutoFit/>
          </a:bodyPr>
          <a:lstStyle/>
          <a:p>
            <a:pPr algn="ctr">
              <a:spcBef>
                <a:spcPct val="50000"/>
              </a:spcBef>
            </a:pPr>
            <a:r>
              <a:rPr lang="en-US" sz="2400">
                <a:latin typeface="Times New Roman" pitchFamily="18" charset="0"/>
              </a:rPr>
              <a:t>Testing</a:t>
            </a:r>
          </a:p>
        </p:txBody>
      </p:sp>
      <p:sp>
        <p:nvSpPr>
          <p:cNvPr id="14351" name="Text Box 15"/>
          <p:cNvSpPr txBox="1">
            <a:spLocks noChangeArrowheads="1"/>
          </p:cNvSpPr>
          <p:nvPr/>
        </p:nvSpPr>
        <p:spPr bwMode="auto">
          <a:xfrm>
            <a:off x="304800" y="4953000"/>
            <a:ext cx="2895600" cy="457200"/>
          </a:xfrm>
          <a:prstGeom prst="rect">
            <a:avLst/>
          </a:prstGeom>
          <a:noFill/>
          <a:ln w="6350">
            <a:noFill/>
            <a:miter lim="800000"/>
            <a:headEnd/>
            <a:tailEnd/>
          </a:ln>
        </p:spPr>
        <p:txBody>
          <a:bodyPr>
            <a:spAutoFit/>
          </a:bodyPr>
          <a:lstStyle/>
          <a:p>
            <a:pPr algn="ctr">
              <a:spcBef>
                <a:spcPct val="50000"/>
              </a:spcBef>
            </a:pPr>
            <a:r>
              <a:rPr lang="en-US" sz="2400">
                <a:latin typeface="Times New Roman" pitchFamily="18" charset="0"/>
              </a:rPr>
              <a:t>Implementation</a:t>
            </a:r>
          </a:p>
        </p:txBody>
      </p:sp>
      <p:sp>
        <p:nvSpPr>
          <p:cNvPr id="14352" name="Text Box 16"/>
          <p:cNvSpPr txBox="1">
            <a:spLocks noChangeArrowheads="1"/>
          </p:cNvSpPr>
          <p:nvPr/>
        </p:nvSpPr>
        <p:spPr bwMode="auto">
          <a:xfrm>
            <a:off x="838200" y="3505200"/>
            <a:ext cx="2057400" cy="457200"/>
          </a:xfrm>
          <a:prstGeom prst="rect">
            <a:avLst/>
          </a:prstGeom>
          <a:noFill/>
          <a:ln w="6350">
            <a:noFill/>
            <a:miter lim="800000"/>
            <a:headEnd/>
            <a:tailEnd/>
          </a:ln>
        </p:spPr>
        <p:txBody>
          <a:bodyPr>
            <a:spAutoFit/>
          </a:bodyPr>
          <a:lstStyle/>
          <a:p>
            <a:pPr algn="ctr">
              <a:spcBef>
                <a:spcPct val="50000"/>
              </a:spcBef>
            </a:pPr>
            <a:r>
              <a:rPr lang="en-US" sz="2400">
                <a:latin typeface="Times New Roman" pitchFamily="18" charset="0"/>
              </a:rPr>
              <a:t>Maintenance</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WordArt 2"/>
          <p:cNvSpPr>
            <a:spLocks noChangeArrowheads="1" noChangeShapeType="1" noTextEdit="1"/>
          </p:cNvSpPr>
          <p:nvPr/>
        </p:nvSpPr>
        <p:spPr bwMode="auto">
          <a:xfrm>
            <a:off x="1143000" y="381000"/>
            <a:ext cx="6858000" cy="990600"/>
          </a:xfrm>
          <a:prstGeom prst="rect">
            <a:avLst/>
          </a:prstGeom>
        </p:spPr>
        <p:txBody>
          <a:bodyPr wrap="none" fromWordArt="1">
            <a:prstTxWarp prst="textDeflateTop">
              <a:avLst>
                <a:gd name="adj" fmla="val 46875"/>
              </a:avLst>
            </a:prstTxWarp>
          </a:bodyPr>
          <a:lstStyle/>
          <a:p>
            <a:pPr algn="ctr"/>
            <a:r>
              <a:rPr lang="en-IN"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a:rPr>
              <a:t>APPLICATIONS  OF OOP's</a:t>
            </a:r>
          </a:p>
        </p:txBody>
      </p:sp>
      <p:sp>
        <p:nvSpPr>
          <p:cNvPr id="19459" name="Text Box 3"/>
          <p:cNvSpPr txBox="1">
            <a:spLocks noChangeArrowheads="1"/>
          </p:cNvSpPr>
          <p:nvPr/>
        </p:nvSpPr>
        <p:spPr bwMode="auto">
          <a:xfrm>
            <a:off x="685800" y="1752600"/>
            <a:ext cx="7848600" cy="4241800"/>
          </a:xfrm>
          <a:prstGeom prst="rect">
            <a:avLst/>
          </a:prstGeom>
          <a:noFill/>
          <a:ln w="57150" cmpd="thickThin">
            <a:solidFill>
              <a:srgbClr val="990000"/>
            </a:solidFill>
            <a:miter lim="800000"/>
            <a:headEnd/>
            <a:tailEnd/>
          </a:ln>
        </p:spPr>
        <p:txBody>
          <a:bodyPr>
            <a:spAutoFit/>
          </a:bodyPr>
          <a:lstStyle/>
          <a:p>
            <a:pPr>
              <a:lnSpc>
                <a:spcPct val="145000"/>
              </a:lnSpc>
              <a:spcBef>
                <a:spcPct val="50000"/>
              </a:spcBef>
              <a:buFont typeface="Wingdings" pitchFamily="2" charset="2"/>
              <a:buChar char="ü"/>
            </a:pPr>
            <a:r>
              <a:rPr lang="en-US" sz="2400" b="1">
                <a:solidFill>
                  <a:srgbClr val="800000"/>
                </a:solidFill>
              </a:rPr>
              <a:t>    </a:t>
            </a:r>
            <a:r>
              <a:rPr lang="en-US" sz="2000" b="1">
                <a:solidFill>
                  <a:srgbClr val="800000"/>
                </a:solidFill>
              </a:rPr>
              <a:t>Data acquisition Systems</a:t>
            </a:r>
          </a:p>
          <a:p>
            <a:pPr>
              <a:lnSpc>
                <a:spcPct val="145000"/>
              </a:lnSpc>
              <a:spcBef>
                <a:spcPct val="50000"/>
              </a:spcBef>
              <a:buFont typeface="Wingdings" pitchFamily="2" charset="2"/>
              <a:buChar char="ü"/>
            </a:pPr>
            <a:r>
              <a:rPr lang="en-US" sz="2000" b="1">
                <a:solidFill>
                  <a:srgbClr val="800000"/>
                </a:solidFill>
              </a:rPr>
              <a:t>    Client/Server Computing</a:t>
            </a:r>
          </a:p>
          <a:p>
            <a:pPr>
              <a:lnSpc>
                <a:spcPct val="145000"/>
              </a:lnSpc>
              <a:spcBef>
                <a:spcPct val="50000"/>
              </a:spcBef>
              <a:buFont typeface="Wingdings" pitchFamily="2" charset="2"/>
              <a:buChar char="ü"/>
            </a:pPr>
            <a:r>
              <a:rPr lang="en-US" sz="2000" b="1">
                <a:solidFill>
                  <a:srgbClr val="800000"/>
                </a:solidFill>
              </a:rPr>
              <a:t>    Object –Oriented Database applications</a:t>
            </a:r>
          </a:p>
          <a:p>
            <a:pPr>
              <a:lnSpc>
                <a:spcPct val="145000"/>
              </a:lnSpc>
              <a:spcBef>
                <a:spcPct val="50000"/>
              </a:spcBef>
              <a:buFont typeface="Wingdings" pitchFamily="2" charset="2"/>
              <a:buChar char="ü"/>
            </a:pPr>
            <a:r>
              <a:rPr lang="en-US" sz="2000" b="1">
                <a:solidFill>
                  <a:srgbClr val="800000"/>
                </a:solidFill>
              </a:rPr>
              <a:t>     Artificial Intelligence and expert systems</a:t>
            </a:r>
          </a:p>
          <a:p>
            <a:pPr>
              <a:lnSpc>
                <a:spcPct val="145000"/>
              </a:lnSpc>
              <a:spcBef>
                <a:spcPct val="50000"/>
              </a:spcBef>
              <a:buFont typeface="Wingdings" pitchFamily="2" charset="2"/>
              <a:buChar char="ü"/>
            </a:pPr>
            <a:r>
              <a:rPr lang="en-US" sz="2000" b="1">
                <a:solidFill>
                  <a:srgbClr val="800000"/>
                </a:solidFill>
              </a:rPr>
              <a:t>     systems such as process control, temperature control etc.</a:t>
            </a:r>
          </a:p>
          <a:p>
            <a:pPr>
              <a:lnSpc>
                <a:spcPct val="145000"/>
              </a:lnSpc>
              <a:spcBef>
                <a:spcPct val="50000"/>
              </a:spcBef>
              <a:buFont typeface="Wingdings" pitchFamily="2" charset="2"/>
              <a:buChar char="ü"/>
            </a:pPr>
            <a:r>
              <a:rPr lang="en-US" sz="2000" b="1">
                <a:solidFill>
                  <a:srgbClr val="800000"/>
                </a:solidFill>
              </a:rPr>
              <a:t>     GUI based system such as Windows Applications</a:t>
            </a:r>
          </a:p>
          <a:p>
            <a:pPr>
              <a:lnSpc>
                <a:spcPct val="145000"/>
              </a:lnSpc>
              <a:spcBef>
                <a:spcPct val="50000"/>
              </a:spcBef>
              <a:buFont typeface="Wingdings" pitchFamily="2" charset="2"/>
              <a:buChar char="ü"/>
            </a:pPr>
            <a:r>
              <a:rPr lang="en-US" sz="2000" b="1">
                <a:solidFill>
                  <a:srgbClr val="800000"/>
                </a:solidFill>
              </a:rPr>
              <a:t>     Computer Aided Design and manufacturing Systems</a:t>
            </a:r>
            <a:endParaRPr lang="en-US" sz="1600">
              <a:solidFill>
                <a:srgbClr val="800000"/>
              </a:solidFill>
            </a:endParaRPr>
          </a:p>
        </p:txBody>
      </p:sp>
    </p:spTree>
  </p:cSld>
  <p:clrMapOvr>
    <a:masterClrMapping/>
  </p:clrMapOvr>
  <p:transition spd="med">
    <p:split orient="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1" fill="hold">
                                          <p:stCondLst>
                                            <p:cond delay="0"/>
                                          </p:stCondLst>
                                        </p:cTn>
                                        <p:tgtEl>
                                          <p:spTgt spid="19458"/>
                                        </p:tgtEl>
                                        <p:attrNameLst>
                                          <p:attrName>style.visibility</p:attrName>
                                        </p:attrNameLst>
                                      </p:cBhvr>
                                      <p:to>
                                        <p:strVal val="visible"/>
                                      </p:to>
                                    </p:set>
                                    <p:anim calcmode="lin" valueType="num">
                                      <p:cBhvr>
                                        <p:cTn id="7" dur="1000" fill="hold"/>
                                        <p:tgtEl>
                                          <p:spTgt spid="19458"/>
                                        </p:tgtEl>
                                        <p:attrNameLst>
                                          <p:attrName>ppt_x</p:attrName>
                                        </p:attrNameLst>
                                      </p:cBhvr>
                                      <p:tavLst>
                                        <p:tav tm="0">
                                          <p:val>
                                            <p:strVal val="#ppt_x-.2"/>
                                          </p:val>
                                        </p:tav>
                                        <p:tav tm="100000">
                                          <p:val>
                                            <p:strVal val="#ppt_x"/>
                                          </p:val>
                                        </p:tav>
                                      </p:tavLst>
                                    </p:anim>
                                    <p:anim calcmode="lin" valueType="num">
                                      <p:cBhvr>
                                        <p:cTn id="8" dur="1000" fill="hold"/>
                                        <p:tgtEl>
                                          <p:spTgt spid="19458"/>
                                        </p:tgtEl>
                                        <p:attrNameLst>
                                          <p:attrName>ppt_y</p:attrName>
                                        </p:attrNameLst>
                                      </p:cBhvr>
                                      <p:tavLst>
                                        <p:tav tm="0">
                                          <p:val>
                                            <p:strVal val="#ppt_y"/>
                                          </p:val>
                                        </p:tav>
                                        <p:tav tm="100000">
                                          <p:val>
                                            <p:strVal val="#ppt_y"/>
                                          </p:val>
                                        </p:tav>
                                      </p:tavLst>
                                    </p:anim>
                                    <p:animEffect transition="in" filter="wipe(right)" prLst="gradientSize: 0.1">
                                      <p:cBhvr>
                                        <p:cTn id="9" dur="1000"/>
                                        <p:tgtEl>
                                          <p:spTgt spid="19458"/>
                                        </p:tgtEl>
                                      </p:cBhvr>
                                    </p:animEffect>
                                  </p:childTnLst>
                                </p:cTn>
                              </p:par>
                            </p:childTnLst>
                          </p:cTn>
                        </p:par>
                        <p:par>
                          <p:cTn id="10" fill="hold">
                            <p:stCondLst>
                              <p:cond delay="1000"/>
                            </p:stCondLst>
                            <p:childTnLst>
                              <p:par>
                                <p:cTn id="11" presetID="29" presetClass="entr" presetSubtype="0" fill="hold" grpId="0" nodeType="afterEffect">
                                  <p:stCondLst>
                                    <p:cond delay="0"/>
                                  </p:stCondLst>
                                  <p:childTnLst>
                                    <p:set>
                                      <p:cBhvr>
                                        <p:cTn id="12" dur="1" fill="hold">
                                          <p:stCondLst>
                                            <p:cond delay="0"/>
                                          </p:stCondLst>
                                        </p:cTn>
                                        <p:tgtEl>
                                          <p:spTgt spid="19459"/>
                                        </p:tgtEl>
                                        <p:attrNameLst>
                                          <p:attrName>style.visibility</p:attrName>
                                        </p:attrNameLst>
                                      </p:cBhvr>
                                      <p:to>
                                        <p:strVal val="visible"/>
                                      </p:to>
                                    </p:set>
                                    <p:anim calcmode="lin" valueType="num">
                                      <p:cBhvr>
                                        <p:cTn id="13" dur="1000" fill="hold"/>
                                        <p:tgtEl>
                                          <p:spTgt spid="19459"/>
                                        </p:tgtEl>
                                        <p:attrNameLst>
                                          <p:attrName>ppt_x</p:attrName>
                                        </p:attrNameLst>
                                      </p:cBhvr>
                                      <p:tavLst>
                                        <p:tav tm="0">
                                          <p:val>
                                            <p:strVal val="#ppt_x-.2"/>
                                          </p:val>
                                        </p:tav>
                                        <p:tav tm="100000">
                                          <p:val>
                                            <p:strVal val="#ppt_x"/>
                                          </p:val>
                                        </p:tav>
                                      </p:tavLst>
                                    </p:anim>
                                    <p:anim calcmode="lin" valueType="num">
                                      <p:cBhvr>
                                        <p:cTn id="14" dur="1000" fill="hold"/>
                                        <p:tgtEl>
                                          <p:spTgt spid="19459"/>
                                        </p:tgtEl>
                                        <p:attrNameLst>
                                          <p:attrName>ppt_y</p:attrName>
                                        </p:attrNameLst>
                                      </p:cBhvr>
                                      <p:tavLst>
                                        <p:tav tm="0">
                                          <p:val>
                                            <p:strVal val="#ppt_y"/>
                                          </p:val>
                                        </p:tav>
                                        <p:tav tm="100000">
                                          <p:val>
                                            <p:strVal val="#ppt_y"/>
                                          </p:val>
                                        </p:tav>
                                      </p:tavLst>
                                    </p:anim>
                                    <p:animEffect transition="in" filter="wipe(right)" prLst="gradientSize: 0.1">
                                      <p:cBhvr>
                                        <p:cTn id="15" dur="1000"/>
                                        <p:tgtEl>
                                          <p:spTgt spid="194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8" grpId="0" animBg="1"/>
      <p:bldP spid="19459" grpId="0" animBg="1"/>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Rectangle 2"/>
          <p:cNvSpPr>
            <a:spLocks noGrp="1" noChangeArrowheads="1"/>
          </p:cNvSpPr>
          <p:nvPr>
            <p:ph type="body" idx="1"/>
          </p:nvPr>
        </p:nvSpPr>
        <p:spPr>
          <a:xfrm>
            <a:off x="533400" y="1295400"/>
            <a:ext cx="8229600" cy="5257800"/>
          </a:xfrm>
          <a:ln w="76200" cmpd="tri">
            <a:solidFill>
              <a:schemeClr val="tx1"/>
            </a:solidFill>
          </a:ln>
        </p:spPr>
        <p:txBody>
          <a:bodyPr/>
          <a:lstStyle/>
          <a:p>
            <a:pPr marL="609600" indent="-609600" eaLnBrk="1" hangingPunct="1">
              <a:lnSpc>
                <a:spcPct val="145000"/>
              </a:lnSpc>
              <a:buClr>
                <a:schemeClr val="tx1"/>
              </a:buClr>
              <a:buFontTx/>
              <a:buBlip>
                <a:blip r:embed="rId2"/>
              </a:buBlip>
            </a:pPr>
            <a:r>
              <a:rPr lang="en-US" b="1" smtClean="0">
                <a:solidFill>
                  <a:srgbClr val="800000"/>
                </a:solidFill>
                <a:latin typeface="Times New Roman" pitchFamily="18" charset="0"/>
              </a:rPr>
              <a:t>Class</a:t>
            </a:r>
          </a:p>
          <a:p>
            <a:pPr marL="609600" indent="-609600" eaLnBrk="1" hangingPunct="1">
              <a:lnSpc>
                <a:spcPct val="145000"/>
              </a:lnSpc>
              <a:buClr>
                <a:schemeClr val="tx1"/>
              </a:buClr>
              <a:buFontTx/>
              <a:buBlip>
                <a:blip r:embed="rId2"/>
              </a:buBlip>
            </a:pPr>
            <a:r>
              <a:rPr lang="en-US" b="1" smtClean="0">
                <a:solidFill>
                  <a:srgbClr val="800000"/>
                </a:solidFill>
                <a:latin typeface="Times New Roman" pitchFamily="18" charset="0"/>
              </a:rPr>
              <a:t>Object</a:t>
            </a:r>
          </a:p>
          <a:p>
            <a:pPr marL="609600" indent="-609600" eaLnBrk="1" hangingPunct="1">
              <a:lnSpc>
                <a:spcPct val="145000"/>
              </a:lnSpc>
              <a:buClr>
                <a:schemeClr val="tx1"/>
              </a:buClr>
              <a:buFontTx/>
              <a:buBlip>
                <a:blip r:embed="rId2"/>
              </a:buBlip>
            </a:pPr>
            <a:r>
              <a:rPr lang="en-US" b="1" smtClean="0">
                <a:solidFill>
                  <a:srgbClr val="800000"/>
                </a:solidFill>
                <a:latin typeface="Times New Roman" pitchFamily="18" charset="0"/>
              </a:rPr>
              <a:t>Encapsulation</a:t>
            </a:r>
          </a:p>
          <a:p>
            <a:pPr marL="609600" indent="-609600" eaLnBrk="1" hangingPunct="1">
              <a:lnSpc>
                <a:spcPct val="145000"/>
              </a:lnSpc>
              <a:buClr>
                <a:schemeClr val="tx1"/>
              </a:buClr>
              <a:buFontTx/>
              <a:buBlip>
                <a:blip r:embed="rId2"/>
              </a:buBlip>
            </a:pPr>
            <a:r>
              <a:rPr lang="en-US" b="1" smtClean="0">
                <a:solidFill>
                  <a:srgbClr val="800000"/>
                </a:solidFill>
                <a:latin typeface="Times New Roman" pitchFamily="18" charset="0"/>
              </a:rPr>
              <a:t>Data Abstraction</a:t>
            </a:r>
          </a:p>
          <a:p>
            <a:pPr marL="609600" indent="-609600" eaLnBrk="1" hangingPunct="1">
              <a:lnSpc>
                <a:spcPct val="145000"/>
              </a:lnSpc>
              <a:buClr>
                <a:schemeClr val="tx1"/>
              </a:buClr>
              <a:buFontTx/>
              <a:buBlip>
                <a:blip r:embed="rId2"/>
              </a:buBlip>
            </a:pPr>
            <a:r>
              <a:rPr lang="en-US" b="1" smtClean="0">
                <a:solidFill>
                  <a:srgbClr val="800000"/>
                </a:solidFill>
                <a:latin typeface="Times New Roman" pitchFamily="18" charset="0"/>
              </a:rPr>
              <a:t>Inheritance</a:t>
            </a:r>
          </a:p>
          <a:p>
            <a:pPr marL="609600" indent="-609600" eaLnBrk="1" hangingPunct="1">
              <a:lnSpc>
                <a:spcPct val="145000"/>
              </a:lnSpc>
              <a:buClr>
                <a:schemeClr val="tx1"/>
              </a:buClr>
              <a:buFontTx/>
              <a:buBlip>
                <a:blip r:embed="rId2"/>
              </a:buBlip>
            </a:pPr>
            <a:r>
              <a:rPr lang="en-US" b="1" smtClean="0">
                <a:solidFill>
                  <a:srgbClr val="800000"/>
                </a:solidFill>
                <a:latin typeface="Times New Roman" pitchFamily="18" charset="0"/>
              </a:rPr>
              <a:t>Polymorphism</a:t>
            </a:r>
          </a:p>
        </p:txBody>
      </p:sp>
      <p:sp>
        <p:nvSpPr>
          <p:cNvPr id="20483" name="WordArt 3"/>
          <p:cNvSpPr>
            <a:spLocks noChangeArrowheads="1" noChangeShapeType="1" noTextEdit="1"/>
          </p:cNvSpPr>
          <p:nvPr/>
        </p:nvSpPr>
        <p:spPr bwMode="auto">
          <a:xfrm>
            <a:off x="685800" y="76200"/>
            <a:ext cx="7620000" cy="1143000"/>
          </a:xfrm>
          <a:prstGeom prst="rect">
            <a:avLst/>
          </a:prstGeom>
        </p:spPr>
        <p:txBody>
          <a:bodyPr wrap="none" fromWordArt="1">
            <a:prstTxWarp prst="textInflateTop">
              <a:avLst>
                <a:gd name="adj" fmla="val 31917"/>
              </a:avLst>
            </a:prstTxWarp>
          </a:bodyPr>
          <a:lstStyle/>
          <a:p>
            <a:pPr algn="ctr"/>
            <a:r>
              <a:rPr lang="en-IN"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a:rPr>
              <a:t>Characteristics of Oops</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withEffect">
                                  <p:stCondLst>
                                    <p:cond delay="0"/>
                                  </p:stCondLst>
                                  <p:childTnLst>
                                    <p:set>
                                      <p:cBhvr>
                                        <p:cTn id="6" dur="1" fill="hold">
                                          <p:stCondLst>
                                            <p:cond delay="0"/>
                                          </p:stCondLst>
                                        </p:cTn>
                                        <p:tgtEl>
                                          <p:spTgt spid="20483"/>
                                        </p:tgtEl>
                                        <p:attrNameLst>
                                          <p:attrName>style.visibility</p:attrName>
                                        </p:attrNameLst>
                                      </p:cBhvr>
                                      <p:to>
                                        <p:strVal val="visible"/>
                                      </p:to>
                                    </p:set>
                                    <p:anim calcmode="lin" valueType="num">
                                      <p:cBhvr>
                                        <p:cTn id="7" dur="500" fill="hold"/>
                                        <p:tgtEl>
                                          <p:spTgt spid="20483"/>
                                        </p:tgtEl>
                                        <p:attrNameLst>
                                          <p:attrName>ppt_w</p:attrName>
                                        </p:attrNameLst>
                                      </p:cBhvr>
                                      <p:tavLst>
                                        <p:tav tm="0">
                                          <p:val>
                                            <p:fltVal val="0"/>
                                          </p:val>
                                        </p:tav>
                                        <p:tav tm="100000">
                                          <p:val>
                                            <p:strVal val="#ppt_w"/>
                                          </p:val>
                                        </p:tav>
                                      </p:tavLst>
                                    </p:anim>
                                    <p:anim calcmode="lin" valueType="num">
                                      <p:cBhvr>
                                        <p:cTn id="8" dur="500" fill="hold"/>
                                        <p:tgtEl>
                                          <p:spTgt spid="20483"/>
                                        </p:tgtEl>
                                        <p:attrNameLst>
                                          <p:attrName>ppt_h</p:attrName>
                                        </p:attrNameLst>
                                      </p:cBhvr>
                                      <p:tavLst>
                                        <p:tav tm="0">
                                          <p:val>
                                            <p:fltVal val="0"/>
                                          </p:val>
                                        </p:tav>
                                        <p:tav tm="100000">
                                          <p:val>
                                            <p:strVal val="#ppt_h"/>
                                          </p:val>
                                        </p:tav>
                                      </p:tavLst>
                                    </p:anim>
                                    <p:animEffect transition="in" filter="fade">
                                      <p:cBhvr>
                                        <p:cTn id="9" dur="500"/>
                                        <p:tgtEl>
                                          <p:spTgt spid="20483"/>
                                        </p:tgtEl>
                                      </p:cBhvr>
                                    </p:animEffect>
                                  </p:childTnLst>
                                </p:cTn>
                              </p:par>
                              <p:par>
                                <p:cTn id="10" presetID="37" presetClass="entr" presetSubtype="0" fill="hold" grpId="0" nodeType="withEffect">
                                  <p:stCondLst>
                                    <p:cond delay="0"/>
                                  </p:stCondLst>
                                  <p:iterate type="lt">
                                    <p:tmPct val="0"/>
                                  </p:iterate>
                                  <p:childTnLst>
                                    <p:set>
                                      <p:cBhvr>
                                        <p:cTn id="11" dur="1" fill="hold">
                                          <p:stCondLst>
                                            <p:cond delay="0"/>
                                          </p:stCondLst>
                                        </p:cTn>
                                        <p:tgtEl>
                                          <p:spTgt spid="20482">
                                            <p:txEl>
                                              <p:pRg st="0" end="0"/>
                                            </p:txEl>
                                          </p:spTgt>
                                        </p:tgtEl>
                                        <p:attrNameLst>
                                          <p:attrName>style.visibility</p:attrName>
                                        </p:attrNameLst>
                                      </p:cBhvr>
                                      <p:to>
                                        <p:strVal val="visible"/>
                                      </p:to>
                                    </p:set>
                                    <p:animEffect transition="in" filter="fade">
                                      <p:cBhvr>
                                        <p:cTn id="12" dur="500"/>
                                        <p:tgtEl>
                                          <p:spTgt spid="20482">
                                            <p:txEl>
                                              <p:pRg st="0" end="0"/>
                                            </p:txEl>
                                          </p:spTgt>
                                        </p:tgtEl>
                                      </p:cBhvr>
                                    </p:animEffect>
                                    <p:anim calcmode="lin" valueType="num">
                                      <p:cBhvr>
                                        <p:cTn id="13" dur="500" fill="hold"/>
                                        <p:tgtEl>
                                          <p:spTgt spid="20482">
                                            <p:txEl>
                                              <p:pRg st="0" end="0"/>
                                            </p:txEl>
                                          </p:spTgt>
                                        </p:tgtEl>
                                        <p:attrNameLst>
                                          <p:attrName>ppt_x</p:attrName>
                                        </p:attrNameLst>
                                      </p:cBhvr>
                                      <p:tavLst>
                                        <p:tav tm="0">
                                          <p:val>
                                            <p:strVal val="#ppt_x"/>
                                          </p:val>
                                        </p:tav>
                                        <p:tav tm="100000">
                                          <p:val>
                                            <p:strVal val="#ppt_x"/>
                                          </p:val>
                                        </p:tav>
                                      </p:tavLst>
                                    </p:anim>
                                    <p:anim calcmode="lin" valueType="num">
                                      <p:cBhvr>
                                        <p:cTn id="14" dur="450" decel="100000" fill="hold"/>
                                        <p:tgtEl>
                                          <p:spTgt spid="20482">
                                            <p:txEl>
                                              <p:pRg st="0" end="0"/>
                                            </p:txEl>
                                          </p:spTgt>
                                        </p:tgtEl>
                                        <p:attrNameLst>
                                          <p:attrName>ppt_y</p:attrName>
                                        </p:attrNameLst>
                                      </p:cBhvr>
                                      <p:tavLst>
                                        <p:tav tm="0">
                                          <p:val>
                                            <p:strVal val="#ppt_y+1"/>
                                          </p:val>
                                        </p:tav>
                                        <p:tav tm="100000">
                                          <p:val>
                                            <p:strVal val="#ppt_y-.03"/>
                                          </p:val>
                                        </p:tav>
                                      </p:tavLst>
                                    </p:anim>
                                    <p:anim calcmode="lin" valueType="num">
                                      <p:cBhvr>
                                        <p:cTn id="15" dur="50" accel="100000" fill="hold">
                                          <p:stCondLst>
                                            <p:cond delay="450"/>
                                          </p:stCondLst>
                                        </p:cTn>
                                        <p:tgtEl>
                                          <p:spTgt spid="20482">
                                            <p:txEl>
                                              <p:pRg st="0" end="0"/>
                                            </p:txEl>
                                          </p:spTgt>
                                        </p:tgtEl>
                                        <p:attrNameLst>
                                          <p:attrName>ppt_y</p:attrName>
                                        </p:attrNameLst>
                                      </p:cBhvr>
                                      <p:tavLst>
                                        <p:tav tm="0">
                                          <p:val>
                                            <p:strVal val="#ppt_y-.03"/>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37" presetClass="entr" presetSubtype="0" fill="hold" grpId="0" nodeType="clickEffect">
                                  <p:stCondLst>
                                    <p:cond delay="0"/>
                                  </p:stCondLst>
                                  <p:iterate type="lt">
                                    <p:tmPct val="0"/>
                                  </p:iterate>
                                  <p:childTnLst>
                                    <p:set>
                                      <p:cBhvr>
                                        <p:cTn id="19" dur="1" fill="hold">
                                          <p:stCondLst>
                                            <p:cond delay="0"/>
                                          </p:stCondLst>
                                        </p:cTn>
                                        <p:tgtEl>
                                          <p:spTgt spid="20482">
                                            <p:txEl>
                                              <p:pRg st="1" end="1"/>
                                            </p:txEl>
                                          </p:spTgt>
                                        </p:tgtEl>
                                        <p:attrNameLst>
                                          <p:attrName>style.visibility</p:attrName>
                                        </p:attrNameLst>
                                      </p:cBhvr>
                                      <p:to>
                                        <p:strVal val="visible"/>
                                      </p:to>
                                    </p:set>
                                    <p:animEffect transition="in" filter="fade">
                                      <p:cBhvr>
                                        <p:cTn id="20" dur="500"/>
                                        <p:tgtEl>
                                          <p:spTgt spid="20482">
                                            <p:txEl>
                                              <p:pRg st="1" end="1"/>
                                            </p:txEl>
                                          </p:spTgt>
                                        </p:tgtEl>
                                      </p:cBhvr>
                                    </p:animEffect>
                                    <p:anim calcmode="lin" valueType="num">
                                      <p:cBhvr>
                                        <p:cTn id="21" dur="500" fill="hold"/>
                                        <p:tgtEl>
                                          <p:spTgt spid="20482">
                                            <p:txEl>
                                              <p:pRg st="1" end="1"/>
                                            </p:txEl>
                                          </p:spTgt>
                                        </p:tgtEl>
                                        <p:attrNameLst>
                                          <p:attrName>ppt_x</p:attrName>
                                        </p:attrNameLst>
                                      </p:cBhvr>
                                      <p:tavLst>
                                        <p:tav tm="0">
                                          <p:val>
                                            <p:strVal val="#ppt_x"/>
                                          </p:val>
                                        </p:tav>
                                        <p:tav tm="100000">
                                          <p:val>
                                            <p:strVal val="#ppt_x"/>
                                          </p:val>
                                        </p:tav>
                                      </p:tavLst>
                                    </p:anim>
                                    <p:anim calcmode="lin" valueType="num">
                                      <p:cBhvr>
                                        <p:cTn id="22" dur="450" decel="100000" fill="hold"/>
                                        <p:tgtEl>
                                          <p:spTgt spid="20482">
                                            <p:txEl>
                                              <p:pRg st="1" end="1"/>
                                            </p:txEl>
                                          </p:spTgt>
                                        </p:tgtEl>
                                        <p:attrNameLst>
                                          <p:attrName>ppt_y</p:attrName>
                                        </p:attrNameLst>
                                      </p:cBhvr>
                                      <p:tavLst>
                                        <p:tav tm="0">
                                          <p:val>
                                            <p:strVal val="#ppt_y+1"/>
                                          </p:val>
                                        </p:tav>
                                        <p:tav tm="100000">
                                          <p:val>
                                            <p:strVal val="#ppt_y-.03"/>
                                          </p:val>
                                        </p:tav>
                                      </p:tavLst>
                                    </p:anim>
                                    <p:anim calcmode="lin" valueType="num">
                                      <p:cBhvr>
                                        <p:cTn id="23" dur="50" accel="100000" fill="hold">
                                          <p:stCondLst>
                                            <p:cond delay="450"/>
                                          </p:stCondLst>
                                        </p:cTn>
                                        <p:tgtEl>
                                          <p:spTgt spid="20482">
                                            <p:txEl>
                                              <p:pRg st="1" end="1"/>
                                            </p:txEl>
                                          </p:spTgt>
                                        </p:tgtEl>
                                        <p:attrNameLst>
                                          <p:attrName>ppt_y</p:attrName>
                                        </p:attrNameLst>
                                      </p:cBhvr>
                                      <p:tavLst>
                                        <p:tav tm="0">
                                          <p:val>
                                            <p:strVal val="#ppt_y-.03"/>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37" presetClass="entr" presetSubtype="0" fill="hold" grpId="0" nodeType="clickEffect">
                                  <p:stCondLst>
                                    <p:cond delay="0"/>
                                  </p:stCondLst>
                                  <p:iterate type="lt">
                                    <p:tmPct val="0"/>
                                  </p:iterate>
                                  <p:childTnLst>
                                    <p:set>
                                      <p:cBhvr>
                                        <p:cTn id="27" dur="1" fill="hold">
                                          <p:stCondLst>
                                            <p:cond delay="0"/>
                                          </p:stCondLst>
                                        </p:cTn>
                                        <p:tgtEl>
                                          <p:spTgt spid="20482">
                                            <p:txEl>
                                              <p:pRg st="2" end="2"/>
                                            </p:txEl>
                                          </p:spTgt>
                                        </p:tgtEl>
                                        <p:attrNameLst>
                                          <p:attrName>style.visibility</p:attrName>
                                        </p:attrNameLst>
                                      </p:cBhvr>
                                      <p:to>
                                        <p:strVal val="visible"/>
                                      </p:to>
                                    </p:set>
                                    <p:animEffect transition="in" filter="fade">
                                      <p:cBhvr>
                                        <p:cTn id="28" dur="500"/>
                                        <p:tgtEl>
                                          <p:spTgt spid="20482">
                                            <p:txEl>
                                              <p:pRg st="2" end="2"/>
                                            </p:txEl>
                                          </p:spTgt>
                                        </p:tgtEl>
                                      </p:cBhvr>
                                    </p:animEffect>
                                    <p:anim calcmode="lin" valueType="num">
                                      <p:cBhvr>
                                        <p:cTn id="29" dur="500" fill="hold"/>
                                        <p:tgtEl>
                                          <p:spTgt spid="20482">
                                            <p:txEl>
                                              <p:pRg st="2" end="2"/>
                                            </p:txEl>
                                          </p:spTgt>
                                        </p:tgtEl>
                                        <p:attrNameLst>
                                          <p:attrName>ppt_x</p:attrName>
                                        </p:attrNameLst>
                                      </p:cBhvr>
                                      <p:tavLst>
                                        <p:tav tm="0">
                                          <p:val>
                                            <p:strVal val="#ppt_x"/>
                                          </p:val>
                                        </p:tav>
                                        <p:tav tm="100000">
                                          <p:val>
                                            <p:strVal val="#ppt_x"/>
                                          </p:val>
                                        </p:tav>
                                      </p:tavLst>
                                    </p:anim>
                                    <p:anim calcmode="lin" valueType="num">
                                      <p:cBhvr>
                                        <p:cTn id="30" dur="450" decel="100000" fill="hold"/>
                                        <p:tgtEl>
                                          <p:spTgt spid="20482">
                                            <p:txEl>
                                              <p:pRg st="2" end="2"/>
                                            </p:txEl>
                                          </p:spTgt>
                                        </p:tgtEl>
                                        <p:attrNameLst>
                                          <p:attrName>ppt_y</p:attrName>
                                        </p:attrNameLst>
                                      </p:cBhvr>
                                      <p:tavLst>
                                        <p:tav tm="0">
                                          <p:val>
                                            <p:strVal val="#ppt_y+1"/>
                                          </p:val>
                                        </p:tav>
                                        <p:tav tm="100000">
                                          <p:val>
                                            <p:strVal val="#ppt_y-.03"/>
                                          </p:val>
                                        </p:tav>
                                      </p:tavLst>
                                    </p:anim>
                                    <p:anim calcmode="lin" valueType="num">
                                      <p:cBhvr>
                                        <p:cTn id="31" dur="50" accel="100000" fill="hold">
                                          <p:stCondLst>
                                            <p:cond delay="450"/>
                                          </p:stCondLst>
                                        </p:cTn>
                                        <p:tgtEl>
                                          <p:spTgt spid="20482">
                                            <p:txEl>
                                              <p:pRg st="2" end="2"/>
                                            </p:txEl>
                                          </p:spTgt>
                                        </p:tgtEl>
                                        <p:attrNameLst>
                                          <p:attrName>ppt_y</p:attrName>
                                        </p:attrNameLst>
                                      </p:cBhvr>
                                      <p:tavLst>
                                        <p:tav tm="0">
                                          <p:val>
                                            <p:strVal val="#ppt_y-.03"/>
                                          </p:val>
                                        </p:tav>
                                        <p:tav tm="100000">
                                          <p:val>
                                            <p:strVal val="#ppt_y"/>
                                          </p:val>
                                        </p:tav>
                                      </p:tavLst>
                                    </p:anim>
                                  </p:childTnLst>
                                </p:cTn>
                              </p:par>
                              <p:par>
                                <p:cTn id="32" presetID="37" presetClass="entr" presetSubtype="0" fill="hold" grpId="0" nodeType="withEffect">
                                  <p:stCondLst>
                                    <p:cond delay="0"/>
                                  </p:stCondLst>
                                  <p:iterate type="lt">
                                    <p:tmPct val="0"/>
                                  </p:iterate>
                                  <p:childTnLst>
                                    <p:set>
                                      <p:cBhvr>
                                        <p:cTn id="33" dur="1" fill="hold">
                                          <p:stCondLst>
                                            <p:cond delay="0"/>
                                          </p:stCondLst>
                                        </p:cTn>
                                        <p:tgtEl>
                                          <p:spTgt spid="20482">
                                            <p:txEl>
                                              <p:pRg st="3" end="3"/>
                                            </p:txEl>
                                          </p:spTgt>
                                        </p:tgtEl>
                                        <p:attrNameLst>
                                          <p:attrName>style.visibility</p:attrName>
                                        </p:attrNameLst>
                                      </p:cBhvr>
                                      <p:to>
                                        <p:strVal val="visible"/>
                                      </p:to>
                                    </p:set>
                                    <p:animEffect transition="in" filter="fade">
                                      <p:cBhvr>
                                        <p:cTn id="34" dur="500"/>
                                        <p:tgtEl>
                                          <p:spTgt spid="20482">
                                            <p:txEl>
                                              <p:pRg st="3" end="3"/>
                                            </p:txEl>
                                          </p:spTgt>
                                        </p:tgtEl>
                                      </p:cBhvr>
                                    </p:animEffect>
                                    <p:anim calcmode="lin" valueType="num">
                                      <p:cBhvr>
                                        <p:cTn id="35" dur="500" fill="hold"/>
                                        <p:tgtEl>
                                          <p:spTgt spid="20482">
                                            <p:txEl>
                                              <p:pRg st="3" end="3"/>
                                            </p:txEl>
                                          </p:spTgt>
                                        </p:tgtEl>
                                        <p:attrNameLst>
                                          <p:attrName>ppt_x</p:attrName>
                                        </p:attrNameLst>
                                      </p:cBhvr>
                                      <p:tavLst>
                                        <p:tav tm="0">
                                          <p:val>
                                            <p:strVal val="#ppt_x"/>
                                          </p:val>
                                        </p:tav>
                                        <p:tav tm="100000">
                                          <p:val>
                                            <p:strVal val="#ppt_x"/>
                                          </p:val>
                                        </p:tav>
                                      </p:tavLst>
                                    </p:anim>
                                    <p:anim calcmode="lin" valueType="num">
                                      <p:cBhvr>
                                        <p:cTn id="36" dur="450" decel="100000" fill="hold"/>
                                        <p:tgtEl>
                                          <p:spTgt spid="20482">
                                            <p:txEl>
                                              <p:pRg st="3" end="3"/>
                                            </p:txEl>
                                          </p:spTgt>
                                        </p:tgtEl>
                                        <p:attrNameLst>
                                          <p:attrName>ppt_y</p:attrName>
                                        </p:attrNameLst>
                                      </p:cBhvr>
                                      <p:tavLst>
                                        <p:tav tm="0">
                                          <p:val>
                                            <p:strVal val="#ppt_y+1"/>
                                          </p:val>
                                        </p:tav>
                                        <p:tav tm="100000">
                                          <p:val>
                                            <p:strVal val="#ppt_y-.03"/>
                                          </p:val>
                                        </p:tav>
                                      </p:tavLst>
                                    </p:anim>
                                    <p:anim calcmode="lin" valueType="num">
                                      <p:cBhvr>
                                        <p:cTn id="37" dur="50" accel="100000" fill="hold">
                                          <p:stCondLst>
                                            <p:cond delay="450"/>
                                          </p:stCondLst>
                                        </p:cTn>
                                        <p:tgtEl>
                                          <p:spTgt spid="20482">
                                            <p:txEl>
                                              <p:pRg st="3" end="3"/>
                                            </p:txEl>
                                          </p:spTgt>
                                        </p:tgtEl>
                                        <p:attrNameLst>
                                          <p:attrName>ppt_y</p:attrName>
                                        </p:attrNameLst>
                                      </p:cBhvr>
                                      <p:tavLst>
                                        <p:tav tm="0">
                                          <p:val>
                                            <p:strVal val="#ppt_y-.03"/>
                                          </p:val>
                                        </p:tav>
                                        <p:tav tm="100000">
                                          <p:val>
                                            <p:strVal val="#ppt_y"/>
                                          </p:val>
                                        </p:tav>
                                      </p:tavLst>
                                    </p:anim>
                                  </p:childTnLst>
                                </p:cTn>
                              </p:par>
                              <p:par>
                                <p:cTn id="38" presetID="37" presetClass="entr" presetSubtype="0" fill="hold" grpId="0" nodeType="withEffect">
                                  <p:stCondLst>
                                    <p:cond delay="0"/>
                                  </p:stCondLst>
                                  <p:iterate type="lt">
                                    <p:tmPct val="0"/>
                                  </p:iterate>
                                  <p:childTnLst>
                                    <p:set>
                                      <p:cBhvr>
                                        <p:cTn id="39" dur="1" fill="hold">
                                          <p:stCondLst>
                                            <p:cond delay="0"/>
                                          </p:stCondLst>
                                        </p:cTn>
                                        <p:tgtEl>
                                          <p:spTgt spid="20482">
                                            <p:txEl>
                                              <p:pRg st="4" end="4"/>
                                            </p:txEl>
                                          </p:spTgt>
                                        </p:tgtEl>
                                        <p:attrNameLst>
                                          <p:attrName>style.visibility</p:attrName>
                                        </p:attrNameLst>
                                      </p:cBhvr>
                                      <p:to>
                                        <p:strVal val="visible"/>
                                      </p:to>
                                    </p:set>
                                    <p:animEffect transition="in" filter="fade">
                                      <p:cBhvr>
                                        <p:cTn id="40" dur="500"/>
                                        <p:tgtEl>
                                          <p:spTgt spid="20482">
                                            <p:txEl>
                                              <p:pRg st="4" end="4"/>
                                            </p:txEl>
                                          </p:spTgt>
                                        </p:tgtEl>
                                      </p:cBhvr>
                                    </p:animEffect>
                                    <p:anim calcmode="lin" valueType="num">
                                      <p:cBhvr>
                                        <p:cTn id="41" dur="500" fill="hold"/>
                                        <p:tgtEl>
                                          <p:spTgt spid="20482">
                                            <p:txEl>
                                              <p:pRg st="4" end="4"/>
                                            </p:txEl>
                                          </p:spTgt>
                                        </p:tgtEl>
                                        <p:attrNameLst>
                                          <p:attrName>ppt_x</p:attrName>
                                        </p:attrNameLst>
                                      </p:cBhvr>
                                      <p:tavLst>
                                        <p:tav tm="0">
                                          <p:val>
                                            <p:strVal val="#ppt_x"/>
                                          </p:val>
                                        </p:tav>
                                        <p:tav tm="100000">
                                          <p:val>
                                            <p:strVal val="#ppt_x"/>
                                          </p:val>
                                        </p:tav>
                                      </p:tavLst>
                                    </p:anim>
                                    <p:anim calcmode="lin" valueType="num">
                                      <p:cBhvr>
                                        <p:cTn id="42" dur="450" decel="100000" fill="hold"/>
                                        <p:tgtEl>
                                          <p:spTgt spid="20482">
                                            <p:txEl>
                                              <p:pRg st="4" end="4"/>
                                            </p:txEl>
                                          </p:spTgt>
                                        </p:tgtEl>
                                        <p:attrNameLst>
                                          <p:attrName>ppt_y</p:attrName>
                                        </p:attrNameLst>
                                      </p:cBhvr>
                                      <p:tavLst>
                                        <p:tav tm="0">
                                          <p:val>
                                            <p:strVal val="#ppt_y+1"/>
                                          </p:val>
                                        </p:tav>
                                        <p:tav tm="100000">
                                          <p:val>
                                            <p:strVal val="#ppt_y-.03"/>
                                          </p:val>
                                        </p:tav>
                                      </p:tavLst>
                                    </p:anim>
                                    <p:anim calcmode="lin" valueType="num">
                                      <p:cBhvr>
                                        <p:cTn id="43" dur="50" accel="100000" fill="hold">
                                          <p:stCondLst>
                                            <p:cond delay="450"/>
                                          </p:stCondLst>
                                        </p:cTn>
                                        <p:tgtEl>
                                          <p:spTgt spid="20482">
                                            <p:txEl>
                                              <p:pRg st="4" end="4"/>
                                            </p:txEl>
                                          </p:spTgt>
                                        </p:tgtEl>
                                        <p:attrNameLst>
                                          <p:attrName>ppt_y</p:attrName>
                                        </p:attrNameLst>
                                      </p:cBhvr>
                                      <p:tavLst>
                                        <p:tav tm="0">
                                          <p:val>
                                            <p:strVal val="#ppt_y-.03"/>
                                          </p:val>
                                        </p:tav>
                                        <p:tav tm="100000">
                                          <p:val>
                                            <p:strVal val="#ppt_y"/>
                                          </p:val>
                                        </p:tav>
                                      </p:tavLst>
                                    </p:anim>
                                  </p:childTnLst>
                                </p:cTn>
                              </p:par>
                              <p:par>
                                <p:cTn id="44" presetID="37" presetClass="entr" presetSubtype="0" fill="hold" grpId="0" nodeType="withEffect">
                                  <p:stCondLst>
                                    <p:cond delay="0"/>
                                  </p:stCondLst>
                                  <p:iterate type="lt">
                                    <p:tmPct val="0"/>
                                  </p:iterate>
                                  <p:childTnLst>
                                    <p:set>
                                      <p:cBhvr>
                                        <p:cTn id="45" dur="1" fill="hold">
                                          <p:stCondLst>
                                            <p:cond delay="0"/>
                                          </p:stCondLst>
                                        </p:cTn>
                                        <p:tgtEl>
                                          <p:spTgt spid="20482">
                                            <p:txEl>
                                              <p:pRg st="5" end="5"/>
                                            </p:txEl>
                                          </p:spTgt>
                                        </p:tgtEl>
                                        <p:attrNameLst>
                                          <p:attrName>style.visibility</p:attrName>
                                        </p:attrNameLst>
                                      </p:cBhvr>
                                      <p:to>
                                        <p:strVal val="visible"/>
                                      </p:to>
                                    </p:set>
                                    <p:animEffect transition="in" filter="fade">
                                      <p:cBhvr>
                                        <p:cTn id="46" dur="500"/>
                                        <p:tgtEl>
                                          <p:spTgt spid="20482">
                                            <p:txEl>
                                              <p:pRg st="5" end="5"/>
                                            </p:txEl>
                                          </p:spTgt>
                                        </p:tgtEl>
                                      </p:cBhvr>
                                    </p:animEffect>
                                    <p:anim calcmode="lin" valueType="num">
                                      <p:cBhvr>
                                        <p:cTn id="47" dur="500" fill="hold"/>
                                        <p:tgtEl>
                                          <p:spTgt spid="20482">
                                            <p:txEl>
                                              <p:pRg st="5" end="5"/>
                                            </p:txEl>
                                          </p:spTgt>
                                        </p:tgtEl>
                                        <p:attrNameLst>
                                          <p:attrName>ppt_x</p:attrName>
                                        </p:attrNameLst>
                                      </p:cBhvr>
                                      <p:tavLst>
                                        <p:tav tm="0">
                                          <p:val>
                                            <p:strVal val="#ppt_x"/>
                                          </p:val>
                                        </p:tav>
                                        <p:tav tm="100000">
                                          <p:val>
                                            <p:strVal val="#ppt_x"/>
                                          </p:val>
                                        </p:tav>
                                      </p:tavLst>
                                    </p:anim>
                                    <p:anim calcmode="lin" valueType="num">
                                      <p:cBhvr>
                                        <p:cTn id="48" dur="450" decel="100000" fill="hold"/>
                                        <p:tgtEl>
                                          <p:spTgt spid="20482">
                                            <p:txEl>
                                              <p:pRg st="5" end="5"/>
                                            </p:txEl>
                                          </p:spTgt>
                                        </p:tgtEl>
                                        <p:attrNameLst>
                                          <p:attrName>ppt_y</p:attrName>
                                        </p:attrNameLst>
                                      </p:cBhvr>
                                      <p:tavLst>
                                        <p:tav tm="0">
                                          <p:val>
                                            <p:strVal val="#ppt_y+1"/>
                                          </p:val>
                                        </p:tav>
                                        <p:tav tm="100000">
                                          <p:val>
                                            <p:strVal val="#ppt_y-.03"/>
                                          </p:val>
                                        </p:tav>
                                      </p:tavLst>
                                    </p:anim>
                                    <p:anim calcmode="lin" valueType="num">
                                      <p:cBhvr>
                                        <p:cTn id="49" dur="50" accel="100000" fill="hold">
                                          <p:stCondLst>
                                            <p:cond delay="450"/>
                                          </p:stCondLst>
                                        </p:cTn>
                                        <p:tgtEl>
                                          <p:spTgt spid="20482">
                                            <p:txEl>
                                              <p:pRg st="5" end="5"/>
                                            </p:txEl>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build="p"/>
      <p:bldP spid="20483" grpId="0" animBg="1"/>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body" idx="1"/>
          </p:nvPr>
        </p:nvSpPr>
        <p:spPr>
          <a:xfrm>
            <a:off x="188913" y="1828800"/>
            <a:ext cx="8802687" cy="4383088"/>
          </a:xfrm>
          <a:ln>
            <a:solidFill>
              <a:srgbClr val="CC3300"/>
            </a:solidFill>
          </a:ln>
        </p:spPr>
        <p:txBody>
          <a:bodyPr/>
          <a:lstStyle/>
          <a:p>
            <a:pPr marL="0" indent="0" algn="just" eaLnBrk="1" hangingPunct="1">
              <a:spcBef>
                <a:spcPct val="0"/>
              </a:spcBef>
              <a:buFont typeface="Wingdings" pitchFamily="2" charset="2"/>
              <a:buNone/>
            </a:pPr>
            <a:r>
              <a:rPr lang="en-US" sz="3600" b="1" smtClean="0">
                <a:solidFill>
                  <a:srgbClr val="800000"/>
                </a:solidFill>
                <a:latin typeface="Times New Roman" pitchFamily="18" charset="0"/>
              </a:rPr>
              <a:t>	Grouping of data and functions into a single entity is known as Data Encapsulation</a:t>
            </a:r>
          </a:p>
          <a:p>
            <a:pPr marL="0" indent="0" algn="just" eaLnBrk="1" hangingPunct="1">
              <a:lnSpc>
                <a:spcPct val="90000"/>
              </a:lnSpc>
              <a:buFontTx/>
              <a:buNone/>
            </a:pPr>
            <a:r>
              <a:rPr lang="en-US" sz="2400" b="1" smtClean="0">
                <a:solidFill>
                  <a:srgbClr val="800000"/>
                </a:solidFill>
              </a:rPr>
              <a:t>		</a:t>
            </a:r>
          </a:p>
          <a:p>
            <a:pPr marL="0" indent="0" algn="just" eaLnBrk="1" hangingPunct="1">
              <a:lnSpc>
                <a:spcPct val="90000"/>
              </a:lnSpc>
              <a:buFontTx/>
              <a:buNone/>
            </a:pPr>
            <a:r>
              <a:rPr lang="en-US" sz="4000" b="1" smtClean="0">
                <a:solidFill>
                  <a:srgbClr val="800000"/>
                </a:solidFill>
                <a:latin typeface="Times New Roman" pitchFamily="18" charset="0"/>
              </a:rPr>
              <a:t>	It is a technical name for information hiding. (i.e data hiding or data security)</a:t>
            </a:r>
          </a:p>
        </p:txBody>
      </p:sp>
      <p:sp>
        <p:nvSpPr>
          <p:cNvPr id="21507" name="WordArt 3"/>
          <p:cNvSpPr>
            <a:spLocks noChangeArrowheads="1" noChangeShapeType="1" noTextEdit="1"/>
          </p:cNvSpPr>
          <p:nvPr/>
        </p:nvSpPr>
        <p:spPr bwMode="auto">
          <a:xfrm>
            <a:off x="1905000" y="381000"/>
            <a:ext cx="5638800" cy="914400"/>
          </a:xfrm>
          <a:prstGeom prst="rect">
            <a:avLst/>
          </a:prstGeom>
        </p:spPr>
        <p:txBody>
          <a:bodyPr wrap="none" fromWordArt="1">
            <a:prstTxWarp prst="textPlain">
              <a:avLst>
                <a:gd name="adj" fmla="val 50000"/>
              </a:avLst>
            </a:prstTxWarp>
          </a:bodyPr>
          <a:lstStyle/>
          <a:p>
            <a:pPr algn="ctr"/>
            <a:r>
              <a:rPr lang="en-IN"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a:rPr>
              <a:t>Encapsulation</a:t>
            </a: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withEffect">
                                  <p:stCondLst>
                                    <p:cond delay="0"/>
                                  </p:stCondLst>
                                  <p:childTnLst>
                                    <p:set>
                                      <p:cBhvr>
                                        <p:cTn id="6" dur="1" fill="hold">
                                          <p:stCondLst>
                                            <p:cond delay="0"/>
                                          </p:stCondLst>
                                        </p:cTn>
                                        <p:tgtEl>
                                          <p:spTgt spid="21507"/>
                                        </p:tgtEl>
                                        <p:attrNameLst>
                                          <p:attrName>style.visibility</p:attrName>
                                        </p:attrNameLst>
                                      </p:cBhvr>
                                      <p:to>
                                        <p:strVal val="visible"/>
                                      </p:to>
                                    </p:set>
                                    <p:anim calcmode="lin" valueType="num">
                                      <p:cBhvr additive="base">
                                        <p:cTn id="7" dur="500" fill="hold"/>
                                        <p:tgtEl>
                                          <p:spTgt spid="21507"/>
                                        </p:tgtEl>
                                        <p:attrNameLst>
                                          <p:attrName>ppt_x</p:attrName>
                                        </p:attrNameLst>
                                      </p:cBhvr>
                                      <p:tavLst>
                                        <p:tav tm="0">
                                          <p:val>
                                            <p:strVal val="0-#ppt_w/2"/>
                                          </p:val>
                                        </p:tav>
                                        <p:tav tm="100000">
                                          <p:val>
                                            <p:strVal val="#ppt_x"/>
                                          </p:val>
                                        </p:tav>
                                      </p:tavLst>
                                    </p:anim>
                                    <p:anim calcmode="lin" valueType="num">
                                      <p:cBhvr additive="base">
                                        <p:cTn id="8" dur="500" fill="hold"/>
                                        <p:tgtEl>
                                          <p:spTgt spid="21507"/>
                                        </p:tgtEl>
                                        <p:attrNameLst>
                                          <p:attrName>ppt_y</p:attrName>
                                        </p:attrNameLst>
                                      </p:cBhvr>
                                      <p:tavLst>
                                        <p:tav tm="0">
                                          <p:val>
                                            <p:strVal val="0-#ppt_h/2"/>
                                          </p:val>
                                        </p:tav>
                                        <p:tav tm="100000">
                                          <p:val>
                                            <p:strVal val="#ppt_y"/>
                                          </p:val>
                                        </p:tav>
                                      </p:tavLst>
                                    </p:anim>
                                  </p:childTnLst>
                                </p:cTn>
                              </p:par>
                              <p:par>
                                <p:cTn id="9" presetID="15" presetClass="entr" presetSubtype="0" fill="hold" grpId="0" nodeType="withEffect">
                                  <p:stCondLst>
                                    <p:cond delay="0"/>
                                  </p:stCondLst>
                                  <p:childTnLst>
                                    <p:set>
                                      <p:cBhvr>
                                        <p:cTn id="10" dur="1" fill="hold">
                                          <p:stCondLst>
                                            <p:cond delay="0"/>
                                          </p:stCondLst>
                                        </p:cTn>
                                        <p:tgtEl>
                                          <p:spTgt spid="21506">
                                            <p:txEl>
                                              <p:pRg st="0" end="0"/>
                                            </p:txEl>
                                          </p:spTgt>
                                        </p:tgtEl>
                                        <p:attrNameLst>
                                          <p:attrName>style.visibility</p:attrName>
                                        </p:attrNameLst>
                                      </p:cBhvr>
                                      <p:to>
                                        <p:strVal val="visible"/>
                                      </p:to>
                                    </p:set>
                                    <p:anim calcmode="lin" valueType="num">
                                      <p:cBhvr>
                                        <p:cTn id="11" dur="1000" fill="hold"/>
                                        <p:tgtEl>
                                          <p:spTgt spid="21506">
                                            <p:txEl>
                                              <p:pRg st="0" end="0"/>
                                            </p:txEl>
                                          </p:spTgt>
                                        </p:tgtEl>
                                        <p:attrNameLst>
                                          <p:attrName>ppt_w</p:attrName>
                                        </p:attrNameLst>
                                      </p:cBhvr>
                                      <p:tavLst>
                                        <p:tav tm="0">
                                          <p:val>
                                            <p:fltVal val="0"/>
                                          </p:val>
                                        </p:tav>
                                        <p:tav tm="100000">
                                          <p:val>
                                            <p:strVal val="#ppt_w"/>
                                          </p:val>
                                        </p:tav>
                                      </p:tavLst>
                                    </p:anim>
                                    <p:anim calcmode="lin" valueType="num">
                                      <p:cBhvr>
                                        <p:cTn id="12" dur="1000" fill="hold"/>
                                        <p:tgtEl>
                                          <p:spTgt spid="21506">
                                            <p:txEl>
                                              <p:pRg st="0" end="0"/>
                                            </p:txEl>
                                          </p:spTgt>
                                        </p:tgtEl>
                                        <p:attrNameLst>
                                          <p:attrName>ppt_h</p:attrName>
                                        </p:attrNameLst>
                                      </p:cBhvr>
                                      <p:tavLst>
                                        <p:tav tm="0">
                                          <p:val>
                                            <p:fltVal val="0"/>
                                          </p:val>
                                        </p:tav>
                                        <p:tav tm="100000">
                                          <p:val>
                                            <p:strVal val="#ppt_h"/>
                                          </p:val>
                                        </p:tav>
                                      </p:tavLst>
                                    </p:anim>
                                    <p:anim calcmode="lin" valueType="num">
                                      <p:cBhvr>
                                        <p:cTn id="13" dur="1000" fill="hold"/>
                                        <p:tgtEl>
                                          <p:spTgt spid="21506">
                                            <p:txEl>
                                              <p:pRg st="0" end="0"/>
                                            </p:txEl>
                                          </p:spTgt>
                                        </p:tgtEl>
                                        <p:attrNameLst>
                                          <p:attrName>ppt_x</p:attrName>
                                        </p:attrNameLst>
                                      </p:cBhvr>
                                      <p:tavLst>
                                        <p:tav tm="0" fmla="#ppt_x+(cos(-2*pi*(1-$))*-#ppt_x-sin(-2*pi*(1-$))*(1-#ppt_y))*(1-$)">
                                          <p:val>
                                            <p:fltVal val="0"/>
                                          </p:val>
                                        </p:tav>
                                        <p:tav tm="100000">
                                          <p:val>
                                            <p:fltVal val="1"/>
                                          </p:val>
                                        </p:tav>
                                      </p:tavLst>
                                    </p:anim>
                                    <p:anim calcmode="lin" valueType="num">
                                      <p:cBhvr>
                                        <p:cTn id="14" dur="1000" fill="hold"/>
                                        <p:tgtEl>
                                          <p:spTgt spid="21506">
                                            <p:txEl>
                                              <p:pRg st="0" end="0"/>
                                            </p:txEl>
                                          </p:spTgt>
                                        </p:tgtEl>
                                        <p:attrNameLst>
                                          <p:attrName>ppt_y</p:attrName>
                                        </p:attrNameLst>
                                      </p:cBhvr>
                                      <p:tavLst>
                                        <p:tav tm="0" fmla="#ppt_y+(sin(-2*pi*(1-$))*-#ppt_x+cos(-2*pi*(1-$))*(1-#ppt_y))*(1-$)">
                                          <p:val>
                                            <p:fltVal val="0"/>
                                          </p:val>
                                        </p:tav>
                                        <p:tav tm="100000">
                                          <p:val>
                                            <p:fltVal val="1"/>
                                          </p:val>
                                        </p:tav>
                                      </p:tavLst>
                                    </p:anim>
                                  </p:childTnLst>
                                </p:cTn>
                              </p:par>
                              <p:par>
                                <p:cTn id="15" presetID="15" presetClass="entr" presetSubtype="0" fill="hold" grpId="0" nodeType="withEffect">
                                  <p:stCondLst>
                                    <p:cond delay="0"/>
                                  </p:stCondLst>
                                  <p:childTnLst>
                                    <p:set>
                                      <p:cBhvr>
                                        <p:cTn id="16" dur="1" fill="hold">
                                          <p:stCondLst>
                                            <p:cond delay="0"/>
                                          </p:stCondLst>
                                        </p:cTn>
                                        <p:tgtEl>
                                          <p:spTgt spid="21506">
                                            <p:txEl>
                                              <p:pRg st="1" end="1"/>
                                            </p:txEl>
                                          </p:spTgt>
                                        </p:tgtEl>
                                        <p:attrNameLst>
                                          <p:attrName>style.visibility</p:attrName>
                                        </p:attrNameLst>
                                      </p:cBhvr>
                                      <p:to>
                                        <p:strVal val="visible"/>
                                      </p:to>
                                    </p:set>
                                    <p:anim calcmode="lin" valueType="num">
                                      <p:cBhvr>
                                        <p:cTn id="17" dur="1000" fill="hold"/>
                                        <p:tgtEl>
                                          <p:spTgt spid="21506">
                                            <p:txEl>
                                              <p:pRg st="1" end="1"/>
                                            </p:txEl>
                                          </p:spTgt>
                                        </p:tgtEl>
                                        <p:attrNameLst>
                                          <p:attrName>ppt_w</p:attrName>
                                        </p:attrNameLst>
                                      </p:cBhvr>
                                      <p:tavLst>
                                        <p:tav tm="0">
                                          <p:val>
                                            <p:fltVal val="0"/>
                                          </p:val>
                                        </p:tav>
                                        <p:tav tm="100000">
                                          <p:val>
                                            <p:strVal val="#ppt_w"/>
                                          </p:val>
                                        </p:tav>
                                      </p:tavLst>
                                    </p:anim>
                                    <p:anim calcmode="lin" valueType="num">
                                      <p:cBhvr>
                                        <p:cTn id="18" dur="1000" fill="hold"/>
                                        <p:tgtEl>
                                          <p:spTgt spid="21506">
                                            <p:txEl>
                                              <p:pRg st="1" end="1"/>
                                            </p:txEl>
                                          </p:spTgt>
                                        </p:tgtEl>
                                        <p:attrNameLst>
                                          <p:attrName>ppt_h</p:attrName>
                                        </p:attrNameLst>
                                      </p:cBhvr>
                                      <p:tavLst>
                                        <p:tav tm="0">
                                          <p:val>
                                            <p:fltVal val="0"/>
                                          </p:val>
                                        </p:tav>
                                        <p:tav tm="100000">
                                          <p:val>
                                            <p:strVal val="#ppt_h"/>
                                          </p:val>
                                        </p:tav>
                                      </p:tavLst>
                                    </p:anim>
                                    <p:anim calcmode="lin" valueType="num">
                                      <p:cBhvr>
                                        <p:cTn id="19" dur="1000" fill="hold"/>
                                        <p:tgtEl>
                                          <p:spTgt spid="21506">
                                            <p:txEl>
                                              <p:pRg st="1" end="1"/>
                                            </p:txEl>
                                          </p:spTgt>
                                        </p:tgtEl>
                                        <p:attrNameLst>
                                          <p:attrName>ppt_x</p:attrName>
                                        </p:attrNameLst>
                                      </p:cBhvr>
                                      <p:tavLst>
                                        <p:tav tm="0" fmla="#ppt_x+(cos(-2*pi*(1-$))*-#ppt_x-sin(-2*pi*(1-$))*(1-#ppt_y))*(1-$)">
                                          <p:val>
                                            <p:fltVal val="0"/>
                                          </p:val>
                                        </p:tav>
                                        <p:tav tm="100000">
                                          <p:val>
                                            <p:fltVal val="1"/>
                                          </p:val>
                                        </p:tav>
                                      </p:tavLst>
                                    </p:anim>
                                    <p:anim calcmode="lin" valueType="num">
                                      <p:cBhvr>
                                        <p:cTn id="20" dur="1000" fill="hold"/>
                                        <p:tgtEl>
                                          <p:spTgt spid="21506">
                                            <p:txEl>
                                              <p:pRg st="1" end="1"/>
                                            </p:txEl>
                                          </p:spTgt>
                                        </p:tgtEl>
                                        <p:attrNameLst>
                                          <p:attrName>ppt_y</p:attrName>
                                        </p:attrNameLst>
                                      </p:cBhvr>
                                      <p:tavLst>
                                        <p:tav tm="0" fmla="#ppt_y+(sin(-2*pi*(1-$))*-#ppt_x+cos(-2*pi*(1-$))*(1-#ppt_y))*(1-$)">
                                          <p:val>
                                            <p:fltVal val="0"/>
                                          </p:val>
                                        </p:tav>
                                        <p:tav tm="100000">
                                          <p:val>
                                            <p:fltVal val="1"/>
                                          </p:val>
                                        </p:tav>
                                      </p:tavLst>
                                    </p:anim>
                                  </p:childTnLst>
                                </p:cTn>
                              </p:par>
                              <p:par>
                                <p:cTn id="21" presetID="15" presetClass="entr" presetSubtype="0" fill="hold" grpId="0" nodeType="withEffect">
                                  <p:stCondLst>
                                    <p:cond delay="0"/>
                                  </p:stCondLst>
                                  <p:childTnLst>
                                    <p:set>
                                      <p:cBhvr>
                                        <p:cTn id="22" dur="1" fill="hold">
                                          <p:stCondLst>
                                            <p:cond delay="0"/>
                                          </p:stCondLst>
                                        </p:cTn>
                                        <p:tgtEl>
                                          <p:spTgt spid="21506">
                                            <p:txEl>
                                              <p:pRg st="2" end="2"/>
                                            </p:txEl>
                                          </p:spTgt>
                                        </p:tgtEl>
                                        <p:attrNameLst>
                                          <p:attrName>style.visibility</p:attrName>
                                        </p:attrNameLst>
                                      </p:cBhvr>
                                      <p:to>
                                        <p:strVal val="visible"/>
                                      </p:to>
                                    </p:set>
                                    <p:anim calcmode="lin" valueType="num">
                                      <p:cBhvr>
                                        <p:cTn id="23" dur="1000" fill="hold"/>
                                        <p:tgtEl>
                                          <p:spTgt spid="21506">
                                            <p:txEl>
                                              <p:pRg st="2" end="2"/>
                                            </p:txEl>
                                          </p:spTgt>
                                        </p:tgtEl>
                                        <p:attrNameLst>
                                          <p:attrName>ppt_w</p:attrName>
                                        </p:attrNameLst>
                                      </p:cBhvr>
                                      <p:tavLst>
                                        <p:tav tm="0">
                                          <p:val>
                                            <p:fltVal val="0"/>
                                          </p:val>
                                        </p:tav>
                                        <p:tav tm="100000">
                                          <p:val>
                                            <p:strVal val="#ppt_w"/>
                                          </p:val>
                                        </p:tav>
                                      </p:tavLst>
                                    </p:anim>
                                    <p:anim calcmode="lin" valueType="num">
                                      <p:cBhvr>
                                        <p:cTn id="24" dur="1000" fill="hold"/>
                                        <p:tgtEl>
                                          <p:spTgt spid="21506">
                                            <p:txEl>
                                              <p:pRg st="2" end="2"/>
                                            </p:txEl>
                                          </p:spTgt>
                                        </p:tgtEl>
                                        <p:attrNameLst>
                                          <p:attrName>ppt_h</p:attrName>
                                        </p:attrNameLst>
                                      </p:cBhvr>
                                      <p:tavLst>
                                        <p:tav tm="0">
                                          <p:val>
                                            <p:fltVal val="0"/>
                                          </p:val>
                                        </p:tav>
                                        <p:tav tm="100000">
                                          <p:val>
                                            <p:strVal val="#ppt_h"/>
                                          </p:val>
                                        </p:tav>
                                      </p:tavLst>
                                    </p:anim>
                                    <p:anim calcmode="lin" valueType="num">
                                      <p:cBhvr>
                                        <p:cTn id="25" dur="1000" fill="hold"/>
                                        <p:tgtEl>
                                          <p:spTgt spid="21506">
                                            <p:txEl>
                                              <p:pRg st="2" end="2"/>
                                            </p:txEl>
                                          </p:spTgt>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21506">
                                            <p:txEl>
                                              <p:pRg st="2" end="2"/>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6" grpId="0" build="p" autoUpdateAnimBg="0"/>
      <p:bldP spid="2150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ChangeArrowheads="1"/>
          </p:cNvSpPr>
          <p:nvPr/>
        </p:nvSpPr>
        <p:spPr bwMode="auto">
          <a:xfrm>
            <a:off x="693738" y="381000"/>
            <a:ext cx="7793037" cy="1143000"/>
          </a:xfrm>
          <a:prstGeom prst="rect">
            <a:avLst/>
          </a:prstGeom>
          <a:noFill/>
          <a:ln w="9525">
            <a:noFill/>
            <a:miter lim="800000"/>
            <a:headEnd/>
            <a:tailEnd/>
          </a:ln>
        </p:spPr>
        <p:txBody>
          <a:bodyPr anchor="b"/>
          <a:lstStyle/>
          <a:p>
            <a:pPr algn="ctr"/>
            <a:r>
              <a:rPr lang="en-US" sz="4400" b="1">
                <a:solidFill>
                  <a:schemeClr val="accent2"/>
                </a:solidFill>
                <a:latin typeface="Times New Roman" pitchFamily="18" charset="0"/>
              </a:rPr>
              <a:t>Encapsulation </a:t>
            </a:r>
          </a:p>
        </p:txBody>
      </p:sp>
      <p:sp>
        <p:nvSpPr>
          <p:cNvPr id="18435" name="AutoShape 3"/>
          <p:cNvSpPr>
            <a:spLocks noChangeArrowheads="1"/>
          </p:cNvSpPr>
          <p:nvPr/>
        </p:nvSpPr>
        <p:spPr bwMode="auto">
          <a:xfrm>
            <a:off x="5105400" y="2201863"/>
            <a:ext cx="2590800" cy="3733800"/>
          </a:xfrm>
          <a:prstGeom prst="cube">
            <a:avLst>
              <a:gd name="adj" fmla="val 25000"/>
            </a:avLst>
          </a:prstGeom>
          <a:solidFill>
            <a:schemeClr val="bg1"/>
          </a:solidFill>
          <a:ln w="38100">
            <a:solidFill>
              <a:schemeClr val="tx1"/>
            </a:solidFill>
            <a:miter lim="800000"/>
            <a:headEnd/>
            <a:tailEnd/>
          </a:ln>
        </p:spPr>
        <p:txBody>
          <a:bodyPr wrap="none" anchor="ctr"/>
          <a:lstStyle/>
          <a:p>
            <a:endParaRPr lang="en-US"/>
          </a:p>
        </p:txBody>
      </p:sp>
      <p:sp>
        <p:nvSpPr>
          <p:cNvPr id="18436" name="AutoShape 4"/>
          <p:cNvSpPr>
            <a:spLocks noChangeArrowheads="1"/>
          </p:cNvSpPr>
          <p:nvPr/>
        </p:nvSpPr>
        <p:spPr bwMode="auto">
          <a:xfrm>
            <a:off x="5410200" y="3268663"/>
            <a:ext cx="1371600" cy="914400"/>
          </a:xfrm>
          <a:prstGeom prst="cube">
            <a:avLst>
              <a:gd name="adj" fmla="val 25000"/>
            </a:avLst>
          </a:prstGeom>
          <a:solidFill>
            <a:schemeClr val="accent1"/>
          </a:solidFill>
          <a:ln w="38100">
            <a:solidFill>
              <a:schemeClr val="tx1"/>
            </a:solidFill>
            <a:miter lim="800000"/>
            <a:headEnd/>
            <a:tailEnd/>
          </a:ln>
        </p:spPr>
        <p:txBody>
          <a:bodyPr wrap="none" anchor="ctr"/>
          <a:lstStyle/>
          <a:p>
            <a:endParaRPr lang="en-US"/>
          </a:p>
        </p:txBody>
      </p:sp>
      <p:sp>
        <p:nvSpPr>
          <p:cNvPr id="18437" name="AutoShape 5"/>
          <p:cNvSpPr>
            <a:spLocks noChangeArrowheads="1"/>
          </p:cNvSpPr>
          <p:nvPr/>
        </p:nvSpPr>
        <p:spPr bwMode="auto">
          <a:xfrm>
            <a:off x="5410200" y="4564063"/>
            <a:ext cx="1371600" cy="990600"/>
          </a:xfrm>
          <a:prstGeom prst="cube">
            <a:avLst>
              <a:gd name="adj" fmla="val 25000"/>
            </a:avLst>
          </a:prstGeom>
          <a:solidFill>
            <a:schemeClr val="bg1"/>
          </a:solidFill>
          <a:ln w="38100">
            <a:solidFill>
              <a:schemeClr val="tx1"/>
            </a:solidFill>
            <a:miter lim="800000"/>
            <a:headEnd/>
            <a:tailEnd/>
          </a:ln>
        </p:spPr>
        <p:txBody>
          <a:bodyPr wrap="none" anchor="ctr"/>
          <a:lstStyle/>
          <a:p>
            <a:endParaRPr lang="en-US"/>
          </a:p>
        </p:txBody>
      </p:sp>
      <p:sp>
        <p:nvSpPr>
          <p:cNvPr id="18438" name="Text Box 6"/>
          <p:cNvSpPr txBox="1">
            <a:spLocks noChangeArrowheads="1"/>
          </p:cNvSpPr>
          <p:nvPr/>
        </p:nvSpPr>
        <p:spPr bwMode="auto">
          <a:xfrm>
            <a:off x="1600200" y="3649663"/>
            <a:ext cx="3124200" cy="822325"/>
          </a:xfrm>
          <a:prstGeom prst="rect">
            <a:avLst/>
          </a:prstGeom>
          <a:noFill/>
          <a:ln w="9525">
            <a:noFill/>
            <a:miter lim="800000"/>
            <a:headEnd/>
            <a:tailEnd/>
          </a:ln>
        </p:spPr>
        <p:txBody>
          <a:bodyPr>
            <a:spAutoFit/>
          </a:bodyPr>
          <a:lstStyle/>
          <a:p>
            <a:pPr>
              <a:spcBef>
                <a:spcPct val="50000"/>
              </a:spcBef>
            </a:pPr>
            <a:r>
              <a:rPr lang="en-US" sz="2400" b="1">
                <a:solidFill>
                  <a:schemeClr val="accent2"/>
                </a:solidFill>
                <a:latin typeface="Times New Roman" pitchFamily="18" charset="0"/>
              </a:rPr>
              <a:t>Not accessible from outside class</a:t>
            </a:r>
          </a:p>
        </p:txBody>
      </p:sp>
      <p:sp>
        <p:nvSpPr>
          <p:cNvPr id="18439" name="Text Box 7"/>
          <p:cNvSpPr txBox="1">
            <a:spLocks noChangeArrowheads="1"/>
          </p:cNvSpPr>
          <p:nvPr/>
        </p:nvSpPr>
        <p:spPr bwMode="auto">
          <a:xfrm>
            <a:off x="1600200" y="4945063"/>
            <a:ext cx="3733800" cy="1370012"/>
          </a:xfrm>
          <a:prstGeom prst="rect">
            <a:avLst/>
          </a:prstGeom>
          <a:noFill/>
          <a:ln w="9525">
            <a:noFill/>
            <a:miter lim="800000"/>
            <a:headEnd/>
            <a:tailEnd/>
          </a:ln>
        </p:spPr>
        <p:txBody>
          <a:bodyPr>
            <a:spAutoFit/>
          </a:bodyPr>
          <a:lstStyle/>
          <a:p>
            <a:pPr>
              <a:spcBef>
                <a:spcPct val="50000"/>
              </a:spcBef>
            </a:pPr>
            <a:r>
              <a:rPr lang="en-US" sz="2400" b="1">
                <a:solidFill>
                  <a:schemeClr val="accent2"/>
                </a:solidFill>
                <a:latin typeface="Times New Roman" pitchFamily="18" charset="0"/>
              </a:rPr>
              <a:t>Accessible from outside class</a:t>
            </a:r>
          </a:p>
          <a:p>
            <a:pPr>
              <a:spcBef>
                <a:spcPct val="50000"/>
              </a:spcBef>
            </a:pPr>
            <a:endParaRPr lang="en-US" sz="2400" b="1">
              <a:solidFill>
                <a:schemeClr val="accent2"/>
              </a:solidFill>
              <a:latin typeface="Times New Roman" pitchFamily="18" charset="0"/>
            </a:endParaRPr>
          </a:p>
        </p:txBody>
      </p:sp>
      <p:sp>
        <p:nvSpPr>
          <p:cNvPr id="18440" name="Line 8"/>
          <p:cNvSpPr>
            <a:spLocks noChangeShapeType="1"/>
          </p:cNvSpPr>
          <p:nvPr/>
        </p:nvSpPr>
        <p:spPr bwMode="auto">
          <a:xfrm>
            <a:off x="4267200" y="3878263"/>
            <a:ext cx="990600" cy="0"/>
          </a:xfrm>
          <a:prstGeom prst="line">
            <a:avLst/>
          </a:prstGeom>
          <a:noFill/>
          <a:ln w="38100">
            <a:solidFill>
              <a:schemeClr val="tx1"/>
            </a:solidFill>
            <a:miter lim="800000"/>
            <a:headEnd/>
            <a:tailEnd type="triangle" w="med" len="med"/>
          </a:ln>
        </p:spPr>
        <p:txBody>
          <a:bodyPr wrap="none"/>
          <a:lstStyle/>
          <a:p>
            <a:endParaRPr lang="en-IN"/>
          </a:p>
        </p:txBody>
      </p:sp>
      <p:sp>
        <p:nvSpPr>
          <p:cNvPr id="18441" name="Line 9"/>
          <p:cNvSpPr>
            <a:spLocks noChangeShapeType="1"/>
          </p:cNvSpPr>
          <p:nvPr/>
        </p:nvSpPr>
        <p:spPr bwMode="auto">
          <a:xfrm>
            <a:off x="4648200" y="5173663"/>
            <a:ext cx="685800" cy="0"/>
          </a:xfrm>
          <a:prstGeom prst="line">
            <a:avLst/>
          </a:prstGeom>
          <a:noFill/>
          <a:ln w="38100">
            <a:solidFill>
              <a:schemeClr val="tx1"/>
            </a:solidFill>
            <a:miter lim="800000"/>
            <a:headEnd/>
            <a:tailEnd type="triangle" w="med" len="med"/>
          </a:ln>
        </p:spPr>
        <p:txBody>
          <a:bodyPr wrap="none"/>
          <a:lstStyle/>
          <a:p>
            <a:endParaRPr lang="en-IN"/>
          </a:p>
        </p:txBody>
      </p:sp>
      <p:sp>
        <p:nvSpPr>
          <p:cNvPr id="18442" name="Text Box 10"/>
          <p:cNvSpPr txBox="1">
            <a:spLocks noChangeArrowheads="1"/>
          </p:cNvSpPr>
          <p:nvPr/>
        </p:nvSpPr>
        <p:spPr bwMode="auto">
          <a:xfrm>
            <a:off x="5410200" y="3497263"/>
            <a:ext cx="2667000" cy="457200"/>
          </a:xfrm>
          <a:prstGeom prst="rect">
            <a:avLst/>
          </a:prstGeom>
          <a:noFill/>
          <a:ln w="9525">
            <a:noFill/>
            <a:miter lim="800000"/>
            <a:headEnd/>
            <a:tailEnd/>
          </a:ln>
        </p:spPr>
        <p:txBody>
          <a:bodyPr>
            <a:spAutoFit/>
          </a:bodyPr>
          <a:lstStyle/>
          <a:p>
            <a:pPr>
              <a:spcBef>
                <a:spcPct val="50000"/>
              </a:spcBef>
            </a:pPr>
            <a:r>
              <a:rPr lang="en-US" sz="2400" b="1">
                <a:solidFill>
                  <a:schemeClr val="accent2"/>
                </a:solidFill>
                <a:latin typeface="Times New Roman" pitchFamily="18" charset="0"/>
              </a:rPr>
              <a:t>Private </a:t>
            </a:r>
          </a:p>
        </p:txBody>
      </p:sp>
      <p:sp>
        <p:nvSpPr>
          <p:cNvPr id="18443" name="Text Box 11"/>
          <p:cNvSpPr txBox="1">
            <a:spLocks noChangeArrowheads="1"/>
          </p:cNvSpPr>
          <p:nvPr/>
        </p:nvSpPr>
        <p:spPr bwMode="auto">
          <a:xfrm>
            <a:off x="5410200" y="4945063"/>
            <a:ext cx="3657600" cy="457200"/>
          </a:xfrm>
          <a:prstGeom prst="rect">
            <a:avLst/>
          </a:prstGeom>
          <a:noFill/>
          <a:ln w="9525">
            <a:noFill/>
            <a:miter lim="800000"/>
            <a:headEnd/>
            <a:tailEnd/>
          </a:ln>
        </p:spPr>
        <p:txBody>
          <a:bodyPr>
            <a:spAutoFit/>
          </a:bodyPr>
          <a:lstStyle/>
          <a:p>
            <a:pPr>
              <a:spcBef>
                <a:spcPct val="50000"/>
              </a:spcBef>
            </a:pPr>
            <a:r>
              <a:rPr lang="en-US" sz="2400" b="1">
                <a:solidFill>
                  <a:schemeClr val="accent2"/>
                </a:solidFill>
                <a:latin typeface="Times New Roman" pitchFamily="18" charset="0"/>
              </a:rPr>
              <a:t>Public </a:t>
            </a:r>
          </a:p>
        </p:txBody>
      </p:sp>
      <p:sp>
        <p:nvSpPr>
          <p:cNvPr id="18444" name="Text Box 12"/>
          <p:cNvSpPr txBox="1">
            <a:spLocks noChangeArrowheads="1"/>
          </p:cNvSpPr>
          <p:nvPr/>
        </p:nvSpPr>
        <p:spPr bwMode="auto">
          <a:xfrm>
            <a:off x="5715000" y="2354263"/>
            <a:ext cx="1905000" cy="457200"/>
          </a:xfrm>
          <a:prstGeom prst="rect">
            <a:avLst/>
          </a:prstGeom>
          <a:noFill/>
          <a:ln w="9525">
            <a:noFill/>
            <a:miter lim="800000"/>
            <a:headEnd/>
            <a:tailEnd/>
          </a:ln>
        </p:spPr>
        <p:txBody>
          <a:bodyPr>
            <a:spAutoFit/>
          </a:bodyPr>
          <a:lstStyle/>
          <a:p>
            <a:pPr>
              <a:spcBef>
                <a:spcPct val="50000"/>
              </a:spcBef>
            </a:pPr>
            <a:r>
              <a:rPr lang="en-US" sz="2400" b="1">
                <a:solidFill>
                  <a:schemeClr val="accent2"/>
                </a:solidFill>
                <a:latin typeface="Times New Roman" pitchFamily="18" charset="0"/>
              </a:rPr>
              <a:t>Class</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2"/>
          <p:cNvSpPr txBox="1">
            <a:spLocks noChangeArrowheads="1"/>
          </p:cNvSpPr>
          <p:nvPr/>
        </p:nvSpPr>
        <p:spPr bwMode="auto">
          <a:xfrm>
            <a:off x="519113" y="1524000"/>
            <a:ext cx="8091487" cy="4959350"/>
          </a:xfrm>
          <a:prstGeom prst="rect">
            <a:avLst/>
          </a:prstGeom>
          <a:noFill/>
          <a:ln w="57150" cmpd="thickThin">
            <a:solidFill>
              <a:srgbClr val="CC3300"/>
            </a:solidFill>
            <a:miter lim="800000"/>
            <a:headEnd/>
            <a:tailEnd/>
          </a:ln>
        </p:spPr>
        <p:txBody>
          <a:bodyPr>
            <a:spAutoFit/>
          </a:bodyPr>
          <a:lstStyle/>
          <a:p>
            <a:pPr algn="just">
              <a:lnSpc>
                <a:spcPct val="155000"/>
              </a:lnSpc>
              <a:buFont typeface="Wingdings" pitchFamily="2" charset="2"/>
              <a:buNone/>
            </a:pPr>
            <a:r>
              <a:rPr lang="en-US" sz="3400" b="1">
                <a:solidFill>
                  <a:srgbClr val="800000"/>
                </a:solidFill>
                <a:latin typeface="Times New Roman" pitchFamily="18" charset="0"/>
                <a:cs typeface="Times New Roman" pitchFamily="18" charset="0"/>
              </a:rPr>
              <a:t>Data abstraction enhances security as use of data is restricted to certain functions only. </a:t>
            </a:r>
          </a:p>
          <a:p>
            <a:pPr algn="just">
              <a:lnSpc>
                <a:spcPct val="155000"/>
              </a:lnSpc>
              <a:buFont typeface="Wingdings" pitchFamily="2" charset="2"/>
              <a:buNone/>
            </a:pPr>
            <a:r>
              <a:rPr lang="en-US" sz="3400" b="1">
                <a:solidFill>
                  <a:srgbClr val="800000"/>
                </a:solidFill>
                <a:latin typeface="Times New Roman" pitchFamily="18" charset="0"/>
                <a:cs typeface="Times New Roman" pitchFamily="18" charset="0"/>
              </a:rPr>
              <a:t>	</a:t>
            </a:r>
            <a:r>
              <a:rPr lang="en-US" sz="3400" b="1">
                <a:solidFill>
                  <a:srgbClr val="800000"/>
                </a:solidFill>
                <a:latin typeface="Times New Roman" pitchFamily="18" charset="0"/>
              </a:rPr>
              <a:t>Abstraction is more used where you want only a certain number of functions/methods are accessing data.</a:t>
            </a:r>
            <a:endParaRPr lang="en-US" sz="3400" b="1">
              <a:solidFill>
                <a:srgbClr val="800000"/>
              </a:solidFill>
              <a:latin typeface="Times New Roman" pitchFamily="18" charset="0"/>
              <a:cs typeface="Times New Roman" pitchFamily="18" charset="0"/>
            </a:endParaRPr>
          </a:p>
        </p:txBody>
      </p:sp>
      <p:grpSp>
        <p:nvGrpSpPr>
          <p:cNvPr id="2" name="Group 3"/>
          <p:cNvGrpSpPr>
            <a:grpSpLocks/>
          </p:cNvGrpSpPr>
          <p:nvPr/>
        </p:nvGrpSpPr>
        <p:grpSpPr bwMode="auto">
          <a:xfrm>
            <a:off x="1524000" y="152400"/>
            <a:ext cx="6248400" cy="1295400"/>
            <a:chOff x="960" y="576"/>
            <a:chExt cx="3936" cy="816"/>
          </a:xfrm>
        </p:grpSpPr>
        <p:sp>
          <p:nvSpPr>
            <p:cNvPr id="19460" name="AutoShape 4"/>
            <p:cNvSpPr>
              <a:spLocks noChangeArrowheads="1"/>
            </p:cNvSpPr>
            <p:nvPr/>
          </p:nvSpPr>
          <p:spPr bwMode="auto">
            <a:xfrm>
              <a:off x="960" y="576"/>
              <a:ext cx="3936" cy="816"/>
            </a:xfrm>
            <a:prstGeom prst="ellipseRibbon2">
              <a:avLst>
                <a:gd name="adj1" fmla="val 30148"/>
                <a:gd name="adj2" fmla="val 50000"/>
                <a:gd name="adj3" fmla="val 13481"/>
              </a:avLst>
            </a:prstGeom>
            <a:gradFill rotWithShape="0">
              <a:gsLst>
                <a:gs pos="0">
                  <a:schemeClr val="bg2"/>
                </a:gs>
                <a:gs pos="100000">
                  <a:schemeClr val="tx1"/>
                </a:gs>
              </a:gsLst>
              <a:path path="rect">
                <a:fillToRect l="50000" t="50000" r="50000" b="50000"/>
              </a:path>
            </a:gradFill>
            <a:ln w="9525">
              <a:solidFill>
                <a:srgbClr val="CC3300"/>
              </a:solidFill>
              <a:round/>
              <a:headEnd/>
              <a:tailEnd/>
            </a:ln>
          </p:spPr>
          <p:txBody>
            <a:bodyPr wrap="none" anchor="ctr"/>
            <a:lstStyle/>
            <a:p>
              <a:endParaRPr lang="en-US"/>
            </a:p>
          </p:txBody>
        </p:sp>
        <p:sp>
          <p:nvSpPr>
            <p:cNvPr id="19461" name="WordArt 5"/>
            <p:cNvSpPr>
              <a:spLocks noChangeArrowheads="1" noChangeShapeType="1" noTextEdit="1"/>
            </p:cNvSpPr>
            <p:nvPr/>
          </p:nvSpPr>
          <p:spPr bwMode="auto">
            <a:xfrm>
              <a:off x="2016" y="612"/>
              <a:ext cx="1824" cy="483"/>
            </a:xfrm>
            <a:prstGeom prst="rect">
              <a:avLst/>
            </a:prstGeom>
          </p:spPr>
          <p:txBody>
            <a:bodyPr wrap="none" fromWordArt="1">
              <a:prstTxWarp prst="textPlain">
                <a:avLst>
                  <a:gd name="adj" fmla="val 50000"/>
                </a:avLst>
              </a:prstTxWarp>
            </a:bodyPr>
            <a:lstStyle/>
            <a:p>
              <a:pPr algn="ctr"/>
              <a:r>
                <a:rPr lang="en-IN" sz="3600" kern="10">
                  <a:ln w="19050">
                    <a:solidFill>
                      <a:srgbClr val="CC3300"/>
                    </a:solidFill>
                    <a:round/>
                    <a:headEnd/>
                    <a:tailEnd/>
                  </a:ln>
                  <a:solidFill>
                    <a:srgbClr val="800000"/>
                  </a:solidFill>
                  <a:effectLst>
                    <a:outerShdw dist="35921" dir="2700000" algn="ctr" rotWithShape="0">
                      <a:srgbClr val="990000"/>
                    </a:outerShdw>
                  </a:effectLst>
                  <a:latin typeface="Dotum"/>
                  <a:ea typeface="Dotum"/>
                </a:rPr>
                <a:t>Abstraction</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17" presetClass="entr" presetSubtype="2" fill="hold" grpId="0" nodeType="afterEffect">
                                  <p:stCondLst>
                                    <p:cond delay="0"/>
                                  </p:stCondLst>
                                  <p:childTnLst>
                                    <p:set>
                                      <p:cBhvr>
                                        <p:cTn id="11" dur="1" fill="hold">
                                          <p:stCondLst>
                                            <p:cond delay="0"/>
                                          </p:stCondLst>
                                        </p:cTn>
                                        <p:tgtEl>
                                          <p:spTgt spid="23554"/>
                                        </p:tgtEl>
                                        <p:attrNameLst>
                                          <p:attrName>style.visibility</p:attrName>
                                        </p:attrNameLst>
                                      </p:cBhvr>
                                      <p:to>
                                        <p:strVal val="visible"/>
                                      </p:to>
                                    </p:set>
                                    <p:anim calcmode="lin" valueType="num">
                                      <p:cBhvr>
                                        <p:cTn id="12" dur="500" fill="hold"/>
                                        <p:tgtEl>
                                          <p:spTgt spid="23554"/>
                                        </p:tgtEl>
                                        <p:attrNameLst>
                                          <p:attrName>ppt_x</p:attrName>
                                        </p:attrNameLst>
                                      </p:cBhvr>
                                      <p:tavLst>
                                        <p:tav tm="0">
                                          <p:val>
                                            <p:strVal val="#ppt_x+#ppt_w/2"/>
                                          </p:val>
                                        </p:tav>
                                        <p:tav tm="100000">
                                          <p:val>
                                            <p:strVal val="#ppt_x"/>
                                          </p:val>
                                        </p:tav>
                                      </p:tavLst>
                                    </p:anim>
                                    <p:anim calcmode="lin" valueType="num">
                                      <p:cBhvr>
                                        <p:cTn id="13" dur="500" fill="hold"/>
                                        <p:tgtEl>
                                          <p:spTgt spid="23554"/>
                                        </p:tgtEl>
                                        <p:attrNameLst>
                                          <p:attrName>ppt_y</p:attrName>
                                        </p:attrNameLst>
                                      </p:cBhvr>
                                      <p:tavLst>
                                        <p:tav tm="0">
                                          <p:val>
                                            <p:strVal val="#ppt_y"/>
                                          </p:val>
                                        </p:tav>
                                        <p:tav tm="100000">
                                          <p:val>
                                            <p:strVal val="#ppt_y"/>
                                          </p:val>
                                        </p:tav>
                                      </p:tavLst>
                                    </p:anim>
                                    <p:anim calcmode="lin" valueType="num">
                                      <p:cBhvr>
                                        <p:cTn id="14" dur="500" fill="hold"/>
                                        <p:tgtEl>
                                          <p:spTgt spid="23554"/>
                                        </p:tgtEl>
                                        <p:attrNameLst>
                                          <p:attrName>ppt_w</p:attrName>
                                        </p:attrNameLst>
                                      </p:cBhvr>
                                      <p:tavLst>
                                        <p:tav tm="0">
                                          <p:val>
                                            <p:fltVal val="0"/>
                                          </p:val>
                                        </p:tav>
                                        <p:tav tm="100000">
                                          <p:val>
                                            <p:strVal val="#ppt_w"/>
                                          </p:val>
                                        </p:tav>
                                      </p:tavLst>
                                    </p:anim>
                                    <p:anim calcmode="lin" valueType="num">
                                      <p:cBhvr>
                                        <p:cTn id="15" dur="500" fill="hold"/>
                                        <p:tgtEl>
                                          <p:spTgt spid="2355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AutoShape 2"/>
          <p:cNvSpPr>
            <a:spLocks noChangeArrowheads="1"/>
          </p:cNvSpPr>
          <p:nvPr/>
        </p:nvSpPr>
        <p:spPr bwMode="auto">
          <a:xfrm>
            <a:off x="228600" y="1828800"/>
            <a:ext cx="3886200" cy="4191000"/>
          </a:xfrm>
          <a:prstGeom prst="cube">
            <a:avLst>
              <a:gd name="adj" fmla="val 25000"/>
            </a:avLst>
          </a:prstGeom>
          <a:solidFill>
            <a:schemeClr val="bg1"/>
          </a:solidFill>
          <a:ln w="9525">
            <a:solidFill>
              <a:schemeClr val="tx1"/>
            </a:solidFill>
            <a:miter lim="800000"/>
            <a:headEnd/>
            <a:tailEnd/>
          </a:ln>
        </p:spPr>
        <p:txBody>
          <a:bodyPr wrap="none" anchor="ctr"/>
          <a:lstStyle/>
          <a:p>
            <a:endParaRPr lang="en-US"/>
          </a:p>
        </p:txBody>
      </p:sp>
      <p:sp>
        <p:nvSpPr>
          <p:cNvPr id="20483" name="AutoShape 3"/>
          <p:cNvSpPr>
            <a:spLocks noChangeArrowheads="1"/>
          </p:cNvSpPr>
          <p:nvPr/>
        </p:nvSpPr>
        <p:spPr bwMode="auto">
          <a:xfrm>
            <a:off x="609600" y="3200400"/>
            <a:ext cx="1828800" cy="1066800"/>
          </a:xfrm>
          <a:prstGeom prst="cube">
            <a:avLst>
              <a:gd name="adj" fmla="val 25000"/>
            </a:avLst>
          </a:prstGeom>
          <a:solidFill>
            <a:schemeClr val="accent1"/>
          </a:solidFill>
          <a:ln w="9525">
            <a:solidFill>
              <a:schemeClr val="tx1"/>
            </a:solidFill>
            <a:miter lim="800000"/>
            <a:headEnd/>
            <a:tailEnd/>
          </a:ln>
        </p:spPr>
        <p:txBody>
          <a:bodyPr wrap="none" anchor="ctr"/>
          <a:lstStyle/>
          <a:p>
            <a:pPr algn="ctr"/>
            <a:r>
              <a:rPr lang="en-US" sz="2400">
                <a:latin typeface="Times New Roman" pitchFamily="18" charset="0"/>
              </a:rPr>
              <a:t>Attributes</a:t>
            </a:r>
          </a:p>
        </p:txBody>
      </p:sp>
      <p:sp>
        <p:nvSpPr>
          <p:cNvPr id="20484" name="AutoShape 4"/>
          <p:cNvSpPr>
            <a:spLocks noChangeArrowheads="1"/>
          </p:cNvSpPr>
          <p:nvPr/>
        </p:nvSpPr>
        <p:spPr bwMode="auto">
          <a:xfrm>
            <a:off x="609600" y="4495800"/>
            <a:ext cx="1905000" cy="1143000"/>
          </a:xfrm>
          <a:prstGeom prst="cube">
            <a:avLst>
              <a:gd name="adj" fmla="val 25000"/>
            </a:avLst>
          </a:prstGeom>
          <a:solidFill>
            <a:schemeClr val="accent1"/>
          </a:solidFill>
          <a:ln w="9525">
            <a:solidFill>
              <a:schemeClr val="tx1"/>
            </a:solidFill>
            <a:miter lim="800000"/>
            <a:headEnd/>
            <a:tailEnd/>
          </a:ln>
        </p:spPr>
        <p:txBody>
          <a:bodyPr wrap="none" anchor="ctr"/>
          <a:lstStyle/>
          <a:p>
            <a:pPr algn="ctr"/>
            <a:r>
              <a:rPr lang="en-US" sz="2400">
                <a:latin typeface="Times New Roman" pitchFamily="18" charset="0"/>
              </a:rPr>
              <a:t>Methods</a:t>
            </a:r>
          </a:p>
        </p:txBody>
      </p:sp>
      <p:sp>
        <p:nvSpPr>
          <p:cNvPr id="20485" name="Text Box 5"/>
          <p:cNvSpPr txBox="1">
            <a:spLocks noChangeArrowheads="1"/>
          </p:cNvSpPr>
          <p:nvPr/>
        </p:nvSpPr>
        <p:spPr bwMode="auto">
          <a:xfrm>
            <a:off x="1447800" y="2057400"/>
            <a:ext cx="1981200" cy="457200"/>
          </a:xfrm>
          <a:prstGeom prst="rect">
            <a:avLst/>
          </a:prstGeom>
          <a:noFill/>
          <a:ln w="9525">
            <a:noFill/>
            <a:miter lim="800000"/>
            <a:headEnd/>
            <a:tailEnd/>
          </a:ln>
        </p:spPr>
        <p:txBody>
          <a:bodyPr>
            <a:spAutoFit/>
          </a:bodyPr>
          <a:lstStyle/>
          <a:p>
            <a:pPr>
              <a:spcBef>
                <a:spcPct val="50000"/>
              </a:spcBef>
            </a:pPr>
            <a:r>
              <a:rPr lang="en-US" sz="2400">
                <a:latin typeface="Times New Roman" pitchFamily="18" charset="0"/>
              </a:rPr>
              <a:t>Class</a:t>
            </a:r>
          </a:p>
        </p:txBody>
      </p:sp>
      <p:sp>
        <p:nvSpPr>
          <p:cNvPr id="20486" name="Rectangle 6"/>
          <p:cNvSpPr>
            <a:spLocks noChangeArrowheads="1"/>
          </p:cNvSpPr>
          <p:nvPr/>
        </p:nvSpPr>
        <p:spPr bwMode="auto">
          <a:xfrm>
            <a:off x="457200" y="274638"/>
            <a:ext cx="8229600" cy="1143000"/>
          </a:xfrm>
          <a:prstGeom prst="rect">
            <a:avLst/>
          </a:prstGeom>
          <a:noFill/>
          <a:ln w="9525">
            <a:noFill/>
            <a:miter lim="800000"/>
            <a:headEnd/>
            <a:tailEnd/>
          </a:ln>
        </p:spPr>
        <p:txBody>
          <a:bodyPr anchor="ctr"/>
          <a:lstStyle/>
          <a:p>
            <a:pPr algn="ctr"/>
            <a:r>
              <a:rPr lang="en-US" sz="4400" b="1">
                <a:solidFill>
                  <a:srgbClr val="800000"/>
                </a:solidFill>
              </a:rPr>
              <a:t>For Example</a:t>
            </a:r>
          </a:p>
        </p:txBody>
      </p:sp>
      <p:sp>
        <p:nvSpPr>
          <p:cNvPr id="20487" name="Rectangle 7"/>
          <p:cNvSpPr>
            <a:spLocks noChangeArrowheads="1"/>
          </p:cNvSpPr>
          <p:nvPr/>
        </p:nvSpPr>
        <p:spPr bwMode="auto">
          <a:xfrm>
            <a:off x="4572000" y="1905000"/>
            <a:ext cx="4343400" cy="2847975"/>
          </a:xfrm>
          <a:prstGeom prst="rect">
            <a:avLst/>
          </a:prstGeom>
          <a:noFill/>
          <a:ln w="9525">
            <a:solidFill>
              <a:srgbClr val="990033"/>
            </a:solidFill>
            <a:miter lim="800000"/>
            <a:headEnd/>
            <a:tailEnd/>
          </a:ln>
        </p:spPr>
        <p:txBody>
          <a:bodyPr>
            <a:spAutoFit/>
          </a:bodyPr>
          <a:lstStyle/>
          <a:p>
            <a:pPr algn="just">
              <a:lnSpc>
                <a:spcPct val="180000"/>
              </a:lnSpc>
              <a:spcBef>
                <a:spcPct val="50000"/>
              </a:spcBef>
            </a:pPr>
            <a:r>
              <a:rPr lang="en-US" sz="2000" b="1">
                <a:solidFill>
                  <a:schemeClr val="accent2"/>
                </a:solidFill>
              </a:rPr>
              <a:t>Data abstraction is a process of identifying properties and methods related much to a particular entity as relevant to the application</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ChangeArrowheads="1"/>
          </p:cNvSpPr>
          <p:nvPr/>
        </p:nvSpPr>
        <p:spPr bwMode="auto">
          <a:xfrm>
            <a:off x="1447800" y="2286000"/>
            <a:ext cx="6400800" cy="2376488"/>
          </a:xfrm>
          <a:prstGeom prst="rect">
            <a:avLst/>
          </a:prstGeom>
          <a:noFill/>
          <a:ln w="9525">
            <a:noFill/>
            <a:miter lim="800000"/>
            <a:headEnd/>
            <a:tailEnd/>
          </a:ln>
        </p:spPr>
        <p:txBody>
          <a:bodyPr>
            <a:spAutoFit/>
          </a:bodyPr>
          <a:lstStyle/>
          <a:p>
            <a:pPr eaLnBrk="0" hangingPunct="0"/>
            <a:endParaRPr lang="en-US" b="1" u="sng">
              <a:solidFill>
                <a:srgbClr val="800000"/>
              </a:solidFill>
              <a:latin typeface="Verdana" pitchFamily="34" charset="0"/>
            </a:endParaRPr>
          </a:p>
          <a:p>
            <a:pPr algn="ctr" eaLnBrk="0" hangingPunct="0"/>
            <a:r>
              <a:rPr lang="en-US" b="1">
                <a:solidFill>
                  <a:srgbClr val="800000"/>
                </a:solidFill>
                <a:latin typeface="Verdana" pitchFamily="34" charset="0"/>
              </a:rPr>
              <a:t>  </a:t>
            </a:r>
            <a:r>
              <a:rPr lang="en-US" sz="4400" b="1">
                <a:solidFill>
                  <a:srgbClr val="800000"/>
                </a:solidFill>
                <a:latin typeface="Times New Roman" pitchFamily="18" charset="0"/>
              </a:rPr>
              <a:t>It is the process of creating a new class from an existing class</a:t>
            </a:r>
          </a:p>
        </p:txBody>
      </p:sp>
      <p:sp>
        <p:nvSpPr>
          <p:cNvPr id="25603" name="WordArt 3"/>
          <p:cNvSpPr>
            <a:spLocks noChangeArrowheads="1" noChangeShapeType="1" noTextEdit="1"/>
          </p:cNvSpPr>
          <p:nvPr/>
        </p:nvSpPr>
        <p:spPr bwMode="auto">
          <a:xfrm>
            <a:off x="1600200" y="228600"/>
            <a:ext cx="5638800" cy="1066800"/>
          </a:xfrm>
          <a:prstGeom prst="rect">
            <a:avLst/>
          </a:prstGeom>
        </p:spPr>
        <p:txBody>
          <a:bodyPr wrap="none" fromWordArt="1">
            <a:prstTxWarp prst="textInflateTop">
              <a:avLst>
                <a:gd name="adj" fmla="val 31917"/>
              </a:avLst>
            </a:prstTxWarp>
          </a:bodyPr>
          <a:lstStyle/>
          <a:p>
            <a:pPr algn="ctr"/>
            <a:r>
              <a:rPr lang="en-IN"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a:rPr>
              <a:t>Inheritance</a:t>
            </a:r>
          </a:p>
        </p:txBody>
      </p:sp>
      <p:sp>
        <p:nvSpPr>
          <p:cNvPr id="25604" name="AutoShape 4"/>
          <p:cNvSpPr>
            <a:spLocks noChangeArrowheads="1"/>
          </p:cNvSpPr>
          <p:nvPr/>
        </p:nvSpPr>
        <p:spPr bwMode="auto">
          <a:xfrm>
            <a:off x="1066800" y="2209800"/>
            <a:ext cx="7239000" cy="2819400"/>
          </a:xfrm>
          <a:prstGeom prst="cloudCallout">
            <a:avLst>
              <a:gd name="adj1" fmla="val -32718"/>
              <a:gd name="adj2" fmla="val -82153"/>
            </a:avLst>
          </a:prstGeom>
          <a:noFill/>
          <a:ln w="57150">
            <a:solidFill>
              <a:srgbClr val="000099"/>
            </a:solidFill>
            <a:round/>
            <a:headEnd/>
            <a:tailEnd/>
          </a:ln>
        </p:spPr>
        <p:txBody>
          <a:bodyPr/>
          <a:lstStyle/>
          <a:p>
            <a:pPr algn="ctr" eaLnBrk="0" hangingPunct="0"/>
            <a:endParaRPr lang="en-US">
              <a:solidFill>
                <a:srgbClr val="800000"/>
              </a:solidFill>
              <a:latin typeface="Verdana" pitchFamily="34" charset="0"/>
            </a:endParaRP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withEffect">
                                  <p:stCondLst>
                                    <p:cond delay="0"/>
                                  </p:stCondLst>
                                  <p:iterate type="lt">
                                    <p:tmPct val="5000"/>
                                  </p:iterate>
                                  <p:childTnLst>
                                    <p:set>
                                      <p:cBhvr>
                                        <p:cTn id="6" dur="1" fill="hold">
                                          <p:stCondLst>
                                            <p:cond delay="0"/>
                                          </p:stCondLst>
                                        </p:cTn>
                                        <p:tgtEl>
                                          <p:spTgt spid="25603"/>
                                        </p:tgtEl>
                                        <p:attrNameLst>
                                          <p:attrName>style.visibility</p:attrName>
                                        </p:attrNameLst>
                                      </p:cBhvr>
                                      <p:to>
                                        <p:strVal val="visible"/>
                                      </p:to>
                                    </p:set>
                                    <p:anim calcmode="lin" valueType="num">
                                      <p:cBhvr>
                                        <p:cTn id="7" dur="1000" fill="hold"/>
                                        <p:tgtEl>
                                          <p:spTgt spid="25603"/>
                                        </p:tgtEl>
                                        <p:attrNameLst>
                                          <p:attrName>ppt_w</p:attrName>
                                        </p:attrNameLst>
                                      </p:cBhvr>
                                      <p:tavLst>
                                        <p:tav tm="0">
                                          <p:val>
                                            <p:fltVal val="0"/>
                                          </p:val>
                                        </p:tav>
                                        <p:tav tm="100000">
                                          <p:val>
                                            <p:strVal val="#ppt_w"/>
                                          </p:val>
                                        </p:tav>
                                      </p:tavLst>
                                    </p:anim>
                                    <p:anim calcmode="lin" valueType="num">
                                      <p:cBhvr>
                                        <p:cTn id="8" dur="1000" fill="hold"/>
                                        <p:tgtEl>
                                          <p:spTgt spid="25603"/>
                                        </p:tgtEl>
                                        <p:attrNameLst>
                                          <p:attrName>ppt_h</p:attrName>
                                        </p:attrNameLst>
                                      </p:cBhvr>
                                      <p:tavLst>
                                        <p:tav tm="0">
                                          <p:val>
                                            <p:fltVal val="0"/>
                                          </p:val>
                                        </p:tav>
                                        <p:tav tm="100000">
                                          <p:val>
                                            <p:strVal val="#ppt_h"/>
                                          </p:val>
                                        </p:tav>
                                      </p:tavLst>
                                    </p:anim>
                                    <p:anim calcmode="lin" valueType="num">
                                      <p:cBhvr>
                                        <p:cTn id="9" dur="1000" fill="hold"/>
                                        <p:tgtEl>
                                          <p:spTgt spid="25603"/>
                                        </p:tgtEl>
                                        <p:attrNameLst>
                                          <p:attrName>style.rotation</p:attrName>
                                        </p:attrNameLst>
                                      </p:cBhvr>
                                      <p:tavLst>
                                        <p:tav tm="0">
                                          <p:val>
                                            <p:fltVal val="90"/>
                                          </p:val>
                                        </p:tav>
                                        <p:tav tm="100000">
                                          <p:val>
                                            <p:fltVal val="0"/>
                                          </p:val>
                                        </p:tav>
                                      </p:tavLst>
                                    </p:anim>
                                    <p:animEffect transition="in" filter="fade">
                                      <p:cBhvr>
                                        <p:cTn id="10" dur="1000"/>
                                        <p:tgtEl>
                                          <p:spTgt spid="25603"/>
                                        </p:tgtEl>
                                      </p:cBhvr>
                                    </p:animEffect>
                                  </p:childTnLst>
                                </p:cTn>
                              </p:par>
                              <p:par>
                                <p:cTn id="11" presetID="23" presetClass="entr" presetSubtype="16" fill="hold" grpId="0" nodeType="withEffect">
                                  <p:stCondLst>
                                    <p:cond delay="0"/>
                                  </p:stCondLst>
                                  <p:childTnLst>
                                    <p:set>
                                      <p:cBhvr>
                                        <p:cTn id="12" dur="1" fill="hold">
                                          <p:stCondLst>
                                            <p:cond delay="0"/>
                                          </p:stCondLst>
                                        </p:cTn>
                                        <p:tgtEl>
                                          <p:spTgt spid="25604"/>
                                        </p:tgtEl>
                                        <p:attrNameLst>
                                          <p:attrName>style.visibility</p:attrName>
                                        </p:attrNameLst>
                                      </p:cBhvr>
                                      <p:to>
                                        <p:strVal val="visible"/>
                                      </p:to>
                                    </p:set>
                                    <p:anim calcmode="lin" valueType="num">
                                      <p:cBhvr>
                                        <p:cTn id="13" dur="500" fill="hold"/>
                                        <p:tgtEl>
                                          <p:spTgt spid="25604"/>
                                        </p:tgtEl>
                                        <p:attrNameLst>
                                          <p:attrName>ppt_w</p:attrName>
                                        </p:attrNameLst>
                                      </p:cBhvr>
                                      <p:tavLst>
                                        <p:tav tm="0">
                                          <p:val>
                                            <p:fltVal val="0"/>
                                          </p:val>
                                        </p:tav>
                                        <p:tav tm="100000">
                                          <p:val>
                                            <p:strVal val="#ppt_w"/>
                                          </p:val>
                                        </p:tav>
                                      </p:tavLst>
                                    </p:anim>
                                    <p:anim calcmode="lin" valueType="num">
                                      <p:cBhvr>
                                        <p:cTn id="14" dur="500" fill="hold"/>
                                        <p:tgtEl>
                                          <p:spTgt spid="25604"/>
                                        </p:tgtEl>
                                        <p:attrNameLst>
                                          <p:attrName>ppt_h</p:attrName>
                                        </p:attrNameLst>
                                      </p:cBhvr>
                                      <p:tavLst>
                                        <p:tav tm="0">
                                          <p:val>
                                            <p:fltVal val="0"/>
                                          </p:val>
                                        </p:tav>
                                        <p:tav tm="100000">
                                          <p:val>
                                            <p:strVal val="#ppt_h"/>
                                          </p:val>
                                        </p:tav>
                                      </p:tavLst>
                                    </p:anim>
                                  </p:childTnLst>
                                </p:cTn>
                              </p:par>
                              <p:par>
                                <p:cTn id="15" presetID="23" presetClass="entr" presetSubtype="16" fill="hold" grpId="0" nodeType="withEffect">
                                  <p:stCondLst>
                                    <p:cond delay="0"/>
                                  </p:stCondLst>
                                  <p:childTnLst>
                                    <p:set>
                                      <p:cBhvr>
                                        <p:cTn id="16" dur="1" fill="hold">
                                          <p:stCondLst>
                                            <p:cond delay="0"/>
                                          </p:stCondLst>
                                        </p:cTn>
                                        <p:tgtEl>
                                          <p:spTgt spid="25602"/>
                                        </p:tgtEl>
                                        <p:attrNameLst>
                                          <p:attrName>style.visibility</p:attrName>
                                        </p:attrNameLst>
                                      </p:cBhvr>
                                      <p:to>
                                        <p:strVal val="visible"/>
                                      </p:to>
                                    </p:set>
                                    <p:anim calcmode="lin" valueType="num">
                                      <p:cBhvr>
                                        <p:cTn id="17" dur="500" fill="hold"/>
                                        <p:tgtEl>
                                          <p:spTgt spid="25602"/>
                                        </p:tgtEl>
                                        <p:attrNameLst>
                                          <p:attrName>ppt_w</p:attrName>
                                        </p:attrNameLst>
                                      </p:cBhvr>
                                      <p:tavLst>
                                        <p:tav tm="0">
                                          <p:val>
                                            <p:fltVal val="0"/>
                                          </p:val>
                                        </p:tav>
                                        <p:tav tm="100000">
                                          <p:val>
                                            <p:strVal val="#ppt_w"/>
                                          </p:val>
                                        </p:tav>
                                      </p:tavLst>
                                    </p:anim>
                                    <p:anim calcmode="lin" valueType="num">
                                      <p:cBhvr>
                                        <p:cTn id="18" dur="500" fill="hold"/>
                                        <p:tgtEl>
                                          <p:spTgt spid="2560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p:bldP spid="25603" grpId="0" animBg="1"/>
      <p:bldP spid="2560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1447800" y="1752600"/>
            <a:ext cx="5715000" cy="3749675"/>
            <a:chOff x="1680" y="1461"/>
            <a:chExt cx="3600" cy="2362"/>
          </a:xfrm>
        </p:grpSpPr>
        <p:sp>
          <p:nvSpPr>
            <p:cNvPr id="1032" name="Line 3"/>
            <p:cNvSpPr>
              <a:spLocks noChangeShapeType="1"/>
            </p:cNvSpPr>
            <p:nvPr/>
          </p:nvSpPr>
          <p:spPr bwMode="auto">
            <a:xfrm>
              <a:off x="2655" y="2609"/>
              <a:ext cx="638" cy="0"/>
            </a:xfrm>
            <a:prstGeom prst="line">
              <a:avLst/>
            </a:prstGeom>
            <a:noFill/>
            <a:ln w="9525">
              <a:solidFill>
                <a:srgbClr val="000000"/>
              </a:solidFill>
              <a:round/>
              <a:headEnd/>
              <a:tailEnd/>
            </a:ln>
          </p:spPr>
          <p:txBody>
            <a:bodyPr/>
            <a:lstStyle/>
            <a:p>
              <a:endParaRPr lang="en-IN"/>
            </a:p>
          </p:txBody>
        </p:sp>
        <p:graphicFrame>
          <p:nvGraphicFramePr>
            <p:cNvPr id="1026" name="Object 4"/>
            <p:cNvGraphicFramePr>
              <a:graphicFrameLocks noChangeAspect="1"/>
            </p:cNvGraphicFramePr>
            <p:nvPr/>
          </p:nvGraphicFramePr>
          <p:xfrm>
            <a:off x="1752" y="2073"/>
            <a:ext cx="324" cy="174"/>
          </p:xfrm>
          <a:graphic>
            <a:graphicData uri="http://schemas.openxmlformats.org/presentationml/2006/ole">
              <p:oleObj spid="_x0000_s1026" name="Clip" r:id="rId3" imgW="862560" imgH="382680" progId="MS_ClipArt_Gallery.5">
                <p:embed/>
              </p:oleObj>
            </a:graphicData>
          </a:graphic>
        </p:graphicFrame>
        <p:graphicFrame>
          <p:nvGraphicFramePr>
            <p:cNvPr id="1027" name="Object 5"/>
            <p:cNvGraphicFramePr>
              <a:graphicFrameLocks noChangeAspect="1"/>
            </p:cNvGraphicFramePr>
            <p:nvPr/>
          </p:nvGraphicFramePr>
          <p:xfrm>
            <a:off x="4704" y="1985"/>
            <a:ext cx="396" cy="256"/>
          </p:xfrm>
          <a:graphic>
            <a:graphicData uri="http://schemas.openxmlformats.org/presentationml/2006/ole">
              <p:oleObj spid="_x0000_s1027" name="Clip" r:id="rId4" imgW="4090320" imgH="2177640" progId="MS_ClipArt_Gallery.5">
                <p:embed/>
              </p:oleObj>
            </a:graphicData>
          </a:graphic>
        </p:graphicFrame>
        <p:graphicFrame>
          <p:nvGraphicFramePr>
            <p:cNvPr id="1028" name="Object 6"/>
            <p:cNvGraphicFramePr>
              <a:graphicFrameLocks noChangeAspect="1"/>
            </p:cNvGraphicFramePr>
            <p:nvPr/>
          </p:nvGraphicFramePr>
          <p:xfrm>
            <a:off x="3768" y="1985"/>
            <a:ext cx="274" cy="416"/>
          </p:xfrm>
          <a:graphic>
            <a:graphicData uri="http://schemas.openxmlformats.org/presentationml/2006/ole">
              <p:oleObj spid="_x0000_s1028" name="Clip" r:id="rId5" imgW="1220400" imgH="1527480" progId="MS_ClipArt_Gallery.5">
                <p:embed/>
              </p:oleObj>
            </a:graphicData>
          </a:graphic>
        </p:graphicFrame>
        <p:sp>
          <p:nvSpPr>
            <p:cNvPr id="1033" name="Text Box 7"/>
            <p:cNvSpPr txBox="1">
              <a:spLocks noChangeArrowheads="1"/>
            </p:cNvSpPr>
            <p:nvPr/>
          </p:nvSpPr>
          <p:spPr bwMode="auto">
            <a:xfrm>
              <a:off x="1680" y="1811"/>
              <a:ext cx="576" cy="262"/>
            </a:xfrm>
            <a:prstGeom prst="rect">
              <a:avLst/>
            </a:prstGeom>
            <a:noFill/>
            <a:ln w="9525">
              <a:noFill/>
              <a:miter lim="800000"/>
              <a:headEnd/>
              <a:tailEnd/>
            </a:ln>
          </p:spPr>
          <p:txBody>
            <a:bodyPr/>
            <a:lstStyle/>
            <a:p>
              <a:pPr eaLnBrk="0" hangingPunct="0"/>
              <a:r>
                <a:rPr lang="en-US" sz="1500">
                  <a:latin typeface="Times New Roman" pitchFamily="18" charset="0"/>
                </a:rPr>
                <a:t>Insects</a:t>
              </a:r>
            </a:p>
          </p:txBody>
        </p:sp>
        <p:sp>
          <p:nvSpPr>
            <p:cNvPr id="1034" name="Text Box 8"/>
            <p:cNvSpPr txBox="1">
              <a:spLocks noChangeArrowheads="1"/>
            </p:cNvSpPr>
            <p:nvPr/>
          </p:nvSpPr>
          <p:spPr bwMode="auto">
            <a:xfrm>
              <a:off x="2688" y="1811"/>
              <a:ext cx="648" cy="262"/>
            </a:xfrm>
            <a:prstGeom prst="rect">
              <a:avLst/>
            </a:prstGeom>
            <a:noFill/>
            <a:ln w="9525">
              <a:noFill/>
              <a:miter lim="800000"/>
              <a:headEnd/>
              <a:tailEnd/>
            </a:ln>
          </p:spPr>
          <p:txBody>
            <a:bodyPr/>
            <a:lstStyle/>
            <a:p>
              <a:pPr eaLnBrk="0" hangingPunct="0"/>
              <a:r>
                <a:rPr lang="en-US" sz="1500">
                  <a:latin typeface="Times New Roman" pitchFamily="18" charset="0"/>
                </a:rPr>
                <a:t>Mammals</a:t>
              </a:r>
            </a:p>
          </p:txBody>
        </p:sp>
        <p:sp>
          <p:nvSpPr>
            <p:cNvPr id="1035" name="Text Box 9"/>
            <p:cNvSpPr txBox="1">
              <a:spLocks noChangeArrowheads="1"/>
            </p:cNvSpPr>
            <p:nvPr/>
          </p:nvSpPr>
          <p:spPr bwMode="auto">
            <a:xfrm>
              <a:off x="3624" y="1811"/>
              <a:ext cx="576" cy="262"/>
            </a:xfrm>
            <a:prstGeom prst="rect">
              <a:avLst/>
            </a:prstGeom>
            <a:noFill/>
            <a:ln w="9525">
              <a:noFill/>
              <a:miter lim="800000"/>
              <a:headEnd/>
              <a:tailEnd/>
            </a:ln>
          </p:spPr>
          <p:txBody>
            <a:bodyPr/>
            <a:lstStyle/>
            <a:p>
              <a:pPr eaLnBrk="0" hangingPunct="0"/>
              <a:r>
                <a:rPr lang="en-US" sz="1500">
                  <a:latin typeface="Times New Roman" pitchFamily="18" charset="0"/>
                </a:rPr>
                <a:t>Reptiles</a:t>
              </a:r>
            </a:p>
          </p:txBody>
        </p:sp>
        <p:sp>
          <p:nvSpPr>
            <p:cNvPr id="1036" name="Text Box 10"/>
            <p:cNvSpPr txBox="1">
              <a:spLocks noChangeArrowheads="1"/>
            </p:cNvSpPr>
            <p:nvPr/>
          </p:nvSpPr>
          <p:spPr bwMode="auto">
            <a:xfrm>
              <a:off x="4488" y="1811"/>
              <a:ext cx="792" cy="262"/>
            </a:xfrm>
            <a:prstGeom prst="rect">
              <a:avLst/>
            </a:prstGeom>
            <a:noFill/>
            <a:ln w="9525">
              <a:noFill/>
              <a:miter lim="800000"/>
              <a:headEnd/>
              <a:tailEnd/>
            </a:ln>
          </p:spPr>
          <p:txBody>
            <a:bodyPr/>
            <a:lstStyle/>
            <a:p>
              <a:pPr eaLnBrk="0" hangingPunct="0"/>
              <a:r>
                <a:rPr lang="en-US" sz="1500">
                  <a:latin typeface="Times New Roman" pitchFamily="18" charset="0"/>
                </a:rPr>
                <a:t>Amphibians</a:t>
              </a:r>
            </a:p>
          </p:txBody>
        </p:sp>
        <p:sp>
          <p:nvSpPr>
            <p:cNvPr id="1037" name="Line 11"/>
            <p:cNvSpPr>
              <a:spLocks noChangeShapeType="1"/>
            </p:cNvSpPr>
            <p:nvPr/>
          </p:nvSpPr>
          <p:spPr bwMode="auto">
            <a:xfrm>
              <a:off x="3417" y="1461"/>
              <a:ext cx="0" cy="262"/>
            </a:xfrm>
            <a:prstGeom prst="line">
              <a:avLst/>
            </a:prstGeom>
            <a:noFill/>
            <a:ln w="9525">
              <a:solidFill>
                <a:srgbClr val="000000"/>
              </a:solidFill>
              <a:round/>
              <a:headEnd/>
              <a:tailEnd/>
            </a:ln>
          </p:spPr>
          <p:txBody>
            <a:bodyPr/>
            <a:lstStyle/>
            <a:p>
              <a:endParaRPr lang="en-IN"/>
            </a:p>
          </p:txBody>
        </p:sp>
        <p:sp>
          <p:nvSpPr>
            <p:cNvPr id="1038" name="Line 12"/>
            <p:cNvSpPr>
              <a:spLocks noChangeShapeType="1"/>
            </p:cNvSpPr>
            <p:nvPr/>
          </p:nvSpPr>
          <p:spPr bwMode="auto">
            <a:xfrm>
              <a:off x="1968" y="1723"/>
              <a:ext cx="2736" cy="0"/>
            </a:xfrm>
            <a:prstGeom prst="line">
              <a:avLst/>
            </a:prstGeom>
            <a:noFill/>
            <a:ln w="9525">
              <a:solidFill>
                <a:srgbClr val="000000"/>
              </a:solidFill>
              <a:round/>
              <a:headEnd/>
              <a:tailEnd/>
            </a:ln>
          </p:spPr>
          <p:txBody>
            <a:bodyPr/>
            <a:lstStyle/>
            <a:p>
              <a:endParaRPr lang="en-IN"/>
            </a:p>
          </p:txBody>
        </p:sp>
        <p:sp>
          <p:nvSpPr>
            <p:cNvPr id="1039" name="Line 13"/>
            <p:cNvSpPr>
              <a:spLocks noChangeShapeType="1"/>
            </p:cNvSpPr>
            <p:nvPr/>
          </p:nvSpPr>
          <p:spPr bwMode="auto">
            <a:xfrm>
              <a:off x="1968" y="1723"/>
              <a:ext cx="0" cy="175"/>
            </a:xfrm>
            <a:prstGeom prst="line">
              <a:avLst/>
            </a:prstGeom>
            <a:noFill/>
            <a:ln w="9525">
              <a:solidFill>
                <a:srgbClr val="000000"/>
              </a:solidFill>
              <a:round/>
              <a:headEnd/>
              <a:tailEnd/>
            </a:ln>
          </p:spPr>
          <p:txBody>
            <a:bodyPr/>
            <a:lstStyle/>
            <a:p>
              <a:endParaRPr lang="en-IN"/>
            </a:p>
          </p:txBody>
        </p:sp>
        <p:sp>
          <p:nvSpPr>
            <p:cNvPr id="1040" name="Line 14"/>
            <p:cNvSpPr>
              <a:spLocks noChangeShapeType="1"/>
            </p:cNvSpPr>
            <p:nvPr/>
          </p:nvSpPr>
          <p:spPr bwMode="auto">
            <a:xfrm>
              <a:off x="2976" y="1723"/>
              <a:ext cx="0" cy="175"/>
            </a:xfrm>
            <a:prstGeom prst="line">
              <a:avLst/>
            </a:prstGeom>
            <a:noFill/>
            <a:ln w="9525">
              <a:solidFill>
                <a:srgbClr val="000000"/>
              </a:solidFill>
              <a:round/>
              <a:headEnd/>
              <a:tailEnd/>
            </a:ln>
          </p:spPr>
          <p:txBody>
            <a:bodyPr/>
            <a:lstStyle/>
            <a:p>
              <a:endParaRPr lang="en-IN"/>
            </a:p>
          </p:txBody>
        </p:sp>
        <p:sp>
          <p:nvSpPr>
            <p:cNvPr id="1041" name="Line 15"/>
            <p:cNvSpPr>
              <a:spLocks noChangeShapeType="1"/>
            </p:cNvSpPr>
            <p:nvPr/>
          </p:nvSpPr>
          <p:spPr bwMode="auto">
            <a:xfrm>
              <a:off x="3840" y="1723"/>
              <a:ext cx="0" cy="175"/>
            </a:xfrm>
            <a:prstGeom prst="line">
              <a:avLst/>
            </a:prstGeom>
            <a:noFill/>
            <a:ln w="9525">
              <a:solidFill>
                <a:srgbClr val="000000"/>
              </a:solidFill>
              <a:round/>
              <a:headEnd/>
              <a:tailEnd/>
            </a:ln>
          </p:spPr>
          <p:txBody>
            <a:bodyPr/>
            <a:lstStyle/>
            <a:p>
              <a:endParaRPr lang="en-IN"/>
            </a:p>
          </p:txBody>
        </p:sp>
        <p:sp>
          <p:nvSpPr>
            <p:cNvPr id="1042" name="Line 16"/>
            <p:cNvSpPr>
              <a:spLocks noChangeShapeType="1"/>
            </p:cNvSpPr>
            <p:nvPr/>
          </p:nvSpPr>
          <p:spPr bwMode="auto">
            <a:xfrm>
              <a:off x="4704" y="1723"/>
              <a:ext cx="0" cy="175"/>
            </a:xfrm>
            <a:prstGeom prst="line">
              <a:avLst/>
            </a:prstGeom>
            <a:noFill/>
            <a:ln w="9525">
              <a:solidFill>
                <a:srgbClr val="000000"/>
              </a:solidFill>
              <a:round/>
              <a:headEnd/>
              <a:tailEnd/>
            </a:ln>
          </p:spPr>
          <p:txBody>
            <a:bodyPr/>
            <a:lstStyle/>
            <a:p>
              <a:endParaRPr lang="en-IN"/>
            </a:p>
          </p:txBody>
        </p:sp>
        <p:sp>
          <p:nvSpPr>
            <p:cNvPr id="1043" name="Line 17"/>
            <p:cNvSpPr>
              <a:spLocks noChangeShapeType="1"/>
            </p:cNvSpPr>
            <p:nvPr/>
          </p:nvSpPr>
          <p:spPr bwMode="auto">
            <a:xfrm>
              <a:off x="2960" y="2046"/>
              <a:ext cx="0" cy="563"/>
            </a:xfrm>
            <a:prstGeom prst="line">
              <a:avLst/>
            </a:prstGeom>
            <a:noFill/>
            <a:ln w="9525">
              <a:solidFill>
                <a:srgbClr val="000000"/>
              </a:solidFill>
              <a:round/>
              <a:headEnd/>
              <a:tailEnd/>
            </a:ln>
          </p:spPr>
          <p:txBody>
            <a:bodyPr/>
            <a:lstStyle/>
            <a:p>
              <a:endParaRPr lang="en-IN"/>
            </a:p>
          </p:txBody>
        </p:sp>
        <p:sp>
          <p:nvSpPr>
            <p:cNvPr id="1044" name="Line 18"/>
            <p:cNvSpPr>
              <a:spLocks noChangeShapeType="1"/>
            </p:cNvSpPr>
            <p:nvPr/>
          </p:nvSpPr>
          <p:spPr bwMode="auto">
            <a:xfrm>
              <a:off x="2652" y="2610"/>
              <a:ext cx="0" cy="327"/>
            </a:xfrm>
            <a:prstGeom prst="line">
              <a:avLst/>
            </a:prstGeom>
            <a:noFill/>
            <a:ln w="9525">
              <a:solidFill>
                <a:srgbClr val="000000"/>
              </a:solidFill>
              <a:round/>
              <a:headEnd/>
              <a:tailEnd/>
            </a:ln>
          </p:spPr>
          <p:txBody>
            <a:bodyPr/>
            <a:lstStyle/>
            <a:p>
              <a:endParaRPr lang="en-IN"/>
            </a:p>
          </p:txBody>
        </p:sp>
        <p:sp>
          <p:nvSpPr>
            <p:cNvPr id="1045" name="Line 19"/>
            <p:cNvSpPr>
              <a:spLocks noChangeShapeType="1"/>
            </p:cNvSpPr>
            <p:nvPr/>
          </p:nvSpPr>
          <p:spPr bwMode="auto">
            <a:xfrm>
              <a:off x="3282" y="2610"/>
              <a:ext cx="0" cy="327"/>
            </a:xfrm>
            <a:prstGeom prst="line">
              <a:avLst/>
            </a:prstGeom>
            <a:noFill/>
            <a:ln w="9525">
              <a:solidFill>
                <a:srgbClr val="000000"/>
              </a:solidFill>
              <a:round/>
              <a:headEnd/>
              <a:tailEnd/>
            </a:ln>
          </p:spPr>
          <p:txBody>
            <a:bodyPr/>
            <a:lstStyle/>
            <a:p>
              <a:endParaRPr lang="en-IN"/>
            </a:p>
          </p:txBody>
        </p:sp>
        <p:sp>
          <p:nvSpPr>
            <p:cNvPr id="1046" name="Text Box 20"/>
            <p:cNvSpPr txBox="1">
              <a:spLocks noChangeArrowheads="1"/>
            </p:cNvSpPr>
            <p:nvPr/>
          </p:nvSpPr>
          <p:spPr bwMode="auto">
            <a:xfrm>
              <a:off x="2382" y="2937"/>
              <a:ext cx="720" cy="218"/>
            </a:xfrm>
            <a:prstGeom prst="rect">
              <a:avLst/>
            </a:prstGeom>
            <a:solidFill>
              <a:srgbClr val="FFFFFF"/>
            </a:solidFill>
            <a:ln w="9525">
              <a:noFill/>
              <a:miter lim="800000"/>
              <a:headEnd/>
              <a:tailEnd/>
            </a:ln>
          </p:spPr>
          <p:txBody>
            <a:bodyPr/>
            <a:lstStyle/>
            <a:p>
              <a:pPr eaLnBrk="0" hangingPunct="0"/>
              <a:r>
                <a:rPr lang="en-US" sz="1500">
                  <a:latin typeface="Times New Roman" pitchFamily="18" charset="0"/>
                </a:rPr>
                <a:t>Humans</a:t>
              </a:r>
            </a:p>
          </p:txBody>
        </p:sp>
        <p:sp>
          <p:nvSpPr>
            <p:cNvPr id="1047" name="Text Box 21"/>
            <p:cNvSpPr txBox="1">
              <a:spLocks noChangeArrowheads="1"/>
            </p:cNvSpPr>
            <p:nvPr/>
          </p:nvSpPr>
          <p:spPr bwMode="auto">
            <a:xfrm>
              <a:off x="3012" y="2937"/>
              <a:ext cx="810" cy="218"/>
            </a:xfrm>
            <a:prstGeom prst="rect">
              <a:avLst/>
            </a:prstGeom>
            <a:solidFill>
              <a:srgbClr val="FFFFFF"/>
            </a:solidFill>
            <a:ln w="9525">
              <a:noFill/>
              <a:miter lim="800000"/>
              <a:headEnd/>
              <a:tailEnd/>
            </a:ln>
          </p:spPr>
          <p:txBody>
            <a:bodyPr/>
            <a:lstStyle/>
            <a:p>
              <a:pPr eaLnBrk="0" hangingPunct="0"/>
              <a:r>
                <a:rPr lang="en-US" sz="1500">
                  <a:latin typeface="Times New Roman" pitchFamily="18" charset="0"/>
                </a:rPr>
                <a:t>Non-Humans</a:t>
              </a:r>
            </a:p>
          </p:txBody>
        </p:sp>
        <p:grpSp>
          <p:nvGrpSpPr>
            <p:cNvPr id="3" name="Group 22"/>
            <p:cNvGrpSpPr>
              <a:grpSpLocks/>
            </p:cNvGrpSpPr>
            <p:nvPr/>
          </p:nvGrpSpPr>
          <p:grpSpPr bwMode="auto">
            <a:xfrm>
              <a:off x="2400" y="3168"/>
              <a:ext cx="510" cy="655"/>
              <a:chOff x="3787" y="7560"/>
              <a:chExt cx="1020" cy="1080"/>
            </a:xfrm>
          </p:grpSpPr>
          <p:pic>
            <p:nvPicPr>
              <p:cNvPr id="1052" name="Picture 23"/>
              <p:cNvPicPr>
                <a:picLocks noChangeAspect="1" noChangeArrowheads="1"/>
              </p:cNvPicPr>
              <p:nvPr/>
            </p:nvPicPr>
            <p:blipFill>
              <a:blip r:embed="rId6"/>
              <a:srcRect l="5508" t="74498" r="82780" b="10860"/>
              <a:stretch>
                <a:fillRect/>
              </a:stretch>
            </p:blipFill>
            <p:spPr bwMode="auto">
              <a:xfrm>
                <a:off x="3787" y="7589"/>
                <a:ext cx="1020" cy="915"/>
              </a:xfrm>
              <a:prstGeom prst="rect">
                <a:avLst/>
              </a:prstGeom>
              <a:noFill/>
              <a:ln w="9525">
                <a:noFill/>
                <a:miter lim="800000"/>
                <a:headEnd/>
                <a:tailEnd/>
              </a:ln>
            </p:spPr>
          </p:pic>
          <p:sp>
            <p:nvSpPr>
              <p:cNvPr id="1053" name="Text Box 24"/>
              <p:cNvSpPr txBox="1">
                <a:spLocks noChangeArrowheads="1"/>
              </p:cNvSpPr>
              <p:nvPr/>
            </p:nvSpPr>
            <p:spPr bwMode="auto">
              <a:xfrm>
                <a:off x="4155" y="7560"/>
                <a:ext cx="180" cy="1080"/>
              </a:xfrm>
              <a:prstGeom prst="rect">
                <a:avLst/>
              </a:prstGeom>
              <a:solidFill>
                <a:srgbClr val="FFFFFF"/>
              </a:solidFill>
              <a:ln w="9525">
                <a:noFill/>
                <a:miter lim="800000"/>
                <a:headEnd/>
                <a:tailEnd/>
              </a:ln>
            </p:spPr>
            <p:txBody>
              <a:bodyPr/>
              <a:lstStyle/>
              <a:p>
                <a:pPr eaLnBrk="0" hangingPunct="0"/>
                <a:endParaRPr lang="en-US" sz="1200">
                  <a:latin typeface="Times New Roman" pitchFamily="18" charset="0"/>
                </a:endParaRPr>
              </a:p>
            </p:txBody>
          </p:sp>
        </p:grpSp>
        <p:pic>
          <p:nvPicPr>
            <p:cNvPr id="1049" name="Picture 25"/>
            <p:cNvPicPr>
              <a:picLocks noChangeAspect="1" noChangeArrowheads="1"/>
            </p:cNvPicPr>
            <p:nvPr/>
          </p:nvPicPr>
          <p:blipFill>
            <a:blip r:embed="rId7"/>
            <a:srcRect l="37770" t="37358" r="48157" b="48218"/>
            <a:stretch>
              <a:fillRect/>
            </a:stretch>
          </p:blipFill>
          <p:spPr bwMode="auto">
            <a:xfrm>
              <a:off x="3120" y="3185"/>
              <a:ext cx="608" cy="545"/>
            </a:xfrm>
            <a:prstGeom prst="rect">
              <a:avLst/>
            </a:prstGeom>
            <a:noFill/>
            <a:ln w="9525">
              <a:noFill/>
              <a:miter lim="800000"/>
              <a:headEnd/>
              <a:tailEnd/>
            </a:ln>
          </p:spPr>
        </p:pic>
        <p:sp>
          <p:nvSpPr>
            <p:cNvPr id="1050" name="Text Box 26"/>
            <p:cNvSpPr txBox="1">
              <a:spLocks noChangeArrowheads="1"/>
            </p:cNvSpPr>
            <p:nvPr/>
          </p:nvSpPr>
          <p:spPr bwMode="auto">
            <a:xfrm>
              <a:off x="2294" y="3456"/>
              <a:ext cx="116" cy="288"/>
            </a:xfrm>
            <a:prstGeom prst="rect">
              <a:avLst/>
            </a:prstGeom>
            <a:solidFill>
              <a:schemeClr val="bg1"/>
            </a:solidFill>
            <a:ln w="6350">
              <a:noFill/>
              <a:miter lim="800000"/>
              <a:headEnd/>
              <a:tailEnd/>
            </a:ln>
          </p:spPr>
          <p:txBody>
            <a:bodyPr>
              <a:spAutoFit/>
            </a:bodyPr>
            <a:lstStyle/>
            <a:p>
              <a:pPr algn="ctr">
                <a:spcBef>
                  <a:spcPct val="50000"/>
                </a:spcBef>
              </a:pPr>
              <a:endParaRPr lang="en-US" sz="2400">
                <a:latin typeface="Times New Roman" pitchFamily="18" charset="0"/>
              </a:endParaRPr>
            </a:p>
          </p:txBody>
        </p:sp>
        <p:sp>
          <p:nvSpPr>
            <p:cNvPr id="1051" name="Text Box 27"/>
            <p:cNvSpPr txBox="1">
              <a:spLocks noChangeArrowheads="1"/>
            </p:cNvSpPr>
            <p:nvPr/>
          </p:nvSpPr>
          <p:spPr bwMode="auto">
            <a:xfrm>
              <a:off x="2592" y="3216"/>
              <a:ext cx="144" cy="288"/>
            </a:xfrm>
            <a:prstGeom prst="rect">
              <a:avLst/>
            </a:prstGeom>
            <a:solidFill>
              <a:schemeClr val="bg1"/>
            </a:solidFill>
            <a:ln w="6350">
              <a:noFill/>
              <a:miter lim="800000"/>
              <a:headEnd/>
              <a:tailEnd/>
            </a:ln>
          </p:spPr>
          <p:txBody>
            <a:bodyPr>
              <a:spAutoFit/>
            </a:bodyPr>
            <a:lstStyle/>
            <a:p>
              <a:pPr algn="ctr">
                <a:spcBef>
                  <a:spcPct val="50000"/>
                </a:spcBef>
              </a:pPr>
              <a:endParaRPr lang="en-US" sz="2400">
                <a:latin typeface="Times New Roman" pitchFamily="18" charset="0"/>
              </a:endParaRPr>
            </a:p>
          </p:txBody>
        </p:sp>
      </p:grpSp>
      <p:sp>
        <p:nvSpPr>
          <p:cNvPr id="1030" name="Text Box 28"/>
          <p:cNvSpPr txBox="1">
            <a:spLocks noChangeArrowheads="1"/>
          </p:cNvSpPr>
          <p:nvPr/>
        </p:nvSpPr>
        <p:spPr bwMode="auto">
          <a:xfrm>
            <a:off x="3733800" y="1295400"/>
            <a:ext cx="914400" cy="415925"/>
          </a:xfrm>
          <a:prstGeom prst="rect">
            <a:avLst/>
          </a:prstGeom>
          <a:noFill/>
          <a:ln w="9525">
            <a:solidFill>
              <a:srgbClr val="000000"/>
            </a:solidFill>
            <a:miter lim="800000"/>
            <a:headEnd/>
            <a:tailEnd/>
          </a:ln>
        </p:spPr>
        <p:txBody>
          <a:bodyPr/>
          <a:lstStyle/>
          <a:p>
            <a:pPr eaLnBrk="0" hangingPunct="0"/>
            <a:r>
              <a:rPr lang="en-US" sz="1500">
                <a:latin typeface="Times New Roman" pitchFamily="18" charset="0"/>
              </a:rPr>
              <a:t>Animals</a:t>
            </a:r>
          </a:p>
        </p:txBody>
      </p:sp>
      <p:sp>
        <p:nvSpPr>
          <p:cNvPr id="26653" name="Text Box 29"/>
          <p:cNvSpPr txBox="1">
            <a:spLocks noChangeArrowheads="1"/>
          </p:cNvSpPr>
          <p:nvPr/>
        </p:nvSpPr>
        <p:spPr bwMode="auto">
          <a:xfrm>
            <a:off x="457200" y="304800"/>
            <a:ext cx="7620000" cy="519113"/>
          </a:xfrm>
          <a:prstGeom prst="rect">
            <a:avLst/>
          </a:prstGeom>
          <a:noFill/>
          <a:ln w="6350">
            <a:noFill/>
            <a:miter lim="800000"/>
            <a:headEnd/>
            <a:tailEnd/>
          </a:ln>
          <a:effectLst/>
        </p:spPr>
        <p:txBody>
          <a:bodyPr>
            <a:spAutoFit/>
          </a:bodyPr>
          <a:lstStyle/>
          <a:p>
            <a:pPr algn="r">
              <a:spcBef>
                <a:spcPct val="50000"/>
              </a:spcBef>
              <a:defRPr/>
            </a:pPr>
            <a:r>
              <a:rPr lang="en-US" sz="2800" b="1">
                <a:solidFill>
                  <a:srgbClr val="000099"/>
                </a:solidFill>
                <a:effectLst>
                  <a:outerShdw blurRad="38100" dist="38100" dir="2700000" algn="tl">
                    <a:srgbClr val="000000"/>
                  </a:outerShdw>
                </a:effectLst>
                <a:latin typeface="Times New Roman" pitchFamily="18" charset="0"/>
              </a:rPr>
              <a:t>Reusability can be achieved through inheritance</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b="1" smtClean="0">
                <a:solidFill>
                  <a:srgbClr val="000099"/>
                </a:solidFill>
              </a:rPr>
              <a:t>Reusability</a:t>
            </a:r>
          </a:p>
        </p:txBody>
      </p:sp>
      <p:sp>
        <p:nvSpPr>
          <p:cNvPr id="22531" name="Text Box 3"/>
          <p:cNvSpPr txBox="1">
            <a:spLocks noChangeArrowheads="1"/>
          </p:cNvSpPr>
          <p:nvPr/>
        </p:nvSpPr>
        <p:spPr bwMode="auto">
          <a:xfrm>
            <a:off x="685800" y="1676400"/>
            <a:ext cx="3886200" cy="2874963"/>
          </a:xfrm>
          <a:prstGeom prst="rect">
            <a:avLst/>
          </a:prstGeom>
          <a:noFill/>
          <a:ln w="6350">
            <a:solidFill>
              <a:schemeClr val="tx1"/>
            </a:solidFill>
            <a:miter lim="800000"/>
            <a:headEnd/>
            <a:tailEnd/>
          </a:ln>
        </p:spPr>
        <p:txBody>
          <a:bodyPr>
            <a:spAutoFit/>
          </a:bodyPr>
          <a:lstStyle/>
          <a:p>
            <a:pPr>
              <a:spcBef>
                <a:spcPct val="50000"/>
              </a:spcBef>
            </a:pPr>
            <a:r>
              <a:rPr lang="en-US" sz="2800" b="1">
                <a:solidFill>
                  <a:srgbClr val="000099"/>
                </a:solidFill>
                <a:latin typeface="Times New Roman" pitchFamily="18" charset="0"/>
              </a:rPr>
              <a:t>Programs can be broken  into reusable objects</a:t>
            </a:r>
          </a:p>
          <a:p>
            <a:pPr>
              <a:spcBef>
                <a:spcPct val="50000"/>
              </a:spcBef>
            </a:pPr>
            <a:r>
              <a:rPr lang="en-US" sz="2800" b="1">
                <a:solidFill>
                  <a:srgbClr val="000099"/>
                </a:solidFill>
                <a:latin typeface="Times New Roman" pitchFamily="18" charset="0"/>
              </a:rPr>
              <a:t>Existing classes can be used with additional features</a:t>
            </a:r>
          </a:p>
        </p:txBody>
      </p:sp>
      <p:grpSp>
        <p:nvGrpSpPr>
          <p:cNvPr id="2" name="Group 4"/>
          <p:cNvGrpSpPr>
            <a:grpSpLocks/>
          </p:cNvGrpSpPr>
          <p:nvPr/>
        </p:nvGrpSpPr>
        <p:grpSpPr bwMode="auto">
          <a:xfrm>
            <a:off x="4876800" y="2133600"/>
            <a:ext cx="3733800" cy="2667000"/>
            <a:chOff x="3072" y="1728"/>
            <a:chExt cx="2352" cy="1680"/>
          </a:xfrm>
        </p:grpSpPr>
        <p:sp>
          <p:nvSpPr>
            <p:cNvPr id="22533" name="Line 5"/>
            <p:cNvSpPr>
              <a:spLocks noChangeShapeType="1"/>
            </p:cNvSpPr>
            <p:nvPr/>
          </p:nvSpPr>
          <p:spPr bwMode="auto">
            <a:xfrm>
              <a:off x="4165" y="2064"/>
              <a:ext cx="0" cy="299"/>
            </a:xfrm>
            <a:prstGeom prst="line">
              <a:avLst/>
            </a:prstGeom>
            <a:noFill/>
            <a:ln w="38100">
              <a:solidFill>
                <a:srgbClr val="000000"/>
              </a:solidFill>
              <a:round/>
              <a:headEnd/>
              <a:tailEnd/>
            </a:ln>
          </p:spPr>
          <p:txBody>
            <a:bodyPr/>
            <a:lstStyle/>
            <a:p>
              <a:endParaRPr lang="en-IN"/>
            </a:p>
          </p:txBody>
        </p:sp>
        <p:sp>
          <p:nvSpPr>
            <p:cNvPr id="22534" name="Line 6"/>
            <p:cNvSpPr>
              <a:spLocks noChangeShapeType="1"/>
            </p:cNvSpPr>
            <p:nvPr/>
          </p:nvSpPr>
          <p:spPr bwMode="auto">
            <a:xfrm>
              <a:off x="3306" y="2363"/>
              <a:ext cx="1558" cy="0"/>
            </a:xfrm>
            <a:prstGeom prst="line">
              <a:avLst/>
            </a:prstGeom>
            <a:noFill/>
            <a:ln w="38100">
              <a:solidFill>
                <a:srgbClr val="000000"/>
              </a:solidFill>
              <a:round/>
              <a:headEnd/>
              <a:tailEnd/>
            </a:ln>
          </p:spPr>
          <p:txBody>
            <a:bodyPr/>
            <a:lstStyle/>
            <a:p>
              <a:endParaRPr lang="en-IN"/>
            </a:p>
          </p:txBody>
        </p:sp>
        <p:sp>
          <p:nvSpPr>
            <p:cNvPr id="22535" name="Line 7"/>
            <p:cNvSpPr>
              <a:spLocks noChangeShapeType="1"/>
            </p:cNvSpPr>
            <p:nvPr/>
          </p:nvSpPr>
          <p:spPr bwMode="auto">
            <a:xfrm>
              <a:off x="3306" y="2363"/>
              <a:ext cx="0" cy="229"/>
            </a:xfrm>
            <a:prstGeom prst="line">
              <a:avLst/>
            </a:prstGeom>
            <a:noFill/>
            <a:ln w="38100">
              <a:solidFill>
                <a:srgbClr val="000000"/>
              </a:solidFill>
              <a:round/>
              <a:headEnd/>
              <a:tailEnd/>
            </a:ln>
          </p:spPr>
          <p:txBody>
            <a:bodyPr/>
            <a:lstStyle/>
            <a:p>
              <a:endParaRPr lang="en-IN"/>
            </a:p>
          </p:txBody>
        </p:sp>
        <p:sp>
          <p:nvSpPr>
            <p:cNvPr id="22536" name="Line 8"/>
            <p:cNvSpPr>
              <a:spLocks noChangeShapeType="1"/>
            </p:cNvSpPr>
            <p:nvPr/>
          </p:nvSpPr>
          <p:spPr bwMode="auto">
            <a:xfrm>
              <a:off x="4864" y="2363"/>
              <a:ext cx="0" cy="229"/>
            </a:xfrm>
            <a:prstGeom prst="line">
              <a:avLst/>
            </a:prstGeom>
            <a:noFill/>
            <a:ln w="38100">
              <a:solidFill>
                <a:srgbClr val="000000"/>
              </a:solidFill>
              <a:round/>
              <a:headEnd/>
              <a:tailEnd/>
            </a:ln>
          </p:spPr>
          <p:txBody>
            <a:bodyPr/>
            <a:lstStyle/>
            <a:p>
              <a:endParaRPr lang="en-IN"/>
            </a:p>
          </p:txBody>
        </p:sp>
        <p:sp>
          <p:nvSpPr>
            <p:cNvPr id="22537" name="Rectangle 9"/>
            <p:cNvSpPr>
              <a:spLocks noChangeArrowheads="1"/>
            </p:cNvSpPr>
            <p:nvPr/>
          </p:nvSpPr>
          <p:spPr bwMode="auto">
            <a:xfrm>
              <a:off x="3153" y="2544"/>
              <a:ext cx="324" cy="288"/>
            </a:xfrm>
            <a:prstGeom prst="rect">
              <a:avLst/>
            </a:prstGeom>
            <a:gradFill rotWithShape="0">
              <a:gsLst>
                <a:gs pos="0">
                  <a:srgbClr val="808080"/>
                </a:gs>
                <a:gs pos="100000">
                  <a:srgbClr val="B2B2B2"/>
                </a:gs>
              </a:gsLst>
              <a:lin ang="18900000" scaled="1"/>
            </a:gradFill>
            <a:ln w="38100">
              <a:solidFill>
                <a:srgbClr val="000000"/>
              </a:solidFill>
              <a:miter lim="800000"/>
              <a:headEnd/>
              <a:tailEnd/>
            </a:ln>
          </p:spPr>
          <p:txBody>
            <a:bodyPr/>
            <a:lstStyle/>
            <a:p>
              <a:endParaRPr lang="en-US"/>
            </a:p>
          </p:txBody>
        </p:sp>
        <p:sp>
          <p:nvSpPr>
            <p:cNvPr id="22538" name="Rectangle 10"/>
            <p:cNvSpPr>
              <a:spLocks noChangeArrowheads="1"/>
            </p:cNvSpPr>
            <p:nvPr/>
          </p:nvSpPr>
          <p:spPr bwMode="auto">
            <a:xfrm>
              <a:off x="4212" y="2496"/>
              <a:ext cx="1164" cy="336"/>
            </a:xfrm>
            <a:prstGeom prst="rect">
              <a:avLst/>
            </a:prstGeom>
            <a:gradFill rotWithShape="0">
              <a:gsLst>
                <a:gs pos="0">
                  <a:srgbClr val="808080"/>
                </a:gs>
                <a:gs pos="100000">
                  <a:srgbClr val="B2B2B2"/>
                </a:gs>
              </a:gsLst>
              <a:lin ang="18900000" scaled="1"/>
            </a:gradFill>
            <a:ln w="38100">
              <a:solidFill>
                <a:srgbClr val="000000"/>
              </a:solidFill>
              <a:miter lim="800000"/>
              <a:headEnd/>
              <a:tailEnd/>
            </a:ln>
          </p:spPr>
          <p:txBody>
            <a:bodyPr/>
            <a:lstStyle/>
            <a:p>
              <a:endParaRPr lang="en-US"/>
            </a:p>
          </p:txBody>
        </p:sp>
        <p:sp>
          <p:nvSpPr>
            <p:cNvPr id="22539" name="Line 11"/>
            <p:cNvSpPr>
              <a:spLocks noChangeShapeType="1"/>
            </p:cNvSpPr>
            <p:nvPr/>
          </p:nvSpPr>
          <p:spPr bwMode="auto">
            <a:xfrm>
              <a:off x="4878" y="2832"/>
              <a:ext cx="0" cy="192"/>
            </a:xfrm>
            <a:prstGeom prst="line">
              <a:avLst/>
            </a:prstGeom>
            <a:noFill/>
            <a:ln w="38100">
              <a:solidFill>
                <a:srgbClr val="000000"/>
              </a:solidFill>
              <a:round/>
              <a:headEnd/>
              <a:tailEnd/>
            </a:ln>
          </p:spPr>
          <p:txBody>
            <a:bodyPr/>
            <a:lstStyle/>
            <a:p>
              <a:endParaRPr lang="en-IN"/>
            </a:p>
          </p:txBody>
        </p:sp>
        <p:sp>
          <p:nvSpPr>
            <p:cNvPr id="22540" name="Rectangle 12"/>
            <p:cNvSpPr>
              <a:spLocks noChangeArrowheads="1"/>
            </p:cNvSpPr>
            <p:nvPr/>
          </p:nvSpPr>
          <p:spPr bwMode="auto">
            <a:xfrm>
              <a:off x="4080" y="3120"/>
              <a:ext cx="1344" cy="288"/>
            </a:xfrm>
            <a:prstGeom prst="rect">
              <a:avLst/>
            </a:prstGeom>
            <a:gradFill rotWithShape="0">
              <a:gsLst>
                <a:gs pos="0">
                  <a:srgbClr val="C0C0C0"/>
                </a:gs>
                <a:gs pos="100000">
                  <a:srgbClr val="A6A6A6"/>
                </a:gs>
              </a:gsLst>
              <a:lin ang="5400000" scaled="1"/>
            </a:gradFill>
            <a:ln w="9525">
              <a:miter lim="800000"/>
              <a:headEnd/>
              <a:tailEnd/>
            </a:ln>
            <a:scene3d>
              <a:camera prst="legacyObliqueTopRight"/>
              <a:lightRig rig="legacyFlat3" dir="b"/>
            </a:scene3d>
            <a:sp3d extrusionH="430200" prstMaterial="legacyMatte">
              <a:bevelT w="13500" h="13500" prst="angle"/>
              <a:bevelB w="13500" h="13500" prst="angle"/>
              <a:extrusionClr>
                <a:srgbClr val="C0C0C0"/>
              </a:extrusionClr>
            </a:sp3d>
          </p:spPr>
          <p:txBody>
            <a:bodyPr>
              <a:flatTx/>
            </a:bodyPr>
            <a:lstStyle/>
            <a:p>
              <a:endParaRPr lang="en-US"/>
            </a:p>
          </p:txBody>
        </p:sp>
        <p:sp>
          <p:nvSpPr>
            <p:cNvPr id="22541" name="Rectangle 13"/>
            <p:cNvSpPr>
              <a:spLocks noChangeArrowheads="1"/>
            </p:cNvSpPr>
            <p:nvPr/>
          </p:nvSpPr>
          <p:spPr bwMode="auto">
            <a:xfrm>
              <a:off x="3072" y="3072"/>
              <a:ext cx="336" cy="336"/>
            </a:xfrm>
            <a:prstGeom prst="rect">
              <a:avLst/>
            </a:prstGeom>
            <a:gradFill rotWithShape="0">
              <a:gsLst>
                <a:gs pos="0">
                  <a:srgbClr val="C0C0C0"/>
                </a:gs>
                <a:gs pos="100000">
                  <a:srgbClr val="9D9D9D"/>
                </a:gs>
              </a:gsLst>
              <a:lin ang="5400000" scaled="1"/>
            </a:gradFill>
            <a:ln w="9525">
              <a:miter lim="800000"/>
              <a:headEnd/>
              <a:tailEnd/>
            </a:ln>
            <a:scene3d>
              <a:camera prst="legacyObliqueTopRight"/>
              <a:lightRig rig="legacyNormal3" dir="b"/>
            </a:scene3d>
            <a:sp3d extrusionH="430200" prstMaterial="legacyMetal">
              <a:bevelT w="13500" h="13500" prst="angle"/>
              <a:bevelB w="13500" h="13500" prst="angle"/>
              <a:extrusionClr>
                <a:srgbClr val="FFFFFF"/>
              </a:extrusionClr>
            </a:sp3d>
          </p:spPr>
          <p:txBody>
            <a:bodyPr wrap="none" anchor="ctr">
              <a:flatTx/>
            </a:bodyPr>
            <a:lstStyle/>
            <a:p>
              <a:endParaRPr lang="en-US"/>
            </a:p>
          </p:txBody>
        </p:sp>
        <p:sp>
          <p:nvSpPr>
            <p:cNvPr id="22542" name="Line 14"/>
            <p:cNvSpPr>
              <a:spLocks noChangeShapeType="1"/>
            </p:cNvSpPr>
            <p:nvPr/>
          </p:nvSpPr>
          <p:spPr bwMode="auto">
            <a:xfrm>
              <a:off x="3312" y="2830"/>
              <a:ext cx="0" cy="146"/>
            </a:xfrm>
            <a:prstGeom prst="line">
              <a:avLst/>
            </a:prstGeom>
            <a:noFill/>
            <a:ln w="38100">
              <a:solidFill>
                <a:srgbClr val="000000"/>
              </a:solidFill>
              <a:round/>
              <a:headEnd/>
              <a:tailEnd/>
            </a:ln>
          </p:spPr>
          <p:txBody>
            <a:bodyPr/>
            <a:lstStyle/>
            <a:p>
              <a:endParaRPr lang="en-IN"/>
            </a:p>
          </p:txBody>
        </p:sp>
        <p:sp>
          <p:nvSpPr>
            <p:cNvPr id="27663" name="Text Box 15"/>
            <p:cNvSpPr txBox="1">
              <a:spLocks noChangeArrowheads="1"/>
            </p:cNvSpPr>
            <p:nvPr/>
          </p:nvSpPr>
          <p:spPr bwMode="auto">
            <a:xfrm>
              <a:off x="3456" y="1728"/>
              <a:ext cx="1488" cy="351"/>
            </a:xfrm>
            <a:prstGeom prst="rect">
              <a:avLst/>
            </a:prstGeom>
            <a:noFill/>
            <a:ln w="38100">
              <a:solidFill>
                <a:srgbClr val="000000"/>
              </a:solidFill>
              <a:miter lim="800000"/>
              <a:headEnd/>
              <a:tailEnd/>
            </a:ln>
            <a:effectLst/>
          </p:spPr>
          <p:txBody>
            <a:bodyPr>
              <a:spAutoFit/>
            </a:bodyPr>
            <a:lstStyle/>
            <a:p>
              <a:pPr algn="ctr">
                <a:spcBef>
                  <a:spcPct val="50000"/>
                </a:spcBef>
                <a:defRPr/>
              </a:pPr>
              <a:r>
                <a:rPr lang="en-US" sz="2800" b="1" i="1">
                  <a:solidFill>
                    <a:srgbClr val="000099"/>
                  </a:solidFill>
                  <a:effectLst>
                    <a:outerShdw blurRad="38100" dist="38100" dir="2700000" algn="tl">
                      <a:srgbClr val="000000"/>
                    </a:outerShdw>
                  </a:effectLst>
                  <a:latin typeface="Times New Roman" pitchFamily="18" charset="0"/>
                </a:rPr>
                <a:t>Shape </a:t>
              </a:r>
            </a:p>
          </p:txBody>
        </p:sp>
      </p:gr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2"/>
          <p:cNvSpPr txBox="1">
            <a:spLocks noChangeArrowheads="1"/>
          </p:cNvSpPr>
          <p:nvPr/>
        </p:nvSpPr>
        <p:spPr bwMode="auto">
          <a:xfrm>
            <a:off x="1347788" y="646113"/>
            <a:ext cx="6210300" cy="762000"/>
          </a:xfrm>
          <a:prstGeom prst="rect">
            <a:avLst/>
          </a:prstGeom>
          <a:noFill/>
          <a:ln w="9525">
            <a:noFill/>
            <a:miter lim="800000"/>
            <a:headEnd/>
            <a:tailEnd/>
          </a:ln>
          <a:effectLst/>
        </p:spPr>
        <p:txBody>
          <a:bodyPr wrap="none">
            <a:spAutoFit/>
          </a:bodyPr>
          <a:lstStyle/>
          <a:p>
            <a:pPr>
              <a:defRPr/>
            </a:pPr>
            <a:r>
              <a:rPr lang="en-US" sz="4400" b="1">
                <a:solidFill>
                  <a:srgbClr val="000066"/>
                </a:solidFill>
                <a:effectLst>
                  <a:outerShdw blurRad="38100" dist="38100" dir="2700000" algn="tl">
                    <a:srgbClr val="000000"/>
                  </a:outerShdw>
                </a:effectLst>
                <a:latin typeface="Coronet" pitchFamily="66" charset="0"/>
                <a:cs typeface="Times New Roman" pitchFamily="18" charset="0"/>
              </a:rPr>
              <a:t>Benefits of Inheritance</a:t>
            </a:r>
          </a:p>
        </p:txBody>
      </p:sp>
      <p:grpSp>
        <p:nvGrpSpPr>
          <p:cNvPr id="2" name="Group 3"/>
          <p:cNvGrpSpPr>
            <a:grpSpLocks/>
          </p:cNvGrpSpPr>
          <p:nvPr/>
        </p:nvGrpSpPr>
        <p:grpSpPr bwMode="auto">
          <a:xfrm>
            <a:off x="685800" y="1752600"/>
            <a:ext cx="6858000" cy="1066800"/>
            <a:chOff x="432" y="1056"/>
            <a:chExt cx="4320" cy="672"/>
          </a:xfrm>
        </p:grpSpPr>
        <p:sp>
          <p:nvSpPr>
            <p:cNvPr id="23565" name="AutoShape 4"/>
            <p:cNvSpPr>
              <a:spLocks noChangeArrowheads="1"/>
            </p:cNvSpPr>
            <p:nvPr/>
          </p:nvSpPr>
          <p:spPr bwMode="auto">
            <a:xfrm>
              <a:off x="432" y="1056"/>
              <a:ext cx="4320" cy="672"/>
            </a:xfrm>
            <a:prstGeom prst="ellipseRibbon2">
              <a:avLst>
                <a:gd name="adj1" fmla="val 25000"/>
                <a:gd name="adj2" fmla="val 50000"/>
                <a:gd name="adj3" fmla="val 12500"/>
              </a:avLst>
            </a:prstGeom>
            <a:gradFill rotWithShape="0">
              <a:gsLst>
                <a:gs pos="0">
                  <a:schemeClr val="tx1"/>
                </a:gs>
                <a:gs pos="100000">
                  <a:srgbClr val="FFFF00"/>
                </a:gs>
              </a:gsLst>
              <a:lin ang="0" scaled="1"/>
            </a:gradFill>
            <a:ln w="9525">
              <a:solidFill>
                <a:schemeClr val="tx1"/>
              </a:solidFill>
              <a:round/>
              <a:headEnd/>
              <a:tailEnd/>
            </a:ln>
          </p:spPr>
          <p:txBody>
            <a:bodyPr wrap="none" anchor="ctr"/>
            <a:lstStyle/>
            <a:p>
              <a:endParaRPr lang="en-US"/>
            </a:p>
          </p:txBody>
        </p:sp>
        <p:sp>
          <p:nvSpPr>
            <p:cNvPr id="23566" name="WordArt 5"/>
            <p:cNvSpPr>
              <a:spLocks noChangeArrowheads="1" noChangeShapeType="1" noTextEdit="1"/>
            </p:cNvSpPr>
            <p:nvPr/>
          </p:nvSpPr>
          <p:spPr bwMode="auto">
            <a:xfrm>
              <a:off x="1632" y="1104"/>
              <a:ext cx="1920" cy="408"/>
            </a:xfrm>
            <a:prstGeom prst="rect">
              <a:avLst/>
            </a:prstGeom>
          </p:spPr>
          <p:txBody>
            <a:bodyPr wrap="none" fromWordArt="1">
              <a:prstTxWarp prst="textPlain">
                <a:avLst>
                  <a:gd name="adj" fmla="val 50000"/>
                </a:avLst>
              </a:prstTxWarp>
            </a:bodyPr>
            <a:lstStyle/>
            <a:p>
              <a:pPr algn="ctr"/>
              <a:r>
                <a:rPr lang="en-IN"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a:rPr>
                <a:t>Software Reuse</a:t>
              </a:r>
            </a:p>
          </p:txBody>
        </p:sp>
      </p:grpSp>
      <p:grpSp>
        <p:nvGrpSpPr>
          <p:cNvPr id="3" name="Group 6"/>
          <p:cNvGrpSpPr>
            <a:grpSpLocks/>
          </p:cNvGrpSpPr>
          <p:nvPr/>
        </p:nvGrpSpPr>
        <p:grpSpPr bwMode="auto">
          <a:xfrm>
            <a:off x="685800" y="2895600"/>
            <a:ext cx="6858000" cy="1066800"/>
            <a:chOff x="432" y="1824"/>
            <a:chExt cx="4320" cy="672"/>
          </a:xfrm>
        </p:grpSpPr>
        <p:sp>
          <p:nvSpPr>
            <p:cNvPr id="23563" name="AutoShape 7"/>
            <p:cNvSpPr>
              <a:spLocks noChangeArrowheads="1"/>
            </p:cNvSpPr>
            <p:nvPr/>
          </p:nvSpPr>
          <p:spPr bwMode="auto">
            <a:xfrm>
              <a:off x="432" y="1824"/>
              <a:ext cx="4320" cy="672"/>
            </a:xfrm>
            <a:prstGeom prst="ellipseRibbon2">
              <a:avLst>
                <a:gd name="adj1" fmla="val 25000"/>
                <a:gd name="adj2" fmla="val 50000"/>
                <a:gd name="adj3" fmla="val 12500"/>
              </a:avLst>
            </a:prstGeom>
            <a:gradFill rotWithShape="0">
              <a:gsLst>
                <a:gs pos="0">
                  <a:schemeClr val="tx1"/>
                </a:gs>
                <a:gs pos="100000">
                  <a:srgbClr val="FFFF00"/>
                </a:gs>
              </a:gsLst>
              <a:lin ang="0" scaled="1"/>
            </a:gradFill>
            <a:ln w="9525">
              <a:solidFill>
                <a:schemeClr val="tx1"/>
              </a:solidFill>
              <a:round/>
              <a:headEnd/>
              <a:tailEnd/>
            </a:ln>
          </p:spPr>
          <p:txBody>
            <a:bodyPr wrap="none" anchor="ctr"/>
            <a:lstStyle/>
            <a:p>
              <a:endParaRPr lang="en-US"/>
            </a:p>
          </p:txBody>
        </p:sp>
        <p:sp>
          <p:nvSpPr>
            <p:cNvPr id="23564" name="WordArt 8"/>
            <p:cNvSpPr>
              <a:spLocks noChangeArrowheads="1" noChangeShapeType="1" noTextEdit="1"/>
            </p:cNvSpPr>
            <p:nvPr/>
          </p:nvSpPr>
          <p:spPr bwMode="auto">
            <a:xfrm>
              <a:off x="1632" y="1872"/>
              <a:ext cx="1920" cy="408"/>
            </a:xfrm>
            <a:prstGeom prst="rect">
              <a:avLst/>
            </a:prstGeom>
          </p:spPr>
          <p:txBody>
            <a:bodyPr wrap="none" fromWordArt="1">
              <a:prstTxWarp prst="textPlain">
                <a:avLst>
                  <a:gd name="adj" fmla="val 50000"/>
                </a:avLst>
              </a:prstTxWarp>
            </a:bodyPr>
            <a:lstStyle/>
            <a:p>
              <a:pPr algn="ctr"/>
              <a:r>
                <a:rPr lang="en-IN"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a:rPr>
                <a:t>Code Sharing</a:t>
              </a:r>
            </a:p>
          </p:txBody>
        </p:sp>
      </p:grpSp>
      <p:grpSp>
        <p:nvGrpSpPr>
          <p:cNvPr id="4" name="Group 9"/>
          <p:cNvGrpSpPr>
            <a:grpSpLocks/>
          </p:cNvGrpSpPr>
          <p:nvPr/>
        </p:nvGrpSpPr>
        <p:grpSpPr bwMode="auto">
          <a:xfrm>
            <a:off x="685800" y="4038600"/>
            <a:ext cx="6858000" cy="1066800"/>
            <a:chOff x="432" y="2592"/>
            <a:chExt cx="4320" cy="672"/>
          </a:xfrm>
        </p:grpSpPr>
        <p:sp>
          <p:nvSpPr>
            <p:cNvPr id="23561" name="AutoShape 10"/>
            <p:cNvSpPr>
              <a:spLocks noChangeArrowheads="1"/>
            </p:cNvSpPr>
            <p:nvPr/>
          </p:nvSpPr>
          <p:spPr bwMode="auto">
            <a:xfrm>
              <a:off x="432" y="2592"/>
              <a:ext cx="4320" cy="672"/>
            </a:xfrm>
            <a:prstGeom prst="ellipseRibbon2">
              <a:avLst>
                <a:gd name="adj1" fmla="val 25000"/>
                <a:gd name="adj2" fmla="val 50000"/>
                <a:gd name="adj3" fmla="val 12500"/>
              </a:avLst>
            </a:prstGeom>
            <a:gradFill rotWithShape="0">
              <a:gsLst>
                <a:gs pos="0">
                  <a:schemeClr val="tx1"/>
                </a:gs>
                <a:gs pos="100000">
                  <a:srgbClr val="FFFF00"/>
                </a:gs>
              </a:gsLst>
              <a:lin ang="0" scaled="1"/>
            </a:gradFill>
            <a:ln w="9525">
              <a:solidFill>
                <a:schemeClr val="tx1"/>
              </a:solidFill>
              <a:round/>
              <a:headEnd/>
              <a:tailEnd/>
            </a:ln>
          </p:spPr>
          <p:txBody>
            <a:bodyPr wrap="none" anchor="ctr"/>
            <a:lstStyle/>
            <a:p>
              <a:endParaRPr lang="en-US"/>
            </a:p>
          </p:txBody>
        </p:sp>
        <p:sp>
          <p:nvSpPr>
            <p:cNvPr id="23562" name="WordArt 11"/>
            <p:cNvSpPr>
              <a:spLocks noChangeArrowheads="1" noChangeShapeType="1" noTextEdit="1"/>
            </p:cNvSpPr>
            <p:nvPr/>
          </p:nvSpPr>
          <p:spPr bwMode="auto">
            <a:xfrm>
              <a:off x="1564" y="2630"/>
              <a:ext cx="2112" cy="480"/>
            </a:xfrm>
            <a:prstGeom prst="rect">
              <a:avLst/>
            </a:prstGeom>
          </p:spPr>
          <p:txBody>
            <a:bodyPr wrap="none" fromWordArt="1">
              <a:prstTxWarp prst="textPlain">
                <a:avLst>
                  <a:gd name="adj" fmla="val 50000"/>
                </a:avLst>
              </a:prstTxWarp>
            </a:bodyPr>
            <a:lstStyle/>
            <a:p>
              <a:pPr algn="ctr"/>
              <a:r>
                <a:rPr lang="en-IN"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a:rPr>
                <a:t>Improved Reliability</a:t>
              </a:r>
            </a:p>
          </p:txBody>
        </p:sp>
      </p:grpSp>
      <p:grpSp>
        <p:nvGrpSpPr>
          <p:cNvPr id="5" name="Group 12"/>
          <p:cNvGrpSpPr>
            <a:grpSpLocks/>
          </p:cNvGrpSpPr>
          <p:nvPr/>
        </p:nvGrpSpPr>
        <p:grpSpPr bwMode="auto">
          <a:xfrm>
            <a:off x="685800" y="5181600"/>
            <a:ext cx="6858000" cy="1066800"/>
            <a:chOff x="432" y="3216"/>
            <a:chExt cx="4320" cy="672"/>
          </a:xfrm>
        </p:grpSpPr>
        <p:sp>
          <p:nvSpPr>
            <p:cNvPr id="23559" name="AutoShape 13"/>
            <p:cNvSpPr>
              <a:spLocks noChangeArrowheads="1"/>
            </p:cNvSpPr>
            <p:nvPr/>
          </p:nvSpPr>
          <p:spPr bwMode="auto">
            <a:xfrm>
              <a:off x="432" y="3216"/>
              <a:ext cx="4320" cy="672"/>
            </a:xfrm>
            <a:prstGeom prst="ellipseRibbon2">
              <a:avLst>
                <a:gd name="adj1" fmla="val 25000"/>
                <a:gd name="adj2" fmla="val 50000"/>
                <a:gd name="adj3" fmla="val 12500"/>
              </a:avLst>
            </a:prstGeom>
            <a:gradFill rotWithShape="0">
              <a:gsLst>
                <a:gs pos="0">
                  <a:schemeClr val="tx1"/>
                </a:gs>
                <a:gs pos="100000">
                  <a:srgbClr val="FFFF00"/>
                </a:gs>
              </a:gsLst>
              <a:lin ang="0" scaled="1"/>
            </a:gradFill>
            <a:ln w="9525">
              <a:solidFill>
                <a:schemeClr val="tx1"/>
              </a:solidFill>
              <a:round/>
              <a:headEnd/>
              <a:tailEnd/>
            </a:ln>
          </p:spPr>
          <p:txBody>
            <a:bodyPr wrap="none" anchor="ctr"/>
            <a:lstStyle/>
            <a:p>
              <a:endParaRPr lang="en-US"/>
            </a:p>
          </p:txBody>
        </p:sp>
        <p:sp>
          <p:nvSpPr>
            <p:cNvPr id="23560" name="WordArt 14"/>
            <p:cNvSpPr>
              <a:spLocks noChangeArrowheads="1" noChangeShapeType="1" noTextEdit="1"/>
            </p:cNvSpPr>
            <p:nvPr/>
          </p:nvSpPr>
          <p:spPr bwMode="auto">
            <a:xfrm>
              <a:off x="1564" y="3254"/>
              <a:ext cx="2112" cy="480"/>
            </a:xfrm>
            <a:prstGeom prst="rect">
              <a:avLst/>
            </a:prstGeom>
          </p:spPr>
          <p:txBody>
            <a:bodyPr wrap="none" fromWordArt="1">
              <a:prstTxWarp prst="textPlain">
                <a:avLst>
                  <a:gd name="adj" fmla="val 50000"/>
                </a:avLst>
              </a:prstTxWarp>
            </a:bodyPr>
            <a:lstStyle/>
            <a:p>
              <a:pPr algn="ctr"/>
              <a:r>
                <a:rPr lang="en-IN"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a:rPr>
                <a:t>Rapid Prototyping</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ppt_w</p:attrName>
                                        </p:attrNameLst>
                                      </p:cBhvr>
                                      <p:tavLst>
                                        <p:tav tm="0">
                                          <p:val>
                                            <p:fltVal val="0"/>
                                          </p:val>
                                        </p:tav>
                                        <p:tav tm="100000">
                                          <p:val>
                                            <p:strVal val="#ppt_w"/>
                                          </p:val>
                                        </p:tav>
                                      </p:tavLst>
                                    </p:anim>
                                    <p:anim calcmode="lin" valueType="num">
                                      <p:cBhvr>
                                        <p:cTn id="14" dur="500" fill="hold"/>
                                        <p:tgtEl>
                                          <p:spTgt spid="3"/>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7" presetClass="entr" presetSubtype="1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p:cTn id="19" dur="500" fill="hold"/>
                                        <p:tgtEl>
                                          <p:spTgt spid="4"/>
                                        </p:tgtEl>
                                        <p:attrNameLst>
                                          <p:attrName>ppt_w</p:attrName>
                                        </p:attrNameLst>
                                      </p:cBhvr>
                                      <p:tavLst>
                                        <p:tav tm="0">
                                          <p:val>
                                            <p:fltVal val="0"/>
                                          </p:val>
                                        </p:tav>
                                        <p:tav tm="100000">
                                          <p:val>
                                            <p:strVal val="#ppt_w"/>
                                          </p:val>
                                        </p:tav>
                                      </p:tavLst>
                                    </p:anim>
                                    <p:anim calcmode="lin" valueType="num">
                                      <p:cBhvr>
                                        <p:cTn id="20" dur="500" fill="hold"/>
                                        <p:tgtEl>
                                          <p:spTgt spid="4"/>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17" presetClass="entr" presetSubtype="1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p:cTn id="25" dur="500" fill="hold"/>
                                        <p:tgtEl>
                                          <p:spTgt spid="5"/>
                                        </p:tgtEl>
                                        <p:attrNameLst>
                                          <p:attrName>ppt_w</p:attrName>
                                        </p:attrNameLst>
                                      </p:cBhvr>
                                      <p:tavLst>
                                        <p:tav tm="0">
                                          <p:val>
                                            <p:fltVal val="0"/>
                                          </p:val>
                                        </p:tav>
                                        <p:tav tm="100000">
                                          <p:val>
                                            <p:strVal val="#ppt_w"/>
                                          </p:val>
                                        </p:tav>
                                      </p:tavLst>
                                    </p:anim>
                                    <p:anim calcmode="lin" valueType="num">
                                      <p:cBhvr>
                                        <p:cTn id="26" dur="500" fill="hold"/>
                                        <p:tgtEl>
                                          <p:spTgt spid="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body" idx="1"/>
          </p:nvPr>
        </p:nvSpPr>
        <p:spPr>
          <a:xfrm>
            <a:off x="457200" y="1949450"/>
            <a:ext cx="8229600" cy="3752850"/>
          </a:xfrm>
          <a:ln w="57150" cap="flat">
            <a:solidFill>
              <a:schemeClr val="tx1"/>
            </a:solidFill>
            <a:prstDash val="sysDot"/>
          </a:ln>
        </p:spPr>
        <p:txBody>
          <a:bodyPr>
            <a:normAutofit lnSpcReduction="10000"/>
          </a:bodyPr>
          <a:lstStyle/>
          <a:p>
            <a:pPr algn="just" eaLnBrk="1" hangingPunct="1"/>
            <a:r>
              <a:rPr lang="en-US" sz="3400" b="1" smtClean="0">
                <a:solidFill>
                  <a:srgbClr val="800000"/>
                </a:solidFill>
                <a:latin typeface="Times New Roman" pitchFamily="18" charset="0"/>
              </a:rPr>
              <a:t>polymorphism allows a programmer to pursue a course of action by sending a message to an object without concerning about how the software system is to implement the action            </a:t>
            </a:r>
          </a:p>
          <a:p>
            <a:pPr algn="just" eaLnBrk="1" hangingPunct="1">
              <a:buFontTx/>
              <a:buNone/>
            </a:pPr>
            <a:r>
              <a:rPr lang="en-US" sz="3400" b="1" smtClean="0">
                <a:solidFill>
                  <a:srgbClr val="800000"/>
                </a:solidFill>
                <a:latin typeface="Times New Roman" pitchFamily="18" charset="0"/>
              </a:rPr>
              <a:t>                 Simply defined as “Same thing can behave as different ones”</a:t>
            </a:r>
          </a:p>
          <a:p>
            <a:pPr algn="just" eaLnBrk="1" hangingPunct="1">
              <a:buFontTx/>
              <a:buNone/>
            </a:pPr>
            <a:endParaRPr lang="en-US" sz="3400" b="1" smtClean="0">
              <a:solidFill>
                <a:srgbClr val="800000"/>
              </a:solidFill>
              <a:latin typeface="Times New Roman" pitchFamily="18" charset="0"/>
            </a:endParaRPr>
          </a:p>
        </p:txBody>
      </p:sp>
      <p:sp>
        <p:nvSpPr>
          <p:cNvPr id="30723" name="WordArt 3"/>
          <p:cNvSpPr>
            <a:spLocks noChangeArrowheads="1" noChangeShapeType="1" noTextEdit="1"/>
          </p:cNvSpPr>
          <p:nvPr/>
        </p:nvSpPr>
        <p:spPr bwMode="auto">
          <a:xfrm>
            <a:off x="1143000" y="609600"/>
            <a:ext cx="6858000" cy="914400"/>
          </a:xfrm>
          <a:prstGeom prst="rect">
            <a:avLst/>
          </a:prstGeom>
        </p:spPr>
        <p:txBody>
          <a:bodyPr wrap="none" fromWordArt="1">
            <a:prstTxWarp prst="textFadeUp">
              <a:avLst>
                <a:gd name="adj" fmla="val 9991"/>
              </a:avLst>
            </a:prstTxWarp>
          </a:bodyPr>
          <a:lstStyle/>
          <a:p>
            <a:pPr algn="ctr"/>
            <a:r>
              <a:rPr lang="en-IN" sz="3600" kern="10">
                <a:ln w="12700">
                  <a:solidFill>
                    <a:srgbClr val="B2B2B2"/>
                  </a:solidFill>
                  <a:round/>
                  <a:headEnd/>
                  <a:tailEnd/>
                </a:ln>
                <a:solidFill>
                  <a:srgbClr val="CC0066"/>
                </a:solidFill>
                <a:effectLst>
                  <a:outerShdw dist="35921" dir="2700000" sy="50000" rotWithShape="0">
                    <a:srgbClr val="875B0D">
                      <a:alpha val="70000"/>
                    </a:srgbClr>
                  </a:outerShdw>
                </a:effectLst>
                <a:latin typeface="Arial Black"/>
              </a:rPr>
              <a:t>Polymorphism</a:t>
            </a:r>
          </a:p>
        </p:txBody>
      </p:sp>
    </p:spTree>
  </p:cSld>
  <p:clrMapOvr>
    <a:masterClrMapping/>
  </p:clrMapOvr>
  <p:transition spd="med">
    <p:strips dir="l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8" presetClass="entr" presetSubtype="0" accel="50000" fill="hold" grpId="0" nodeType="withEffect">
                                  <p:stCondLst>
                                    <p:cond delay="0"/>
                                  </p:stCondLst>
                                  <p:childTnLst>
                                    <p:set>
                                      <p:cBhvr>
                                        <p:cTn id="6" dur="1" fill="hold">
                                          <p:stCondLst>
                                            <p:cond delay="0"/>
                                          </p:stCondLst>
                                        </p:cTn>
                                        <p:tgtEl>
                                          <p:spTgt spid="30723"/>
                                        </p:tgtEl>
                                        <p:attrNameLst>
                                          <p:attrName>style.visibility</p:attrName>
                                        </p:attrNameLst>
                                      </p:cBhvr>
                                      <p:to>
                                        <p:strVal val="visible"/>
                                      </p:to>
                                    </p:set>
                                    <p:anim calcmode="lin" valueType="num">
                                      <p:cBhvr>
                                        <p:cTn id="7" dur="1000" fill="hold"/>
                                        <p:tgtEl>
                                          <p:spTgt spid="30723"/>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8" dur="1000" fill="hold"/>
                                        <p:tgtEl>
                                          <p:spTgt spid="30723"/>
                                        </p:tgtEl>
                                        <p:attrNameLst>
                                          <p:attrName>ppt_x</p:attrName>
                                        </p:attrNameLst>
                                      </p:cBhvr>
                                      <p:tavLst>
                                        <p:tav tm="0">
                                          <p:val>
                                            <p:fltVal val="-1"/>
                                          </p:val>
                                        </p:tav>
                                        <p:tav tm="50000">
                                          <p:val>
                                            <p:fltVal val="0.95"/>
                                          </p:val>
                                        </p:tav>
                                        <p:tav tm="100000">
                                          <p:val>
                                            <p:strVal val="#ppt_x"/>
                                          </p:val>
                                        </p:tav>
                                      </p:tavLst>
                                    </p:anim>
                                    <p:anim calcmode="lin" valueType="num">
                                      <p:cBhvr>
                                        <p:cTn id="9" dur="1000" fill="hold"/>
                                        <p:tgtEl>
                                          <p:spTgt spid="30723"/>
                                        </p:tgtEl>
                                        <p:attrNameLst>
                                          <p:attrName>ppt_y</p:attrName>
                                        </p:attrNameLst>
                                      </p:cBhvr>
                                      <p:tavLst>
                                        <p:tav tm="0">
                                          <p:val>
                                            <p:strVal val="#ppt_y"/>
                                          </p:val>
                                        </p:tav>
                                        <p:tav tm="100000">
                                          <p:val>
                                            <p:strVal val="#ppt_y"/>
                                          </p:val>
                                        </p:tav>
                                      </p:tavLst>
                                    </p:anim>
                                    <p:animEffect transition="in" filter="fade">
                                      <p:cBhvr>
                                        <p:cTn id="10" dur="1000"/>
                                        <p:tgtEl>
                                          <p:spTgt spid="30723"/>
                                        </p:tgtEl>
                                      </p:cBhvr>
                                    </p:animEffect>
                                  </p:childTnLst>
                                </p:cTn>
                              </p:par>
                              <p:par>
                                <p:cTn id="11" presetID="54" presetClass="entr" presetSubtype="0" accel="100000" fill="hold" grpId="0" nodeType="withEffect">
                                  <p:stCondLst>
                                    <p:cond delay="0"/>
                                  </p:stCondLst>
                                  <p:childTnLst>
                                    <p:set>
                                      <p:cBhvr>
                                        <p:cTn id="12" dur="1" fill="hold">
                                          <p:stCondLst>
                                            <p:cond delay="0"/>
                                          </p:stCondLst>
                                        </p:cTn>
                                        <p:tgtEl>
                                          <p:spTgt spid="30722">
                                            <p:bg/>
                                          </p:spTgt>
                                        </p:tgtEl>
                                        <p:attrNameLst>
                                          <p:attrName>style.visibility</p:attrName>
                                        </p:attrNameLst>
                                      </p:cBhvr>
                                      <p:to>
                                        <p:strVal val="visible"/>
                                      </p:to>
                                    </p:set>
                                    <p:anim calcmode="lin" valueType="num">
                                      <p:cBhvr>
                                        <p:cTn id="13" dur="500" fill="hold"/>
                                        <p:tgtEl>
                                          <p:spTgt spid="30722">
                                            <p:bg/>
                                          </p:spTgt>
                                        </p:tgtEl>
                                        <p:attrNameLst>
                                          <p:attrName>ppt_w</p:attrName>
                                        </p:attrNameLst>
                                      </p:cBhvr>
                                      <p:tavLst>
                                        <p:tav tm="0">
                                          <p:val>
                                            <p:strVal val="#ppt_w*0.05"/>
                                          </p:val>
                                        </p:tav>
                                        <p:tav tm="100000">
                                          <p:val>
                                            <p:strVal val="#ppt_w"/>
                                          </p:val>
                                        </p:tav>
                                      </p:tavLst>
                                    </p:anim>
                                    <p:anim calcmode="lin" valueType="num">
                                      <p:cBhvr>
                                        <p:cTn id="14" dur="500" fill="hold"/>
                                        <p:tgtEl>
                                          <p:spTgt spid="30722">
                                            <p:bg/>
                                          </p:spTgt>
                                        </p:tgtEl>
                                        <p:attrNameLst>
                                          <p:attrName>ppt_h</p:attrName>
                                        </p:attrNameLst>
                                      </p:cBhvr>
                                      <p:tavLst>
                                        <p:tav tm="0">
                                          <p:val>
                                            <p:strVal val="#ppt_h"/>
                                          </p:val>
                                        </p:tav>
                                        <p:tav tm="100000">
                                          <p:val>
                                            <p:strVal val="#ppt_h"/>
                                          </p:val>
                                        </p:tav>
                                      </p:tavLst>
                                    </p:anim>
                                    <p:anim calcmode="lin" valueType="num">
                                      <p:cBhvr>
                                        <p:cTn id="15" dur="500" fill="hold"/>
                                        <p:tgtEl>
                                          <p:spTgt spid="30722">
                                            <p:bg/>
                                          </p:spTgt>
                                        </p:tgtEl>
                                        <p:attrNameLst>
                                          <p:attrName>ppt_x</p:attrName>
                                        </p:attrNameLst>
                                      </p:cBhvr>
                                      <p:tavLst>
                                        <p:tav tm="0">
                                          <p:val>
                                            <p:strVal val="#ppt_x-.2"/>
                                          </p:val>
                                        </p:tav>
                                        <p:tav tm="100000">
                                          <p:val>
                                            <p:strVal val="#ppt_x"/>
                                          </p:val>
                                        </p:tav>
                                      </p:tavLst>
                                    </p:anim>
                                    <p:anim calcmode="lin" valueType="num">
                                      <p:cBhvr>
                                        <p:cTn id="16" dur="500" fill="hold"/>
                                        <p:tgtEl>
                                          <p:spTgt spid="30722">
                                            <p:bg/>
                                          </p:spTgt>
                                        </p:tgtEl>
                                        <p:attrNameLst>
                                          <p:attrName>ppt_y</p:attrName>
                                        </p:attrNameLst>
                                      </p:cBhvr>
                                      <p:tavLst>
                                        <p:tav tm="0">
                                          <p:val>
                                            <p:strVal val="#ppt_y"/>
                                          </p:val>
                                        </p:tav>
                                        <p:tav tm="100000">
                                          <p:val>
                                            <p:strVal val="#ppt_y"/>
                                          </p:val>
                                        </p:tav>
                                      </p:tavLst>
                                    </p:anim>
                                    <p:animEffect transition="in" filter="fade">
                                      <p:cBhvr>
                                        <p:cTn id="17" dur="500"/>
                                        <p:tgtEl>
                                          <p:spTgt spid="30722">
                                            <p:bg/>
                                          </p:spTgt>
                                        </p:tgtEl>
                                      </p:cBhvr>
                                    </p:animEffect>
                                  </p:childTnLst>
                                </p:cTn>
                              </p:par>
                              <p:par>
                                <p:cTn id="18" presetID="54" presetClass="entr" presetSubtype="0" accel="100000" fill="hold" grpId="0" nodeType="withEffect">
                                  <p:stCondLst>
                                    <p:cond delay="0"/>
                                  </p:stCondLst>
                                  <p:childTnLst>
                                    <p:set>
                                      <p:cBhvr>
                                        <p:cTn id="19" dur="1" fill="hold">
                                          <p:stCondLst>
                                            <p:cond delay="0"/>
                                          </p:stCondLst>
                                        </p:cTn>
                                        <p:tgtEl>
                                          <p:spTgt spid="30722">
                                            <p:txEl>
                                              <p:pRg st="0" end="0"/>
                                            </p:txEl>
                                          </p:spTgt>
                                        </p:tgtEl>
                                        <p:attrNameLst>
                                          <p:attrName>style.visibility</p:attrName>
                                        </p:attrNameLst>
                                      </p:cBhvr>
                                      <p:to>
                                        <p:strVal val="visible"/>
                                      </p:to>
                                    </p:set>
                                    <p:anim calcmode="lin" valueType="num">
                                      <p:cBhvr>
                                        <p:cTn id="20" dur="500" fill="hold"/>
                                        <p:tgtEl>
                                          <p:spTgt spid="30722">
                                            <p:txEl>
                                              <p:pRg st="0" end="0"/>
                                            </p:txEl>
                                          </p:spTgt>
                                        </p:tgtEl>
                                        <p:attrNameLst>
                                          <p:attrName>ppt_w</p:attrName>
                                        </p:attrNameLst>
                                      </p:cBhvr>
                                      <p:tavLst>
                                        <p:tav tm="0">
                                          <p:val>
                                            <p:strVal val="#ppt_w*0.05"/>
                                          </p:val>
                                        </p:tav>
                                        <p:tav tm="100000">
                                          <p:val>
                                            <p:strVal val="#ppt_w"/>
                                          </p:val>
                                        </p:tav>
                                      </p:tavLst>
                                    </p:anim>
                                    <p:anim calcmode="lin" valueType="num">
                                      <p:cBhvr>
                                        <p:cTn id="21" dur="500" fill="hold"/>
                                        <p:tgtEl>
                                          <p:spTgt spid="30722">
                                            <p:txEl>
                                              <p:pRg st="0" end="0"/>
                                            </p:txEl>
                                          </p:spTgt>
                                        </p:tgtEl>
                                        <p:attrNameLst>
                                          <p:attrName>ppt_h</p:attrName>
                                        </p:attrNameLst>
                                      </p:cBhvr>
                                      <p:tavLst>
                                        <p:tav tm="0">
                                          <p:val>
                                            <p:strVal val="#ppt_h"/>
                                          </p:val>
                                        </p:tav>
                                        <p:tav tm="100000">
                                          <p:val>
                                            <p:strVal val="#ppt_h"/>
                                          </p:val>
                                        </p:tav>
                                      </p:tavLst>
                                    </p:anim>
                                    <p:anim calcmode="lin" valueType="num">
                                      <p:cBhvr>
                                        <p:cTn id="22" dur="500" fill="hold"/>
                                        <p:tgtEl>
                                          <p:spTgt spid="30722">
                                            <p:txEl>
                                              <p:pRg st="0" end="0"/>
                                            </p:txEl>
                                          </p:spTgt>
                                        </p:tgtEl>
                                        <p:attrNameLst>
                                          <p:attrName>ppt_x</p:attrName>
                                        </p:attrNameLst>
                                      </p:cBhvr>
                                      <p:tavLst>
                                        <p:tav tm="0">
                                          <p:val>
                                            <p:strVal val="#ppt_x-.2"/>
                                          </p:val>
                                        </p:tav>
                                        <p:tav tm="100000">
                                          <p:val>
                                            <p:strVal val="#ppt_x"/>
                                          </p:val>
                                        </p:tav>
                                      </p:tavLst>
                                    </p:anim>
                                    <p:anim calcmode="lin" valueType="num">
                                      <p:cBhvr>
                                        <p:cTn id="23" dur="500" fill="hold"/>
                                        <p:tgtEl>
                                          <p:spTgt spid="30722">
                                            <p:txEl>
                                              <p:pRg st="0" end="0"/>
                                            </p:txEl>
                                          </p:spTgt>
                                        </p:tgtEl>
                                        <p:attrNameLst>
                                          <p:attrName>ppt_y</p:attrName>
                                        </p:attrNameLst>
                                      </p:cBhvr>
                                      <p:tavLst>
                                        <p:tav tm="0">
                                          <p:val>
                                            <p:strVal val="#ppt_y"/>
                                          </p:val>
                                        </p:tav>
                                        <p:tav tm="100000">
                                          <p:val>
                                            <p:strVal val="#ppt_y"/>
                                          </p:val>
                                        </p:tav>
                                      </p:tavLst>
                                    </p:anim>
                                    <p:animEffect transition="in" filter="fade">
                                      <p:cBhvr>
                                        <p:cTn id="24" dur="500"/>
                                        <p:tgtEl>
                                          <p:spTgt spid="30722">
                                            <p:txEl>
                                              <p:pRg st="0" end="0"/>
                                            </p:txEl>
                                          </p:spTgt>
                                        </p:tgtEl>
                                      </p:cBhvr>
                                    </p:animEffect>
                                  </p:childTnLst>
                                </p:cTn>
                              </p:par>
                              <p:par>
                                <p:cTn id="25" presetID="54" presetClass="entr" presetSubtype="0" accel="100000" fill="hold" grpId="0" nodeType="withEffect">
                                  <p:stCondLst>
                                    <p:cond delay="0"/>
                                  </p:stCondLst>
                                  <p:childTnLst>
                                    <p:set>
                                      <p:cBhvr>
                                        <p:cTn id="26" dur="1" fill="hold">
                                          <p:stCondLst>
                                            <p:cond delay="0"/>
                                          </p:stCondLst>
                                        </p:cTn>
                                        <p:tgtEl>
                                          <p:spTgt spid="30722">
                                            <p:txEl>
                                              <p:pRg st="1" end="1"/>
                                            </p:txEl>
                                          </p:spTgt>
                                        </p:tgtEl>
                                        <p:attrNameLst>
                                          <p:attrName>style.visibility</p:attrName>
                                        </p:attrNameLst>
                                      </p:cBhvr>
                                      <p:to>
                                        <p:strVal val="visible"/>
                                      </p:to>
                                    </p:set>
                                    <p:anim calcmode="lin" valueType="num">
                                      <p:cBhvr>
                                        <p:cTn id="27" dur="500" fill="hold"/>
                                        <p:tgtEl>
                                          <p:spTgt spid="30722">
                                            <p:txEl>
                                              <p:pRg st="1" end="1"/>
                                            </p:txEl>
                                          </p:spTgt>
                                        </p:tgtEl>
                                        <p:attrNameLst>
                                          <p:attrName>ppt_w</p:attrName>
                                        </p:attrNameLst>
                                      </p:cBhvr>
                                      <p:tavLst>
                                        <p:tav tm="0">
                                          <p:val>
                                            <p:strVal val="#ppt_w*0.05"/>
                                          </p:val>
                                        </p:tav>
                                        <p:tav tm="100000">
                                          <p:val>
                                            <p:strVal val="#ppt_w"/>
                                          </p:val>
                                        </p:tav>
                                      </p:tavLst>
                                    </p:anim>
                                    <p:anim calcmode="lin" valueType="num">
                                      <p:cBhvr>
                                        <p:cTn id="28" dur="500" fill="hold"/>
                                        <p:tgtEl>
                                          <p:spTgt spid="30722">
                                            <p:txEl>
                                              <p:pRg st="1" end="1"/>
                                            </p:txEl>
                                          </p:spTgt>
                                        </p:tgtEl>
                                        <p:attrNameLst>
                                          <p:attrName>ppt_h</p:attrName>
                                        </p:attrNameLst>
                                      </p:cBhvr>
                                      <p:tavLst>
                                        <p:tav tm="0">
                                          <p:val>
                                            <p:strVal val="#ppt_h"/>
                                          </p:val>
                                        </p:tav>
                                        <p:tav tm="100000">
                                          <p:val>
                                            <p:strVal val="#ppt_h"/>
                                          </p:val>
                                        </p:tav>
                                      </p:tavLst>
                                    </p:anim>
                                    <p:anim calcmode="lin" valueType="num">
                                      <p:cBhvr>
                                        <p:cTn id="29" dur="500" fill="hold"/>
                                        <p:tgtEl>
                                          <p:spTgt spid="30722">
                                            <p:txEl>
                                              <p:pRg st="1" end="1"/>
                                            </p:txEl>
                                          </p:spTgt>
                                        </p:tgtEl>
                                        <p:attrNameLst>
                                          <p:attrName>ppt_x</p:attrName>
                                        </p:attrNameLst>
                                      </p:cBhvr>
                                      <p:tavLst>
                                        <p:tav tm="0">
                                          <p:val>
                                            <p:strVal val="#ppt_x-.2"/>
                                          </p:val>
                                        </p:tav>
                                        <p:tav tm="100000">
                                          <p:val>
                                            <p:strVal val="#ppt_x"/>
                                          </p:val>
                                        </p:tav>
                                      </p:tavLst>
                                    </p:anim>
                                    <p:anim calcmode="lin" valueType="num">
                                      <p:cBhvr>
                                        <p:cTn id="30" dur="500" fill="hold"/>
                                        <p:tgtEl>
                                          <p:spTgt spid="30722">
                                            <p:txEl>
                                              <p:pRg st="1" end="1"/>
                                            </p:txEl>
                                          </p:spTgt>
                                        </p:tgtEl>
                                        <p:attrNameLst>
                                          <p:attrName>ppt_y</p:attrName>
                                        </p:attrNameLst>
                                      </p:cBhvr>
                                      <p:tavLst>
                                        <p:tav tm="0">
                                          <p:val>
                                            <p:strVal val="#ppt_y"/>
                                          </p:val>
                                        </p:tav>
                                        <p:tav tm="100000">
                                          <p:val>
                                            <p:strVal val="#ppt_y"/>
                                          </p:val>
                                        </p:tav>
                                      </p:tavLst>
                                    </p:anim>
                                    <p:animEffect transition="in" filter="fade">
                                      <p:cBhvr>
                                        <p:cTn id="31" dur="500"/>
                                        <p:tgtEl>
                                          <p:spTgt spid="3072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build="p" animBg="1"/>
      <p:bldP spid="3072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1981200" y="106363"/>
            <a:ext cx="4659313" cy="2408237"/>
            <a:chOff x="48" y="2592"/>
            <a:chExt cx="2935" cy="1517"/>
          </a:xfrm>
        </p:grpSpPr>
        <p:sp>
          <p:nvSpPr>
            <p:cNvPr id="25611" name="Rectangle 3"/>
            <p:cNvSpPr>
              <a:spLocks noChangeArrowheads="1"/>
            </p:cNvSpPr>
            <p:nvPr/>
          </p:nvSpPr>
          <p:spPr bwMode="auto">
            <a:xfrm>
              <a:off x="1008" y="2592"/>
              <a:ext cx="1056" cy="768"/>
            </a:xfrm>
            <a:prstGeom prst="rect">
              <a:avLst/>
            </a:prstGeom>
            <a:noFill/>
            <a:ln w="76200">
              <a:solidFill>
                <a:srgbClr val="B2B2B2"/>
              </a:solidFill>
              <a:miter lim="800000"/>
              <a:headEnd/>
              <a:tailEnd/>
            </a:ln>
            <a:effectLst>
              <a:prstShdw prst="shdw17" dist="17961" dir="13500000">
                <a:srgbClr val="6B6B6B"/>
              </a:prstShdw>
            </a:effectLst>
          </p:spPr>
          <p:txBody>
            <a:bodyPr wrap="none" anchor="ctr"/>
            <a:lstStyle/>
            <a:p>
              <a:endParaRPr lang="en-US"/>
            </a:p>
          </p:txBody>
        </p:sp>
        <p:sp>
          <p:nvSpPr>
            <p:cNvPr id="25612" name="Text Box 4"/>
            <p:cNvSpPr txBox="1">
              <a:spLocks noChangeArrowheads="1"/>
            </p:cNvSpPr>
            <p:nvPr/>
          </p:nvSpPr>
          <p:spPr bwMode="auto">
            <a:xfrm>
              <a:off x="912" y="2640"/>
              <a:ext cx="1200" cy="672"/>
            </a:xfrm>
            <a:prstGeom prst="rect">
              <a:avLst/>
            </a:prstGeom>
            <a:noFill/>
            <a:ln w="9525">
              <a:noFill/>
              <a:miter lim="800000"/>
              <a:headEnd/>
              <a:tailEnd/>
            </a:ln>
          </p:spPr>
          <p:txBody>
            <a:bodyPr>
              <a:spAutoFit/>
            </a:bodyPr>
            <a:lstStyle/>
            <a:p>
              <a:pPr algn="ctr">
                <a:spcBef>
                  <a:spcPct val="50000"/>
                </a:spcBef>
              </a:pPr>
              <a:r>
                <a:rPr lang="en-US" sz="3200" b="1">
                  <a:solidFill>
                    <a:srgbClr val="000099"/>
                  </a:solidFill>
                  <a:latin typeface="Times New Roman" pitchFamily="18" charset="0"/>
                </a:rPr>
                <a:t>  Class - </a:t>
              </a:r>
              <a:r>
                <a:rPr lang="en-US" sz="3200" b="1" i="1">
                  <a:solidFill>
                    <a:srgbClr val="000099"/>
                  </a:solidFill>
                  <a:latin typeface="Times New Roman" pitchFamily="18" charset="0"/>
                </a:rPr>
                <a:t>Artiste</a:t>
              </a:r>
            </a:p>
          </p:txBody>
        </p:sp>
        <p:sp>
          <p:nvSpPr>
            <p:cNvPr id="25613" name="Text Box 5"/>
            <p:cNvSpPr txBox="1">
              <a:spLocks noChangeArrowheads="1"/>
            </p:cNvSpPr>
            <p:nvPr/>
          </p:nvSpPr>
          <p:spPr bwMode="auto">
            <a:xfrm>
              <a:off x="48" y="3744"/>
              <a:ext cx="1200" cy="365"/>
            </a:xfrm>
            <a:prstGeom prst="rect">
              <a:avLst/>
            </a:prstGeom>
            <a:noFill/>
            <a:ln w="6350">
              <a:noFill/>
              <a:miter lim="800000"/>
              <a:headEnd/>
              <a:tailEnd/>
            </a:ln>
          </p:spPr>
          <p:txBody>
            <a:bodyPr>
              <a:spAutoFit/>
            </a:bodyPr>
            <a:lstStyle/>
            <a:p>
              <a:pPr algn="ctr">
                <a:spcBef>
                  <a:spcPct val="50000"/>
                </a:spcBef>
              </a:pPr>
              <a:r>
                <a:rPr lang="en-US" sz="3200" b="1" i="1">
                  <a:solidFill>
                    <a:srgbClr val="000099"/>
                  </a:solidFill>
                  <a:latin typeface="Times New Roman" pitchFamily="18" charset="0"/>
                </a:rPr>
                <a:t>Dancer</a:t>
              </a:r>
              <a:r>
                <a:rPr lang="en-US" sz="3200" b="1">
                  <a:solidFill>
                    <a:srgbClr val="000099"/>
                  </a:solidFill>
                  <a:latin typeface="Times New Roman" pitchFamily="18" charset="0"/>
                </a:rPr>
                <a:t> </a:t>
              </a:r>
            </a:p>
          </p:txBody>
        </p:sp>
        <p:sp>
          <p:nvSpPr>
            <p:cNvPr id="25614" name="Rectangle 6"/>
            <p:cNvSpPr>
              <a:spLocks noChangeArrowheads="1"/>
            </p:cNvSpPr>
            <p:nvPr/>
          </p:nvSpPr>
          <p:spPr bwMode="auto">
            <a:xfrm>
              <a:off x="2334" y="3712"/>
              <a:ext cx="649" cy="365"/>
            </a:xfrm>
            <a:prstGeom prst="rect">
              <a:avLst/>
            </a:prstGeom>
            <a:noFill/>
            <a:ln w="6350">
              <a:noFill/>
              <a:miter lim="800000"/>
              <a:headEnd/>
              <a:tailEnd/>
            </a:ln>
          </p:spPr>
          <p:txBody>
            <a:bodyPr wrap="none">
              <a:spAutoFit/>
            </a:bodyPr>
            <a:lstStyle/>
            <a:p>
              <a:pPr algn="ctr">
                <a:spcBef>
                  <a:spcPct val="50000"/>
                </a:spcBef>
              </a:pPr>
              <a:r>
                <a:rPr lang="en-US" sz="3200" b="1" i="1">
                  <a:solidFill>
                    <a:srgbClr val="000099"/>
                  </a:solidFill>
                  <a:latin typeface="Times New Roman" pitchFamily="18" charset="0"/>
                </a:rPr>
                <a:t>Poet</a:t>
              </a:r>
              <a:r>
                <a:rPr lang="en-US" sz="3200" b="1">
                  <a:solidFill>
                    <a:srgbClr val="000099"/>
                  </a:solidFill>
                  <a:latin typeface="Times New Roman" pitchFamily="18" charset="0"/>
                </a:rPr>
                <a:t> </a:t>
              </a:r>
            </a:p>
          </p:txBody>
        </p:sp>
        <p:sp>
          <p:nvSpPr>
            <p:cNvPr id="25615" name="Rectangle 7"/>
            <p:cNvSpPr>
              <a:spLocks noChangeArrowheads="1"/>
            </p:cNvSpPr>
            <p:nvPr/>
          </p:nvSpPr>
          <p:spPr bwMode="auto">
            <a:xfrm>
              <a:off x="1310" y="3712"/>
              <a:ext cx="1076" cy="365"/>
            </a:xfrm>
            <a:prstGeom prst="rect">
              <a:avLst/>
            </a:prstGeom>
            <a:noFill/>
            <a:ln w="6350">
              <a:noFill/>
              <a:miter lim="800000"/>
              <a:headEnd/>
              <a:tailEnd/>
            </a:ln>
          </p:spPr>
          <p:txBody>
            <a:bodyPr wrap="none">
              <a:spAutoFit/>
            </a:bodyPr>
            <a:lstStyle/>
            <a:p>
              <a:pPr algn="ctr">
                <a:spcBef>
                  <a:spcPct val="50000"/>
                </a:spcBef>
              </a:pPr>
              <a:r>
                <a:rPr lang="en-US" sz="3200" b="1" i="1">
                  <a:solidFill>
                    <a:srgbClr val="000099"/>
                  </a:solidFill>
                  <a:latin typeface="Times New Roman" pitchFamily="18" charset="0"/>
                </a:rPr>
                <a:t>Sculptor</a:t>
              </a:r>
              <a:r>
                <a:rPr lang="en-US" sz="3200" b="1">
                  <a:solidFill>
                    <a:srgbClr val="000099"/>
                  </a:solidFill>
                  <a:latin typeface="Times New Roman" pitchFamily="18" charset="0"/>
                </a:rPr>
                <a:t> </a:t>
              </a:r>
            </a:p>
          </p:txBody>
        </p:sp>
        <p:sp>
          <p:nvSpPr>
            <p:cNvPr id="25616" name="Line 8"/>
            <p:cNvSpPr>
              <a:spLocks noChangeShapeType="1"/>
            </p:cNvSpPr>
            <p:nvPr/>
          </p:nvSpPr>
          <p:spPr bwMode="auto">
            <a:xfrm flipH="1">
              <a:off x="624" y="3408"/>
              <a:ext cx="864" cy="384"/>
            </a:xfrm>
            <a:prstGeom prst="line">
              <a:avLst/>
            </a:prstGeom>
            <a:noFill/>
            <a:ln w="6350">
              <a:solidFill>
                <a:srgbClr val="000000"/>
              </a:solidFill>
              <a:round/>
              <a:headEnd/>
              <a:tailEnd type="triangle" w="med" len="med"/>
            </a:ln>
          </p:spPr>
          <p:txBody>
            <a:bodyPr wrap="none"/>
            <a:lstStyle/>
            <a:p>
              <a:endParaRPr lang="en-IN"/>
            </a:p>
          </p:txBody>
        </p:sp>
        <p:sp>
          <p:nvSpPr>
            <p:cNvPr id="25617" name="Line 9"/>
            <p:cNvSpPr>
              <a:spLocks noChangeShapeType="1"/>
            </p:cNvSpPr>
            <p:nvPr/>
          </p:nvSpPr>
          <p:spPr bwMode="auto">
            <a:xfrm>
              <a:off x="1488" y="3408"/>
              <a:ext cx="192" cy="384"/>
            </a:xfrm>
            <a:prstGeom prst="line">
              <a:avLst/>
            </a:prstGeom>
            <a:noFill/>
            <a:ln w="6350">
              <a:solidFill>
                <a:srgbClr val="000000"/>
              </a:solidFill>
              <a:round/>
              <a:headEnd/>
              <a:tailEnd type="triangle" w="med" len="med"/>
            </a:ln>
          </p:spPr>
          <p:txBody>
            <a:bodyPr wrap="none"/>
            <a:lstStyle/>
            <a:p>
              <a:endParaRPr lang="en-IN"/>
            </a:p>
          </p:txBody>
        </p:sp>
        <p:sp>
          <p:nvSpPr>
            <p:cNvPr id="25618" name="Line 10"/>
            <p:cNvSpPr>
              <a:spLocks noChangeShapeType="1"/>
            </p:cNvSpPr>
            <p:nvPr/>
          </p:nvSpPr>
          <p:spPr bwMode="auto">
            <a:xfrm>
              <a:off x="1488" y="3408"/>
              <a:ext cx="1056" cy="336"/>
            </a:xfrm>
            <a:prstGeom prst="line">
              <a:avLst/>
            </a:prstGeom>
            <a:noFill/>
            <a:ln w="6350">
              <a:solidFill>
                <a:srgbClr val="000000"/>
              </a:solidFill>
              <a:round/>
              <a:headEnd/>
              <a:tailEnd type="triangle" w="med" len="med"/>
            </a:ln>
          </p:spPr>
          <p:txBody>
            <a:bodyPr wrap="none"/>
            <a:lstStyle/>
            <a:p>
              <a:endParaRPr lang="en-IN"/>
            </a:p>
          </p:txBody>
        </p:sp>
      </p:grpSp>
      <p:grpSp>
        <p:nvGrpSpPr>
          <p:cNvPr id="3" name="Group 11"/>
          <p:cNvGrpSpPr>
            <a:grpSpLocks/>
          </p:cNvGrpSpPr>
          <p:nvPr/>
        </p:nvGrpSpPr>
        <p:grpSpPr bwMode="auto">
          <a:xfrm>
            <a:off x="762000" y="2938463"/>
            <a:ext cx="6934200" cy="3652837"/>
            <a:chOff x="480" y="1851"/>
            <a:chExt cx="4368" cy="2301"/>
          </a:xfrm>
        </p:grpSpPr>
        <p:sp>
          <p:nvSpPr>
            <p:cNvPr id="25604" name="AutoShape 12"/>
            <p:cNvSpPr>
              <a:spLocks noChangeArrowheads="1"/>
            </p:cNvSpPr>
            <p:nvPr/>
          </p:nvSpPr>
          <p:spPr bwMode="auto">
            <a:xfrm>
              <a:off x="480" y="1851"/>
              <a:ext cx="2112" cy="2064"/>
            </a:xfrm>
            <a:prstGeom prst="verticalScroll">
              <a:avLst>
                <a:gd name="adj" fmla="val 12500"/>
              </a:avLst>
            </a:prstGeom>
            <a:solidFill>
              <a:schemeClr val="accent1"/>
            </a:solidFill>
            <a:ln w="38100">
              <a:solidFill>
                <a:schemeClr val="tx1"/>
              </a:solidFill>
              <a:miter lim="800000"/>
              <a:headEnd/>
              <a:tailEnd/>
            </a:ln>
          </p:spPr>
          <p:txBody>
            <a:bodyPr wrap="none" anchor="ctr"/>
            <a:lstStyle/>
            <a:p>
              <a:endParaRPr lang="en-US"/>
            </a:p>
          </p:txBody>
        </p:sp>
        <p:sp>
          <p:nvSpPr>
            <p:cNvPr id="25605" name="Text Box 13"/>
            <p:cNvSpPr txBox="1">
              <a:spLocks noChangeArrowheads="1"/>
            </p:cNvSpPr>
            <p:nvPr/>
          </p:nvSpPr>
          <p:spPr bwMode="auto">
            <a:xfrm>
              <a:off x="1008" y="2139"/>
              <a:ext cx="1488" cy="2013"/>
            </a:xfrm>
            <a:prstGeom prst="rect">
              <a:avLst/>
            </a:prstGeom>
            <a:noFill/>
            <a:ln w="38100">
              <a:noFill/>
              <a:miter lim="800000"/>
              <a:headEnd/>
              <a:tailEnd/>
            </a:ln>
          </p:spPr>
          <p:txBody>
            <a:bodyPr>
              <a:spAutoFit/>
            </a:bodyPr>
            <a:lstStyle/>
            <a:p>
              <a:pPr>
                <a:spcBef>
                  <a:spcPct val="50000"/>
                </a:spcBef>
              </a:pPr>
              <a:r>
                <a:rPr lang="en-US" sz="2400" b="1">
                  <a:solidFill>
                    <a:srgbClr val="000099"/>
                  </a:solidFill>
                  <a:latin typeface="Tahoma" pitchFamily="34" charset="0"/>
                </a:rPr>
                <a:t>Class :</a:t>
              </a:r>
              <a:r>
                <a:rPr lang="en-US" sz="2400">
                  <a:solidFill>
                    <a:srgbClr val="000099"/>
                  </a:solidFill>
                  <a:latin typeface="Tahoma" pitchFamily="34" charset="0"/>
                </a:rPr>
                <a:t> Shape</a:t>
              </a:r>
              <a:endParaRPr lang="en-US" sz="2400" b="1">
                <a:solidFill>
                  <a:srgbClr val="000099"/>
                </a:solidFill>
                <a:latin typeface="Tahoma" pitchFamily="34" charset="0"/>
              </a:endParaRPr>
            </a:p>
            <a:p>
              <a:pPr>
                <a:spcBef>
                  <a:spcPct val="50000"/>
                </a:spcBef>
              </a:pPr>
              <a:r>
                <a:rPr lang="en-US" sz="2400" b="1">
                  <a:solidFill>
                    <a:srgbClr val="000099"/>
                  </a:solidFill>
                  <a:latin typeface="Tahoma" pitchFamily="34" charset="0"/>
                </a:rPr>
                <a:t>Methods :</a:t>
              </a:r>
            </a:p>
            <a:p>
              <a:pPr>
                <a:spcBef>
                  <a:spcPct val="50000"/>
                </a:spcBef>
              </a:pPr>
              <a:r>
                <a:rPr lang="en-US" sz="2400">
                  <a:solidFill>
                    <a:srgbClr val="000099"/>
                  </a:solidFill>
                  <a:latin typeface="Tahoma" pitchFamily="34" charset="0"/>
                </a:rPr>
                <a:t>Draw</a:t>
              </a:r>
            </a:p>
            <a:p>
              <a:pPr>
                <a:spcBef>
                  <a:spcPct val="50000"/>
                </a:spcBef>
              </a:pPr>
              <a:r>
                <a:rPr lang="en-US" sz="2400">
                  <a:solidFill>
                    <a:srgbClr val="000099"/>
                  </a:solidFill>
                  <a:latin typeface="Tahoma" pitchFamily="34" charset="0"/>
                </a:rPr>
                <a:t>Move </a:t>
              </a:r>
            </a:p>
            <a:p>
              <a:pPr>
                <a:spcBef>
                  <a:spcPct val="50000"/>
                </a:spcBef>
              </a:pPr>
              <a:r>
                <a:rPr lang="en-US" sz="2400">
                  <a:solidFill>
                    <a:srgbClr val="000099"/>
                  </a:solidFill>
                  <a:latin typeface="Tahoma" pitchFamily="34" charset="0"/>
                </a:rPr>
                <a:t>Initialize</a:t>
              </a:r>
            </a:p>
            <a:p>
              <a:pPr>
                <a:spcBef>
                  <a:spcPct val="50000"/>
                </a:spcBef>
              </a:pPr>
              <a:endParaRPr lang="en-US" sz="2400" b="1">
                <a:solidFill>
                  <a:srgbClr val="000099"/>
                </a:solidFill>
                <a:latin typeface="Tahoma" pitchFamily="34" charset="0"/>
              </a:endParaRPr>
            </a:p>
          </p:txBody>
        </p:sp>
        <p:sp>
          <p:nvSpPr>
            <p:cNvPr id="25606" name="AutoShape 14"/>
            <p:cNvSpPr>
              <a:spLocks noChangeArrowheads="1"/>
            </p:cNvSpPr>
            <p:nvPr/>
          </p:nvSpPr>
          <p:spPr bwMode="auto">
            <a:xfrm>
              <a:off x="3024" y="2571"/>
              <a:ext cx="816" cy="432"/>
            </a:xfrm>
            <a:prstGeom prst="parallelogram">
              <a:avLst>
                <a:gd name="adj" fmla="val 47222"/>
              </a:avLst>
            </a:prstGeom>
            <a:solidFill>
              <a:schemeClr val="accent1"/>
            </a:solidFill>
            <a:ln w="38100">
              <a:solidFill>
                <a:schemeClr val="tx1"/>
              </a:solidFill>
              <a:miter lim="800000"/>
              <a:headEnd/>
              <a:tailEnd/>
            </a:ln>
          </p:spPr>
          <p:txBody>
            <a:bodyPr wrap="none" anchor="ctr"/>
            <a:lstStyle/>
            <a:p>
              <a:endParaRPr lang="en-US"/>
            </a:p>
          </p:txBody>
        </p:sp>
        <p:sp>
          <p:nvSpPr>
            <p:cNvPr id="25607" name="Oval 15"/>
            <p:cNvSpPr>
              <a:spLocks noChangeArrowheads="1"/>
            </p:cNvSpPr>
            <p:nvPr/>
          </p:nvSpPr>
          <p:spPr bwMode="auto">
            <a:xfrm>
              <a:off x="4080" y="2331"/>
              <a:ext cx="768" cy="864"/>
            </a:xfrm>
            <a:prstGeom prst="ellipse">
              <a:avLst/>
            </a:prstGeom>
            <a:solidFill>
              <a:schemeClr val="accent1"/>
            </a:solidFill>
            <a:ln w="38100">
              <a:solidFill>
                <a:schemeClr val="tx1"/>
              </a:solidFill>
              <a:miter lim="800000"/>
              <a:headEnd/>
              <a:tailEnd/>
            </a:ln>
          </p:spPr>
          <p:txBody>
            <a:bodyPr wrap="none" anchor="ctr"/>
            <a:lstStyle/>
            <a:p>
              <a:endParaRPr lang="en-US"/>
            </a:p>
          </p:txBody>
        </p:sp>
        <p:sp>
          <p:nvSpPr>
            <p:cNvPr id="25608" name="AutoShape 16"/>
            <p:cNvSpPr>
              <a:spLocks noChangeArrowheads="1"/>
            </p:cNvSpPr>
            <p:nvPr/>
          </p:nvSpPr>
          <p:spPr bwMode="auto">
            <a:xfrm>
              <a:off x="3168" y="3147"/>
              <a:ext cx="384" cy="624"/>
            </a:xfrm>
            <a:prstGeom prst="triangle">
              <a:avLst>
                <a:gd name="adj" fmla="val 50000"/>
              </a:avLst>
            </a:prstGeom>
            <a:solidFill>
              <a:schemeClr val="accent1"/>
            </a:solidFill>
            <a:ln w="38100">
              <a:solidFill>
                <a:schemeClr val="tx1"/>
              </a:solidFill>
              <a:miter lim="800000"/>
              <a:headEnd/>
              <a:tailEnd/>
            </a:ln>
          </p:spPr>
          <p:txBody>
            <a:bodyPr wrap="none" anchor="ctr"/>
            <a:lstStyle/>
            <a:p>
              <a:endParaRPr lang="en-US"/>
            </a:p>
          </p:txBody>
        </p:sp>
        <p:sp>
          <p:nvSpPr>
            <p:cNvPr id="25609" name="AutoShape 17"/>
            <p:cNvSpPr>
              <a:spLocks noChangeArrowheads="1"/>
            </p:cNvSpPr>
            <p:nvPr/>
          </p:nvSpPr>
          <p:spPr bwMode="auto">
            <a:xfrm>
              <a:off x="4128" y="3387"/>
              <a:ext cx="672" cy="528"/>
            </a:xfrm>
            <a:prstGeom prst="hexagon">
              <a:avLst>
                <a:gd name="adj" fmla="val 31818"/>
                <a:gd name="vf" fmla="val 115470"/>
              </a:avLst>
            </a:prstGeom>
            <a:solidFill>
              <a:schemeClr val="accent1"/>
            </a:solidFill>
            <a:ln w="38100">
              <a:solidFill>
                <a:schemeClr val="tx1"/>
              </a:solidFill>
              <a:miter lim="800000"/>
              <a:headEnd/>
              <a:tailEnd/>
            </a:ln>
          </p:spPr>
          <p:txBody>
            <a:bodyPr wrap="none" anchor="ctr"/>
            <a:lstStyle/>
            <a:p>
              <a:endParaRPr lang="en-US"/>
            </a:p>
          </p:txBody>
        </p:sp>
        <p:sp>
          <p:nvSpPr>
            <p:cNvPr id="25610" name="Text Box 18"/>
            <p:cNvSpPr txBox="1">
              <a:spLocks noChangeArrowheads="1"/>
            </p:cNvSpPr>
            <p:nvPr/>
          </p:nvSpPr>
          <p:spPr bwMode="auto">
            <a:xfrm>
              <a:off x="3312" y="1947"/>
              <a:ext cx="1344" cy="312"/>
            </a:xfrm>
            <a:prstGeom prst="rect">
              <a:avLst/>
            </a:prstGeom>
            <a:noFill/>
            <a:ln w="38100">
              <a:solidFill>
                <a:schemeClr val="tx1"/>
              </a:solidFill>
              <a:miter lim="800000"/>
              <a:headEnd/>
              <a:tailEnd/>
            </a:ln>
          </p:spPr>
          <p:txBody>
            <a:bodyPr>
              <a:spAutoFit/>
            </a:bodyPr>
            <a:lstStyle/>
            <a:p>
              <a:pPr>
                <a:spcBef>
                  <a:spcPct val="50000"/>
                </a:spcBef>
              </a:pPr>
              <a:r>
                <a:rPr lang="en-US" sz="2400" b="1">
                  <a:solidFill>
                    <a:srgbClr val="000099"/>
                  </a:solidFill>
                  <a:latin typeface="Tahoma" pitchFamily="34" charset="0"/>
                </a:rPr>
                <a:t>Subclasses</a:t>
              </a:r>
            </a:p>
          </p:txBody>
        </p:sp>
      </p:gr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 Box 2"/>
          <p:cNvSpPr txBox="1">
            <a:spLocks noChangeArrowheads="1"/>
          </p:cNvSpPr>
          <p:nvPr/>
        </p:nvSpPr>
        <p:spPr bwMode="auto">
          <a:xfrm>
            <a:off x="381000" y="2286000"/>
            <a:ext cx="8458200" cy="1554163"/>
          </a:xfrm>
          <a:prstGeom prst="rect">
            <a:avLst/>
          </a:prstGeom>
          <a:noFill/>
          <a:ln w="9525">
            <a:noFill/>
            <a:miter lim="800000"/>
            <a:headEnd/>
            <a:tailEnd/>
          </a:ln>
        </p:spPr>
        <p:txBody>
          <a:bodyPr>
            <a:spAutoFit/>
          </a:bodyPr>
          <a:lstStyle/>
          <a:p>
            <a:pPr algn="just"/>
            <a:r>
              <a:rPr lang="en-US" sz="3200" b="1">
                <a:solidFill>
                  <a:srgbClr val="800000"/>
                </a:solidFill>
                <a:latin typeface="Monotype Corsiva" pitchFamily="66" charset="0"/>
                <a:cs typeface="Times New Roman" pitchFamily="18" charset="0"/>
              </a:rPr>
              <a:t> 	</a:t>
            </a:r>
            <a:r>
              <a:rPr lang="en-US" sz="3200" b="1">
                <a:solidFill>
                  <a:srgbClr val="800000"/>
                </a:solidFill>
                <a:latin typeface="Times New Roman" pitchFamily="18" charset="0"/>
                <a:cs typeface="Times New Roman" pitchFamily="18" charset="0"/>
              </a:rPr>
              <a:t>A class is what defines all the data members and the methods  that an object should have</a:t>
            </a:r>
            <a:r>
              <a:rPr lang="en-US" sz="3200" b="1">
                <a:solidFill>
                  <a:srgbClr val="800000"/>
                </a:solidFill>
                <a:latin typeface="Monotype Corsiva" pitchFamily="66" charset="0"/>
                <a:cs typeface="Times New Roman" pitchFamily="18" charset="0"/>
              </a:rPr>
              <a:t>.</a:t>
            </a:r>
          </a:p>
        </p:txBody>
      </p:sp>
      <p:sp>
        <p:nvSpPr>
          <p:cNvPr id="32771" name="Text Box 3"/>
          <p:cNvSpPr txBox="1">
            <a:spLocks noChangeArrowheads="1"/>
          </p:cNvSpPr>
          <p:nvPr/>
        </p:nvSpPr>
        <p:spPr bwMode="auto">
          <a:xfrm>
            <a:off x="304800" y="4146550"/>
            <a:ext cx="8382000" cy="1554163"/>
          </a:xfrm>
          <a:prstGeom prst="rect">
            <a:avLst/>
          </a:prstGeom>
          <a:noFill/>
          <a:ln w="9525">
            <a:noFill/>
            <a:miter lim="800000"/>
            <a:headEnd/>
            <a:tailEnd/>
          </a:ln>
        </p:spPr>
        <p:txBody>
          <a:bodyPr>
            <a:spAutoFit/>
          </a:bodyPr>
          <a:lstStyle/>
          <a:p>
            <a:pPr algn="just"/>
            <a:r>
              <a:rPr lang="en-US" sz="3200" b="1">
                <a:solidFill>
                  <a:srgbClr val="800000"/>
                </a:solidFill>
                <a:latin typeface="Monotype Corsiva" pitchFamily="66" charset="0"/>
                <a:cs typeface="Times New Roman" pitchFamily="18" charset="0"/>
              </a:rPr>
              <a:t> 	</a:t>
            </a:r>
            <a:r>
              <a:rPr lang="en-US" sz="3200" b="1">
                <a:solidFill>
                  <a:srgbClr val="800000"/>
                </a:solidFill>
                <a:latin typeface="Times New Roman" pitchFamily="18" charset="0"/>
                <a:cs typeface="Times New Roman" pitchFamily="18" charset="0"/>
              </a:rPr>
              <a:t>The class defines the characteristics that the object will possess;  it could also be referred to as a blueprint of the object.</a:t>
            </a:r>
          </a:p>
        </p:txBody>
      </p:sp>
      <p:sp>
        <p:nvSpPr>
          <p:cNvPr id="32772" name="AutoShape 4"/>
          <p:cNvSpPr>
            <a:spLocks noChangeArrowheads="1"/>
          </p:cNvSpPr>
          <p:nvPr/>
        </p:nvSpPr>
        <p:spPr bwMode="auto">
          <a:xfrm>
            <a:off x="1295400" y="381000"/>
            <a:ext cx="6248400" cy="1295400"/>
          </a:xfrm>
          <a:prstGeom prst="ellipseRibbon2">
            <a:avLst>
              <a:gd name="adj1" fmla="val 30148"/>
              <a:gd name="adj2" fmla="val 50000"/>
              <a:gd name="adj3" fmla="val 13481"/>
            </a:avLst>
          </a:prstGeom>
          <a:solidFill>
            <a:srgbClr val="CC0066"/>
          </a:solidFill>
          <a:ln w="9525">
            <a:solidFill>
              <a:schemeClr val="tx2"/>
            </a:solidFill>
            <a:round/>
            <a:headEnd/>
            <a:tailEnd/>
          </a:ln>
        </p:spPr>
        <p:txBody>
          <a:bodyPr wrap="none" anchor="ctr"/>
          <a:lstStyle/>
          <a:p>
            <a:endParaRPr lang="en-US"/>
          </a:p>
        </p:txBody>
      </p:sp>
      <p:sp>
        <p:nvSpPr>
          <p:cNvPr id="26629" name="WordArt 5"/>
          <p:cNvSpPr>
            <a:spLocks noChangeArrowheads="1" noChangeShapeType="1" noTextEdit="1"/>
          </p:cNvSpPr>
          <p:nvPr/>
        </p:nvSpPr>
        <p:spPr bwMode="auto">
          <a:xfrm>
            <a:off x="3429000" y="457200"/>
            <a:ext cx="1952625" cy="766763"/>
          </a:xfrm>
          <a:prstGeom prst="rect">
            <a:avLst/>
          </a:prstGeom>
        </p:spPr>
        <p:txBody>
          <a:bodyPr wrap="none" fromWordArt="1">
            <a:prstTxWarp prst="textPlain">
              <a:avLst>
                <a:gd name="adj" fmla="val 50000"/>
              </a:avLst>
            </a:prstTxWarp>
          </a:bodyPr>
          <a:lstStyle/>
          <a:p>
            <a:pPr algn="ctr"/>
            <a:r>
              <a:rPr lang="en-IN" sz="3600" kern="10">
                <a:ln w="19050">
                  <a:solidFill>
                    <a:schemeClr val="tx2"/>
                  </a:solidFill>
                  <a:round/>
                  <a:headEnd/>
                  <a:tailEnd/>
                </a:ln>
                <a:solidFill>
                  <a:schemeClr val="bg1"/>
                </a:solidFill>
                <a:effectLst>
                  <a:outerShdw dist="35921" dir="2700000" algn="ctr" rotWithShape="0">
                    <a:srgbClr val="990000"/>
                  </a:outerShdw>
                </a:effectLst>
                <a:latin typeface="Dotum"/>
                <a:ea typeface="Dotum"/>
              </a:rPr>
              <a:t>Classes</a:t>
            </a:r>
          </a:p>
        </p:txBody>
      </p:sp>
    </p:spTree>
  </p:cSld>
  <p:clrMapOvr>
    <a:masterClrMapping/>
  </p:clrMapOvr>
  <p:transition spd="med">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3" fill="hold" grpId="0" nodeType="withEffect">
                                  <p:stCondLst>
                                    <p:cond delay="0"/>
                                  </p:stCondLst>
                                  <p:childTnLst>
                                    <p:set>
                                      <p:cBhvr>
                                        <p:cTn id="6" dur="1" fill="hold">
                                          <p:stCondLst>
                                            <p:cond delay="0"/>
                                          </p:stCondLst>
                                        </p:cTn>
                                        <p:tgtEl>
                                          <p:spTgt spid="32772"/>
                                        </p:tgtEl>
                                        <p:attrNameLst>
                                          <p:attrName>style.visibility</p:attrName>
                                        </p:attrNameLst>
                                      </p:cBhvr>
                                      <p:to>
                                        <p:strVal val="visible"/>
                                      </p:to>
                                    </p:set>
                                    <p:animEffect transition="in" filter="strips(upRight)">
                                      <p:cBhvr>
                                        <p:cTn id="7" dur="500"/>
                                        <p:tgtEl>
                                          <p:spTgt spid="32772"/>
                                        </p:tgtEl>
                                      </p:cBhvr>
                                    </p:animEffect>
                                  </p:childTnLst>
                                </p:cTn>
                              </p:par>
                            </p:childTnLst>
                          </p:cTn>
                        </p:par>
                        <p:par>
                          <p:cTn id="8" fill="hold">
                            <p:stCondLst>
                              <p:cond delay="500"/>
                            </p:stCondLst>
                            <p:childTnLst>
                              <p:par>
                                <p:cTn id="9" presetID="18" presetClass="entr" presetSubtype="12" fill="hold" grpId="0" nodeType="afterEffect">
                                  <p:stCondLst>
                                    <p:cond delay="0"/>
                                  </p:stCondLst>
                                  <p:childTnLst>
                                    <p:set>
                                      <p:cBhvr>
                                        <p:cTn id="10" dur="1" fill="hold">
                                          <p:stCondLst>
                                            <p:cond delay="0"/>
                                          </p:stCondLst>
                                        </p:cTn>
                                        <p:tgtEl>
                                          <p:spTgt spid="32770"/>
                                        </p:tgtEl>
                                        <p:attrNameLst>
                                          <p:attrName>style.visibility</p:attrName>
                                        </p:attrNameLst>
                                      </p:cBhvr>
                                      <p:to>
                                        <p:strVal val="visible"/>
                                      </p:to>
                                    </p:set>
                                    <p:animEffect transition="in" filter="strips(downLeft)">
                                      <p:cBhvr>
                                        <p:cTn id="11" dur="500"/>
                                        <p:tgtEl>
                                          <p:spTgt spid="32770"/>
                                        </p:tgtEl>
                                      </p:cBhvr>
                                    </p:animEffect>
                                  </p:childTnLst>
                                </p:cTn>
                              </p:par>
                            </p:childTnLst>
                          </p:cTn>
                        </p:par>
                        <p:par>
                          <p:cTn id="12" fill="hold">
                            <p:stCondLst>
                              <p:cond delay="1000"/>
                            </p:stCondLst>
                            <p:childTnLst>
                              <p:par>
                                <p:cTn id="13" presetID="18" presetClass="entr" presetSubtype="6" fill="hold" grpId="0" nodeType="afterEffect">
                                  <p:stCondLst>
                                    <p:cond delay="0"/>
                                  </p:stCondLst>
                                  <p:childTnLst>
                                    <p:set>
                                      <p:cBhvr>
                                        <p:cTn id="14" dur="1" fill="hold">
                                          <p:stCondLst>
                                            <p:cond delay="0"/>
                                          </p:stCondLst>
                                        </p:cTn>
                                        <p:tgtEl>
                                          <p:spTgt spid="32771"/>
                                        </p:tgtEl>
                                        <p:attrNameLst>
                                          <p:attrName>style.visibility</p:attrName>
                                        </p:attrNameLst>
                                      </p:cBhvr>
                                      <p:to>
                                        <p:strVal val="visible"/>
                                      </p:to>
                                    </p:set>
                                    <p:animEffect transition="in" filter="strips(downRight)">
                                      <p:cBhvr>
                                        <p:cTn id="15" dur="500"/>
                                        <p:tgtEl>
                                          <p:spTgt spid="327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0" grpId="0"/>
      <p:bldP spid="32771" grpId="0"/>
      <p:bldP spid="3277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US" b="1" smtClean="0">
                <a:solidFill>
                  <a:srgbClr val="800000"/>
                </a:solidFill>
              </a:rPr>
              <a:t>For Example</a:t>
            </a:r>
          </a:p>
        </p:txBody>
      </p:sp>
      <p:sp>
        <p:nvSpPr>
          <p:cNvPr id="27651" name="Text Box 3"/>
          <p:cNvSpPr txBox="1">
            <a:spLocks noChangeArrowheads="1"/>
          </p:cNvSpPr>
          <p:nvPr/>
        </p:nvSpPr>
        <p:spPr bwMode="auto">
          <a:xfrm>
            <a:off x="1295400" y="1905000"/>
            <a:ext cx="2209800" cy="822325"/>
          </a:xfrm>
          <a:prstGeom prst="rect">
            <a:avLst/>
          </a:prstGeom>
          <a:noFill/>
          <a:ln w="6350">
            <a:noFill/>
            <a:miter lim="800000"/>
            <a:headEnd/>
            <a:tailEnd/>
          </a:ln>
        </p:spPr>
        <p:txBody>
          <a:bodyPr>
            <a:spAutoFit/>
          </a:bodyPr>
          <a:lstStyle/>
          <a:p>
            <a:pPr algn="ctr">
              <a:spcBef>
                <a:spcPct val="50000"/>
              </a:spcBef>
            </a:pPr>
            <a:r>
              <a:rPr lang="en-US" sz="2400" b="1">
                <a:solidFill>
                  <a:srgbClr val="800000"/>
                </a:solidFill>
                <a:latin typeface="Times New Roman" pitchFamily="18" charset="0"/>
              </a:rPr>
              <a:t>Polygon objects</a:t>
            </a:r>
          </a:p>
        </p:txBody>
      </p:sp>
      <p:sp>
        <p:nvSpPr>
          <p:cNvPr id="27652" name="Text Box 4"/>
          <p:cNvSpPr txBox="1">
            <a:spLocks noChangeArrowheads="1"/>
          </p:cNvSpPr>
          <p:nvPr/>
        </p:nvSpPr>
        <p:spPr bwMode="auto">
          <a:xfrm>
            <a:off x="5029200" y="1905000"/>
            <a:ext cx="2971800" cy="519113"/>
          </a:xfrm>
          <a:prstGeom prst="rect">
            <a:avLst/>
          </a:prstGeom>
          <a:noFill/>
          <a:ln w="6350">
            <a:noFill/>
            <a:miter lim="800000"/>
            <a:headEnd/>
            <a:tailEnd/>
          </a:ln>
        </p:spPr>
        <p:txBody>
          <a:bodyPr>
            <a:spAutoFit/>
          </a:bodyPr>
          <a:lstStyle/>
          <a:p>
            <a:pPr algn="ctr">
              <a:spcBef>
                <a:spcPct val="50000"/>
              </a:spcBef>
            </a:pPr>
            <a:r>
              <a:rPr lang="en-US" sz="2800" b="1">
                <a:solidFill>
                  <a:schemeClr val="accent2"/>
                </a:solidFill>
                <a:latin typeface="Times New Roman" pitchFamily="18" charset="0"/>
              </a:rPr>
              <a:t>Polygon class</a:t>
            </a:r>
          </a:p>
        </p:txBody>
      </p:sp>
      <p:sp>
        <p:nvSpPr>
          <p:cNvPr id="27653" name="AutoShape 5"/>
          <p:cNvSpPr>
            <a:spLocks noChangeArrowheads="1"/>
          </p:cNvSpPr>
          <p:nvPr/>
        </p:nvSpPr>
        <p:spPr bwMode="auto">
          <a:xfrm>
            <a:off x="685800" y="2971800"/>
            <a:ext cx="914400" cy="990600"/>
          </a:xfrm>
          <a:prstGeom prst="parallelogram">
            <a:avLst>
              <a:gd name="adj" fmla="val 25000"/>
            </a:avLst>
          </a:prstGeom>
          <a:solidFill>
            <a:schemeClr val="accent1"/>
          </a:solidFill>
          <a:ln w="6350">
            <a:solidFill>
              <a:srgbClr val="990033"/>
            </a:solidFill>
            <a:miter lim="800000"/>
            <a:headEnd/>
            <a:tailEnd/>
          </a:ln>
        </p:spPr>
        <p:txBody>
          <a:bodyPr wrap="none" anchor="ctr"/>
          <a:lstStyle/>
          <a:p>
            <a:endParaRPr lang="en-US"/>
          </a:p>
        </p:txBody>
      </p:sp>
      <p:sp>
        <p:nvSpPr>
          <p:cNvPr id="27654" name="AutoShape 6"/>
          <p:cNvSpPr>
            <a:spLocks noChangeArrowheads="1"/>
          </p:cNvSpPr>
          <p:nvPr/>
        </p:nvSpPr>
        <p:spPr bwMode="auto">
          <a:xfrm>
            <a:off x="2209800" y="2895600"/>
            <a:ext cx="609600" cy="914400"/>
          </a:xfrm>
          <a:prstGeom prst="triangle">
            <a:avLst>
              <a:gd name="adj" fmla="val 50000"/>
            </a:avLst>
          </a:prstGeom>
          <a:solidFill>
            <a:schemeClr val="accent1"/>
          </a:solidFill>
          <a:ln w="6350">
            <a:solidFill>
              <a:srgbClr val="990033"/>
            </a:solidFill>
            <a:miter lim="800000"/>
            <a:headEnd/>
            <a:tailEnd/>
          </a:ln>
        </p:spPr>
        <p:txBody>
          <a:bodyPr wrap="none" anchor="ctr"/>
          <a:lstStyle/>
          <a:p>
            <a:endParaRPr lang="en-US"/>
          </a:p>
        </p:txBody>
      </p:sp>
      <p:sp>
        <p:nvSpPr>
          <p:cNvPr id="27655" name="Rectangle 7"/>
          <p:cNvSpPr>
            <a:spLocks noChangeArrowheads="1"/>
          </p:cNvSpPr>
          <p:nvPr/>
        </p:nvSpPr>
        <p:spPr bwMode="auto">
          <a:xfrm>
            <a:off x="838200" y="4267200"/>
            <a:ext cx="762000" cy="838200"/>
          </a:xfrm>
          <a:prstGeom prst="rect">
            <a:avLst/>
          </a:prstGeom>
          <a:solidFill>
            <a:schemeClr val="accent1"/>
          </a:solidFill>
          <a:ln w="6350">
            <a:solidFill>
              <a:srgbClr val="990033"/>
            </a:solidFill>
            <a:miter lim="800000"/>
            <a:headEnd/>
            <a:tailEnd/>
          </a:ln>
        </p:spPr>
        <p:txBody>
          <a:bodyPr wrap="none" anchor="ctr"/>
          <a:lstStyle/>
          <a:p>
            <a:endParaRPr lang="en-US"/>
          </a:p>
        </p:txBody>
      </p:sp>
      <p:sp>
        <p:nvSpPr>
          <p:cNvPr id="27656" name="AutoShape 8"/>
          <p:cNvSpPr>
            <a:spLocks noChangeArrowheads="1"/>
          </p:cNvSpPr>
          <p:nvPr/>
        </p:nvSpPr>
        <p:spPr bwMode="auto">
          <a:xfrm>
            <a:off x="2133600" y="4572000"/>
            <a:ext cx="838200" cy="6096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accent1"/>
          </a:solidFill>
          <a:ln w="6350">
            <a:solidFill>
              <a:srgbClr val="990033"/>
            </a:solidFill>
            <a:miter lim="800000"/>
            <a:headEnd/>
            <a:tailEnd/>
          </a:ln>
        </p:spPr>
        <p:txBody>
          <a:bodyPr wrap="none" anchor="ctr"/>
          <a:lstStyle/>
          <a:p>
            <a:endParaRPr lang="en-US"/>
          </a:p>
        </p:txBody>
      </p:sp>
      <p:sp>
        <p:nvSpPr>
          <p:cNvPr id="27657" name="Text Box 9"/>
          <p:cNvSpPr txBox="1">
            <a:spLocks noChangeArrowheads="1"/>
          </p:cNvSpPr>
          <p:nvPr/>
        </p:nvSpPr>
        <p:spPr bwMode="auto">
          <a:xfrm>
            <a:off x="5562600" y="2590800"/>
            <a:ext cx="2209800" cy="1614488"/>
          </a:xfrm>
          <a:prstGeom prst="rect">
            <a:avLst/>
          </a:prstGeom>
          <a:noFill/>
          <a:ln w="6350">
            <a:noFill/>
            <a:miter lim="800000"/>
            <a:headEnd/>
            <a:tailEnd/>
          </a:ln>
        </p:spPr>
        <p:txBody>
          <a:bodyPr>
            <a:spAutoFit/>
          </a:bodyPr>
          <a:lstStyle/>
          <a:p>
            <a:pPr algn="ctr">
              <a:spcBef>
                <a:spcPct val="50000"/>
              </a:spcBef>
            </a:pPr>
            <a:r>
              <a:rPr lang="en-US" sz="2800" b="1" i="1" u="sng">
                <a:solidFill>
                  <a:srgbClr val="800000"/>
                </a:solidFill>
                <a:latin typeface="Times New Roman" pitchFamily="18" charset="0"/>
              </a:rPr>
              <a:t>Properties</a:t>
            </a:r>
            <a:br>
              <a:rPr lang="en-US" sz="2800" b="1" i="1" u="sng">
                <a:solidFill>
                  <a:srgbClr val="800000"/>
                </a:solidFill>
                <a:latin typeface="Times New Roman" pitchFamily="18" charset="0"/>
              </a:rPr>
            </a:br>
            <a:r>
              <a:rPr lang="en-US" sz="2400" b="1">
                <a:solidFill>
                  <a:srgbClr val="800000"/>
                </a:solidFill>
                <a:latin typeface="Times New Roman" pitchFamily="18" charset="0"/>
              </a:rPr>
              <a:t>Vertices</a:t>
            </a:r>
            <a:br>
              <a:rPr lang="en-US" sz="2400" b="1">
                <a:solidFill>
                  <a:srgbClr val="800000"/>
                </a:solidFill>
                <a:latin typeface="Times New Roman" pitchFamily="18" charset="0"/>
              </a:rPr>
            </a:br>
            <a:r>
              <a:rPr lang="en-US" sz="2400" b="1">
                <a:solidFill>
                  <a:srgbClr val="800000"/>
                </a:solidFill>
                <a:latin typeface="Times New Roman" pitchFamily="18" charset="0"/>
              </a:rPr>
              <a:t>Border Color</a:t>
            </a:r>
            <a:br>
              <a:rPr lang="en-US" sz="2400" b="1">
                <a:solidFill>
                  <a:srgbClr val="800000"/>
                </a:solidFill>
                <a:latin typeface="Times New Roman" pitchFamily="18" charset="0"/>
              </a:rPr>
            </a:br>
            <a:r>
              <a:rPr lang="en-US" sz="2400" b="1">
                <a:solidFill>
                  <a:srgbClr val="800000"/>
                </a:solidFill>
                <a:latin typeface="Times New Roman" pitchFamily="18" charset="0"/>
              </a:rPr>
              <a:t>Fill Color</a:t>
            </a:r>
          </a:p>
        </p:txBody>
      </p:sp>
      <p:sp>
        <p:nvSpPr>
          <p:cNvPr id="27658" name="Text Box 10"/>
          <p:cNvSpPr txBox="1">
            <a:spLocks noChangeArrowheads="1"/>
          </p:cNvSpPr>
          <p:nvPr/>
        </p:nvSpPr>
        <p:spPr bwMode="auto">
          <a:xfrm>
            <a:off x="5638800" y="4114800"/>
            <a:ext cx="1676400" cy="1614488"/>
          </a:xfrm>
          <a:prstGeom prst="rect">
            <a:avLst/>
          </a:prstGeom>
          <a:noFill/>
          <a:ln w="6350">
            <a:noFill/>
            <a:miter lim="800000"/>
            <a:headEnd/>
            <a:tailEnd/>
          </a:ln>
        </p:spPr>
        <p:txBody>
          <a:bodyPr>
            <a:spAutoFit/>
          </a:bodyPr>
          <a:lstStyle/>
          <a:p>
            <a:pPr algn="ctr">
              <a:spcBef>
                <a:spcPct val="50000"/>
              </a:spcBef>
            </a:pPr>
            <a:r>
              <a:rPr lang="en-US" sz="2800" b="1" i="1" u="sng">
                <a:solidFill>
                  <a:srgbClr val="800000"/>
                </a:solidFill>
                <a:latin typeface="Times New Roman" pitchFamily="18" charset="0"/>
              </a:rPr>
              <a:t>Methods</a:t>
            </a:r>
            <a:br>
              <a:rPr lang="en-US" sz="2800" b="1" i="1" u="sng">
                <a:solidFill>
                  <a:srgbClr val="800000"/>
                </a:solidFill>
                <a:latin typeface="Times New Roman" pitchFamily="18" charset="0"/>
              </a:rPr>
            </a:br>
            <a:r>
              <a:rPr lang="en-US" sz="2400" b="1">
                <a:solidFill>
                  <a:srgbClr val="800000"/>
                </a:solidFill>
                <a:latin typeface="Times New Roman" pitchFamily="18" charset="0"/>
              </a:rPr>
              <a:t>Draw</a:t>
            </a:r>
            <a:br>
              <a:rPr lang="en-US" sz="2400" b="1">
                <a:solidFill>
                  <a:srgbClr val="800000"/>
                </a:solidFill>
                <a:latin typeface="Times New Roman" pitchFamily="18" charset="0"/>
              </a:rPr>
            </a:br>
            <a:r>
              <a:rPr lang="en-US" sz="2400" b="1">
                <a:solidFill>
                  <a:srgbClr val="800000"/>
                </a:solidFill>
                <a:latin typeface="Times New Roman" pitchFamily="18" charset="0"/>
              </a:rPr>
              <a:t>Erase</a:t>
            </a:r>
            <a:br>
              <a:rPr lang="en-US" sz="2400" b="1">
                <a:solidFill>
                  <a:srgbClr val="800000"/>
                </a:solidFill>
                <a:latin typeface="Times New Roman" pitchFamily="18" charset="0"/>
              </a:rPr>
            </a:br>
            <a:r>
              <a:rPr lang="en-US" sz="2400" b="1">
                <a:solidFill>
                  <a:srgbClr val="800000"/>
                </a:solidFill>
                <a:latin typeface="Times New Roman" pitchFamily="18" charset="0"/>
              </a:rPr>
              <a:t>Move</a:t>
            </a:r>
          </a:p>
        </p:txBody>
      </p:sp>
      <p:sp>
        <p:nvSpPr>
          <p:cNvPr id="27659" name="Line 11"/>
          <p:cNvSpPr>
            <a:spLocks noChangeShapeType="1"/>
          </p:cNvSpPr>
          <p:nvPr/>
        </p:nvSpPr>
        <p:spPr bwMode="auto">
          <a:xfrm>
            <a:off x="3352800" y="4114800"/>
            <a:ext cx="1905000" cy="0"/>
          </a:xfrm>
          <a:prstGeom prst="line">
            <a:avLst/>
          </a:prstGeom>
          <a:noFill/>
          <a:ln w="38100">
            <a:solidFill>
              <a:srgbClr val="990033"/>
            </a:solidFill>
            <a:round/>
            <a:headEnd/>
            <a:tailEnd type="triangle" w="med" len="med"/>
          </a:ln>
        </p:spPr>
        <p:txBody>
          <a:bodyPr wrap="none"/>
          <a:lstStyle/>
          <a:p>
            <a:endParaRPr lang="en-IN"/>
          </a:p>
        </p:txBody>
      </p:sp>
      <p:sp>
        <p:nvSpPr>
          <p:cNvPr id="27660" name="Text Box 12"/>
          <p:cNvSpPr txBox="1">
            <a:spLocks noChangeArrowheads="1"/>
          </p:cNvSpPr>
          <p:nvPr/>
        </p:nvSpPr>
        <p:spPr bwMode="auto">
          <a:xfrm>
            <a:off x="3276600" y="3429000"/>
            <a:ext cx="1905000" cy="457200"/>
          </a:xfrm>
          <a:prstGeom prst="rect">
            <a:avLst/>
          </a:prstGeom>
          <a:noFill/>
          <a:ln w="6350">
            <a:noFill/>
            <a:miter lim="800000"/>
            <a:headEnd/>
            <a:tailEnd/>
          </a:ln>
        </p:spPr>
        <p:txBody>
          <a:bodyPr>
            <a:spAutoFit/>
          </a:bodyPr>
          <a:lstStyle/>
          <a:p>
            <a:pPr algn="ctr">
              <a:spcBef>
                <a:spcPct val="50000"/>
              </a:spcBef>
            </a:pPr>
            <a:r>
              <a:rPr lang="en-US" sz="2400" b="1">
                <a:solidFill>
                  <a:srgbClr val="800000"/>
                </a:solidFill>
                <a:latin typeface="Times New Roman" pitchFamily="18" charset="0"/>
              </a:rPr>
              <a:t>Abstract</a:t>
            </a:r>
          </a:p>
        </p:txBody>
      </p:sp>
      <p:sp>
        <p:nvSpPr>
          <p:cNvPr id="27661" name="Text Box 13"/>
          <p:cNvSpPr txBox="1">
            <a:spLocks noChangeArrowheads="1"/>
          </p:cNvSpPr>
          <p:nvPr/>
        </p:nvSpPr>
        <p:spPr bwMode="auto">
          <a:xfrm>
            <a:off x="3505200" y="4267200"/>
            <a:ext cx="1524000" cy="457200"/>
          </a:xfrm>
          <a:prstGeom prst="rect">
            <a:avLst/>
          </a:prstGeom>
          <a:noFill/>
          <a:ln w="6350">
            <a:noFill/>
            <a:miter lim="800000"/>
            <a:headEnd/>
            <a:tailEnd/>
          </a:ln>
        </p:spPr>
        <p:txBody>
          <a:bodyPr>
            <a:spAutoFit/>
          </a:bodyPr>
          <a:lstStyle/>
          <a:p>
            <a:pPr algn="ctr">
              <a:spcBef>
                <a:spcPct val="50000"/>
              </a:spcBef>
            </a:pPr>
            <a:r>
              <a:rPr lang="en-US" sz="2400" b="1">
                <a:solidFill>
                  <a:srgbClr val="800000"/>
                </a:solidFill>
                <a:latin typeface="Times New Roman" pitchFamily="18" charset="0"/>
              </a:rPr>
              <a:t>into</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body" idx="1"/>
          </p:nvPr>
        </p:nvSpPr>
        <p:spPr>
          <a:xfrm>
            <a:off x="533400" y="3962400"/>
            <a:ext cx="8153400" cy="1600200"/>
          </a:xfrm>
        </p:spPr>
        <p:txBody>
          <a:bodyPr>
            <a:normAutofit fontScale="92500" lnSpcReduction="20000"/>
          </a:bodyPr>
          <a:lstStyle/>
          <a:p>
            <a:pPr algn="just" eaLnBrk="1" hangingPunct="1">
              <a:lnSpc>
                <a:spcPct val="125000"/>
              </a:lnSpc>
              <a:buFontTx/>
              <a:buNone/>
            </a:pPr>
            <a:r>
              <a:rPr lang="en-US" b="1" smtClean="0">
                <a:solidFill>
                  <a:srgbClr val="6600CC"/>
                </a:solidFill>
                <a:latin typeface="Times New Roman" pitchFamily="18" charset="0"/>
              </a:rPr>
              <a:t> </a:t>
            </a:r>
            <a:r>
              <a:rPr lang="en-US" b="1" smtClean="0">
                <a:solidFill>
                  <a:srgbClr val="A50021"/>
                </a:solidFill>
                <a:latin typeface="Times New Roman" pitchFamily="18" charset="0"/>
              </a:rPr>
              <a:t>Simply defined as a structure that combines the objects with some attributes (data structure) and some behavior (operation</a:t>
            </a:r>
            <a:r>
              <a:rPr lang="en-US" b="1" smtClean="0">
                <a:solidFill>
                  <a:srgbClr val="A50021"/>
                </a:solidFill>
              </a:rPr>
              <a:t>)</a:t>
            </a:r>
          </a:p>
        </p:txBody>
      </p:sp>
      <p:sp>
        <p:nvSpPr>
          <p:cNvPr id="35843" name="WordArt 3"/>
          <p:cNvSpPr>
            <a:spLocks noChangeArrowheads="1" noChangeShapeType="1" noTextEdit="1"/>
          </p:cNvSpPr>
          <p:nvPr/>
        </p:nvSpPr>
        <p:spPr bwMode="auto">
          <a:xfrm rot="200308">
            <a:off x="1905000" y="609600"/>
            <a:ext cx="5105400" cy="1143000"/>
          </a:xfrm>
          <a:prstGeom prst="rect">
            <a:avLst/>
          </a:prstGeom>
        </p:spPr>
        <p:txBody>
          <a:bodyPr wrap="none" fromWordArt="1">
            <a:prstTxWarp prst="textDeflate">
              <a:avLst>
                <a:gd name="adj" fmla="val 8750"/>
              </a:avLst>
            </a:prstTxWarp>
            <a:scene3d>
              <a:camera prst="legacyPerspectiveFront">
                <a:rot lat="20519982" lon="1080000" rev="0"/>
              </a:camera>
              <a:lightRig rig="legacyHarsh2" dir="b"/>
            </a:scene3d>
            <a:sp3d extrusionH="430200" prstMaterial="legacyMatte">
              <a:extrusionClr>
                <a:srgbClr val="FF6600"/>
              </a:extrusionClr>
            </a:sp3d>
          </a:bodyPr>
          <a:lstStyle/>
          <a:p>
            <a:pPr algn="ctr"/>
            <a:r>
              <a:rPr lang="en-IN" sz="3600" b="1" kern="10">
                <a:ln w="9525">
                  <a:round/>
                  <a:headEnd/>
                  <a:tailEnd/>
                </a:ln>
                <a:gradFill rotWithShape="1">
                  <a:gsLst>
                    <a:gs pos="0">
                      <a:srgbClr val="FFE701"/>
                    </a:gs>
                    <a:gs pos="100000">
                      <a:srgbClr val="FE3E02"/>
                    </a:gs>
                  </a:gsLst>
                  <a:lin ang="5160000" scaled="1"/>
                </a:gradFill>
                <a:latin typeface="Impact"/>
              </a:rPr>
              <a:t>CLASS</a:t>
            </a:r>
          </a:p>
        </p:txBody>
      </p:sp>
      <p:sp>
        <p:nvSpPr>
          <p:cNvPr id="35844" name="WordArt 4"/>
          <p:cNvSpPr>
            <a:spLocks noChangeArrowheads="1" noChangeShapeType="1" noTextEdit="1"/>
          </p:cNvSpPr>
          <p:nvPr/>
        </p:nvSpPr>
        <p:spPr bwMode="auto">
          <a:xfrm>
            <a:off x="152400" y="2590800"/>
            <a:ext cx="2590800" cy="685800"/>
          </a:xfrm>
          <a:prstGeom prst="rect">
            <a:avLst/>
          </a:prstGeom>
        </p:spPr>
        <p:txBody>
          <a:bodyPr wrap="none" fromWordArt="1">
            <a:prstTxWarp prst="textPlain">
              <a:avLst>
                <a:gd name="adj" fmla="val 50000"/>
              </a:avLst>
            </a:prstTxWarp>
          </a:bodyPr>
          <a:lstStyle/>
          <a:p>
            <a:pPr algn="ctr"/>
            <a:r>
              <a:rPr lang="en-IN" sz="3600" i="1" kern="10">
                <a:ln w="9525">
                  <a:solidFill>
                    <a:srgbClr val="000000"/>
                  </a:solidFill>
                  <a:round/>
                  <a:headEnd/>
                  <a:tailEnd/>
                </a:ln>
                <a:blipFill dpi="0" rotWithShape="1">
                  <a:blip r:embed="rId2"/>
                  <a:srcRect/>
                  <a:tile tx="0" ty="0" sx="100000" sy="100000" flip="none" algn="tl"/>
                </a:blipFill>
                <a:effectLst>
                  <a:outerShdw dist="35921" dir="2700000" algn="ctr" rotWithShape="0">
                    <a:srgbClr val="808080">
                      <a:alpha val="79999"/>
                    </a:srgbClr>
                  </a:outerShdw>
                </a:effectLst>
                <a:latin typeface="Arial Black"/>
              </a:rPr>
              <a:t>DATA</a:t>
            </a:r>
          </a:p>
        </p:txBody>
      </p:sp>
      <p:sp>
        <p:nvSpPr>
          <p:cNvPr id="35845" name="WordArt 5"/>
          <p:cNvSpPr>
            <a:spLocks noChangeArrowheads="1" noChangeShapeType="1" noTextEdit="1"/>
          </p:cNvSpPr>
          <p:nvPr/>
        </p:nvSpPr>
        <p:spPr bwMode="auto">
          <a:xfrm>
            <a:off x="5181600" y="2590800"/>
            <a:ext cx="3733800" cy="685800"/>
          </a:xfrm>
          <a:prstGeom prst="rect">
            <a:avLst/>
          </a:prstGeom>
        </p:spPr>
        <p:txBody>
          <a:bodyPr wrap="none" fromWordArt="1">
            <a:prstTxWarp prst="textPlain">
              <a:avLst>
                <a:gd name="adj" fmla="val 50000"/>
              </a:avLst>
            </a:prstTxWarp>
          </a:bodyPr>
          <a:lstStyle/>
          <a:p>
            <a:pPr algn="ctr"/>
            <a:r>
              <a:rPr lang="en-IN" sz="3600" b="1" i="1" kern="10">
                <a:ln w="9525">
                  <a:solidFill>
                    <a:srgbClr val="000000"/>
                  </a:solidFill>
                  <a:round/>
                  <a:headEnd/>
                  <a:tailEnd/>
                </a:ln>
                <a:blipFill dpi="0" rotWithShape="1">
                  <a:blip r:embed="rId2"/>
                  <a:srcRect/>
                  <a:tile tx="0" ty="0" sx="100000" sy="100000" flip="none" algn="tl"/>
                </a:blipFill>
                <a:effectLst>
                  <a:outerShdw dist="35921" dir="2700000" algn="ctr" rotWithShape="0">
                    <a:srgbClr val="808080">
                      <a:alpha val="79999"/>
                    </a:srgbClr>
                  </a:outerShdw>
                </a:effectLst>
                <a:latin typeface="Arial Black"/>
              </a:rPr>
              <a:t>FUNCTION</a:t>
            </a:r>
          </a:p>
        </p:txBody>
      </p:sp>
      <p:sp>
        <p:nvSpPr>
          <p:cNvPr id="35846" name="AutoShape 6"/>
          <p:cNvSpPr>
            <a:spLocks noChangeArrowheads="1"/>
          </p:cNvSpPr>
          <p:nvPr/>
        </p:nvSpPr>
        <p:spPr bwMode="auto">
          <a:xfrm>
            <a:off x="228600" y="3581400"/>
            <a:ext cx="8686800" cy="3352800"/>
          </a:xfrm>
          <a:prstGeom prst="horizontalScroll">
            <a:avLst>
              <a:gd name="adj" fmla="val 12500"/>
            </a:avLst>
          </a:prstGeom>
          <a:noFill/>
          <a:ln w="57150">
            <a:solidFill>
              <a:srgbClr val="A50021"/>
            </a:solidFill>
            <a:round/>
            <a:headEnd/>
            <a:tailEnd/>
          </a:ln>
        </p:spPr>
        <p:txBody>
          <a:bodyPr wrap="none" anchor="ctr"/>
          <a:lstStyle/>
          <a:p>
            <a:endParaRPr lang="en-US"/>
          </a:p>
        </p:txBody>
      </p:sp>
      <p:sp>
        <p:nvSpPr>
          <p:cNvPr id="35847" name="Text Box 7"/>
          <p:cNvSpPr txBox="1">
            <a:spLocks noChangeArrowheads="1"/>
          </p:cNvSpPr>
          <p:nvPr/>
        </p:nvSpPr>
        <p:spPr bwMode="auto">
          <a:xfrm>
            <a:off x="3124200" y="1524000"/>
            <a:ext cx="1676400" cy="2255838"/>
          </a:xfrm>
          <a:prstGeom prst="rect">
            <a:avLst/>
          </a:prstGeom>
          <a:noFill/>
          <a:ln w="9525">
            <a:noFill/>
            <a:miter lim="800000"/>
            <a:headEnd/>
            <a:tailEnd/>
          </a:ln>
        </p:spPr>
        <p:txBody>
          <a:bodyPr>
            <a:spAutoFit/>
          </a:bodyPr>
          <a:lstStyle/>
          <a:p>
            <a:pPr eaLnBrk="0" hangingPunct="0">
              <a:spcBef>
                <a:spcPct val="50000"/>
              </a:spcBef>
            </a:pPr>
            <a:r>
              <a:rPr lang="en-US" sz="14200" b="1">
                <a:solidFill>
                  <a:srgbClr val="000066"/>
                </a:solidFill>
                <a:latin typeface="Verdana" pitchFamily="34" charset="0"/>
              </a:rPr>
              <a:t>+</a:t>
            </a:r>
          </a:p>
        </p:txBody>
      </p:sp>
    </p:spTree>
  </p:cSld>
  <p:clrMapOvr>
    <a:masterClrMapping/>
  </p:clrMapOvr>
  <p:transition spd="med">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0"/>
                                  </p:stCondLst>
                                  <p:childTnLst>
                                    <p:set>
                                      <p:cBhvr>
                                        <p:cTn id="6" dur="1" fill="hold">
                                          <p:stCondLst>
                                            <p:cond delay="0"/>
                                          </p:stCondLst>
                                        </p:cTn>
                                        <p:tgtEl>
                                          <p:spTgt spid="35843"/>
                                        </p:tgtEl>
                                        <p:attrNameLst>
                                          <p:attrName>style.visibility</p:attrName>
                                        </p:attrNameLst>
                                      </p:cBhvr>
                                      <p:to>
                                        <p:strVal val="visible"/>
                                      </p:to>
                                    </p:set>
                                    <p:anim calcmode="lin" valueType="num">
                                      <p:cBhvr>
                                        <p:cTn id="7" dur="500" fill="hold"/>
                                        <p:tgtEl>
                                          <p:spTgt spid="35843"/>
                                        </p:tgtEl>
                                        <p:attrNameLst>
                                          <p:attrName>ppt_w</p:attrName>
                                        </p:attrNameLst>
                                      </p:cBhvr>
                                      <p:tavLst>
                                        <p:tav tm="0">
                                          <p:val>
                                            <p:fltVal val="0"/>
                                          </p:val>
                                        </p:tav>
                                        <p:tav tm="100000">
                                          <p:val>
                                            <p:strVal val="#ppt_w"/>
                                          </p:val>
                                        </p:tav>
                                      </p:tavLst>
                                    </p:anim>
                                    <p:anim calcmode="lin" valueType="num">
                                      <p:cBhvr>
                                        <p:cTn id="8" dur="500" fill="hold"/>
                                        <p:tgtEl>
                                          <p:spTgt spid="35843"/>
                                        </p:tgtEl>
                                        <p:attrNameLst>
                                          <p:attrName>ppt_h</p:attrName>
                                        </p:attrNameLst>
                                      </p:cBhvr>
                                      <p:tavLst>
                                        <p:tav tm="0">
                                          <p:val>
                                            <p:fltVal val="0"/>
                                          </p:val>
                                        </p:tav>
                                        <p:tav tm="100000">
                                          <p:val>
                                            <p:strVal val="#ppt_h"/>
                                          </p:val>
                                        </p:tav>
                                      </p:tavLst>
                                    </p:anim>
                                  </p:childTnLst>
                                </p:cTn>
                              </p:par>
                              <p:par>
                                <p:cTn id="9" presetID="18" presetClass="entr" presetSubtype="6" fill="hold" grpId="0" nodeType="withEffect">
                                  <p:stCondLst>
                                    <p:cond delay="0"/>
                                  </p:stCondLst>
                                  <p:childTnLst>
                                    <p:set>
                                      <p:cBhvr>
                                        <p:cTn id="10" dur="1" fill="hold">
                                          <p:stCondLst>
                                            <p:cond delay="0"/>
                                          </p:stCondLst>
                                        </p:cTn>
                                        <p:tgtEl>
                                          <p:spTgt spid="35844"/>
                                        </p:tgtEl>
                                        <p:attrNameLst>
                                          <p:attrName>style.visibility</p:attrName>
                                        </p:attrNameLst>
                                      </p:cBhvr>
                                      <p:to>
                                        <p:strVal val="visible"/>
                                      </p:to>
                                    </p:set>
                                    <p:animEffect transition="in" filter="strips(downRight)">
                                      <p:cBhvr>
                                        <p:cTn id="11" dur="500"/>
                                        <p:tgtEl>
                                          <p:spTgt spid="35844"/>
                                        </p:tgtEl>
                                      </p:cBhvr>
                                    </p:animEffect>
                                  </p:childTnLst>
                                </p:cTn>
                              </p:par>
                              <p:par>
                                <p:cTn id="12" presetID="18" presetClass="entr" presetSubtype="12" fill="hold" grpId="0" nodeType="withEffect">
                                  <p:stCondLst>
                                    <p:cond delay="0"/>
                                  </p:stCondLst>
                                  <p:childTnLst>
                                    <p:set>
                                      <p:cBhvr>
                                        <p:cTn id="13" dur="1" fill="hold">
                                          <p:stCondLst>
                                            <p:cond delay="0"/>
                                          </p:stCondLst>
                                        </p:cTn>
                                        <p:tgtEl>
                                          <p:spTgt spid="35845"/>
                                        </p:tgtEl>
                                        <p:attrNameLst>
                                          <p:attrName>style.visibility</p:attrName>
                                        </p:attrNameLst>
                                      </p:cBhvr>
                                      <p:to>
                                        <p:strVal val="visible"/>
                                      </p:to>
                                    </p:set>
                                    <p:animEffect transition="in" filter="strips(downLeft)">
                                      <p:cBhvr>
                                        <p:cTn id="14" dur="500"/>
                                        <p:tgtEl>
                                          <p:spTgt spid="35845"/>
                                        </p:tgtEl>
                                      </p:cBhvr>
                                    </p:animEffect>
                                  </p:childTnLst>
                                </p:cTn>
                              </p:par>
                              <p:par>
                                <p:cTn id="15" presetID="23" presetClass="entr" presetSubtype="528" fill="hold" grpId="0" nodeType="withEffect">
                                  <p:stCondLst>
                                    <p:cond delay="0"/>
                                  </p:stCondLst>
                                  <p:childTnLst>
                                    <p:set>
                                      <p:cBhvr>
                                        <p:cTn id="16" dur="1" fill="hold">
                                          <p:stCondLst>
                                            <p:cond delay="0"/>
                                          </p:stCondLst>
                                        </p:cTn>
                                        <p:tgtEl>
                                          <p:spTgt spid="35847"/>
                                        </p:tgtEl>
                                        <p:attrNameLst>
                                          <p:attrName>style.visibility</p:attrName>
                                        </p:attrNameLst>
                                      </p:cBhvr>
                                      <p:to>
                                        <p:strVal val="visible"/>
                                      </p:to>
                                    </p:set>
                                    <p:anim calcmode="lin" valueType="num">
                                      <p:cBhvr>
                                        <p:cTn id="17" dur="500" fill="hold"/>
                                        <p:tgtEl>
                                          <p:spTgt spid="35847"/>
                                        </p:tgtEl>
                                        <p:attrNameLst>
                                          <p:attrName>ppt_w</p:attrName>
                                        </p:attrNameLst>
                                      </p:cBhvr>
                                      <p:tavLst>
                                        <p:tav tm="0">
                                          <p:val>
                                            <p:fltVal val="0"/>
                                          </p:val>
                                        </p:tav>
                                        <p:tav tm="100000">
                                          <p:val>
                                            <p:strVal val="#ppt_w"/>
                                          </p:val>
                                        </p:tav>
                                      </p:tavLst>
                                    </p:anim>
                                    <p:anim calcmode="lin" valueType="num">
                                      <p:cBhvr>
                                        <p:cTn id="18" dur="500" fill="hold"/>
                                        <p:tgtEl>
                                          <p:spTgt spid="35847"/>
                                        </p:tgtEl>
                                        <p:attrNameLst>
                                          <p:attrName>ppt_h</p:attrName>
                                        </p:attrNameLst>
                                      </p:cBhvr>
                                      <p:tavLst>
                                        <p:tav tm="0">
                                          <p:val>
                                            <p:fltVal val="0"/>
                                          </p:val>
                                        </p:tav>
                                        <p:tav tm="100000">
                                          <p:val>
                                            <p:strVal val="#ppt_h"/>
                                          </p:val>
                                        </p:tav>
                                      </p:tavLst>
                                    </p:anim>
                                    <p:anim calcmode="lin" valueType="num">
                                      <p:cBhvr>
                                        <p:cTn id="19" dur="500" fill="hold"/>
                                        <p:tgtEl>
                                          <p:spTgt spid="35847"/>
                                        </p:tgtEl>
                                        <p:attrNameLst>
                                          <p:attrName>ppt_x</p:attrName>
                                        </p:attrNameLst>
                                      </p:cBhvr>
                                      <p:tavLst>
                                        <p:tav tm="0">
                                          <p:val>
                                            <p:fltVal val="0.5"/>
                                          </p:val>
                                        </p:tav>
                                        <p:tav tm="100000">
                                          <p:val>
                                            <p:strVal val="#ppt_x"/>
                                          </p:val>
                                        </p:tav>
                                      </p:tavLst>
                                    </p:anim>
                                    <p:anim calcmode="lin" valueType="num">
                                      <p:cBhvr>
                                        <p:cTn id="20" dur="500" fill="hold"/>
                                        <p:tgtEl>
                                          <p:spTgt spid="35847"/>
                                        </p:tgtEl>
                                        <p:attrNameLst>
                                          <p:attrName>ppt_y</p:attrName>
                                        </p:attrNameLst>
                                      </p:cBhvr>
                                      <p:tavLst>
                                        <p:tav tm="0">
                                          <p:val>
                                            <p:fltVal val="0.5"/>
                                          </p:val>
                                        </p:tav>
                                        <p:tav tm="100000">
                                          <p:val>
                                            <p:strVal val="#ppt_y"/>
                                          </p:val>
                                        </p:tav>
                                      </p:tavLst>
                                    </p:anim>
                                  </p:childTnLst>
                                </p:cTn>
                              </p:par>
                              <p:par>
                                <p:cTn id="21" presetID="37" presetClass="entr" presetSubtype="0" fill="hold" grpId="0" nodeType="withEffect">
                                  <p:stCondLst>
                                    <p:cond delay="0"/>
                                  </p:stCondLst>
                                  <p:childTnLst>
                                    <p:set>
                                      <p:cBhvr>
                                        <p:cTn id="22" dur="1" fill="hold">
                                          <p:stCondLst>
                                            <p:cond delay="0"/>
                                          </p:stCondLst>
                                        </p:cTn>
                                        <p:tgtEl>
                                          <p:spTgt spid="35842">
                                            <p:txEl>
                                              <p:pRg st="0" end="0"/>
                                            </p:txEl>
                                          </p:spTgt>
                                        </p:tgtEl>
                                        <p:attrNameLst>
                                          <p:attrName>style.visibility</p:attrName>
                                        </p:attrNameLst>
                                      </p:cBhvr>
                                      <p:to>
                                        <p:strVal val="visible"/>
                                      </p:to>
                                    </p:set>
                                    <p:animEffect transition="in" filter="fade">
                                      <p:cBhvr>
                                        <p:cTn id="23" dur="1000"/>
                                        <p:tgtEl>
                                          <p:spTgt spid="35842">
                                            <p:txEl>
                                              <p:pRg st="0" end="0"/>
                                            </p:txEl>
                                          </p:spTgt>
                                        </p:tgtEl>
                                      </p:cBhvr>
                                    </p:animEffect>
                                    <p:anim calcmode="lin" valueType="num">
                                      <p:cBhvr>
                                        <p:cTn id="24" dur="1000" fill="hold"/>
                                        <p:tgtEl>
                                          <p:spTgt spid="35842">
                                            <p:txEl>
                                              <p:pRg st="0" end="0"/>
                                            </p:txEl>
                                          </p:spTgt>
                                        </p:tgtEl>
                                        <p:attrNameLst>
                                          <p:attrName>ppt_x</p:attrName>
                                        </p:attrNameLst>
                                      </p:cBhvr>
                                      <p:tavLst>
                                        <p:tav tm="0">
                                          <p:val>
                                            <p:strVal val="#ppt_x"/>
                                          </p:val>
                                        </p:tav>
                                        <p:tav tm="100000">
                                          <p:val>
                                            <p:strVal val="#ppt_x"/>
                                          </p:val>
                                        </p:tav>
                                      </p:tavLst>
                                    </p:anim>
                                    <p:anim calcmode="lin" valueType="num">
                                      <p:cBhvr>
                                        <p:cTn id="25" dur="900" decel="100000" fill="hold"/>
                                        <p:tgtEl>
                                          <p:spTgt spid="35842">
                                            <p:txEl>
                                              <p:pRg st="0" end="0"/>
                                            </p:txEl>
                                          </p:spTgt>
                                        </p:tgtEl>
                                        <p:attrNameLst>
                                          <p:attrName>ppt_y</p:attrName>
                                        </p:attrNameLst>
                                      </p:cBhvr>
                                      <p:tavLst>
                                        <p:tav tm="0">
                                          <p:val>
                                            <p:strVal val="#ppt_y+1"/>
                                          </p:val>
                                        </p:tav>
                                        <p:tav tm="100000">
                                          <p:val>
                                            <p:strVal val="#ppt_y-.03"/>
                                          </p:val>
                                        </p:tav>
                                      </p:tavLst>
                                    </p:anim>
                                    <p:anim calcmode="lin" valueType="num">
                                      <p:cBhvr>
                                        <p:cTn id="26" dur="100" accel="100000" fill="hold">
                                          <p:stCondLst>
                                            <p:cond delay="900"/>
                                          </p:stCondLst>
                                        </p:cTn>
                                        <p:tgtEl>
                                          <p:spTgt spid="35842">
                                            <p:txEl>
                                              <p:pRg st="0" end="0"/>
                                            </p:txEl>
                                          </p:spTgt>
                                        </p:tgtEl>
                                        <p:attrNameLst>
                                          <p:attrName>ppt_y</p:attrName>
                                        </p:attrNameLst>
                                      </p:cBhvr>
                                      <p:tavLst>
                                        <p:tav tm="0">
                                          <p:val>
                                            <p:strVal val="#ppt_y-.03"/>
                                          </p:val>
                                        </p:tav>
                                        <p:tav tm="100000">
                                          <p:val>
                                            <p:strVal val="#ppt_y"/>
                                          </p:val>
                                        </p:tav>
                                      </p:tavLst>
                                    </p:anim>
                                  </p:childTnLst>
                                </p:cTn>
                              </p:par>
                              <p:par>
                                <p:cTn id="27" presetID="37" presetClass="entr" presetSubtype="0" fill="hold" grpId="0" nodeType="withEffect">
                                  <p:stCondLst>
                                    <p:cond delay="0"/>
                                  </p:stCondLst>
                                  <p:childTnLst>
                                    <p:set>
                                      <p:cBhvr>
                                        <p:cTn id="28" dur="1" fill="hold">
                                          <p:stCondLst>
                                            <p:cond delay="0"/>
                                          </p:stCondLst>
                                        </p:cTn>
                                        <p:tgtEl>
                                          <p:spTgt spid="35846"/>
                                        </p:tgtEl>
                                        <p:attrNameLst>
                                          <p:attrName>style.visibility</p:attrName>
                                        </p:attrNameLst>
                                      </p:cBhvr>
                                      <p:to>
                                        <p:strVal val="visible"/>
                                      </p:to>
                                    </p:set>
                                    <p:animEffect transition="in" filter="fade">
                                      <p:cBhvr>
                                        <p:cTn id="29" dur="1000"/>
                                        <p:tgtEl>
                                          <p:spTgt spid="35846"/>
                                        </p:tgtEl>
                                      </p:cBhvr>
                                    </p:animEffect>
                                    <p:anim calcmode="lin" valueType="num">
                                      <p:cBhvr>
                                        <p:cTn id="30" dur="1000" fill="hold"/>
                                        <p:tgtEl>
                                          <p:spTgt spid="35846"/>
                                        </p:tgtEl>
                                        <p:attrNameLst>
                                          <p:attrName>ppt_x</p:attrName>
                                        </p:attrNameLst>
                                      </p:cBhvr>
                                      <p:tavLst>
                                        <p:tav tm="0">
                                          <p:val>
                                            <p:strVal val="#ppt_x"/>
                                          </p:val>
                                        </p:tav>
                                        <p:tav tm="100000">
                                          <p:val>
                                            <p:strVal val="#ppt_x"/>
                                          </p:val>
                                        </p:tav>
                                      </p:tavLst>
                                    </p:anim>
                                    <p:anim calcmode="lin" valueType="num">
                                      <p:cBhvr>
                                        <p:cTn id="31" dur="900" decel="100000" fill="hold"/>
                                        <p:tgtEl>
                                          <p:spTgt spid="35846"/>
                                        </p:tgtEl>
                                        <p:attrNameLst>
                                          <p:attrName>ppt_y</p:attrName>
                                        </p:attrNameLst>
                                      </p:cBhvr>
                                      <p:tavLst>
                                        <p:tav tm="0">
                                          <p:val>
                                            <p:strVal val="#ppt_y+1"/>
                                          </p:val>
                                        </p:tav>
                                        <p:tav tm="100000">
                                          <p:val>
                                            <p:strVal val="#ppt_y-.03"/>
                                          </p:val>
                                        </p:tav>
                                      </p:tavLst>
                                    </p:anim>
                                    <p:anim calcmode="lin" valueType="num">
                                      <p:cBhvr>
                                        <p:cTn id="32" dur="100" accel="100000" fill="hold">
                                          <p:stCondLst>
                                            <p:cond delay="900"/>
                                          </p:stCondLst>
                                        </p:cTn>
                                        <p:tgtEl>
                                          <p:spTgt spid="35846"/>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2" grpId="0" build="p"/>
      <p:bldP spid="35843" grpId="0" animBg="1"/>
      <p:bldP spid="35844" grpId="0" animBg="1"/>
      <p:bldP spid="35845" grpId="0" animBg="1"/>
      <p:bldP spid="35846" grpId="0" animBg="1"/>
      <p:bldP spid="3584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762000" y="152400"/>
            <a:ext cx="8458200" cy="1143000"/>
          </a:xfrm>
          <a:ln w="38100">
            <a:solidFill>
              <a:schemeClr val="tx1"/>
            </a:solidFill>
          </a:ln>
        </p:spPr>
        <p:txBody>
          <a:bodyPr/>
          <a:lstStyle/>
          <a:p>
            <a:pPr eaLnBrk="1" hangingPunct="1"/>
            <a:r>
              <a:rPr lang="en-US" b="1" smtClean="0">
                <a:solidFill>
                  <a:srgbClr val="000099"/>
                </a:solidFill>
              </a:rPr>
              <a:t>Access Specifiers of a Class </a:t>
            </a:r>
          </a:p>
        </p:txBody>
      </p:sp>
      <p:sp>
        <p:nvSpPr>
          <p:cNvPr id="36867" name="Rectangle 3"/>
          <p:cNvSpPr>
            <a:spLocks noChangeArrowheads="1"/>
          </p:cNvSpPr>
          <p:nvPr/>
        </p:nvSpPr>
        <p:spPr bwMode="auto">
          <a:xfrm>
            <a:off x="4129088" y="2362200"/>
            <a:ext cx="2195512" cy="3810000"/>
          </a:xfrm>
          <a:prstGeom prst="rect">
            <a:avLst/>
          </a:prstGeom>
          <a:solidFill>
            <a:srgbClr val="FFFFFF"/>
          </a:solidFill>
          <a:ln w="38100">
            <a:solidFill>
              <a:srgbClr val="000000"/>
            </a:solidFill>
            <a:miter lim="800000"/>
            <a:headEnd/>
            <a:tailEnd/>
          </a:ln>
          <a:effectLst>
            <a:outerShdw dist="107763" dir="2700000" algn="ctr" rotWithShape="0">
              <a:srgbClr val="808080"/>
            </a:outerShdw>
          </a:effectLst>
        </p:spPr>
        <p:txBody>
          <a:bodyPr/>
          <a:lstStyle/>
          <a:p>
            <a:pPr>
              <a:defRPr/>
            </a:pPr>
            <a:endParaRPr lang="en-US"/>
          </a:p>
        </p:txBody>
      </p:sp>
      <p:sp>
        <p:nvSpPr>
          <p:cNvPr id="29700" name="Text Box 4"/>
          <p:cNvSpPr txBox="1">
            <a:spLocks noChangeArrowheads="1"/>
          </p:cNvSpPr>
          <p:nvPr/>
        </p:nvSpPr>
        <p:spPr bwMode="auto">
          <a:xfrm>
            <a:off x="4800600" y="1752600"/>
            <a:ext cx="1371600" cy="447675"/>
          </a:xfrm>
          <a:prstGeom prst="rect">
            <a:avLst/>
          </a:prstGeom>
          <a:noFill/>
          <a:ln w="38100">
            <a:noFill/>
            <a:miter lim="800000"/>
            <a:headEnd/>
            <a:tailEnd/>
          </a:ln>
        </p:spPr>
        <p:txBody>
          <a:bodyPr/>
          <a:lstStyle/>
          <a:p>
            <a:pPr eaLnBrk="0" hangingPunct="0"/>
            <a:r>
              <a:rPr lang="en-US" sz="2200" b="1">
                <a:solidFill>
                  <a:srgbClr val="000099"/>
                </a:solidFill>
                <a:latin typeface="Times New Roman" pitchFamily="18" charset="0"/>
              </a:rPr>
              <a:t>Class</a:t>
            </a:r>
          </a:p>
        </p:txBody>
      </p:sp>
      <p:sp>
        <p:nvSpPr>
          <p:cNvPr id="29701" name="Rectangle 5"/>
          <p:cNvSpPr>
            <a:spLocks noChangeArrowheads="1"/>
          </p:cNvSpPr>
          <p:nvPr/>
        </p:nvSpPr>
        <p:spPr bwMode="auto">
          <a:xfrm>
            <a:off x="4541838" y="3487738"/>
            <a:ext cx="1235075" cy="744537"/>
          </a:xfrm>
          <a:prstGeom prst="rect">
            <a:avLst/>
          </a:prstGeom>
          <a:solidFill>
            <a:srgbClr val="FFFFFF"/>
          </a:solidFill>
          <a:ln w="9525">
            <a:miter lim="800000"/>
            <a:headEnd/>
            <a:tailEnd/>
          </a:ln>
          <a:scene3d>
            <a:camera prst="legacyPerspectiveTopRight"/>
            <a:lightRig rig="legacyFlat3" dir="b"/>
          </a:scene3d>
          <a:sp3d extrusionH="887400" prstMaterial="legacyMatte">
            <a:bevelT w="13500" h="13500" prst="angle"/>
            <a:bevelB w="13500" h="13500" prst="angle"/>
            <a:extrusionClr>
              <a:srgbClr val="FFFFFF"/>
            </a:extrusionClr>
          </a:sp3d>
        </p:spPr>
        <p:txBody>
          <a:bodyPr>
            <a:flatTx/>
          </a:bodyPr>
          <a:lstStyle/>
          <a:p>
            <a:endParaRPr lang="en-US"/>
          </a:p>
        </p:txBody>
      </p:sp>
      <p:sp>
        <p:nvSpPr>
          <p:cNvPr id="29702" name="Text Box 6"/>
          <p:cNvSpPr txBox="1">
            <a:spLocks noChangeArrowheads="1"/>
          </p:cNvSpPr>
          <p:nvPr/>
        </p:nvSpPr>
        <p:spPr bwMode="auto">
          <a:xfrm>
            <a:off x="4495800" y="3487738"/>
            <a:ext cx="1371600" cy="736600"/>
          </a:xfrm>
          <a:prstGeom prst="rect">
            <a:avLst/>
          </a:prstGeom>
          <a:noFill/>
          <a:ln w="38100">
            <a:solidFill>
              <a:srgbClr val="000000"/>
            </a:solidFill>
            <a:miter lim="800000"/>
            <a:headEnd/>
            <a:tailEnd/>
          </a:ln>
        </p:spPr>
        <p:txBody>
          <a:bodyPr/>
          <a:lstStyle/>
          <a:p>
            <a:pPr eaLnBrk="0" hangingPunct="0"/>
            <a:r>
              <a:rPr lang="en-US" sz="2200" b="1">
                <a:solidFill>
                  <a:srgbClr val="000099"/>
                </a:solidFill>
                <a:latin typeface="Times New Roman" pitchFamily="18" charset="0"/>
              </a:rPr>
              <a:t>Data or functions</a:t>
            </a:r>
          </a:p>
        </p:txBody>
      </p:sp>
      <p:sp>
        <p:nvSpPr>
          <p:cNvPr id="29703" name="Rectangle 7"/>
          <p:cNvSpPr>
            <a:spLocks noChangeArrowheads="1"/>
          </p:cNvSpPr>
          <p:nvPr/>
        </p:nvSpPr>
        <p:spPr bwMode="auto">
          <a:xfrm>
            <a:off x="4541838" y="4978400"/>
            <a:ext cx="1325562" cy="889000"/>
          </a:xfrm>
          <a:prstGeom prst="rect">
            <a:avLst/>
          </a:prstGeom>
          <a:solidFill>
            <a:srgbClr val="C0C0C0"/>
          </a:solidFill>
          <a:ln w="9525">
            <a:miter lim="800000"/>
            <a:headEnd/>
            <a:tailEnd/>
          </a:ln>
          <a:scene3d>
            <a:camera prst="legacyObliqueTopRight"/>
            <a:lightRig rig="legacyNormal3" dir="b"/>
          </a:scene3d>
          <a:sp3d extrusionH="430200" prstMaterial="legacyWireframe">
            <a:bevelT w="13500" h="13500" prst="angle"/>
            <a:bevelB w="13500" h="13500" prst="angle"/>
            <a:extrusionClr>
              <a:srgbClr val="C0C0C0"/>
            </a:extrusionClr>
          </a:sp3d>
        </p:spPr>
        <p:txBody>
          <a:bodyPr>
            <a:flatTx/>
          </a:bodyPr>
          <a:lstStyle/>
          <a:p>
            <a:endParaRPr lang="en-US"/>
          </a:p>
        </p:txBody>
      </p:sp>
      <p:sp>
        <p:nvSpPr>
          <p:cNvPr id="29704" name="Text Box 8"/>
          <p:cNvSpPr txBox="1">
            <a:spLocks noChangeArrowheads="1"/>
          </p:cNvSpPr>
          <p:nvPr/>
        </p:nvSpPr>
        <p:spPr bwMode="auto">
          <a:xfrm>
            <a:off x="4678363" y="4953000"/>
            <a:ext cx="1371600" cy="768350"/>
          </a:xfrm>
          <a:prstGeom prst="rect">
            <a:avLst/>
          </a:prstGeom>
          <a:noFill/>
          <a:ln w="38100">
            <a:noFill/>
            <a:miter lim="800000"/>
            <a:headEnd/>
            <a:tailEnd/>
          </a:ln>
        </p:spPr>
        <p:txBody>
          <a:bodyPr/>
          <a:lstStyle/>
          <a:p>
            <a:pPr eaLnBrk="0" hangingPunct="0"/>
            <a:r>
              <a:rPr lang="en-US" sz="2200" b="1">
                <a:solidFill>
                  <a:srgbClr val="000099"/>
                </a:solidFill>
                <a:latin typeface="Times New Roman" pitchFamily="18" charset="0"/>
              </a:rPr>
              <a:t>Data or functions</a:t>
            </a:r>
          </a:p>
        </p:txBody>
      </p:sp>
      <p:sp>
        <p:nvSpPr>
          <p:cNvPr id="29705" name="Text Box 9"/>
          <p:cNvSpPr txBox="1">
            <a:spLocks noChangeArrowheads="1"/>
          </p:cNvSpPr>
          <p:nvPr/>
        </p:nvSpPr>
        <p:spPr bwMode="auto">
          <a:xfrm>
            <a:off x="4953000" y="2890838"/>
            <a:ext cx="1096963" cy="596900"/>
          </a:xfrm>
          <a:prstGeom prst="rect">
            <a:avLst/>
          </a:prstGeom>
          <a:noFill/>
          <a:ln w="38100">
            <a:noFill/>
            <a:miter lim="800000"/>
            <a:headEnd/>
            <a:tailEnd/>
          </a:ln>
        </p:spPr>
        <p:txBody>
          <a:bodyPr/>
          <a:lstStyle/>
          <a:p>
            <a:pPr eaLnBrk="0" hangingPunct="0"/>
            <a:r>
              <a:rPr lang="en-US" sz="2200" b="1" i="1">
                <a:solidFill>
                  <a:srgbClr val="000099"/>
                </a:solidFill>
                <a:latin typeface="Times New Roman" pitchFamily="18" charset="0"/>
              </a:rPr>
              <a:t>Private</a:t>
            </a:r>
          </a:p>
        </p:txBody>
      </p:sp>
      <p:sp>
        <p:nvSpPr>
          <p:cNvPr id="29706" name="Text Box 10"/>
          <p:cNvSpPr txBox="1">
            <a:spLocks noChangeArrowheads="1"/>
          </p:cNvSpPr>
          <p:nvPr/>
        </p:nvSpPr>
        <p:spPr bwMode="auto">
          <a:xfrm>
            <a:off x="4953000" y="4349750"/>
            <a:ext cx="1096963" cy="449263"/>
          </a:xfrm>
          <a:prstGeom prst="rect">
            <a:avLst/>
          </a:prstGeom>
          <a:noFill/>
          <a:ln w="38100">
            <a:noFill/>
            <a:miter lim="800000"/>
            <a:headEnd/>
            <a:tailEnd/>
          </a:ln>
        </p:spPr>
        <p:txBody>
          <a:bodyPr/>
          <a:lstStyle/>
          <a:p>
            <a:pPr eaLnBrk="0" hangingPunct="0"/>
            <a:r>
              <a:rPr lang="en-US" sz="2200" b="1" i="1">
                <a:solidFill>
                  <a:srgbClr val="000099"/>
                </a:solidFill>
                <a:latin typeface="Times New Roman" pitchFamily="18" charset="0"/>
              </a:rPr>
              <a:t>Public</a:t>
            </a:r>
          </a:p>
        </p:txBody>
      </p:sp>
      <p:sp>
        <p:nvSpPr>
          <p:cNvPr id="29707" name="Text Box 11"/>
          <p:cNvSpPr txBox="1">
            <a:spLocks noChangeArrowheads="1"/>
          </p:cNvSpPr>
          <p:nvPr/>
        </p:nvSpPr>
        <p:spPr bwMode="auto">
          <a:xfrm>
            <a:off x="1020763" y="2286000"/>
            <a:ext cx="1722437" cy="1828800"/>
          </a:xfrm>
          <a:prstGeom prst="rect">
            <a:avLst/>
          </a:prstGeom>
          <a:noFill/>
          <a:ln w="38100">
            <a:solidFill>
              <a:srgbClr val="000000"/>
            </a:solidFill>
            <a:miter lim="800000"/>
            <a:headEnd/>
            <a:tailEnd/>
          </a:ln>
        </p:spPr>
        <p:txBody>
          <a:bodyPr/>
          <a:lstStyle/>
          <a:p>
            <a:pPr eaLnBrk="0" hangingPunct="0"/>
            <a:r>
              <a:rPr lang="en-US" sz="2200" b="1">
                <a:solidFill>
                  <a:srgbClr val="000099"/>
                </a:solidFill>
                <a:latin typeface="Times New Roman" pitchFamily="18" charset="0"/>
              </a:rPr>
              <a:t>Not accessible from outside the class</a:t>
            </a:r>
          </a:p>
        </p:txBody>
      </p:sp>
      <p:sp>
        <p:nvSpPr>
          <p:cNvPr id="29708" name="Text Box 12"/>
          <p:cNvSpPr txBox="1">
            <a:spLocks noChangeArrowheads="1"/>
          </p:cNvSpPr>
          <p:nvPr/>
        </p:nvSpPr>
        <p:spPr bwMode="auto">
          <a:xfrm>
            <a:off x="609600" y="4495800"/>
            <a:ext cx="2027238" cy="1371600"/>
          </a:xfrm>
          <a:prstGeom prst="rect">
            <a:avLst/>
          </a:prstGeom>
          <a:noFill/>
          <a:ln w="38100">
            <a:solidFill>
              <a:srgbClr val="000000"/>
            </a:solidFill>
            <a:miter lim="800000"/>
            <a:headEnd/>
            <a:tailEnd/>
          </a:ln>
        </p:spPr>
        <p:txBody>
          <a:bodyPr/>
          <a:lstStyle/>
          <a:p>
            <a:pPr eaLnBrk="0" hangingPunct="0"/>
            <a:r>
              <a:rPr lang="en-US" sz="2200" b="1">
                <a:solidFill>
                  <a:srgbClr val="000099"/>
                </a:solidFill>
                <a:latin typeface="Times New Roman" pitchFamily="18" charset="0"/>
              </a:rPr>
              <a:t>Accessible from outside the class</a:t>
            </a:r>
          </a:p>
        </p:txBody>
      </p:sp>
      <p:sp>
        <p:nvSpPr>
          <p:cNvPr id="29709" name="Line 13"/>
          <p:cNvSpPr>
            <a:spLocks noChangeShapeType="1"/>
          </p:cNvSpPr>
          <p:nvPr/>
        </p:nvSpPr>
        <p:spPr bwMode="auto">
          <a:xfrm>
            <a:off x="2743200" y="3886200"/>
            <a:ext cx="1752600" cy="0"/>
          </a:xfrm>
          <a:prstGeom prst="line">
            <a:avLst/>
          </a:prstGeom>
          <a:noFill/>
          <a:ln w="38100">
            <a:solidFill>
              <a:srgbClr val="000000"/>
            </a:solidFill>
            <a:round/>
            <a:headEnd/>
            <a:tailEnd type="triangle" w="med" len="med"/>
          </a:ln>
        </p:spPr>
        <p:txBody>
          <a:bodyPr/>
          <a:lstStyle/>
          <a:p>
            <a:endParaRPr lang="en-IN"/>
          </a:p>
        </p:txBody>
      </p:sp>
      <p:sp>
        <p:nvSpPr>
          <p:cNvPr id="29710" name="Line 14"/>
          <p:cNvSpPr>
            <a:spLocks noChangeShapeType="1"/>
          </p:cNvSpPr>
          <p:nvPr/>
        </p:nvSpPr>
        <p:spPr bwMode="auto">
          <a:xfrm flipV="1">
            <a:off x="4953000" y="4162425"/>
            <a:ext cx="0" cy="714375"/>
          </a:xfrm>
          <a:prstGeom prst="line">
            <a:avLst/>
          </a:prstGeom>
          <a:noFill/>
          <a:ln w="38100">
            <a:solidFill>
              <a:srgbClr val="000000"/>
            </a:solidFill>
            <a:round/>
            <a:headEnd/>
            <a:tailEnd type="triangle" w="med" len="med"/>
          </a:ln>
        </p:spPr>
        <p:txBody>
          <a:bodyPr/>
          <a:lstStyle/>
          <a:p>
            <a:endParaRPr lang="en-IN"/>
          </a:p>
        </p:txBody>
      </p:sp>
      <p:sp>
        <p:nvSpPr>
          <p:cNvPr id="29711" name="Line 15"/>
          <p:cNvSpPr>
            <a:spLocks noChangeShapeType="1"/>
          </p:cNvSpPr>
          <p:nvPr/>
        </p:nvSpPr>
        <p:spPr bwMode="auto">
          <a:xfrm>
            <a:off x="2667000" y="5486400"/>
            <a:ext cx="1828800" cy="0"/>
          </a:xfrm>
          <a:prstGeom prst="line">
            <a:avLst/>
          </a:prstGeom>
          <a:noFill/>
          <a:ln w="38100">
            <a:solidFill>
              <a:srgbClr val="000000"/>
            </a:solidFill>
            <a:round/>
            <a:headEnd/>
            <a:tailEnd type="triangle" w="med" len="med"/>
          </a:ln>
        </p:spPr>
        <p:txBody>
          <a:bodyPr/>
          <a:lstStyle/>
          <a:p>
            <a:endParaRPr lang="en-IN"/>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descr="Walnut"/>
          <p:cNvSpPr>
            <a:spLocks noChangeArrowheads="1"/>
          </p:cNvSpPr>
          <p:nvPr/>
        </p:nvSpPr>
        <p:spPr bwMode="auto">
          <a:xfrm>
            <a:off x="609600" y="2514600"/>
            <a:ext cx="8001000" cy="2068513"/>
          </a:xfrm>
          <a:prstGeom prst="rect">
            <a:avLst/>
          </a:prstGeom>
          <a:blipFill dpi="0" rotWithShape="1">
            <a:blip r:embed="rId2"/>
            <a:srcRect/>
            <a:tile tx="0" ty="0" sx="100000" sy="100000" flip="none" algn="tl"/>
          </a:blipFill>
          <a:ln w="9525">
            <a:noFill/>
            <a:miter lim="800000"/>
            <a:headEnd/>
            <a:tailEnd/>
          </a:ln>
        </p:spPr>
        <p:txBody>
          <a:bodyPr>
            <a:spAutoFit/>
          </a:bodyPr>
          <a:lstStyle/>
          <a:p>
            <a:pPr algn="ctr">
              <a:lnSpc>
                <a:spcPct val="90000"/>
              </a:lnSpc>
              <a:spcBef>
                <a:spcPct val="20000"/>
              </a:spcBef>
            </a:pPr>
            <a:r>
              <a:rPr lang="en-US" sz="4800" b="1">
                <a:solidFill>
                  <a:srgbClr val="66FFFF"/>
                </a:solidFill>
                <a:latin typeface="Times New Roman" pitchFamily="18" charset="0"/>
              </a:rPr>
              <a:t>To access the member data  and member function defined inside the class</a:t>
            </a:r>
          </a:p>
        </p:txBody>
      </p:sp>
      <p:sp>
        <p:nvSpPr>
          <p:cNvPr id="38915" name="WordArt 3"/>
          <p:cNvSpPr>
            <a:spLocks noChangeArrowheads="1" noChangeShapeType="1" noTextEdit="1"/>
          </p:cNvSpPr>
          <p:nvPr/>
        </p:nvSpPr>
        <p:spPr bwMode="auto">
          <a:xfrm>
            <a:off x="1828800" y="762000"/>
            <a:ext cx="5181600" cy="990600"/>
          </a:xfrm>
          <a:prstGeom prst="rect">
            <a:avLst/>
          </a:prstGeom>
        </p:spPr>
        <p:txBody>
          <a:bodyPr wrap="none" fromWordArt="1">
            <a:prstTxWarp prst="textPlain">
              <a:avLst>
                <a:gd name="adj" fmla="val 50000"/>
              </a:avLst>
            </a:prstTxWarp>
          </a:bodyPr>
          <a:lstStyle/>
          <a:p>
            <a:pPr algn="ctr"/>
            <a:r>
              <a:rPr lang="en-IN" sz="3600" b="1"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a:rPr>
              <a:t>C++ OBJECT</a:t>
            </a:r>
          </a:p>
        </p:txBody>
      </p:sp>
    </p:spTree>
  </p:cSld>
  <p:clrMapOvr>
    <a:masterClrMapping/>
  </p:clrMapOvr>
  <p:transition spd="med">
    <p:wheel spokes="8"/>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4" fill="hold" grpId="0" nodeType="withEffect">
                                  <p:stCondLst>
                                    <p:cond delay="0"/>
                                  </p:stCondLst>
                                  <p:childTnLst>
                                    <p:set>
                                      <p:cBhvr>
                                        <p:cTn id="6" dur="1" fill="hold">
                                          <p:stCondLst>
                                            <p:cond delay="0"/>
                                          </p:stCondLst>
                                        </p:cTn>
                                        <p:tgtEl>
                                          <p:spTgt spid="38915"/>
                                        </p:tgtEl>
                                        <p:attrNameLst>
                                          <p:attrName>style.visibility</p:attrName>
                                        </p:attrNameLst>
                                      </p:cBhvr>
                                      <p:to>
                                        <p:strVal val="visible"/>
                                      </p:to>
                                    </p:set>
                                    <p:animEffect transition="in" filter="wheel(4)">
                                      <p:cBhvr>
                                        <p:cTn id="7" dur="1000"/>
                                        <p:tgtEl>
                                          <p:spTgt spid="38915"/>
                                        </p:tgtEl>
                                      </p:cBhvr>
                                    </p:animEffect>
                                  </p:childTnLst>
                                </p:cTn>
                              </p:par>
                            </p:childTnLst>
                          </p:cTn>
                        </p:par>
                        <p:par>
                          <p:cTn id="8" fill="hold">
                            <p:stCondLst>
                              <p:cond delay="1000"/>
                            </p:stCondLst>
                            <p:childTnLst>
                              <p:par>
                                <p:cTn id="9" presetID="12" presetClass="entr" presetSubtype="1" fill="hold" grpId="0" nodeType="afterEffect">
                                  <p:stCondLst>
                                    <p:cond delay="0"/>
                                  </p:stCondLst>
                                  <p:childTnLst>
                                    <p:set>
                                      <p:cBhvr>
                                        <p:cTn id="10" dur="1" fill="hold">
                                          <p:stCondLst>
                                            <p:cond delay="0"/>
                                          </p:stCondLst>
                                        </p:cTn>
                                        <p:tgtEl>
                                          <p:spTgt spid="38914"/>
                                        </p:tgtEl>
                                        <p:attrNameLst>
                                          <p:attrName>style.visibility</p:attrName>
                                        </p:attrNameLst>
                                      </p:cBhvr>
                                      <p:to>
                                        <p:strVal val="visible"/>
                                      </p:to>
                                    </p:set>
                                    <p:animEffect transition="in" filter="slide(fromTop)">
                                      <p:cBhvr>
                                        <p:cTn id="11" dur="500"/>
                                        <p:tgtEl>
                                          <p:spTgt spid="389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4" grpId="0" animBg="1"/>
      <p:bldP spid="38915"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en-US" b="1" smtClean="0">
                <a:solidFill>
                  <a:srgbClr val="000099"/>
                </a:solidFill>
              </a:rPr>
              <a:t>Object Oriented Languages</a:t>
            </a:r>
          </a:p>
        </p:txBody>
      </p:sp>
      <p:sp>
        <p:nvSpPr>
          <p:cNvPr id="31747" name="Rectangle 3"/>
          <p:cNvSpPr>
            <a:spLocks noGrp="1" noChangeArrowheads="1"/>
          </p:cNvSpPr>
          <p:nvPr>
            <p:ph type="body" idx="1"/>
          </p:nvPr>
        </p:nvSpPr>
        <p:spPr>
          <a:xfrm>
            <a:off x="838200" y="2057400"/>
            <a:ext cx="7772400" cy="4114800"/>
          </a:xfrm>
          <a:ln>
            <a:solidFill>
              <a:srgbClr val="003300"/>
            </a:solidFill>
          </a:ln>
        </p:spPr>
        <p:txBody>
          <a:bodyPr/>
          <a:lstStyle/>
          <a:p>
            <a:pPr eaLnBrk="1" hangingPunct="1"/>
            <a:r>
              <a:rPr lang="en-US" b="1" smtClean="0">
                <a:solidFill>
                  <a:srgbClr val="000099"/>
                </a:solidFill>
              </a:rPr>
              <a:t>Some of the leading object oriented languages are:</a:t>
            </a:r>
          </a:p>
          <a:p>
            <a:pPr lvl="1" eaLnBrk="1" hangingPunct="1"/>
            <a:r>
              <a:rPr lang="en-US" b="1" smtClean="0">
                <a:solidFill>
                  <a:srgbClr val="000099"/>
                </a:solidFill>
              </a:rPr>
              <a:t>C++</a:t>
            </a:r>
          </a:p>
          <a:p>
            <a:pPr lvl="1" eaLnBrk="1" hangingPunct="1"/>
            <a:r>
              <a:rPr lang="en-US" b="1" smtClean="0">
                <a:solidFill>
                  <a:srgbClr val="000099"/>
                </a:solidFill>
              </a:rPr>
              <a:t>Smalltalk</a:t>
            </a:r>
          </a:p>
          <a:p>
            <a:pPr lvl="1" eaLnBrk="1" hangingPunct="1"/>
            <a:r>
              <a:rPr lang="en-US" b="1" smtClean="0">
                <a:solidFill>
                  <a:srgbClr val="000099"/>
                </a:solidFill>
              </a:rPr>
              <a:t>Eiffel</a:t>
            </a:r>
          </a:p>
          <a:p>
            <a:pPr lvl="1" eaLnBrk="1" hangingPunct="1"/>
            <a:r>
              <a:rPr lang="en-US" b="1" smtClean="0">
                <a:solidFill>
                  <a:srgbClr val="000099"/>
                </a:solidFill>
              </a:rPr>
              <a:t>CLOS</a:t>
            </a:r>
          </a:p>
          <a:p>
            <a:pPr lvl="1" eaLnBrk="1" hangingPunct="1"/>
            <a:r>
              <a:rPr lang="en-US" b="1" smtClean="0">
                <a:solidFill>
                  <a:srgbClr val="000099"/>
                </a:solidFill>
              </a:rPr>
              <a:t>Java</a:t>
            </a:r>
          </a:p>
          <a:p>
            <a:pPr lvl="1" eaLnBrk="1" hangingPunct="1">
              <a:buFontTx/>
              <a:buNone/>
            </a:pPr>
            <a:endParaRPr lang="en-US" b="1" smtClean="0">
              <a:solidFill>
                <a:srgbClr val="000099"/>
              </a:solidFill>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228600" y="1295400"/>
            <a:ext cx="8686800" cy="5181600"/>
          </a:xfrm>
          <a:ln>
            <a:solidFill>
              <a:srgbClr val="0000FF"/>
            </a:solidFill>
          </a:ln>
        </p:spPr>
        <p:txBody>
          <a:bodyPr/>
          <a:lstStyle/>
          <a:p>
            <a:pPr algn="l" eaLnBrk="1" hangingPunct="1"/>
            <a:r>
              <a:rPr lang="en-US" sz="4000" b="1" smtClean="0">
                <a:solidFill>
                  <a:srgbClr val="000000"/>
                </a:solidFill>
                <a:latin typeface="Times New Roman" pitchFamily="18" charset="0"/>
              </a:rPr>
              <a:t>Author of C++ is</a:t>
            </a:r>
            <a:r>
              <a:rPr lang="en-US" sz="3600" b="1" smtClean="0">
                <a:solidFill>
                  <a:srgbClr val="990033"/>
                </a:solidFill>
                <a:latin typeface="Times New Roman" pitchFamily="18" charset="0"/>
              </a:rPr>
              <a:t>                             </a:t>
            </a:r>
            <a:br>
              <a:rPr lang="en-US" sz="3600" b="1" smtClean="0">
                <a:solidFill>
                  <a:srgbClr val="990033"/>
                </a:solidFill>
                <a:latin typeface="Times New Roman" pitchFamily="18" charset="0"/>
              </a:rPr>
            </a:br>
            <a:r>
              <a:rPr lang="en-US" sz="3600" b="1" smtClean="0">
                <a:solidFill>
                  <a:srgbClr val="990033"/>
                </a:solidFill>
                <a:latin typeface="Times New Roman" pitchFamily="18" charset="0"/>
              </a:rPr>
              <a:t>                </a:t>
            </a:r>
            <a:r>
              <a:rPr lang="en-US" sz="5400" b="1" smtClean="0">
                <a:solidFill>
                  <a:srgbClr val="A50021"/>
                </a:solidFill>
                <a:latin typeface="Times New Roman" pitchFamily="18" charset="0"/>
              </a:rPr>
              <a:t>Bjarne stroustrup</a:t>
            </a:r>
            <a:r>
              <a:rPr lang="en-US" sz="3600" b="1" smtClean="0">
                <a:solidFill>
                  <a:srgbClr val="990033"/>
                </a:solidFill>
                <a:latin typeface="Times New Roman" pitchFamily="18" charset="0"/>
              </a:rPr>
              <a:t/>
            </a:r>
            <a:br>
              <a:rPr lang="en-US" sz="3600" b="1" smtClean="0">
                <a:solidFill>
                  <a:srgbClr val="990033"/>
                </a:solidFill>
                <a:latin typeface="Times New Roman" pitchFamily="18" charset="0"/>
              </a:rPr>
            </a:br>
            <a:r>
              <a:rPr lang="en-US" sz="3600" b="1" smtClean="0">
                <a:solidFill>
                  <a:srgbClr val="990033"/>
                </a:solidFill>
                <a:latin typeface="Times New Roman" pitchFamily="18" charset="0"/>
              </a:rPr>
              <a:t/>
            </a:r>
            <a:br>
              <a:rPr lang="en-US" sz="3600" b="1" smtClean="0">
                <a:solidFill>
                  <a:srgbClr val="990033"/>
                </a:solidFill>
                <a:latin typeface="Times New Roman" pitchFamily="18" charset="0"/>
              </a:rPr>
            </a:br>
            <a:r>
              <a:rPr lang="en-US" sz="3600" b="1" smtClean="0">
                <a:solidFill>
                  <a:srgbClr val="000000"/>
                </a:solidFill>
                <a:latin typeface="Times New Roman" pitchFamily="18" charset="0"/>
              </a:rPr>
              <a:t>He invented this language in</a:t>
            </a:r>
            <a:r>
              <a:rPr lang="en-US" sz="3600" b="1" smtClean="0">
                <a:solidFill>
                  <a:srgbClr val="990033"/>
                </a:solidFill>
                <a:latin typeface="Times New Roman" pitchFamily="18" charset="0"/>
              </a:rPr>
              <a:t> </a:t>
            </a:r>
            <a:r>
              <a:rPr lang="en-US" b="1" smtClean="0">
                <a:solidFill>
                  <a:srgbClr val="A50021"/>
                </a:solidFill>
                <a:latin typeface="Times New Roman" pitchFamily="18" charset="0"/>
              </a:rPr>
              <a:t>1980'</a:t>
            </a:r>
            <a:r>
              <a:rPr lang="en-US" sz="3600" b="1" smtClean="0">
                <a:solidFill>
                  <a:srgbClr val="000000"/>
                </a:solidFill>
                <a:latin typeface="Times New Roman" pitchFamily="18" charset="0"/>
              </a:rPr>
              <a:t>s at</a:t>
            </a:r>
            <a:r>
              <a:rPr lang="en-US" sz="3600" b="1" smtClean="0">
                <a:solidFill>
                  <a:srgbClr val="990033"/>
                </a:solidFill>
                <a:latin typeface="Times New Roman" pitchFamily="18" charset="0"/>
              </a:rPr>
              <a:t>      </a:t>
            </a:r>
            <a:br>
              <a:rPr lang="en-US" sz="3600" b="1" smtClean="0">
                <a:solidFill>
                  <a:srgbClr val="990033"/>
                </a:solidFill>
                <a:latin typeface="Times New Roman" pitchFamily="18" charset="0"/>
              </a:rPr>
            </a:br>
            <a:r>
              <a:rPr lang="en-US" sz="3600" b="1" smtClean="0">
                <a:solidFill>
                  <a:srgbClr val="990033"/>
                </a:solidFill>
                <a:latin typeface="Times New Roman" pitchFamily="18" charset="0"/>
              </a:rPr>
              <a:t>               </a:t>
            </a:r>
            <a:r>
              <a:rPr lang="en-US" b="1" smtClean="0">
                <a:solidFill>
                  <a:srgbClr val="A50021"/>
                </a:solidFill>
                <a:latin typeface="Times New Roman" pitchFamily="18" charset="0"/>
              </a:rPr>
              <a:t>AT&amp;T Bell Laboratories</a:t>
            </a:r>
            <a:r>
              <a:rPr lang="en-US" sz="4000" b="1" smtClean="0">
                <a:solidFill>
                  <a:srgbClr val="A50021"/>
                </a:solidFill>
                <a:latin typeface="Times New Roman" pitchFamily="18" charset="0"/>
              </a:rPr>
              <a:t/>
            </a:r>
            <a:br>
              <a:rPr lang="en-US" sz="4000" b="1" smtClean="0">
                <a:solidFill>
                  <a:srgbClr val="A50021"/>
                </a:solidFill>
                <a:latin typeface="Times New Roman" pitchFamily="18" charset="0"/>
              </a:rPr>
            </a:br>
            <a:r>
              <a:rPr lang="en-US" sz="3600" b="1" smtClean="0">
                <a:solidFill>
                  <a:srgbClr val="990033"/>
                </a:solidFill>
                <a:latin typeface="Times New Roman" pitchFamily="18" charset="0"/>
              </a:rPr>
              <a:t/>
            </a:r>
            <a:br>
              <a:rPr lang="en-US" sz="3600" b="1" smtClean="0">
                <a:solidFill>
                  <a:srgbClr val="990033"/>
                </a:solidFill>
                <a:latin typeface="Times New Roman" pitchFamily="18" charset="0"/>
              </a:rPr>
            </a:br>
            <a:r>
              <a:rPr lang="en-US" sz="3600" b="1" smtClean="0">
                <a:solidFill>
                  <a:srgbClr val="990033"/>
                </a:solidFill>
                <a:latin typeface="Times New Roman" pitchFamily="18" charset="0"/>
              </a:rPr>
              <a:t>         </a:t>
            </a:r>
            <a:r>
              <a:rPr lang="en-US" sz="3600" b="1" smtClean="0">
                <a:solidFill>
                  <a:srgbClr val="000000"/>
                </a:solidFill>
                <a:latin typeface="Times New Roman" pitchFamily="18" charset="0"/>
              </a:rPr>
              <a:t>All the C programs can be run        </a:t>
            </a:r>
            <a:br>
              <a:rPr lang="en-US" sz="3600" b="1" smtClean="0">
                <a:solidFill>
                  <a:srgbClr val="000000"/>
                </a:solidFill>
                <a:latin typeface="Times New Roman" pitchFamily="18" charset="0"/>
              </a:rPr>
            </a:br>
            <a:r>
              <a:rPr lang="en-US" sz="3600" b="1" smtClean="0">
                <a:solidFill>
                  <a:srgbClr val="000000"/>
                </a:solidFill>
                <a:latin typeface="Times New Roman" pitchFamily="18" charset="0"/>
              </a:rPr>
              <a:t>       successfully using C++ compiler</a:t>
            </a:r>
            <a:r>
              <a:rPr lang="en-US" b="1" smtClean="0"/>
              <a:t> </a:t>
            </a:r>
          </a:p>
        </p:txBody>
      </p:sp>
      <p:sp>
        <p:nvSpPr>
          <p:cNvPr id="41987" name="WordArt 3"/>
          <p:cNvSpPr>
            <a:spLocks noChangeArrowheads="1" noChangeShapeType="1" noTextEdit="1"/>
          </p:cNvSpPr>
          <p:nvPr/>
        </p:nvSpPr>
        <p:spPr bwMode="auto">
          <a:xfrm>
            <a:off x="1447800" y="533400"/>
            <a:ext cx="6324600" cy="533400"/>
          </a:xfrm>
          <a:prstGeom prst="rect">
            <a:avLst/>
          </a:prstGeom>
        </p:spPr>
        <p:txBody>
          <a:bodyPr wrap="none" fromWordArt="1">
            <a:prstTxWarp prst="textFadeUp">
              <a:avLst>
                <a:gd name="adj" fmla="val 9991"/>
              </a:avLst>
            </a:prstTxWarp>
          </a:bodyPr>
          <a:lstStyle/>
          <a:p>
            <a:pPr algn="ctr"/>
            <a:r>
              <a:rPr lang="en-IN" sz="3600" kern="10">
                <a:ln w="12700">
                  <a:solidFill>
                    <a:srgbClr val="B2B2B2"/>
                  </a:solidFill>
                  <a:round/>
                  <a:headEnd/>
                  <a:tailEnd/>
                </a:ln>
                <a:solidFill>
                  <a:srgbClr val="CC0066"/>
                </a:solidFill>
                <a:effectLst>
                  <a:outerShdw dist="35921" dir="2700000" sy="50000" rotWithShape="0">
                    <a:srgbClr val="875B0D">
                      <a:alpha val="70000"/>
                    </a:srgbClr>
                  </a:outerShdw>
                </a:effectLst>
                <a:latin typeface="Arial Black"/>
              </a:rPr>
              <a:t>HISTORY OF C++</a:t>
            </a:r>
          </a:p>
        </p:txBody>
      </p:sp>
    </p:spTree>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5" fill="hold" grpId="0" nodeType="withEffect">
                                  <p:stCondLst>
                                    <p:cond delay="0"/>
                                  </p:stCondLst>
                                  <p:childTnLst>
                                    <p:set>
                                      <p:cBhvr>
                                        <p:cTn id="6" dur="1" fill="hold">
                                          <p:stCondLst>
                                            <p:cond delay="0"/>
                                          </p:stCondLst>
                                        </p:cTn>
                                        <p:tgtEl>
                                          <p:spTgt spid="41987"/>
                                        </p:tgtEl>
                                        <p:attrNameLst>
                                          <p:attrName>style.visibility</p:attrName>
                                        </p:attrNameLst>
                                      </p:cBhvr>
                                      <p:to>
                                        <p:strVal val="visible"/>
                                      </p:to>
                                    </p:set>
                                    <p:animEffect transition="in" filter="blinds(vertical)">
                                      <p:cBhvr>
                                        <p:cTn id="7" dur="500"/>
                                        <p:tgtEl>
                                          <p:spTgt spid="41987"/>
                                        </p:tgtEl>
                                      </p:cBhvr>
                                    </p:animEffect>
                                  </p:childTnLst>
                                </p:cTn>
                              </p:par>
                              <p:par>
                                <p:cTn id="8" presetID="18" presetClass="emph" presetSubtype="0" fill="hold" grpId="0" nodeType="withEffect">
                                  <p:stCondLst>
                                    <p:cond delay="0"/>
                                  </p:stCondLst>
                                  <p:iterate type="lt">
                                    <p:tmPct val="4000"/>
                                  </p:iterate>
                                  <p:childTnLst>
                                    <p:set>
                                      <p:cBhvr override="childStyle">
                                        <p:cTn id="9" dur="500" fill="hold"/>
                                        <p:tgtEl>
                                          <p:spTgt spid="41986">
                                            <p:txEl>
                                              <p:charRg st="4294967295" end="4294967295"/>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6" grpId="0"/>
      <p:bldP spid="4198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en-US" smtClean="0"/>
              <a:t>   </a:t>
            </a:r>
          </a:p>
        </p:txBody>
      </p:sp>
      <p:grpSp>
        <p:nvGrpSpPr>
          <p:cNvPr id="2" name="Group 3"/>
          <p:cNvGrpSpPr>
            <a:grpSpLocks/>
          </p:cNvGrpSpPr>
          <p:nvPr/>
        </p:nvGrpSpPr>
        <p:grpSpPr bwMode="auto">
          <a:xfrm>
            <a:off x="0" y="1143000"/>
            <a:ext cx="9144000" cy="4721225"/>
            <a:chOff x="0" y="1296"/>
            <a:chExt cx="5760" cy="2974"/>
          </a:xfrm>
        </p:grpSpPr>
        <p:sp>
          <p:nvSpPr>
            <p:cNvPr id="33797" name="AutoShape 4"/>
            <p:cNvSpPr>
              <a:spLocks noChangeArrowheads="1"/>
            </p:cNvSpPr>
            <p:nvPr/>
          </p:nvSpPr>
          <p:spPr bwMode="auto">
            <a:xfrm>
              <a:off x="0" y="1440"/>
              <a:ext cx="5760" cy="2544"/>
            </a:xfrm>
            <a:prstGeom prst="flowChartDisplay">
              <a:avLst/>
            </a:prstGeom>
            <a:solidFill>
              <a:schemeClr val="accent1"/>
            </a:solidFill>
            <a:ln w="76200" cmpd="tri">
              <a:solidFill>
                <a:srgbClr val="FF3300"/>
              </a:solidFill>
              <a:miter lim="800000"/>
              <a:headEnd/>
              <a:tailEnd/>
            </a:ln>
          </p:spPr>
          <p:txBody>
            <a:bodyPr wrap="none" anchor="ctr"/>
            <a:lstStyle/>
            <a:p>
              <a:endParaRPr lang="en-US"/>
            </a:p>
          </p:txBody>
        </p:sp>
        <p:sp>
          <p:nvSpPr>
            <p:cNvPr id="33798" name="Rectangle 5"/>
            <p:cNvSpPr>
              <a:spLocks noChangeArrowheads="1"/>
            </p:cNvSpPr>
            <p:nvPr/>
          </p:nvSpPr>
          <p:spPr bwMode="auto">
            <a:xfrm>
              <a:off x="336" y="1296"/>
              <a:ext cx="5136" cy="2974"/>
            </a:xfrm>
            <a:prstGeom prst="rect">
              <a:avLst/>
            </a:prstGeom>
            <a:noFill/>
            <a:ln w="9525">
              <a:noFill/>
              <a:miter lim="800000"/>
              <a:headEnd/>
              <a:tailEnd/>
            </a:ln>
          </p:spPr>
          <p:txBody>
            <a:bodyPr>
              <a:spAutoFit/>
            </a:bodyPr>
            <a:lstStyle/>
            <a:p>
              <a:r>
                <a:rPr lang="en-US" sz="4000" b="1">
                  <a:solidFill>
                    <a:srgbClr val="990033"/>
                  </a:solidFill>
                  <a:latin typeface="Times New Roman" pitchFamily="18" charset="0"/>
                </a:rPr>
                <a:t> 	</a:t>
              </a:r>
            </a:p>
            <a:p>
              <a:pPr algn="ctr"/>
              <a:r>
                <a:rPr lang="en-US" sz="4000" b="1">
                  <a:solidFill>
                    <a:srgbClr val="990033"/>
                  </a:solidFill>
                  <a:latin typeface="Times New Roman" pitchFamily="18" charset="0"/>
                </a:rPr>
                <a:t>	</a:t>
              </a:r>
              <a:r>
                <a:rPr lang="en-US" sz="4400" b="1">
                  <a:solidFill>
                    <a:srgbClr val="990033"/>
                  </a:solidFill>
                  <a:latin typeface="Times New Roman" pitchFamily="18" charset="0"/>
                </a:rPr>
                <a:t>C++ was designed using two languages such as </a:t>
              </a:r>
              <a:r>
                <a:rPr lang="en-US" sz="4400" b="1" u="sng">
                  <a:solidFill>
                    <a:srgbClr val="990033"/>
                  </a:solidFill>
                  <a:latin typeface="Times New Roman" pitchFamily="18" charset="0"/>
                </a:rPr>
                <a:t>“C” Language </a:t>
              </a:r>
              <a:r>
                <a:rPr lang="en-US" sz="4400" b="1">
                  <a:solidFill>
                    <a:srgbClr val="990033"/>
                  </a:solidFill>
                  <a:latin typeface="Times New Roman" pitchFamily="18" charset="0"/>
                </a:rPr>
                <a:t> which gives the low-level feature and</a:t>
              </a:r>
              <a:r>
                <a:rPr lang="en-US" sz="4400">
                  <a:solidFill>
                    <a:srgbClr val="990033"/>
                  </a:solidFill>
                  <a:latin typeface="Times New Roman" pitchFamily="18" charset="0"/>
                </a:rPr>
                <a:t> </a:t>
              </a:r>
              <a:r>
                <a:rPr lang="en-US" sz="4400" u="sng">
                  <a:solidFill>
                    <a:srgbClr val="990033"/>
                  </a:solidFill>
                  <a:latin typeface="Times New Roman" pitchFamily="18" charset="0"/>
                </a:rPr>
                <a:t>“S</a:t>
              </a:r>
              <a:r>
                <a:rPr lang="en-US" sz="4400" b="1" u="sng">
                  <a:solidFill>
                    <a:srgbClr val="990033"/>
                  </a:solidFill>
                  <a:latin typeface="Times New Roman" pitchFamily="18" charset="0"/>
                </a:rPr>
                <a:t>imula67”</a:t>
              </a:r>
              <a:r>
                <a:rPr lang="en-US" sz="4400" b="1">
                  <a:solidFill>
                    <a:srgbClr val="990033"/>
                  </a:solidFill>
                  <a:latin typeface="Times New Roman" pitchFamily="18" charset="0"/>
                </a:rPr>
                <a:t> provides the class concept.</a:t>
              </a:r>
            </a:p>
            <a:p>
              <a:pPr algn="ctr"/>
              <a:endParaRPr lang="en-US" sz="4400" b="1">
                <a:solidFill>
                  <a:srgbClr val="990033"/>
                </a:solidFill>
                <a:latin typeface="Times New Roman" pitchFamily="18" charset="0"/>
              </a:endParaRPr>
            </a:p>
          </p:txBody>
        </p:sp>
      </p:grpSp>
      <p:sp>
        <p:nvSpPr>
          <p:cNvPr id="43014" name="WordArt 6"/>
          <p:cNvSpPr>
            <a:spLocks noChangeArrowheads="1" noChangeShapeType="1" noTextEdit="1"/>
          </p:cNvSpPr>
          <p:nvPr/>
        </p:nvSpPr>
        <p:spPr bwMode="auto">
          <a:xfrm>
            <a:off x="685800" y="762000"/>
            <a:ext cx="7696200" cy="838200"/>
          </a:xfrm>
          <a:prstGeom prst="rect">
            <a:avLst/>
          </a:prstGeom>
        </p:spPr>
        <p:txBody>
          <a:bodyPr wrap="none" fromWordArt="1">
            <a:prstTxWarp prst="textDeflateBottom">
              <a:avLst>
                <a:gd name="adj" fmla="val 54588"/>
              </a:avLst>
            </a:prstTxWarp>
          </a:bodyPr>
          <a:lstStyle/>
          <a:p>
            <a:pPr algn="ctr"/>
            <a:r>
              <a:rPr lang="en-IN" sz="3600" kern="10">
                <a:ln w="9525">
                  <a:solidFill>
                    <a:srgbClr val="000000"/>
                  </a:solidFill>
                  <a:round/>
                  <a:headEnd/>
                  <a:tailEnd/>
                </a:ln>
                <a:solidFill>
                  <a:srgbClr val="FF5050"/>
                </a:solidFill>
                <a:latin typeface="Arial Black"/>
              </a:rPr>
              <a:t>ORIGIN OF C++</a:t>
            </a: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withEffect">
                                  <p:stCondLst>
                                    <p:cond delay="0"/>
                                  </p:stCondLst>
                                  <p:childTnLst>
                                    <p:set>
                                      <p:cBhvr>
                                        <p:cTn id="6" dur="1" fill="hold">
                                          <p:stCondLst>
                                            <p:cond delay="0"/>
                                          </p:stCondLst>
                                        </p:cTn>
                                        <p:tgtEl>
                                          <p:spTgt spid="43014"/>
                                        </p:tgtEl>
                                        <p:attrNameLst>
                                          <p:attrName>style.visibility</p:attrName>
                                        </p:attrNameLst>
                                      </p:cBhvr>
                                      <p:to>
                                        <p:strVal val="visible"/>
                                      </p:to>
                                    </p:set>
                                    <p:anim calcmode="lin" valueType="num">
                                      <p:cBhvr>
                                        <p:cTn id="7" dur="500" fill="hold"/>
                                        <p:tgtEl>
                                          <p:spTgt spid="43014"/>
                                        </p:tgtEl>
                                        <p:attrNameLst>
                                          <p:attrName>ppt_w</p:attrName>
                                        </p:attrNameLst>
                                      </p:cBhvr>
                                      <p:tavLst>
                                        <p:tav tm="0">
                                          <p:val>
                                            <p:fltVal val="0"/>
                                          </p:val>
                                        </p:tav>
                                        <p:tav tm="100000">
                                          <p:val>
                                            <p:strVal val="#ppt_w"/>
                                          </p:val>
                                        </p:tav>
                                      </p:tavLst>
                                    </p:anim>
                                    <p:anim calcmode="lin" valueType="num">
                                      <p:cBhvr>
                                        <p:cTn id="8" dur="500" fill="hold"/>
                                        <p:tgtEl>
                                          <p:spTgt spid="43014"/>
                                        </p:tgtEl>
                                        <p:attrNameLst>
                                          <p:attrName>ppt_h</p:attrName>
                                        </p:attrNameLst>
                                      </p:cBhvr>
                                      <p:tavLst>
                                        <p:tav tm="0">
                                          <p:val>
                                            <p:fltVal val="0"/>
                                          </p:val>
                                        </p:tav>
                                        <p:tav tm="100000">
                                          <p:val>
                                            <p:strVal val="#ppt_h"/>
                                          </p:val>
                                        </p:tav>
                                      </p:tavLst>
                                    </p:anim>
                                    <p:anim calcmode="lin" valueType="num">
                                      <p:cBhvr>
                                        <p:cTn id="9" dur="500" fill="hold"/>
                                        <p:tgtEl>
                                          <p:spTgt spid="43014"/>
                                        </p:tgtEl>
                                        <p:attrNameLst>
                                          <p:attrName>style.rotation</p:attrName>
                                        </p:attrNameLst>
                                      </p:cBhvr>
                                      <p:tavLst>
                                        <p:tav tm="0">
                                          <p:val>
                                            <p:fltVal val="360"/>
                                          </p:val>
                                        </p:tav>
                                        <p:tav tm="100000">
                                          <p:val>
                                            <p:fltVal val="0"/>
                                          </p:val>
                                        </p:tav>
                                      </p:tavLst>
                                    </p:anim>
                                    <p:animEffect transition="in" filter="fade">
                                      <p:cBhvr>
                                        <p:cTn id="10" dur="500"/>
                                        <p:tgtEl>
                                          <p:spTgt spid="43014"/>
                                        </p:tgtEl>
                                      </p:cBhvr>
                                    </p:animEffect>
                                  </p:childTnLst>
                                </p:cTn>
                              </p:par>
                            </p:childTnLst>
                          </p:cTn>
                        </p:par>
                        <p:par>
                          <p:cTn id="11" fill="hold">
                            <p:stCondLst>
                              <p:cond delay="500"/>
                            </p:stCondLst>
                            <p:childTnLst>
                              <p:par>
                                <p:cTn id="12" presetID="55" presetClass="entr" presetSubtype="0" fill="hold" nodeType="after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1000" fill="hold"/>
                                        <p:tgtEl>
                                          <p:spTgt spid="2"/>
                                        </p:tgtEl>
                                        <p:attrNameLst>
                                          <p:attrName>ppt_w</p:attrName>
                                        </p:attrNameLst>
                                      </p:cBhvr>
                                      <p:tavLst>
                                        <p:tav tm="0">
                                          <p:val>
                                            <p:strVal val="#ppt_w*0.70"/>
                                          </p:val>
                                        </p:tav>
                                        <p:tav tm="100000">
                                          <p:val>
                                            <p:strVal val="#ppt_w"/>
                                          </p:val>
                                        </p:tav>
                                      </p:tavLst>
                                    </p:anim>
                                    <p:anim calcmode="lin" valueType="num">
                                      <p:cBhvr>
                                        <p:cTn id="15" dur="1000" fill="hold"/>
                                        <p:tgtEl>
                                          <p:spTgt spid="2"/>
                                        </p:tgtEl>
                                        <p:attrNameLst>
                                          <p:attrName>ppt_h</p:attrName>
                                        </p:attrNameLst>
                                      </p:cBhvr>
                                      <p:tavLst>
                                        <p:tav tm="0">
                                          <p:val>
                                            <p:strVal val="#ppt_h"/>
                                          </p:val>
                                        </p:tav>
                                        <p:tav tm="100000">
                                          <p:val>
                                            <p:strVal val="#ppt_h"/>
                                          </p:val>
                                        </p:tav>
                                      </p:tavLst>
                                    </p:anim>
                                    <p:animEffect transition="in" filter="fade">
                                      <p:cBhvr>
                                        <p:cTn id="16"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2"/>
          <p:cNvSpPr txBox="1">
            <a:spLocks noChangeArrowheads="1"/>
          </p:cNvSpPr>
          <p:nvPr/>
        </p:nvSpPr>
        <p:spPr bwMode="auto">
          <a:xfrm>
            <a:off x="457200" y="1447800"/>
            <a:ext cx="8534400" cy="4911725"/>
          </a:xfrm>
          <a:prstGeom prst="rect">
            <a:avLst/>
          </a:prstGeom>
          <a:noFill/>
          <a:ln w="9525">
            <a:noFill/>
            <a:miter lim="800000"/>
            <a:headEnd/>
            <a:tailEnd/>
          </a:ln>
        </p:spPr>
        <p:txBody>
          <a:bodyPr>
            <a:spAutoFit/>
          </a:bodyPr>
          <a:lstStyle/>
          <a:p>
            <a:pPr algn="just">
              <a:lnSpc>
                <a:spcPct val="160000"/>
              </a:lnSpc>
              <a:spcBef>
                <a:spcPct val="50000"/>
              </a:spcBef>
              <a:buFontTx/>
              <a:buBlip>
                <a:blip r:embed="rId2"/>
              </a:buBlip>
            </a:pPr>
            <a:r>
              <a:rPr lang="en-US" sz="2400" b="1">
                <a:solidFill>
                  <a:srgbClr val="800000"/>
                </a:solidFill>
                <a:latin typeface="Times New Roman" pitchFamily="18" charset="0"/>
                <a:cs typeface="Times New Roman" pitchFamily="18" charset="0"/>
              </a:rPr>
              <a:t> Each class specification starts with the keyword “class”</a:t>
            </a:r>
          </a:p>
          <a:p>
            <a:pPr algn="just">
              <a:lnSpc>
                <a:spcPct val="160000"/>
              </a:lnSpc>
              <a:spcBef>
                <a:spcPct val="50000"/>
              </a:spcBef>
              <a:buFontTx/>
              <a:buBlip>
                <a:blip r:embed="rId2"/>
              </a:buBlip>
            </a:pPr>
            <a:r>
              <a:rPr lang="en-US" sz="2400" b="1">
                <a:solidFill>
                  <a:srgbClr val="800000"/>
                </a:solidFill>
                <a:latin typeface="Times New Roman" pitchFamily="18" charset="0"/>
              </a:rPr>
              <a:t>  The Class Specification must always end with a semicolon (;)</a:t>
            </a:r>
          </a:p>
          <a:p>
            <a:pPr algn="just">
              <a:lnSpc>
                <a:spcPct val="160000"/>
              </a:lnSpc>
              <a:spcBef>
                <a:spcPct val="50000"/>
              </a:spcBef>
              <a:buFontTx/>
              <a:buBlip>
                <a:blip r:embed="rId2"/>
              </a:buBlip>
            </a:pPr>
            <a:r>
              <a:rPr lang="en-US" sz="2400" b="1" i="1">
                <a:solidFill>
                  <a:srgbClr val="800000"/>
                </a:solidFill>
                <a:latin typeface="Times New Roman" pitchFamily="18" charset="0"/>
              </a:rPr>
              <a:t>  Data abstraction</a:t>
            </a:r>
            <a:r>
              <a:rPr lang="en-US" sz="2400" b="1">
                <a:solidFill>
                  <a:srgbClr val="800000"/>
                </a:solidFill>
                <a:latin typeface="Times New Roman" pitchFamily="18" charset="0"/>
              </a:rPr>
              <a:t> is the ability to create user-defined data types for modeling real world objects using built-in data types.</a:t>
            </a:r>
          </a:p>
          <a:p>
            <a:pPr algn="just">
              <a:lnSpc>
                <a:spcPct val="160000"/>
              </a:lnSpc>
              <a:spcBef>
                <a:spcPct val="50000"/>
              </a:spcBef>
              <a:buFontTx/>
              <a:buBlip>
                <a:blip r:embed="rId2"/>
              </a:buBlip>
            </a:pPr>
            <a:r>
              <a:rPr lang="en-US" sz="2400" b="1">
                <a:solidFill>
                  <a:srgbClr val="800000"/>
                </a:solidFill>
                <a:latin typeface="Times New Roman" pitchFamily="18" charset="0"/>
              </a:rPr>
              <a:t>  Classes are used for data abstraction by hiding the implementation of a type in the “private” part.</a:t>
            </a:r>
          </a:p>
          <a:p>
            <a:pPr algn="just">
              <a:lnSpc>
                <a:spcPct val="160000"/>
              </a:lnSpc>
              <a:spcBef>
                <a:spcPct val="50000"/>
              </a:spcBef>
              <a:buFontTx/>
              <a:buBlip>
                <a:blip r:embed="rId2"/>
              </a:buBlip>
            </a:pPr>
            <a:r>
              <a:rPr lang="en-US" sz="2400" b="1">
                <a:solidFill>
                  <a:srgbClr val="800000"/>
                </a:solidFill>
                <a:latin typeface="Times New Roman" pitchFamily="18" charset="0"/>
              </a:rPr>
              <a:t>  Polymorphism in Greek word means “Many Forms”</a:t>
            </a:r>
            <a:endParaRPr lang="en-US" sz="2400" b="1">
              <a:solidFill>
                <a:srgbClr val="800000"/>
              </a:solidFill>
              <a:latin typeface="Times New Roman" pitchFamily="18" charset="0"/>
              <a:cs typeface="Times New Roman" pitchFamily="18" charset="0"/>
            </a:endParaRPr>
          </a:p>
        </p:txBody>
      </p:sp>
      <p:sp>
        <p:nvSpPr>
          <p:cNvPr id="34819" name="WordArt 3"/>
          <p:cNvSpPr>
            <a:spLocks noChangeArrowheads="1" noChangeShapeType="1" noTextEdit="1"/>
          </p:cNvSpPr>
          <p:nvPr/>
        </p:nvSpPr>
        <p:spPr bwMode="auto">
          <a:xfrm>
            <a:off x="2819400" y="228600"/>
            <a:ext cx="3200400" cy="914400"/>
          </a:xfrm>
          <a:prstGeom prst="rect">
            <a:avLst/>
          </a:prstGeom>
        </p:spPr>
        <p:txBody>
          <a:bodyPr wrap="none" fromWordArt="1">
            <a:prstTxWarp prst="textCanUp">
              <a:avLst>
                <a:gd name="adj" fmla="val 85713"/>
              </a:avLst>
            </a:prstTxWarp>
          </a:bodyPr>
          <a:lstStyle/>
          <a:p>
            <a:pPr algn="ctr"/>
            <a:r>
              <a:rPr lang="en-IN"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a:rPr>
              <a:t>Summary</a:t>
            </a:r>
          </a:p>
        </p:txBody>
      </p:sp>
      <p:sp>
        <p:nvSpPr>
          <p:cNvPr id="34820" name="Rectangle 4"/>
          <p:cNvSpPr>
            <a:spLocks noChangeArrowheads="1"/>
          </p:cNvSpPr>
          <p:nvPr/>
        </p:nvSpPr>
        <p:spPr bwMode="auto">
          <a:xfrm>
            <a:off x="304800" y="1295400"/>
            <a:ext cx="8763000" cy="5257800"/>
          </a:xfrm>
          <a:prstGeom prst="rect">
            <a:avLst/>
          </a:prstGeom>
          <a:noFill/>
          <a:ln w="57150" cmpd="thickThin">
            <a:solidFill>
              <a:srgbClr val="990033"/>
            </a:solidFill>
            <a:miter lim="800000"/>
            <a:headEnd/>
            <a:tailEnd/>
          </a:ln>
        </p:spPr>
        <p:txBody>
          <a:bodyPr wrap="none" anchor="ctr"/>
          <a:lstStyle/>
          <a:p>
            <a:pPr algn="ctr" eaLnBrk="0" hangingPunct="0"/>
            <a:endParaRPr lang="en-US">
              <a:solidFill>
                <a:srgbClr val="800000"/>
              </a:solidFill>
              <a:latin typeface="Verdana" pitchFamily="34" charset="0"/>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WordArt 2"/>
          <p:cNvSpPr>
            <a:spLocks noChangeArrowheads="1" noChangeShapeType="1" noTextEdit="1"/>
          </p:cNvSpPr>
          <p:nvPr/>
        </p:nvSpPr>
        <p:spPr bwMode="auto">
          <a:xfrm>
            <a:off x="1219200" y="3276600"/>
            <a:ext cx="7086600" cy="914400"/>
          </a:xfrm>
          <a:prstGeom prst="rect">
            <a:avLst/>
          </a:prstGeom>
        </p:spPr>
        <p:txBody>
          <a:bodyPr wrap="none" fromWordArt="1">
            <a:prstTxWarp prst="textChevron">
              <a:avLst>
                <a:gd name="adj" fmla="val 25000"/>
              </a:avLst>
            </a:prstTxWarp>
          </a:bodyPr>
          <a:lstStyle/>
          <a:p>
            <a:pPr algn="ctr"/>
            <a:r>
              <a:rPr lang="en-IN" sz="3600" kern="10">
                <a:ln w="12700">
                  <a:solidFill>
                    <a:srgbClr val="B2B2B2"/>
                  </a:solidFill>
                  <a:round/>
                  <a:headEnd/>
                  <a:tailEnd/>
                </a:ln>
                <a:gradFill rotWithShape="1">
                  <a:gsLst>
                    <a:gs pos="0">
                      <a:srgbClr val="000082"/>
                    </a:gs>
                    <a:gs pos="30000">
                      <a:srgbClr val="66008F"/>
                    </a:gs>
                    <a:gs pos="64999">
                      <a:srgbClr val="BA0066"/>
                    </a:gs>
                    <a:gs pos="89999">
                      <a:srgbClr val="FF0000"/>
                    </a:gs>
                    <a:gs pos="100000">
                      <a:srgbClr val="FF8200"/>
                    </a:gs>
                  </a:gsLst>
                  <a:path path="rect">
                    <a:fillToRect l="50000" t="50000" r="50000" b="50000"/>
                  </a:path>
                </a:gradFill>
                <a:effectLst>
                  <a:outerShdw dist="35921" dir="2700000" sy="50000" rotWithShape="0">
                    <a:srgbClr val="875B0D">
                      <a:alpha val="70000"/>
                    </a:srgbClr>
                  </a:outerShdw>
                </a:effectLst>
                <a:latin typeface="Arial Black"/>
              </a:rPr>
              <a:t>OPERATORS IN  "C++"</a:t>
            </a:r>
          </a:p>
        </p:txBody>
      </p:sp>
      <p:sp>
        <p:nvSpPr>
          <p:cNvPr id="2051" name="WordArt 3"/>
          <p:cNvSpPr>
            <a:spLocks noChangeArrowheads="1" noChangeShapeType="1" noTextEdit="1"/>
          </p:cNvSpPr>
          <p:nvPr/>
        </p:nvSpPr>
        <p:spPr bwMode="auto">
          <a:xfrm>
            <a:off x="3124200" y="1066800"/>
            <a:ext cx="2895600" cy="647700"/>
          </a:xfrm>
          <a:prstGeom prst="rect">
            <a:avLst/>
          </a:prstGeom>
        </p:spPr>
        <p:txBody>
          <a:bodyPr wrap="none" fromWordArt="1">
            <a:prstTxWarp prst="textPlain">
              <a:avLst>
                <a:gd name="adj" fmla="val 50000"/>
              </a:avLst>
            </a:prstTxWarp>
          </a:bodyPr>
          <a:lstStyle/>
          <a:p>
            <a:pPr algn="ctr"/>
            <a:r>
              <a:rPr lang="en-IN" sz="3600" kern="10">
                <a:ln w="9525">
                  <a:solidFill>
                    <a:srgbClr val="000000"/>
                  </a:solidFill>
                  <a:round/>
                  <a:headEnd/>
                  <a:tailEnd/>
                </a:ln>
                <a:solidFill>
                  <a:srgbClr val="CC0066"/>
                </a:solidFill>
                <a:latin typeface="Arial Black"/>
              </a:rPr>
              <a:t>CHAPTER 2</a:t>
            </a:r>
          </a:p>
        </p:txBody>
      </p:sp>
    </p:spTree>
  </p:cSld>
  <p:clrMapOvr>
    <a:masterClrMapping/>
  </p:clrMapOvr>
  <p:transition spd="med">
    <p:wheel spokes="1"/>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
          <p:cNvSpPr txBox="1">
            <a:spLocks noChangeArrowheads="1"/>
          </p:cNvSpPr>
          <p:nvPr/>
        </p:nvSpPr>
        <p:spPr bwMode="auto">
          <a:xfrm>
            <a:off x="1828800" y="381000"/>
            <a:ext cx="5376863" cy="823913"/>
          </a:xfrm>
          <a:prstGeom prst="rect">
            <a:avLst/>
          </a:prstGeom>
          <a:solidFill>
            <a:srgbClr val="FF0000"/>
          </a:solidFill>
          <a:ln w="9525">
            <a:noFill/>
            <a:miter lim="800000"/>
            <a:headEnd/>
            <a:tailEnd/>
          </a:ln>
          <a:effectLst/>
        </p:spPr>
        <p:txBody>
          <a:bodyPr wrap="none">
            <a:spAutoFit/>
          </a:bodyPr>
          <a:lstStyle/>
          <a:p>
            <a:pPr>
              <a:defRPr/>
            </a:pPr>
            <a:r>
              <a:rPr lang="en-US" sz="4800" b="1">
                <a:solidFill>
                  <a:srgbClr val="66FFFF"/>
                </a:solidFill>
                <a:effectLst>
                  <a:outerShdw blurRad="38100" dist="38100" dir="2700000" algn="tl">
                    <a:srgbClr val="000000"/>
                  </a:outerShdw>
                </a:effectLst>
                <a:latin typeface="Arial Unicode MS" pitchFamily="34" charset="-128"/>
                <a:cs typeface="Times New Roman" pitchFamily="18" charset="0"/>
              </a:rPr>
              <a:t>Session Objectives</a:t>
            </a:r>
          </a:p>
        </p:txBody>
      </p:sp>
      <p:sp>
        <p:nvSpPr>
          <p:cNvPr id="5123" name="Text Box 3"/>
          <p:cNvSpPr txBox="1">
            <a:spLocks noChangeArrowheads="1"/>
          </p:cNvSpPr>
          <p:nvPr/>
        </p:nvSpPr>
        <p:spPr bwMode="auto">
          <a:xfrm>
            <a:off x="838200" y="2971800"/>
            <a:ext cx="5108575" cy="519113"/>
          </a:xfrm>
          <a:prstGeom prst="rect">
            <a:avLst/>
          </a:prstGeom>
          <a:noFill/>
          <a:ln w="9525">
            <a:noFill/>
            <a:miter lim="800000"/>
            <a:headEnd/>
            <a:tailEnd/>
          </a:ln>
        </p:spPr>
        <p:txBody>
          <a:bodyPr wrap="none">
            <a:spAutoFit/>
          </a:bodyPr>
          <a:lstStyle/>
          <a:p>
            <a:pPr>
              <a:buFontTx/>
              <a:buBlip>
                <a:blip r:embed="rId2"/>
              </a:buBlip>
            </a:pPr>
            <a:r>
              <a:rPr lang="en-US" sz="2800">
                <a:solidFill>
                  <a:srgbClr val="990033"/>
                </a:solidFill>
                <a:latin typeface="Times New Roman" pitchFamily="18" charset="0"/>
                <a:cs typeface="Times New Roman" pitchFamily="18" charset="0"/>
              </a:rPr>
              <a:t> </a:t>
            </a:r>
            <a:r>
              <a:rPr lang="en-US" sz="2800" b="1">
                <a:solidFill>
                  <a:srgbClr val="990033"/>
                </a:solidFill>
                <a:latin typeface="Times New Roman" pitchFamily="18" charset="0"/>
                <a:cs typeface="Times New Roman" pitchFamily="18" charset="0"/>
              </a:rPr>
              <a:t>Explain Arithmetic Operators</a:t>
            </a:r>
          </a:p>
        </p:txBody>
      </p:sp>
      <p:sp>
        <p:nvSpPr>
          <p:cNvPr id="5124" name="Text Box 4"/>
          <p:cNvSpPr txBox="1">
            <a:spLocks noChangeArrowheads="1"/>
          </p:cNvSpPr>
          <p:nvPr/>
        </p:nvSpPr>
        <p:spPr bwMode="auto">
          <a:xfrm>
            <a:off x="838200" y="3643313"/>
            <a:ext cx="5980113" cy="519112"/>
          </a:xfrm>
          <a:prstGeom prst="rect">
            <a:avLst/>
          </a:prstGeom>
          <a:noFill/>
          <a:ln w="9525">
            <a:noFill/>
            <a:miter lim="800000"/>
            <a:headEnd/>
            <a:tailEnd/>
          </a:ln>
        </p:spPr>
        <p:txBody>
          <a:bodyPr wrap="none">
            <a:spAutoFit/>
          </a:bodyPr>
          <a:lstStyle/>
          <a:p>
            <a:pPr>
              <a:buFontTx/>
              <a:buBlip>
                <a:blip r:embed="rId2"/>
              </a:buBlip>
            </a:pPr>
            <a:r>
              <a:rPr lang="en-US" sz="2800">
                <a:solidFill>
                  <a:srgbClr val="990033"/>
                </a:solidFill>
                <a:latin typeface="Times New Roman" pitchFamily="18" charset="0"/>
                <a:cs typeface="Times New Roman" pitchFamily="18" charset="0"/>
              </a:rPr>
              <a:t> </a:t>
            </a:r>
            <a:r>
              <a:rPr lang="en-US" sz="2800" b="1">
                <a:solidFill>
                  <a:srgbClr val="990033"/>
                </a:solidFill>
                <a:latin typeface="Times New Roman" pitchFamily="18" charset="0"/>
                <a:cs typeface="Times New Roman" pitchFamily="18" charset="0"/>
              </a:rPr>
              <a:t>Understand Arithmetic Expressions</a:t>
            </a:r>
          </a:p>
        </p:txBody>
      </p:sp>
      <p:sp>
        <p:nvSpPr>
          <p:cNvPr id="5125" name="Text Box 5"/>
          <p:cNvSpPr txBox="1">
            <a:spLocks noChangeArrowheads="1"/>
          </p:cNvSpPr>
          <p:nvPr/>
        </p:nvSpPr>
        <p:spPr bwMode="auto">
          <a:xfrm>
            <a:off x="914400" y="4343400"/>
            <a:ext cx="6886575" cy="519113"/>
          </a:xfrm>
          <a:prstGeom prst="rect">
            <a:avLst/>
          </a:prstGeom>
          <a:noFill/>
          <a:ln w="9525">
            <a:noFill/>
            <a:miter lim="800000"/>
            <a:headEnd/>
            <a:tailEnd/>
          </a:ln>
        </p:spPr>
        <p:txBody>
          <a:bodyPr wrap="none">
            <a:spAutoFit/>
          </a:bodyPr>
          <a:lstStyle/>
          <a:p>
            <a:pPr>
              <a:buFontTx/>
              <a:buBlip>
                <a:blip r:embed="rId2"/>
              </a:buBlip>
            </a:pPr>
            <a:r>
              <a:rPr lang="en-US" sz="2800">
                <a:solidFill>
                  <a:srgbClr val="990033"/>
                </a:solidFill>
                <a:latin typeface="Times New Roman" pitchFamily="18" charset="0"/>
                <a:cs typeface="Times New Roman" pitchFamily="18" charset="0"/>
              </a:rPr>
              <a:t> </a:t>
            </a:r>
            <a:r>
              <a:rPr lang="en-US" sz="2800" b="1">
                <a:solidFill>
                  <a:srgbClr val="990033"/>
                </a:solidFill>
                <a:latin typeface="Times New Roman" pitchFamily="18" charset="0"/>
                <a:cs typeface="Times New Roman" pitchFamily="18" charset="0"/>
              </a:rPr>
              <a:t>Explain Relational and Logical Operators</a:t>
            </a:r>
          </a:p>
        </p:txBody>
      </p:sp>
      <p:sp>
        <p:nvSpPr>
          <p:cNvPr id="5126" name="Text Box 6"/>
          <p:cNvSpPr txBox="1">
            <a:spLocks noChangeArrowheads="1"/>
          </p:cNvSpPr>
          <p:nvPr/>
        </p:nvSpPr>
        <p:spPr bwMode="auto">
          <a:xfrm>
            <a:off x="914400" y="5029200"/>
            <a:ext cx="5813425" cy="519113"/>
          </a:xfrm>
          <a:prstGeom prst="rect">
            <a:avLst/>
          </a:prstGeom>
          <a:noFill/>
          <a:ln w="9525">
            <a:noFill/>
            <a:miter lim="800000"/>
            <a:headEnd/>
            <a:tailEnd/>
          </a:ln>
        </p:spPr>
        <p:txBody>
          <a:bodyPr wrap="none">
            <a:spAutoFit/>
          </a:bodyPr>
          <a:lstStyle/>
          <a:p>
            <a:pPr>
              <a:buFontTx/>
              <a:buBlip>
                <a:blip r:embed="rId2"/>
              </a:buBlip>
            </a:pPr>
            <a:r>
              <a:rPr lang="en-US" sz="2800">
                <a:solidFill>
                  <a:srgbClr val="990033"/>
                </a:solidFill>
                <a:latin typeface="Times New Roman" pitchFamily="18" charset="0"/>
                <a:cs typeface="Times New Roman" pitchFamily="18" charset="0"/>
              </a:rPr>
              <a:t> </a:t>
            </a:r>
            <a:r>
              <a:rPr lang="en-US" sz="2800" b="1">
                <a:solidFill>
                  <a:srgbClr val="990033"/>
                </a:solidFill>
                <a:latin typeface="Times New Roman" pitchFamily="18" charset="0"/>
                <a:cs typeface="Times New Roman" pitchFamily="18" charset="0"/>
              </a:rPr>
              <a:t>Explain the Conditional Operators</a:t>
            </a:r>
          </a:p>
        </p:txBody>
      </p:sp>
      <p:sp>
        <p:nvSpPr>
          <p:cNvPr id="5127" name="Text Box 7"/>
          <p:cNvSpPr txBox="1">
            <a:spLocks noChangeArrowheads="1"/>
          </p:cNvSpPr>
          <p:nvPr/>
        </p:nvSpPr>
        <p:spPr bwMode="auto">
          <a:xfrm>
            <a:off x="790575" y="1766888"/>
            <a:ext cx="7896225" cy="519112"/>
          </a:xfrm>
          <a:prstGeom prst="rect">
            <a:avLst/>
          </a:prstGeom>
          <a:noFill/>
          <a:ln w="9525">
            <a:noFill/>
            <a:miter lim="800000"/>
            <a:headEnd/>
            <a:tailEnd/>
          </a:ln>
        </p:spPr>
        <p:txBody>
          <a:bodyPr wrap="none">
            <a:spAutoFit/>
          </a:bodyPr>
          <a:lstStyle/>
          <a:p>
            <a:pPr>
              <a:buFontTx/>
              <a:buBlip>
                <a:blip r:embed="rId2"/>
              </a:buBlip>
            </a:pPr>
            <a:r>
              <a:rPr lang="en-US" sz="2800">
                <a:solidFill>
                  <a:srgbClr val="990033"/>
                </a:solidFill>
                <a:latin typeface="Times New Roman" pitchFamily="18" charset="0"/>
                <a:cs typeface="Times New Roman" pitchFamily="18" charset="0"/>
              </a:rPr>
              <a:t> </a:t>
            </a:r>
            <a:r>
              <a:rPr lang="en-US" sz="2800" b="1">
                <a:solidFill>
                  <a:srgbClr val="990033"/>
                </a:solidFill>
                <a:latin typeface="Times New Roman" pitchFamily="18" charset="0"/>
                <a:cs typeface="Times New Roman" pitchFamily="18" charset="0"/>
              </a:rPr>
              <a:t>Constants,Variables Declaration &amp; Initialization</a:t>
            </a:r>
          </a:p>
        </p:txBody>
      </p:sp>
      <p:sp>
        <p:nvSpPr>
          <p:cNvPr id="5128" name="Text Box 8"/>
          <p:cNvSpPr txBox="1">
            <a:spLocks noChangeArrowheads="1"/>
          </p:cNvSpPr>
          <p:nvPr/>
        </p:nvSpPr>
        <p:spPr bwMode="auto">
          <a:xfrm>
            <a:off x="838200" y="2376488"/>
            <a:ext cx="5010150" cy="519112"/>
          </a:xfrm>
          <a:prstGeom prst="rect">
            <a:avLst/>
          </a:prstGeom>
          <a:noFill/>
          <a:ln w="9525">
            <a:noFill/>
            <a:miter lim="800000"/>
            <a:headEnd/>
            <a:tailEnd/>
          </a:ln>
        </p:spPr>
        <p:txBody>
          <a:bodyPr wrap="none">
            <a:spAutoFit/>
          </a:bodyPr>
          <a:lstStyle/>
          <a:p>
            <a:pPr>
              <a:buFontTx/>
              <a:buBlip>
                <a:blip r:embed="rId2"/>
              </a:buBlip>
            </a:pPr>
            <a:r>
              <a:rPr lang="en-US" sz="2800">
                <a:solidFill>
                  <a:srgbClr val="990033"/>
                </a:solidFill>
                <a:latin typeface="Times New Roman" pitchFamily="18" charset="0"/>
                <a:cs typeface="Times New Roman" pitchFamily="18" charset="0"/>
              </a:rPr>
              <a:t> </a:t>
            </a:r>
            <a:r>
              <a:rPr lang="en-US" sz="2800" b="1">
                <a:solidFill>
                  <a:srgbClr val="990033"/>
                </a:solidFill>
                <a:latin typeface="Times New Roman" pitchFamily="18" charset="0"/>
                <a:cs typeface="Times New Roman" pitchFamily="18" charset="0"/>
              </a:rPr>
              <a:t>Explain 9 Types of Operators</a:t>
            </a:r>
          </a:p>
        </p:txBody>
      </p:sp>
      <p:sp>
        <p:nvSpPr>
          <p:cNvPr id="5129" name="Text Box 9"/>
          <p:cNvSpPr txBox="1">
            <a:spLocks noChangeArrowheads="1"/>
          </p:cNvSpPr>
          <p:nvPr/>
        </p:nvSpPr>
        <p:spPr bwMode="auto">
          <a:xfrm>
            <a:off x="914400" y="5576888"/>
            <a:ext cx="6048375" cy="519112"/>
          </a:xfrm>
          <a:prstGeom prst="rect">
            <a:avLst/>
          </a:prstGeom>
          <a:noFill/>
          <a:ln w="9525">
            <a:noFill/>
            <a:miter lim="800000"/>
            <a:headEnd/>
            <a:tailEnd/>
          </a:ln>
        </p:spPr>
        <p:txBody>
          <a:bodyPr wrap="none">
            <a:spAutoFit/>
          </a:bodyPr>
          <a:lstStyle/>
          <a:p>
            <a:pPr>
              <a:buFontTx/>
              <a:buBlip>
                <a:blip r:embed="rId2"/>
              </a:buBlip>
            </a:pPr>
            <a:r>
              <a:rPr lang="en-US" sz="2800">
                <a:solidFill>
                  <a:srgbClr val="990033"/>
                </a:solidFill>
                <a:latin typeface="Times New Roman" pitchFamily="18" charset="0"/>
                <a:cs typeface="Times New Roman" pitchFamily="18" charset="0"/>
              </a:rPr>
              <a:t> </a:t>
            </a:r>
            <a:r>
              <a:rPr lang="en-US" sz="2800" b="1">
                <a:solidFill>
                  <a:srgbClr val="990033"/>
                </a:solidFill>
                <a:latin typeface="Times New Roman" pitchFamily="18" charset="0"/>
                <a:cs typeface="Times New Roman" pitchFamily="18" charset="0"/>
              </a:rPr>
              <a:t>Explain Scope Resolution Operators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0"/>
                                  </p:stCondLst>
                                  <p:childTnLst>
                                    <p:set>
                                      <p:cBhvr>
                                        <p:cTn id="6" dur="1" fill="hold">
                                          <p:stCondLst>
                                            <p:cond delay="0"/>
                                          </p:stCondLst>
                                        </p:cTn>
                                        <p:tgtEl>
                                          <p:spTgt spid="5122"/>
                                        </p:tgtEl>
                                        <p:attrNameLst>
                                          <p:attrName>style.visibility</p:attrName>
                                        </p:attrNameLst>
                                      </p:cBhvr>
                                      <p:to>
                                        <p:strVal val="visible"/>
                                      </p:to>
                                    </p:set>
                                    <p:anim calcmode="lin" valueType="num">
                                      <p:cBhvr>
                                        <p:cTn id="7" dur="500" fill="hold"/>
                                        <p:tgtEl>
                                          <p:spTgt spid="5122"/>
                                        </p:tgtEl>
                                        <p:attrNameLst>
                                          <p:attrName>ppt_w</p:attrName>
                                        </p:attrNameLst>
                                      </p:cBhvr>
                                      <p:tavLst>
                                        <p:tav tm="0">
                                          <p:val>
                                            <p:fltVal val="0"/>
                                          </p:val>
                                        </p:tav>
                                        <p:tav tm="100000">
                                          <p:val>
                                            <p:strVal val="#ppt_w"/>
                                          </p:val>
                                        </p:tav>
                                      </p:tavLst>
                                    </p:anim>
                                    <p:anim calcmode="lin" valueType="num">
                                      <p:cBhvr>
                                        <p:cTn id="8" dur="500" fill="hold"/>
                                        <p:tgtEl>
                                          <p:spTgt spid="5122"/>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23" presetClass="entr" presetSubtype="288" fill="hold" grpId="0" nodeType="afterEffect">
                                  <p:stCondLst>
                                    <p:cond delay="0"/>
                                  </p:stCondLst>
                                  <p:childTnLst>
                                    <p:set>
                                      <p:cBhvr>
                                        <p:cTn id="11" dur="1" fill="hold">
                                          <p:stCondLst>
                                            <p:cond delay="0"/>
                                          </p:stCondLst>
                                        </p:cTn>
                                        <p:tgtEl>
                                          <p:spTgt spid="5128"/>
                                        </p:tgtEl>
                                        <p:attrNameLst>
                                          <p:attrName>style.visibility</p:attrName>
                                        </p:attrNameLst>
                                      </p:cBhvr>
                                      <p:to>
                                        <p:strVal val="visible"/>
                                      </p:to>
                                    </p:set>
                                    <p:anim calcmode="lin" valueType="num">
                                      <p:cBhvr>
                                        <p:cTn id="12" dur="500" fill="hold"/>
                                        <p:tgtEl>
                                          <p:spTgt spid="5128"/>
                                        </p:tgtEl>
                                        <p:attrNameLst>
                                          <p:attrName>ppt_w</p:attrName>
                                        </p:attrNameLst>
                                      </p:cBhvr>
                                      <p:tavLst>
                                        <p:tav tm="0">
                                          <p:val>
                                            <p:strVal val="4/3*#ppt_w"/>
                                          </p:val>
                                        </p:tav>
                                        <p:tav tm="100000">
                                          <p:val>
                                            <p:strVal val="#ppt_w"/>
                                          </p:val>
                                        </p:tav>
                                      </p:tavLst>
                                    </p:anim>
                                    <p:anim calcmode="lin" valueType="num">
                                      <p:cBhvr>
                                        <p:cTn id="13" dur="500" fill="hold"/>
                                        <p:tgtEl>
                                          <p:spTgt spid="5128"/>
                                        </p:tgtEl>
                                        <p:attrNameLst>
                                          <p:attrName>ppt_h</p:attrName>
                                        </p:attrNameLst>
                                      </p:cBhvr>
                                      <p:tavLst>
                                        <p:tav tm="0">
                                          <p:val>
                                            <p:strVal val="4/3*#ppt_h"/>
                                          </p:val>
                                        </p:tav>
                                        <p:tav tm="100000">
                                          <p:val>
                                            <p:strVal val="#ppt_h"/>
                                          </p:val>
                                        </p:tav>
                                      </p:tavLst>
                                    </p:anim>
                                  </p:childTnLst>
                                </p:cTn>
                              </p:par>
                            </p:childTnLst>
                          </p:cTn>
                        </p:par>
                        <p:par>
                          <p:cTn id="14" fill="hold">
                            <p:stCondLst>
                              <p:cond delay="1000"/>
                            </p:stCondLst>
                            <p:childTnLst>
                              <p:par>
                                <p:cTn id="15" presetID="23" presetClass="entr" presetSubtype="288" fill="hold" grpId="0" nodeType="afterEffect">
                                  <p:stCondLst>
                                    <p:cond delay="0"/>
                                  </p:stCondLst>
                                  <p:childTnLst>
                                    <p:set>
                                      <p:cBhvr>
                                        <p:cTn id="16" dur="1" fill="hold">
                                          <p:stCondLst>
                                            <p:cond delay="0"/>
                                          </p:stCondLst>
                                        </p:cTn>
                                        <p:tgtEl>
                                          <p:spTgt spid="5123"/>
                                        </p:tgtEl>
                                        <p:attrNameLst>
                                          <p:attrName>style.visibility</p:attrName>
                                        </p:attrNameLst>
                                      </p:cBhvr>
                                      <p:to>
                                        <p:strVal val="visible"/>
                                      </p:to>
                                    </p:set>
                                    <p:anim calcmode="lin" valueType="num">
                                      <p:cBhvr>
                                        <p:cTn id="17" dur="500" fill="hold"/>
                                        <p:tgtEl>
                                          <p:spTgt spid="5123"/>
                                        </p:tgtEl>
                                        <p:attrNameLst>
                                          <p:attrName>ppt_w</p:attrName>
                                        </p:attrNameLst>
                                      </p:cBhvr>
                                      <p:tavLst>
                                        <p:tav tm="0">
                                          <p:val>
                                            <p:strVal val="4/3*#ppt_w"/>
                                          </p:val>
                                        </p:tav>
                                        <p:tav tm="100000">
                                          <p:val>
                                            <p:strVal val="#ppt_w"/>
                                          </p:val>
                                        </p:tav>
                                      </p:tavLst>
                                    </p:anim>
                                    <p:anim calcmode="lin" valueType="num">
                                      <p:cBhvr>
                                        <p:cTn id="18" dur="500" fill="hold"/>
                                        <p:tgtEl>
                                          <p:spTgt spid="5123"/>
                                        </p:tgtEl>
                                        <p:attrNameLst>
                                          <p:attrName>ppt_h</p:attrName>
                                        </p:attrNameLst>
                                      </p:cBhvr>
                                      <p:tavLst>
                                        <p:tav tm="0">
                                          <p:val>
                                            <p:strVal val="4/3*#ppt_h"/>
                                          </p:val>
                                        </p:tav>
                                        <p:tav tm="100000">
                                          <p:val>
                                            <p:strVal val="#ppt_h"/>
                                          </p:val>
                                        </p:tav>
                                      </p:tavLst>
                                    </p:anim>
                                  </p:childTnLst>
                                </p:cTn>
                              </p:par>
                            </p:childTnLst>
                          </p:cTn>
                        </p:par>
                        <p:par>
                          <p:cTn id="19" fill="hold">
                            <p:stCondLst>
                              <p:cond delay="1500"/>
                            </p:stCondLst>
                            <p:childTnLst>
                              <p:par>
                                <p:cTn id="20" presetID="23" presetClass="entr" presetSubtype="288" fill="hold" grpId="0" nodeType="afterEffect">
                                  <p:stCondLst>
                                    <p:cond delay="0"/>
                                  </p:stCondLst>
                                  <p:childTnLst>
                                    <p:set>
                                      <p:cBhvr>
                                        <p:cTn id="21" dur="1" fill="hold">
                                          <p:stCondLst>
                                            <p:cond delay="0"/>
                                          </p:stCondLst>
                                        </p:cTn>
                                        <p:tgtEl>
                                          <p:spTgt spid="5124"/>
                                        </p:tgtEl>
                                        <p:attrNameLst>
                                          <p:attrName>style.visibility</p:attrName>
                                        </p:attrNameLst>
                                      </p:cBhvr>
                                      <p:to>
                                        <p:strVal val="visible"/>
                                      </p:to>
                                    </p:set>
                                    <p:anim calcmode="lin" valueType="num">
                                      <p:cBhvr>
                                        <p:cTn id="22" dur="500" fill="hold"/>
                                        <p:tgtEl>
                                          <p:spTgt spid="5124"/>
                                        </p:tgtEl>
                                        <p:attrNameLst>
                                          <p:attrName>ppt_w</p:attrName>
                                        </p:attrNameLst>
                                      </p:cBhvr>
                                      <p:tavLst>
                                        <p:tav tm="0">
                                          <p:val>
                                            <p:strVal val="4/3*#ppt_w"/>
                                          </p:val>
                                        </p:tav>
                                        <p:tav tm="100000">
                                          <p:val>
                                            <p:strVal val="#ppt_w"/>
                                          </p:val>
                                        </p:tav>
                                      </p:tavLst>
                                    </p:anim>
                                    <p:anim calcmode="lin" valueType="num">
                                      <p:cBhvr>
                                        <p:cTn id="23" dur="500" fill="hold"/>
                                        <p:tgtEl>
                                          <p:spTgt spid="5124"/>
                                        </p:tgtEl>
                                        <p:attrNameLst>
                                          <p:attrName>ppt_h</p:attrName>
                                        </p:attrNameLst>
                                      </p:cBhvr>
                                      <p:tavLst>
                                        <p:tav tm="0">
                                          <p:val>
                                            <p:strVal val="4/3*#ppt_h"/>
                                          </p:val>
                                        </p:tav>
                                        <p:tav tm="100000">
                                          <p:val>
                                            <p:strVal val="#ppt_h"/>
                                          </p:val>
                                        </p:tav>
                                      </p:tavLst>
                                    </p:anim>
                                  </p:childTnLst>
                                </p:cTn>
                              </p:par>
                            </p:childTnLst>
                          </p:cTn>
                        </p:par>
                        <p:par>
                          <p:cTn id="24" fill="hold">
                            <p:stCondLst>
                              <p:cond delay="2000"/>
                            </p:stCondLst>
                            <p:childTnLst>
                              <p:par>
                                <p:cTn id="25" presetID="23" presetClass="entr" presetSubtype="288" fill="hold" grpId="0" nodeType="afterEffect">
                                  <p:stCondLst>
                                    <p:cond delay="0"/>
                                  </p:stCondLst>
                                  <p:childTnLst>
                                    <p:set>
                                      <p:cBhvr>
                                        <p:cTn id="26" dur="1" fill="hold">
                                          <p:stCondLst>
                                            <p:cond delay="0"/>
                                          </p:stCondLst>
                                        </p:cTn>
                                        <p:tgtEl>
                                          <p:spTgt spid="5125"/>
                                        </p:tgtEl>
                                        <p:attrNameLst>
                                          <p:attrName>style.visibility</p:attrName>
                                        </p:attrNameLst>
                                      </p:cBhvr>
                                      <p:to>
                                        <p:strVal val="visible"/>
                                      </p:to>
                                    </p:set>
                                    <p:anim calcmode="lin" valueType="num">
                                      <p:cBhvr>
                                        <p:cTn id="27" dur="500" fill="hold"/>
                                        <p:tgtEl>
                                          <p:spTgt spid="5125"/>
                                        </p:tgtEl>
                                        <p:attrNameLst>
                                          <p:attrName>ppt_w</p:attrName>
                                        </p:attrNameLst>
                                      </p:cBhvr>
                                      <p:tavLst>
                                        <p:tav tm="0">
                                          <p:val>
                                            <p:strVal val="4/3*#ppt_w"/>
                                          </p:val>
                                        </p:tav>
                                        <p:tav tm="100000">
                                          <p:val>
                                            <p:strVal val="#ppt_w"/>
                                          </p:val>
                                        </p:tav>
                                      </p:tavLst>
                                    </p:anim>
                                    <p:anim calcmode="lin" valueType="num">
                                      <p:cBhvr>
                                        <p:cTn id="28" dur="500" fill="hold"/>
                                        <p:tgtEl>
                                          <p:spTgt spid="5125"/>
                                        </p:tgtEl>
                                        <p:attrNameLst>
                                          <p:attrName>ppt_h</p:attrName>
                                        </p:attrNameLst>
                                      </p:cBhvr>
                                      <p:tavLst>
                                        <p:tav tm="0">
                                          <p:val>
                                            <p:strVal val="4/3*#ppt_h"/>
                                          </p:val>
                                        </p:tav>
                                        <p:tav tm="100000">
                                          <p:val>
                                            <p:strVal val="#ppt_h"/>
                                          </p:val>
                                        </p:tav>
                                      </p:tavLst>
                                    </p:anim>
                                  </p:childTnLst>
                                </p:cTn>
                              </p:par>
                            </p:childTnLst>
                          </p:cTn>
                        </p:par>
                        <p:par>
                          <p:cTn id="29" fill="hold">
                            <p:stCondLst>
                              <p:cond delay="2500"/>
                            </p:stCondLst>
                            <p:childTnLst>
                              <p:par>
                                <p:cTn id="30" presetID="23" presetClass="entr" presetSubtype="288" fill="hold" grpId="0" nodeType="afterEffect">
                                  <p:stCondLst>
                                    <p:cond delay="0"/>
                                  </p:stCondLst>
                                  <p:childTnLst>
                                    <p:set>
                                      <p:cBhvr>
                                        <p:cTn id="31" dur="1" fill="hold">
                                          <p:stCondLst>
                                            <p:cond delay="0"/>
                                          </p:stCondLst>
                                        </p:cTn>
                                        <p:tgtEl>
                                          <p:spTgt spid="5126"/>
                                        </p:tgtEl>
                                        <p:attrNameLst>
                                          <p:attrName>style.visibility</p:attrName>
                                        </p:attrNameLst>
                                      </p:cBhvr>
                                      <p:to>
                                        <p:strVal val="visible"/>
                                      </p:to>
                                    </p:set>
                                    <p:anim calcmode="lin" valueType="num">
                                      <p:cBhvr>
                                        <p:cTn id="32" dur="500" fill="hold"/>
                                        <p:tgtEl>
                                          <p:spTgt spid="5126"/>
                                        </p:tgtEl>
                                        <p:attrNameLst>
                                          <p:attrName>ppt_w</p:attrName>
                                        </p:attrNameLst>
                                      </p:cBhvr>
                                      <p:tavLst>
                                        <p:tav tm="0">
                                          <p:val>
                                            <p:strVal val="4/3*#ppt_w"/>
                                          </p:val>
                                        </p:tav>
                                        <p:tav tm="100000">
                                          <p:val>
                                            <p:strVal val="#ppt_w"/>
                                          </p:val>
                                        </p:tav>
                                      </p:tavLst>
                                    </p:anim>
                                    <p:anim calcmode="lin" valueType="num">
                                      <p:cBhvr>
                                        <p:cTn id="33" dur="500" fill="hold"/>
                                        <p:tgtEl>
                                          <p:spTgt spid="5126"/>
                                        </p:tgtEl>
                                        <p:attrNameLst>
                                          <p:attrName>ppt_h</p:attrName>
                                        </p:attrNameLst>
                                      </p:cBhvr>
                                      <p:tavLst>
                                        <p:tav tm="0">
                                          <p:val>
                                            <p:strVal val="4/3*#ppt_h"/>
                                          </p:val>
                                        </p:tav>
                                        <p:tav tm="100000">
                                          <p:val>
                                            <p:strVal val="#ppt_h"/>
                                          </p:val>
                                        </p:tav>
                                      </p:tavLst>
                                    </p:anim>
                                  </p:childTnLst>
                                </p:cTn>
                              </p:par>
                            </p:childTnLst>
                          </p:cTn>
                        </p:par>
                        <p:par>
                          <p:cTn id="34" fill="hold">
                            <p:stCondLst>
                              <p:cond delay="3000"/>
                            </p:stCondLst>
                            <p:childTnLst>
                              <p:par>
                                <p:cTn id="35" presetID="23" presetClass="entr" presetSubtype="288" fill="hold" grpId="0" nodeType="afterEffect">
                                  <p:stCondLst>
                                    <p:cond delay="0"/>
                                  </p:stCondLst>
                                  <p:childTnLst>
                                    <p:set>
                                      <p:cBhvr>
                                        <p:cTn id="36" dur="1" fill="hold">
                                          <p:stCondLst>
                                            <p:cond delay="0"/>
                                          </p:stCondLst>
                                        </p:cTn>
                                        <p:tgtEl>
                                          <p:spTgt spid="5127"/>
                                        </p:tgtEl>
                                        <p:attrNameLst>
                                          <p:attrName>style.visibility</p:attrName>
                                        </p:attrNameLst>
                                      </p:cBhvr>
                                      <p:to>
                                        <p:strVal val="visible"/>
                                      </p:to>
                                    </p:set>
                                    <p:anim calcmode="lin" valueType="num">
                                      <p:cBhvr>
                                        <p:cTn id="37" dur="500" fill="hold"/>
                                        <p:tgtEl>
                                          <p:spTgt spid="5127"/>
                                        </p:tgtEl>
                                        <p:attrNameLst>
                                          <p:attrName>ppt_w</p:attrName>
                                        </p:attrNameLst>
                                      </p:cBhvr>
                                      <p:tavLst>
                                        <p:tav tm="0">
                                          <p:val>
                                            <p:strVal val="4/3*#ppt_w"/>
                                          </p:val>
                                        </p:tav>
                                        <p:tav tm="100000">
                                          <p:val>
                                            <p:strVal val="#ppt_w"/>
                                          </p:val>
                                        </p:tav>
                                      </p:tavLst>
                                    </p:anim>
                                    <p:anim calcmode="lin" valueType="num">
                                      <p:cBhvr>
                                        <p:cTn id="38" dur="500" fill="hold"/>
                                        <p:tgtEl>
                                          <p:spTgt spid="5127"/>
                                        </p:tgtEl>
                                        <p:attrNameLst>
                                          <p:attrName>ppt_h</p:attrName>
                                        </p:attrNameLst>
                                      </p:cBhvr>
                                      <p:tavLst>
                                        <p:tav tm="0">
                                          <p:val>
                                            <p:strVal val="4/3*#ppt_h"/>
                                          </p:val>
                                        </p:tav>
                                        <p:tav tm="100000">
                                          <p:val>
                                            <p:strVal val="#ppt_h"/>
                                          </p:val>
                                        </p:tav>
                                      </p:tavLst>
                                    </p:anim>
                                  </p:childTnLst>
                                </p:cTn>
                              </p:par>
                            </p:childTnLst>
                          </p:cTn>
                        </p:par>
                        <p:par>
                          <p:cTn id="39" fill="hold">
                            <p:stCondLst>
                              <p:cond delay="3500"/>
                            </p:stCondLst>
                            <p:childTnLst>
                              <p:par>
                                <p:cTn id="40" presetID="23" presetClass="entr" presetSubtype="288" fill="hold" grpId="0" nodeType="afterEffect">
                                  <p:stCondLst>
                                    <p:cond delay="0"/>
                                  </p:stCondLst>
                                  <p:childTnLst>
                                    <p:set>
                                      <p:cBhvr>
                                        <p:cTn id="41" dur="1" fill="hold">
                                          <p:stCondLst>
                                            <p:cond delay="0"/>
                                          </p:stCondLst>
                                        </p:cTn>
                                        <p:tgtEl>
                                          <p:spTgt spid="5129"/>
                                        </p:tgtEl>
                                        <p:attrNameLst>
                                          <p:attrName>style.visibility</p:attrName>
                                        </p:attrNameLst>
                                      </p:cBhvr>
                                      <p:to>
                                        <p:strVal val="visible"/>
                                      </p:to>
                                    </p:set>
                                    <p:anim calcmode="lin" valueType="num">
                                      <p:cBhvr>
                                        <p:cTn id="42" dur="500" fill="hold"/>
                                        <p:tgtEl>
                                          <p:spTgt spid="5129"/>
                                        </p:tgtEl>
                                        <p:attrNameLst>
                                          <p:attrName>ppt_w</p:attrName>
                                        </p:attrNameLst>
                                      </p:cBhvr>
                                      <p:tavLst>
                                        <p:tav tm="0">
                                          <p:val>
                                            <p:strVal val="4/3*#ppt_w"/>
                                          </p:val>
                                        </p:tav>
                                        <p:tav tm="100000">
                                          <p:val>
                                            <p:strVal val="#ppt_w"/>
                                          </p:val>
                                        </p:tav>
                                      </p:tavLst>
                                    </p:anim>
                                    <p:anim calcmode="lin" valueType="num">
                                      <p:cBhvr>
                                        <p:cTn id="43" dur="500" fill="hold"/>
                                        <p:tgtEl>
                                          <p:spTgt spid="5129"/>
                                        </p:tgtEl>
                                        <p:attrNameLst>
                                          <p:attrName>ppt_h</p:attrName>
                                        </p:attrNameLst>
                                      </p:cBhvr>
                                      <p:tavLst>
                                        <p:tav tm="0">
                                          <p:val>
                                            <p:strVal val="4/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animBg="1"/>
      <p:bldP spid="5123" grpId="0" autoUpdateAnimBg="0"/>
      <p:bldP spid="5124" grpId="0" autoUpdateAnimBg="0"/>
      <p:bldP spid="5125" grpId="0" autoUpdateAnimBg="0"/>
      <p:bldP spid="5126" grpId="0" autoUpdateAnimBg="0"/>
      <p:bldP spid="5127" grpId="0" autoUpdateAnimBg="0"/>
      <p:bldP spid="5128" grpId="0" autoUpdateAnimBg="0"/>
      <p:bldP spid="5129"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WordArt 2"/>
          <p:cNvSpPr>
            <a:spLocks noChangeArrowheads="1" noChangeShapeType="1" noTextEdit="1"/>
          </p:cNvSpPr>
          <p:nvPr/>
        </p:nvSpPr>
        <p:spPr bwMode="auto">
          <a:xfrm>
            <a:off x="1295400" y="685800"/>
            <a:ext cx="6781800" cy="609600"/>
          </a:xfrm>
          <a:prstGeom prst="rect">
            <a:avLst/>
          </a:prstGeom>
        </p:spPr>
        <p:txBody>
          <a:bodyPr wrap="none" fromWordArt="1">
            <a:prstTxWarp prst="textDoubleWave1">
              <a:avLst>
                <a:gd name="adj1" fmla="val 6500"/>
                <a:gd name="adj2" fmla="val 0"/>
              </a:avLst>
            </a:prstTxWarp>
          </a:bodyPr>
          <a:lstStyle/>
          <a:p>
            <a:pPr algn="ctr"/>
            <a:r>
              <a:rPr lang="en-IN"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a:rPr>
              <a:t>CHARACTER SET</a:t>
            </a:r>
          </a:p>
        </p:txBody>
      </p:sp>
      <p:sp>
        <p:nvSpPr>
          <p:cNvPr id="4099" name="Text Box 3"/>
          <p:cNvSpPr txBox="1">
            <a:spLocks noChangeArrowheads="1"/>
          </p:cNvSpPr>
          <p:nvPr/>
        </p:nvSpPr>
        <p:spPr bwMode="auto">
          <a:xfrm>
            <a:off x="457200" y="1584325"/>
            <a:ext cx="8229600" cy="701675"/>
          </a:xfrm>
          <a:prstGeom prst="rect">
            <a:avLst/>
          </a:prstGeom>
          <a:noFill/>
          <a:ln w="9525">
            <a:noFill/>
            <a:miter lim="800000"/>
            <a:headEnd/>
            <a:tailEnd/>
          </a:ln>
        </p:spPr>
        <p:txBody>
          <a:bodyPr>
            <a:spAutoFit/>
          </a:bodyPr>
          <a:lstStyle/>
          <a:p>
            <a:pPr algn="just">
              <a:spcBef>
                <a:spcPct val="50000"/>
              </a:spcBef>
            </a:pPr>
            <a:r>
              <a:rPr lang="en-US" sz="2000" b="1">
                <a:solidFill>
                  <a:srgbClr val="990033"/>
                </a:solidFill>
              </a:rPr>
              <a:t>	A Character denotes an alphabet, digit or a special character. These characters can be combined to form variables.</a:t>
            </a:r>
          </a:p>
        </p:txBody>
      </p:sp>
      <p:sp>
        <p:nvSpPr>
          <p:cNvPr id="4100" name="WordArt 4"/>
          <p:cNvSpPr>
            <a:spLocks noChangeArrowheads="1" noChangeShapeType="1" noTextEdit="1"/>
          </p:cNvSpPr>
          <p:nvPr/>
        </p:nvSpPr>
        <p:spPr bwMode="auto">
          <a:xfrm>
            <a:off x="533400" y="3048000"/>
            <a:ext cx="2047875" cy="708025"/>
          </a:xfrm>
          <a:prstGeom prst="rect">
            <a:avLst/>
          </a:prstGeom>
        </p:spPr>
        <p:txBody>
          <a:bodyPr wrap="none" fromWordArt="1">
            <a:prstTxWarp prst="textWave1">
              <a:avLst>
                <a:gd name="adj1" fmla="val 13005"/>
                <a:gd name="adj2" fmla="val 0"/>
              </a:avLst>
            </a:prstTxWarp>
          </a:bodyPr>
          <a:lstStyle/>
          <a:p>
            <a:pPr algn="ctr"/>
            <a:r>
              <a:rPr lang="en-IN" sz="3600" kern="10">
                <a:ln w="9525">
                  <a:noFill/>
                  <a:round/>
                  <a:headEnd/>
                  <a:tailEnd/>
                </a:ln>
                <a:solidFill>
                  <a:srgbClr val="0000FF"/>
                </a:solidFill>
                <a:effectLst>
                  <a:outerShdw dist="53882" dir="2700000" algn="ctr" rotWithShape="0">
                    <a:srgbClr val="C0C0C0">
                      <a:alpha val="79999"/>
                    </a:srgbClr>
                  </a:outerShdw>
                </a:effectLst>
                <a:latin typeface="Arial Black"/>
              </a:rPr>
              <a:t>Alphabets :</a:t>
            </a:r>
          </a:p>
        </p:txBody>
      </p:sp>
      <p:sp>
        <p:nvSpPr>
          <p:cNvPr id="4101" name="WordArt 5"/>
          <p:cNvSpPr>
            <a:spLocks noChangeArrowheads="1" noChangeShapeType="1" noTextEdit="1"/>
          </p:cNvSpPr>
          <p:nvPr/>
        </p:nvSpPr>
        <p:spPr bwMode="auto">
          <a:xfrm>
            <a:off x="457200" y="4168775"/>
            <a:ext cx="2047875" cy="708025"/>
          </a:xfrm>
          <a:prstGeom prst="rect">
            <a:avLst/>
          </a:prstGeom>
        </p:spPr>
        <p:txBody>
          <a:bodyPr wrap="none" fromWordArt="1">
            <a:prstTxWarp prst="textWave1">
              <a:avLst>
                <a:gd name="adj1" fmla="val 13005"/>
                <a:gd name="adj2" fmla="val 0"/>
              </a:avLst>
            </a:prstTxWarp>
          </a:bodyPr>
          <a:lstStyle/>
          <a:p>
            <a:pPr algn="ctr"/>
            <a:r>
              <a:rPr lang="en-IN" sz="3600" kern="10">
                <a:ln w="9525">
                  <a:noFill/>
                  <a:round/>
                  <a:headEnd/>
                  <a:tailEnd/>
                </a:ln>
                <a:solidFill>
                  <a:srgbClr val="0000FF"/>
                </a:solidFill>
                <a:effectLst>
                  <a:outerShdw dist="53882" dir="2700000" algn="ctr" rotWithShape="0">
                    <a:srgbClr val="C0C0C0">
                      <a:alpha val="79999"/>
                    </a:srgbClr>
                  </a:outerShdw>
                </a:effectLst>
                <a:latin typeface="Arial Black"/>
              </a:rPr>
              <a:t>Digits :</a:t>
            </a:r>
          </a:p>
        </p:txBody>
      </p:sp>
      <p:sp>
        <p:nvSpPr>
          <p:cNvPr id="4102" name="WordArt 6"/>
          <p:cNvSpPr>
            <a:spLocks noChangeArrowheads="1" noChangeShapeType="1" noTextEdit="1"/>
          </p:cNvSpPr>
          <p:nvPr/>
        </p:nvSpPr>
        <p:spPr bwMode="auto">
          <a:xfrm>
            <a:off x="304800" y="5311775"/>
            <a:ext cx="2743200" cy="936625"/>
          </a:xfrm>
          <a:prstGeom prst="rect">
            <a:avLst/>
          </a:prstGeom>
        </p:spPr>
        <p:txBody>
          <a:bodyPr wrap="none" fromWordArt="1">
            <a:prstTxWarp prst="textWave1">
              <a:avLst>
                <a:gd name="adj1" fmla="val 13005"/>
                <a:gd name="adj2" fmla="val 0"/>
              </a:avLst>
            </a:prstTxWarp>
          </a:bodyPr>
          <a:lstStyle/>
          <a:p>
            <a:pPr algn="ctr"/>
            <a:r>
              <a:rPr lang="en-IN" sz="3600" kern="10">
                <a:ln w="9525">
                  <a:noFill/>
                  <a:round/>
                  <a:headEnd/>
                  <a:tailEnd/>
                </a:ln>
                <a:solidFill>
                  <a:srgbClr val="0000FF"/>
                </a:solidFill>
                <a:effectLst>
                  <a:outerShdw dist="53882" dir="2700000" algn="ctr" rotWithShape="0">
                    <a:srgbClr val="C0C0C0">
                      <a:alpha val="79999"/>
                    </a:srgbClr>
                  </a:outerShdw>
                </a:effectLst>
                <a:latin typeface="Arial Black"/>
              </a:rPr>
              <a:t>Special Characters :</a:t>
            </a:r>
          </a:p>
        </p:txBody>
      </p:sp>
      <p:sp>
        <p:nvSpPr>
          <p:cNvPr id="4103" name="Text Box 7"/>
          <p:cNvSpPr txBox="1">
            <a:spLocks noChangeArrowheads="1"/>
          </p:cNvSpPr>
          <p:nvPr/>
        </p:nvSpPr>
        <p:spPr bwMode="auto">
          <a:xfrm>
            <a:off x="3886200" y="2819400"/>
            <a:ext cx="4191000" cy="863600"/>
          </a:xfrm>
          <a:prstGeom prst="rect">
            <a:avLst/>
          </a:prstGeom>
          <a:noFill/>
          <a:ln w="9525">
            <a:solidFill>
              <a:srgbClr val="CC3300"/>
            </a:solidFill>
            <a:miter lim="800000"/>
            <a:headEnd/>
            <a:tailEnd/>
          </a:ln>
        </p:spPr>
        <p:txBody>
          <a:bodyPr>
            <a:spAutoFit/>
          </a:bodyPr>
          <a:lstStyle/>
          <a:p>
            <a:pPr>
              <a:spcBef>
                <a:spcPct val="50000"/>
              </a:spcBef>
            </a:pPr>
            <a:r>
              <a:rPr lang="en-US" sz="2000" b="1">
                <a:solidFill>
                  <a:srgbClr val="0000FF"/>
                </a:solidFill>
              </a:rPr>
              <a:t>Uppercase Letters – A,B,C…..  Z</a:t>
            </a:r>
          </a:p>
          <a:p>
            <a:pPr>
              <a:spcBef>
                <a:spcPct val="50000"/>
              </a:spcBef>
            </a:pPr>
            <a:r>
              <a:rPr lang="en-US" sz="2000" b="1">
                <a:solidFill>
                  <a:srgbClr val="0000FF"/>
                </a:solidFill>
              </a:rPr>
              <a:t>Lowercase Letters -  a,b,c……  z</a:t>
            </a:r>
          </a:p>
        </p:txBody>
      </p:sp>
      <p:sp>
        <p:nvSpPr>
          <p:cNvPr id="6152" name="Line 8"/>
          <p:cNvSpPr>
            <a:spLocks noChangeShapeType="1"/>
          </p:cNvSpPr>
          <p:nvPr/>
        </p:nvSpPr>
        <p:spPr bwMode="auto">
          <a:xfrm rot="382019" flipV="1">
            <a:off x="2667000" y="3198813"/>
            <a:ext cx="1143000" cy="306387"/>
          </a:xfrm>
          <a:prstGeom prst="line">
            <a:avLst/>
          </a:prstGeom>
          <a:noFill/>
          <a:ln w="57150">
            <a:solidFill>
              <a:srgbClr val="FF3399"/>
            </a:solidFill>
            <a:round/>
            <a:headEnd/>
            <a:tailEnd type="triangle" w="med" len="med"/>
          </a:ln>
        </p:spPr>
        <p:txBody>
          <a:bodyPr/>
          <a:lstStyle/>
          <a:p>
            <a:endParaRPr lang="en-IN"/>
          </a:p>
        </p:txBody>
      </p:sp>
      <p:sp>
        <p:nvSpPr>
          <p:cNvPr id="4105" name="Text Box 9"/>
          <p:cNvSpPr txBox="1">
            <a:spLocks noChangeArrowheads="1"/>
          </p:cNvSpPr>
          <p:nvPr/>
        </p:nvSpPr>
        <p:spPr bwMode="auto">
          <a:xfrm>
            <a:off x="3886200" y="4165600"/>
            <a:ext cx="3581400" cy="406400"/>
          </a:xfrm>
          <a:prstGeom prst="rect">
            <a:avLst/>
          </a:prstGeom>
          <a:noFill/>
          <a:ln w="9525">
            <a:solidFill>
              <a:srgbClr val="CC3300"/>
            </a:solidFill>
            <a:miter lim="800000"/>
            <a:headEnd/>
            <a:tailEnd/>
          </a:ln>
        </p:spPr>
        <p:txBody>
          <a:bodyPr>
            <a:spAutoFit/>
          </a:bodyPr>
          <a:lstStyle/>
          <a:p>
            <a:pPr>
              <a:spcBef>
                <a:spcPct val="50000"/>
              </a:spcBef>
            </a:pPr>
            <a:r>
              <a:rPr lang="en-US" sz="2000" b="1">
                <a:solidFill>
                  <a:srgbClr val="0000FF"/>
                </a:solidFill>
              </a:rPr>
              <a:t>Digits – 0,1,2,3,…7,8,9</a:t>
            </a:r>
          </a:p>
        </p:txBody>
      </p:sp>
      <p:sp>
        <p:nvSpPr>
          <p:cNvPr id="6154" name="Line 10"/>
          <p:cNvSpPr>
            <a:spLocks noChangeShapeType="1"/>
          </p:cNvSpPr>
          <p:nvPr/>
        </p:nvSpPr>
        <p:spPr bwMode="auto">
          <a:xfrm rot="382019" flipV="1">
            <a:off x="2667000" y="4341813"/>
            <a:ext cx="1143000" cy="306387"/>
          </a:xfrm>
          <a:prstGeom prst="line">
            <a:avLst/>
          </a:prstGeom>
          <a:noFill/>
          <a:ln w="57150">
            <a:solidFill>
              <a:srgbClr val="FF3399"/>
            </a:solidFill>
            <a:round/>
            <a:headEnd/>
            <a:tailEnd type="triangle" w="med" len="med"/>
          </a:ln>
        </p:spPr>
        <p:txBody>
          <a:bodyPr/>
          <a:lstStyle/>
          <a:p>
            <a:endParaRPr lang="en-IN"/>
          </a:p>
        </p:txBody>
      </p:sp>
      <p:sp>
        <p:nvSpPr>
          <p:cNvPr id="6155" name="Line 11"/>
          <p:cNvSpPr>
            <a:spLocks noChangeShapeType="1"/>
          </p:cNvSpPr>
          <p:nvPr/>
        </p:nvSpPr>
        <p:spPr bwMode="auto">
          <a:xfrm rot="382019" flipV="1">
            <a:off x="3127375" y="5641975"/>
            <a:ext cx="838200" cy="225425"/>
          </a:xfrm>
          <a:prstGeom prst="line">
            <a:avLst/>
          </a:prstGeom>
          <a:noFill/>
          <a:ln w="57150">
            <a:solidFill>
              <a:srgbClr val="FF3399"/>
            </a:solidFill>
            <a:round/>
            <a:headEnd/>
            <a:tailEnd type="triangle" w="med" len="med"/>
          </a:ln>
        </p:spPr>
        <p:txBody>
          <a:bodyPr/>
          <a:lstStyle/>
          <a:p>
            <a:endParaRPr lang="en-IN"/>
          </a:p>
        </p:txBody>
      </p:sp>
      <p:sp>
        <p:nvSpPr>
          <p:cNvPr id="4108" name="Text Box 13"/>
          <p:cNvSpPr txBox="1">
            <a:spLocks noChangeArrowheads="1"/>
          </p:cNvSpPr>
          <p:nvPr/>
        </p:nvSpPr>
        <p:spPr bwMode="auto">
          <a:xfrm>
            <a:off x="3962400" y="4838700"/>
            <a:ext cx="5181600" cy="1868488"/>
          </a:xfrm>
          <a:prstGeom prst="rect">
            <a:avLst/>
          </a:prstGeom>
          <a:noFill/>
          <a:ln w="9525">
            <a:solidFill>
              <a:srgbClr val="CC3300"/>
            </a:solidFill>
            <a:miter lim="800000"/>
            <a:headEnd/>
            <a:tailEnd/>
          </a:ln>
        </p:spPr>
        <p:txBody>
          <a:bodyPr>
            <a:spAutoFit/>
          </a:bodyPr>
          <a:lstStyle/>
          <a:p>
            <a:pPr>
              <a:spcBef>
                <a:spcPct val="50000"/>
              </a:spcBef>
            </a:pPr>
            <a:r>
              <a:rPr lang="en-US" sz="2000" b="1">
                <a:solidFill>
                  <a:srgbClr val="0000FF"/>
                </a:solidFill>
              </a:rPr>
              <a:t>+ Plus Sign    -   Minus Sign	 ,  Comma</a:t>
            </a:r>
          </a:p>
          <a:p>
            <a:pPr>
              <a:spcBef>
                <a:spcPct val="50000"/>
              </a:spcBef>
            </a:pPr>
            <a:r>
              <a:rPr lang="en-US" sz="2400" b="1">
                <a:solidFill>
                  <a:srgbClr val="0000FF"/>
                </a:solidFill>
              </a:rPr>
              <a:t>*</a:t>
            </a:r>
            <a:r>
              <a:rPr lang="en-US" sz="2000" b="1">
                <a:solidFill>
                  <a:srgbClr val="0000FF"/>
                </a:solidFill>
              </a:rPr>
              <a:t> Asterisk       /   Slash              =   Equal to</a:t>
            </a:r>
          </a:p>
          <a:p>
            <a:pPr>
              <a:spcBef>
                <a:spcPct val="50000"/>
              </a:spcBef>
            </a:pPr>
            <a:r>
              <a:rPr lang="en-US" sz="2000" b="1">
                <a:solidFill>
                  <a:srgbClr val="0000FF"/>
                </a:solidFill>
              </a:rPr>
              <a:t>@ At Symbol &lt;   Less Than     :   Colon</a:t>
            </a:r>
          </a:p>
          <a:p>
            <a:pPr>
              <a:spcBef>
                <a:spcPct val="50000"/>
              </a:spcBef>
            </a:pPr>
            <a:r>
              <a:rPr lang="en-US" sz="2000" b="1">
                <a:solidFill>
                  <a:srgbClr val="0000FF"/>
                </a:solidFill>
              </a:rPr>
              <a:t>; Semicolon  </a:t>
            </a:r>
          </a:p>
        </p:txBody>
      </p:sp>
    </p:spTree>
  </p:cSld>
  <p:clrMapOvr>
    <a:masterClrMapping/>
  </p:clrMapOvr>
  <p:transition>
    <p:check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0"/>
                                  </p:stCondLst>
                                  <p:childTnLst>
                                    <p:set>
                                      <p:cBhvr>
                                        <p:cTn id="6" dur="1" fill="hold">
                                          <p:stCondLst>
                                            <p:cond delay="0"/>
                                          </p:stCondLst>
                                        </p:cTn>
                                        <p:tgtEl>
                                          <p:spTgt spid="6146"/>
                                        </p:tgtEl>
                                        <p:attrNameLst>
                                          <p:attrName>style.visibility</p:attrName>
                                        </p:attrNameLst>
                                      </p:cBhvr>
                                      <p:to>
                                        <p:strVal val="visible"/>
                                      </p:to>
                                    </p:set>
                                    <p:anim calcmode="lin" valueType="num">
                                      <p:cBhvr>
                                        <p:cTn id="7" dur="500" fill="hold"/>
                                        <p:tgtEl>
                                          <p:spTgt spid="6146"/>
                                        </p:tgtEl>
                                        <p:attrNameLst>
                                          <p:attrName>ppt_w</p:attrName>
                                        </p:attrNameLst>
                                      </p:cBhvr>
                                      <p:tavLst>
                                        <p:tav tm="0">
                                          <p:val>
                                            <p:fltVal val="0"/>
                                          </p:val>
                                        </p:tav>
                                        <p:tav tm="100000">
                                          <p:val>
                                            <p:strVal val="#ppt_w"/>
                                          </p:val>
                                        </p:tav>
                                      </p:tavLst>
                                    </p:anim>
                                    <p:anim calcmode="lin" valueType="num">
                                      <p:cBhvr>
                                        <p:cTn id="8" dur="500" fill="hold"/>
                                        <p:tgtEl>
                                          <p:spTgt spid="6146"/>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18" presetClass="entr" presetSubtype="3" fill="hold" grpId="0" nodeType="afterEffect">
                                  <p:stCondLst>
                                    <p:cond delay="0"/>
                                  </p:stCondLst>
                                  <p:childTnLst>
                                    <p:set>
                                      <p:cBhvr>
                                        <p:cTn id="11" dur="1" fill="hold">
                                          <p:stCondLst>
                                            <p:cond delay="0"/>
                                          </p:stCondLst>
                                        </p:cTn>
                                        <p:tgtEl>
                                          <p:spTgt spid="6152"/>
                                        </p:tgtEl>
                                        <p:attrNameLst>
                                          <p:attrName>style.visibility</p:attrName>
                                        </p:attrNameLst>
                                      </p:cBhvr>
                                      <p:to>
                                        <p:strVal val="visible"/>
                                      </p:to>
                                    </p:set>
                                    <p:animEffect transition="in" filter="strips(upRight)">
                                      <p:cBhvr>
                                        <p:cTn id="12" dur="1000"/>
                                        <p:tgtEl>
                                          <p:spTgt spid="6152"/>
                                        </p:tgtEl>
                                      </p:cBhvr>
                                    </p:animEffect>
                                  </p:childTnLst>
                                </p:cTn>
                              </p:par>
                            </p:childTnLst>
                          </p:cTn>
                        </p:par>
                        <p:par>
                          <p:cTn id="13" fill="hold">
                            <p:stCondLst>
                              <p:cond delay="1500"/>
                            </p:stCondLst>
                            <p:childTnLst>
                              <p:par>
                                <p:cTn id="14" presetID="18" presetClass="entr" presetSubtype="3" fill="hold" grpId="0" nodeType="afterEffect">
                                  <p:stCondLst>
                                    <p:cond delay="0"/>
                                  </p:stCondLst>
                                  <p:childTnLst>
                                    <p:set>
                                      <p:cBhvr>
                                        <p:cTn id="15" dur="1" fill="hold">
                                          <p:stCondLst>
                                            <p:cond delay="0"/>
                                          </p:stCondLst>
                                        </p:cTn>
                                        <p:tgtEl>
                                          <p:spTgt spid="6154"/>
                                        </p:tgtEl>
                                        <p:attrNameLst>
                                          <p:attrName>style.visibility</p:attrName>
                                        </p:attrNameLst>
                                      </p:cBhvr>
                                      <p:to>
                                        <p:strVal val="visible"/>
                                      </p:to>
                                    </p:set>
                                    <p:animEffect transition="in" filter="strips(upRight)">
                                      <p:cBhvr>
                                        <p:cTn id="16" dur="1000"/>
                                        <p:tgtEl>
                                          <p:spTgt spid="6154"/>
                                        </p:tgtEl>
                                      </p:cBhvr>
                                    </p:animEffect>
                                  </p:childTnLst>
                                </p:cTn>
                              </p:par>
                            </p:childTnLst>
                          </p:cTn>
                        </p:par>
                        <p:par>
                          <p:cTn id="17" fill="hold">
                            <p:stCondLst>
                              <p:cond delay="2500"/>
                            </p:stCondLst>
                            <p:childTnLst>
                              <p:par>
                                <p:cTn id="18" presetID="18" presetClass="entr" presetSubtype="3" fill="hold" grpId="0" nodeType="afterEffect">
                                  <p:stCondLst>
                                    <p:cond delay="0"/>
                                  </p:stCondLst>
                                  <p:childTnLst>
                                    <p:set>
                                      <p:cBhvr>
                                        <p:cTn id="19" dur="1" fill="hold">
                                          <p:stCondLst>
                                            <p:cond delay="0"/>
                                          </p:stCondLst>
                                        </p:cTn>
                                        <p:tgtEl>
                                          <p:spTgt spid="6155"/>
                                        </p:tgtEl>
                                        <p:attrNameLst>
                                          <p:attrName>style.visibility</p:attrName>
                                        </p:attrNameLst>
                                      </p:cBhvr>
                                      <p:to>
                                        <p:strVal val="visible"/>
                                      </p:to>
                                    </p:set>
                                    <p:animEffect transition="in" filter="strips(upRight)">
                                      <p:cBhvr>
                                        <p:cTn id="20" dur="1000"/>
                                        <p:tgtEl>
                                          <p:spTgt spid="61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animBg="1"/>
      <p:bldP spid="6152" grpId="0" animBg="1"/>
      <p:bldP spid="6154" grpId="0" animBg="1"/>
      <p:bldP spid="6155"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WordArt 2"/>
          <p:cNvSpPr>
            <a:spLocks noChangeArrowheads="1" noChangeShapeType="1" noTextEdit="1"/>
          </p:cNvSpPr>
          <p:nvPr/>
        </p:nvSpPr>
        <p:spPr bwMode="auto">
          <a:xfrm>
            <a:off x="2057400" y="533400"/>
            <a:ext cx="5181600" cy="762000"/>
          </a:xfrm>
          <a:prstGeom prst="rect">
            <a:avLst/>
          </a:prstGeom>
        </p:spPr>
        <p:txBody>
          <a:bodyPr wrap="none" fromWordArt="1">
            <a:prstTxWarp prst="textDeflate">
              <a:avLst>
                <a:gd name="adj" fmla="val 18750"/>
              </a:avLst>
            </a:prstTxWarp>
          </a:bodyPr>
          <a:lstStyle/>
          <a:p>
            <a:pPr algn="ctr"/>
            <a:r>
              <a:rPr lang="en-IN"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a:rPr>
              <a:t>C++ CONSTANTS</a:t>
            </a:r>
          </a:p>
        </p:txBody>
      </p:sp>
      <p:grpSp>
        <p:nvGrpSpPr>
          <p:cNvPr id="2" name="Group 3"/>
          <p:cNvGrpSpPr>
            <a:grpSpLocks/>
          </p:cNvGrpSpPr>
          <p:nvPr/>
        </p:nvGrpSpPr>
        <p:grpSpPr bwMode="auto">
          <a:xfrm>
            <a:off x="-76200" y="1371600"/>
            <a:ext cx="8991600" cy="4191000"/>
            <a:chOff x="-48" y="864"/>
            <a:chExt cx="5664" cy="2640"/>
          </a:xfrm>
        </p:grpSpPr>
        <p:sp>
          <p:nvSpPr>
            <p:cNvPr id="5124" name="AutoShape 4"/>
            <p:cNvSpPr>
              <a:spLocks noChangeArrowheads="1"/>
            </p:cNvSpPr>
            <p:nvPr/>
          </p:nvSpPr>
          <p:spPr bwMode="auto">
            <a:xfrm>
              <a:off x="2640" y="2160"/>
              <a:ext cx="1584" cy="384"/>
            </a:xfrm>
            <a:prstGeom prst="flowChartTerminator">
              <a:avLst/>
            </a:prstGeom>
            <a:solidFill>
              <a:schemeClr val="accent1"/>
            </a:solidFill>
            <a:ln w="38100">
              <a:solidFill>
                <a:srgbClr val="000099"/>
              </a:solidFill>
              <a:miter lim="800000"/>
              <a:headEnd/>
              <a:tailEnd/>
            </a:ln>
          </p:spPr>
          <p:txBody>
            <a:bodyPr wrap="none" anchor="ctr"/>
            <a:lstStyle/>
            <a:p>
              <a:endParaRPr lang="en-US"/>
            </a:p>
          </p:txBody>
        </p:sp>
        <p:sp>
          <p:nvSpPr>
            <p:cNvPr id="5125" name="AutoShape 5"/>
            <p:cNvSpPr>
              <a:spLocks noChangeArrowheads="1"/>
            </p:cNvSpPr>
            <p:nvPr/>
          </p:nvSpPr>
          <p:spPr bwMode="auto">
            <a:xfrm>
              <a:off x="4320" y="2160"/>
              <a:ext cx="1296" cy="336"/>
            </a:xfrm>
            <a:prstGeom prst="flowChartTerminator">
              <a:avLst/>
            </a:prstGeom>
            <a:solidFill>
              <a:schemeClr val="accent1"/>
            </a:solidFill>
            <a:ln w="38100">
              <a:solidFill>
                <a:srgbClr val="000099"/>
              </a:solidFill>
              <a:miter lim="800000"/>
              <a:headEnd/>
              <a:tailEnd/>
            </a:ln>
          </p:spPr>
          <p:txBody>
            <a:bodyPr wrap="none" anchor="ctr"/>
            <a:lstStyle/>
            <a:p>
              <a:endParaRPr lang="en-US"/>
            </a:p>
          </p:txBody>
        </p:sp>
        <p:sp>
          <p:nvSpPr>
            <p:cNvPr id="5126" name="AutoShape 6"/>
            <p:cNvSpPr>
              <a:spLocks noChangeArrowheads="1"/>
            </p:cNvSpPr>
            <p:nvPr/>
          </p:nvSpPr>
          <p:spPr bwMode="auto">
            <a:xfrm>
              <a:off x="1248" y="2112"/>
              <a:ext cx="1248" cy="336"/>
            </a:xfrm>
            <a:prstGeom prst="flowChartTerminator">
              <a:avLst/>
            </a:prstGeom>
            <a:solidFill>
              <a:schemeClr val="accent1"/>
            </a:solidFill>
            <a:ln w="38100">
              <a:solidFill>
                <a:srgbClr val="000099"/>
              </a:solidFill>
              <a:miter lim="800000"/>
              <a:headEnd/>
              <a:tailEnd/>
            </a:ln>
          </p:spPr>
          <p:txBody>
            <a:bodyPr wrap="none" anchor="ctr"/>
            <a:lstStyle/>
            <a:p>
              <a:endParaRPr lang="en-US"/>
            </a:p>
          </p:txBody>
        </p:sp>
        <p:sp>
          <p:nvSpPr>
            <p:cNvPr id="5127" name="AutoShape 7"/>
            <p:cNvSpPr>
              <a:spLocks noChangeArrowheads="1"/>
            </p:cNvSpPr>
            <p:nvPr/>
          </p:nvSpPr>
          <p:spPr bwMode="auto">
            <a:xfrm>
              <a:off x="-48" y="2160"/>
              <a:ext cx="1248" cy="336"/>
            </a:xfrm>
            <a:prstGeom prst="flowChartTerminator">
              <a:avLst/>
            </a:prstGeom>
            <a:solidFill>
              <a:schemeClr val="accent1"/>
            </a:solidFill>
            <a:ln w="28575">
              <a:solidFill>
                <a:srgbClr val="000099"/>
              </a:solidFill>
              <a:miter lim="800000"/>
              <a:headEnd/>
              <a:tailEnd/>
            </a:ln>
          </p:spPr>
          <p:txBody>
            <a:bodyPr wrap="none" anchor="ctr"/>
            <a:lstStyle/>
            <a:p>
              <a:pPr algn="ctr" eaLnBrk="0" hangingPunct="0"/>
              <a:endParaRPr lang="en-US">
                <a:solidFill>
                  <a:srgbClr val="990033"/>
                </a:solidFill>
                <a:latin typeface="Verdana" pitchFamily="34" charset="0"/>
              </a:endParaRPr>
            </a:p>
          </p:txBody>
        </p:sp>
        <p:sp>
          <p:nvSpPr>
            <p:cNvPr id="5128" name="Rectangle 8"/>
            <p:cNvSpPr>
              <a:spLocks noChangeArrowheads="1"/>
            </p:cNvSpPr>
            <p:nvPr/>
          </p:nvSpPr>
          <p:spPr bwMode="auto">
            <a:xfrm>
              <a:off x="2976" y="1248"/>
              <a:ext cx="2544" cy="480"/>
            </a:xfrm>
            <a:prstGeom prst="rect">
              <a:avLst/>
            </a:prstGeom>
            <a:solidFill>
              <a:schemeClr val="accent1"/>
            </a:solidFill>
            <a:ln w="38100">
              <a:solidFill>
                <a:srgbClr val="000099"/>
              </a:solidFill>
              <a:miter lim="800000"/>
              <a:headEnd/>
              <a:tailEnd/>
            </a:ln>
          </p:spPr>
          <p:txBody>
            <a:bodyPr wrap="none" anchor="ctr"/>
            <a:lstStyle/>
            <a:p>
              <a:endParaRPr lang="en-US"/>
            </a:p>
          </p:txBody>
        </p:sp>
        <p:sp>
          <p:nvSpPr>
            <p:cNvPr id="5129" name="Rectangle 9"/>
            <p:cNvSpPr>
              <a:spLocks noChangeArrowheads="1"/>
            </p:cNvSpPr>
            <p:nvPr/>
          </p:nvSpPr>
          <p:spPr bwMode="auto">
            <a:xfrm>
              <a:off x="144" y="1248"/>
              <a:ext cx="2400" cy="480"/>
            </a:xfrm>
            <a:prstGeom prst="rect">
              <a:avLst/>
            </a:prstGeom>
            <a:solidFill>
              <a:schemeClr val="accent1"/>
            </a:solidFill>
            <a:ln w="38100">
              <a:solidFill>
                <a:srgbClr val="000099"/>
              </a:solidFill>
              <a:miter lim="800000"/>
              <a:headEnd/>
              <a:tailEnd/>
            </a:ln>
          </p:spPr>
          <p:txBody>
            <a:bodyPr wrap="none" anchor="ctr"/>
            <a:lstStyle/>
            <a:p>
              <a:endParaRPr lang="en-US"/>
            </a:p>
          </p:txBody>
        </p:sp>
        <p:sp>
          <p:nvSpPr>
            <p:cNvPr id="5130" name="WordArt 10"/>
            <p:cNvSpPr>
              <a:spLocks noChangeArrowheads="1" noChangeShapeType="1" noTextEdit="1"/>
            </p:cNvSpPr>
            <p:nvPr/>
          </p:nvSpPr>
          <p:spPr bwMode="auto">
            <a:xfrm>
              <a:off x="384" y="1296"/>
              <a:ext cx="1968" cy="336"/>
            </a:xfrm>
            <a:prstGeom prst="rect">
              <a:avLst/>
            </a:prstGeom>
          </p:spPr>
          <p:txBody>
            <a:bodyPr wrap="none" fromWordArt="1">
              <a:prstTxWarp prst="textPlain">
                <a:avLst>
                  <a:gd name="adj" fmla="val 50000"/>
                </a:avLst>
              </a:prstTxWarp>
            </a:bodyPr>
            <a:lstStyle/>
            <a:p>
              <a:pPr algn="ctr"/>
              <a:r>
                <a:rPr lang="en-IN" sz="3600" kern="10">
                  <a:ln w="9525">
                    <a:solidFill>
                      <a:srgbClr val="000000"/>
                    </a:solidFill>
                    <a:round/>
                    <a:headEnd/>
                    <a:tailEnd/>
                  </a:ln>
                  <a:solidFill>
                    <a:srgbClr val="990033"/>
                  </a:solidFill>
                  <a:latin typeface="Arial Black"/>
                </a:rPr>
                <a:t>Numeric Constant</a:t>
              </a:r>
            </a:p>
          </p:txBody>
        </p:sp>
        <p:sp>
          <p:nvSpPr>
            <p:cNvPr id="5131" name="WordArt 11"/>
            <p:cNvSpPr>
              <a:spLocks noChangeArrowheads="1" noChangeShapeType="1" noTextEdit="1"/>
            </p:cNvSpPr>
            <p:nvPr/>
          </p:nvSpPr>
          <p:spPr bwMode="auto">
            <a:xfrm>
              <a:off x="3024" y="1296"/>
              <a:ext cx="2400" cy="336"/>
            </a:xfrm>
            <a:prstGeom prst="rect">
              <a:avLst/>
            </a:prstGeom>
          </p:spPr>
          <p:txBody>
            <a:bodyPr wrap="none" fromWordArt="1">
              <a:prstTxWarp prst="textPlain">
                <a:avLst>
                  <a:gd name="adj" fmla="val 50000"/>
                </a:avLst>
              </a:prstTxWarp>
            </a:bodyPr>
            <a:lstStyle/>
            <a:p>
              <a:pPr algn="ctr"/>
              <a:r>
                <a:rPr lang="en-IN" sz="3600" kern="10">
                  <a:ln w="9525">
                    <a:solidFill>
                      <a:srgbClr val="000000"/>
                    </a:solidFill>
                    <a:round/>
                    <a:headEnd/>
                    <a:tailEnd/>
                  </a:ln>
                  <a:solidFill>
                    <a:srgbClr val="990033"/>
                  </a:solidFill>
                  <a:latin typeface="Arial Black"/>
                </a:rPr>
                <a:t>Character Constant</a:t>
              </a:r>
            </a:p>
          </p:txBody>
        </p:sp>
        <p:sp>
          <p:nvSpPr>
            <p:cNvPr id="5132" name="WordArt 12"/>
            <p:cNvSpPr>
              <a:spLocks noChangeArrowheads="1" noChangeShapeType="1" noTextEdit="1"/>
            </p:cNvSpPr>
            <p:nvPr/>
          </p:nvSpPr>
          <p:spPr bwMode="auto">
            <a:xfrm>
              <a:off x="66" y="2208"/>
              <a:ext cx="1038" cy="240"/>
            </a:xfrm>
            <a:prstGeom prst="rect">
              <a:avLst/>
            </a:prstGeom>
          </p:spPr>
          <p:txBody>
            <a:bodyPr wrap="none" fromWordArt="1">
              <a:prstTxWarp prst="textPlain">
                <a:avLst>
                  <a:gd name="adj" fmla="val 50000"/>
                </a:avLst>
              </a:prstTxWarp>
            </a:bodyPr>
            <a:lstStyle/>
            <a:p>
              <a:pPr algn="ctr"/>
              <a:r>
                <a:rPr lang="en-IN" sz="3200" kern="10">
                  <a:ln w="9525">
                    <a:solidFill>
                      <a:srgbClr val="000000"/>
                    </a:solidFill>
                    <a:round/>
                    <a:headEnd/>
                    <a:tailEnd/>
                  </a:ln>
                  <a:solidFill>
                    <a:srgbClr val="990033"/>
                  </a:solidFill>
                  <a:latin typeface="Arial Black"/>
                </a:rPr>
                <a:t>Integer</a:t>
              </a:r>
            </a:p>
          </p:txBody>
        </p:sp>
        <p:sp>
          <p:nvSpPr>
            <p:cNvPr id="5133" name="WordArt 13"/>
            <p:cNvSpPr>
              <a:spLocks noChangeArrowheads="1" noChangeShapeType="1" noTextEdit="1"/>
            </p:cNvSpPr>
            <p:nvPr/>
          </p:nvSpPr>
          <p:spPr bwMode="auto">
            <a:xfrm>
              <a:off x="1392" y="2160"/>
              <a:ext cx="864" cy="192"/>
            </a:xfrm>
            <a:prstGeom prst="rect">
              <a:avLst/>
            </a:prstGeom>
          </p:spPr>
          <p:txBody>
            <a:bodyPr wrap="none" fromWordArt="1">
              <a:prstTxWarp prst="textPlain">
                <a:avLst>
                  <a:gd name="adj" fmla="val 50000"/>
                </a:avLst>
              </a:prstTxWarp>
            </a:bodyPr>
            <a:lstStyle/>
            <a:p>
              <a:pPr algn="ctr"/>
              <a:r>
                <a:rPr lang="en-IN" sz="3200" kern="10">
                  <a:ln w="9525">
                    <a:solidFill>
                      <a:srgbClr val="000000"/>
                    </a:solidFill>
                    <a:round/>
                    <a:headEnd/>
                    <a:tailEnd/>
                  </a:ln>
                  <a:solidFill>
                    <a:srgbClr val="990033"/>
                  </a:solidFill>
                  <a:latin typeface="Arial Black"/>
                </a:rPr>
                <a:t>Real</a:t>
              </a:r>
            </a:p>
          </p:txBody>
        </p:sp>
        <p:sp>
          <p:nvSpPr>
            <p:cNvPr id="5134" name="WordArt 14"/>
            <p:cNvSpPr>
              <a:spLocks noChangeArrowheads="1" noChangeShapeType="1" noTextEdit="1"/>
            </p:cNvSpPr>
            <p:nvPr/>
          </p:nvSpPr>
          <p:spPr bwMode="auto">
            <a:xfrm>
              <a:off x="2802" y="2208"/>
              <a:ext cx="1326" cy="336"/>
            </a:xfrm>
            <a:prstGeom prst="rect">
              <a:avLst/>
            </a:prstGeom>
          </p:spPr>
          <p:txBody>
            <a:bodyPr wrap="none" fromWordArt="1">
              <a:prstTxWarp prst="textPlain">
                <a:avLst>
                  <a:gd name="adj" fmla="val 50000"/>
                </a:avLst>
              </a:prstTxWarp>
            </a:bodyPr>
            <a:lstStyle/>
            <a:p>
              <a:pPr algn="ctr"/>
              <a:r>
                <a:rPr lang="en-IN" sz="3200" kern="10">
                  <a:ln w="9525">
                    <a:solidFill>
                      <a:srgbClr val="000000"/>
                    </a:solidFill>
                    <a:round/>
                    <a:headEnd/>
                    <a:tailEnd/>
                  </a:ln>
                  <a:solidFill>
                    <a:srgbClr val="990033"/>
                  </a:solidFill>
                  <a:latin typeface="Arial Black"/>
                </a:rPr>
                <a:t>Single Character</a:t>
              </a:r>
            </a:p>
          </p:txBody>
        </p:sp>
        <p:sp>
          <p:nvSpPr>
            <p:cNvPr id="5135" name="WordArt 15"/>
            <p:cNvSpPr>
              <a:spLocks noChangeArrowheads="1" noChangeShapeType="1" noTextEdit="1"/>
            </p:cNvSpPr>
            <p:nvPr/>
          </p:nvSpPr>
          <p:spPr bwMode="auto">
            <a:xfrm>
              <a:off x="4368" y="2256"/>
              <a:ext cx="1152" cy="192"/>
            </a:xfrm>
            <a:prstGeom prst="rect">
              <a:avLst/>
            </a:prstGeom>
          </p:spPr>
          <p:txBody>
            <a:bodyPr wrap="none" fromWordArt="1">
              <a:prstTxWarp prst="textPlain">
                <a:avLst>
                  <a:gd name="adj" fmla="val 50000"/>
                </a:avLst>
              </a:prstTxWarp>
            </a:bodyPr>
            <a:lstStyle/>
            <a:p>
              <a:pPr algn="ctr"/>
              <a:r>
                <a:rPr lang="en-IN" sz="3200" kern="10">
                  <a:ln w="9525">
                    <a:solidFill>
                      <a:srgbClr val="000000"/>
                    </a:solidFill>
                    <a:round/>
                    <a:headEnd/>
                    <a:tailEnd/>
                  </a:ln>
                  <a:solidFill>
                    <a:srgbClr val="990033"/>
                  </a:solidFill>
                  <a:latin typeface="Arial Black"/>
                </a:rPr>
                <a:t>String</a:t>
              </a:r>
            </a:p>
          </p:txBody>
        </p:sp>
        <p:sp>
          <p:nvSpPr>
            <p:cNvPr id="5136" name="Line 16"/>
            <p:cNvSpPr>
              <a:spLocks noChangeShapeType="1"/>
            </p:cNvSpPr>
            <p:nvPr/>
          </p:nvSpPr>
          <p:spPr bwMode="auto">
            <a:xfrm flipH="1">
              <a:off x="1680" y="864"/>
              <a:ext cx="1104" cy="384"/>
            </a:xfrm>
            <a:prstGeom prst="line">
              <a:avLst/>
            </a:prstGeom>
            <a:noFill/>
            <a:ln w="57150">
              <a:solidFill>
                <a:srgbClr val="800000"/>
              </a:solidFill>
              <a:round/>
              <a:headEnd/>
              <a:tailEnd type="triangle" w="med" len="med"/>
            </a:ln>
          </p:spPr>
          <p:txBody>
            <a:bodyPr/>
            <a:lstStyle/>
            <a:p>
              <a:endParaRPr lang="en-IN"/>
            </a:p>
          </p:txBody>
        </p:sp>
        <p:sp>
          <p:nvSpPr>
            <p:cNvPr id="5137" name="Line 17"/>
            <p:cNvSpPr>
              <a:spLocks noChangeShapeType="1"/>
            </p:cNvSpPr>
            <p:nvPr/>
          </p:nvSpPr>
          <p:spPr bwMode="auto">
            <a:xfrm>
              <a:off x="3168" y="864"/>
              <a:ext cx="1008" cy="384"/>
            </a:xfrm>
            <a:prstGeom prst="line">
              <a:avLst/>
            </a:prstGeom>
            <a:noFill/>
            <a:ln w="57150">
              <a:solidFill>
                <a:srgbClr val="800000"/>
              </a:solidFill>
              <a:round/>
              <a:headEnd/>
              <a:tailEnd type="triangle" w="med" len="med"/>
            </a:ln>
          </p:spPr>
          <p:txBody>
            <a:bodyPr/>
            <a:lstStyle/>
            <a:p>
              <a:endParaRPr lang="en-IN"/>
            </a:p>
          </p:txBody>
        </p:sp>
        <p:sp>
          <p:nvSpPr>
            <p:cNvPr id="5138" name="Line 18"/>
            <p:cNvSpPr>
              <a:spLocks noChangeShapeType="1"/>
            </p:cNvSpPr>
            <p:nvPr/>
          </p:nvSpPr>
          <p:spPr bwMode="auto">
            <a:xfrm flipH="1">
              <a:off x="672" y="1728"/>
              <a:ext cx="432" cy="432"/>
            </a:xfrm>
            <a:prstGeom prst="line">
              <a:avLst/>
            </a:prstGeom>
            <a:noFill/>
            <a:ln w="57150">
              <a:solidFill>
                <a:srgbClr val="800000"/>
              </a:solidFill>
              <a:round/>
              <a:headEnd/>
              <a:tailEnd type="triangle" w="med" len="med"/>
            </a:ln>
          </p:spPr>
          <p:txBody>
            <a:bodyPr/>
            <a:lstStyle/>
            <a:p>
              <a:endParaRPr lang="en-IN"/>
            </a:p>
          </p:txBody>
        </p:sp>
        <p:sp>
          <p:nvSpPr>
            <p:cNvPr id="5139" name="Line 19"/>
            <p:cNvSpPr>
              <a:spLocks noChangeShapeType="1"/>
            </p:cNvSpPr>
            <p:nvPr/>
          </p:nvSpPr>
          <p:spPr bwMode="auto">
            <a:xfrm>
              <a:off x="1431" y="1728"/>
              <a:ext cx="249" cy="432"/>
            </a:xfrm>
            <a:prstGeom prst="line">
              <a:avLst/>
            </a:prstGeom>
            <a:noFill/>
            <a:ln w="57150">
              <a:solidFill>
                <a:srgbClr val="800000"/>
              </a:solidFill>
              <a:round/>
              <a:headEnd/>
              <a:tailEnd type="triangle" w="med" len="med"/>
            </a:ln>
          </p:spPr>
          <p:txBody>
            <a:bodyPr/>
            <a:lstStyle/>
            <a:p>
              <a:endParaRPr lang="en-IN"/>
            </a:p>
          </p:txBody>
        </p:sp>
        <p:sp>
          <p:nvSpPr>
            <p:cNvPr id="5140" name="Line 20"/>
            <p:cNvSpPr>
              <a:spLocks noChangeShapeType="1"/>
            </p:cNvSpPr>
            <p:nvPr/>
          </p:nvSpPr>
          <p:spPr bwMode="auto">
            <a:xfrm flipH="1">
              <a:off x="3696" y="1728"/>
              <a:ext cx="432" cy="432"/>
            </a:xfrm>
            <a:prstGeom prst="line">
              <a:avLst/>
            </a:prstGeom>
            <a:noFill/>
            <a:ln w="57150">
              <a:solidFill>
                <a:srgbClr val="800000"/>
              </a:solidFill>
              <a:round/>
              <a:headEnd/>
              <a:tailEnd type="triangle" w="med" len="med"/>
            </a:ln>
          </p:spPr>
          <p:txBody>
            <a:bodyPr/>
            <a:lstStyle/>
            <a:p>
              <a:endParaRPr lang="en-IN"/>
            </a:p>
          </p:txBody>
        </p:sp>
        <p:sp>
          <p:nvSpPr>
            <p:cNvPr id="5141" name="Line 21"/>
            <p:cNvSpPr>
              <a:spLocks noChangeShapeType="1"/>
            </p:cNvSpPr>
            <p:nvPr/>
          </p:nvSpPr>
          <p:spPr bwMode="auto">
            <a:xfrm>
              <a:off x="4455" y="1728"/>
              <a:ext cx="249" cy="432"/>
            </a:xfrm>
            <a:prstGeom prst="line">
              <a:avLst/>
            </a:prstGeom>
            <a:noFill/>
            <a:ln w="57150">
              <a:solidFill>
                <a:srgbClr val="800000"/>
              </a:solidFill>
              <a:round/>
              <a:headEnd/>
              <a:tailEnd type="triangle" w="med" len="med"/>
            </a:ln>
          </p:spPr>
          <p:txBody>
            <a:bodyPr/>
            <a:lstStyle/>
            <a:p>
              <a:endParaRPr lang="en-IN"/>
            </a:p>
          </p:txBody>
        </p:sp>
        <p:sp>
          <p:nvSpPr>
            <p:cNvPr id="5142" name="AutoShape 22"/>
            <p:cNvSpPr>
              <a:spLocks noChangeArrowheads="1"/>
            </p:cNvSpPr>
            <p:nvPr/>
          </p:nvSpPr>
          <p:spPr bwMode="auto">
            <a:xfrm>
              <a:off x="192" y="2880"/>
              <a:ext cx="816" cy="576"/>
            </a:xfrm>
            <a:prstGeom prst="cloudCallout">
              <a:avLst>
                <a:gd name="adj1" fmla="val 5148"/>
                <a:gd name="adj2" fmla="val -114583"/>
              </a:avLst>
            </a:prstGeom>
            <a:solidFill>
              <a:schemeClr val="accent1"/>
            </a:solidFill>
            <a:ln w="38100">
              <a:solidFill>
                <a:srgbClr val="000099"/>
              </a:solidFill>
              <a:round/>
              <a:headEnd/>
              <a:tailEnd/>
            </a:ln>
          </p:spPr>
          <p:txBody>
            <a:bodyPr/>
            <a:lstStyle/>
            <a:p>
              <a:pPr algn="ctr"/>
              <a:r>
                <a:rPr lang="en-US" sz="2000" b="1">
                  <a:solidFill>
                    <a:srgbClr val="990033"/>
                  </a:solidFill>
                </a:rPr>
                <a:t>10</a:t>
              </a:r>
            </a:p>
            <a:p>
              <a:pPr algn="ctr"/>
              <a:r>
                <a:rPr lang="en-US" sz="2000" b="1">
                  <a:solidFill>
                    <a:srgbClr val="990033"/>
                  </a:solidFill>
                </a:rPr>
                <a:t>-356</a:t>
              </a:r>
            </a:p>
          </p:txBody>
        </p:sp>
        <p:sp>
          <p:nvSpPr>
            <p:cNvPr id="5143" name="AutoShape 23"/>
            <p:cNvSpPr>
              <a:spLocks noChangeArrowheads="1"/>
            </p:cNvSpPr>
            <p:nvPr/>
          </p:nvSpPr>
          <p:spPr bwMode="auto">
            <a:xfrm>
              <a:off x="1440" y="2832"/>
              <a:ext cx="1008" cy="576"/>
            </a:xfrm>
            <a:prstGeom prst="cloudCallout">
              <a:avLst>
                <a:gd name="adj1" fmla="val -5356"/>
                <a:gd name="adj2" fmla="val -114583"/>
              </a:avLst>
            </a:prstGeom>
            <a:solidFill>
              <a:schemeClr val="accent1"/>
            </a:solidFill>
            <a:ln w="38100">
              <a:solidFill>
                <a:srgbClr val="000099"/>
              </a:solidFill>
              <a:round/>
              <a:headEnd/>
              <a:tailEnd/>
            </a:ln>
          </p:spPr>
          <p:txBody>
            <a:bodyPr/>
            <a:lstStyle/>
            <a:p>
              <a:pPr algn="ctr"/>
              <a:r>
                <a:rPr lang="en-US" sz="2000" b="1">
                  <a:solidFill>
                    <a:srgbClr val="990033"/>
                  </a:solidFill>
                </a:rPr>
                <a:t>4600.5</a:t>
              </a:r>
            </a:p>
            <a:p>
              <a:pPr algn="ctr"/>
              <a:r>
                <a:rPr lang="en-US" sz="2000" b="1">
                  <a:solidFill>
                    <a:srgbClr val="990033"/>
                  </a:solidFill>
                </a:rPr>
                <a:t>-0.963</a:t>
              </a:r>
            </a:p>
          </p:txBody>
        </p:sp>
        <p:sp>
          <p:nvSpPr>
            <p:cNvPr id="5144" name="AutoShape 24"/>
            <p:cNvSpPr>
              <a:spLocks noChangeArrowheads="1"/>
            </p:cNvSpPr>
            <p:nvPr/>
          </p:nvSpPr>
          <p:spPr bwMode="auto">
            <a:xfrm>
              <a:off x="2880" y="2928"/>
              <a:ext cx="816" cy="576"/>
            </a:xfrm>
            <a:prstGeom prst="cloudCallout">
              <a:avLst>
                <a:gd name="adj1" fmla="val 5148"/>
                <a:gd name="adj2" fmla="val -114583"/>
              </a:avLst>
            </a:prstGeom>
            <a:solidFill>
              <a:schemeClr val="accent1"/>
            </a:solidFill>
            <a:ln w="38100">
              <a:solidFill>
                <a:srgbClr val="000099"/>
              </a:solidFill>
              <a:round/>
              <a:headEnd/>
              <a:tailEnd/>
            </a:ln>
          </p:spPr>
          <p:txBody>
            <a:bodyPr/>
            <a:lstStyle/>
            <a:p>
              <a:pPr algn="ctr"/>
              <a:r>
                <a:rPr lang="en-US" sz="2000" b="1">
                  <a:solidFill>
                    <a:srgbClr val="990033"/>
                  </a:solidFill>
                </a:rPr>
                <a:t>‘A’</a:t>
              </a:r>
            </a:p>
            <a:p>
              <a:pPr algn="ctr"/>
              <a:r>
                <a:rPr lang="en-US" sz="2400" b="1">
                  <a:solidFill>
                    <a:srgbClr val="990033"/>
                  </a:solidFill>
                </a:rPr>
                <a:t>‘*’</a:t>
              </a:r>
            </a:p>
          </p:txBody>
        </p:sp>
        <p:sp>
          <p:nvSpPr>
            <p:cNvPr id="5145" name="AutoShape 25"/>
            <p:cNvSpPr>
              <a:spLocks noChangeArrowheads="1"/>
            </p:cNvSpPr>
            <p:nvPr/>
          </p:nvSpPr>
          <p:spPr bwMode="auto">
            <a:xfrm>
              <a:off x="4368" y="2880"/>
              <a:ext cx="1008" cy="576"/>
            </a:xfrm>
            <a:prstGeom prst="cloudCallout">
              <a:avLst>
                <a:gd name="adj1" fmla="val 13690"/>
                <a:gd name="adj2" fmla="val -114583"/>
              </a:avLst>
            </a:prstGeom>
            <a:solidFill>
              <a:schemeClr val="accent1"/>
            </a:solidFill>
            <a:ln w="38100">
              <a:solidFill>
                <a:srgbClr val="000099"/>
              </a:solidFill>
              <a:round/>
              <a:headEnd/>
              <a:tailEnd/>
            </a:ln>
          </p:spPr>
          <p:txBody>
            <a:bodyPr/>
            <a:lstStyle/>
            <a:p>
              <a:pPr algn="ctr"/>
              <a:r>
                <a:rPr lang="en-US" sz="2000" b="1">
                  <a:solidFill>
                    <a:srgbClr val="990033"/>
                  </a:solidFill>
                </a:rPr>
                <a:t>“A”</a:t>
              </a:r>
            </a:p>
            <a:p>
              <a:pPr algn="ctr"/>
              <a:r>
                <a:rPr lang="en-US" sz="2000" b="1">
                  <a:solidFill>
                    <a:srgbClr val="990033"/>
                  </a:solidFill>
                </a:rPr>
                <a:t>“CSC”</a:t>
              </a:r>
            </a:p>
          </p:txBody>
        </p:sp>
      </p:gr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7170"/>
                                        </p:tgtEl>
                                        <p:attrNameLst>
                                          <p:attrName>style.visibility</p:attrName>
                                        </p:attrNameLst>
                                      </p:cBhvr>
                                      <p:to>
                                        <p:strVal val="visible"/>
                                      </p:to>
                                    </p:set>
                                    <p:animEffect transition="in" filter="fade">
                                      <p:cBhvr>
                                        <p:cTn id="7" dur="500"/>
                                        <p:tgtEl>
                                          <p:spTgt spid="7170"/>
                                        </p:tgtEl>
                                      </p:cBhvr>
                                    </p:animEffect>
                                    <p:anim calcmode="lin" valueType="num">
                                      <p:cBhvr>
                                        <p:cTn id="8" dur="500" fill="hold"/>
                                        <p:tgtEl>
                                          <p:spTgt spid="7170"/>
                                        </p:tgtEl>
                                        <p:attrNameLst>
                                          <p:attrName>ppt_x</p:attrName>
                                        </p:attrNameLst>
                                      </p:cBhvr>
                                      <p:tavLst>
                                        <p:tav tm="0">
                                          <p:val>
                                            <p:strVal val="#ppt_x"/>
                                          </p:val>
                                        </p:tav>
                                        <p:tav tm="100000">
                                          <p:val>
                                            <p:strVal val="#ppt_x"/>
                                          </p:val>
                                        </p:tav>
                                      </p:tavLst>
                                    </p:anim>
                                    <p:anim calcmode="lin" valueType="num">
                                      <p:cBhvr>
                                        <p:cTn id="9" dur="500" fill="hold"/>
                                        <p:tgtEl>
                                          <p:spTgt spid="7170"/>
                                        </p:tgtEl>
                                        <p:attrNameLst>
                                          <p:attrName>ppt_y</p:attrName>
                                        </p:attrNameLst>
                                      </p:cBhvr>
                                      <p:tavLst>
                                        <p:tav tm="0">
                                          <p:val>
                                            <p:strVal val="#ppt_y-.1"/>
                                          </p:val>
                                        </p:tav>
                                        <p:tav tm="100000">
                                          <p:val>
                                            <p:strVal val="#ppt_y"/>
                                          </p:val>
                                        </p:tav>
                                      </p:tavLst>
                                    </p:anim>
                                  </p:childTnLst>
                                </p:cTn>
                              </p:par>
                              <p:par>
                                <p:cTn id="10" presetID="17" presetClass="entr" presetSubtype="1" fill="hold" nodeType="with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ppt_x</p:attrName>
                                        </p:attrNameLst>
                                      </p:cBhvr>
                                      <p:tavLst>
                                        <p:tav tm="0">
                                          <p:val>
                                            <p:strVal val="#ppt_x"/>
                                          </p:val>
                                        </p:tav>
                                        <p:tav tm="100000">
                                          <p:val>
                                            <p:strVal val="#ppt_x"/>
                                          </p:val>
                                        </p:tav>
                                      </p:tavLst>
                                    </p:anim>
                                    <p:anim calcmode="lin" valueType="num">
                                      <p:cBhvr>
                                        <p:cTn id="13" dur="500" fill="hold"/>
                                        <p:tgtEl>
                                          <p:spTgt spid="2"/>
                                        </p:tgtEl>
                                        <p:attrNameLst>
                                          <p:attrName>ppt_y</p:attrName>
                                        </p:attrNameLst>
                                      </p:cBhvr>
                                      <p:tavLst>
                                        <p:tav tm="0">
                                          <p:val>
                                            <p:strVal val="#ppt_y-#ppt_h/2"/>
                                          </p:val>
                                        </p:tav>
                                        <p:tav tm="100000">
                                          <p:val>
                                            <p:strVal val="#ppt_y"/>
                                          </p:val>
                                        </p:tav>
                                      </p:tavLst>
                                    </p:anim>
                                    <p:anim calcmode="lin" valueType="num">
                                      <p:cBhvr>
                                        <p:cTn id="14" dur="500" fill="hold"/>
                                        <p:tgtEl>
                                          <p:spTgt spid="2"/>
                                        </p:tgtEl>
                                        <p:attrNameLst>
                                          <p:attrName>ppt_w</p:attrName>
                                        </p:attrNameLst>
                                      </p:cBhvr>
                                      <p:tavLst>
                                        <p:tav tm="0">
                                          <p:val>
                                            <p:strVal val="#ppt_w"/>
                                          </p:val>
                                        </p:tav>
                                        <p:tav tm="100000">
                                          <p:val>
                                            <p:strVal val="#ppt_w"/>
                                          </p:val>
                                        </p:tav>
                                      </p:tavLst>
                                    </p:anim>
                                    <p:anim calcmode="lin" valueType="num">
                                      <p:cBhvr>
                                        <p:cTn id="15"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ChangeArrowheads="1"/>
          </p:cNvSpPr>
          <p:nvPr/>
        </p:nvSpPr>
        <p:spPr bwMode="auto">
          <a:xfrm>
            <a:off x="3657600" y="3352800"/>
            <a:ext cx="3962400" cy="5334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6147" name="Text Box 3"/>
          <p:cNvSpPr txBox="1">
            <a:spLocks noChangeArrowheads="1"/>
          </p:cNvSpPr>
          <p:nvPr/>
        </p:nvSpPr>
        <p:spPr bwMode="auto">
          <a:xfrm>
            <a:off x="457200" y="1447800"/>
            <a:ext cx="8229600" cy="822325"/>
          </a:xfrm>
          <a:prstGeom prst="rect">
            <a:avLst/>
          </a:prstGeom>
          <a:noFill/>
          <a:ln w="9525">
            <a:noFill/>
            <a:miter lim="800000"/>
            <a:headEnd/>
            <a:tailEnd/>
          </a:ln>
        </p:spPr>
        <p:txBody>
          <a:bodyPr>
            <a:spAutoFit/>
          </a:bodyPr>
          <a:lstStyle/>
          <a:p>
            <a:pPr algn="just"/>
            <a:r>
              <a:rPr lang="en-US" sz="2400" b="1">
                <a:solidFill>
                  <a:srgbClr val="990033"/>
                </a:solidFill>
                <a:latin typeface="Times New Roman" pitchFamily="18" charset="0"/>
                <a:cs typeface="Times New Roman" pitchFamily="18" charset="0"/>
              </a:rPr>
              <a:t> Variables are named locations in memory that are used to </a:t>
            </a:r>
            <a:br>
              <a:rPr lang="en-US" sz="2400" b="1">
                <a:solidFill>
                  <a:srgbClr val="990033"/>
                </a:solidFill>
                <a:latin typeface="Times New Roman" pitchFamily="18" charset="0"/>
                <a:cs typeface="Times New Roman" pitchFamily="18" charset="0"/>
              </a:rPr>
            </a:br>
            <a:r>
              <a:rPr lang="en-US" sz="2400" b="1">
                <a:solidFill>
                  <a:srgbClr val="990033"/>
                </a:solidFill>
                <a:latin typeface="Times New Roman" pitchFamily="18" charset="0"/>
                <a:cs typeface="Times New Roman" pitchFamily="18" charset="0"/>
              </a:rPr>
              <a:t>          hold a value that may be modified by the program.</a:t>
            </a:r>
          </a:p>
        </p:txBody>
      </p:sp>
      <p:sp>
        <p:nvSpPr>
          <p:cNvPr id="8196" name="WordArt 4"/>
          <p:cNvSpPr>
            <a:spLocks noChangeArrowheads="1" noChangeShapeType="1" noTextEdit="1"/>
          </p:cNvSpPr>
          <p:nvPr/>
        </p:nvSpPr>
        <p:spPr bwMode="auto">
          <a:xfrm>
            <a:off x="2819400" y="533400"/>
            <a:ext cx="3581400" cy="609600"/>
          </a:xfrm>
          <a:prstGeom prst="rect">
            <a:avLst/>
          </a:prstGeom>
        </p:spPr>
        <p:txBody>
          <a:bodyPr wrap="none" fromWordArt="1">
            <a:prstTxWarp prst="textCanUp">
              <a:avLst>
                <a:gd name="adj" fmla="val 85713"/>
              </a:avLst>
            </a:prstTxWarp>
          </a:bodyPr>
          <a:lstStyle/>
          <a:p>
            <a:pPr algn="ctr"/>
            <a:r>
              <a:rPr lang="en-IN" sz="3600" i="1" kern="10">
                <a:ln w="9525">
                  <a:solidFill>
                    <a:srgbClr val="000000"/>
                  </a:solidFill>
                  <a:round/>
                  <a:headEnd/>
                  <a:tailEnd/>
                </a:ln>
                <a:solidFill>
                  <a:srgbClr val="FF0066"/>
                </a:solidFill>
                <a:latin typeface="Arial Black"/>
              </a:rPr>
              <a:t>VARIABLES</a:t>
            </a:r>
          </a:p>
        </p:txBody>
      </p:sp>
      <p:sp>
        <p:nvSpPr>
          <p:cNvPr id="6149" name="Rectangle 8"/>
          <p:cNvSpPr>
            <a:spLocks noChangeArrowheads="1"/>
          </p:cNvSpPr>
          <p:nvPr/>
        </p:nvSpPr>
        <p:spPr bwMode="auto">
          <a:xfrm>
            <a:off x="3124200" y="2667000"/>
            <a:ext cx="5867400" cy="457200"/>
          </a:xfrm>
          <a:prstGeom prst="rect">
            <a:avLst/>
          </a:prstGeom>
          <a:noFill/>
          <a:ln w="9525">
            <a:noFill/>
            <a:miter lim="800000"/>
            <a:headEnd/>
            <a:tailEnd/>
          </a:ln>
        </p:spPr>
        <p:txBody>
          <a:bodyPr>
            <a:spAutoFit/>
          </a:bodyPr>
          <a:lstStyle/>
          <a:p>
            <a:pPr>
              <a:buFontTx/>
              <a:buBlip>
                <a:blip r:embed="rId2"/>
              </a:buBlip>
            </a:pPr>
            <a:r>
              <a:rPr lang="en-US" sz="2200" b="1">
                <a:solidFill>
                  <a:srgbClr val="990033"/>
                </a:solidFill>
              </a:rPr>
              <a:t>The syntax for declaring a variable is</a:t>
            </a:r>
            <a:r>
              <a:rPr lang="en-US" sz="2400" b="1">
                <a:solidFill>
                  <a:srgbClr val="990033"/>
                </a:solidFill>
              </a:rPr>
              <a:t> </a:t>
            </a:r>
          </a:p>
        </p:txBody>
      </p:sp>
      <p:sp>
        <p:nvSpPr>
          <p:cNvPr id="6150" name="Text Box 9"/>
          <p:cNvSpPr txBox="1">
            <a:spLocks noChangeArrowheads="1"/>
          </p:cNvSpPr>
          <p:nvPr/>
        </p:nvSpPr>
        <p:spPr bwMode="auto">
          <a:xfrm>
            <a:off x="3810000" y="3352800"/>
            <a:ext cx="3810000" cy="457200"/>
          </a:xfrm>
          <a:prstGeom prst="rect">
            <a:avLst/>
          </a:prstGeom>
          <a:noFill/>
          <a:ln w="9525">
            <a:noFill/>
            <a:miter lim="800000"/>
            <a:headEnd/>
            <a:tailEnd/>
          </a:ln>
        </p:spPr>
        <p:txBody>
          <a:bodyPr>
            <a:spAutoFit/>
          </a:bodyPr>
          <a:lstStyle/>
          <a:p>
            <a:pPr>
              <a:spcBef>
                <a:spcPct val="50000"/>
              </a:spcBef>
            </a:pPr>
            <a:r>
              <a:rPr lang="en-US" sz="2400" b="1">
                <a:solidFill>
                  <a:srgbClr val="000099"/>
                </a:solidFill>
              </a:rPr>
              <a:t>Data type  Variablename;</a:t>
            </a:r>
          </a:p>
        </p:txBody>
      </p:sp>
      <p:sp>
        <p:nvSpPr>
          <p:cNvPr id="6151" name="Rectangle 10"/>
          <p:cNvSpPr>
            <a:spLocks noChangeArrowheads="1"/>
          </p:cNvSpPr>
          <p:nvPr/>
        </p:nvSpPr>
        <p:spPr bwMode="auto">
          <a:xfrm>
            <a:off x="3200400" y="4114800"/>
            <a:ext cx="5867400" cy="1196975"/>
          </a:xfrm>
          <a:prstGeom prst="rect">
            <a:avLst/>
          </a:prstGeom>
          <a:noFill/>
          <a:ln w="9525">
            <a:solidFill>
              <a:srgbClr val="FF0000"/>
            </a:solidFill>
            <a:miter lim="800000"/>
            <a:headEnd/>
            <a:tailEnd/>
          </a:ln>
        </p:spPr>
        <p:txBody>
          <a:bodyPr>
            <a:spAutoFit/>
          </a:bodyPr>
          <a:lstStyle/>
          <a:p>
            <a:r>
              <a:rPr lang="en-US" sz="2400" b="1" i="1" u="sng">
                <a:solidFill>
                  <a:srgbClr val="FF0000"/>
                </a:solidFill>
              </a:rPr>
              <a:t>Valid Examples :</a:t>
            </a:r>
          </a:p>
          <a:p>
            <a:r>
              <a:rPr lang="en-US" sz="2400" b="1">
                <a:solidFill>
                  <a:schemeClr val="tx2"/>
                </a:solidFill>
              </a:rPr>
              <a:t>	</a:t>
            </a:r>
            <a:r>
              <a:rPr lang="en-US" sz="2400" b="1">
                <a:solidFill>
                  <a:srgbClr val="000099"/>
                </a:solidFill>
              </a:rPr>
              <a:t>CSC		avg_val	m1		Chennai 	Anu		mark_1</a:t>
            </a:r>
          </a:p>
        </p:txBody>
      </p:sp>
      <p:sp>
        <p:nvSpPr>
          <p:cNvPr id="8203" name="Text Box 11"/>
          <p:cNvSpPr txBox="1">
            <a:spLocks noChangeArrowheads="1"/>
          </p:cNvSpPr>
          <p:nvPr/>
        </p:nvSpPr>
        <p:spPr bwMode="auto">
          <a:xfrm>
            <a:off x="685800" y="5486400"/>
            <a:ext cx="5257800" cy="457200"/>
          </a:xfrm>
          <a:prstGeom prst="rect">
            <a:avLst/>
          </a:prstGeom>
          <a:noFill/>
          <a:ln w="9525">
            <a:noFill/>
            <a:miter lim="800000"/>
            <a:headEnd/>
            <a:tailEnd/>
          </a:ln>
        </p:spPr>
        <p:txBody>
          <a:bodyPr>
            <a:spAutoFit/>
          </a:bodyPr>
          <a:lstStyle/>
          <a:p>
            <a:r>
              <a:rPr lang="en-US" sz="2400" b="1">
                <a:solidFill>
                  <a:srgbClr val="990033"/>
                </a:solidFill>
                <a:latin typeface="Times New Roman" pitchFamily="18" charset="0"/>
                <a:cs typeface="Times New Roman" pitchFamily="18" charset="0"/>
              </a:rPr>
              <a:t> Some erroneous identifier names are -</a:t>
            </a:r>
          </a:p>
        </p:txBody>
      </p:sp>
      <p:sp>
        <p:nvSpPr>
          <p:cNvPr id="8204" name="Text Box 12"/>
          <p:cNvSpPr txBox="1">
            <a:spLocks noChangeArrowheads="1"/>
          </p:cNvSpPr>
          <p:nvPr/>
        </p:nvSpPr>
        <p:spPr bwMode="auto">
          <a:xfrm>
            <a:off x="5943600" y="5486400"/>
            <a:ext cx="2057400" cy="1187450"/>
          </a:xfrm>
          <a:prstGeom prst="rect">
            <a:avLst/>
          </a:prstGeom>
          <a:noFill/>
          <a:ln w="9525">
            <a:noFill/>
            <a:miter lim="800000"/>
            <a:headEnd/>
            <a:tailEnd/>
          </a:ln>
        </p:spPr>
        <p:txBody>
          <a:bodyPr>
            <a:spAutoFit/>
          </a:bodyPr>
          <a:lstStyle/>
          <a:p>
            <a:r>
              <a:rPr lang="en-US" sz="2400" b="1">
                <a:solidFill>
                  <a:srgbClr val="000099"/>
                </a:solidFill>
                <a:latin typeface="Times New Roman" pitchFamily="18" charset="0"/>
                <a:cs typeface="Times New Roman" pitchFamily="18" charset="0"/>
              </a:rPr>
              <a:t>1stsst</a:t>
            </a:r>
          </a:p>
          <a:p>
            <a:r>
              <a:rPr lang="en-US" sz="2400" b="1">
                <a:solidFill>
                  <a:srgbClr val="000099"/>
                </a:solidFill>
                <a:latin typeface="Times New Roman" pitchFamily="18" charset="0"/>
                <a:cs typeface="Times New Roman" pitchFamily="18" charset="0"/>
              </a:rPr>
              <a:t>oh!god</a:t>
            </a:r>
          </a:p>
          <a:p>
            <a:r>
              <a:rPr lang="en-US" sz="2400" b="1">
                <a:solidFill>
                  <a:srgbClr val="000099"/>
                </a:solidFill>
                <a:latin typeface="Times New Roman" pitchFamily="18" charset="0"/>
                <a:cs typeface="Times New Roman" pitchFamily="18" charset="0"/>
              </a:rPr>
              <a:t>start….end</a:t>
            </a:r>
          </a:p>
        </p:txBody>
      </p:sp>
    </p:spTree>
  </p:cSld>
  <p:clrMapOvr>
    <a:masterClrMapping/>
  </p:clrMapOvr>
  <p:transition spd="med">
    <p:pull dir="l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mph" presetSubtype="0" fill="hold" grpId="0" nodeType="withEffect">
                                  <p:stCondLst>
                                    <p:cond delay="0"/>
                                  </p:stCondLst>
                                  <p:childTnLst>
                                    <p:animClr clrSpc="rgb" dir="cw">
                                      <p:cBhvr override="childStyle">
                                        <p:cTn id="6" dur="1900" fill="hold">
                                          <p:stCondLst>
                                            <p:cond delay="100"/>
                                          </p:stCondLst>
                                        </p:cTn>
                                        <p:tgtEl>
                                          <p:spTgt spid="8196"/>
                                        </p:tgtEl>
                                        <p:attrNameLst>
                                          <p:attrName>style.color</p:attrName>
                                        </p:attrNameLst>
                                      </p:cBhvr>
                                      <p:to>
                                        <a:schemeClr val="accent2"/>
                                      </p:to>
                                    </p:animClr>
                                    <p:animClr clrSpc="rgb" dir="cw">
                                      <p:cBhvr>
                                        <p:cTn id="7" dur="1900" fill="hold">
                                          <p:stCondLst>
                                            <p:cond delay="100"/>
                                          </p:stCondLst>
                                        </p:cTn>
                                        <p:tgtEl>
                                          <p:spTgt spid="8196"/>
                                        </p:tgtEl>
                                        <p:attrNameLst>
                                          <p:attrName>fillColor</p:attrName>
                                        </p:attrNameLst>
                                      </p:cBhvr>
                                      <p:to>
                                        <a:schemeClr val="accent2"/>
                                      </p:to>
                                    </p:animClr>
                                    <p:set>
                                      <p:cBhvr>
                                        <p:cTn id="8" dur="1900" fill="hold">
                                          <p:stCondLst>
                                            <p:cond delay="100"/>
                                          </p:stCondLst>
                                        </p:cTn>
                                        <p:tgtEl>
                                          <p:spTgt spid="8196"/>
                                        </p:tgtEl>
                                        <p:attrNameLst>
                                          <p:attrName>fill.type</p:attrName>
                                        </p:attrNameLst>
                                      </p:cBhvr>
                                      <p:to>
                                        <p:strVal val="solid"/>
                                      </p:to>
                                    </p:set>
                                    <p:set>
                                      <p:cBhvr>
                                        <p:cTn id="9" dur="1900" fill="hold">
                                          <p:stCondLst>
                                            <p:cond delay="100"/>
                                          </p:stCondLst>
                                        </p:cTn>
                                        <p:tgtEl>
                                          <p:spTgt spid="8196"/>
                                        </p:tgtEl>
                                        <p:attrNameLst>
                                          <p:attrName>fill.on</p:attrName>
                                        </p:attrNameLst>
                                      </p:cBhvr>
                                      <p:to>
                                        <p:strVal val="true"/>
                                      </p:to>
                                    </p:set>
                                    <p:animScale>
                                      <p:cBhvr>
                                        <p:cTn id="10" dur="200" fill="hold">
                                          <p:stCondLst>
                                            <p:cond delay="0"/>
                                          </p:stCondLst>
                                        </p:cTn>
                                        <p:tgtEl>
                                          <p:spTgt spid="8196"/>
                                        </p:tgtEl>
                                      </p:cBhvr>
                                      <p:from x="100000" y="100000"/>
                                      <p:to x="100000" y="5000"/>
                                    </p:animScale>
                                    <p:animScale>
                                      <p:cBhvr>
                                        <p:cTn id="11" dur="200" fill="hold">
                                          <p:stCondLst>
                                            <p:cond delay="200"/>
                                          </p:stCondLst>
                                        </p:cTn>
                                        <p:tgtEl>
                                          <p:spTgt spid="8196"/>
                                        </p:tgtEl>
                                      </p:cBhvr>
                                      <p:from x="100000" y="5000"/>
                                      <p:to x="120000" y="150000"/>
                                    </p:animScale>
                                    <p:animScale>
                                      <p:cBhvr>
                                        <p:cTn id="12" dur="600" fill="hold">
                                          <p:stCondLst>
                                            <p:cond delay="1400"/>
                                          </p:stCondLst>
                                        </p:cTn>
                                        <p:tgtEl>
                                          <p:spTgt spid="8196"/>
                                        </p:tgtEl>
                                      </p:cBhvr>
                                      <p:to x="120000" y="150000"/>
                                    </p:animScale>
                                  </p:childTnLst>
                                </p:cTn>
                              </p:par>
                              <p:par>
                                <p:cTn id="13" presetID="23" presetClass="entr" presetSubtype="16" fill="hold" grpId="0" nodeType="withEffect">
                                  <p:stCondLst>
                                    <p:cond delay="0"/>
                                  </p:stCondLst>
                                  <p:childTnLst>
                                    <p:set>
                                      <p:cBhvr>
                                        <p:cTn id="14" dur="1" fill="hold">
                                          <p:stCondLst>
                                            <p:cond delay="0"/>
                                          </p:stCondLst>
                                        </p:cTn>
                                        <p:tgtEl>
                                          <p:spTgt spid="8203"/>
                                        </p:tgtEl>
                                        <p:attrNameLst>
                                          <p:attrName>style.visibility</p:attrName>
                                        </p:attrNameLst>
                                      </p:cBhvr>
                                      <p:to>
                                        <p:strVal val="visible"/>
                                      </p:to>
                                    </p:set>
                                    <p:anim calcmode="lin" valueType="num">
                                      <p:cBhvr>
                                        <p:cTn id="15" dur="500" fill="hold"/>
                                        <p:tgtEl>
                                          <p:spTgt spid="8203"/>
                                        </p:tgtEl>
                                        <p:attrNameLst>
                                          <p:attrName>ppt_w</p:attrName>
                                        </p:attrNameLst>
                                      </p:cBhvr>
                                      <p:tavLst>
                                        <p:tav tm="0">
                                          <p:val>
                                            <p:fltVal val="0"/>
                                          </p:val>
                                        </p:tav>
                                        <p:tav tm="100000">
                                          <p:val>
                                            <p:strVal val="#ppt_w"/>
                                          </p:val>
                                        </p:tav>
                                      </p:tavLst>
                                    </p:anim>
                                    <p:anim calcmode="lin" valueType="num">
                                      <p:cBhvr>
                                        <p:cTn id="16" dur="500" fill="hold"/>
                                        <p:tgtEl>
                                          <p:spTgt spid="8203"/>
                                        </p:tgtEl>
                                        <p:attrNameLst>
                                          <p:attrName>ppt_h</p:attrName>
                                        </p:attrNameLst>
                                      </p:cBhvr>
                                      <p:tavLst>
                                        <p:tav tm="0">
                                          <p:val>
                                            <p:fltVal val="0"/>
                                          </p:val>
                                        </p:tav>
                                        <p:tav tm="100000">
                                          <p:val>
                                            <p:strVal val="#ppt_h"/>
                                          </p:val>
                                        </p:tav>
                                      </p:tavLst>
                                    </p:anim>
                                  </p:childTnLst>
                                </p:cTn>
                              </p:par>
                              <p:par>
                                <p:cTn id="17" presetID="23" presetClass="entr" presetSubtype="16" fill="hold" grpId="0" nodeType="withEffect">
                                  <p:stCondLst>
                                    <p:cond delay="0"/>
                                  </p:stCondLst>
                                  <p:childTnLst>
                                    <p:set>
                                      <p:cBhvr>
                                        <p:cTn id="18" dur="1" fill="hold">
                                          <p:stCondLst>
                                            <p:cond delay="0"/>
                                          </p:stCondLst>
                                        </p:cTn>
                                        <p:tgtEl>
                                          <p:spTgt spid="8204"/>
                                        </p:tgtEl>
                                        <p:attrNameLst>
                                          <p:attrName>style.visibility</p:attrName>
                                        </p:attrNameLst>
                                      </p:cBhvr>
                                      <p:to>
                                        <p:strVal val="visible"/>
                                      </p:to>
                                    </p:set>
                                    <p:anim calcmode="lin" valueType="num">
                                      <p:cBhvr>
                                        <p:cTn id="19" dur="500" fill="hold"/>
                                        <p:tgtEl>
                                          <p:spTgt spid="8204"/>
                                        </p:tgtEl>
                                        <p:attrNameLst>
                                          <p:attrName>ppt_w</p:attrName>
                                        </p:attrNameLst>
                                      </p:cBhvr>
                                      <p:tavLst>
                                        <p:tav tm="0">
                                          <p:val>
                                            <p:fltVal val="0"/>
                                          </p:val>
                                        </p:tav>
                                        <p:tav tm="100000">
                                          <p:val>
                                            <p:strVal val="#ppt_w"/>
                                          </p:val>
                                        </p:tav>
                                      </p:tavLst>
                                    </p:anim>
                                    <p:anim calcmode="lin" valueType="num">
                                      <p:cBhvr>
                                        <p:cTn id="20" dur="500" fill="hold"/>
                                        <p:tgtEl>
                                          <p:spTgt spid="820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6" grpId="0" animBg="1"/>
      <p:bldP spid="8203" grpId="0" autoUpdateAnimBg="0"/>
      <p:bldP spid="8204"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p:cNvSpPr txBox="1">
            <a:spLocks noChangeArrowheads="1"/>
          </p:cNvSpPr>
          <p:nvPr/>
        </p:nvSpPr>
        <p:spPr bwMode="auto">
          <a:xfrm>
            <a:off x="762000" y="381000"/>
            <a:ext cx="7162800" cy="519113"/>
          </a:xfrm>
          <a:prstGeom prst="rect">
            <a:avLst/>
          </a:prstGeom>
          <a:solidFill>
            <a:srgbClr val="000099"/>
          </a:solidFill>
          <a:ln w="9525">
            <a:noFill/>
            <a:miter lim="800000"/>
            <a:headEnd/>
            <a:tailEnd/>
          </a:ln>
        </p:spPr>
        <p:txBody>
          <a:bodyPr>
            <a:spAutoFit/>
          </a:bodyPr>
          <a:lstStyle/>
          <a:p>
            <a:pPr algn="ctr">
              <a:spcBef>
                <a:spcPct val="50000"/>
              </a:spcBef>
            </a:pPr>
            <a:r>
              <a:rPr lang="en-US" sz="2800">
                <a:solidFill>
                  <a:schemeClr val="bg1"/>
                </a:solidFill>
                <a:latin typeface="Arial Black" pitchFamily="34" charset="0"/>
              </a:rPr>
              <a:t>RULES for framing a variable :</a:t>
            </a:r>
          </a:p>
        </p:txBody>
      </p:sp>
      <p:sp>
        <p:nvSpPr>
          <p:cNvPr id="9219" name="AutoShape 3"/>
          <p:cNvSpPr>
            <a:spLocks/>
          </p:cNvSpPr>
          <p:nvPr/>
        </p:nvSpPr>
        <p:spPr bwMode="auto">
          <a:xfrm>
            <a:off x="685800" y="1293813"/>
            <a:ext cx="8001000" cy="4954587"/>
          </a:xfrm>
          <a:prstGeom prst="borderCallout1">
            <a:avLst>
              <a:gd name="adj1" fmla="val -1537"/>
              <a:gd name="adj2" fmla="val 98569"/>
              <a:gd name="adj3" fmla="val -1537"/>
              <a:gd name="adj4" fmla="val 5792"/>
            </a:avLst>
          </a:prstGeom>
          <a:solidFill>
            <a:schemeClr val="accent1"/>
          </a:solidFill>
          <a:ln w="9525">
            <a:solidFill>
              <a:schemeClr val="tx1"/>
            </a:solidFill>
            <a:miter lim="800000"/>
            <a:headEnd/>
            <a:tailEnd/>
          </a:ln>
        </p:spPr>
        <p:txBody>
          <a:bodyPr/>
          <a:lstStyle/>
          <a:p>
            <a:pPr>
              <a:lnSpc>
                <a:spcPct val="155000"/>
              </a:lnSpc>
              <a:buFontTx/>
              <a:buBlip>
                <a:blip r:embed="rId2"/>
              </a:buBlip>
            </a:pPr>
            <a:r>
              <a:rPr lang="en-US" sz="2000" b="1"/>
              <a:t> </a:t>
            </a:r>
            <a:r>
              <a:rPr lang="en-US" sz="2000" b="1">
                <a:solidFill>
                  <a:srgbClr val="CC3300"/>
                </a:solidFill>
              </a:rPr>
              <a:t>The first character in the Variable name must be an alphabet </a:t>
            </a:r>
          </a:p>
          <a:p>
            <a:pPr>
              <a:lnSpc>
                <a:spcPct val="155000"/>
              </a:lnSpc>
              <a:buFontTx/>
              <a:buBlip>
                <a:blip r:embed="rId2"/>
              </a:buBlip>
            </a:pPr>
            <a:r>
              <a:rPr lang="en-US" sz="2000" b="1">
                <a:solidFill>
                  <a:srgbClr val="CC3300"/>
                </a:solidFill>
              </a:rPr>
              <a:t> Alphabets can be followed by a number of digits or underscores</a:t>
            </a:r>
          </a:p>
          <a:p>
            <a:pPr>
              <a:lnSpc>
                <a:spcPct val="155000"/>
              </a:lnSpc>
              <a:buFontTx/>
              <a:buBlip>
                <a:blip r:embed="rId2"/>
              </a:buBlip>
            </a:pPr>
            <a:r>
              <a:rPr lang="en-US" sz="2000" b="1">
                <a:solidFill>
                  <a:srgbClr val="CC3300"/>
                </a:solidFill>
              </a:rPr>
              <a:t> No commas or Blank spaces are allowed within a variable name</a:t>
            </a:r>
          </a:p>
          <a:p>
            <a:pPr>
              <a:lnSpc>
                <a:spcPct val="155000"/>
              </a:lnSpc>
              <a:buFontTx/>
              <a:buBlip>
                <a:blip r:embed="rId2"/>
              </a:buBlip>
            </a:pPr>
            <a:r>
              <a:rPr lang="en-US" sz="2000" b="1">
                <a:solidFill>
                  <a:srgbClr val="CC3300"/>
                </a:solidFill>
              </a:rPr>
              <a:t> No Special character other than Underscore(_)  can be used in a   variable name.</a:t>
            </a:r>
          </a:p>
          <a:p>
            <a:pPr>
              <a:lnSpc>
                <a:spcPct val="155000"/>
              </a:lnSpc>
              <a:buFontTx/>
              <a:buBlip>
                <a:blip r:embed="rId2"/>
              </a:buBlip>
            </a:pPr>
            <a:r>
              <a:rPr lang="en-US" sz="2000" b="1">
                <a:solidFill>
                  <a:srgbClr val="CC3300"/>
                </a:solidFill>
              </a:rPr>
              <a:t> The variable name should not be a keyword</a:t>
            </a:r>
          </a:p>
          <a:p>
            <a:pPr>
              <a:lnSpc>
                <a:spcPct val="155000"/>
              </a:lnSpc>
              <a:buFontTx/>
              <a:buBlip>
                <a:blip r:embed="rId2"/>
              </a:buBlip>
            </a:pPr>
            <a:r>
              <a:rPr lang="en-US" sz="2000" b="1">
                <a:solidFill>
                  <a:srgbClr val="CC3300"/>
                </a:solidFill>
              </a:rPr>
              <a:t>  Variable names are case sensitive</a:t>
            </a:r>
          </a:p>
          <a:p>
            <a:pPr>
              <a:lnSpc>
                <a:spcPct val="155000"/>
              </a:lnSpc>
              <a:buFontTx/>
              <a:buBlip>
                <a:blip r:embed="rId2"/>
              </a:buBlip>
            </a:pPr>
            <a:r>
              <a:rPr lang="en-US" sz="2000" b="1">
                <a:solidFill>
                  <a:srgbClr val="CC3300"/>
                </a:solidFill>
              </a:rPr>
              <a:t>  It should not be of length more than 31 characters</a:t>
            </a:r>
          </a:p>
        </p:txBody>
      </p:sp>
    </p:spTree>
  </p:cSld>
  <p:clrMapOvr>
    <a:masterClrMapping/>
  </p:clrMapOvr>
  <p:transition spd="med">
    <p:split orient="ver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withEffect">
                                  <p:stCondLst>
                                    <p:cond delay="0"/>
                                  </p:stCondLst>
                                  <p:childTnLst>
                                    <p:set>
                                      <p:cBhvr>
                                        <p:cTn id="6" dur="1" fill="hold">
                                          <p:stCondLst>
                                            <p:cond delay="0"/>
                                          </p:stCondLst>
                                        </p:cTn>
                                        <p:tgtEl>
                                          <p:spTgt spid="9218"/>
                                        </p:tgtEl>
                                        <p:attrNameLst>
                                          <p:attrName>style.visibility</p:attrName>
                                        </p:attrNameLst>
                                      </p:cBhvr>
                                      <p:to>
                                        <p:strVal val="visible"/>
                                      </p:to>
                                    </p:set>
                                    <p:animEffect transition="in" filter="strips(downRight)">
                                      <p:cBhvr>
                                        <p:cTn id="7" dur="500"/>
                                        <p:tgtEl>
                                          <p:spTgt spid="9218"/>
                                        </p:tgtEl>
                                      </p:cBhvr>
                                    </p:animEffect>
                                  </p:childTnLst>
                                </p:cTn>
                              </p:par>
                              <p:par>
                                <p:cTn id="8" presetID="26" presetClass="entr" presetSubtype="0" fill="hold" grpId="0" nodeType="withEffect">
                                  <p:stCondLst>
                                    <p:cond delay="0"/>
                                  </p:stCondLst>
                                  <p:childTnLst>
                                    <p:set>
                                      <p:cBhvr>
                                        <p:cTn id="9" dur="1" fill="hold">
                                          <p:stCondLst>
                                            <p:cond delay="0"/>
                                          </p:stCondLst>
                                        </p:cTn>
                                        <p:tgtEl>
                                          <p:spTgt spid="9219"/>
                                        </p:tgtEl>
                                        <p:attrNameLst>
                                          <p:attrName>style.visibility</p:attrName>
                                        </p:attrNameLst>
                                      </p:cBhvr>
                                      <p:to>
                                        <p:strVal val="visible"/>
                                      </p:to>
                                    </p:set>
                                    <p:animEffect transition="in" filter="wipe(down)">
                                      <p:cBhvr>
                                        <p:cTn id="10" dur="580">
                                          <p:stCondLst>
                                            <p:cond delay="0"/>
                                          </p:stCondLst>
                                        </p:cTn>
                                        <p:tgtEl>
                                          <p:spTgt spid="9219"/>
                                        </p:tgtEl>
                                      </p:cBhvr>
                                    </p:animEffect>
                                    <p:anim calcmode="lin" valueType="num">
                                      <p:cBhvr>
                                        <p:cTn id="11" dur="1822" tmFilter="0,0; 0.14,0.36; 0.43,0.73; 0.71,0.91; 1.0,1.0">
                                          <p:stCondLst>
                                            <p:cond delay="0"/>
                                          </p:stCondLst>
                                        </p:cTn>
                                        <p:tgtEl>
                                          <p:spTgt spid="9219"/>
                                        </p:tgtEl>
                                        <p:attrNameLst>
                                          <p:attrName>ppt_x</p:attrName>
                                        </p:attrNameLst>
                                      </p:cBhvr>
                                      <p:tavLst>
                                        <p:tav tm="0">
                                          <p:val>
                                            <p:strVal val="#ppt_x-0.25"/>
                                          </p:val>
                                        </p:tav>
                                        <p:tav tm="100000">
                                          <p:val>
                                            <p:strVal val="#ppt_x"/>
                                          </p:val>
                                        </p:tav>
                                      </p:tavLst>
                                    </p:anim>
                                    <p:anim calcmode="lin" valueType="num">
                                      <p:cBhvr>
                                        <p:cTn id="12" dur="664" tmFilter="0.0,0.0; 0.25,0.07; 0.50,0.2; 0.75,0.467; 1.0,1.0">
                                          <p:stCondLst>
                                            <p:cond delay="0"/>
                                          </p:stCondLst>
                                        </p:cTn>
                                        <p:tgtEl>
                                          <p:spTgt spid="9219"/>
                                        </p:tgtEl>
                                        <p:attrNameLst>
                                          <p:attrName>ppt_y</p:attrName>
                                        </p:attrNameLst>
                                      </p:cBhvr>
                                      <p:tavLst>
                                        <p:tav tm="0" fmla="#ppt_y-sin(pi*$)/3">
                                          <p:val>
                                            <p:fltVal val="0.5"/>
                                          </p:val>
                                        </p:tav>
                                        <p:tav tm="100000">
                                          <p:val>
                                            <p:fltVal val="1"/>
                                          </p:val>
                                        </p:tav>
                                      </p:tavLst>
                                    </p:anim>
                                    <p:anim calcmode="lin" valueType="num">
                                      <p:cBhvr>
                                        <p:cTn id="13" dur="664" tmFilter="0, 0; 0.125,0.2665; 0.25,0.4; 0.375,0.465; 0.5,0.5;  0.625,0.535; 0.75,0.6; 0.875,0.7335; 1,1">
                                          <p:stCondLst>
                                            <p:cond delay="664"/>
                                          </p:stCondLst>
                                        </p:cTn>
                                        <p:tgtEl>
                                          <p:spTgt spid="9219"/>
                                        </p:tgtEl>
                                        <p:attrNameLst>
                                          <p:attrName>ppt_y</p:attrName>
                                        </p:attrNameLst>
                                      </p:cBhvr>
                                      <p:tavLst>
                                        <p:tav tm="0" fmla="#ppt_y-sin(pi*$)/9">
                                          <p:val>
                                            <p:fltVal val="0"/>
                                          </p:val>
                                        </p:tav>
                                        <p:tav tm="100000">
                                          <p:val>
                                            <p:fltVal val="1"/>
                                          </p:val>
                                        </p:tav>
                                      </p:tavLst>
                                    </p:anim>
                                    <p:anim calcmode="lin" valueType="num">
                                      <p:cBhvr>
                                        <p:cTn id="14" dur="332" tmFilter="0, 0; 0.125,0.2665; 0.25,0.4; 0.375,0.465; 0.5,0.5;  0.625,0.535; 0.75,0.6; 0.875,0.7335; 1,1">
                                          <p:stCondLst>
                                            <p:cond delay="1324"/>
                                          </p:stCondLst>
                                        </p:cTn>
                                        <p:tgtEl>
                                          <p:spTgt spid="9219"/>
                                        </p:tgtEl>
                                        <p:attrNameLst>
                                          <p:attrName>ppt_y</p:attrName>
                                        </p:attrNameLst>
                                      </p:cBhvr>
                                      <p:tavLst>
                                        <p:tav tm="0" fmla="#ppt_y-sin(pi*$)/27">
                                          <p:val>
                                            <p:fltVal val="0"/>
                                          </p:val>
                                        </p:tav>
                                        <p:tav tm="100000">
                                          <p:val>
                                            <p:fltVal val="1"/>
                                          </p:val>
                                        </p:tav>
                                      </p:tavLst>
                                    </p:anim>
                                    <p:anim calcmode="lin" valueType="num">
                                      <p:cBhvr>
                                        <p:cTn id="15" dur="164" tmFilter="0, 0; 0.125,0.2665; 0.25,0.4; 0.375,0.465; 0.5,0.5;  0.625,0.535; 0.75,0.6; 0.875,0.7335; 1,1">
                                          <p:stCondLst>
                                            <p:cond delay="1656"/>
                                          </p:stCondLst>
                                        </p:cTn>
                                        <p:tgtEl>
                                          <p:spTgt spid="9219"/>
                                        </p:tgtEl>
                                        <p:attrNameLst>
                                          <p:attrName>ppt_y</p:attrName>
                                        </p:attrNameLst>
                                      </p:cBhvr>
                                      <p:tavLst>
                                        <p:tav tm="0" fmla="#ppt_y-sin(pi*$)/81">
                                          <p:val>
                                            <p:fltVal val="0"/>
                                          </p:val>
                                        </p:tav>
                                        <p:tav tm="100000">
                                          <p:val>
                                            <p:fltVal val="1"/>
                                          </p:val>
                                        </p:tav>
                                      </p:tavLst>
                                    </p:anim>
                                    <p:animScale>
                                      <p:cBhvr>
                                        <p:cTn id="16" dur="26">
                                          <p:stCondLst>
                                            <p:cond delay="650"/>
                                          </p:stCondLst>
                                        </p:cTn>
                                        <p:tgtEl>
                                          <p:spTgt spid="9219"/>
                                        </p:tgtEl>
                                      </p:cBhvr>
                                      <p:to x="100000" y="60000"/>
                                    </p:animScale>
                                    <p:animScale>
                                      <p:cBhvr>
                                        <p:cTn id="17" dur="166" decel="50000">
                                          <p:stCondLst>
                                            <p:cond delay="676"/>
                                          </p:stCondLst>
                                        </p:cTn>
                                        <p:tgtEl>
                                          <p:spTgt spid="9219"/>
                                        </p:tgtEl>
                                      </p:cBhvr>
                                      <p:to x="100000" y="100000"/>
                                    </p:animScale>
                                    <p:animScale>
                                      <p:cBhvr>
                                        <p:cTn id="18" dur="26">
                                          <p:stCondLst>
                                            <p:cond delay="1312"/>
                                          </p:stCondLst>
                                        </p:cTn>
                                        <p:tgtEl>
                                          <p:spTgt spid="9219"/>
                                        </p:tgtEl>
                                      </p:cBhvr>
                                      <p:to x="100000" y="80000"/>
                                    </p:animScale>
                                    <p:animScale>
                                      <p:cBhvr>
                                        <p:cTn id="19" dur="166" decel="50000">
                                          <p:stCondLst>
                                            <p:cond delay="1338"/>
                                          </p:stCondLst>
                                        </p:cTn>
                                        <p:tgtEl>
                                          <p:spTgt spid="9219"/>
                                        </p:tgtEl>
                                      </p:cBhvr>
                                      <p:to x="100000" y="100000"/>
                                    </p:animScale>
                                    <p:animScale>
                                      <p:cBhvr>
                                        <p:cTn id="20" dur="26">
                                          <p:stCondLst>
                                            <p:cond delay="1642"/>
                                          </p:stCondLst>
                                        </p:cTn>
                                        <p:tgtEl>
                                          <p:spTgt spid="9219"/>
                                        </p:tgtEl>
                                      </p:cBhvr>
                                      <p:to x="100000" y="90000"/>
                                    </p:animScale>
                                    <p:animScale>
                                      <p:cBhvr>
                                        <p:cTn id="21" dur="166" decel="50000">
                                          <p:stCondLst>
                                            <p:cond delay="1668"/>
                                          </p:stCondLst>
                                        </p:cTn>
                                        <p:tgtEl>
                                          <p:spTgt spid="9219"/>
                                        </p:tgtEl>
                                      </p:cBhvr>
                                      <p:to x="100000" y="100000"/>
                                    </p:animScale>
                                    <p:animScale>
                                      <p:cBhvr>
                                        <p:cTn id="22" dur="26">
                                          <p:stCondLst>
                                            <p:cond delay="1808"/>
                                          </p:stCondLst>
                                        </p:cTn>
                                        <p:tgtEl>
                                          <p:spTgt spid="9219"/>
                                        </p:tgtEl>
                                      </p:cBhvr>
                                      <p:to x="100000" y="95000"/>
                                    </p:animScale>
                                    <p:animScale>
                                      <p:cBhvr>
                                        <p:cTn id="23" dur="166" decel="50000">
                                          <p:stCondLst>
                                            <p:cond delay="1834"/>
                                          </p:stCondLst>
                                        </p:cTn>
                                        <p:tgtEl>
                                          <p:spTgt spid="9219"/>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animBg="1"/>
      <p:bldP spid="9219"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untitled"/>
          <p:cNvPicPr>
            <a:picLocks noChangeAspect="1" noChangeArrowheads="1"/>
          </p:cNvPicPr>
          <p:nvPr/>
        </p:nvPicPr>
        <p:blipFill>
          <a:blip r:embed="rId2"/>
          <a:srcRect/>
          <a:stretch>
            <a:fillRect/>
          </a:stretch>
        </p:blipFill>
        <p:spPr bwMode="auto">
          <a:xfrm>
            <a:off x="381000" y="2438400"/>
            <a:ext cx="8534400" cy="4168775"/>
          </a:xfrm>
          <a:prstGeom prst="rect">
            <a:avLst/>
          </a:prstGeom>
          <a:noFill/>
          <a:ln w="9525">
            <a:noFill/>
            <a:miter lim="800000"/>
            <a:headEnd/>
            <a:tailEnd/>
          </a:ln>
        </p:spPr>
      </p:pic>
      <p:grpSp>
        <p:nvGrpSpPr>
          <p:cNvPr id="2" name="Group 3"/>
          <p:cNvGrpSpPr>
            <a:grpSpLocks/>
          </p:cNvGrpSpPr>
          <p:nvPr/>
        </p:nvGrpSpPr>
        <p:grpSpPr bwMode="auto">
          <a:xfrm>
            <a:off x="457200" y="228600"/>
            <a:ext cx="8229600" cy="2133600"/>
            <a:chOff x="288" y="144"/>
            <a:chExt cx="5184" cy="1344"/>
          </a:xfrm>
        </p:grpSpPr>
        <p:sp>
          <p:nvSpPr>
            <p:cNvPr id="10244" name="Text Box 4"/>
            <p:cNvSpPr txBox="1">
              <a:spLocks noChangeArrowheads="1"/>
            </p:cNvSpPr>
            <p:nvPr/>
          </p:nvSpPr>
          <p:spPr bwMode="auto">
            <a:xfrm>
              <a:off x="1344" y="144"/>
              <a:ext cx="2976" cy="480"/>
            </a:xfrm>
            <a:prstGeom prst="rect">
              <a:avLst/>
            </a:prstGeom>
            <a:solidFill>
              <a:srgbClr val="990033"/>
            </a:solidFill>
            <a:ln w="9525">
              <a:noFill/>
              <a:miter lim="800000"/>
              <a:headEnd/>
              <a:tailEnd/>
            </a:ln>
            <a:effectLst/>
          </p:spPr>
          <p:txBody>
            <a:bodyPr wrap="none">
              <a:spAutoFit/>
            </a:bodyPr>
            <a:lstStyle/>
            <a:p>
              <a:pPr>
                <a:defRPr/>
              </a:pPr>
              <a:r>
                <a:rPr lang="en-US" sz="4400" b="1">
                  <a:solidFill>
                    <a:schemeClr val="bg1"/>
                  </a:solidFill>
                  <a:effectLst>
                    <a:outerShdw blurRad="38100" dist="38100" dir="2700000" algn="tl">
                      <a:srgbClr val="000000"/>
                    </a:outerShdw>
                  </a:effectLst>
                  <a:latin typeface="Arial Unicode MS" pitchFamily="34" charset="-128"/>
                  <a:cs typeface="Times New Roman" pitchFamily="18" charset="0"/>
                </a:rPr>
                <a:t>Escape Sequence</a:t>
              </a:r>
            </a:p>
          </p:txBody>
        </p:sp>
        <p:sp>
          <p:nvSpPr>
            <p:cNvPr id="8197" name="Text Box 5"/>
            <p:cNvSpPr txBox="1">
              <a:spLocks noChangeArrowheads="1"/>
            </p:cNvSpPr>
            <p:nvPr/>
          </p:nvSpPr>
          <p:spPr bwMode="auto">
            <a:xfrm>
              <a:off x="288" y="672"/>
              <a:ext cx="5184" cy="816"/>
            </a:xfrm>
            <a:prstGeom prst="rect">
              <a:avLst/>
            </a:prstGeom>
            <a:noFill/>
            <a:ln w="9525">
              <a:noFill/>
              <a:miter lim="800000"/>
              <a:headEnd/>
              <a:tailEnd/>
            </a:ln>
          </p:spPr>
          <p:txBody>
            <a:bodyPr>
              <a:spAutoFit/>
            </a:bodyPr>
            <a:lstStyle/>
            <a:p>
              <a:pPr>
                <a:buFontTx/>
                <a:buBlip>
                  <a:blip r:embed="rId3"/>
                </a:buBlip>
              </a:pPr>
              <a:r>
                <a:rPr lang="en-US" sz="2500" b="1">
                  <a:solidFill>
                    <a:srgbClr val="990033"/>
                  </a:solidFill>
                  <a:latin typeface="Times New Roman" pitchFamily="18" charset="0"/>
                  <a:cs typeface="Times New Roman" pitchFamily="18" charset="0"/>
                </a:rPr>
                <a:t> Escape sequences are specified as the first argument in </a:t>
              </a:r>
              <a:br>
                <a:rPr lang="en-US" sz="2500" b="1">
                  <a:solidFill>
                    <a:srgbClr val="990033"/>
                  </a:solidFill>
                  <a:latin typeface="Times New Roman" pitchFamily="18" charset="0"/>
                  <a:cs typeface="Times New Roman" pitchFamily="18" charset="0"/>
                </a:rPr>
              </a:br>
              <a:r>
                <a:rPr lang="en-US" sz="2500" b="1">
                  <a:solidFill>
                    <a:srgbClr val="990033"/>
                  </a:solidFill>
                  <a:latin typeface="Times New Roman" pitchFamily="18" charset="0"/>
                  <a:cs typeface="Times New Roman" pitchFamily="18" charset="0"/>
                </a:rPr>
                <a:t>   Output Statement.</a:t>
              </a:r>
              <a:r>
                <a:rPr lang="en-US" sz="2900" b="1">
                  <a:solidFill>
                    <a:srgbClr val="990033"/>
                  </a:solidFill>
                  <a:latin typeface="Times New Roman" pitchFamily="18" charset="0"/>
                  <a:cs typeface="Times New Roman" pitchFamily="18" charset="0"/>
                </a:rPr>
                <a:t> </a:t>
              </a:r>
              <a:r>
                <a:rPr lang="en-US" sz="2500" b="1">
                  <a:solidFill>
                    <a:srgbClr val="990033"/>
                  </a:solidFill>
                </a:rPr>
                <a:t>They are always preceded with a     </a:t>
              </a:r>
            </a:p>
            <a:p>
              <a:r>
                <a:rPr lang="en-US" sz="2500" b="1">
                  <a:solidFill>
                    <a:srgbClr val="990033"/>
                  </a:solidFill>
                </a:rPr>
                <a:t>    backslash</a:t>
              </a:r>
            </a:p>
          </p:txBody>
        </p:sp>
      </p:grpSp>
    </p:spTree>
  </p:cSld>
  <p:clrMapOvr>
    <a:masterClrMapping/>
  </p:clrMapOvr>
  <p:transition spd="med">
    <p:split orient="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4"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from="(-#ppt_w/2)" to="(#ppt_x)" calcmode="lin" valueType="num">
                                      <p:cBhvr>
                                        <p:cTn id="7" dur="600" fill="hold">
                                          <p:stCondLst>
                                            <p:cond delay="0"/>
                                          </p:stCondLst>
                                        </p:cTn>
                                        <p:tgtEl>
                                          <p:spTgt spid="2"/>
                                        </p:tgtEl>
                                        <p:attrNameLst>
                                          <p:attrName>ppt_x</p:attrName>
                                        </p:attrNameLst>
                                      </p:cBhvr>
                                    </p:anim>
                                    <p:anim from="0" to="-1.0" calcmode="lin" valueType="num">
                                      <p:cBhvr>
                                        <p:cTn id="8" dur="200" decel="50000" autoRev="1" fill="hold">
                                          <p:stCondLst>
                                            <p:cond delay="600"/>
                                          </p:stCondLst>
                                        </p:cTn>
                                        <p:tgtEl>
                                          <p:spTgt spid="2"/>
                                        </p:tgtEl>
                                        <p:attrNameLst>
                                          <p:attrName>xshear</p:attrName>
                                        </p:attrNameLst>
                                      </p:cBhvr>
                                    </p:anim>
                                    <p:animScale>
                                      <p:cBhvr>
                                        <p:cTn id="9" dur="200" decel="100000" autoRev="1" fill="hold">
                                          <p:stCondLst>
                                            <p:cond delay="600"/>
                                          </p:stCondLst>
                                        </p:cTn>
                                        <p:tgtEl>
                                          <p:spTgt spid="2"/>
                                        </p:tgtEl>
                                      </p:cBhvr>
                                      <p:from x="100000" y="100000"/>
                                      <p:to x="80000" y="100000"/>
                                    </p:animScale>
                                    <p:anim by="(#ppt_h/3+#ppt_w*0.1)" calcmode="lin" valueType="num">
                                      <p:cBhvr additive="sum">
                                        <p:cTn id="10" dur="200" decel="100000" autoRev="1" fill="hold">
                                          <p:stCondLst>
                                            <p:cond delay="600"/>
                                          </p:stCondLst>
                                        </p:cTn>
                                        <p:tgtEl>
                                          <p:spTgt spid="2"/>
                                        </p:tgtEl>
                                        <p:attrNameLst>
                                          <p:attrName>ppt_x</p:attrName>
                                        </p:attrNameLst>
                                      </p:cBhvr>
                                    </p:anim>
                                  </p:childTnLst>
                                </p:cTn>
                              </p:par>
                            </p:childTnLst>
                          </p:cTn>
                        </p:par>
                        <p:par>
                          <p:cTn id="11" fill="hold">
                            <p:stCondLst>
                              <p:cond delay="1000"/>
                            </p:stCondLst>
                            <p:childTnLst>
                              <p:par>
                                <p:cTn id="12" presetID="23" presetClass="entr" presetSubtype="16" fill="hold" nodeType="afterEffect">
                                  <p:stCondLst>
                                    <p:cond delay="0"/>
                                  </p:stCondLst>
                                  <p:childTnLst>
                                    <p:set>
                                      <p:cBhvr>
                                        <p:cTn id="13" dur="1" fill="hold">
                                          <p:stCondLst>
                                            <p:cond delay="0"/>
                                          </p:stCondLst>
                                        </p:cTn>
                                        <p:tgtEl>
                                          <p:spTgt spid="10242"/>
                                        </p:tgtEl>
                                        <p:attrNameLst>
                                          <p:attrName>style.visibility</p:attrName>
                                        </p:attrNameLst>
                                      </p:cBhvr>
                                      <p:to>
                                        <p:strVal val="visible"/>
                                      </p:to>
                                    </p:set>
                                    <p:anim calcmode="lin" valueType="num">
                                      <p:cBhvr>
                                        <p:cTn id="14" dur="500" fill="hold"/>
                                        <p:tgtEl>
                                          <p:spTgt spid="10242"/>
                                        </p:tgtEl>
                                        <p:attrNameLst>
                                          <p:attrName>ppt_w</p:attrName>
                                        </p:attrNameLst>
                                      </p:cBhvr>
                                      <p:tavLst>
                                        <p:tav tm="0">
                                          <p:val>
                                            <p:fltVal val="0"/>
                                          </p:val>
                                        </p:tav>
                                        <p:tav tm="100000">
                                          <p:val>
                                            <p:strVal val="#ppt_w"/>
                                          </p:val>
                                        </p:tav>
                                      </p:tavLst>
                                    </p:anim>
                                    <p:anim calcmode="lin" valueType="num">
                                      <p:cBhvr>
                                        <p:cTn id="15" dur="500" fill="hold"/>
                                        <p:tgtEl>
                                          <p:spTgt spid="1024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AutoShape 2"/>
          <p:cNvSpPr>
            <a:spLocks noChangeArrowheads="1"/>
          </p:cNvSpPr>
          <p:nvPr/>
        </p:nvSpPr>
        <p:spPr bwMode="auto">
          <a:xfrm rot="10800000">
            <a:off x="990600" y="1371600"/>
            <a:ext cx="7848600" cy="5257800"/>
          </a:xfrm>
          <a:prstGeom prst="wedgeRectCallout">
            <a:avLst>
              <a:gd name="adj1" fmla="val 2528"/>
              <a:gd name="adj2" fmla="val 57787"/>
            </a:avLst>
          </a:prstGeom>
          <a:solidFill>
            <a:schemeClr val="accent1"/>
          </a:solidFill>
          <a:ln w="57150" cmpd="thickThin">
            <a:solidFill>
              <a:schemeClr val="tx1"/>
            </a:solidFill>
            <a:miter lim="800000"/>
            <a:headEnd/>
            <a:tailEnd/>
          </a:ln>
        </p:spPr>
        <p:txBody>
          <a:bodyPr rot="10800000"/>
          <a:lstStyle/>
          <a:p>
            <a:pPr algn="ctr"/>
            <a:endParaRPr lang="en-US"/>
          </a:p>
        </p:txBody>
      </p:sp>
      <p:sp>
        <p:nvSpPr>
          <p:cNvPr id="11267" name="WordArt 3"/>
          <p:cNvSpPr>
            <a:spLocks noChangeArrowheads="1" noChangeShapeType="1" noTextEdit="1"/>
          </p:cNvSpPr>
          <p:nvPr/>
        </p:nvSpPr>
        <p:spPr bwMode="auto">
          <a:xfrm>
            <a:off x="1143000" y="114300"/>
            <a:ext cx="7010400" cy="952500"/>
          </a:xfrm>
          <a:prstGeom prst="rect">
            <a:avLst/>
          </a:prstGeom>
        </p:spPr>
        <p:txBody>
          <a:bodyPr wrap="none" fromWordArt="1">
            <a:prstTxWarp prst="textFadeRight">
              <a:avLst>
                <a:gd name="adj" fmla="val 33333"/>
              </a:avLst>
            </a:prstTxWarp>
          </a:bodyPr>
          <a:lstStyle/>
          <a:p>
            <a:pPr algn="ctr"/>
            <a:r>
              <a:rPr lang="en-IN"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a:rPr>
              <a:t>Programming Structure</a:t>
            </a:r>
          </a:p>
        </p:txBody>
      </p:sp>
      <p:sp>
        <p:nvSpPr>
          <p:cNvPr id="9220" name="Rectangle 4"/>
          <p:cNvSpPr>
            <a:spLocks noChangeArrowheads="1"/>
          </p:cNvSpPr>
          <p:nvPr/>
        </p:nvSpPr>
        <p:spPr bwMode="auto">
          <a:xfrm>
            <a:off x="1143000" y="1441450"/>
            <a:ext cx="6858000" cy="4838700"/>
          </a:xfrm>
          <a:prstGeom prst="rect">
            <a:avLst/>
          </a:prstGeom>
          <a:noFill/>
          <a:ln w="9525">
            <a:noFill/>
            <a:miter lim="800000"/>
            <a:headEnd/>
            <a:tailEnd/>
          </a:ln>
        </p:spPr>
        <p:txBody>
          <a:bodyPr anchor="ctr">
            <a:spAutoFit/>
          </a:bodyPr>
          <a:lstStyle/>
          <a:p>
            <a:pPr>
              <a:lnSpc>
                <a:spcPct val="120000"/>
              </a:lnSpc>
            </a:pPr>
            <a:r>
              <a:rPr lang="en-US" sz="2000" b="1">
                <a:solidFill>
                  <a:srgbClr val="660033"/>
                </a:solidFill>
                <a:latin typeface="Times New Roman" pitchFamily="18" charset="0"/>
              </a:rPr>
              <a:t>Preprocessor Directives (Incl. HeaderFile)</a:t>
            </a:r>
          </a:p>
          <a:p>
            <a:pPr>
              <a:lnSpc>
                <a:spcPct val="120000"/>
              </a:lnSpc>
            </a:pPr>
            <a:r>
              <a:rPr lang="en-US" sz="2000" b="1">
                <a:solidFill>
                  <a:srgbClr val="660033"/>
                </a:solidFill>
                <a:latin typeface="Times New Roman" pitchFamily="18" charset="0"/>
              </a:rPr>
              <a:t>Global Variable Declarations;</a:t>
            </a:r>
          </a:p>
          <a:p>
            <a:pPr>
              <a:lnSpc>
                <a:spcPct val="120000"/>
              </a:lnSpc>
            </a:pPr>
            <a:r>
              <a:rPr lang="en-US" sz="2000" b="1">
                <a:solidFill>
                  <a:srgbClr val="660033"/>
                </a:solidFill>
                <a:latin typeface="Times New Roman" pitchFamily="18" charset="0"/>
              </a:rPr>
              <a:t>class&lt;class name&gt;</a:t>
            </a:r>
          </a:p>
          <a:p>
            <a:pPr>
              <a:lnSpc>
                <a:spcPct val="120000"/>
              </a:lnSpc>
            </a:pPr>
            <a:r>
              <a:rPr lang="en-US" sz="2000" b="1">
                <a:solidFill>
                  <a:srgbClr val="660033"/>
                </a:solidFill>
                <a:latin typeface="Times New Roman" pitchFamily="18" charset="0"/>
              </a:rPr>
              <a:t>{</a:t>
            </a:r>
          </a:p>
          <a:p>
            <a:pPr>
              <a:lnSpc>
                <a:spcPct val="120000"/>
              </a:lnSpc>
            </a:pPr>
            <a:r>
              <a:rPr lang="en-US" sz="2000" b="1">
                <a:solidFill>
                  <a:srgbClr val="660033"/>
                </a:solidFill>
                <a:latin typeface="Times New Roman" pitchFamily="18" charset="0"/>
              </a:rPr>
              <a:t>private :</a:t>
            </a:r>
          </a:p>
          <a:p>
            <a:pPr>
              <a:lnSpc>
                <a:spcPct val="120000"/>
              </a:lnSpc>
            </a:pPr>
            <a:r>
              <a:rPr lang="en-US" sz="2000" b="1">
                <a:solidFill>
                  <a:srgbClr val="660033"/>
                </a:solidFill>
                <a:latin typeface="Times New Roman" pitchFamily="18" charset="0"/>
              </a:rPr>
              <a:t> 	member data;</a:t>
            </a:r>
          </a:p>
          <a:p>
            <a:pPr>
              <a:lnSpc>
                <a:spcPct val="120000"/>
              </a:lnSpc>
            </a:pPr>
            <a:r>
              <a:rPr lang="en-US" sz="2000" b="1">
                <a:solidFill>
                  <a:srgbClr val="660033"/>
                </a:solidFill>
                <a:latin typeface="Times New Roman" pitchFamily="18" charset="0"/>
              </a:rPr>
              <a:t>public :</a:t>
            </a:r>
          </a:p>
          <a:p>
            <a:pPr>
              <a:lnSpc>
                <a:spcPct val="120000"/>
              </a:lnSpc>
            </a:pPr>
            <a:r>
              <a:rPr lang="en-US" sz="2000" b="1">
                <a:solidFill>
                  <a:srgbClr val="660033"/>
                </a:solidFill>
                <a:latin typeface="Times New Roman" pitchFamily="18" charset="0"/>
              </a:rPr>
              <a:t>	Member functions;</a:t>
            </a:r>
          </a:p>
          <a:p>
            <a:pPr>
              <a:lnSpc>
                <a:spcPct val="120000"/>
              </a:lnSpc>
            </a:pPr>
            <a:r>
              <a:rPr lang="en-US" sz="2000" b="1">
                <a:solidFill>
                  <a:srgbClr val="660033"/>
                </a:solidFill>
                <a:latin typeface="Times New Roman" pitchFamily="18" charset="0"/>
              </a:rPr>
              <a:t>};</a:t>
            </a:r>
          </a:p>
          <a:p>
            <a:pPr>
              <a:lnSpc>
                <a:spcPct val="120000"/>
              </a:lnSpc>
            </a:pPr>
            <a:r>
              <a:rPr lang="en-US" sz="2000" b="1">
                <a:solidFill>
                  <a:srgbClr val="660033"/>
                </a:solidFill>
                <a:latin typeface="Times New Roman" pitchFamily="18" charset="0"/>
              </a:rPr>
              <a:t>void main(){</a:t>
            </a:r>
          </a:p>
          <a:p>
            <a:pPr>
              <a:lnSpc>
                <a:spcPct val="120000"/>
              </a:lnSpc>
            </a:pPr>
            <a:r>
              <a:rPr lang="en-US" sz="2000" b="1">
                <a:solidFill>
                  <a:srgbClr val="660033"/>
                </a:solidFill>
                <a:latin typeface="Times New Roman" pitchFamily="18" charset="0"/>
              </a:rPr>
              <a:t>Local Variable Declarations;</a:t>
            </a:r>
          </a:p>
          <a:p>
            <a:pPr>
              <a:lnSpc>
                <a:spcPct val="120000"/>
              </a:lnSpc>
            </a:pPr>
            <a:r>
              <a:rPr lang="en-US" sz="2000" b="1">
                <a:solidFill>
                  <a:srgbClr val="660033"/>
                </a:solidFill>
                <a:latin typeface="Times New Roman" pitchFamily="18" charset="0"/>
              </a:rPr>
              <a:t>Input/Output Statements;</a:t>
            </a:r>
          </a:p>
          <a:p>
            <a:pPr>
              <a:lnSpc>
                <a:spcPct val="120000"/>
              </a:lnSpc>
            </a:pPr>
            <a:r>
              <a:rPr lang="en-US" sz="2000" b="1">
                <a:solidFill>
                  <a:srgbClr val="660033"/>
                </a:solidFill>
                <a:latin typeface="Times New Roman" pitchFamily="18" charset="0"/>
              </a:rPr>
              <a:t>}</a:t>
            </a:r>
          </a:p>
        </p:txBody>
      </p:sp>
    </p:spTree>
  </p:cSld>
  <p:clrMapOvr>
    <a:masterClrMapping/>
  </p:clrMapOvr>
  <p:transition spd="med">
    <p:comb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withEffect">
                                  <p:stCondLst>
                                    <p:cond delay="0"/>
                                  </p:stCondLst>
                                  <p:childTnLst>
                                    <p:set>
                                      <p:cBhvr>
                                        <p:cTn id="6" dur="1" fill="hold">
                                          <p:stCondLst>
                                            <p:cond delay="0"/>
                                          </p:stCondLst>
                                        </p:cTn>
                                        <p:tgtEl>
                                          <p:spTgt spid="11267"/>
                                        </p:tgtEl>
                                        <p:attrNameLst>
                                          <p:attrName>style.visibility</p:attrName>
                                        </p:attrNameLst>
                                      </p:cBhvr>
                                      <p:to>
                                        <p:strVal val="visible"/>
                                      </p:to>
                                    </p:set>
                                    <p:animEffect transition="in" filter="strips(downLeft)">
                                      <p:cBhvr>
                                        <p:cTn id="7" dur="1000"/>
                                        <p:tgtEl>
                                          <p:spTgt spid="11267"/>
                                        </p:tgtEl>
                                      </p:cBhvr>
                                    </p:animEffect>
                                  </p:childTnLst>
                                </p:cTn>
                              </p:par>
                              <p:par>
                                <p:cTn id="8" presetID="23" presetClass="entr" presetSubtype="16" fill="hold" grpId="0" nodeType="withEffect">
                                  <p:stCondLst>
                                    <p:cond delay="0"/>
                                  </p:stCondLst>
                                  <p:childTnLst>
                                    <p:set>
                                      <p:cBhvr>
                                        <p:cTn id="9" dur="1" fill="hold">
                                          <p:stCondLst>
                                            <p:cond delay="0"/>
                                          </p:stCondLst>
                                        </p:cTn>
                                        <p:tgtEl>
                                          <p:spTgt spid="11266"/>
                                        </p:tgtEl>
                                        <p:attrNameLst>
                                          <p:attrName>style.visibility</p:attrName>
                                        </p:attrNameLst>
                                      </p:cBhvr>
                                      <p:to>
                                        <p:strVal val="visible"/>
                                      </p:to>
                                    </p:set>
                                    <p:anim calcmode="lin" valueType="num">
                                      <p:cBhvr>
                                        <p:cTn id="10" dur="500" fill="hold"/>
                                        <p:tgtEl>
                                          <p:spTgt spid="11266"/>
                                        </p:tgtEl>
                                        <p:attrNameLst>
                                          <p:attrName>ppt_w</p:attrName>
                                        </p:attrNameLst>
                                      </p:cBhvr>
                                      <p:tavLst>
                                        <p:tav tm="0">
                                          <p:val>
                                            <p:fltVal val="0"/>
                                          </p:val>
                                        </p:tav>
                                        <p:tav tm="100000">
                                          <p:val>
                                            <p:strVal val="#ppt_w"/>
                                          </p:val>
                                        </p:tav>
                                      </p:tavLst>
                                    </p:anim>
                                    <p:anim calcmode="lin" valueType="num">
                                      <p:cBhvr>
                                        <p:cTn id="11" dur="500" fill="hold"/>
                                        <p:tgtEl>
                                          <p:spTgt spid="1126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6" grpId="0" animBg="1"/>
      <p:bldP spid="11267"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WordArt 2"/>
          <p:cNvSpPr>
            <a:spLocks noChangeArrowheads="1" noChangeShapeType="1" noTextEdit="1"/>
          </p:cNvSpPr>
          <p:nvPr/>
        </p:nvSpPr>
        <p:spPr bwMode="auto">
          <a:xfrm>
            <a:off x="1066800" y="609600"/>
            <a:ext cx="7162800" cy="1447800"/>
          </a:xfrm>
          <a:prstGeom prst="rect">
            <a:avLst/>
          </a:prstGeom>
        </p:spPr>
        <p:txBody>
          <a:bodyPr spcFirstLastPara="1" wrap="none" fromWordArt="1">
            <a:prstTxWarp prst="textArchUp">
              <a:avLst>
                <a:gd name="adj" fmla="val 10800004"/>
              </a:avLst>
            </a:prstTxWarp>
          </a:bodyPr>
          <a:lstStyle/>
          <a:p>
            <a:pPr algn="ctr"/>
            <a:r>
              <a:rPr lang="en-IN" sz="3600" b="1" kern="10">
                <a:ln w="9525">
                  <a:solidFill>
                    <a:srgbClr val="800000"/>
                  </a:solidFill>
                  <a:round/>
                  <a:headEnd/>
                  <a:tailEnd/>
                </a:ln>
                <a:solidFill>
                  <a:srgbClr val="000099"/>
                </a:solidFill>
                <a:latin typeface="Arial Black"/>
              </a:rPr>
              <a:t>Preprocessor Directives</a:t>
            </a:r>
          </a:p>
        </p:txBody>
      </p:sp>
      <p:grpSp>
        <p:nvGrpSpPr>
          <p:cNvPr id="2" name="Group 3"/>
          <p:cNvGrpSpPr>
            <a:grpSpLocks/>
          </p:cNvGrpSpPr>
          <p:nvPr/>
        </p:nvGrpSpPr>
        <p:grpSpPr bwMode="auto">
          <a:xfrm>
            <a:off x="457200" y="1600200"/>
            <a:ext cx="8229600" cy="4114800"/>
            <a:chOff x="288" y="1008"/>
            <a:chExt cx="5184" cy="2592"/>
          </a:xfrm>
        </p:grpSpPr>
        <p:sp>
          <p:nvSpPr>
            <p:cNvPr id="10244" name="Text Box 4"/>
            <p:cNvSpPr txBox="1">
              <a:spLocks noChangeArrowheads="1"/>
            </p:cNvSpPr>
            <p:nvPr/>
          </p:nvSpPr>
          <p:spPr bwMode="auto">
            <a:xfrm>
              <a:off x="288" y="1008"/>
              <a:ext cx="5184" cy="528"/>
            </a:xfrm>
            <a:prstGeom prst="rect">
              <a:avLst/>
            </a:prstGeom>
            <a:noFill/>
            <a:ln w="9525">
              <a:noFill/>
              <a:miter lim="800000"/>
              <a:headEnd/>
              <a:tailEnd/>
            </a:ln>
          </p:spPr>
          <p:txBody>
            <a:bodyPr>
              <a:spAutoFit/>
            </a:bodyPr>
            <a:lstStyle/>
            <a:p>
              <a:pPr algn="just">
                <a:buFont typeface="Wingdings" pitchFamily="2" charset="2"/>
                <a:buChar char="Ø"/>
              </a:pPr>
              <a:r>
                <a:rPr lang="en-US" sz="2500" b="1">
                  <a:solidFill>
                    <a:srgbClr val="000066"/>
                  </a:solidFill>
                  <a:latin typeface="Times New Roman" pitchFamily="18" charset="0"/>
                  <a:cs typeface="Times New Roman" pitchFamily="18" charset="0"/>
                </a:rPr>
                <a:t>  </a:t>
              </a:r>
              <a:r>
                <a:rPr lang="en-US" sz="2400" b="1">
                  <a:solidFill>
                    <a:srgbClr val="000066"/>
                  </a:solidFill>
                  <a:latin typeface="Times New Roman" pitchFamily="18" charset="0"/>
                  <a:cs typeface="Times New Roman" pitchFamily="18" charset="0"/>
                </a:rPr>
                <a:t>Preprocessor directives are the instructions given to the </a:t>
              </a:r>
              <a:br>
                <a:rPr lang="en-US" sz="2400" b="1">
                  <a:solidFill>
                    <a:srgbClr val="000066"/>
                  </a:solidFill>
                  <a:latin typeface="Times New Roman" pitchFamily="18" charset="0"/>
                  <a:cs typeface="Times New Roman" pitchFamily="18" charset="0"/>
                </a:rPr>
              </a:br>
              <a:r>
                <a:rPr lang="en-US" sz="2400" b="1">
                  <a:solidFill>
                    <a:srgbClr val="000066"/>
                  </a:solidFill>
                  <a:latin typeface="Times New Roman" pitchFamily="18" charset="0"/>
                  <a:cs typeface="Times New Roman" pitchFamily="18" charset="0"/>
                </a:rPr>
                <a:t>    compiler.</a:t>
              </a:r>
            </a:p>
          </p:txBody>
        </p:sp>
        <p:sp>
          <p:nvSpPr>
            <p:cNvPr id="10245" name="Text Box 5"/>
            <p:cNvSpPr txBox="1">
              <a:spLocks noChangeArrowheads="1"/>
            </p:cNvSpPr>
            <p:nvPr/>
          </p:nvSpPr>
          <p:spPr bwMode="auto">
            <a:xfrm>
              <a:off x="288" y="1680"/>
              <a:ext cx="5184" cy="758"/>
            </a:xfrm>
            <a:prstGeom prst="rect">
              <a:avLst/>
            </a:prstGeom>
            <a:noFill/>
            <a:ln w="9525">
              <a:noFill/>
              <a:miter lim="800000"/>
              <a:headEnd/>
              <a:tailEnd/>
            </a:ln>
          </p:spPr>
          <p:txBody>
            <a:bodyPr>
              <a:spAutoFit/>
            </a:bodyPr>
            <a:lstStyle/>
            <a:p>
              <a:pPr algn="just">
                <a:buFont typeface="Wingdings" pitchFamily="2" charset="2"/>
                <a:buChar char="Ø"/>
              </a:pPr>
              <a:r>
                <a:rPr lang="en-US" sz="2500" b="1">
                  <a:solidFill>
                    <a:srgbClr val="000066"/>
                  </a:solidFill>
                  <a:latin typeface="Times New Roman" pitchFamily="18" charset="0"/>
                  <a:cs typeface="Times New Roman" pitchFamily="18" charset="0"/>
                </a:rPr>
                <a:t> </a:t>
              </a:r>
              <a:r>
                <a:rPr lang="en-US" sz="2400" b="1">
                  <a:solidFill>
                    <a:srgbClr val="000066"/>
                  </a:solidFill>
                  <a:latin typeface="Times New Roman" pitchFamily="18" charset="0"/>
                  <a:cs typeface="Times New Roman" pitchFamily="18" charset="0"/>
                </a:rPr>
                <a:t>They are not translated into machine language, but are </a:t>
              </a:r>
              <a:br>
                <a:rPr lang="en-US" sz="2400" b="1">
                  <a:solidFill>
                    <a:srgbClr val="000066"/>
                  </a:solidFill>
                  <a:latin typeface="Times New Roman" pitchFamily="18" charset="0"/>
                  <a:cs typeface="Times New Roman" pitchFamily="18" charset="0"/>
                </a:rPr>
              </a:br>
              <a:r>
                <a:rPr lang="en-US" sz="2400" b="1">
                  <a:solidFill>
                    <a:srgbClr val="000066"/>
                  </a:solidFill>
                  <a:latin typeface="Times New Roman" pitchFamily="18" charset="0"/>
                  <a:cs typeface="Times New Roman" pitchFamily="18" charset="0"/>
                </a:rPr>
                <a:t>    operated upon directly by the compiler before the </a:t>
              </a:r>
              <a:br>
                <a:rPr lang="en-US" sz="2400" b="1">
                  <a:solidFill>
                    <a:srgbClr val="000066"/>
                  </a:solidFill>
                  <a:latin typeface="Times New Roman" pitchFamily="18" charset="0"/>
                  <a:cs typeface="Times New Roman" pitchFamily="18" charset="0"/>
                </a:rPr>
              </a:br>
              <a:r>
                <a:rPr lang="en-US" sz="2400" b="1">
                  <a:solidFill>
                    <a:srgbClr val="000066"/>
                  </a:solidFill>
                  <a:latin typeface="Times New Roman" pitchFamily="18" charset="0"/>
                  <a:cs typeface="Times New Roman" pitchFamily="18" charset="0"/>
                </a:rPr>
                <a:t>    compiling process begins.</a:t>
              </a:r>
            </a:p>
          </p:txBody>
        </p:sp>
        <p:sp>
          <p:nvSpPr>
            <p:cNvPr id="10246" name="Text Box 6"/>
            <p:cNvSpPr txBox="1">
              <a:spLocks noChangeArrowheads="1"/>
            </p:cNvSpPr>
            <p:nvPr/>
          </p:nvSpPr>
          <p:spPr bwMode="auto">
            <a:xfrm>
              <a:off x="288" y="2544"/>
              <a:ext cx="5184" cy="298"/>
            </a:xfrm>
            <a:prstGeom prst="rect">
              <a:avLst/>
            </a:prstGeom>
            <a:noFill/>
            <a:ln w="9525">
              <a:noFill/>
              <a:miter lim="800000"/>
              <a:headEnd/>
              <a:tailEnd/>
            </a:ln>
          </p:spPr>
          <p:txBody>
            <a:bodyPr>
              <a:spAutoFit/>
            </a:bodyPr>
            <a:lstStyle/>
            <a:p>
              <a:pPr algn="just">
                <a:buFont typeface="Wingdings" pitchFamily="2" charset="2"/>
                <a:buChar char="Ø"/>
              </a:pPr>
              <a:r>
                <a:rPr lang="en-US" sz="2500" b="1">
                  <a:solidFill>
                    <a:srgbClr val="000066"/>
                  </a:solidFill>
                  <a:latin typeface="Times New Roman" pitchFamily="18" charset="0"/>
                  <a:cs typeface="Times New Roman" pitchFamily="18" charset="0"/>
                </a:rPr>
                <a:t>   </a:t>
              </a:r>
              <a:r>
                <a:rPr lang="en-US" sz="2400" b="1">
                  <a:solidFill>
                    <a:srgbClr val="000066"/>
                  </a:solidFill>
                  <a:latin typeface="Times New Roman" pitchFamily="18" charset="0"/>
                  <a:cs typeface="Times New Roman" pitchFamily="18" charset="0"/>
                </a:rPr>
                <a:t>Preprocessor directives begin with a # (hash)</a:t>
              </a:r>
            </a:p>
          </p:txBody>
        </p:sp>
        <p:sp>
          <p:nvSpPr>
            <p:cNvPr id="10247" name="Text Box 7"/>
            <p:cNvSpPr txBox="1">
              <a:spLocks noChangeArrowheads="1"/>
            </p:cNvSpPr>
            <p:nvPr/>
          </p:nvSpPr>
          <p:spPr bwMode="auto">
            <a:xfrm>
              <a:off x="288" y="3072"/>
              <a:ext cx="5184" cy="528"/>
            </a:xfrm>
            <a:prstGeom prst="rect">
              <a:avLst/>
            </a:prstGeom>
            <a:noFill/>
            <a:ln w="9525">
              <a:noFill/>
              <a:miter lim="800000"/>
              <a:headEnd/>
              <a:tailEnd/>
            </a:ln>
          </p:spPr>
          <p:txBody>
            <a:bodyPr>
              <a:spAutoFit/>
            </a:bodyPr>
            <a:lstStyle/>
            <a:p>
              <a:pPr algn="just">
                <a:buFont typeface="Wingdings" pitchFamily="2" charset="2"/>
                <a:buChar char="Ø"/>
              </a:pPr>
              <a:r>
                <a:rPr lang="en-US" sz="2500" b="1">
                  <a:solidFill>
                    <a:srgbClr val="000066"/>
                  </a:solidFill>
                  <a:latin typeface="Times New Roman" pitchFamily="18" charset="0"/>
                  <a:cs typeface="Times New Roman" pitchFamily="18" charset="0"/>
                </a:rPr>
                <a:t>   </a:t>
              </a:r>
              <a:r>
                <a:rPr lang="en-US" sz="2400" b="1">
                  <a:solidFill>
                    <a:srgbClr val="000066"/>
                  </a:solidFill>
                  <a:latin typeface="Times New Roman" pitchFamily="18" charset="0"/>
                  <a:cs typeface="Times New Roman" pitchFamily="18" charset="0"/>
                </a:rPr>
                <a:t>Preprocessor directives are often placed in the beginning of a program before the main() is declared.</a:t>
              </a:r>
            </a:p>
          </p:txBody>
        </p:sp>
      </p:grpSp>
    </p:spTree>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1" fill="hold">
                                          <p:stCondLst>
                                            <p:cond delay="0"/>
                                          </p:stCondLst>
                                        </p:cTn>
                                        <p:tgtEl>
                                          <p:spTgt spid="12290"/>
                                        </p:tgtEl>
                                        <p:attrNameLst>
                                          <p:attrName>style.visibility</p:attrName>
                                        </p:attrNameLst>
                                      </p:cBhvr>
                                      <p:to>
                                        <p:strVal val="visible"/>
                                      </p:to>
                                    </p:set>
                                    <p:anim calcmode="lin" valueType="num">
                                      <p:cBhvr>
                                        <p:cTn id="7" dur="500" fill="hold"/>
                                        <p:tgtEl>
                                          <p:spTgt spid="12290"/>
                                        </p:tgtEl>
                                        <p:attrNameLst>
                                          <p:attrName>ppt_x</p:attrName>
                                        </p:attrNameLst>
                                      </p:cBhvr>
                                      <p:tavLst>
                                        <p:tav tm="0">
                                          <p:val>
                                            <p:strVal val="#ppt_x-.2"/>
                                          </p:val>
                                        </p:tav>
                                        <p:tav tm="100000">
                                          <p:val>
                                            <p:strVal val="#ppt_x"/>
                                          </p:val>
                                        </p:tav>
                                      </p:tavLst>
                                    </p:anim>
                                    <p:anim calcmode="lin" valueType="num">
                                      <p:cBhvr>
                                        <p:cTn id="8" dur="500" fill="hold"/>
                                        <p:tgtEl>
                                          <p:spTgt spid="12290"/>
                                        </p:tgtEl>
                                        <p:attrNameLst>
                                          <p:attrName>ppt_y</p:attrName>
                                        </p:attrNameLst>
                                      </p:cBhvr>
                                      <p:tavLst>
                                        <p:tav tm="0">
                                          <p:val>
                                            <p:strVal val="#ppt_y"/>
                                          </p:val>
                                        </p:tav>
                                        <p:tav tm="100000">
                                          <p:val>
                                            <p:strVal val="#ppt_y"/>
                                          </p:val>
                                        </p:tav>
                                      </p:tavLst>
                                    </p:anim>
                                    <p:animEffect transition="in" filter="wipe(right)" prLst="gradientSize: 0.1">
                                      <p:cBhvr>
                                        <p:cTn id="9" dur="500"/>
                                        <p:tgtEl>
                                          <p:spTgt spid="12290"/>
                                        </p:tgtEl>
                                      </p:cBhvr>
                                    </p:animEffect>
                                  </p:childTnLst>
                                </p:cTn>
                              </p:par>
                              <p:par>
                                <p:cTn id="10" presetID="18" presetClass="entr" presetSubtype="12" fill="hold"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Left)">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WordArt 2"/>
          <p:cNvSpPr>
            <a:spLocks noChangeArrowheads="1" noChangeShapeType="1" noTextEdit="1"/>
          </p:cNvSpPr>
          <p:nvPr/>
        </p:nvSpPr>
        <p:spPr bwMode="auto">
          <a:xfrm>
            <a:off x="2362200" y="533400"/>
            <a:ext cx="4953000" cy="647700"/>
          </a:xfrm>
          <a:prstGeom prst="rect">
            <a:avLst/>
          </a:prstGeom>
        </p:spPr>
        <p:txBody>
          <a:bodyPr wrap="none" fromWordArt="1">
            <a:prstTxWarp prst="textPlain">
              <a:avLst>
                <a:gd name="adj" fmla="val 50000"/>
              </a:avLst>
            </a:prstTxWarp>
          </a:bodyPr>
          <a:lstStyle/>
          <a:p>
            <a:pPr algn="ctr"/>
            <a:r>
              <a:rPr lang="en-IN" sz="3600" b="1" i="1" kern="10" spc="720">
                <a:ln w="9525">
                  <a:noFill/>
                  <a:round/>
                  <a:headEnd/>
                  <a:tailEnd/>
                </a:ln>
                <a:solidFill>
                  <a:srgbClr val="CC0066"/>
                </a:solidFill>
                <a:effectLst>
                  <a:outerShdw dist="45791" dir="3378596" algn="ctr" rotWithShape="0">
                    <a:srgbClr val="4D4D4D">
                      <a:alpha val="79999"/>
                    </a:srgbClr>
                  </a:outerShdw>
                </a:effectLst>
                <a:latin typeface="Arial Black"/>
              </a:rPr>
              <a:t>HEADER FILE</a:t>
            </a:r>
          </a:p>
        </p:txBody>
      </p:sp>
      <p:sp>
        <p:nvSpPr>
          <p:cNvPr id="13315" name="AutoShape 3"/>
          <p:cNvSpPr>
            <a:spLocks/>
          </p:cNvSpPr>
          <p:nvPr/>
        </p:nvSpPr>
        <p:spPr bwMode="auto">
          <a:xfrm>
            <a:off x="1447800" y="1905000"/>
            <a:ext cx="4953000" cy="1066800"/>
          </a:xfrm>
          <a:prstGeom prst="borderCallout1">
            <a:avLst>
              <a:gd name="adj1" fmla="val 10713"/>
              <a:gd name="adj2" fmla="val 101537"/>
              <a:gd name="adj3" fmla="val -81847"/>
              <a:gd name="adj4" fmla="val 109264"/>
            </a:avLst>
          </a:prstGeom>
          <a:solidFill>
            <a:schemeClr val="accent1"/>
          </a:solidFill>
          <a:ln w="9525">
            <a:solidFill>
              <a:schemeClr val="tx1"/>
            </a:solidFill>
            <a:miter lim="800000"/>
            <a:headEnd/>
            <a:tailEnd/>
          </a:ln>
        </p:spPr>
        <p:txBody>
          <a:bodyPr/>
          <a:lstStyle/>
          <a:p>
            <a:pPr marL="55563" indent="-55563" algn="just"/>
            <a:r>
              <a:rPr lang="en-US">
                <a:solidFill>
                  <a:srgbClr val="660066"/>
                </a:solidFill>
              </a:rPr>
              <a:t> </a:t>
            </a:r>
            <a:r>
              <a:rPr lang="en-US" sz="2000" b="1">
                <a:solidFill>
                  <a:srgbClr val="660066"/>
                </a:solidFill>
              </a:rPr>
              <a:t>A lot of library functions are subdivided into number of groups. This groups are called Header files.</a:t>
            </a:r>
          </a:p>
        </p:txBody>
      </p:sp>
      <p:graphicFrame>
        <p:nvGraphicFramePr>
          <p:cNvPr id="13316" name="Group 4"/>
          <p:cNvGraphicFramePr>
            <a:graphicFrameLocks noGrp="1"/>
          </p:cNvGraphicFramePr>
          <p:nvPr/>
        </p:nvGraphicFramePr>
        <p:xfrm>
          <a:off x="228600" y="3124200"/>
          <a:ext cx="8305800" cy="3453765"/>
        </p:xfrm>
        <a:graphic>
          <a:graphicData uri="http://schemas.openxmlformats.org/drawingml/2006/table">
            <a:tbl>
              <a:tblPr/>
              <a:tblGrid>
                <a:gridCol w="2673350"/>
                <a:gridCol w="5632450"/>
              </a:tblGrid>
              <a:tr h="45720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rgbClr val="660066"/>
                          </a:solidFill>
                          <a:effectLst/>
                          <a:latin typeface="Arial" charset="0"/>
                        </a:rPr>
                        <a:t>Syntax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rgbClr val="660066"/>
                          </a:solidFill>
                          <a:effectLst/>
                          <a:latin typeface="Arial" charset="0"/>
                        </a:rPr>
                        <a:t>#include&lt;headerfilename.h&gt;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715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rgbClr val="660066"/>
                          </a:solidFill>
                          <a:effectLst/>
                          <a:latin typeface="Arial" charset="0"/>
                        </a:rPr>
                        <a:t>Examples: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660066"/>
                          </a:solidFill>
                          <a:effectLst/>
                          <a:latin typeface="Arial" charset="0"/>
                        </a:rPr>
                        <a:t>#include&lt;</a:t>
                      </a:r>
                      <a:r>
                        <a:rPr kumimoji="0" lang="en-US" sz="2000" b="1" i="0" u="none" strike="noStrike" cap="none" normalizeH="0" baseline="0" dirty="0" err="1" smtClean="0">
                          <a:ln>
                            <a:noFill/>
                          </a:ln>
                          <a:solidFill>
                            <a:srgbClr val="660066"/>
                          </a:solidFill>
                          <a:effectLst/>
                          <a:latin typeface="Arial" charset="0"/>
                        </a:rPr>
                        <a:t>iostream.h</a:t>
                      </a:r>
                      <a:r>
                        <a:rPr kumimoji="0" lang="en-US" sz="2000" b="1" i="0" u="none" strike="noStrike" cap="none" normalizeH="0" baseline="0" dirty="0" smtClean="0">
                          <a:ln>
                            <a:noFill/>
                          </a:ln>
                          <a:solidFill>
                            <a:srgbClr val="660066"/>
                          </a:solidFill>
                          <a:effectLst/>
                          <a:latin typeface="Arial" charset="0"/>
                        </a:rPr>
                        <a:t>&gt;</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660066"/>
                          </a:solidFill>
                          <a:effectLst/>
                          <a:latin typeface="Arial" charset="0"/>
                        </a:rPr>
                        <a:t>#include&lt;</a:t>
                      </a:r>
                      <a:r>
                        <a:rPr kumimoji="0" lang="en-US" sz="2000" b="1" i="0" u="none" strike="noStrike" cap="none" normalizeH="0" baseline="0" smtClean="0">
                          <a:ln>
                            <a:noFill/>
                          </a:ln>
                          <a:solidFill>
                            <a:srgbClr val="660066"/>
                          </a:solidFill>
                          <a:effectLst/>
                          <a:latin typeface="Arial" charset="0"/>
                        </a:rPr>
                        <a:t>conio.h</a:t>
                      </a:r>
                      <a:r>
                        <a:rPr kumimoji="0" lang="en-US" sz="2000" b="1" i="0" u="none" strike="noStrike" cap="none" normalizeH="0" baseline="0" dirty="0" smtClean="0">
                          <a:ln>
                            <a:noFill/>
                          </a:ln>
                          <a:solidFill>
                            <a:srgbClr val="660066"/>
                          </a:solidFill>
                          <a:effectLst/>
                          <a:latin typeface="Arial" charset="0"/>
                        </a:rPr>
                        <a:t>&gt;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69938">
                <a:tc gridSpan="2">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err="1" smtClean="0">
                          <a:ln>
                            <a:noFill/>
                          </a:ln>
                          <a:solidFill>
                            <a:srgbClr val="660066"/>
                          </a:solidFill>
                          <a:effectLst/>
                          <a:latin typeface="Arial" charset="0"/>
                        </a:rPr>
                        <a:t>iostream</a:t>
                      </a:r>
                      <a:r>
                        <a:rPr kumimoji="0" lang="en-US" sz="2000" b="1" i="0" u="none" strike="noStrike" cap="none" normalizeH="0" baseline="0" dirty="0" smtClean="0">
                          <a:ln>
                            <a:noFill/>
                          </a:ln>
                          <a:solidFill>
                            <a:srgbClr val="660066"/>
                          </a:solidFill>
                          <a:effectLst/>
                          <a:latin typeface="Arial" charset="0"/>
                        </a:rPr>
                        <a:t>          -&gt;   </a:t>
                      </a:r>
                      <a:r>
                        <a:rPr kumimoji="0" lang="en-US" sz="2000" b="1" i="0" u="none" strike="noStrike" cap="none" normalizeH="0" baseline="0" dirty="0" err="1" smtClean="0">
                          <a:ln>
                            <a:noFill/>
                          </a:ln>
                          <a:solidFill>
                            <a:srgbClr val="660066"/>
                          </a:solidFill>
                          <a:effectLst/>
                          <a:latin typeface="Arial" charset="0"/>
                        </a:rPr>
                        <a:t>Input/Output</a:t>
                      </a:r>
                      <a:r>
                        <a:rPr kumimoji="0" lang="en-US" sz="2000" b="1" i="0" u="none" strike="noStrike" cap="none" normalizeH="0" baseline="0" dirty="0" smtClean="0">
                          <a:ln>
                            <a:noFill/>
                          </a:ln>
                          <a:solidFill>
                            <a:srgbClr val="660066"/>
                          </a:solidFill>
                          <a:effectLst/>
                          <a:latin typeface="Arial" charset="0"/>
                        </a:rPr>
                        <a:t> Stream </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err="1" smtClean="0">
                          <a:ln>
                            <a:noFill/>
                          </a:ln>
                          <a:solidFill>
                            <a:srgbClr val="660066"/>
                          </a:solidFill>
                          <a:effectLst/>
                          <a:latin typeface="Arial" charset="0"/>
                        </a:rPr>
                        <a:t>Conio</a:t>
                      </a:r>
                      <a:r>
                        <a:rPr kumimoji="0" lang="en-US" sz="2000" b="1" i="0" u="none" strike="noStrike" cap="none" normalizeH="0" baseline="0" dirty="0" smtClean="0">
                          <a:ln>
                            <a:noFill/>
                          </a:ln>
                          <a:solidFill>
                            <a:srgbClr val="660066"/>
                          </a:solidFill>
                          <a:effectLst/>
                          <a:latin typeface="Arial" charset="0"/>
                        </a:rPr>
                        <a:t>               -&gt;   Console </a:t>
                      </a:r>
                      <a:r>
                        <a:rPr kumimoji="0" lang="en-US" sz="2000" b="1" i="0" u="none" strike="noStrike" cap="none" normalizeH="0" baseline="0" dirty="0" err="1" smtClean="0">
                          <a:ln>
                            <a:noFill/>
                          </a:ln>
                          <a:solidFill>
                            <a:srgbClr val="660066"/>
                          </a:solidFill>
                          <a:effectLst/>
                          <a:latin typeface="Arial" charset="0"/>
                        </a:rPr>
                        <a:t>Input/Output</a:t>
                      </a:r>
                      <a:endParaRPr kumimoji="0" lang="en-US" sz="2000" b="1" i="0" u="none" strike="noStrike" cap="none" normalizeH="0" baseline="0" dirty="0" smtClean="0">
                        <a:ln>
                          <a:noFill/>
                        </a:ln>
                        <a:solidFill>
                          <a:srgbClr val="660066"/>
                        </a:solidFill>
                        <a:effectLst/>
                        <a:latin typeface="Arial"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660066"/>
                          </a:solidFill>
                          <a:effectLst/>
                          <a:latin typeface="Arial" charset="0"/>
                        </a:rPr>
                        <a:t>Void                 -&gt;   Keyword. It Means Returns Nothing</a:t>
                      </a:r>
                    </a:p>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660066"/>
                          </a:solidFill>
                          <a:effectLst/>
                          <a:latin typeface="Arial" charset="0"/>
                        </a:rPr>
                        <a:t>main()             -&gt;  It is a function name which can be </a:t>
                      </a:r>
                    </a:p>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660066"/>
                          </a:solidFill>
                          <a:effectLst/>
                          <a:latin typeface="Arial" charset="0"/>
                        </a:rPr>
                        <a:t>used to indicate the beginning of the program  </a:t>
                      </a:r>
                    </a:p>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660066"/>
                          </a:solidFill>
                          <a:effectLst/>
                          <a:latin typeface="Arial" charset="0"/>
                        </a:rPr>
                        <a:t>                        execution</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r>
            </a:tbl>
          </a:graphicData>
        </a:graphic>
      </p:graphicFrame>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3314"/>
                                        </p:tgtEl>
                                        <p:attrNameLst>
                                          <p:attrName>style.visibility</p:attrName>
                                        </p:attrNameLst>
                                      </p:cBhvr>
                                      <p:to>
                                        <p:strVal val="visible"/>
                                      </p:to>
                                    </p:set>
                                    <p:anim calcmode="lin" valueType="num">
                                      <p:cBhvr>
                                        <p:cTn id="7" dur="500" fill="hold"/>
                                        <p:tgtEl>
                                          <p:spTgt spid="13314"/>
                                        </p:tgtEl>
                                        <p:attrNameLst>
                                          <p:attrName>ppt_w</p:attrName>
                                        </p:attrNameLst>
                                      </p:cBhvr>
                                      <p:tavLst>
                                        <p:tav tm="0">
                                          <p:val>
                                            <p:fltVal val="0"/>
                                          </p:val>
                                        </p:tav>
                                        <p:tav tm="100000">
                                          <p:val>
                                            <p:strVal val="#ppt_w"/>
                                          </p:val>
                                        </p:tav>
                                      </p:tavLst>
                                    </p:anim>
                                    <p:anim calcmode="lin" valueType="num">
                                      <p:cBhvr>
                                        <p:cTn id="8" dur="500" fill="hold"/>
                                        <p:tgtEl>
                                          <p:spTgt spid="13314"/>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18" presetClass="entr" presetSubtype="12" fill="hold" grpId="0" nodeType="afterEffect">
                                  <p:stCondLst>
                                    <p:cond delay="0"/>
                                  </p:stCondLst>
                                  <p:childTnLst>
                                    <p:set>
                                      <p:cBhvr>
                                        <p:cTn id="11" dur="1" fill="hold">
                                          <p:stCondLst>
                                            <p:cond delay="0"/>
                                          </p:stCondLst>
                                        </p:cTn>
                                        <p:tgtEl>
                                          <p:spTgt spid="13315"/>
                                        </p:tgtEl>
                                        <p:attrNameLst>
                                          <p:attrName>style.visibility</p:attrName>
                                        </p:attrNameLst>
                                      </p:cBhvr>
                                      <p:to>
                                        <p:strVal val="visible"/>
                                      </p:to>
                                    </p:set>
                                    <p:animEffect transition="in" filter="strips(downLeft)">
                                      <p:cBhvr>
                                        <p:cTn id="12" dur="500"/>
                                        <p:tgtEl>
                                          <p:spTgt spid="13315"/>
                                        </p:tgtEl>
                                      </p:cBhvr>
                                    </p:animEffect>
                                  </p:childTnLst>
                                </p:cTn>
                              </p:par>
                            </p:childTnLst>
                          </p:cTn>
                        </p:par>
                        <p:par>
                          <p:cTn id="13" fill="hold">
                            <p:stCondLst>
                              <p:cond delay="1000"/>
                            </p:stCondLst>
                            <p:childTnLst>
                              <p:par>
                                <p:cTn id="14" presetID="23" presetClass="entr" presetSubtype="272" fill="hold" nodeType="afterEffect">
                                  <p:stCondLst>
                                    <p:cond delay="0"/>
                                  </p:stCondLst>
                                  <p:childTnLst>
                                    <p:set>
                                      <p:cBhvr>
                                        <p:cTn id="15" dur="1" fill="hold">
                                          <p:stCondLst>
                                            <p:cond delay="0"/>
                                          </p:stCondLst>
                                        </p:cTn>
                                        <p:tgtEl>
                                          <p:spTgt spid="13316"/>
                                        </p:tgtEl>
                                        <p:attrNameLst>
                                          <p:attrName>style.visibility</p:attrName>
                                        </p:attrNameLst>
                                      </p:cBhvr>
                                      <p:to>
                                        <p:strVal val="visible"/>
                                      </p:to>
                                    </p:set>
                                    <p:anim calcmode="lin" valueType="num">
                                      <p:cBhvr>
                                        <p:cTn id="16" dur="500" fill="hold"/>
                                        <p:tgtEl>
                                          <p:spTgt spid="13316"/>
                                        </p:tgtEl>
                                        <p:attrNameLst>
                                          <p:attrName>ppt_w</p:attrName>
                                        </p:attrNameLst>
                                      </p:cBhvr>
                                      <p:tavLst>
                                        <p:tav tm="0">
                                          <p:val>
                                            <p:strVal val="2/3*#ppt_w"/>
                                          </p:val>
                                        </p:tav>
                                        <p:tav tm="100000">
                                          <p:val>
                                            <p:strVal val="#ppt_w"/>
                                          </p:val>
                                        </p:tav>
                                      </p:tavLst>
                                    </p:anim>
                                    <p:anim calcmode="lin" valueType="num">
                                      <p:cBhvr>
                                        <p:cTn id="17" dur="500" fill="hold"/>
                                        <p:tgtEl>
                                          <p:spTgt spid="13316"/>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animBg="1"/>
      <p:bldP spid="13315" grpId="0" animBg="1"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p:cNvSpPr txBox="1">
            <a:spLocks noChangeArrowheads="1"/>
          </p:cNvSpPr>
          <p:nvPr/>
        </p:nvSpPr>
        <p:spPr bwMode="auto">
          <a:xfrm>
            <a:off x="914400" y="1905000"/>
            <a:ext cx="7162800" cy="2803525"/>
          </a:xfrm>
          <a:prstGeom prst="rect">
            <a:avLst/>
          </a:prstGeom>
          <a:noFill/>
          <a:ln w="9525">
            <a:solidFill>
              <a:srgbClr val="FF0066"/>
            </a:solidFill>
            <a:miter lim="800000"/>
            <a:headEnd/>
            <a:tailEnd/>
          </a:ln>
        </p:spPr>
        <p:txBody>
          <a:bodyPr>
            <a:spAutoFit/>
          </a:bodyPr>
          <a:lstStyle/>
          <a:p>
            <a:pPr marL="457200" indent="-457200" eaLnBrk="0" hangingPunct="0">
              <a:lnSpc>
                <a:spcPct val="160000"/>
              </a:lnSpc>
              <a:spcBef>
                <a:spcPct val="50000"/>
              </a:spcBef>
              <a:buFont typeface="Wingdings" pitchFamily="2" charset="2"/>
              <a:buChar char="q"/>
            </a:pPr>
            <a:r>
              <a:rPr lang="en-US" sz="2400" b="1">
                <a:solidFill>
                  <a:srgbClr val="660033"/>
                </a:solidFill>
                <a:latin typeface="Times New Roman" pitchFamily="18" charset="0"/>
              </a:rPr>
              <a:t>The comment statements are used in a program must be started with a pair of slashes (//)</a:t>
            </a:r>
          </a:p>
          <a:p>
            <a:pPr marL="457200" indent="-457200" eaLnBrk="0" hangingPunct="0">
              <a:lnSpc>
                <a:spcPct val="160000"/>
              </a:lnSpc>
              <a:spcBef>
                <a:spcPct val="50000"/>
              </a:spcBef>
              <a:buFont typeface="Wingdings" pitchFamily="2" charset="2"/>
              <a:buChar char="q"/>
            </a:pPr>
            <a:r>
              <a:rPr lang="en-US" sz="2400" b="1">
                <a:solidFill>
                  <a:srgbClr val="660033"/>
                </a:solidFill>
                <a:latin typeface="Times New Roman" pitchFamily="18" charset="0"/>
              </a:rPr>
              <a:t>They may or may not be present in a program</a:t>
            </a:r>
          </a:p>
          <a:p>
            <a:pPr marL="457200" indent="-457200" eaLnBrk="0" hangingPunct="0">
              <a:lnSpc>
                <a:spcPct val="160000"/>
              </a:lnSpc>
              <a:spcBef>
                <a:spcPct val="50000"/>
              </a:spcBef>
              <a:buFont typeface="Wingdings" pitchFamily="2" charset="2"/>
              <a:buChar char="q"/>
            </a:pPr>
            <a:r>
              <a:rPr lang="en-US" sz="2400" b="1">
                <a:solidFill>
                  <a:srgbClr val="660033"/>
                </a:solidFill>
                <a:latin typeface="Times New Roman" pitchFamily="18" charset="0"/>
              </a:rPr>
              <a:t>It improves the readability of a program</a:t>
            </a:r>
          </a:p>
        </p:txBody>
      </p:sp>
      <p:sp>
        <p:nvSpPr>
          <p:cNvPr id="12291" name="WordArt 3"/>
          <p:cNvSpPr>
            <a:spLocks noChangeArrowheads="1" noChangeShapeType="1" noTextEdit="1"/>
          </p:cNvSpPr>
          <p:nvPr/>
        </p:nvSpPr>
        <p:spPr bwMode="auto">
          <a:xfrm>
            <a:off x="2281238" y="685800"/>
            <a:ext cx="3967162" cy="609600"/>
          </a:xfrm>
          <a:prstGeom prst="rect">
            <a:avLst/>
          </a:prstGeom>
        </p:spPr>
        <p:txBody>
          <a:bodyPr wrap="none" fromWordArt="1">
            <a:prstTxWarp prst="textFadeUp">
              <a:avLst>
                <a:gd name="adj" fmla="val 9991"/>
              </a:avLst>
            </a:prstTxWarp>
          </a:bodyPr>
          <a:lstStyle/>
          <a:p>
            <a:pPr algn="ctr"/>
            <a:r>
              <a:rPr lang="en-IN" sz="3600" kern="10">
                <a:ln w="12700">
                  <a:solidFill>
                    <a:srgbClr val="B2B2B2"/>
                  </a:solidFill>
                  <a:round/>
                  <a:headEnd/>
                  <a:tailEnd/>
                </a:ln>
                <a:solidFill>
                  <a:srgbClr val="FF0066"/>
                </a:solidFill>
                <a:effectLst>
                  <a:outerShdw dist="35921" dir="2700000" sy="50000" rotWithShape="0">
                    <a:srgbClr val="875B0D">
                      <a:alpha val="70000"/>
                    </a:srgbClr>
                  </a:outerShdw>
                </a:effectLst>
                <a:latin typeface="Arial Black"/>
              </a:rPr>
              <a:t>COMMENT LINES </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2"/>
          <a:srcRect/>
          <a:stretch>
            <a:fillRect/>
          </a:stretch>
        </p:blipFill>
        <p:spPr bwMode="auto">
          <a:xfrm>
            <a:off x="1066800" y="1524000"/>
            <a:ext cx="7391400" cy="4746625"/>
          </a:xfrm>
          <a:prstGeom prst="rect">
            <a:avLst/>
          </a:prstGeom>
          <a:noFill/>
          <a:ln w="9525">
            <a:noFill/>
            <a:miter lim="800000"/>
            <a:headEnd/>
            <a:tailEnd/>
          </a:ln>
        </p:spPr>
      </p:pic>
      <p:sp>
        <p:nvSpPr>
          <p:cNvPr id="13315" name="WordArt 3"/>
          <p:cNvSpPr>
            <a:spLocks noChangeArrowheads="1" noChangeShapeType="1" noTextEdit="1"/>
          </p:cNvSpPr>
          <p:nvPr/>
        </p:nvSpPr>
        <p:spPr bwMode="auto">
          <a:xfrm>
            <a:off x="1600200" y="381000"/>
            <a:ext cx="5867400" cy="533400"/>
          </a:xfrm>
          <a:prstGeom prst="rect">
            <a:avLst/>
          </a:prstGeom>
        </p:spPr>
        <p:txBody>
          <a:bodyPr wrap="none" fromWordArt="1">
            <a:prstTxWarp prst="textPlain">
              <a:avLst>
                <a:gd name="adj" fmla="val 50000"/>
              </a:avLst>
            </a:prstTxWarp>
          </a:bodyPr>
          <a:lstStyle/>
          <a:p>
            <a:pPr algn="ctr"/>
            <a:r>
              <a:rPr lang="en-IN"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a:rPr>
              <a:t>Compiling &amp; Running A Program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withEffect">
                                  <p:stCondLst>
                                    <p:cond delay="0"/>
                                  </p:stCondLst>
                                  <p:childTnLst>
                                    <p:set>
                                      <p:cBhvr>
                                        <p:cTn id="6" dur="1" fill="hold">
                                          <p:stCondLst>
                                            <p:cond delay="0"/>
                                          </p:stCondLst>
                                        </p:cTn>
                                        <p:tgtEl>
                                          <p:spTgt spid="15362"/>
                                        </p:tgtEl>
                                        <p:attrNameLst>
                                          <p:attrName>style.visibility</p:attrName>
                                        </p:attrNameLst>
                                      </p:cBhvr>
                                      <p:to>
                                        <p:strVal val="visible"/>
                                      </p:to>
                                    </p:set>
                                    <p:animEffect transition="in" filter="strips(downLeft)">
                                      <p:cBhvr>
                                        <p:cTn id="7" dur="500"/>
                                        <p:tgtEl>
                                          <p:spTgt spid="153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WordArt 2"/>
          <p:cNvSpPr>
            <a:spLocks noChangeArrowheads="1" noChangeShapeType="1" noTextEdit="1"/>
          </p:cNvSpPr>
          <p:nvPr/>
        </p:nvSpPr>
        <p:spPr bwMode="auto">
          <a:xfrm>
            <a:off x="1905000" y="533400"/>
            <a:ext cx="5181600" cy="647700"/>
          </a:xfrm>
          <a:prstGeom prst="rect">
            <a:avLst/>
          </a:prstGeom>
        </p:spPr>
        <p:txBody>
          <a:bodyPr wrap="none" fromWordArt="1">
            <a:prstTxWarp prst="textFadeUp">
              <a:avLst>
                <a:gd name="adj" fmla="val 9991"/>
              </a:avLst>
            </a:prstTxWarp>
          </a:bodyPr>
          <a:lstStyle/>
          <a:p>
            <a:pPr algn="ctr"/>
            <a:r>
              <a:rPr lang="en-IN" sz="3600" b="1" kern="10">
                <a:ln w="12700">
                  <a:solidFill>
                    <a:srgbClr val="B2B2B2"/>
                  </a:solidFill>
                  <a:round/>
                  <a:headEnd/>
                  <a:tailEnd/>
                </a:ln>
                <a:gradFill rotWithShape="1">
                  <a:gsLst>
                    <a:gs pos="0">
                      <a:srgbClr val="520402"/>
                    </a:gs>
                    <a:gs pos="100000">
                      <a:srgbClr val="FFCC00"/>
                    </a:gs>
                  </a:gsLst>
                  <a:lin ang="5400000" scaled="1"/>
                </a:gradFill>
                <a:effectLst>
                  <a:outerShdw dist="35921" dir="2700000" sy="50000" rotWithShape="0">
                    <a:srgbClr val="875B0D">
                      <a:alpha val="70000"/>
                    </a:srgbClr>
                  </a:outerShdw>
                </a:effectLst>
                <a:latin typeface="Arial Black"/>
              </a:rPr>
              <a:t>DATA TYPES</a:t>
            </a:r>
          </a:p>
        </p:txBody>
      </p:sp>
      <p:sp>
        <p:nvSpPr>
          <p:cNvPr id="16387" name="WordArt 3"/>
          <p:cNvSpPr>
            <a:spLocks noChangeArrowheads="1" noChangeShapeType="1" noTextEdit="1"/>
          </p:cNvSpPr>
          <p:nvPr/>
        </p:nvSpPr>
        <p:spPr bwMode="auto">
          <a:xfrm>
            <a:off x="1000125" y="2209800"/>
            <a:ext cx="3267075" cy="609600"/>
          </a:xfrm>
          <a:prstGeom prst="rect">
            <a:avLst/>
          </a:prstGeom>
        </p:spPr>
        <p:txBody>
          <a:bodyPr wrap="none" fromWordArt="1">
            <a:prstTxWarp prst="textPlain">
              <a:avLst>
                <a:gd name="adj" fmla="val 50000"/>
              </a:avLst>
            </a:prstTxWarp>
          </a:bodyPr>
          <a:lstStyle/>
          <a:p>
            <a:pPr algn="ctr"/>
            <a:r>
              <a:rPr lang="en-IN" sz="2400" kern="10">
                <a:ln w="9525">
                  <a:solidFill>
                    <a:srgbClr val="000000"/>
                  </a:solidFill>
                  <a:round/>
                  <a:headEnd/>
                  <a:tailEnd/>
                </a:ln>
                <a:solidFill>
                  <a:srgbClr val="FFFFFF"/>
                </a:solidFill>
                <a:effectLst>
                  <a:outerShdw dist="35921" dir="2700000" algn="ctr" rotWithShape="0">
                    <a:srgbClr val="808080">
                      <a:alpha val="79999"/>
                    </a:srgbClr>
                  </a:outerShdw>
                </a:effectLst>
                <a:latin typeface="Arial Black"/>
              </a:rPr>
              <a:t>Primary Data Types</a:t>
            </a:r>
          </a:p>
        </p:txBody>
      </p:sp>
      <p:sp>
        <p:nvSpPr>
          <p:cNvPr id="16388" name="WordArt 4"/>
          <p:cNvSpPr>
            <a:spLocks noChangeArrowheads="1" noChangeShapeType="1" noTextEdit="1"/>
          </p:cNvSpPr>
          <p:nvPr/>
        </p:nvSpPr>
        <p:spPr bwMode="auto">
          <a:xfrm>
            <a:off x="4657725" y="2286000"/>
            <a:ext cx="3267075" cy="657225"/>
          </a:xfrm>
          <a:prstGeom prst="rect">
            <a:avLst/>
          </a:prstGeom>
        </p:spPr>
        <p:txBody>
          <a:bodyPr wrap="none" fromWordArt="1">
            <a:prstTxWarp prst="textPlain">
              <a:avLst>
                <a:gd name="adj" fmla="val 50000"/>
              </a:avLst>
            </a:prstTxWarp>
          </a:bodyPr>
          <a:lstStyle/>
          <a:p>
            <a:pPr algn="ctr"/>
            <a:r>
              <a:rPr lang="en-IN" sz="2400" b="1" kern="10">
                <a:ln w="9525">
                  <a:solidFill>
                    <a:srgbClr val="000000"/>
                  </a:solidFill>
                  <a:round/>
                  <a:headEnd/>
                  <a:tailEnd/>
                </a:ln>
                <a:solidFill>
                  <a:srgbClr val="FFFFFF"/>
                </a:solidFill>
                <a:effectLst>
                  <a:outerShdw dist="35921" dir="2700000" algn="ctr" rotWithShape="0">
                    <a:srgbClr val="808080">
                      <a:alpha val="79999"/>
                    </a:srgbClr>
                  </a:outerShdw>
                </a:effectLst>
                <a:latin typeface="Arial Black"/>
              </a:rPr>
              <a:t>Secondary Data Types</a:t>
            </a:r>
          </a:p>
        </p:txBody>
      </p:sp>
      <p:cxnSp>
        <p:nvCxnSpPr>
          <p:cNvPr id="16389" name="AutoShape 5"/>
          <p:cNvCxnSpPr>
            <a:cxnSpLocks noChangeShapeType="1"/>
          </p:cNvCxnSpPr>
          <p:nvPr/>
        </p:nvCxnSpPr>
        <p:spPr bwMode="auto">
          <a:xfrm rot="16200000" flipH="1">
            <a:off x="5029200" y="1524000"/>
            <a:ext cx="1066800" cy="457200"/>
          </a:xfrm>
          <a:prstGeom prst="bentConnector3">
            <a:avLst>
              <a:gd name="adj1" fmla="val 50000"/>
            </a:avLst>
          </a:prstGeom>
          <a:noFill/>
          <a:ln w="38100">
            <a:solidFill>
              <a:schemeClr val="tx1"/>
            </a:solidFill>
            <a:miter lim="800000"/>
            <a:headEnd/>
            <a:tailEnd type="triangle" w="med" len="med"/>
          </a:ln>
        </p:spPr>
      </p:cxnSp>
      <p:cxnSp>
        <p:nvCxnSpPr>
          <p:cNvPr id="16390" name="AutoShape 6"/>
          <p:cNvCxnSpPr>
            <a:cxnSpLocks noChangeShapeType="1"/>
          </p:cNvCxnSpPr>
          <p:nvPr/>
        </p:nvCxnSpPr>
        <p:spPr bwMode="auto">
          <a:xfrm rot="5400000">
            <a:off x="3352800" y="1524000"/>
            <a:ext cx="838200" cy="381000"/>
          </a:xfrm>
          <a:prstGeom prst="bentConnector3">
            <a:avLst>
              <a:gd name="adj1" fmla="val 51704"/>
            </a:avLst>
          </a:prstGeom>
          <a:noFill/>
          <a:ln w="38100">
            <a:solidFill>
              <a:schemeClr val="tx1"/>
            </a:solidFill>
            <a:miter lim="800000"/>
            <a:headEnd/>
            <a:tailEnd type="triangle" w="med" len="med"/>
          </a:ln>
        </p:spPr>
      </p:cxnSp>
      <p:sp>
        <p:nvSpPr>
          <p:cNvPr id="16391" name="Text Box 7"/>
          <p:cNvSpPr txBox="1">
            <a:spLocks noChangeArrowheads="1"/>
          </p:cNvSpPr>
          <p:nvPr/>
        </p:nvSpPr>
        <p:spPr bwMode="auto">
          <a:xfrm>
            <a:off x="1524000" y="3657600"/>
            <a:ext cx="2057400" cy="2138363"/>
          </a:xfrm>
          <a:prstGeom prst="rect">
            <a:avLst/>
          </a:prstGeom>
          <a:noFill/>
          <a:ln w="38100">
            <a:solidFill>
              <a:schemeClr val="accent2"/>
            </a:solidFill>
            <a:miter lim="800000"/>
            <a:headEnd/>
            <a:tailEnd/>
          </a:ln>
        </p:spPr>
        <p:txBody>
          <a:bodyPr>
            <a:spAutoFit/>
          </a:bodyPr>
          <a:lstStyle/>
          <a:p>
            <a:pPr>
              <a:spcBef>
                <a:spcPct val="50000"/>
              </a:spcBef>
            </a:pPr>
            <a:r>
              <a:rPr lang="en-US" sz="2400" b="1">
                <a:latin typeface="Times New Roman" pitchFamily="18" charset="0"/>
              </a:rPr>
              <a:t>Character</a:t>
            </a:r>
          </a:p>
          <a:p>
            <a:pPr>
              <a:spcBef>
                <a:spcPct val="50000"/>
              </a:spcBef>
            </a:pPr>
            <a:r>
              <a:rPr lang="en-US" sz="2400" b="1">
                <a:latin typeface="Times New Roman" pitchFamily="18" charset="0"/>
              </a:rPr>
              <a:t>Integer</a:t>
            </a:r>
          </a:p>
          <a:p>
            <a:pPr>
              <a:spcBef>
                <a:spcPct val="50000"/>
              </a:spcBef>
            </a:pPr>
            <a:r>
              <a:rPr lang="en-US" sz="2400" b="1">
                <a:latin typeface="Times New Roman" pitchFamily="18" charset="0"/>
              </a:rPr>
              <a:t>Float</a:t>
            </a:r>
          </a:p>
          <a:p>
            <a:pPr>
              <a:spcBef>
                <a:spcPct val="50000"/>
              </a:spcBef>
            </a:pPr>
            <a:r>
              <a:rPr lang="en-US" sz="2400" b="1">
                <a:latin typeface="Times New Roman" pitchFamily="18" charset="0"/>
              </a:rPr>
              <a:t>Double</a:t>
            </a:r>
          </a:p>
        </p:txBody>
      </p:sp>
      <p:sp>
        <p:nvSpPr>
          <p:cNvPr id="16392" name="Text Box 8"/>
          <p:cNvSpPr txBox="1">
            <a:spLocks noChangeArrowheads="1"/>
          </p:cNvSpPr>
          <p:nvPr/>
        </p:nvSpPr>
        <p:spPr bwMode="auto">
          <a:xfrm>
            <a:off x="5410200" y="3729038"/>
            <a:ext cx="2057400" cy="2138362"/>
          </a:xfrm>
          <a:prstGeom prst="rect">
            <a:avLst/>
          </a:prstGeom>
          <a:noFill/>
          <a:ln w="38100">
            <a:solidFill>
              <a:schemeClr val="accent2"/>
            </a:solidFill>
            <a:miter lim="800000"/>
            <a:headEnd/>
            <a:tailEnd/>
          </a:ln>
        </p:spPr>
        <p:txBody>
          <a:bodyPr>
            <a:spAutoFit/>
          </a:bodyPr>
          <a:lstStyle/>
          <a:p>
            <a:pPr>
              <a:spcBef>
                <a:spcPct val="50000"/>
              </a:spcBef>
            </a:pPr>
            <a:r>
              <a:rPr lang="en-US" sz="2400" b="1">
                <a:latin typeface="Times New Roman" pitchFamily="18" charset="0"/>
              </a:rPr>
              <a:t>structure</a:t>
            </a:r>
          </a:p>
          <a:p>
            <a:pPr>
              <a:spcBef>
                <a:spcPct val="50000"/>
              </a:spcBef>
            </a:pPr>
            <a:r>
              <a:rPr lang="en-US" sz="2400" b="1">
                <a:latin typeface="Times New Roman" pitchFamily="18" charset="0"/>
              </a:rPr>
              <a:t>Union</a:t>
            </a:r>
          </a:p>
          <a:p>
            <a:pPr>
              <a:spcBef>
                <a:spcPct val="50000"/>
              </a:spcBef>
            </a:pPr>
            <a:r>
              <a:rPr lang="en-US" sz="2400" b="1">
                <a:latin typeface="Times New Roman" pitchFamily="18" charset="0"/>
              </a:rPr>
              <a:t>Pointer</a:t>
            </a:r>
          </a:p>
          <a:p>
            <a:pPr>
              <a:spcBef>
                <a:spcPct val="50000"/>
              </a:spcBef>
            </a:pPr>
            <a:r>
              <a:rPr lang="en-US" sz="2400" b="1">
                <a:latin typeface="Times New Roman" pitchFamily="18" charset="0"/>
              </a:rPr>
              <a:t>enum</a:t>
            </a:r>
          </a:p>
        </p:txBody>
      </p:sp>
      <p:sp>
        <p:nvSpPr>
          <p:cNvPr id="16393" name="Line 9"/>
          <p:cNvSpPr>
            <a:spLocks noChangeShapeType="1"/>
          </p:cNvSpPr>
          <p:nvPr/>
        </p:nvSpPr>
        <p:spPr bwMode="auto">
          <a:xfrm>
            <a:off x="2514600" y="2743200"/>
            <a:ext cx="0" cy="914400"/>
          </a:xfrm>
          <a:prstGeom prst="line">
            <a:avLst/>
          </a:prstGeom>
          <a:noFill/>
          <a:ln w="38100">
            <a:solidFill>
              <a:schemeClr val="tx1"/>
            </a:solidFill>
            <a:round/>
            <a:headEnd/>
            <a:tailEnd type="triangle" w="med" len="med"/>
          </a:ln>
        </p:spPr>
        <p:txBody>
          <a:bodyPr/>
          <a:lstStyle/>
          <a:p>
            <a:endParaRPr lang="en-IN"/>
          </a:p>
        </p:txBody>
      </p:sp>
      <p:sp>
        <p:nvSpPr>
          <p:cNvPr id="16394" name="Line 10"/>
          <p:cNvSpPr>
            <a:spLocks noChangeShapeType="1"/>
          </p:cNvSpPr>
          <p:nvPr/>
        </p:nvSpPr>
        <p:spPr bwMode="auto">
          <a:xfrm>
            <a:off x="6248400" y="2819400"/>
            <a:ext cx="0" cy="914400"/>
          </a:xfrm>
          <a:prstGeom prst="line">
            <a:avLst/>
          </a:prstGeom>
          <a:noFill/>
          <a:ln w="38100">
            <a:solidFill>
              <a:schemeClr val="tx1"/>
            </a:solidFill>
            <a:round/>
            <a:headEnd/>
            <a:tailEnd type="triangle" w="med" len="med"/>
          </a:ln>
        </p:spPr>
        <p:txBody>
          <a:bodyPr/>
          <a:lstStyle/>
          <a:p>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6" fill="hold" grpId="0" nodeType="withEffect">
                                  <p:stCondLst>
                                    <p:cond delay="0"/>
                                  </p:stCondLst>
                                  <p:childTnLst>
                                    <p:set>
                                      <p:cBhvr>
                                        <p:cTn id="6" dur="1" fill="hold">
                                          <p:stCondLst>
                                            <p:cond delay="0"/>
                                          </p:stCondLst>
                                        </p:cTn>
                                        <p:tgtEl>
                                          <p:spTgt spid="16386"/>
                                        </p:tgtEl>
                                        <p:attrNameLst>
                                          <p:attrName>style.visibility</p:attrName>
                                        </p:attrNameLst>
                                      </p:cBhvr>
                                      <p:to>
                                        <p:strVal val="visible"/>
                                      </p:to>
                                    </p:set>
                                    <p:anim calcmode="lin" valueType="num">
                                      <p:cBhvr>
                                        <p:cTn id="7" dur="500" fill="hold"/>
                                        <p:tgtEl>
                                          <p:spTgt spid="16386"/>
                                        </p:tgtEl>
                                        <p:attrNameLst>
                                          <p:attrName>ppt_w</p:attrName>
                                        </p:attrNameLst>
                                      </p:cBhvr>
                                      <p:tavLst>
                                        <p:tav tm="0">
                                          <p:val>
                                            <p:strVal val="(6*min(max(#ppt_w*#ppt_h,.3),1)-7.4)/-.7*#ppt_w"/>
                                          </p:val>
                                        </p:tav>
                                        <p:tav tm="100000">
                                          <p:val>
                                            <p:strVal val="#ppt_w"/>
                                          </p:val>
                                        </p:tav>
                                      </p:tavLst>
                                    </p:anim>
                                    <p:anim calcmode="lin" valueType="num">
                                      <p:cBhvr>
                                        <p:cTn id="8" dur="500" fill="hold"/>
                                        <p:tgtEl>
                                          <p:spTgt spid="16386"/>
                                        </p:tgtEl>
                                        <p:attrNameLst>
                                          <p:attrName>ppt_h</p:attrName>
                                        </p:attrNameLst>
                                      </p:cBhvr>
                                      <p:tavLst>
                                        <p:tav tm="0">
                                          <p:val>
                                            <p:strVal val="(6*min(max(#ppt_w*#ppt_h,.3),1)-7.4)/-.7*#ppt_h"/>
                                          </p:val>
                                        </p:tav>
                                        <p:tav tm="100000">
                                          <p:val>
                                            <p:strVal val="#ppt_h"/>
                                          </p:val>
                                        </p:tav>
                                      </p:tavLst>
                                    </p:anim>
                                    <p:anim calcmode="lin" valueType="num">
                                      <p:cBhvr>
                                        <p:cTn id="9" dur="500" fill="hold"/>
                                        <p:tgtEl>
                                          <p:spTgt spid="16386"/>
                                        </p:tgtEl>
                                        <p:attrNameLst>
                                          <p:attrName>ppt_x</p:attrName>
                                        </p:attrNameLst>
                                      </p:cBhvr>
                                      <p:tavLst>
                                        <p:tav tm="0">
                                          <p:val>
                                            <p:fltVal val="0.5"/>
                                          </p:val>
                                        </p:tav>
                                        <p:tav tm="100000">
                                          <p:val>
                                            <p:strVal val="#ppt_x"/>
                                          </p:val>
                                        </p:tav>
                                      </p:tavLst>
                                    </p:anim>
                                    <p:anim calcmode="lin" valueType="num">
                                      <p:cBhvr>
                                        <p:cTn id="10" dur="500" fill="hold"/>
                                        <p:tgtEl>
                                          <p:spTgt spid="16386"/>
                                        </p:tgtEl>
                                        <p:attrNameLst>
                                          <p:attrName>ppt_y</p:attrName>
                                        </p:attrNameLst>
                                      </p:cBhvr>
                                      <p:tavLst>
                                        <p:tav tm="0">
                                          <p:val>
                                            <p:strVal val="1+(6*min(max(#ppt_w*#ppt_h,.3),1)-7.4)/-.7*#ppt_h/2"/>
                                          </p:val>
                                        </p:tav>
                                        <p:tav tm="100000">
                                          <p:val>
                                            <p:strVal val="#ppt_y"/>
                                          </p:val>
                                        </p:tav>
                                      </p:tavLst>
                                    </p:anim>
                                  </p:childTnLst>
                                </p:cTn>
                              </p:par>
                            </p:childTnLst>
                          </p:cTn>
                        </p:par>
                        <p:par>
                          <p:cTn id="11" fill="hold">
                            <p:stCondLst>
                              <p:cond delay="500"/>
                            </p:stCondLst>
                            <p:childTnLst>
                              <p:par>
                                <p:cTn id="12" presetID="18" presetClass="entr" presetSubtype="12" fill="hold" nodeType="afterEffect">
                                  <p:stCondLst>
                                    <p:cond delay="0"/>
                                  </p:stCondLst>
                                  <p:childTnLst>
                                    <p:set>
                                      <p:cBhvr>
                                        <p:cTn id="13" dur="1" fill="hold">
                                          <p:stCondLst>
                                            <p:cond delay="0"/>
                                          </p:stCondLst>
                                        </p:cTn>
                                        <p:tgtEl>
                                          <p:spTgt spid="16390"/>
                                        </p:tgtEl>
                                        <p:attrNameLst>
                                          <p:attrName>style.visibility</p:attrName>
                                        </p:attrNameLst>
                                      </p:cBhvr>
                                      <p:to>
                                        <p:strVal val="visible"/>
                                      </p:to>
                                    </p:set>
                                    <p:animEffect transition="in" filter="strips(downLeft)">
                                      <p:cBhvr>
                                        <p:cTn id="14" dur="500"/>
                                        <p:tgtEl>
                                          <p:spTgt spid="16390"/>
                                        </p:tgtEl>
                                      </p:cBhvr>
                                    </p:animEffect>
                                  </p:childTnLst>
                                </p:cTn>
                              </p:par>
                            </p:childTnLst>
                          </p:cTn>
                        </p:par>
                        <p:par>
                          <p:cTn id="15" fill="hold">
                            <p:stCondLst>
                              <p:cond delay="1000"/>
                            </p:stCondLst>
                            <p:childTnLst>
                              <p:par>
                                <p:cTn id="16" presetID="18" presetClass="entr" presetSubtype="12" fill="hold" nodeType="afterEffect">
                                  <p:stCondLst>
                                    <p:cond delay="0"/>
                                  </p:stCondLst>
                                  <p:childTnLst>
                                    <p:set>
                                      <p:cBhvr>
                                        <p:cTn id="17" dur="1" fill="hold">
                                          <p:stCondLst>
                                            <p:cond delay="0"/>
                                          </p:stCondLst>
                                        </p:cTn>
                                        <p:tgtEl>
                                          <p:spTgt spid="16389"/>
                                        </p:tgtEl>
                                        <p:attrNameLst>
                                          <p:attrName>style.visibility</p:attrName>
                                        </p:attrNameLst>
                                      </p:cBhvr>
                                      <p:to>
                                        <p:strVal val="visible"/>
                                      </p:to>
                                    </p:set>
                                    <p:animEffect transition="in" filter="strips(downLeft)">
                                      <p:cBhvr>
                                        <p:cTn id="18" dur="500"/>
                                        <p:tgtEl>
                                          <p:spTgt spid="16389"/>
                                        </p:tgtEl>
                                      </p:cBhvr>
                                    </p:animEffect>
                                  </p:childTnLst>
                                </p:cTn>
                              </p:par>
                            </p:childTnLst>
                          </p:cTn>
                        </p:par>
                        <p:par>
                          <p:cTn id="19" fill="hold">
                            <p:stCondLst>
                              <p:cond delay="1500"/>
                            </p:stCondLst>
                            <p:childTnLst>
                              <p:par>
                                <p:cTn id="20" presetID="18" presetClass="entr" presetSubtype="3" fill="hold" grpId="0" nodeType="afterEffect">
                                  <p:stCondLst>
                                    <p:cond delay="0"/>
                                  </p:stCondLst>
                                  <p:childTnLst>
                                    <p:set>
                                      <p:cBhvr>
                                        <p:cTn id="21" dur="1" fill="hold">
                                          <p:stCondLst>
                                            <p:cond delay="0"/>
                                          </p:stCondLst>
                                        </p:cTn>
                                        <p:tgtEl>
                                          <p:spTgt spid="16387"/>
                                        </p:tgtEl>
                                        <p:attrNameLst>
                                          <p:attrName>style.visibility</p:attrName>
                                        </p:attrNameLst>
                                      </p:cBhvr>
                                      <p:to>
                                        <p:strVal val="visible"/>
                                      </p:to>
                                    </p:set>
                                    <p:animEffect transition="in" filter="strips(upRight)">
                                      <p:cBhvr>
                                        <p:cTn id="22" dur="500"/>
                                        <p:tgtEl>
                                          <p:spTgt spid="16387"/>
                                        </p:tgtEl>
                                      </p:cBhvr>
                                    </p:animEffect>
                                  </p:childTnLst>
                                </p:cTn>
                              </p:par>
                            </p:childTnLst>
                          </p:cTn>
                        </p:par>
                        <p:par>
                          <p:cTn id="23" fill="hold">
                            <p:stCondLst>
                              <p:cond delay="2000"/>
                            </p:stCondLst>
                            <p:childTnLst>
                              <p:par>
                                <p:cTn id="24" presetID="18" presetClass="entr" presetSubtype="3" fill="hold" grpId="0" nodeType="afterEffect">
                                  <p:stCondLst>
                                    <p:cond delay="0"/>
                                  </p:stCondLst>
                                  <p:childTnLst>
                                    <p:set>
                                      <p:cBhvr>
                                        <p:cTn id="25" dur="1" fill="hold">
                                          <p:stCondLst>
                                            <p:cond delay="0"/>
                                          </p:stCondLst>
                                        </p:cTn>
                                        <p:tgtEl>
                                          <p:spTgt spid="16388"/>
                                        </p:tgtEl>
                                        <p:attrNameLst>
                                          <p:attrName>style.visibility</p:attrName>
                                        </p:attrNameLst>
                                      </p:cBhvr>
                                      <p:to>
                                        <p:strVal val="visible"/>
                                      </p:to>
                                    </p:set>
                                    <p:animEffect transition="in" filter="strips(upRight)">
                                      <p:cBhvr>
                                        <p:cTn id="26" dur="500"/>
                                        <p:tgtEl>
                                          <p:spTgt spid="16388"/>
                                        </p:tgtEl>
                                      </p:cBhvr>
                                    </p:animEffect>
                                  </p:childTnLst>
                                </p:cTn>
                              </p:par>
                            </p:childTnLst>
                          </p:cTn>
                        </p:par>
                        <p:par>
                          <p:cTn id="27" fill="hold">
                            <p:stCondLst>
                              <p:cond delay="2500"/>
                            </p:stCondLst>
                            <p:childTnLst>
                              <p:par>
                                <p:cTn id="28" presetID="18" presetClass="entr" presetSubtype="12" fill="hold" grpId="0" nodeType="afterEffect">
                                  <p:stCondLst>
                                    <p:cond delay="0"/>
                                  </p:stCondLst>
                                  <p:childTnLst>
                                    <p:set>
                                      <p:cBhvr>
                                        <p:cTn id="29" dur="1" fill="hold">
                                          <p:stCondLst>
                                            <p:cond delay="0"/>
                                          </p:stCondLst>
                                        </p:cTn>
                                        <p:tgtEl>
                                          <p:spTgt spid="16393"/>
                                        </p:tgtEl>
                                        <p:attrNameLst>
                                          <p:attrName>style.visibility</p:attrName>
                                        </p:attrNameLst>
                                      </p:cBhvr>
                                      <p:to>
                                        <p:strVal val="visible"/>
                                      </p:to>
                                    </p:set>
                                    <p:animEffect transition="in" filter="strips(downLeft)">
                                      <p:cBhvr>
                                        <p:cTn id="30" dur="500"/>
                                        <p:tgtEl>
                                          <p:spTgt spid="16393"/>
                                        </p:tgtEl>
                                      </p:cBhvr>
                                    </p:animEffect>
                                  </p:childTnLst>
                                </p:cTn>
                              </p:par>
                            </p:childTnLst>
                          </p:cTn>
                        </p:par>
                        <p:par>
                          <p:cTn id="31" fill="hold">
                            <p:stCondLst>
                              <p:cond delay="3000"/>
                            </p:stCondLst>
                            <p:childTnLst>
                              <p:par>
                                <p:cTn id="32" presetID="18" presetClass="entr" presetSubtype="12" fill="hold" grpId="0" nodeType="afterEffect">
                                  <p:stCondLst>
                                    <p:cond delay="0"/>
                                  </p:stCondLst>
                                  <p:childTnLst>
                                    <p:set>
                                      <p:cBhvr>
                                        <p:cTn id="33" dur="1" fill="hold">
                                          <p:stCondLst>
                                            <p:cond delay="0"/>
                                          </p:stCondLst>
                                        </p:cTn>
                                        <p:tgtEl>
                                          <p:spTgt spid="16394"/>
                                        </p:tgtEl>
                                        <p:attrNameLst>
                                          <p:attrName>style.visibility</p:attrName>
                                        </p:attrNameLst>
                                      </p:cBhvr>
                                      <p:to>
                                        <p:strVal val="visible"/>
                                      </p:to>
                                    </p:set>
                                    <p:animEffect transition="in" filter="strips(downLeft)">
                                      <p:cBhvr>
                                        <p:cTn id="34" dur="500"/>
                                        <p:tgtEl>
                                          <p:spTgt spid="16394"/>
                                        </p:tgtEl>
                                      </p:cBhvr>
                                    </p:animEffect>
                                  </p:childTnLst>
                                </p:cTn>
                              </p:par>
                            </p:childTnLst>
                          </p:cTn>
                        </p:par>
                        <p:par>
                          <p:cTn id="35" fill="hold">
                            <p:stCondLst>
                              <p:cond delay="3500"/>
                            </p:stCondLst>
                            <p:childTnLst>
                              <p:par>
                                <p:cTn id="36" presetID="18" presetClass="entr" presetSubtype="12" fill="hold" grpId="0" nodeType="afterEffect">
                                  <p:stCondLst>
                                    <p:cond delay="0"/>
                                  </p:stCondLst>
                                  <p:childTnLst>
                                    <p:set>
                                      <p:cBhvr>
                                        <p:cTn id="37" dur="1" fill="hold">
                                          <p:stCondLst>
                                            <p:cond delay="0"/>
                                          </p:stCondLst>
                                        </p:cTn>
                                        <p:tgtEl>
                                          <p:spTgt spid="16391"/>
                                        </p:tgtEl>
                                        <p:attrNameLst>
                                          <p:attrName>style.visibility</p:attrName>
                                        </p:attrNameLst>
                                      </p:cBhvr>
                                      <p:to>
                                        <p:strVal val="visible"/>
                                      </p:to>
                                    </p:set>
                                    <p:animEffect transition="in" filter="strips(downLeft)">
                                      <p:cBhvr>
                                        <p:cTn id="38" dur="500"/>
                                        <p:tgtEl>
                                          <p:spTgt spid="16391"/>
                                        </p:tgtEl>
                                      </p:cBhvr>
                                    </p:animEffect>
                                  </p:childTnLst>
                                </p:cTn>
                              </p:par>
                            </p:childTnLst>
                          </p:cTn>
                        </p:par>
                        <p:par>
                          <p:cTn id="39" fill="hold">
                            <p:stCondLst>
                              <p:cond delay="4000"/>
                            </p:stCondLst>
                            <p:childTnLst>
                              <p:par>
                                <p:cTn id="40" presetID="18" presetClass="entr" presetSubtype="12" fill="hold" grpId="0" nodeType="afterEffect">
                                  <p:stCondLst>
                                    <p:cond delay="0"/>
                                  </p:stCondLst>
                                  <p:childTnLst>
                                    <p:set>
                                      <p:cBhvr>
                                        <p:cTn id="41" dur="1" fill="hold">
                                          <p:stCondLst>
                                            <p:cond delay="0"/>
                                          </p:stCondLst>
                                        </p:cTn>
                                        <p:tgtEl>
                                          <p:spTgt spid="16392"/>
                                        </p:tgtEl>
                                        <p:attrNameLst>
                                          <p:attrName>style.visibility</p:attrName>
                                        </p:attrNameLst>
                                      </p:cBhvr>
                                      <p:to>
                                        <p:strVal val="visible"/>
                                      </p:to>
                                    </p:set>
                                    <p:animEffect transition="in" filter="strips(downLeft)">
                                      <p:cBhvr>
                                        <p:cTn id="42" dur="500"/>
                                        <p:tgtEl>
                                          <p:spTgt spid="163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6" grpId="0" animBg="1"/>
      <p:bldP spid="16387" grpId="0" animBg="1"/>
      <p:bldP spid="16388" grpId="0" animBg="1"/>
      <p:bldP spid="16391" grpId="0" animBg="1"/>
      <p:bldP spid="16392" grpId="0" animBg="1"/>
      <p:bldP spid="16393" grpId="0" animBg="1"/>
      <p:bldP spid="16394"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WordArt 2"/>
          <p:cNvSpPr>
            <a:spLocks noChangeArrowheads="1" noChangeShapeType="1" noTextEdit="1"/>
          </p:cNvSpPr>
          <p:nvPr/>
        </p:nvSpPr>
        <p:spPr bwMode="auto">
          <a:xfrm>
            <a:off x="1752600" y="457200"/>
            <a:ext cx="5715000" cy="647700"/>
          </a:xfrm>
          <a:prstGeom prst="rect">
            <a:avLst/>
          </a:prstGeom>
        </p:spPr>
        <p:txBody>
          <a:bodyPr wrap="none" fromWordArt="1">
            <a:prstTxWarp prst="textPlain">
              <a:avLst>
                <a:gd name="adj" fmla="val 50000"/>
              </a:avLst>
            </a:prstTxWarp>
          </a:bodyPr>
          <a:lstStyle/>
          <a:p>
            <a:pPr algn="ctr"/>
            <a:r>
              <a:rPr lang="en-IN" sz="3600" i="1" kern="10">
                <a:ln w="9525">
                  <a:solidFill>
                    <a:srgbClr val="000000"/>
                  </a:solidFill>
                  <a:round/>
                  <a:headEnd/>
                  <a:tailEnd/>
                </a:ln>
                <a:solidFill>
                  <a:srgbClr val="FF0000"/>
                </a:solidFill>
                <a:effectLst>
                  <a:outerShdw dist="35921" dir="2700000" algn="ctr" rotWithShape="0">
                    <a:srgbClr val="808080">
                      <a:alpha val="79999"/>
                    </a:srgbClr>
                  </a:outerShdw>
                </a:effectLst>
                <a:latin typeface="Arial Black"/>
              </a:rPr>
              <a:t>Primary Data Types</a:t>
            </a:r>
          </a:p>
        </p:txBody>
      </p:sp>
      <p:pic>
        <p:nvPicPr>
          <p:cNvPr id="17411" name="Picture 3" descr="untitled"/>
          <p:cNvPicPr>
            <a:picLocks noChangeAspect="1" noChangeArrowheads="1"/>
          </p:cNvPicPr>
          <p:nvPr/>
        </p:nvPicPr>
        <p:blipFill>
          <a:blip r:embed="rId2"/>
          <a:srcRect/>
          <a:stretch>
            <a:fillRect/>
          </a:stretch>
        </p:blipFill>
        <p:spPr bwMode="auto">
          <a:xfrm>
            <a:off x="277813" y="1192213"/>
            <a:ext cx="8534400" cy="5562600"/>
          </a:xfrm>
          <a:prstGeom prst="rect">
            <a:avLst/>
          </a:prstGeom>
          <a:noFill/>
          <a:ln w="9525">
            <a:noFill/>
            <a:miter lim="800000"/>
            <a:headEnd/>
            <a:tailEnd/>
          </a:ln>
        </p:spPr>
      </p:pic>
    </p:spTree>
  </p:cSld>
  <p:clrMapOvr>
    <a:masterClrMapping/>
  </p:clrMapOvr>
  <p:transition spd="med">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grpId="0" nodeType="withEffect">
                                  <p:stCondLst>
                                    <p:cond delay="0"/>
                                  </p:stCondLst>
                                  <p:childTnLst>
                                    <p:animRot by="21600000">
                                      <p:cBhvr>
                                        <p:cTn id="6" dur="1000" fill="hold"/>
                                        <p:tgtEl>
                                          <p:spTgt spid="17410"/>
                                        </p:tgtEl>
                                        <p:attrNameLst>
                                          <p:attrName>r</p:attrName>
                                        </p:attrNameLst>
                                      </p:cBhvr>
                                    </p:animRot>
                                  </p:childTnLst>
                                </p:cTn>
                              </p:par>
                            </p:childTnLst>
                          </p:cTn>
                        </p:par>
                        <p:par>
                          <p:cTn id="7" fill="hold">
                            <p:stCondLst>
                              <p:cond delay="1000"/>
                            </p:stCondLst>
                            <p:childTnLst>
                              <p:par>
                                <p:cTn id="8" presetID="32" presetClass="emph" presetSubtype="0" fill="hold" nodeType="afterEffect">
                                  <p:stCondLst>
                                    <p:cond delay="0"/>
                                  </p:stCondLst>
                                  <p:childTnLst>
                                    <p:animClr clrSpc="rgb" dir="cw">
                                      <p:cBhvr override="childStyle">
                                        <p:cTn id="9" dur="100" fill="hold"/>
                                        <p:tgtEl>
                                          <p:spTgt spid="17411"/>
                                        </p:tgtEl>
                                        <p:attrNameLst>
                                          <p:attrName>style.color</p:attrName>
                                        </p:attrNameLst>
                                      </p:cBhvr>
                                      <p:to>
                                        <a:schemeClr val="accent2"/>
                                      </p:to>
                                    </p:animClr>
                                    <p:animClr clrSpc="rgb" dir="cw">
                                      <p:cBhvr>
                                        <p:cTn id="10" dur="100" fill="hold"/>
                                        <p:tgtEl>
                                          <p:spTgt spid="17411"/>
                                        </p:tgtEl>
                                        <p:attrNameLst>
                                          <p:attrName>fillcolor</p:attrName>
                                        </p:attrNameLst>
                                      </p:cBhvr>
                                      <p:to>
                                        <a:schemeClr val="accent2"/>
                                      </p:to>
                                    </p:animClr>
                                    <p:set>
                                      <p:cBhvr>
                                        <p:cTn id="11" dur="100" fill="hold"/>
                                        <p:tgtEl>
                                          <p:spTgt spid="17411"/>
                                        </p:tgtEl>
                                        <p:attrNameLst>
                                          <p:attrName>fill.type</p:attrName>
                                        </p:attrNameLst>
                                      </p:cBhvr>
                                      <p:to>
                                        <p:strVal val="solid"/>
                                      </p:to>
                                    </p:set>
                                    <p:set>
                                      <p:cBhvr>
                                        <p:cTn id="12" dur="100" fill="hold"/>
                                        <p:tgtEl>
                                          <p:spTgt spid="17411"/>
                                        </p:tgtEl>
                                        <p:attrNameLst>
                                          <p:attrName>fill.on</p:attrName>
                                        </p:attrNameLst>
                                      </p:cBhvr>
                                      <p:to>
                                        <p:strVal val="true"/>
                                      </p:to>
                                    </p:set>
                                    <p:animRot by="120000">
                                      <p:cBhvr>
                                        <p:cTn id="13" dur="100" fill="hold">
                                          <p:stCondLst>
                                            <p:cond delay="0"/>
                                          </p:stCondLst>
                                        </p:cTn>
                                        <p:tgtEl>
                                          <p:spTgt spid="17411"/>
                                        </p:tgtEl>
                                        <p:attrNameLst>
                                          <p:attrName>r</p:attrName>
                                        </p:attrNameLst>
                                      </p:cBhvr>
                                    </p:animRot>
                                    <p:animRot by="-240000">
                                      <p:cBhvr>
                                        <p:cTn id="14" dur="200" fill="hold">
                                          <p:stCondLst>
                                            <p:cond delay="200"/>
                                          </p:stCondLst>
                                        </p:cTn>
                                        <p:tgtEl>
                                          <p:spTgt spid="17411"/>
                                        </p:tgtEl>
                                        <p:attrNameLst>
                                          <p:attrName>r</p:attrName>
                                        </p:attrNameLst>
                                      </p:cBhvr>
                                    </p:animRot>
                                    <p:animRot by="240000">
                                      <p:cBhvr>
                                        <p:cTn id="15" dur="200" fill="hold">
                                          <p:stCondLst>
                                            <p:cond delay="400"/>
                                          </p:stCondLst>
                                        </p:cTn>
                                        <p:tgtEl>
                                          <p:spTgt spid="17411"/>
                                        </p:tgtEl>
                                        <p:attrNameLst>
                                          <p:attrName>r</p:attrName>
                                        </p:attrNameLst>
                                      </p:cBhvr>
                                    </p:animRot>
                                    <p:animRot by="-240000">
                                      <p:cBhvr>
                                        <p:cTn id="16" dur="200" fill="hold">
                                          <p:stCondLst>
                                            <p:cond delay="600"/>
                                          </p:stCondLst>
                                        </p:cTn>
                                        <p:tgtEl>
                                          <p:spTgt spid="17411"/>
                                        </p:tgtEl>
                                        <p:attrNameLst>
                                          <p:attrName>r</p:attrName>
                                        </p:attrNameLst>
                                      </p:cBhvr>
                                    </p:animRot>
                                    <p:animRot by="120000">
                                      <p:cBhvr>
                                        <p:cTn id="17" dur="200" fill="hold">
                                          <p:stCondLst>
                                            <p:cond delay="800"/>
                                          </p:stCondLst>
                                        </p:cTn>
                                        <p:tgtEl>
                                          <p:spTgt spid="17411"/>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WordArt 2"/>
          <p:cNvSpPr>
            <a:spLocks noChangeArrowheads="1" noChangeShapeType="1" noTextEdit="1"/>
          </p:cNvSpPr>
          <p:nvPr/>
        </p:nvSpPr>
        <p:spPr bwMode="auto">
          <a:xfrm>
            <a:off x="1666875" y="609600"/>
            <a:ext cx="5495925" cy="647700"/>
          </a:xfrm>
          <a:prstGeom prst="rect">
            <a:avLst/>
          </a:prstGeom>
        </p:spPr>
        <p:txBody>
          <a:bodyPr wrap="none" fromWordArt="1">
            <a:prstTxWarp prst="textPlain">
              <a:avLst>
                <a:gd name="adj" fmla="val 50000"/>
              </a:avLst>
            </a:prstTxWarp>
          </a:bodyPr>
          <a:lstStyle/>
          <a:p>
            <a:pPr algn="ctr"/>
            <a:r>
              <a:rPr lang="en-IN" sz="3600" i="1" kern="10">
                <a:ln w="9525">
                  <a:solidFill>
                    <a:srgbClr val="000000"/>
                  </a:solidFill>
                  <a:round/>
                  <a:headEnd/>
                  <a:tailEnd/>
                </a:ln>
                <a:solidFill>
                  <a:srgbClr val="FF0000"/>
                </a:solidFill>
                <a:effectLst>
                  <a:outerShdw dist="35921" dir="2700000" algn="ctr" rotWithShape="0">
                    <a:srgbClr val="808080">
                      <a:alpha val="79999"/>
                    </a:srgbClr>
                  </a:outerShdw>
                </a:effectLst>
                <a:latin typeface="Arial Black"/>
              </a:rPr>
              <a:t>Secondary Data Types</a:t>
            </a:r>
          </a:p>
        </p:txBody>
      </p:sp>
      <p:sp>
        <p:nvSpPr>
          <p:cNvPr id="16387" name="Text Box 3"/>
          <p:cNvSpPr txBox="1">
            <a:spLocks noChangeArrowheads="1"/>
          </p:cNvSpPr>
          <p:nvPr/>
        </p:nvSpPr>
        <p:spPr bwMode="auto">
          <a:xfrm>
            <a:off x="1524000" y="1905000"/>
            <a:ext cx="6553200" cy="2709863"/>
          </a:xfrm>
          <a:prstGeom prst="rect">
            <a:avLst/>
          </a:prstGeom>
          <a:noFill/>
          <a:ln w="9525">
            <a:noFill/>
            <a:miter lim="800000"/>
            <a:headEnd/>
            <a:tailEnd/>
          </a:ln>
        </p:spPr>
        <p:txBody>
          <a:bodyPr>
            <a:spAutoFit/>
          </a:bodyPr>
          <a:lstStyle/>
          <a:p>
            <a:pPr>
              <a:spcBef>
                <a:spcPct val="50000"/>
              </a:spcBef>
            </a:pPr>
            <a:r>
              <a:rPr lang="en-US" sz="2400" b="1">
                <a:solidFill>
                  <a:srgbClr val="006600"/>
                </a:solidFill>
              </a:rPr>
              <a:t>1.</a:t>
            </a:r>
            <a:r>
              <a:rPr lang="en-US" sz="2800" b="1">
                <a:solidFill>
                  <a:srgbClr val="006600"/>
                </a:solidFill>
              </a:rPr>
              <a:t>Type Definition</a:t>
            </a:r>
          </a:p>
          <a:p>
            <a:pPr>
              <a:spcBef>
                <a:spcPct val="50000"/>
              </a:spcBef>
            </a:pPr>
            <a:r>
              <a:rPr lang="en-US" sz="2400" b="1" i="1" u="sng"/>
              <a:t>Example:</a:t>
            </a:r>
            <a:r>
              <a:rPr lang="en-US" sz="2400" b="1"/>
              <a:t>	Typedef int age;</a:t>
            </a:r>
          </a:p>
          <a:p>
            <a:pPr>
              <a:spcBef>
                <a:spcPct val="50000"/>
              </a:spcBef>
            </a:pPr>
            <a:r>
              <a:rPr lang="en-US" sz="2400" b="1"/>
              <a:t>		age male,female</a:t>
            </a:r>
          </a:p>
          <a:p>
            <a:pPr>
              <a:spcBef>
                <a:spcPct val="50000"/>
              </a:spcBef>
            </a:pPr>
            <a:endParaRPr lang="en-US" sz="2400" b="1"/>
          </a:p>
          <a:p>
            <a:pPr>
              <a:spcBef>
                <a:spcPct val="50000"/>
              </a:spcBef>
            </a:pPr>
            <a:r>
              <a:rPr lang="en-US" sz="2400" b="1">
                <a:solidFill>
                  <a:srgbClr val="006600"/>
                </a:solidFill>
              </a:rPr>
              <a:t>2.Enumerated Datatype</a:t>
            </a:r>
          </a:p>
        </p:txBody>
      </p:sp>
      <p:sp>
        <p:nvSpPr>
          <p:cNvPr id="16388" name="Text Box 4"/>
          <p:cNvSpPr txBox="1">
            <a:spLocks noChangeArrowheads="1"/>
          </p:cNvSpPr>
          <p:nvPr/>
        </p:nvSpPr>
        <p:spPr bwMode="auto">
          <a:xfrm>
            <a:off x="1524000" y="4775200"/>
            <a:ext cx="7620000" cy="863600"/>
          </a:xfrm>
          <a:prstGeom prst="rect">
            <a:avLst/>
          </a:prstGeom>
          <a:noFill/>
          <a:ln w="9525">
            <a:solidFill>
              <a:srgbClr val="FF0000"/>
            </a:solidFill>
            <a:miter lim="800000"/>
            <a:headEnd/>
            <a:tailEnd/>
          </a:ln>
        </p:spPr>
        <p:txBody>
          <a:bodyPr>
            <a:spAutoFit/>
          </a:bodyPr>
          <a:lstStyle/>
          <a:p>
            <a:pPr>
              <a:spcBef>
                <a:spcPct val="50000"/>
              </a:spcBef>
            </a:pPr>
            <a:r>
              <a:rPr lang="en-US" sz="2000" b="1" i="1" u="sng"/>
              <a:t>Example :</a:t>
            </a:r>
            <a:r>
              <a:rPr lang="en-US" sz="2000" b="1"/>
              <a:t>  </a:t>
            </a:r>
          </a:p>
          <a:p>
            <a:pPr>
              <a:spcBef>
                <a:spcPct val="50000"/>
              </a:spcBef>
            </a:pPr>
            <a:r>
              <a:rPr lang="en-US" sz="2000" b="1"/>
              <a:t>enum mon{jan,feb,mar,apr,may,jun,jul,aug,sep,oct,nov,dec };</a:t>
            </a:r>
          </a:p>
        </p:txBody>
      </p:sp>
      <p:sp>
        <p:nvSpPr>
          <p:cNvPr id="16389" name="AutoShape 5"/>
          <p:cNvSpPr>
            <a:spLocks noChangeArrowheads="1"/>
          </p:cNvSpPr>
          <p:nvPr/>
        </p:nvSpPr>
        <p:spPr bwMode="auto">
          <a:xfrm>
            <a:off x="838200" y="4267200"/>
            <a:ext cx="609600" cy="838200"/>
          </a:xfrm>
          <a:prstGeom prst="curvedRightArrow">
            <a:avLst>
              <a:gd name="adj1" fmla="val 27500"/>
              <a:gd name="adj2" fmla="val 55000"/>
              <a:gd name="adj3" fmla="val 33333"/>
            </a:avLst>
          </a:prstGeom>
          <a:solidFill>
            <a:schemeClr val="accent1"/>
          </a:solidFill>
          <a:ln w="9525">
            <a:solidFill>
              <a:schemeClr val="tx1"/>
            </a:solidFill>
            <a:miter lim="800000"/>
            <a:headEnd/>
            <a:tailEnd/>
          </a:ln>
        </p:spPr>
        <p:txBody>
          <a:bodyPr wrap="none" anchor="ctr"/>
          <a:lstStyle/>
          <a:p>
            <a:endParaRPr lang="en-US"/>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AutoShape 2"/>
          <p:cNvSpPr>
            <a:spLocks noChangeArrowheads="1"/>
          </p:cNvSpPr>
          <p:nvPr/>
        </p:nvSpPr>
        <p:spPr bwMode="auto">
          <a:xfrm>
            <a:off x="0" y="0"/>
            <a:ext cx="7620000" cy="6858000"/>
          </a:xfrm>
          <a:prstGeom prst="flowChartMultidocument">
            <a:avLst/>
          </a:prstGeom>
          <a:solidFill>
            <a:schemeClr val="accent1"/>
          </a:solidFill>
          <a:ln w="9525">
            <a:solidFill>
              <a:schemeClr val="tx1"/>
            </a:solidFill>
            <a:miter lim="800000"/>
            <a:headEnd/>
            <a:tailEnd/>
          </a:ln>
        </p:spPr>
        <p:txBody>
          <a:bodyPr wrap="none" anchor="ctr"/>
          <a:lstStyle/>
          <a:p>
            <a:pPr algn="ctr" eaLnBrk="0" hangingPunct="0"/>
            <a:endParaRPr lang="en-US">
              <a:latin typeface="Verdana" pitchFamily="34" charset="0"/>
            </a:endParaRPr>
          </a:p>
        </p:txBody>
      </p:sp>
      <p:grpSp>
        <p:nvGrpSpPr>
          <p:cNvPr id="2" name="Group 3"/>
          <p:cNvGrpSpPr>
            <a:grpSpLocks/>
          </p:cNvGrpSpPr>
          <p:nvPr/>
        </p:nvGrpSpPr>
        <p:grpSpPr bwMode="auto">
          <a:xfrm>
            <a:off x="1143000" y="152400"/>
            <a:ext cx="6096000" cy="5219700"/>
            <a:chOff x="720" y="624"/>
            <a:chExt cx="3840" cy="3288"/>
          </a:xfrm>
        </p:grpSpPr>
        <p:sp>
          <p:nvSpPr>
            <p:cNvPr id="17413" name="WordArt 4"/>
            <p:cNvSpPr>
              <a:spLocks noChangeArrowheads="1" noChangeShapeType="1" noTextEdit="1"/>
            </p:cNvSpPr>
            <p:nvPr/>
          </p:nvSpPr>
          <p:spPr bwMode="auto">
            <a:xfrm>
              <a:off x="720" y="624"/>
              <a:ext cx="2424" cy="312"/>
            </a:xfrm>
            <a:prstGeom prst="rect">
              <a:avLst/>
            </a:prstGeom>
          </p:spPr>
          <p:txBody>
            <a:bodyPr wrap="none" fromWordArt="1">
              <a:prstTxWarp prst="textPlain">
                <a:avLst>
                  <a:gd name="adj" fmla="val 50000"/>
                </a:avLst>
              </a:prstTxWarp>
            </a:bodyPr>
            <a:lstStyle/>
            <a:p>
              <a:pPr algn="ctr"/>
              <a:r>
                <a:rPr lang="en-IN" sz="2800" kern="10">
                  <a:ln w="12700">
                    <a:noFill/>
                    <a:round/>
                    <a:headEnd/>
                    <a:tailEnd/>
                  </a:ln>
                  <a:solidFill>
                    <a:srgbClr val="CC0099"/>
                  </a:solidFill>
                  <a:latin typeface="Arial Black"/>
                </a:rPr>
                <a:t>Arithmetic Operator</a:t>
              </a:r>
            </a:p>
          </p:txBody>
        </p:sp>
        <p:sp>
          <p:nvSpPr>
            <p:cNvPr id="17414" name="WordArt 5"/>
            <p:cNvSpPr>
              <a:spLocks noChangeArrowheads="1" noChangeShapeType="1" noTextEdit="1"/>
            </p:cNvSpPr>
            <p:nvPr/>
          </p:nvSpPr>
          <p:spPr bwMode="auto">
            <a:xfrm>
              <a:off x="720" y="1008"/>
              <a:ext cx="2382" cy="312"/>
            </a:xfrm>
            <a:prstGeom prst="rect">
              <a:avLst/>
            </a:prstGeom>
          </p:spPr>
          <p:txBody>
            <a:bodyPr wrap="none" fromWordArt="1">
              <a:prstTxWarp prst="textPlain">
                <a:avLst>
                  <a:gd name="adj" fmla="val 50000"/>
                </a:avLst>
              </a:prstTxWarp>
            </a:bodyPr>
            <a:lstStyle/>
            <a:p>
              <a:pPr algn="ctr"/>
              <a:r>
                <a:rPr lang="en-IN" sz="2800" kern="10">
                  <a:ln w="12700">
                    <a:noFill/>
                    <a:round/>
                    <a:headEnd/>
                    <a:tailEnd/>
                  </a:ln>
                  <a:solidFill>
                    <a:srgbClr val="CC0099"/>
                  </a:solidFill>
                  <a:latin typeface="Arial Black"/>
                </a:rPr>
                <a:t>Relational Operator</a:t>
              </a:r>
            </a:p>
          </p:txBody>
        </p:sp>
        <p:sp>
          <p:nvSpPr>
            <p:cNvPr id="17415" name="WordArt 6"/>
            <p:cNvSpPr>
              <a:spLocks noChangeArrowheads="1" noChangeShapeType="1" noTextEdit="1"/>
            </p:cNvSpPr>
            <p:nvPr/>
          </p:nvSpPr>
          <p:spPr bwMode="auto">
            <a:xfrm>
              <a:off x="768" y="1392"/>
              <a:ext cx="2040" cy="312"/>
            </a:xfrm>
            <a:prstGeom prst="rect">
              <a:avLst/>
            </a:prstGeom>
          </p:spPr>
          <p:txBody>
            <a:bodyPr wrap="none" fromWordArt="1">
              <a:prstTxWarp prst="textPlain">
                <a:avLst>
                  <a:gd name="adj" fmla="val 50000"/>
                </a:avLst>
              </a:prstTxWarp>
            </a:bodyPr>
            <a:lstStyle/>
            <a:p>
              <a:pPr algn="ctr"/>
              <a:r>
                <a:rPr lang="en-IN" sz="2800" kern="10">
                  <a:ln w="12700">
                    <a:noFill/>
                    <a:round/>
                    <a:headEnd/>
                    <a:tailEnd/>
                  </a:ln>
                  <a:solidFill>
                    <a:srgbClr val="CC0099"/>
                  </a:solidFill>
                  <a:latin typeface="Arial Black"/>
                </a:rPr>
                <a:t>Logical Operator</a:t>
              </a:r>
            </a:p>
          </p:txBody>
        </p:sp>
        <p:sp>
          <p:nvSpPr>
            <p:cNvPr id="17416" name="WordArt 7"/>
            <p:cNvSpPr>
              <a:spLocks noChangeArrowheads="1" noChangeShapeType="1" noTextEdit="1"/>
            </p:cNvSpPr>
            <p:nvPr/>
          </p:nvSpPr>
          <p:spPr bwMode="auto">
            <a:xfrm>
              <a:off x="768" y="1776"/>
              <a:ext cx="2586" cy="312"/>
            </a:xfrm>
            <a:prstGeom prst="rect">
              <a:avLst/>
            </a:prstGeom>
          </p:spPr>
          <p:txBody>
            <a:bodyPr wrap="none" fromWordArt="1">
              <a:prstTxWarp prst="textPlain">
                <a:avLst>
                  <a:gd name="adj" fmla="val 50000"/>
                </a:avLst>
              </a:prstTxWarp>
            </a:bodyPr>
            <a:lstStyle/>
            <a:p>
              <a:pPr algn="ctr"/>
              <a:r>
                <a:rPr lang="en-IN" sz="2800" kern="10">
                  <a:ln w="12700">
                    <a:noFill/>
                    <a:round/>
                    <a:headEnd/>
                    <a:tailEnd/>
                  </a:ln>
                  <a:solidFill>
                    <a:srgbClr val="CC0099"/>
                  </a:solidFill>
                  <a:latin typeface="Arial Black"/>
                </a:rPr>
                <a:t>Assignment Operator</a:t>
              </a:r>
            </a:p>
          </p:txBody>
        </p:sp>
        <p:sp>
          <p:nvSpPr>
            <p:cNvPr id="17417" name="WordArt 8"/>
            <p:cNvSpPr>
              <a:spLocks noChangeArrowheads="1" noChangeShapeType="1" noTextEdit="1"/>
            </p:cNvSpPr>
            <p:nvPr/>
          </p:nvSpPr>
          <p:spPr bwMode="auto">
            <a:xfrm>
              <a:off x="768" y="2256"/>
              <a:ext cx="3792" cy="312"/>
            </a:xfrm>
            <a:prstGeom prst="rect">
              <a:avLst/>
            </a:prstGeom>
          </p:spPr>
          <p:txBody>
            <a:bodyPr wrap="none" fromWordArt="1">
              <a:prstTxWarp prst="textPlain">
                <a:avLst>
                  <a:gd name="adj" fmla="val 50000"/>
                </a:avLst>
              </a:prstTxWarp>
            </a:bodyPr>
            <a:lstStyle/>
            <a:p>
              <a:pPr algn="ctr"/>
              <a:r>
                <a:rPr lang="en-IN" sz="2800" kern="10">
                  <a:ln w="12700">
                    <a:noFill/>
                    <a:round/>
                    <a:headEnd/>
                    <a:tailEnd/>
                  </a:ln>
                  <a:solidFill>
                    <a:srgbClr val="CC0099"/>
                  </a:solidFill>
                  <a:latin typeface="Arial Black"/>
                </a:rPr>
                <a:t>Increment/Decrement Operator</a:t>
              </a:r>
            </a:p>
          </p:txBody>
        </p:sp>
        <p:sp>
          <p:nvSpPr>
            <p:cNvPr id="17418" name="WordArt 9"/>
            <p:cNvSpPr>
              <a:spLocks noChangeArrowheads="1" noChangeShapeType="1" noTextEdit="1"/>
            </p:cNvSpPr>
            <p:nvPr/>
          </p:nvSpPr>
          <p:spPr bwMode="auto">
            <a:xfrm>
              <a:off x="768" y="2736"/>
              <a:ext cx="2604" cy="312"/>
            </a:xfrm>
            <a:prstGeom prst="rect">
              <a:avLst/>
            </a:prstGeom>
          </p:spPr>
          <p:txBody>
            <a:bodyPr wrap="none" fromWordArt="1">
              <a:prstTxWarp prst="textPlain">
                <a:avLst>
                  <a:gd name="adj" fmla="val 50000"/>
                </a:avLst>
              </a:prstTxWarp>
            </a:bodyPr>
            <a:lstStyle/>
            <a:p>
              <a:pPr algn="ctr"/>
              <a:r>
                <a:rPr lang="en-IN" sz="2800" kern="10">
                  <a:ln w="12700">
                    <a:noFill/>
                    <a:round/>
                    <a:headEnd/>
                    <a:tailEnd/>
                  </a:ln>
                  <a:solidFill>
                    <a:srgbClr val="CC0099"/>
                  </a:solidFill>
                  <a:latin typeface="Arial Black"/>
                </a:rPr>
                <a:t>Conditional  Operator</a:t>
              </a:r>
            </a:p>
          </p:txBody>
        </p:sp>
        <p:sp>
          <p:nvSpPr>
            <p:cNvPr id="17419" name="WordArt 10"/>
            <p:cNvSpPr>
              <a:spLocks noChangeArrowheads="1" noChangeShapeType="1" noTextEdit="1"/>
            </p:cNvSpPr>
            <p:nvPr/>
          </p:nvSpPr>
          <p:spPr bwMode="auto">
            <a:xfrm>
              <a:off x="816" y="3168"/>
              <a:ext cx="2058" cy="312"/>
            </a:xfrm>
            <a:prstGeom prst="rect">
              <a:avLst/>
            </a:prstGeom>
          </p:spPr>
          <p:txBody>
            <a:bodyPr wrap="none" fromWordArt="1">
              <a:prstTxWarp prst="textPlain">
                <a:avLst>
                  <a:gd name="adj" fmla="val 50000"/>
                </a:avLst>
              </a:prstTxWarp>
            </a:bodyPr>
            <a:lstStyle/>
            <a:p>
              <a:pPr algn="ctr"/>
              <a:r>
                <a:rPr lang="en-IN" sz="2800" kern="10">
                  <a:ln w="12700">
                    <a:noFill/>
                    <a:round/>
                    <a:headEnd/>
                    <a:tailEnd/>
                  </a:ln>
                  <a:solidFill>
                    <a:srgbClr val="CC0099"/>
                  </a:solidFill>
                  <a:latin typeface="Arial Black"/>
                </a:rPr>
                <a:t>Bitwise Operator</a:t>
              </a:r>
            </a:p>
          </p:txBody>
        </p:sp>
        <p:sp>
          <p:nvSpPr>
            <p:cNvPr id="17420" name="WordArt 11"/>
            <p:cNvSpPr>
              <a:spLocks noChangeArrowheads="1" noChangeShapeType="1" noTextEdit="1"/>
            </p:cNvSpPr>
            <p:nvPr/>
          </p:nvSpPr>
          <p:spPr bwMode="auto">
            <a:xfrm>
              <a:off x="816" y="3600"/>
              <a:ext cx="2052" cy="312"/>
            </a:xfrm>
            <a:prstGeom prst="rect">
              <a:avLst/>
            </a:prstGeom>
          </p:spPr>
          <p:txBody>
            <a:bodyPr wrap="none" fromWordArt="1">
              <a:prstTxWarp prst="textPlain">
                <a:avLst>
                  <a:gd name="adj" fmla="val 50000"/>
                </a:avLst>
              </a:prstTxWarp>
            </a:bodyPr>
            <a:lstStyle/>
            <a:p>
              <a:pPr algn="ctr"/>
              <a:r>
                <a:rPr lang="en-IN" sz="2800" kern="10">
                  <a:ln w="12700">
                    <a:noFill/>
                    <a:round/>
                    <a:headEnd/>
                    <a:tailEnd/>
                  </a:ln>
                  <a:solidFill>
                    <a:srgbClr val="CC0099"/>
                  </a:solidFill>
                  <a:latin typeface="Arial Black"/>
                </a:rPr>
                <a:t>Special Operator</a:t>
              </a:r>
            </a:p>
          </p:txBody>
        </p:sp>
      </p:grpSp>
      <p:sp>
        <p:nvSpPr>
          <p:cNvPr id="17412" name="WordArt 12"/>
          <p:cNvSpPr>
            <a:spLocks noChangeArrowheads="1" noChangeShapeType="1" noTextEdit="1"/>
          </p:cNvSpPr>
          <p:nvPr/>
        </p:nvSpPr>
        <p:spPr bwMode="auto">
          <a:xfrm>
            <a:off x="1295400" y="5486400"/>
            <a:ext cx="4800600" cy="609600"/>
          </a:xfrm>
          <a:prstGeom prst="rect">
            <a:avLst/>
          </a:prstGeom>
        </p:spPr>
        <p:txBody>
          <a:bodyPr wrap="none" fromWordArt="1">
            <a:prstTxWarp prst="textPlain">
              <a:avLst>
                <a:gd name="adj" fmla="val 50000"/>
              </a:avLst>
            </a:prstTxWarp>
          </a:bodyPr>
          <a:lstStyle/>
          <a:p>
            <a:pPr algn="ctr"/>
            <a:r>
              <a:rPr lang="en-IN" sz="3600" b="1" kern="10">
                <a:ln w="9525">
                  <a:solidFill>
                    <a:srgbClr val="000000"/>
                  </a:solidFill>
                  <a:round/>
                  <a:headEnd/>
                  <a:tailEnd/>
                </a:ln>
                <a:solidFill>
                  <a:srgbClr val="FF3399"/>
                </a:solidFill>
                <a:latin typeface="Arial Black"/>
              </a:rPr>
              <a:t>Scope Resolution Operator</a:t>
            </a: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482" name="Group 2"/>
          <p:cNvGraphicFramePr>
            <a:graphicFrameLocks noGrp="1"/>
          </p:cNvGraphicFramePr>
          <p:nvPr/>
        </p:nvGraphicFramePr>
        <p:xfrm>
          <a:off x="1828800" y="1600200"/>
          <a:ext cx="4876800" cy="2135632"/>
        </p:xfrm>
        <a:graphic>
          <a:graphicData uri="http://schemas.openxmlformats.org/drawingml/2006/table">
            <a:tbl>
              <a:tblPr/>
              <a:tblGrid>
                <a:gridCol w="1143000"/>
                <a:gridCol w="1676400"/>
                <a:gridCol w="2057400"/>
              </a:tblGrid>
              <a:tr h="3524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smtClean="0">
                          <a:ln>
                            <a:noFill/>
                          </a:ln>
                          <a:solidFill>
                            <a:schemeClr val="bg1"/>
                          </a:solidFill>
                          <a:effectLst/>
                          <a:latin typeface="Arial" charset="0"/>
                        </a:rPr>
                        <a:t>Operator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99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smtClean="0">
                          <a:ln>
                            <a:noFill/>
                          </a:ln>
                          <a:solidFill>
                            <a:schemeClr val="bg1"/>
                          </a:solidFill>
                          <a:effectLst/>
                          <a:latin typeface="Arial" charset="0"/>
                        </a:rPr>
                        <a:t>Meaning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99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smtClean="0">
                          <a:ln>
                            <a:noFill/>
                          </a:ln>
                          <a:solidFill>
                            <a:schemeClr val="bg1"/>
                          </a:solidFill>
                          <a:effectLst/>
                          <a:latin typeface="Arial" charset="0"/>
                        </a:rPr>
                        <a:t>Example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9900"/>
                    </a:solidFill>
                  </a:tcPr>
                </a:tc>
              </a:tr>
              <a:tr h="485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smtClean="0">
                          <a:ln>
                            <a:noFill/>
                          </a:ln>
                          <a:solidFill>
                            <a:schemeClr val="bg1"/>
                          </a:solidFill>
                          <a:effectLst/>
                          <a:latin typeface="Arial" charset="0"/>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99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smtClean="0">
                          <a:ln>
                            <a:noFill/>
                          </a:ln>
                          <a:solidFill>
                            <a:schemeClr val="bg1"/>
                          </a:solidFill>
                          <a:effectLst/>
                          <a:latin typeface="Arial" charset="0"/>
                        </a:rPr>
                        <a:t>Addition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99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smtClean="0">
                          <a:ln>
                            <a:noFill/>
                          </a:ln>
                          <a:solidFill>
                            <a:schemeClr val="bg1"/>
                          </a:solidFill>
                          <a:effectLst/>
                          <a:latin typeface="Arial" charset="0"/>
                        </a:rPr>
                        <a:t>x=10,y=5</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err="1" smtClean="0">
                          <a:ln>
                            <a:noFill/>
                          </a:ln>
                          <a:solidFill>
                            <a:schemeClr val="bg1"/>
                          </a:solidFill>
                          <a:effectLst/>
                          <a:latin typeface="Arial" charset="0"/>
                        </a:rPr>
                        <a:t>x+y</a:t>
                      </a:r>
                      <a:r>
                        <a:rPr kumimoji="0" lang="en-US" sz="1400" b="1" i="0" u="none" strike="noStrike" cap="none" normalizeH="0" baseline="0" dirty="0" smtClean="0">
                          <a:ln>
                            <a:noFill/>
                          </a:ln>
                          <a:solidFill>
                            <a:schemeClr val="bg1"/>
                          </a:solidFill>
                          <a:effectLst/>
                          <a:latin typeface="Arial" charset="0"/>
                        </a:rPr>
                        <a:t> = 15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9900"/>
                    </a:solidFill>
                  </a:tcPr>
                </a:tc>
              </a:tr>
              <a:tr h="3079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smtClean="0">
                          <a:ln>
                            <a:noFill/>
                          </a:ln>
                          <a:solidFill>
                            <a:schemeClr val="bg1"/>
                          </a:solidFill>
                          <a:effectLst/>
                          <a:latin typeface="Arial" charset="0"/>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99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smtClean="0">
                          <a:ln>
                            <a:noFill/>
                          </a:ln>
                          <a:solidFill>
                            <a:schemeClr val="bg1"/>
                          </a:solidFill>
                          <a:effectLst/>
                          <a:latin typeface="Arial" charset="0"/>
                        </a:rPr>
                        <a:t>Subtraction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99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smtClean="0">
                          <a:ln>
                            <a:noFill/>
                          </a:ln>
                          <a:solidFill>
                            <a:schemeClr val="bg1"/>
                          </a:solidFill>
                          <a:effectLst/>
                          <a:latin typeface="Arial" charset="0"/>
                        </a:rPr>
                        <a:t>x-y = 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9900"/>
                    </a:solidFill>
                  </a:tcPr>
                </a:tc>
              </a:tr>
              <a:tr h="3048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smtClean="0">
                          <a:ln>
                            <a:noFill/>
                          </a:ln>
                          <a:solidFill>
                            <a:schemeClr val="bg1"/>
                          </a:solidFill>
                          <a:effectLst/>
                          <a:latin typeface="Arial" charset="0"/>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99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smtClean="0">
                          <a:ln>
                            <a:noFill/>
                          </a:ln>
                          <a:solidFill>
                            <a:schemeClr val="bg1"/>
                          </a:solidFill>
                          <a:effectLst/>
                          <a:latin typeface="Arial" charset="0"/>
                        </a:rPr>
                        <a:t>Multiplication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99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smtClean="0">
                          <a:ln>
                            <a:noFill/>
                          </a:ln>
                          <a:solidFill>
                            <a:schemeClr val="bg1"/>
                          </a:solidFill>
                          <a:effectLst/>
                          <a:latin typeface="Arial" charset="0"/>
                        </a:rPr>
                        <a:t>x*y = 50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9900"/>
                    </a:solidFill>
                  </a:tcPr>
                </a:tc>
              </a:tr>
              <a:tr h="3048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smtClean="0">
                          <a:ln>
                            <a:noFill/>
                          </a:ln>
                          <a:solidFill>
                            <a:schemeClr val="bg1"/>
                          </a:solidFill>
                          <a:effectLst/>
                          <a:latin typeface="Arial" charset="0"/>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99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smtClean="0">
                          <a:ln>
                            <a:noFill/>
                          </a:ln>
                          <a:solidFill>
                            <a:schemeClr val="bg1"/>
                          </a:solidFill>
                          <a:effectLst/>
                          <a:latin typeface="Arial" charset="0"/>
                        </a:rPr>
                        <a:t>Division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99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smtClean="0">
                          <a:ln>
                            <a:noFill/>
                          </a:ln>
                          <a:solidFill>
                            <a:schemeClr val="bg1"/>
                          </a:solidFill>
                          <a:effectLst/>
                          <a:latin typeface="Arial" charset="0"/>
                        </a:rPr>
                        <a:t>x/y = 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9900"/>
                    </a:solidFill>
                  </a:tcPr>
                </a:tc>
              </a:tr>
              <a:tr h="3048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smtClean="0">
                          <a:ln>
                            <a:noFill/>
                          </a:ln>
                          <a:solidFill>
                            <a:schemeClr val="bg1"/>
                          </a:solidFill>
                          <a:effectLst/>
                          <a:latin typeface="Arial" charset="0"/>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99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smtClean="0">
                          <a:ln>
                            <a:noFill/>
                          </a:ln>
                          <a:solidFill>
                            <a:schemeClr val="bg1"/>
                          </a:solidFill>
                          <a:effectLst/>
                          <a:latin typeface="Arial" charset="0"/>
                        </a:rPr>
                        <a:t>Modulo Division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99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err="1" smtClean="0">
                          <a:ln>
                            <a:noFill/>
                          </a:ln>
                          <a:solidFill>
                            <a:schemeClr val="bg1"/>
                          </a:solidFill>
                          <a:effectLst/>
                          <a:latin typeface="Arial" charset="0"/>
                        </a:rPr>
                        <a:t>x%y</a:t>
                      </a:r>
                      <a:r>
                        <a:rPr kumimoji="0" lang="en-US" sz="1400" b="1" i="0" u="none" strike="noStrike" cap="none" normalizeH="0" baseline="0" dirty="0" smtClean="0">
                          <a:ln>
                            <a:noFill/>
                          </a:ln>
                          <a:solidFill>
                            <a:schemeClr val="bg1"/>
                          </a:solidFill>
                          <a:effectLst/>
                          <a:latin typeface="Arial" charset="0"/>
                        </a:rPr>
                        <a:t> = 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9900"/>
                    </a:solidFill>
                  </a:tcPr>
                </a:tc>
              </a:tr>
            </a:tbl>
          </a:graphicData>
        </a:graphic>
      </p:graphicFrame>
      <p:grpSp>
        <p:nvGrpSpPr>
          <p:cNvPr id="2" name="Group 32"/>
          <p:cNvGrpSpPr>
            <a:grpSpLocks/>
          </p:cNvGrpSpPr>
          <p:nvPr/>
        </p:nvGrpSpPr>
        <p:grpSpPr bwMode="auto">
          <a:xfrm>
            <a:off x="2209800" y="76200"/>
            <a:ext cx="4419600" cy="609600"/>
            <a:chOff x="768" y="192"/>
            <a:chExt cx="4224" cy="432"/>
          </a:xfrm>
        </p:grpSpPr>
        <p:sp>
          <p:nvSpPr>
            <p:cNvPr id="18468" name="AutoShape 33"/>
            <p:cNvSpPr>
              <a:spLocks noChangeArrowheads="1"/>
            </p:cNvSpPr>
            <p:nvPr/>
          </p:nvSpPr>
          <p:spPr bwMode="auto">
            <a:xfrm>
              <a:off x="768" y="192"/>
              <a:ext cx="4224" cy="432"/>
            </a:xfrm>
            <a:prstGeom prst="flowChartAlternateProcess">
              <a:avLst/>
            </a:prstGeom>
            <a:solidFill>
              <a:srgbClr val="CC0066"/>
            </a:solidFill>
            <a:ln w="9525">
              <a:solidFill>
                <a:schemeClr val="tx1"/>
              </a:solidFill>
              <a:miter lim="800000"/>
              <a:headEnd/>
              <a:tailEnd/>
            </a:ln>
          </p:spPr>
          <p:txBody>
            <a:bodyPr wrap="none" anchor="ctr"/>
            <a:lstStyle/>
            <a:p>
              <a:endParaRPr lang="en-US"/>
            </a:p>
          </p:txBody>
        </p:sp>
        <p:sp>
          <p:nvSpPr>
            <p:cNvPr id="18469" name="Text Box 34"/>
            <p:cNvSpPr txBox="1">
              <a:spLocks noChangeArrowheads="1"/>
            </p:cNvSpPr>
            <p:nvPr/>
          </p:nvSpPr>
          <p:spPr bwMode="auto">
            <a:xfrm>
              <a:off x="912" y="240"/>
              <a:ext cx="3888" cy="368"/>
            </a:xfrm>
            <a:prstGeom prst="rect">
              <a:avLst/>
            </a:prstGeom>
            <a:noFill/>
            <a:ln w="9525">
              <a:noFill/>
              <a:miter lim="800000"/>
              <a:headEnd/>
              <a:tailEnd/>
            </a:ln>
          </p:spPr>
          <p:txBody>
            <a:bodyPr>
              <a:spAutoFit/>
            </a:bodyPr>
            <a:lstStyle/>
            <a:p>
              <a:pPr algn="ctr">
                <a:spcBef>
                  <a:spcPct val="50000"/>
                </a:spcBef>
              </a:pPr>
              <a:r>
                <a:rPr lang="en-US" sz="2800" b="1">
                  <a:solidFill>
                    <a:schemeClr val="bg1"/>
                  </a:solidFill>
                </a:rPr>
                <a:t>Arithmetic Operators</a:t>
              </a:r>
            </a:p>
          </p:txBody>
        </p:sp>
      </p:grpSp>
      <p:sp>
        <p:nvSpPr>
          <p:cNvPr id="20515" name="Text Box 35"/>
          <p:cNvSpPr txBox="1">
            <a:spLocks noChangeArrowheads="1"/>
          </p:cNvSpPr>
          <p:nvPr/>
        </p:nvSpPr>
        <p:spPr bwMode="auto">
          <a:xfrm>
            <a:off x="304800" y="762000"/>
            <a:ext cx="8839200" cy="822325"/>
          </a:xfrm>
          <a:prstGeom prst="rect">
            <a:avLst/>
          </a:prstGeom>
          <a:noFill/>
          <a:ln w="9525">
            <a:noFill/>
            <a:miter lim="800000"/>
            <a:headEnd/>
            <a:tailEnd/>
          </a:ln>
        </p:spPr>
        <p:txBody>
          <a:bodyPr>
            <a:spAutoFit/>
          </a:bodyPr>
          <a:lstStyle/>
          <a:p>
            <a:pPr>
              <a:spcBef>
                <a:spcPct val="50000"/>
              </a:spcBef>
              <a:buFontTx/>
              <a:buBlip>
                <a:blip r:embed="rId2"/>
              </a:buBlip>
            </a:pPr>
            <a:r>
              <a:rPr lang="en-US" sz="2400" b="1">
                <a:solidFill>
                  <a:srgbClr val="990033"/>
                </a:solidFill>
                <a:latin typeface="Times New Roman" pitchFamily="18" charset="0"/>
                <a:cs typeface="Times New Roman" pitchFamily="18" charset="0"/>
              </a:rPr>
              <a:t>     Arithmetic Operators are used to perform numerical   operations</a:t>
            </a:r>
          </a:p>
        </p:txBody>
      </p:sp>
      <p:pic>
        <p:nvPicPr>
          <p:cNvPr id="20516" name="Picture 36" descr="binary"/>
          <p:cNvPicPr>
            <a:picLocks noChangeAspect="1" noChangeArrowheads="1"/>
          </p:cNvPicPr>
          <p:nvPr/>
        </p:nvPicPr>
        <p:blipFill>
          <a:blip r:embed="rId3"/>
          <a:srcRect/>
          <a:stretch>
            <a:fillRect/>
          </a:stretch>
        </p:blipFill>
        <p:spPr bwMode="auto">
          <a:xfrm>
            <a:off x="228600" y="3810000"/>
            <a:ext cx="4402138" cy="3028950"/>
          </a:xfrm>
          <a:prstGeom prst="rect">
            <a:avLst/>
          </a:prstGeom>
          <a:noFill/>
          <a:ln w="9525">
            <a:noFill/>
            <a:miter lim="800000"/>
            <a:headEnd/>
            <a:tailEnd/>
          </a:ln>
        </p:spPr>
      </p:pic>
      <p:pic>
        <p:nvPicPr>
          <p:cNvPr id="20517" name="Picture 37" descr="op"/>
          <p:cNvPicPr>
            <a:picLocks noChangeAspect="1" noChangeArrowheads="1"/>
          </p:cNvPicPr>
          <p:nvPr/>
        </p:nvPicPr>
        <p:blipFill>
          <a:blip r:embed="rId4"/>
          <a:srcRect/>
          <a:stretch>
            <a:fillRect/>
          </a:stretch>
        </p:blipFill>
        <p:spPr bwMode="auto">
          <a:xfrm>
            <a:off x="4876800" y="3835400"/>
            <a:ext cx="3886200" cy="3022600"/>
          </a:xfrm>
          <a:prstGeom prst="rect">
            <a:avLst/>
          </a:prstGeom>
          <a:noFill/>
          <a:ln w="9525">
            <a:noFill/>
            <a:miter lim="800000"/>
            <a:headEnd/>
            <a:tailEnd/>
          </a:ln>
        </p:spPr>
      </p:pic>
    </p:spTree>
  </p:cSld>
  <p:clrMapOvr>
    <a:masterClrMapping/>
  </p:clrMapOvr>
  <p:transition spd="med">
    <p:push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20515"/>
                                        </p:tgtEl>
                                        <p:attrNameLst>
                                          <p:attrName>style.visibility</p:attrName>
                                        </p:attrNameLst>
                                      </p:cBhvr>
                                      <p:to>
                                        <p:strVal val="visible"/>
                                      </p:to>
                                    </p:set>
                                    <p:animEffect transition="in" filter="slide(fromLeft)">
                                      <p:cBhvr>
                                        <p:cTn id="7" dur="500"/>
                                        <p:tgtEl>
                                          <p:spTgt spid="20515"/>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499"/>
                                          </p:stCondLst>
                                        </p:cTn>
                                        <p:tgtEl>
                                          <p:spTgt spid="20482"/>
                                        </p:tgtEl>
                                        <p:attrNameLst>
                                          <p:attrName>style.visibility</p:attrName>
                                        </p:attrNameLst>
                                      </p:cBhvr>
                                      <p:to>
                                        <p:strVal val="visible"/>
                                      </p:to>
                                    </p:set>
                                  </p:childTnLst>
                                </p:cTn>
                              </p:par>
                            </p:childTnLst>
                          </p:cTn>
                        </p:par>
                        <p:par>
                          <p:cTn id="11" fill="hold">
                            <p:stCondLst>
                              <p:cond delay="1000"/>
                            </p:stCondLst>
                            <p:childTnLst>
                              <p:par>
                                <p:cTn id="12" presetID="9" presetClass="entr" presetSubtype="0" fill="hold" nodeType="afterEffect">
                                  <p:stCondLst>
                                    <p:cond delay="0"/>
                                  </p:stCondLst>
                                  <p:childTnLst>
                                    <p:set>
                                      <p:cBhvr>
                                        <p:cTn id="13" dur="1" fill="hold">
                                          <p:stCondLst>
                                            <p:cond delay="0"/>
                                          </p:stCondLst>
                                        </p:cTn>
                                        <p:tgtEl>
                                          <p:spTgt spid="20516"/>
                                        </p:tgtEl>
                                        <p:attrNameLst>
                                          <p:attrName>style.visibility</p:attrName>
                                        </p:attrNameLst>
                                      </p:cBhvr>
                                      <p:to>
                                        <p:strVal val="visible"/>
                                      </p:to>
                                    </p:set>
                                    <p:animEffect transition="in" filter="dissolve">
                                      <p:cBhvr>
                                        <p:cTn id="14" dur="500"/>
                                        <p:tgtEl>
                                          <p:spTgt spid="20516"/>
                                        </p:tgtEl>
                                      </p:cBhvr>
                                    </p:animEffect>
                                  </p:childTnLst>
                                </p:cTn>
                              </p:par>
                            </p:childTnLst>
                          </p:cTn>
                        </p:par>
                        <p:par>
                          <p:cTn id="15" fill="hold">
                            <p:stCondLst>
                              <p:cond delay="1500"/>
                            </p:stCondLst>
                            <p:childTnLst>
                              <p:par>
                                <p:cTn id="16" presetID="23" presetClass="entr" presetSubtype="288" fill="hold" nodeType="afterEffect">
                                  <p:stCondLst>
                                    <p:cond delay="0"/>
                                  </p:stCondLst>
                                  <p:childTnLst>
                                    <p:set>
                                      <p:cBhvr>
                                        <p:cTn id="17" dur="1" fill="hold">
                                          <p:stCondLst>
                                            <p:cond delay="0"/>
                                          </p:stCondLst>
                                        </p:cTn>
                                        <p:tgtEl>
                                          <p:spTgt spid="20517"/>
                                        </p:tgtEl>
                                        <p:attrNameLst>
                                          <p:attrName>style.visibility</p:attrName>
                                        </p:attrNameLst>
                                      </p:cBhvr>
                                      <p:to>
                                        <p:strVal val="visible"/>
                                      </p:to>
                                    </p:set>
                                    <p:anim calcmode="lin" valueType="num">
                                      <p:cBhvr>
                                        <p:cTn id="18" dur="500" fill="hold"/>
                                        <p:tgtEl>
                                          <p:spTgt spid="20517"/>
                                        </p:tgtEl>
                                        <p:attrNameLst>
                                          <p:attrName>ppt_w</p:attrName>
                                        </p:attrNameLst>
                                      </p:cBhvr>
                                      <p:tavLst>
                                        <p:tav tm="0">
                                          <p:val>
                                            <p:strVal val="4/3*#ppt_w"/>
                                          </p:val>
                                        </p:tav>
                                        <p:tav tm="100000">
                                          <p:val>
                                            <p:strVal val="#ppt_w"/>
                                          </p:val>
                                        </p:tav>
                                      </p:tavLst>
                                    </p:anim>
                                    <p:anim calcmode="lin" valueType="num">
                                      <p:cBhvr>
                                        <p:cTn id="19" dur="500" fill="hold"/>
                                        <p:tgtEl>
                                          <p:spTgt spid="20517"/>
                                        </p:tgtEl>
                                        <p:attrNameLst>
                                          <p:attrName>ppt_h</p:attrName>
                                        </p:attrNameLst>
                                      </p:cBhvr>
                                      <p:tavLst>
                                        <p:tav tm="0">
                                          <p:val>
                                            <p:strVal val="4/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15" grpId="0"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2209800" y="381000"/>
            <a:ext cx="4876800" cy="576263"/>
            <a:chOff x="960" y="74"/>
            <a:chExt cx="3552" cy="460"/>
          </a:xfrm>
        </p:grpSpPr>
        <p:sp>
          <p:nvSpPr>
            <p:cNvPr id="19510" name="AutoShape 3"/>
            <p:cNvSpPr>
              <a:spLocks noChangeArrowheads="1"/>
            </p:cNvSpPr>
            <p:nvPr/>
          </p:nvSpPr>
          <p:spPr bwMode="auto">
            <a:xfrm>
              <a:off x="960" y="74"/>
              <a:ext cx="3552" cy="454"/>
            </a:xfrm>
            <a:prstGeom prst="flowChartAlternateProcess">
              <a:avLst/>
            </a:prstGeom>
            <a:solidFill>
              <a:srgbClr val="FF7C80"/>
            </a:solidFill>
            <a:ln w="9525">
              <a:solidFill>
                <a:schemeClr val="tx1"/>
              </a:solidFill>
              <a:miter lim="800000"/>
              <a:headEnd/>
              <a:tailEnd/>
            </a:ln>
          </p:spPr>
          <p:txBody>
            <a:bodyPr wrap="none" anchor="ctr"/>
            <a:lstStyle/>
            <a:p>
              <a:endParaRPr lang="en-US"/>
            </a:p>
          </p:txBody>
        </p:sp>
        <p:sp>
          <p:nvSpPr>
            <p:cNvPr id="19511" name="Text Box 4"/>
            <p:cNvSpPr txBox="1">
              <a:spLocks noChangeArrowheads="1"/>
            </p:cNvSpPr>
            <p:nvPr/>
          </p:nvSpPr>
          <p:spPr bwMode="auto">
            <a:xfrm>
              <a:off x="1079" y="120"/>
              <a:ext cx="3226" cy="414"/>
            </a:xfrm>
            <a:prstGeom prst="rect">
              <a:avLst/>
            </a:prstGeom>
            <a:solidFill>
              <a:srgbClr val="FF7C80"/>
            </a:solidFill>
            <a:ln w="9525">
              <a:noFill/>
              <a:miter lim="800000"/>
              <a:headEnd/>
              <a:tailEnd/>
            </a:ln>
          </p:spPr>
          <p:txBody>
            <a:bodyPr>
              <a:spAutoFit/>
            </a:bodyPr>
            <a:lstStyle/>
            <a:p>
              <a:pPr algn="ctr">
                <a:spcBef>
                  <a:spcPct val="50000"/>
                </a:spcBef>
              </a:pPr>
              <a:r>
                <a:rPr lang="en-US" sz="2800" b="1">
                  <a:solidFill>
                    <a:schemeClr val="bg1"/>
                  </a:solidFill>
                </a:rPr>
                <a:t>Relational Operators</a:t>
              </a:r>
            </a:p>
          </p:txBody>
        </p:sp>
      </p:grpSp>
      <p:graphicFrame>
        <p:nvGraphicFramePr>
          <p:cNvPr id="21509" name="Group 5"/>
          <p:cNvGraphicFramePr>
            <a:graphicFrameLocks noGrp="1"/>
          </p:cNvGraphicFramePr>
          <p:nvPr/>
        </p:nvGraphicFramePr>
        <p:xfrm>
          <a:off x="609600" y="2362200"/>
          <a:ext cx="8077200" cy="4229672"/>
        </p:xfrm>
        <a:graphic>
          <a:graphicData uri="http://schemas.openxmlformats.org/drawingml/2006/table">
            <a:tbl>
              <a:tblPr/>
              <a:tblGrid>
                <a:gridCol w="1295400"/>
                <a:gridCol w="2430463"/>
                <a:gridCol w="1912937"/>
                <a:gridCol w="1404938"/>
                <a:gridCol w="1033462"/>
              </a:tblGrid>
              <a:tr h="4222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smtClean="0">
                          <a:ln>
                            <a:noFill/>
                          </a:ln>
                          <a:solidFill>
                            <a:schemeClr val="bg1"/>
                          </a:solidFill>
                          <a:effectLst/>
                          <a:latin typeface="Arial" charset="0"/>
                        </a:rPr>
                        <a:t>Operator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smtClean="0">
                          <a:ln>
                            <a:noFill/>
                          </a:ln>
                          <a:solidFill>
                            <a:schemeClr val="bg1"/>
                          </a:solidFill>
                          <a:effectLst/>
                          <a:latin typeface="Arial" charset="0"/>
                        </a:rPr>
                        <a:t>Meaning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smtClean="0">
                          <a:ln>
                            <a:noFill/>
                          </a:ln>
                          <a:solidFill>
                            <a:schemeClr val="bg1"/>
                          </a:solidFill>
                          <a:effectLst/>
                          <a:latin typeface="Arial" charset="0"/>
                        </a:rPr>
                        <a:t>Example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smtClean="0">
                          <a:ln>
                            <a:noFill/>
                          </a:ln>
                          <a:solidFill>
                            <a:schemeClr val="bg1"/>
                          </a:solidFill>
                          <a:effectLst/>
                          <a:latin typeface="Arial" charset="0"/>
                        </a:rPr>
                        <a:t>Result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smtClean="0">
                          <a:ln>
                            <a:noFill/>
                          </a:ln>
                          <a:solidFill>
                            <a:schemeClr val="bg1"/>
                          </a:solidFill>
                          <a:effectLst/>
                          <a:latin typeface="Arial" charset="0"/>
                        </a:rPr>
                        <a:t>value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00"/>
                    </a:solidFill>
                  </a:tcPr>
                </a:tc>
              </a:tr>
              <a:tr h="6699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bg1"/>
                          </a:solidFill>
                          <a:effectLst/>
                          <a:latin typeface="Arial" charset="0"/>
                        </a:rPr>
                        <a:t>&lt;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smtClean="0">
                          <a:ln>
                            <a:noFill/>
                          </a:ln>
                          <a:solidFill>
                            <a:schemeClr val="bg1"/>
                          </a:solidFill>
                          <a:effectLst/>
                          <a:latin typeface="Arial" charset="0"/>
                        </a:rPr>
                        <a:t>Less Than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smtClean="0">
                          <a:ln>
                            <a:noFill/>
                          </a:ln>
                          <a:solidFill>
                            <a:schemeClr val="bg1"/>
                          </a:solidFill>
                          <a:effectLst/>
                          <a:latin typeface="Arial" charset="0"/>
                        </a:rPr>
                        <a:t>x=10,y=5</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smtClean="0">
                          <a:ln>
                            <a:noFill/>
                          </a:ln>
                          <a:solidFill>
                            <a:schemeClr val="bg1"/>
                          </a:solidFill>
                          <a:effectLst/>
                          <a:latin typeface="Arial" charset="0"/>
                        </a:rPr>
                        <a:t>x&lt;y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smtClean="0">
                          <a:ln>
                            <a:noFill/>
                          </a:ln>
                          <a:solidFill>
                            <a:schemeClr val="bg1"/>
                          </a:solidFill>
                          <a:effectLst/>
                          <a:latin typeface="Arial" charset="0"/>
                        </a:rPr>
                        <a:t>False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smtClean="0">
                          <a:ln>
                            <a:noFill/>
                          </a:ln>
                          <a:solidFill>
                            <a:schemeClr val="bg1"/>
                          </a:solidFill>
                          <a:effectLst/>
                          <a:latin typeface="Arial"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00"/>
                    </a:solidFill>
                  </a:tcPr>
                </a:tc>
              </a:tr>
              <a:tr h="6159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bg1"/>
                          </a:solidFill>
                          <a:effectLst/>
                          <a:latin typeface="Arial" charset="0"/>
                        </a:rPr>
                        <a:t>&gt;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smtClean="0">
                          <a:ln>
                            <a:noFill/>
                          </a:ln>
                          <a:solidFill>
                            <a:schemeClr val="bg1"/>
                          </a:solidFill>
                          <a:effectLst/>
                          <a:latin typeface="Arial" charset="0"/>
                        </a:rPr>
                        <a:t>Greater Than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smtClean="0">
                          <a:ln>
                            <a:noFill/>
                          </a:ln>
                          <a:solidFill>
                            <a:schemeClr val="bg1"/>
                          </a:solidFill>
                          <a:effectLst/>
                          <a:latin typeface="Arial" charset="0"/>
                        </a:rPr>
                        <a:t>x&gt;y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smtClean="0">
                          <a:ln>
                            <a:noFill/>
                          </a:ln>
                          <a:solidFill>
                            <a:schemeClr val="bg1"/>
                          </a:solidFill>
                          <a:effectLst/>
                          <a:latin typeface="Arial" charset="0"/>
                        </a:rPr>
                        <a:t>True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smtClean="0">
                          <a:ln>
                            <a:noFill/>
                          </a:ln>
                          <a:solidFill>
                            <a:schemeClr val="bg1"/>
                          </a:solidFill>
                          <a:effectLst/>
                          <a:latin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00"/>
                    </a:solidFill>
                  </a:tcPr>
                </a:tc>
              </a:tr>
              <a:tr h="8731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bg1"/>
                          </a:solidFill>
                          <a:effectLst/>
                          <a:latin typeface="Arial" charset="0"/>
                        </a:rPr>
                        <a:t>&lt;=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smtClean="0">
                          <a:ln>
                            <a:noFill/>
                          </a:ln>
                          <a:solidFill>
                            <a:schemeClr val="bg1"/>
                          </a:solidFill>
                          <a:effectLst/>
                          <a:latin typeface="Arial" charset="0"/>
                        </a:rPr>
                        <a:t>Less than or Equal 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smtClean="0">
                          <a:ln>
                            <a:noFill/>
                          </a:ln>
                          <a:solidFill>
                            <a:schemeClr val="bg1"/>
                          </a:solidFill>
                          <a:effectLst/>
                          <a:latin typeface="Arial" charset="0"/>
                        </a:rPr>
                        <a:t>x&lt;=y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smtClean="0">
                          <a:ln>
                            <a:noFill/>
                          </a:ln>
                          <a:solidFill>
                            <a:schemeClr val="bg1"/>
                          </a:solidFill>
                          <a:effectLst/>
                          <a:latin typeface="Arial" charset="0"/>
                        </a:rPr>
                        <a:t>False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smtClean="0">
                          <a:ln>
                            <a:noFill/>
                          </a:ln>
                          <a:solidFill>
                            <a:schemeClr val="bg1"/>
                          </a:solidFill>
                          <a:effectLst/>
                          <a:latin typeface="Arial"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00"/>
                    </a:solidFill>
                  </a:tcPr>
                </a:tc>
              </a:tr>
              <a:tr h="6270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bg1"/>
                          </a:solidFill>
                          <a:effectLst/>
                          <a:latin typeface="Arial" charset="0"/>
                        </a:rPr>
                        <a:t>&gt;=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smtClean="0">
                          <a:ln>
                            <a:noFill/>
                          </a:ln>
                          <a:solidFill>
                            <a:schemeClr val="bg1"/>
                          </a:solidFill>
                          <a:effectLst/>
                          <a:latin typeface="Arial" charset="0"/>
                        </a:rPr>
                        <a:t>Greater than or equal 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smtClean="0">
                          <a:ln>
                            <a:noFill/>
                          </a:ln>
                          <a:solidFill>
                            <a:schemeClr val="bg1"/>
                          </a:solidFill>
                          <a:effectLst/>
                          <a:latin typeface="Arial" charset="0"/>
                        </a:rPr>
                        <a:t>x&gt;=y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smtClean="0">
                          <a:ln>
                            <a:noFill/>
                          </a:ln>
                          <a:solidFill>
                            <a:schemeClr val="bg1"/>
                          </a:solidFill>
                          <a:effectLst/>
                          <a:latin typeface="Arial" charset="0"/>
                        </a:rPr>
                        <a:t>True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smtClean="0">
                          <a:ln>
                            <a:noFill/>
                          </a:ln>
                          <a:solidFill>
                            <a:schemeClr val="bg1"/>
                          </a:solidFill>
                          <a:effectLst/>
                          <a:latin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00"/>
                    </a:solidFill>
                  </a:tcPr>
                </a:tc>
              </a:tr>
              <a:tr h="6175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bg1"/>
                          </a:solidFill>
                          <a:effectLst/>
                          <a:latin typeface="Arial" charset="0"/>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smtClean="0">
                          <a:ln>
                            <a:noFill/>
                          </a:ln>
                          <a:solidFill>
                            <a:schemeClr val="bg1"/>
                          </a:solidFill>
                          <a:effectLst/>
                          <a:latin typeface="Arial" charset="0"/>
                        </a:rPr>
                        <a:t>Not Equal 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smtClean="0">
                          <a:ln>
                            <a:noFill/>
                          </a:ln>
                          <a:solidFill>
                            <a:schemeClr val="bg1"/>
                          </a:solidFill>
                          <a:effectLst/>
                          <a:latin typeface="Arial" charset="0"/>
                        </a:rPr>
                        <a:t>x!=y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smtClean="0">
                          <a:ln>
                            <a:noFill/>
                          </a:ln>
                          <a:solidFill>
                            <a:schemeClr val="bg1"/>
                          </a:solidFill>
                          <a:effectLst/>
                          <a:latin typeface="Arial" charset="0"/>
                        </a:rPr>
                        <a:t>False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smtClean="0">
                          <a:ln>
                            <a:noFill/>
                          </a:ln>
                          <a:solidFill>
                            <a:schemeClr val="bg1"/>
                          </a:solidFill>
                          <a:effectLst/>
                          <a:latin typeface="Arial"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00"/>
                    </a:solidFill>
                  </a:tcPr>
                </a:tc>
              </a:tr>
              <a:tr h="3651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bg1"/>
                          </a:solidFill>
                          <a:effectLst/>
                          <a:latin typeface="Arial" charset="0"/>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66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smtClean="0">
                          <a:ln>
                            <a:noFill/>
                          </a:ln>
                          <a:solidFill>
                            <a:schemeClr val="bg1"/>
                          </a:solidFill>
                          <a:effectLst/>
                          <a:latin typeface="Arial" charset="0"/>
                        </a:rPr>
                        <a:t>Equal 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66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smtClean="0">
                          <a:ln>
                            <a:noFill/>
                          </a:ln>
                          <a:solidFill>
                            <a:schemeClr val="bg1"/>
                          </a:solidFill>
                          <a:effectLst/>
                          <a:latin typeface="Arial" charset="0"/>
                        </a:rPr>
                        <a:t>x==y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66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smtClean="0">
                          <a:ln>
                            <a:noFill/>
                          </a:ln>
                          <a:solidFill>
                            <a:schemeClr val="bg1"/>
                          </a:solidFill>
                          <a:effectLst/>
                          <a:latin typeface="Arial" charset="0"/>
                        </a:rPr>
                        <a:t>False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66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smtClean="0">
                          <a:ln>
                            <a:noFill/>
                          </a:ln>
                          <a:solidFill>
                            <a:schemeClr val="bg1"/>
                          </a:solidFill>
                          <a:effectLst/>
                          <a:latin typeface="Arial"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6600"/>
                    </a:solidFill>
                  </a:tcPr>
                </a:tc>
              </a:tr>
            </a:tbl>
          </a:graphicData>
        </a:graphic>
      </p:graphicFrame>
      <p:sp>
        <p:nvSpPr>
          <p:cNvPr id="21559" name="Text Box 55"/>
          <p:cNvSpPr txBox="1">
            <a:spLocks noChangeArrowheads="1"/>
          </p:cNvSpPr>
          <p:nvPr/>
        </p:nvSpPr>
        <p:spPr bwMode="auto">
          <a:xfrm>
            <a:off x="457200" y="1128713"/>
            <a:ext cx="8382000" cy="822325"/>
          </a:xfrm>
          <a:prstGeom prst="rect">
            <a:avLst/>
          </a:prstGeom>
          <a:noFill/>
          <a:ln w="9525">
            <a:noFill/>
            <a:miter lim="800000"/>
            <a:headEnd/>
            <a:tailEnd/>
          </a:ln>
        </p:spPr>
        <p:txBody>
          <a:bodyPr>
            <a:spAutoFit/>
          </a:bodyPr>
          <a:lstStyle/>
          <a:p>
            <a:pPr>
              <a:spcBef>
                <a:spcPct val="50000"/>
              </a:spcBef>
              <a:buFontTx/>
              <a:buBlip>
                <a:blip r:embed="rId2"/>
              </a:buBlip>
            </a:pPr>
            <a:r>
              <a:rPr lang="en-US" sz="2400" b="1">
                <a:solidFill>
                  <a:srgbClr val="990033"/>
                </a:solidFill>
                <a:latin typeface="Times New Roman" pitchFamily="18" charset="0"/>
                <a:cs typeface="Times New Roman" pitchFamily="18" charset="0"/>
              </a:rPr>
              <a:t> Relational operators are used to test the relationship between two variables or constant</a:t>
            </a:r>
          </a:p>
        </p:txBody>
      </p:sp>
    </p:spTree>
  </p:cSld>
  <p:clrMapOvr>
    <a:masterClrMapping/>
  </p:clrMapOvr>
  <p:transition>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21559"/>
                                        </p:tgtEl>
                                        <p:attrNameLst>
                                          <p:attrName>style.visibility</p:attrName>
                                        </p:attrNameLst>
                                      </p:cBhvr>
                                      <p:to>
                                        <p:strVal val="visible"/>
                                      </p:to>
                                    </p:set>
                                    <p:animEffect transition="in" filter="slide(fromBottom)">
                                      <p:cBhvr>
                                        <p:cTn id="7" dur="500"/>
                                        <p:tgtEl>
                                          <p:spTgt spid="215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59" grpId="0"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2447925" y="133350"/>
            <a:ext cx="3876675" cy="723900"/>
            <a:chOff x="1542" y="84"/>
            <a:chExt cx="2442" cy="456"/>
          </a:xfrm>
        </p:grpSpPr>
        <p:sp>
          <p:nvSpPr>
            <p:cNvPr id="20538" name="AutoShape 3"/>
            <p:cNvSpPr>
              <a:spLocks noChangeArrowheads="1"/>
            </p:cNvSpPr>
            <p:nvPr/>
          </p:nvSpPr>
          <p:spPr bwMode="auto">
            <a:xfrm>
              <a:off x="1584" y="144"/>
              <a:ext cx="2400" cy="396"/>
            </a:xfrm>
            <a:prstGeom prst="flowChartAlternateProcess">
              <a:avLst/>
            </a:prstGeom>
            <a:solidFill>
              <a:schemeClr val="bg2"/>
            </a:solidFill>
            <a:ln w="9525">
              <a:solidFill>
                <a:schemeClr val="tx1"/>
              </a:solidFill>
              <a:miter lim="800000"/>
              <a:headEnd/>
              <a:tailEnd/>
            </a:ln>
          </p:spPr>
          <p:txBody>
            <a:bodyPr wrap="none" anchor="ctr"/>
            <a:lstStyle/>
            <a:p>
              <a:endParaRPr lang="en-US"/>
            </a:p>
          </p:txBody>
        </p:sp>
        <p:sp>
          <p:nvSpPr>
            <p:cNvPr id="20539" name="Text Box 4"/>
            <p:cNvSpPr txBox="1">
              <a:spLocks noChangeArrowheads="1"/>
            </p:cNvSpPr>
            <p:nvPr/>
          </p:nvSpPr>
          <p:spPr bwMode="auto">
            <a:xfrm>
              <a:off x="1542" y="84"/>
              <a:ext cx="2400" cy="365"/>
            </a:xfrm>
            <a:prstGeom prst="rect">
              <a:avLst/>
            </a:prstGeom>
            <a:solidFill>
              <a:srgbClr val="000099"/>
            </a:solidFill>
            <a:ln w="9525">
              <a:noFill/>
              <a:miter lim="800000"/>
              <a:headEnd/>
              <a:tailEnd/>
            </a:ln>
          </p:spPr>
          <p:txBody>
            <a:bodyPr>
              <a:spAutoFit/>
            </a:bodyPr>
            <a:lstStyle/>
            <a:p>
              <a:pPr algn="ctr">
                <a:spcBef>
                  <a:spcPct val="50000"/>
                </a:spcBef>
              </a:pPr>
              <a:r>
                <a:rPr lang="en-US" sz="3200" b="1">
                  <a:solidFill>
                    <a:schemeClr val="bg1"/>
                  </a:solidFill>
                </a:rPr>
                <a:t>Logical Operators</a:t>
              </a:r>
            </a:p>
          </p:txBody>
        </p:sp>
      </p:grpSp>
      <p:graphicFrame>
        <p:nvGraphicFramePr>
          <p:cNvPr id="22533" name="Group 5"/>
          <p:cNvGraphicFramePr>
            <a:graphicFrameLocks noGrp="1"/>
          </p:cNvGraphicFramePr>
          <p:nvPr/>
        </p:nvGraphicFramePr>
        <p:xfrm>
          <a:off x="381000" y="2138363"/>
          <a:ext cx="8458200" cy="1674495"/>
        </p:xfrm>
        <a:graphic>
          <a:graphicData uri="http://schemas.openxmlformats.org/drawingml/2006/table">
            <a:tbl>
              <a:tblPr/>
              <a:tblGrid>
                <a:gridCol w="1219200"/>
                <a:gridCol w="1600200"/>
                <a:gridCol w="4541838"/>
                <a:gridCol w="1096962"/>
              </a:tblGrid>
              <a:tr h="3524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chemeClr val="bg1"/>
                          </a:solidFill>
                          <a:effectLst/>
                          <a:latin typeface="Times New Roman" pitchFamily="18" charset="0"/>
                        </a:rPr>
                        <a:t>Operator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bg1"/>
                          </a:solidFill>
                          <a:effectLst/>
                          <a:latin typeface="Times New Roman" pitchFamily="18" charset="0"/>
                        </a:rPr>
                        <a:t>Meaning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bg1"/>
                          </a:solidFill>
                          <a:effectLst/>
                          <a:latin typeface="Times New Roman" pitchFamily="18" charset="0"/>
                        </a:rPr>
                        <a:t>Example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bg1"/>
                          </a:solidFill>
                          <a:effectLst/>
                          <a:latin typeface="Times New Roman" pitchFamily="18" charset="0"/>
                        </a:rPr>
                        <a:t>Result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00"/>
                    </a:solidFill>
                  </a:tcPr>
                </a:tc>
              </a:tr>
              <a:tr h="485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bg1"/>
                          </a:solidFill>
                          <a:effectLst/>
                          <a:latin typeface="Times New Roman" pitchFamily="18" charset="0"/>
                        </a:rPr>
                        <a:t>&amp;&amp;</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bg1"/>
                          </a:solidFill>
                          <a:effectLst/>
                          <a:latin typeface="Times New Roman" pitchFamily="18" charset="0"/>
                        </a:rPr>
                        <a:t>Logical And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bg1"/>
                          </a:solidFill>
                          <a:effectLst/>
                          <a:latin typeface="Times New Roman" pitchFamily="18" charset="0"/>
                        </a:rPr>
                        <a:t>When x=9, y=5       (x&gt;=5) &amp;&amp; (y==5)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bg1"/>
                          </a:solidFill>
                          <a:effectLst/>
                          <a:latin typeface="Times New Roman" pitchFamily="18" charset="0"/>
                        </a:rPr>
                        <a:t>True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00"/>
                    </a:solidFill>
                  </a:tcPr>
                </a:tc>
              </a:tr>
              <a:tr h="3079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bg1"/>
                          </a:solidFill>
                          <a:effectLst/>
                          <a:latin typeface="Times New Roman" pitchFamily="18" charset="0"/>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bg1"/>
                          </a:solidFill>
                          <a:effectLst/>
                          <a:latin typeface="Times New Roman" pitchFamily="18" charset="0"/>
                        </a:rPr>
                        <a:t>Logical Or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bg1"/>
                          </a:solidFill>
                          <a:effectLst/>
                          <a:latin typeface="Times New Roman" pitchFamily="18" charset="0"/>
                        </a:rPr>
                        <a:t>(X&gt;=6) || (z==‘a’)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bg1"/>
                          </a:solidFill>
                          <a:effectLst/>
                          <a:latin typeface="Times New Roman" pitchFamily="18" charset="0"/>
                        </a:rPr>
                        <a:t>True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00"/>
                    </a:solidFill>
                  </a:tcPr>
                </a:tc>
              </a:tr>
              <a:tr h="3048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bg1"/>
                          </a:solidFill>
                          <a:effectLst/>
                          <a:latin typeface="Times New Roman" pitchFamily="18" charset="0"/>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66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bg1"/>
                          </a:solidFill>
                          <a:effectLst/>
                          <a:latin typeface="Times New Roman" pitchFamily="18" charset="0"/>
                        </a:rPr>
                        <a:t>Logical Not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66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bg1"/>
                          </a:solidFill>
                          <a:effectLst/>
                          <a:latin typeface="Times New Roman" pitchFamily="18" charset="0"/>
                        </a:rPr>
                        <a:t>!(x&gt;8)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66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bg1"/>
                          </a:solidFill>
                          <a:effectLst/>
                          <a:latin typeface="Times New Roman" pitchFamily="18" charset="0"/>
                        </a:rPr>
                        <a:t>False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6600"/>
                    </a:solidFill>
                  </a:tcPr>
                </a:tc>
              </a:tr>
            </a:tbl>
          </a:graphicData>
        </a:graphic>
      </p:graphicFrame>
      <p:sp>
        <p:nvSpPr>
          <p:cNvPr id="22560" name="Text Box 32"/>
          <p:cNvSpPr txBox="1">
            <a:spLocks noChangeArrowheads="1"/>
          </p:cNvSpPr>
          <p:nvPr/>
        </p:nvSpPr>
        <p:spPr bwMode="auto">
          <a:xfrm>
            <a:off x="304800" y="838200"/>
            <a:ext cx="8610600" cy="1187450"/>
          </a:xfrm>
          <a:prstGeom prst="rect">
            <a:avLst/>
          </a:prstGeom>
          <a:noFill/>
          <a:ln w="9525">
            <a:noFill/>
            <a:miter lim="800000"/>
            <a:headEnd/>
            <a:tailEnd/>
          </a:ln>
        </p:spPr>
        <p:txBody>
          <a:bodyPr>
            <a:spAutoFit/>
          </a:bodyPr>
          <a:lstStyle/>
          <a:p>
            <a:pPr>
              <a:spcBef>
                <a:spcPct val="50000"/>
              </a:spcBef>
              <a:buFontTx/>
              <a:buBlip>
                <a:blip r:embed="rId2"/>
              </a:buBlip>
            </a:pPr>
            <a:r>
              <a:rPr lang="en-US" sz="2000" b="1">
                <a:solidFill>
                  <a:srgbClr val="990033"/>
                </a:solidFill>
                <a:latin typeface="Times New Roman" pitchFamily="18" charset="0"/>
                <a:cs typeface="Times New Roman" pitchFamily="18" charset="0"/>
              </a:rPr>
              <a:t>            </a:t>
            </a:r>
            <a:r>
              <a:rPr lang="en-US" sz="2400" b="1">
                <a:solidFill>
                  <a:srgbClr val="990033"/>
                </a:solidFill>
                <a:latin typeface="Times New Roman" pitchFamily="18" charset="0"/>
                <a:cs typeface="Times New Roman" pitchFamily="18" charset="0"/>
              </a:rPr>
              <a:t>Logical operators are used to combine two or more relational expressions. This operator is used to test more than one condition at a time.</a:t>
            </a:r>
          </a:p>
        </p:txBody>
      </p:sp>
      <p:sp>
        <p:nvSpPr>
          <p:cNvPr id="20511" name="WordArt 33"/>
          <p:cNvSpPr>
            <a:spLocks noChangeArrowheads="1" noChangeShapeType="1" noTextEdit="1"/>
          </p:cNvSpPr>
          <p:nvPr/>
        </p:nvSpPr>
        <p:spPr bwMode="auto">
          <a:xfrm>
            <a:off x="990600" y="3886200"/>
            <a:ext cx="7543800" cy="523875"/>
          </a:xfrm>
          <a:prstGeom prst="rect">
            <a:avLst/>
          </a:prstGeom>
        </p:spPr>
        <p:txBody>
          <a:bodyPr wrap="none" fromWordArt="1">
            <a:prstTxWarp prst="textPlain">
              <a:avLst>
                <a:gd name="adj" fmla="val 50000"/>
              </a:avLst>
            </a:prstTxWarp>
          </a:bodyPr>
          <a:lstStyle/>
          <a:p>
            <a:pPr algn="ctr"/>
            <a:r>
              <a:rPr lang="en-IN" sz="3600" kern="10">
                <a:ln w="9525">
                  <a:solidFill>
                    <a:srgbClr val="000000"/>
                  </a:solidFill>
                  <a:round/>
                  <a:headEnd/>
                  <a:tailEnd/>
                </a:ln>
                <a:gradFill rotWithShape="1">
                  <a:gsLst>
                    <a:gs pos="0">
                      <a:srgbClr val="000082"/>
                    </a:gs>
                    <a:gs pos="14999">
                      <a:srgbClr val="66008F"/>
                    </a:gs>
                    <a:gs pos="32500">
                      <a:srgbClr val="BA0066"/>
                    </a:gs>
                    <a:gs pos="45000">
                      <a:srgbClr val="FF0000"/>
                    </a:gs>
                    <a:gs pos="50000">
                      <a:srgbClr val="FF8200"/>
                    </a:gs>
                    <a:gs pos="55000">
                      <a:srgbClr val="FF0000"/>
                    </a:gs>
                    <a:gs pos="67500">
                      <a:srgbClr val="BA0066"/>
                    </a:gs>
                    <a:gs pos="85001">
                      <a:srgbClr val="66008F"/>
                    </a:gs>
                    <a:gs pos="100000">
                      <a:srgbClr val="000082"/>
                    </a:gs>
                  </a:gsLst>
                  <a:lin ang="5400000" scaled="1"/>
                </a:gradFill>
                <a:latin typeface="Arial Black"/>
              </a:rPr>
              <a:t>Increment / Decrement Operators (++,--)</a:t>
            </a:r>
          </a:p>
        </p:txBody>
      </p:sp>
      <p:graphicFrame>
        <p:nvGraphicFramePr>
          <p:cNvPr id="22562" name="Group 34"/>
          <p:cNvGraphicFramePr>
            <a:graphicFrameLocks noGrp="1"/>
          </p:cNvGraphicFramePr>
          <p:nvPr/>
        </p:nvGraphicFramePr>
        <p:xfrm>
          <a:off x="381000" y="4572000"/>
          <a:ext cx="8229600" cy="1928178"/>
        </p:xfrm>
        <a:graphic>
          <a:graphicData uri="http://schemas.openxmlformats.org/drawingml/2006/table">
            <a:tbl>
              <a:tblPr/>
              <a:tblGrid>
                <a:gridCol w="1295400"/>
                <a:gridCol w="1497013"/>
                <a:gridCol w="3013075"/>
                <a:gridCol w="1247775"/>
                <a:gridCol w="1176337"/>
              </a:tblGrid>
              <a:tr h="3524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chemeClr val="bg1"/>
                          </a:solidFill>
                          <a:effectLst/>
                          <a:latin typeface="Times New Roman" pitchFamily="18" charset="0"/>
                        </a:rPr>
                        <a:t>Operator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bg1"/>
                          </a:solidFill>
                          <a:effectLst/>
                          <a:latin typeface="Times New Roman" pitchFamily="18" charset="0"/>
                        </a:rPr>
                        <a:t>Meaning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bg1"/>
                          </a:solidFill>
                          <a:effectLst/>
                          <a:latin typeface="Times New Roman" pitchFamily="18" charset="0"/>
                        </a:rPr>
                        <a:t>Syntax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bg1"/>
                          </a:solidFill>
                          <a:effectLst/>
                          <a:latin typeface="Times New Roman" pitchFamily="18" charset="0"/>
                        </a:rPr>
                        <a:t>Example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bg1"/>
                          </a:solidFill>
                          <a:effectLst/>
                          <a:latin typeface="Times New Roman" pitchFamily="18" charset="0"/>
                        </a:rPr>
                        <a:t>Result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00"/>
                    </a:solidFill>
                  </a:tcPr>
                </a:tc>
              </a:tr>
              <a:tr h="485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bg1"/>
                          </a:solidFill>
                          <a:effectLst/>
                          <a:latin typeface="Times New Roman" pitchFamily="18" charset="0"/>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bg1"/>
                          </a:solidFill>
                          <a:effectLst/>
                          <a:latin typeface="Times New Roman" pitchFamily="18" charset="0"/>
                        </a:rPr>
                        <a:t>Unary Plus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bg1"/>
                          </a:solidFill>
                          <a:effectLst/>
                          <a:latin typeface="Times New Roman" pitchFamily="18" charset="0"/>
                        </a:rPr>
                        <a:t>Variablename++;  (or)</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bg1"/>
                          </a:solidFill>
                          <a:effectLst/>
                          <a:latin typeface="Times New Roman" pitchFamily="18" charset="0"/>
                        </a:rPr>
                        <a:t>++ variable name;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bg1"/>
                          </a:solidFill>
                          <a:effectLst/>
                          <a:latin typeface="Times New Roman" pitchFamily="18" charset="0"/>
                        </a:rPr>
                        <a:t>X=10;</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bg1"/>
                          </a:solidFill>
                          <a:effectLst/>
                          <a:latin typeface="Times New Roman" pitchFamily="18" charset="0"/>
                        </a:rPr>
                        <a:t>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bg1"/>
                          </a:solidFill>
                          <a:effectLst/>
                          <a:latin typeface="Times New Roman" pitchFamily="18" charset="0"/>
                        </a:rPr>
                        <a:t>X=11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00"/>
                    </a:solidFill>
                  </a:tcPr>
                </a:tc>
              </a:tr>
              <a:tr h="7699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bg1"/>
                          </a:solidFill>
                          <a:effectLst/>
                          <a:latin typeface="Times New Roman" pitchFamily="18" charset="0"/>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66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bg1"/>
                          </a:solidFill>
                          <a:effectLst/>
                          <a:latin typeface="Times New Roman" pitchFamily="18" charset="0"/>
                        </a:rPr>
                        <a:t>Unary Minus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66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bg1"/>
                          </a:solidFill>
                          <a:effectLst/>
                          <a:latin typeface="Times New Roman" pitchFamily="18" charset="0"/>
                        </a:rPr>
                        <a:t>Variablename--;  (or)</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bg1"/>
                          </a:solidFill>
                          <a:effectLst/>
                          <a:latin typeface="Times New Roman" pitchFamily="18" charset="0"/>
                        </a:rPr>
                        <a:t>-- variable name;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66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bg1"/>
                          </a:solidFill>
                          <a:effectLst/>
                          <a:latin typeface="Times New Roman" pitchFamily="18" charset="0"/>
                        </a:rPr>
                        <a:t>X=10;</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bg1"/>
                          </a:solidFill>
                          <a:effectLst/>
                          <a:latin typeface="Times New Roman" pitchFamily="18" charset="0"/>
                        </a:rPr>
                        <a:t>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66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chemeClr val="bg1"/>
                          </a:solidFill>
                          <a:effectLst/>
                          <a:latin typeface="Times New Roman" pitchFamily="18" charset="0"/>
                        </a:rPr>
                        <a:t>X=9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6600"/>
                    </a:solidFill>
                  </a:tcPr>
                </a:tc>
              </a:tr>
            </a:tbl>
          </a:graphicData>
        </a:graphic>
      </p:graphicFrame>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afterEffect">
                                  <p:stCondLst>
                                    <p:cond delay="0"/>
                                  </p:stCondLst>
                                  <p:childTnLst>
                                    <p:set>
                                      <p:cBhvr>
                                        <p:cTn id="6" dur="1" fill="hold">
                                          <p:stCondLst>
                                            <p:cond delay="0"/>
                                          </p:stCondLst>
                                        </p:cTn>
                                        <p:tgtEl>
                                          <p:spTgt spid="22560"/>
                                        </p:tgtEl>
                                        <p:attrNameLst>
                                          <p:attrName>style.visibility</p:attrName>
                                        </p:attrNameLst>
                                      </p:cBhvr>
                                      <p:to>
                                        <p:strVal val="visible"/>
                                      </p:to>
                                    </p:set>
                                    <p:animEffect transition="in" filter="slide(fromRight)">
                                      <p:cBhvr>
                                        <p:cTn id="7" dur="500"/>
                                        <p:tgtEl>
                                          <p:spTgt spid="225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60" grpId="0"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WordArt 2"/>
          <p:cNvSpPr>
            <a:spLocks noChangeArrowheads="1" noChangeShapeType="1" noTextEdit="1"/>
          </p:cNvSpPr>
          <p:nvPr/>
        </p:nvSpPr>
        <p:spPr bwMode="auto">
          <a:xfrm>
            <a:off x="1828800" y="152400"/>
            <a:ext cx="5334000" cy="1752600"/>
          </a:xfrm>
          <a:prstGeom prst="rect">
            <a:avLst/>
          </a:prstGeom>
        </p:spPr>
        <p:txBody>
          <a:bodyPr wrap="none" fromWordArt="1">
            <a:prstTxWarp prst="textDeflateInflate">
              <a:avLst>
                <a:gd name="adj" fmla="val 28028"/>
              </a:avLst>
            </a:prstTxWarp>
          </a:bodyPr>
          <a:lstStyle/>
          <a:p>
            <a:pPr algn="ctr"/>
            <a:r>
              <a:rPr lang="en-IN"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a:rPr>
              <a:t>Conditional Operators (?:)</a:t>
            </a:r>
          </a:p>
        </p:txBody>
      </p:sp>
      <p:sp>
        <p:nvSpPr>
          <p:cNvPr id="21507" name="Text Box 3"/>
          <p:cNvSpPr txBox="1">
            <a:spLocks noChangeArrowheads="1"/>
          </p:cNvSpPr>
          <p:nvPr/>
        </p:nvSpPr>
        <p:spPr bwMode="auto">
          <a:xfrm>
            <a:off x="609600" y="838200"/>
            <a:ext cx="8077200" cy="822325"/>
          </a:xfrm>
          <a:prstGeom prst="rect">
            <a:avLst/>
          </a:prstGeom>
          <a:noFill/>
          <a:ln w="9525">
            <a:noFill/>
            <a:miter lim="800000"/>
            <a:headEnd/>
            <a:tailEnd/>
          </a:ln>
        </p:spPr>
        <p:txBody>
          <a:bodyPr>
            <a:spAutoFit/>
          </a:bodyPr>
          <a:lstStyle/>
          <a:p>
            <a:pPr>
              <a:spcBef>
                <a:spcPct val="50000"/>
              </a:spcBef>
            </a:pPr>
            <a:r>
              <a:rPr lang="en-US" sz="2400" b="1">
                <a:solidFill>
                  <a:srgbClr val="990033"/>
                </a:solidFill>
              </a:rPr>
              <a:t>           Simple conditional operations can be carried out with the conditional operator(?</a:t>
            </a:r>
            <a:r>
              <a:rPr lang="en-US" sz="2400" b="1">
                <a:solidFill>
                  <a:srgbClr val="990033"/>
                </a:solidFill>
                <a:sym typeface="Wingdings" pitchFamily="2" charset="2"/>
              </a:rPr>
              <a:t>:)</a:t>
            </a:r>
            <a:endParaRPr lang="en-US" sz="2400" b="1">
              <a:solidFill>
                <a:srgbClr val="990033"/>
              </a:solidFill>
            </a:endParaRPr>
          </a:p>
        </p:txBody>
      </p:sp>
      <p:sp>
        <p:nvSpPr>
          <p:cNvPr id="21508" name="WordArt 4"/>
          <p:cNvSpPr>
            <a:spLocks noChangeArrowheads="1" noChangeShapeType="1" noTextEdit="1"/>
          </p:cNvSpPr>
          <p:nvPr/>
        </p:nvSpPr>
        <p:spPr bwMode="auto">
          <a:xfrm>
            <a:off x="914400" y="2057400"/>
            <a:ext cx="1343025" cy="609600"/>
          </a:xfrm>
          <a:prstGeom prst="rect">
            <a:avLst/>
          </a:prstGeom>
        </p:spPr>
        <p:txBody>
          <a:bodyPr wrap="none" fromWordArt="1">
            <a:prstTxWarp prst="textWave1">
              <a:avLst>
                <a:gd name="adj1" fmla="val 13005"/>
                <a:gd name="adj2" fmla="val 0"/>
              </a:avLst>
            </a:prstTxWarp>
          </a:bodyPr>
          <a:lstStyle/>
          <a:p>
            <a:pPr algn="ctr"/>
            <a:r>
              <a:rPr lang="en-IN" sz="3600" b="1" kern="10">
                <a:ln w="9525">
                  <a:noFill/>
                  <a:round/>
                  <a:headEnd/>
                  <a:tailEnd/>
                </a:ln>
                <a:gradFill rotWithShape="1">
                  <a:gsLst>
                    <a:gs pos="0">
                      <a:srgbClr val="FFBF00"/>
                    </a:gs>
                    <a:gs pos="10001">
                      <a:srgbClr val="F27300"/>
                    </a:gs>
                    <a:gs pos="25000">
                      <a:srgbClr val="8F0040"/>
                    </a:gs>
                    <a:gs pos="50000">
                      <a:srgbClr val="400040"/>
                    </a:gs>
                    <a:gs pos="80000">
                      <a:srgbClr val="000040"/>
                    </a:gs>
                    <a:gs pos="100000">
                      <a:srgbClr val="000000"/>
                    </a:gs>
                  </a:gsLst>
                  <a:path path="rect">
                    <a:fillToRect l="50000" t="50000" r="50000" b="50000"/>
                  </a:path>
                </a:gradFill>
                <a:effectLst>
                  <a:outerShdw dist="53882" dir="2700000" algn="ctr" rotWithShape="0">
                    <a:srgbClr val="C0C0C0">
                      <a:alpha val="79999"/>
                    </a:srgbClr>
                  </a:outerShdw>
                </a:effectLst>
                <a:latin typeface="Times New Roman"/>
                <a:cs typeface="Times New Roman"/>
              </a:rPr>
              <a:t>Syntax</a:t>
            </a:r>
          </a:p>
        </p:txBody>
      </p:sp>
      <p:sp>
        <p:nvSpPr>
          <p:cNvPr id="21509" name="AutoShape 5"/>
          <p:cNvSpPr>
            <a:spLocks/>
          </p:cNvSpPr>
          <p:nvPr/>
        </p:nvSpPr>
        <p:spPr bwMode="auto">
          <a:xfrm>
            <a:off x="2667000" y="1981200"/>
            <a:ext cx="5410200" cy="533400"/>
          </a:xfrm>
          <a:prstGeom prst="borderCallout2">
            <a:avLst>
              <a:gd name="adj1" fmla="val 21431"/>
              <a:gd name="adj2" fmla="val -1407"/>
              <a:gd name="adj3" fmla="val 21431"/>
              <a:gd name="adj4" fmla="val -13000"/>
              <a:gd name="adj5" fmla="val 7144"/>
              <a:gd name="adj6" fmla="val -25116"/>
            </a:avLst>
          </a:prstGeom>
          <a:solidFill>
            <a:schemeClr val="accent1"/>
          </a:solidFill>
          <a:ln w="9525">
            <a:solidFill>
              <a:schemeClr val="tx1"/>
            </a:solidFill>
            <a:miter lim="800000"/>
            <a:headEnd/>
            <a:tailEnd/>
          </a:ln>
        </p:spPr>
        <p:txBody>
          <a:bodyPr/>
          <a:lstStyle/>
          <a:p>
            <a:pPr algn="ctr"/>
            <a:r>
              <a:rPr lang="en-US" sz="2000" b="1"/>
              <a:t>Expression1 ? Expression 2:expression 3</a:t>
            </a:r>
          </a:p>
        </p:txBody>
      </p:sp>
      <p:grpSp>
        <p:nvGrpSpPr>
          <p:cNvPr id="2" name="Group 6"/>
          <p:cNvGrpSpPr>
            <a:grpSpLocks/>
          </p:cNvGrpSpPr>
          <p:nvPr/>
        </p:nvGrpSpPr>
        <p:grpSpPr bwMode="auto">
          <a:xfrm>
            <a:off x="2971800" y="2514600"/>
            <a:ext cx="4724400" cy="681038"/>
            <a:chOff x="1248" y="1824"/>
            <a:chExt cx="2976" cy="429"/>
          </a:xfrm>
        </p:grpSpPr>
        <p:sp>
          <p:nvSpPr>
            <p:cNvPr id="21514" name="Text Box 7"/>
            <p:cNvSpPr txBox="1">
              <a:spLocks noChangeArrowheads="1"/>
            </p:cNvSpPr>
            <p:nvPr/>
          </p:nvSpPr>
          <p:spPr bwMode="auto">
            <a:xfrm>
              <a:off x="1248" y="2016"/>
              <a:ext cx="864" cy="237"/>
            </a:xfrm>
            <a:prstGeom prst="rect">
              <a:avLst/>
            </a:prstGeom>
            <a:noFill/>
            <a:ln w="9525">
              <a:solidFill>
                <a:srgbClr val="990033"/>
              </a:solidFill>
              <a:miter lim="800000"/>
              <a:headEnd/>
              <a:tailEnd/>
            </a:ln>
          </p:spPr>
          <p:txBody>
            <a:bodyPr>
              <a:spAutoFit/>
            </a:bodyPr>
            <a:lstStyle/>
            <a:p>
              <a:pPr>
                <a:spcBef>
                  <a:spcPct val="50000"/>
                </a:spcBef>
              </a:pPr>
              <a:r>
                <a:rPr lang="en-US" b="1">
                  <a:solidFill>
                    <a:srgbClr val="990033"/>
                  </a:solidFill>
                </a:rPr>
                <a:t>Condition</a:t>
              </a:r>
            </a:p>
          </p:txBody>
        </p:sp>
        <p:sp>
          <p:nvSpPr>
            <p:cNvPr id="21515" name="Text Box 8"/>
            <p:cNvSpPr txBox="1">
              <a:spLocks noChangeArrowheads="1"/>
            </p:cNvSpPr>
            <p:nvPr/>
          </p:nvSpPr>
          <p:spPr bwMode="auto">
            <a:xfrm>
              <a:off x="2304" y="2016"/>
              <a:ext cx="864" cy="237"/>
            </a:xfrm>
            <a:prstGeom prst="rect">
              <a:avLst/>
            </a:prstGeom>
            <a:noFill/>
            <a:ln w="9525">
              <a:solidFill>
                <a:srgbClr val="990033"/>
              </a:solidFill>
              <a:miter lim="800000"/>
              <a:headEnd/>
              <a:tailEnd/>
            </a:ln>
          </p:spPr>
          <p:txBody>
            <a:bodyPr>
              <a:spAutoFit/>
            </a:bodyPr>
            <a:lstStyle/>
            <a:p>
              <a:pPr>
                <a:spcBef>
                  <a:spcPct val="50000"/>
                </a:spcBef>
              </a:pPr>
              <a:r>
                <a:rPr lang="en-US" b="1">
                  <a:solidFill>
                    <a:srgbClr val="990033"/>
                  </a:solidFill>
                </a:rPr>
                <a:t>True Part</a:t>
              </a:r>
            </a:p>
          </p:txBody>
        </p:sp>
        <p:sp>
          <p:nvSpPr>
            <p:cNvPr id="21516" name="Text Box 9"/>
            <p:cNvSpPr txBox="1">
              <a:spLocks noChangeArrowheads="1"/>
            </p:cNvSpPr>
            <p:nvPr/>
          </p:nvSpPr>
          <p:spPr bwMode="auto">
            <a:xfrm>
              <a:off x="3360" y="2016"/>
              <a:ext cx="864" cy="237"/>
            </a:xfrm>
            <a:prstGeom prst="rect">
              <a:avLst/>
            </a:prstGeom>
            <a:noFill/>
            <a:ln w="9525">
              <a:solidFill>
                <a:srgbClr val="990033"/>
              </a:solidFill>
              <a:miter lim="800000"/>
              <a:headEnd/>
              <a:tailEnd/>
            </a:ln>
          </p:spPr>
          <p:txBody>
            <a:bodyPr>
              <a:spAutoFit/>
            </a:bodyPr>
            <a:lstStyle/>
            <a:p>
              <a:pPr>
                <a:spcBef>
                  <a:spcPct val="50000"/>
                </a:spcBef>
              </a:pPr>
              <a:r>
                <a:rPr lang="en-US" b="1">
                  <a:solidFill>
                    <a:srgbClr val="990033"/>
                  </a:solidFill>
                </a:rPr>
                <a:t>False Part</a:t>
              </a:r>
            </a:p>
          </p:txBody>
        </p:sp>
        <p:sp>
          <p:nvSpPr>
            <p:cNvPr id="21517" name="Line 10"/>
            <p:cNvSpPr>
              <a:spLocks noChangeShapeType="1"/>
            </p:cNvSpPr>
            <p:nvPr/>
          </p:nvSpPr>
          <p:spPr bwMode="auto">
            <a:xfrm flipV="1">
              <a:off x="1632" y="1824"/>
              <a:ext cx="48" cy="240"/>
            </a:xfrm>
            <a:prstGeom prst="line">
              <a:avLst/>
            </a:prstGeom>
            <a:noFill/>
            <a:ln w="38100">
              <a:solidFill>
                <a:srgbClr val="990033"/>
              </a:solidFill>
              <a:round/>
              <a:headEnd/>
              <a:tailEnd type="triangle" w="med" len="med"/>
            </a:ln>
          </p:spPr>
          <p:txBody>
            <a:bodyPr/>
            <a:lstStyle/>
            <a:p>
              <a:endParaRPr lang="en-IN"/>
            </a:p>
          </p:txBody>
        </p:sp>
        <p:sp>
          <p:nvSpPr>
            <p:cNvPr id="21518" name="Line 11"/>
            <p:cNvSpPr>
              <a:spLocks noChangeShapeType="1"/>
            </p:cNvSpPr>
            <p:nvPr/>
          </p:nvSpPr>
          <p:spPr bwMode="auto">
            <a:xfrm rot="21033161" flipV="1">
              <a:off x="2592" y="1824"/>
              <a:ext cx="48" cy="240"/>
            </a:xfrm>
            <a:prstGeom prst="line">
              <a:avLst/>
            </a:prstGeom>
            <a:noFill/>
            <a:ln w="38100">
              <a:solidFill>
                <a:srgbClr val="990033"/>
              </a:solidFill>
              <a:round/>
              <a:headEnd/>
              <a:tailEnd type="triangle" w="med" len="med"/>
            </a:ln>
          </p:spPr>
          <p:txBody>
            <a:bodyPr/>
            <a:lstStyle/>
            <a:p>
              <a:endParaRPr lang="en-IN"/>
            </a:p>
          </p:txBody>
        </p:sp>
        <p:sp>
          <p:nvSpPr>
            <p:cNvPr id="21519" name="Line 12"/>
            <p:cNvSpPr>
              <a:spLocks noChangeShapeType="1"/>
            </p:cNvSpPr>
            <p:nvPr/>
          </p:nvSpPr>
          <p:spPr bwMode="auto">
            <a:xfrm rot="21033161" flipV="1">
              <a:off x="3648" y="1824"/>
              <a:ext cx="48" cy="240"/>
            </a:xfrm>
            <a:prstGeom prst="line">
              <a:avLst/>
            </a:prstGeom>
            <a:noFill/>
            <a:ln w="38100">
              <a:solidFill>
                <a:srgbClr val="990033"/>
              </a:solidFill>
              <a:round/>
              <a:headEnd/>
              <a:tailEnd type="triangle" w="med" len="med"/>
            </a:ln>
          </p:spPr>
          <p:txBody>
            <a:bodyPr/>
            <a:lstStyle/>
            <a:p>
              <a:endParaRPr lang="en-IN"/>
            </a:p>
          </p:txBody>
        </p:sp>
      </p:grpSp>
      <p:sp>
        <p:nvSpPr>
          <p:cNvPr id="21511" name="AutoShape 13" descr="Green marble"/>
          <p:cNvSpPr>
            <a:spLocks noChangeArrowheads="1"/>
          </p:cNvSpPr>
          <p:nvPr/>
        </p:nvSpPr>
        <p:spPr bwMode="auto">
          <a:xfrm>
            <a:off x="457200" y="3581400"/>
            <a:ext cx="8305800" cy="2743200"/>
          </a:xfrm>
          <a:prstGeom prst="flowChartPredefinedProcess">
            <a:avLst/>
          </a:prstGeom>
          <a:blipFill dpi="0" rotWithShape="1">
            <a:blip r:embed="rId2"/>
            <a:srcRect/>
            <a:tile tx="0" ty="0" sx="100000" sy="100000" flip="none" algn="tl"/>
          </a:blipFill>
          <a:ln w="9525">
            <a:solidFill>
              <a:schemeClr val="tx1"/>
            </a:solidFill>
            <a:miter lim="800000"/>
            <a:headEnd/>
            <a:tailEnd/>
          </a:ln>
        </p:spPr>
        <p:txBody>
          <a:bodyPr wrap="none" anchor="ctr"/>
          <a:lstStyle/>
          <a:p>
            <a:endParaRPr lang="en-US"/>
          </a:p>
        </p:txBody>
      </p:sp>
      <p:sp>
        <p:nvSpPr>
          <p:cNvPr id="21512" name="Text Box 14"/>
          <p:cNvSpPr txBox="1">
            <a:spLocks noChangeArrowheads="1"/>
          </p:cNvSpPr>
          <p:nvPr/>
        </p:nvSpPr>
        <p:spPr bwMode="auto">
          <a:xfrm>
            <a:off x="1524000" y="3810000"/>
            <a:ext cx="3657600" cy="2014538"/>
          </a:xfrm>
          <a:prstGeom prst="rect">
            <a:avLst/>
          </a:prstGeom>
          <a:noFill/>
          <a:ln w="9525">
            <a:noFill/>
            <a:miter lim="800000"/>
            <a:headEnd/>
            <a:tailEnd/>
          </a:ln>
        </p:spPr>
        <p:txBody>
          <a:bodyPr>
            <a:spAutoFit/>
          </a:bodyPr>
          <a:lstStyle/>
          <a:p>
            <a:r>
              <a:rPr lang="en-US" b="1">
                <a:solidFill>
                  <a:schemeClr val="bg1"/>
                </a:solidFill>
              </a:rPr>
              <a:t>#include&lt;iostream.h&gt;</a:t>
            </a:r>
          </a:p>
          <a:p>
            <a:r>
              <a:rPr lang="en-US" b="1">
                <a:solidFill>
                  <a:schemeClr val="bg1"/>
                </a:solidFill>
              </a:rPr>
              <a:t>void main()</a:t>
            </a:r>
          </a:p>
          <a:p>
            <a:r>
              <a:rPr lang="en-US" b="1">
                <a:solidFill>
                  <a:schemeClr val="bg1"/>
                </a:solidFill>
              </a:rPr>
              <a:t>{</a:t>
            </a:r>
          </a:p>
          <a:p>
            <a:r>
              <a:rPr lang="en-US" b="1">
                <a:solidFill>
                  <a:schemeClr val="bg1"/>
                </a:solidFill>
              </a:rPr>
              <a:t>int a=10,b=5,c;</a:t>
            </a:r>
          </a:p>
          <a:p>
            <a:r>
              <a:rPr lang="en-US" b="1">
                <a:solidFill>
                  <a:schemeClr val="bg1"/>
                </a:solidFill>
              </a:rPr>
              <a:t>C=(a&gt;b)?a:b;</a:t>
            </a:r>
          </a:p>
          <a:p>
            <a:r>
              <a:rPr lang="en-US" b="1">
                <a:solidFill>
                  <a:schemeClr val="bg1"/>
                </a:solidFill>
              </a:rPr>
              <a:t>cout&lt;&lt;“The Result is“&lt;&lt;c;</a:t>
            </a:r>
          </a:p>
          <a:p>
            <a:r>
              <a:rPr lang="en-US" b="1">
                <a:solidFill>
                  <a:schemeClr val="bg1"/>
                </a:solidFill>
              </a:rPr>
              <a:t>}</a:t>
            </a:r>
          </a:p>
        </p:txBody>
      </p:sp>
      <p:sp>
        <p:nvSpPr>
          <p:cNvPr id="21513" name="AutoShape 15"/>
          <p:cNvSpPr>
            <a:spLocks noChangeArrowheads="1"/>
          </p:cNvSpPr>
          <p:nvPr/>
        </p:nvSpPr>
        <p:spPr bwMode="auto">
          <a:xfrm>
            <a:off x="5334000" y="4191000"/>
            <a:ext cx="2895600" cy="1524000"/>
          </a:xfrm>
          <a:prstGeom prst="cloudCallout">
            <a:avLst>
              <a:gd name="adj1" fmla="val -43310"/>
              <a:gd name="adj2" fmla="val 23333"/>
            </a:avLst>
          </a:prstGeom>
          <a:solidFill>
            <a:schemeClr val="accent1"/>
          </a:solidFill>
          <a:ln w="9525">
            <a:solidFill>
              <a:schemeClr val="tx1"/>
            </a:solidFill>
            <a:round/>
            <a:headEnd/>
            <a:tailEnd/>
          </a:ln>
        </p:spPr>
        <p:txBody>
          <a:bodyPr/>
          <a:lstStyle/>
          <a:p>
            <a:pPr algn="ctr"/>
            <a:r>
              <a:rPr lang="en-US" sz="2000" b="1">
                <a:solidFill>
                  <a:srgbClr val="CC0000"/>
                </a:solidFill>
              </a:rPr>
              <a:t>OUTPUT</a:t>
            </a:r>
          </a:p>
          <a:p>
            <a:pPr algn="ctr"/>
            <a:r>
              <a:rPr lang="en-US" sz="2000" b="1"/>
              <a:t>The Result is 10</a:t>
            </a: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2"/>
          <p:cNvSpPr txBox="1">
            <a:spLocks noChangeArrowheads="1"/>
          </p:cNvSpPr>
          <p:nvPr/>
        </p:nvSpPr>
        <p:spPr bwMode="auto">
          <a:xfrm>
            <a:off x="914400" y="381000"/>
            <a:ext cx="7175500" cy="823913"/>
          </a:xfrm>
          <a:prstGeom prst="rect">
            <a:avLst/>
          </a:prstGeom>
          <a:solidFill>
            <a:srgbClr val="66FFFF"/>
          </a:solidFill>
          <a:ln w="9525">
            <a:noFill/>
            <a:miter lim="800000"/>
            <a:headEnd/>
            <a:tailEnd/>
          </a:ln>
          <a:effectLst/>
        </p:spPr>
        <p:txBody>
          <a:bodyPr wrap="none">
            <a:spAutoFit/>
          </a:bodyPr>
          <a:lstStyle/>
          <a:p>
            <a:pPr>
              <a:defRPr/>
            </a:pPr>
            <a:r>
              <a:rPr lang="en-US" sz="4800" b="1">
                <a:solidFill>
                  <a:srgbClr val="000066"/>
                </a:solidFill>
                <a:effectLst>
                  <a:outerShdw blurRad="38100" dist="38100" dir="2700000" algn="tl">
                    <a:srgbClr val="000000"/>
                  </a:outerShdw>
                </a:effectLst>
                <a:latin typeface="Arial Unicode MS" pitchFamily="34" charset="-128"/>
                <a:cs typeface="Times New Roman" pitchFamily="18" charset="0"/>
              </a:rPr>
              <a:t>The Assignment Operator</a:t>
            </a:r>
          </a:p>
        </p:txBody>
      </p:sp>
      <p:sp>
        <p:nvSpPr>
          <p:cNvPr id="24579" name="WordArt 3"/>
          <p:cNvSpPr>
            <a:spLocks noChangeArrowheads="1" noChangeShapeType="1" noTextEdit="1"/>
          </p:cNvSpPr>
          <p:nvPr/>
        </p:nvSpPr>
        <p:spPr bwMode="auto">
          <a:xfrm>
            <a:off x="1023938" y="2819400"/>
            <a:ext cx="7096125" cy="647700"/>
          </a:xfrm>
          <a:prstGeom prst="rect">
            <a:avLst/>
          </a:prstGeom>
        </p:spPr>
        <p:txBody>
          <a:bodyPr wrap="none" fromWordArt="1">
            <a:prstTxWarp prst="textPlain">
              <a:avLst>
                <a:gd name="adj" fmla="val 50000"/>
              </a:avLst>
            </a:prstTxWarp>
          </a:bodyPr>
          <a:lstStyle/>
          <a:p>
            <a:pPr algn="ctr"/>
            <a:r>
              <a:rPr lang="en-IN" sz="3600" kern="10" spc="720">
                <a:ln w="9525">
                  <a:solidFill>
                    <a:schemeClr val="bg1"/>
                  </a:solidFill>
                  <a:round/>
                  <a:headEnd/>
                  <a:tailEnd/>
                </a:ln>
                <a:solidFill>
                  <a:srgbClr val="660066"/>
                </a:solidFill>
                <a:effectLst>
                  <a:outerShdw dist="45791" dir="3378596" algn="ctr" rotWithShape="0">
                    <a:srgbClr val="4D4D4D"/>
                  </a:outerShdw>
                </a:effectLst>
                <a:latin typeface="Arial Black"/>
              </a:rPr>
              <a:t>variable_name = expression;</a:t>
            </a:r>
          </a:p>
        </p:txBody>
      </p:sp>
      <p:sp>
        <p:nvSpPr>
          <p:cNvPr id="24580" name="Line 4"/>
          <p:cNvSpPr>
            <a:spLocks noChangeShapeType="1"/>
          </p:cNvSpPr>
          <p:nvPr/>
        </p:nvSpPr>
        <p:spPr bwMode="auto">
          <a:xfrm flipH="1">
            <a:off x="1905000" y="3429000"/>
            <a:ext cx="990600" cy="914400"/>
          </a:xfrm>
          <a:prstGeom prst="line">
            <a:avLst/>
          </a:prstGeom>
          <a:noFill/>
          <a:ln w="28575">
            <a:solidFill>
              <a:srgbClr val="990033"/>
            </a:solidFill>
            <a:round/>
            <a:headEnd/>
            <a:tailEnd type="stealth" w="lg" len="lg"/>
          </a:ln>
        </p:spPr>
        <p:txBody>
          <a:bodyPr wrap="none"/>
          <a:lstStyle/>
          <a:p>
            <a:endParaRPr lang="en-IN"/>
          </a:p>
        </p:txBody>
      </p:sp>
      <p:sp>
        <p:nvSpPr>
          <p:cNvPr id="24581" name="Line 5"/>
          <p:cNvSpPr>
            <a:spLocks noChangeShapeType="1"/>
          </p:cNvSpPr>
          <p:nvPr/>
        </p:nvSpPr>
        <p:spPr bwMode="auto">
          <a:xfrm>
            <a:off x="6096000" y="3352800"/>
            <a:ext cx="990600" cy="914400"/>
          </a:xfrm>
          <a:prstGeom prst="line">
            <a:avLst/>
          </a:prstGeom>
          <a:noFill/>
          <a:ln w="28575">
            <a:solidFill>
              <a:srgbClr val="990033"/>
            </a:solidFill>
            <a:round/>
            <a:headEnd/>
            <a:tailEnd type="stealth" w="lg" len="lg"/>
          </a:ln>
        </p:spPr>
        <p:txBody>
          <a:bodyPr wrap="none"/>
          <a:lstStyle/>
          <a:p>
            <a:endParaRPr lang="en-IN"/>
          </a:p>
        </p:txBody>
      </p:sp>
      <p:sp>
        <p:nvSpPr>
          <p:cNvPr id="24582" name="Line 6"/>
          <p:cNvSpPr>
            <a:spLocks noChangeShapeType="1"/>
          </p:cNvSpPr>
          <p:nvPr/>
        </p:nvSpPr>
        <p:spPr bwMode="auto">
          <a:xfrm>
            <a:off x="4953000" y="3276600"/>
            <a:ext cx="0" cy="1066800"/>
          </a:xfrm>
          <a:prstGeom prst="line">
            <a:avLst/>
          </a:prstGeom>
          <a:noFill/>
          <a:ln w="28575">
            <a:solidFill>
              <a:srgbClr val="990033"/>
            </a:solidFill>
            <a:round/>
            <a:headEnd/>
            <a:tailEnd type="stealth" w="lg" len="lg"/>
          </a:ln>
        </p:spPr>
        <p:txBody>
          <a:bodyPr wrap="none"/>
          <a:lstStyle/>
          <a:p>
            <a:endParaRPr lang="en-IN"/>
          </a:p>
        </p:txBody>
      </p:sp>
      <p:sp>
        <p:nvSpPr>
          <p:cNvPr id="24583" name="WordArt 7"/>
          <p:cNvSpPr>
            <a:spLocks noChangeArrowheads="1" noChangeShapeType="1" noTextEdit="1"/>
          </p:cNvSpPr>
          <p:nvPr/>
        </p:nvSpPr>
        <p:spPr bwMode="auto">
          <a:xfrm>
            <a:off x="152400" y="4495800"/>
            <a:ext cx="3200400" cy="647700"/>
          </a:xfrm>
          <a:prstGeom prst="rect">
            <a:avLst/>
          </a:prstGeom>
        </p:spPr>
        <p:txBody>
          <a:bodyPr wrap="none" fromWordArt="1">
            <a:prstTxWarp prst="textPlain">
              <a:avLst>
                <a:gd name="adj" fmla="val 50000"/>
              </a:avLst>
            </a:prstTxWarp>
          </a:bodyPr>
          <a:lstStyle/>
          <a:p>
            <a:pPr algn="ctr"/>
            <a:r>
              <a:rPr lang="en-IN" sz="3600" kern="10">
                <a:ln w="12700">
                  <a:solidFill>
                    <a:srgbClr val="0000FF"/>
                  </a:solidFill>
                  <a:round/>
                  <a:headEnd/>
                  <a:tailEnd/>
                </a:ln>
                <a:solidFill>
                  <a:srgbClr val="800000"/>
                </a:solidFill>
                <a:latin typeface="Arial Black"/>
              </a:rPr>
              <a:t>LeftHand side variable</a:t>
            </a:r>
          </a:p>
        </p:txBody>
      </p:sp>
      <p:sp>
        <p:nvSpPr>
          <p:cNvPr id="24584" name="WordArt 8"/>
          <p:cNvSpPr>
            <a:spLocks noChangeArrowheads="1" noChangeShapeType="1" noTextEdit="1"/>
          </p:cNvSpPr>
          <p:nvPr/>
        </p:nvSpPr>
        <p:spPr bwMode="auto">
          <a:xfrm>
            <a:off x="5753100" y="4419600"/>
            <a:ext cx="3162300" cy="685800"/>
          </a:xfrm>
          <a:prstGeom prst="rect">
            <a:avLst/>
          </a:prstGeom>
        </p:spPr>
        <p:txBody>
          <a:bodyPr wrap="none" fromWordArt="1">
            <a:prstTxWarp prst="textPlain">
              <a:avLst>
                <a:gd name="adj" fmla="val 50000"/>
              </a:avLst>
            </a:prstTxWarp>
          </a:bodyPr>
          <a:lstStyle/>
          <a:p>
            <a:pPr algn="ctr"/>
            <a:r>
              <a:rPr lang="en-IN" sz="2800" kern="10">
                <a:ln w="12700">
                  <a:noFill/>
                  <a:round/>
                  <a:headEnd/>
                  <a:tailEnd/>
                </a:ln>
                <a:solidFill>
                  <a:srgbClr val="800000"/>
                </a:solidFill>
                <a:effectLst>
                  <a:outerShdw dist="45791" dir="2021404" algn="ctr" rotWithShape="0">
                    <a:srgbClr val="9999FF"/>
                  </a:outerShdw>
                </a:effectLst>
                <a:latin typeface="Arial Black"/>
              </a:rPr>
              <a:t>RightHand Side value</a:t>
            </a:r>
          </a:p>
        </p:txBody>
      </p:sp>
      <p:sp>
        <p:nvSpPr>
          <p:cNvPr id="24585" name="Oval 9"/>
          <p:cNvSpPr>
            <a:spLocks noChangeArrowheads="1"/>
          </p:cNvSpPr>
          <p:nvPr/>
        </p:nvSpPr>
        <p:spPr bwMode="auto">
          <a:xfrm>
            <a:off x="4495800" y="2667000"/>
            <a:ext cx="914400" cy="914400"/>
          </a:xfrm>
          <a:prstGeom prst="ellipse">
            <a:avLst/>
          </a:prstGeom>
          <a:noFill/>
          <a:ln w="28575">
            <a:solidFill>
              <a:srgbClr val="FF0000"/>
            </a:solidFill>
            <a:round/>
            <a:headEnd/>
            <a:tailEnd/>
          </a:ln>
        </p:spPr>
        <p:txBody>
          <a:bodyPr wrap="none" anchor="ctr"/>
          <a:lstStyle/>
          <a:p>
            <a:endParaRPr lang="en-US"/>
          </a:p>
        </p:txBody>
      </p:sp>
      <p:sp>
        <p:nvSpPr>
          <p:cNvPr id="24586" name="WordArt 10"/>
          <p:cNvSpPr>
            <a:spLocks noChangeArrowheads="1" noChangeShapeType="1" noTextEdit="1"/>
          </p:cNvSpPr>
          <p:nvPr/>
        </p:nvSpPr>
        <p:spPr bwMode="auto">
          <a:xfrm>
            <a:off x="3657600" y="4419600"/>
            <a:ext cx="1962150" cy="857250"/>
          </a:xfrm>
          <a:prstGeom prst="rect">
            <a:avLst/>
          </a:prstGeom>
        </p:spPr>
        <p:txBody>
          <a:bodyPr wrap="none" fromWordArt="1">
            <a:prstTxWarp prst="textPlain">
              <a:avLst>
                <a:gd name="adj" fmla="val 50000"/>
              </a:avLst>
            </a:prstTxWarp>
          </a:bodyPr>
          <a:lstStyle/>
          <a:p>
            <a:pPr algn="ctr"/>
            <a:r>
              <a:rPr lang="en-IN" sz="2400" kern="10">
                <a:ln w="12700">
                  <a:solidFill>
                    <a:srgbClr val="EAEAEA"/>
                  </a:solidFill>
                  <a:round/>
                  <a:headEnd/>
                  <a:tailEnd/>
                </a:ln>
                <a:solidFill>
                  <a:srgbClr val="990033"/>
                </a:solidFill>
                <a:effectLst>
                  <a:outerShdw dist="35921" dir="2700000" sy="50000" kx="2115830" algn="bl" rotWithShape="0">
                    <a:srgbClr val="C0C0C0"/>
                  </a:outerShdw>
                </a:effectLst>
                <a:latin typeface="Arial Black"/>
              </a:rPr>
              <a:t>Assignment</a:t>
            </a:r>
          </a:p>
          <a:p>
            <a:pPr algn="ctr"/>
            <a:r>
              <a:rPr lang="en-IN" sz="2400" kern="10">
                <a:ln w="12700">
                  <a:solidFill>
                    <a:srgbClr val="EAEAEA"/>
                  </a:solidFill>
                  <a:round/>
                  <a:headEnd/>
                  <a:tailEnd/>
                </a:ln>
                <a:solidFill>
                  <a:srgbClr val="990033"/>
                </a:solidFill>
                <a:effectLst>
                  <a:outerShdw dist="35921" dir="2700000" sy="50000" kx="2115830" algn="bl" rotWithShape="0">
                    <a:srgbClr val="C0C0C0"/>
                  </a:outerShdw>
                </a:effectLst>
                <a:latin typeface="Arial Black"/>
              </a:rPr>
              <a:t>operator</a:t>
            </a:r>
          </a:p>
        </p:txBody>
      </p:sp>
      <p:sp>
        <p:nvSpPr>
          <p:cNvPr id="24587" name="Text Box 11"/>
          <p:cNvSpPr txBox="1">
            <a:spLocks noChangeArrowheads="1"/>
          </p:cNvSpPr>
          <p:nvPr/>
        </p:nvSpPr>
        <p:spPr bwMode="auto">
          <a:xfrm>
            <a:off x="304800" y="1371600"/>
            <a:ext cx="8534400" cy="822325"/>
          </a:xfrm>
          <a:prstGeom prst="rect">
            <a:avLst/>
          </a:prstGeom>
          <a:noFill/>
          <a:ln w="9525">
            <a:noFill/>
            <a:miter lim="800000"/>
            <a:headEnd/>
            <a:tailEnd/>
          </a:ln>
        </p:spPr>
        <p:txBody>
          <a:bodyPr>
            <a:spAutoFit/>
          </a:bodyPr>
          <a:lstStyle/>
          <a:p>
            <a:pPr>
              <a:spcBef>
                <a:spcPct val="50000"/>
              </a:spcBef>
              <a:buFontTx/>
              <a:buBlip>
                <a:blip r:embed="rId2"/>
              </a:buBlip>
            </a:pPr>
            <a:r>
              <a:rPr lang="en-US" sz="2400" b="1">
                <a:solidFill>
                  <a:srgbClr val="990033"/>
                </a:solidFill>
                <a:latin typeface="Times New Roman" pitchFamily="18" charset="0"/>
                <a:cs typeface="Times New Roman" pitchFamily="18" charset="0"/>
              </a:rPr>
              <a:t> In C++, the assignment operator(=) can be used </a:t>
            </a:r>
            <a:r>
              <a:rPr lang="en-US" sz="2400" b="1">
                <a:solidFill>
                  <a:srgbClr val="990033"/>
                </a:solidFill>
                <a:latin typeface="Times New Roman" pitchFamily="18" charset="0"/>
              </a:rPr>
              <a:t>for assigning a value to a variable</a:t>
            </a:r>
          </a:p>
        </p:txBody>
      </p:sp>
      <p:sp>
        <p:nvSpPr>
          <p:cNvPr id="22540" name="WordArt 12" descr="Purple mesh"/>
          <p:cNvSpPr>
            <a:spLocks noChangeArrowheads="1" noChangeShapeType="1" noTextEdit="1"/>
          </p:cNvSpPr>
          <p:nvPr/>
        </p:nvSpPr>
        <p:spPr bwMode="auto">
          <a:xfrm rot="1262250">
            <a:off x="381000" y="2106613"/>
            <a:ext cx="1295400" cy="838200"/>
          </a:xfrm>
          <a:prstGeom prst="rect">
            <a:avLst/>
          </a:prstGeom>
        </p:spPr>
        <p:txBody>
          <a:bodyPr wrap="none" fromWordArt="1">
            <a:prstTxWarp prst="textSlantUp">
              <a:avLst>
                <a:gd name="adj" fmla="val 55556"/>
              </a:avLst>
            </a:prstTxWarp>
          </a:bodyPr>
          <a:lstStyle/>
          <a:p>
            <a:pPr algn="ctr"/>
            <a:r>
              <a:rPr lang="en-IN" sz="2000" kern="10">
                <a:ln w="9525">
                  <a:solidFill>
                    <a:srgbClr val="000000"/>
                  </a:solidFill>
                  <a:round/>
                  <a:headEnd/>
                  <a:tailEnd/>
                </a:ln>
                <a:blipFill dpi="0" rotWithShape="1">
                  <a:blip r:embed="rId3"/>
                  <a:srcRect/>
                  <a:tile tx="0" ty="0" sx="100000" sy="100000" flip="none" algn="tl"/>
                </a:blipFill>
                <a:latin typeface="Arial Black"/>
              </a:rPr>
              <a:t>Syntax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24587"/>
                                        </p:tgtEl>
                                        <p:attrNameLst>
                                          <p:attrName>style.visibility</p:attrName>
                                        </p:attrNameLst>
                                      </p:cBhvr>
                                      <p:to>
                                        <p:strVal val="visible"/>
                                      </p:to>
                                    </p:set>
                                    <p:animEffect transition="in" filter="slide(fromBottom)">
                                      <p:cBhvr>
                                        <p:cTn id="7" dur="500"/>
                                        <p:tgtEl>
                                          <p:spTgt spid="24587"/>
                                        </p:tgtEl>
                                      </p:cBhvr>
                                    </p:animEffect>
                                  </p:childTnLst>
                                </p:cTn>
                              </p:par>
                            </p:childTnLst>
                          </p:cTn>
                        </p:par>
                        <p:par>
                          <p:cTn id="8" fill="hold">
                            <p:stCondLst>
                              <p:cond delay="500"/>
                            </p:stCondLst>
                            <p:childTnLst>
                              <p:par>
                                <p:cTn id="9" presetID="15" presetClass="entr" presetSubtype="0" fill="hold" grpId="0" nodeType="afterEffect">
                                  <p:stCondLst>
                                    <p:cond delay="0"/>
                                  </p:stCondLst>
                                  <p:childTnLst>
                                    <p:set>
                                      <p:cBhvr>
                                        <p:cTn id="10" dur="1" fill="hold">
                                          <p:stCondLst>
                                            <p:cond delay="0"/>
                                          </p:stCondLst>
                                        </p:cTn>
                                        <p:tgtEl>
                                          <p:spTgt spid="24579"/>
                                        </p:tgtEl>
                                        <p:attrNameLst>
                                          <p:attrName>style.visibility</p:attrName>
                                        </p:attrNameLst>
                                      </p:cBhvr>
                                      <p:to>
                                        <p:strVal val="visible"/>
                                      </p:to>
                                    </p:set>
                                    <p:anim calcmode="lin" valueType="num">
                                      <p:cBhvr>
                                        <p:cTn id="11" dur="1000" fill="hold"/>
                                        <p:tgtEl>
                                          <p:spTgt spid="24579"/>
                                        </p:tgtEl>
                                        <p:attrNameLst>
                                          <p:attrName>ppt_w</p:attrName>
                                        </p:attrNameLst>
                                      </p:cBhvr>
                                      <p:tavLst>
                                        <p:tav tm="0">
                                          <p:val>
                                            <p:fltVal val="0"/>
                                          </p:val>
                                        </p:tav>
                                        <p:tav tm="100000">
                                          <p:val>
                                            <p:strVal val="#ppt_w"/>
                                          </p:val>
                                        </p:tav>
                                      </p:tavLst>
                                    </p:anim>
                                    <p:anim calcmode="lin" valueType="num">
                                      <p:cBhvr>
                                        <p:cTn id="12" dur="1000" fill="hold"/>
                                        <p:tgtEl>
                                          <p:spTgt spid="24579"/>
                                        </p:tgtEl>
                                        <p:attrNameLst>
                                          <p:attrName>ppt_h</p:attrName>
                                        </p:attrNameLst>
                                      </p:cBhvr>
                                      <p:tavLst>
                                        <p:tav tm="0">
                                          <p:val>
                                            <p:fltVal val="0"/>
                                          </p:val>
                                        </p:tav>
                                        <p:tav tm="100000">
                                          <p:val>
                                            <p:strVal val="#ppt_h"/>
                                          </p:val>
                                        </p:tav>
                                      </p:tavLst>
                                    </p:anim>
                                    <p:anim calcmode="lin" valueType="num">
                                      <p:cBhvr>
                                        <p:cTn id="13" dur="1000" fill="hold"/>
                                        <p:tgtEl>
                                          <p:spTgt spid="24579"/>
                                        </p:tgtEl>
                                        <p:attrNameLst>
                                          <p:attrName>ppt_x</p:attrName>
                                        </p:attrNameLst>
                                      </p:cBhvr>
                                      <p:tavLst>
                                        <p:tav tm="0" fmla="#ppt_x+(cos(-2*pi*(1-$))*-#ppt_x-sin(-2*pi*(1-$))*(1-#ppt_y))*(1-$)">
                                          <p:val>
                                            <p:fltVal val="0"/>
                                          </p:val>
                                        </p:tav>
                                        <p:tav tm="100000">
                                          <p:val>
                                            <p:fltVal val="1"/>
                                          </p:val>
                                        </p:tav>
                                      </p:tavLst>
                                    </p:anim>
                                    <p:anim calcmode="lin" valueType="num">
                                      <p:cBhvr>
                                        <p:cTn id="14" dur="1000" fill="hold"/>
                                        <p:tgtEl>
                                          <p:spTgt spid="24579"/>
                                        </p:tgtEl>
                                        <p:attrNameLst>
                                          <p:attrName>ppt_y</p:attrName>
                                        </p:attrNameLst>
                                      </p:cBhvr>
                                      <p:tavLst>
                                        <p:tav tm="0" fmla="#ppt_y+(sin(-2*pi*(1-$))*-#ppt_x+cos(-2*pi*(1-$))*(1-#ppt_y))*(1-$)">
                                          <p:val>
                                            <p:fltVal val="0"/>
                                          </p:val>
                                        </p:tav>
                                        <p:tav tm="100000">
                                          <p:val>
                                            <p:fltVal val="1"/>
                                          </p:val>
                                        </p:tav>
                                      </p:tavLst>
                                    </p:anim>
                                  </p:childTnLst>
                                </p:cTn>
                              </p:par>
                              <p:par>
                                <p:cTn id="15" presetID="18" presetClass="entr" presetSubtype="6" fill="hold" grpId="0" nodeType="withEffect">
                                  <p:stCondLst>
                                    <p:cond delay="0"/>
                                  </p:stCondLst>
                                  <p:childTnLst>
                                    <p:set>
                                      <p:cBhvr>
                                        <p:cTn id="16" dur="1" fill="hold">
                                          <p:stCondLst>
                                            <p:cond delay="0"/>
                                          </p:stCondLst>
                                        </p:cTn>
                                        <p:tgtEl>
                                          <p:spTgt spid="24580"/>
                                        </p:tgtEl>
                                        <p:attrNameLst>
                                          <p:attrName>style.visibility</p:attrName>
                                        </p:attrNameLst>
                                      </p:cBhvr>
                                      <p:to>
                                        <p:strVal val="visible"/>
                                      </p:to>
                                    </p:set>
                                    <p:animEffect transition="in" filter="strips(downRight)">
                                      <p:cBhvr>
                                        <p:cTn id="17" dur="500"/>
                                        <p:tgtEl>
                                          <p:spTgt spid="24580"/>
                                        </p:tgtEl>
                                      </p:cBhvr>
                                    </p:animEffect>
                                  </p:childTnLst>
                                </p:cTn>
                              </p:par>
                            </p:childTnLst>
                          </p:cTn>
                        </p:par>
                        <p:par>
                          <p:cTn id="18" fill="hold">
                            <p:stCondLst>
                              <p:cond delay="1500"/>
                            </p:stCondLst>
                            <p:childTnLst>
                              <p:par>
                                <p:cTn id="19" presetID="2" presetClass="entr" presetSubtype="8" fill="hold" grpId="0" nodeType="afterEffect">
                                  <p:stCondLst>
                                    <p:cond delay="0"/>
                                  </p:stCondLst>
                                  <p:childTnLst>
                                    <p:set>
                                      <p:cBhvr>
                                        <p:cTn id="20" dur="1" fill="hold">
                                          <p:stCondLst>
                                            <p:cond delay="0"/>
                                          </p:stCondLst>
                                        </p:cTn>
                                        <p:tgtEl>
                                          <p:spTgt spid="24583"/>
                                        </p:tgtEl>
                                        <p:attrNameLst>
                                          <p:attrName>style.visibility</p:attrName>
                                        </p:attrNameLst>
                                      </p:cBhvr>
                                      <p:to>
                                        <p:strVal val="visible"/>
                                      </p:to>
                                    </p:set>
                                    <p:anim calcmode="lin" valueType="num">
                                      <p:cBhvr additive="base">
                                        <p:cTn id="21" dur="500" fill="hold"/>
                                        <p:tgtEl>
                                          <p:spTgt spid="24583"/>
                                        </p:tgtEl>
                                        <p:attrNameLst>
                                          <p:attrName>ppt_x</p:attrName>
                                        </p:attrNameLst>
                                      </p:cBhvr>
                                      <p:tavLst>
                                        <p:tav tm="0">
                                          <p:val>
                                            <p:strVal val="0-#ppt_w/2"/>
                                          </p:val>
                                        </p:tav>
                                        <p:tav tm="100000">
                                          <p:val>
                                            <p:strVal val="#ppt_x"/>
                                          </p:val>
                                        </p:tav>
                                      </p:tavLst>
                                    </p:anim>
                                    <p:anim calcmode="lin" valueType="num">
                                      <p:cBhvr additive="base">
                                        <p:cTn id="22" dur="500" fill="hold"/>
                                        <p:tgtEl>
                                          <p:spTgt spid="24583"/>
                                        </p:tgtEl>
                                        <p:attrNameLst>
                                          <p:attrName>ppt_y</p:attrName>
                                        </p:attrNameLst>
                                      </p:cBhvr>
                                      <p:tavLst>
                                        <p:tav tm="0">
                                          <p:val>
                                            <p:strVal val="#ppt_y"/>
                                          </p:val>
                                        </p:tav>
                                        <p:tav tm="100000">
                                          <p:val>
                                            <p:strVal val="#ppt_y"/>
                                          </p:val>
                                        </p:tav>
                                      </p:tavLst>
                                    </p:anim>
                                  </p:childTnLst>
                                </p:cTn>
                              </p:par>
                              <p:par>
                                <p:cTn id="23" presetID="18" presetClass="entr" presetSubtype="12" fill="hold" grpId="0" nodeType="withEffect">
                                  <p:stCondLst>
                                    <p:cond delay="0"/>
                                  </p:stCondLst>
                                  <p:childTnLst>
                                    <p:set>
                                      <p:cBhvr>
                                        <p:cTn id="24" dur="1" fill="hold">
                                          <p:stCondLst>
                                            <p:cond delay="0"/>
                                          </p:stCondLst>
                                        </p:cTn>
                                        <p:tgtEl>
                                          <p:spTgt spid="24581"/>
                                        </p:tgtEl>
                                        <p:attrNameLst>
                                          <p:attrName>style.visibility</p:attrName>
                                        </p:attrNameLst>
                                      </p:cBhvr>
                                      <p:to>
                                        <p:strVal val="visible"/>
                                      </p:to>
                                    </p:set>
                                    <p:animEffect transition="in" filter="strips(downLeft)">
                                      <p:cBhvr>
                                        <p:cTn id="25" dur="500"/>
                                        <p:tgtEl>
                                          <p:spTgt spid="24581"/>
                                        </p:tgtEl>
                                      </p:cBhvr>
                                    </p:animEffect>
                                  </p:childTnLst>
                                </p:cTn>
                              </p:par>
                            </p:childTnLst>
                          </p:cTn>
                        </p:par>
                        <p:par>
                          <p:cTn id="26" fill="hold">
                            <p:stCondLst>
                              <p:cond delay="2000"/>
                            </p:stCondLst>
                            <p:childTnLst>
                              <p:par>
                                <p:cTn id="27" presetID="2" presetClass="entr" presetSubtype="8" fill="hold" grpId="0" nodeType="afterEffect">
                                  <p:stCondLst>
                                    <p:cond delay="0"/>
                                  </p:stCondLst>
                                  <p:childTnLst>
                                    <p:set>
                                      <p:cBhvr>
                                        <p:cTn id="28" dur="1" fill="hold">
                                          <p:stCondLst>
                                            <p:cond delay="0"/>
                                          </p:stCondLst>
                                        </p:cTn>
                                        <p:tgtEl>
                                          <p:spTgt spid="24584"/>
                                        </p:tgtEl>
                                        <p:attrNameLst>
                                          <p:attrName>style.visibility</p:attrName>
                                        </p:attrNameLst>
                                      </p:cBhvr>
                                      <p:to>
                                        <p:strVal val="visible"/>
                                      </p:to>
                                    </p:set>
                                    <p:anim calcmode="lin" valueType="num">
                                      <p:cBhvr additive="base">
                                        <p:cTn id="29" dur="500" fill="hold"/>
                                        <p:tgtEl>
                                          <p:spTgt spid="24584"/>
                                        </p:tgtEl>
                                        <p:attrNameLst>
                                          <p:attrName>ppt_x</p:attrName>
                                        </p:attrNameLst>
                                      </p:cBhvr>
                                      <p:tavLst>
                                        <p:tav tm="0">
                                          <p:val>
                                            <p:strVal val="0-#ppt_w/2"/>
                                          </p:val>
                                        </p:tav>
                                        <p:tav tm="100000">
                                          <p:val>
                                            <p:strVal val="#ppt_x"/>
                                          </p:val>
                                        </p:tav>
                                      </p:tavLst>
                                    </p:anim>
                                    <p:anim calcmode="lin" valueType="num">
                                      <p:cBhvr additive="base">
                                        <p:cTn id="30" dur="500" fill="hold"/>
                                        <p:tgtEl>
                                          <p:spTgt spid="24584"/>
                                        </p:tgtEl>
                                        <p:attrNameLst>
                                          <p:attrName>ppt_y</p:attrName>
                                        </p:attrNameLst>
                                      </p:cBhvr>
                                      <p:tavLst>
                                        <p:tav tm="0">
                                          <p:val>
                                            <p:strVal val="#ppt_y"/>
                                          </p:val>
                                        </p:tav>
                                        <p:tav tm="100000">
                                          <p:val>
                                            <p:strVal val="#ppt_y"/>
                                          </p:val>
                                        </p:tav>
                                      </p:tavLst>
                                    </p:anim>
                                  </p:childTnLst>
                                </p:cTn>
                              </p:par>
                            </p:childTnLst>
                          </p:cTn>
                        </p:par>
                        <p:par>
                          <p:cTn id="31" fill="hold">
                            <p:stCondLst>
                              <p:cond delay="2500"/>
                            </p:stCondLst>
                            <p:childTnLst>
                              <p:par>
                                <p:cTn id="32" presetID="15" presetClass="entr" presetSubtype="0" fill="hold" grpId="0" nodeType="afterEffect">
                                  <p:stCondLst>
                                    <p:cond delay="0"/>
                                  </p:stCondLst>
                                  <p:childTnLst>
                                    <p:set>
                                      <p:cBhvr>
                                        <p:cTn id="33" dur="1" fill="hold">
                                          <p:stCondLst>
                                            <p:cond delay="0"/>
                                          </p:stCondLst>
                                        </p:cTn>
                                        <p:tgtEl>
                                          <p:spTgt spid="24585"/>
                                        </p:tgtEl>
                                        <p:attrNameLst>
                                          <p:attrName>style.visibility</p:attrName>
                                        </p:attrNameLst>
                                      </p:cBhvr>
                                      <p:to>
                                        <p:strVal val="visible"/>
                                      </p:to>
                                    </p:set>
                                    <p:anim calcmode="lin" valueType="num">
                                      <p:cBhvr>
                                        <p:cTn id="34" dur="1000" fill="hold"/>
                                        <p:tgtEl>
                                          <p:spTgt spid="24585"/>
                                        </p:tgtEl>
                                        <p:attrNameLst>
                                          <p:attrName>ppt_w</p:attrName>
                                        </p:attrNameLst>
                                      </p:cBhvr>
                                      <p:tavLst>
                                        <p:tav tm="0">
                                          <p:val>
                                            <p:fltVal val="0"/>
                                          </p:val>
                                        </p:tav>
                                        <p:tav tm="100000">
                                          <p:val>
                                            <p:strVal val="#ppt_w"/>
                                          </p:val>
                                        </p:tav>
                                      </p:tavLst>
                                    </p:anim>
                                    <p:anim calcmode="lin" valueType="num">
                                      <p:cBhvr>
                                        <p:cTn id="35" dur="1000" fill="hold"/>
                                        <p:tgtEl>
                                          <p:spTgt spid="24585"/>
                                        </p:tgtEl>
                                        <p:attrNameLst>
                                          <p:attrName>ppt_h</p:attrName>
                                        </p:attrNameLst>
                                      </p:cBhvr>
                                      <p:tavLst>
                                        <p:tav tm="0">
                                          <p:val>
                                            <p:fltVal val="0"/>
                                          </p:val>
                                        </p:tav>
                                        <p:tav tm="100000">
                                          <p:val>
                                            <p:strVal val="#ppt_h"/>
                                          </p:val>
                                        </p:tav>
                                      </p:tavLst>
                                    </p:anim>
                                    <p:anim calcmode="lin" valueType="num">
                                      <p:cBhvr>
                                        <p:cTn id="36" dur="1000" fill="hold"/>
                                        <p:tgtEl>
                                          <p:spTgt spid="24585"/>
                                        </p:tgtEl>
                                        <p:attrNameLst>
                                          <p:attrName>ppt_x</p:attrName>
                                        </p:attrNameLst>
                                      </p:cBhvr>
                                      <p:tavLst>
                                        <p:tav tm="0" fmla="#ppt_x+(cos(-2*pi*(1-$))*-#ppt_x-sin(-2*pi*(1-$))*(1-#ppt_y))*(1-$)">
                                          <p:val>
                                            <p:fltVal val="0"/>
                                          </p:val>
                                        </p:tav>
                                        <p:tav tm="100000">
                                          <p:val>
                                            <p:fltVal val="1"/>
                                          </p:val>
                                        </p:tav>
                                      </p:tavLst>
                                    </p:anim>
                                    <p:anim calcmode="lin" valueType="num">
                                      <p:cBhvr>
                                        <p:cTn id="37" dur="1000" fill="hold"/>
                                        <p:tgtEl>
                                          <p:spTgt spid="24585"/>
                                        </p:tgtEl>
                                        <p:attrNameLst>
                                          <p:attrName>ppt_y</p:attrName>
                                        </p:attrNameLst>
                                      </p:cBhvr>
                                      <p:tavLst>
                                        <p:tav tm="0" fmla="#ppt_y+(sin(-2*pi*(1-$))*-#ppt_x+cos(-2*pi*(1-$))*(1-#ppt_y))*(1-$)">
                                          <p:val>
                                            <p:fltVal val="0"/>
                                          </p:val>
                                        </p:tav>
                                        <p:tav tm="100000">
                                          <p:val>
                                            <p:fltVal val="1"/>
                                          </p:val>
                                        </p:tav>
                                      </p:tavLst>
                                    </p:anim>
                                  </p:childTnLst>
                                </p:cTn>
                              </p:par>
                            </p:childTnLst>
                          </p:cTn>
                        </p:par>
                        <p:par>
                          <p:cTn id="38" fill="hold">
                            <p:stCondLst>
                              <p:cond delay="3500"/>
                            </p:stCondLst>
                            <p:childTnLst>
                              <p:par>
                                <p:cTn id="39" presetID="12" presetClass="entr" presetSubtype="1" fill="hold" grpId="0" nodeType="afterEffect">
                                  <p:stCondLst>
                                    <p:cond delay="0"/>
                                  </p:stCondLst>
                                  <p:childTnLst>
                                    <p:set>
                                      <p:cBhvr>
                                        <p:cTn id="40" dur="1" fill="hold">
                                          <p:stCondLst>
                                            <p:cond delay="0"/>
                                          </p:stCondLst>
                                        </p:cTn>
                                        <p:tgtEl>
                                          <p:spTgt spid="24582"/>
                                        </p:tgtEl>
                                        <p:attrNameLst>
                                          <p:attrName>style.visibility</p:attrName>
                                        </p:attrNameLst>
                                      </p:cBhvr>
                                      <p:to>
                                        <p:strVal val="visible"/>
                                      </p:to>
                                    </p:set>
                                    <p:animEffect transition="in" filter="slide(fromTop)">
                                      <p:cBhvr>
                                        <p:cTn id="41" dur="500"/>
                                        <p:tgtEl>
                                          <p:spTgt spid="24582"/>
                                        </p:tgtEl>
                                      </p:cBhvr>
                                    </p:animEffect>
                                  </p:childTnLst>
                                </p:cTn>
                              </p:par>
                            </p:childTnLst>
                          </p:cTn>
                        </p:par>
                        <p:par>
                          <p:cTn id="42" fill="hold">
                            <p:stCondLst>
                              <p:cond delay="4000"/>
                            </p:stCondLst>
                            <p:childTnLst>
                              <p:par>
                                <p:cTn id="43" presetID="14" presetClass="entr" presetSubtype="10" fill="hold" grpId="0" nodeType="afterEffect">
                                  <p:stCondLst>
                                    <p:cond delay="0"/>
                                  </p:stCondLst>
                                  <p:childTnLst>
                                    <p:set>
                                      <p:cBhvr>
                                        <p:cTn id="44" dur="1" fill="hold">
                                          <p:stCondLst>
                                            <p:cond delay="0"/>
                                          </p:stCondLst>
                                        </p:cTn>
                                        <p:tgtEl>
                                          <p:spTgt spid="24586"/>
                                        </p:tgtEl>
                                        <p:attrNameLst>
                                          <p:attrName>style.visibility</p:attrName>
                                        </p:attrNameLst>
                                      </p:cBhvr>
                                      <p:to>
                                        <p:strVal val="visible"/>
                                      </p:to>
                                    </p:set>
                                    <p:animEffect transition="in" filter="randombar(horizontal)">
                                      <p:cBhvr>
                                        <p:cTn id="45" dur="500"/>
                                        <p:tgtEl>
                                          <p:spTgt spid="245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animBg="1"/>
      <p:bldP spid="24580" grpId="0" animBg="1"/>
      <p:bldP spid="24581" grpId="0" animBg="1"/>
      <p:bldP spid="24582" grpId="0" animBg="1"/>
      <p:bldP spid="24583" grpId="0" animBg="1"/>
      <p:bldP spid="24584" grpId="0" animBg="1"/>
      <p:bldP spid="24585" grpId="0" animBg="1"/>
      <p:bldP spid="24586" grpId="0" animBg="1"/>
      <p:bldP spid="24587" grpId="0"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WordArt 2"/>
          <p:cNvSpPr>
            <a:spLocks noChangeArrowheads="1" noChangeShapeType="1" noTextEdit="1"/>
          </p:cNvSpPr>
          <p:nvPr/>
        </p:nvSpPr>
        <p:spPr bwMode="auto">
          <a:xfrm>
            <a:off x="457200" y="457200"/>
            <a:ext cx="8001000" cy="762000"/>
          </a:xfrm>
          <a:prstGeom prst="rect">
            <a:avLst/>
          </a:prstGeom>
        </p:spPr>
        <p:txBody>
          <a:bodyPr wrap="none" fromWordArt="1">
            <a:prstTxWarp prst="textWave1">
              <a:avLst>
                <a:gd name="adj1" fmla="val 13005"/>
                <a:gd name="adj2" fmla="val 0"/>
              </a:avLst>
            </a:prstTxWarp>
          </a:bodyPr>
          <a:lstStyle/>
          <a:p>
            <a:pPr algn="ctr"/>
            <a:r>
              <a:rPr lang="en-IN" sz="3600" i="1" kern="10">
                <a:ln w="9525">
                  <a:solidFill>
                    <a:schemeClr val="bg1"/>
                  </a:solidFill>
                  <a:round/>
                  <a:headEnd/>
                  <a:tailEnd/>
                </a:ln>
                <a:solidFill>
                  <a:srgbClr val="660066"/>
                </a:solidFill>
                <a:effectLst>
                  <a:outerShdw dist="35921" dir="2700000" algn="ctr" rotWithShape="0">
                    <a:srgbClr val="808080">
                      <a:alpha val="79999"/>
                    </a:srgbClr>
                  </a:outerShdw>
                </a:effectLst>
                <a:latin typeface="Arial Black"/>
              </a:rPr>
              <a:t>Shorthand Assignment Operator</a:t>
            </a:r>
          </a:p>
        </p:txBody>
      </p:sp>
      <p:sp>
        <p:nvSpPr>
          <p:cNvPr id="23555" name="WordArt 3"/>
          <p:cNvSpPr>
            <a:spLocks noChangeArrowheads="1" noChangeShapeType="1" noTextEdit="1"/>
          </p:cNvSpPr>
          <p:nvPr/>
        </p:nvSpPr>
        <p:spPr bwMode="auto">
          <a:xfrm>
            <a:off x="381000" y="1524000"/>
            <a:ext cx="1895475" cy="381000"/>
          </a:xfrm>
          <a:prstGeom prst="rect">
            <a:avLst/>
          </a:prstGeom>
        </p:spPr>
        <p:txBody>
          <a:bodyPr wrap="none" fromWordArt="1">
            <a:prstTxWarp prst="textPlain">
              <a:avLst>
                <a:gd name="adj" fmla="val 50000"/>
              </a:avLst>
            </a:prstTxWarp>
          </a:bodyPr>
          <a:lstStyle/>
          <a:p>
            <a:pPr algn="ctr"/>
            <a:r>
              <a:rPr lang="en-IN" sz="3600" b="1" i="1" kern="10">
                <a:ln w="9525">
                  <a:solidFill>
                    <a:srgbClr val="000066"/>
                  </a:solidFill>
                  <a:round/>
                  <a:headEnd/>
                  <a:tailEnd/>
                </a:ln>
                <a:solidFill>
                  <a:srgbClr val="66FFFF"/>
                </a:solidFill>
                <a:latin typeface="Times New Roman"/>
                <a:cs typeface="Times New Roman"/>
              </a:rPr>
              <a:t>Syntax</a:t>
            </a:r>
          </a:p>
        </p:txBody>
      </p:sp>
      <p:grpSp>
        <p:nvGrpSpPr>
          <p:cNvPr id="2" name="Group 4"/>
          <p:cNvGrpSpPr>
            <a:grpSpLocks/>
          </p:cNvGrpSpPr>
          <p:nvPr/>
        </p:nvGrpSpPr>
        <p:grpSpPr bwMode="auto">
          <a:xfrm>
            <a:off x="1447800" y="2286000"/>
            <a:ext cx="5791200" cy="762000"/>
            <a:chOff x="528" y="1392"/>
            <a:chExt cx="3648" cy="480"/>
          </a:xfrm>
        </p:grpSpPr>
        <p:sp>
          <p:nvSpPr>
            <p:cNvPr id="23580" name="AutoShape 5"/>
            <p:cNvSpPr>
              <a:spLocks noChangeArrowheads="1"/>
            </p:cNvSpPr>
            <p:nvPr/>
          </p:nvSpPr>
          <p:spPr bwMode="auto">
            <a:xfrm>
              <a:off x="528" y="1392"/>
              <a:ext cx="3648" cy="480"/>
            </a:xfrm>
            <a:prstGeom prst="foldedCorner">
              <a:avLst>
                <a:gd name="adj" fmla="val 15130"/>
              </a:avLst>
            </a:prstGeom>
            <a:solidFill>
              <a:schemeClr val="accent1"/>
            </a:solidFill>
            <a:ln w="9525">
              <a:solidFill>
                <a:schemeClr val="tx1"/>
              </a:solidFill>
              <a:round/>
              <a:headEnd/>
              <a:tailEnd/>
            </a:ln>
          </p:spPr>
          <p:txBody>
            <a:bodyPr wrap="none" anchor="ctr"/>
            <a:lstStyle/>
            <a:p>
              <a:endParaRPr lang="en-US"/>
            </a:p>
          </p:txBody>
        </p:sp>
        <p:sp>
          <p:nvSpPr>
            <p:cNvPr id="23581" name="Text Box 6"/>
            <p:cNvSpPr txBox="1">
              <a:spLocks noChangeArrowheads="1"/>
            </p:cNvSpPr>
            <p:nvPr/>
          </p:nvSpPr>
          <p:spPr bwMode="auto">
            <a:xfrm>
              <a:off x="576" y="1488"/>
              <a:ext cx="3600" cy="231"/>
            </a:xfrm>
            <a:prstGeom prst="rect">
              <a:avLst/>
            </a:prstGeom>
            <a:noFill/>
            <a:ln w="9525">
              <a:noFill/>
              <a:miter lim="800000"/>
              <a:headEnd/>
              <a:tailEnd/>
            </a:ln>
          </p:spPr>
          <p:txBody>
            <a:bodyPr>
              <a:spAutoFit/>
            </a:bodyPr>
            <a:lstStyle/>
            <a:p>
              <a:pPr>
                <a:spcBef>
                  <a:spcPct val="50000"/>
                </a:spcBef>
              </a:pPr>
              <a:r>
                <a:rPr lang="en-US" b="1">
                  <a:solidFill>
                    <a:srgbClr val="990099"/>
                  </a:solidFill>
                </a:rPr>
                <a:t>Variablename &lt;arithmetic Operator&gt;=Expression;</a:t>
              </a:r>
            </a:p>
          </p:txBody>
        </p:sp>
      </p:grpSp>
      <p:graphicFrame>
        <p:nvGraphicFramePr>
          <p:cNvPr id="25607" name="Group 7"/>
          <p:cNvGraphicFramePr>
            <a:graphicFrameLocks noGrp="1"/>
          </p:cNvGraphicFramePr>
          <p:nvPr/>
        </p:nvGraphicFramePr>
        <p:xfrm>
          <a:off x="990600" y="3581400"/>
          <a:ext cx="7467600" cy="2334260"/>
        </p:xfrm>
        <a:graphic>
          <a:graphicData uri="http://schemas.openxmlformats.org/drawingml/2006/table">
            <a:tbl>
              <a:tblPr/>
              <a:tblGrid>
                <a:gridCol w="3319463"/>
                <a:gridCol w="4148137"/>
              </a:tblGrid>
              <a:tr h="3524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bg1"/>
                          </a:solidFill>
                          <a:effectLst/>
                          <a:latin typeface="Arial" charset="0"/>
                        </a:rPr>
                        <a:t>Simple Assignment Operators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33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bg1"/>
                          </a:solidFill>
                          <a:effectLst/>
                          <a:latin typeface="Arial" charset="0"/>
                        </a:rPr>
                        <a:t>Equivalent Shorthand Assignment Operators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33CC"/>
                    </a:solidFill>
                  </a:tcPr>
                </a:tc>
              </a:tr>
              <a:tr h="4095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bg1"/>
                          </a:solidFill>
                          <a:effectLst/>
                          <a:latin typeface="Arial" charset="0"/>
                        </a:rPr>
                        <a:t>x=x+1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33CC"/>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bg1"/>
                          </a:solidFill>
                          <a:effectLst/>
                          <a:latin typeface="Arial" charset="0"/>
                        </a:rPr>
                        <a:t>X  += 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33CC"/>
                    </a:solidFill>
                  </a:tcPr>
                </a:tc>
              </a:tr>
              <a:tr h="3079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bg1"/>
                          </a:solidFill>
                          <a:effectLst/>
                          <a:latin typeface="Arial" charset="0"/>
                        </a:rPr>
                        <a:t>y=y-1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33CC"/>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bg1"/>
                          </a:solidFill>
                          <a:effectLst/>
                          <a:latin typeface="Arial" charset="0"/>
                        </a:rPr>
                        <a:t>Y =-  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33CC"/>
                    </a:solidFill>
                  </a:tcPr>
                </a:tc>
              </a:tr>
              <a:tr h="3048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bg1"/>
                          </a:solidFill>
                          <a:effectLst/>
                          <a:latin typeface="Arial" charset="0"/>
                        </a:rPr>
                        <a:t>z=z*(x+y)</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33CC"/>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bg1"/>
                          </a:solidFill>
                          <a:effectLst/>
                          <a:latin typeface="Arial" charset="0"/>
                        </a:rPr>
                        <a:t>Z *=  (x+y)</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33CC"/>
                    </a:solidFill>
                  </a:tcPr>
                </a:tc>
              </a:tr>
              <a:tr h="3349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bg1"/>
                          </a:solidFill>
                          <a:effectLst/>
                          <a:latin typeface="Arial" charset="0"/>
                        </a:rPr>
                        <a:t>Y=y/(x+y)</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33CC"/>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bg1"/>
                          </a:solidFill>
                          <a:effectLst/>
                          <a:latin typeface="Arial" charset="0"/>
                        </a:rPr>
                        <a:t>Y  /=  (x+y)</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33CC"/>
                    </a:solidFill>
                  </a:tcPr>
                </a:tc>
              </a:tr>
              <a:tr h="3397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bg1"/>
                          </a:solidFill>
                          <a:effectLst/>
                          <a:latin typeface="Arial" charset="0"/>
                        </a:rPr>
                        <a:t>X=x%z</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33CC"/>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smtClean="0">
                          <a:ln>
                            <a:noFill/>
                          </a:ln>
                          <a:solidFill>
                            <a:schemeClr val="bg1"/>
                          </a:solidFill>
                          <a:effectLst/>
                          <a:latin typeface="Arial" charset="0"/>
                        </a:rPr>
                        <a:t>X %=  z</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33CC"/>
                    </a:solid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p:stCondLst>
                                    <p:cond delay="0"/>
                                  </p:stCondLst>
                                  <p:iterate type="lt">
                                    <p:tmPct val="5000"/>
                                  </p:iterate>
                                  <p:childTnLst>
                                    <p:set>
                                      <p:cBhvr>
                                        <p:cTn id="6" dur="1" fill="hold">
                                          <p:stCondLst>
                                            <p:cond delay="0"/>
                                          </p:stCondLst>
                                        </p:cTn>
                                        <p:tgtEl>
                                          <p:spTgt spid="25602"/>
                                        </p:tgtEl>
                                        <p:attrNameLst>
                                          <p:attrName>style.visibility</p:attrName>
                                        </p:attrNameLst>
                                      </p:cBhvr>
                                      <p:to>
                                        <p:strVal val="visible"/>
                                      </p:to>
                                    </p:set>
                                    <p:anim calcmode="lin" valueType="num">
                                      <p:cBhvr>
                                        <p:cTn id="7" dur="2000" fill="hold"/>
                                        <p:tgtEl>
                                          <p:spTgt spid="25602"/>
                                        </p:tgtEl>
                                        <p:attrNameLst>
                                          <p:attrName>ppt_w</p:attrName>
                                        </p:attrNameLst>
                                      </p:cBhvr>
                                      <p:tavLst>
                                        <p:tav tm="0">
                                          <p:val>
                                            <p:fltVal val="0"/>
                                          </p:val>
                                        </p:tav>
                                        <p:tav tm="100000">
                                          <p:val>
                                            <p:strVal val="#ppt_w"/>
                                          </p:val>
                                        </p:tav>
                                      </p:tavLst>
                                    </p:anim>
                                    <p:anim calcmode="lin" valueType="num">
                                      <p:cBhvr>
                                        <p:cTn id="8" dur="2000" fill="hold"/>
                                        <p:tgtEl>
                                          <p:spTgt spid="25602"/>
                                        </p:tgtEl>
                                        <p:attrNameLst>
                                          <p:attrName>ppt_h</p:attrName>
                                        </p:attrNameLst>
                                      </p:cBhvr>
                                      <p:tavLst>
                                        <p:tav tm="0">
                                          <p:val>
                                            <p:fltVal val="0"/>
                                          </p:val>
                                        </p:tav>
                                        <p:tav tm="100000">
                                          <p:val>
                                            <p:strVal val="#ppt_h"/>
                                          </p:val>
                                        </p:tav>
                                      </p:tavLst>
                                    </p:anim>
                                    <p:anim calcmode="lin" valueType="num">
                                      <p:cBhvr>
                                        <p:cTn id="9" dur="2000" fill="hold"/>
                                        <p:tgtEl>
                                          <p:spTgt spid="25602"/>
                                        </p:tgtEl>
                                        <p:attrNameLst>
                                          <p:attrName>style.rotation</p:attrName>
                                        </p:attrNameLst>
                                      </p:cBhvr>
                                      <p:tavLst>
                                        <p:tav tm="0">
                                          <p:val>
                                            <p:fltVal val="90"/>
                                          </p:val>
                                        </p:tav>
                                        <p:tav tm="100000">
                                          <p:val>
                                            <p:fltVal val="0"/>
                                          </p:val>
                                        </p:tav>
                                      </p:tavLst>
                                    </p:anim>
                                    <p:animEffect transition="in" filter="fade">
                                      <p:cBhvr>
                                        <p:cTn id="10" dur="2000"/>
                                        <p:tgtEl>
                                          <p:spTgt spid="25602"/>
                                        </p:tgtEl>
                                      </p:cBhvr>
                                    </p:animEffect>
                                  </p:childTnLst>
                                </p:cTn>
                              </p:par>
                            </p:childTnLst>
                          </p:cTn>
                        </p:par>
                        <p:par>
                          <p:cTn id="11" fill="hold">
                            <p:stCondLst>
                              <p:cond delay="2000"/>
                            </p:stCondLst>
                            <p:childTnLst>
                              <p:par>
                                <p:cTn id="12" presetID="53" presetClass="entr" presetSubtype="0" fill="hold" nodeType="after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2000" fill="hold"/>
                                        <p:tgtEl>
                                          <p:spTgt spid="2"/>
                                        </p:tgtEl>
                                        <p:attrNameLst>
                                          <p:attrName>ppt_w</p:attrName>
                                        </p:attrNameLst>
                                      </p:cBhvr>
                                      <p:tavLst>
                                        <p:tav tm="0">
                                          <p:val>
                                            <p:fltVal val="0"/>
                                          </p:val>
                                        </p:tav>
                                        <p:tav tm="100000">
                                          <p:val>
                                            <p:strVal val="#ppt_w"/>
                                          </p:val>
                                        </p:tav>
                                      </p:tavLst>
                                    </p:anim>
                                    <p:anim calcmode="lin" valueType="num">
                                      <p:cBhvr>
                                        <p:cTn id="15" dur="2000" fill="hold"/>
                                        <p:tgtEl>
                                          <p:spTgt spid="2"/>
                                        </p:tgtEl>
                                        <p:attrNameLst>
                                          <p:attrName>ppt_h</p:attrName>
                                        </p:attrNameLst>
                                      </p:cBhvr>
                                      <p:tavLst>
                                        <p:tav tm="0">
                                          <p:val>
                                            <p:fltVal val="0"/>
                                          </p:val>
                                        </p:tav>
                                        <p:tav tm="100000">
                                          <p:val>
                                            <p:strVal val="#ppt_h"/>
                                          </p:val>
                                        </p:tav>
                                      </p:tavLst>
                                    </p:anim>
                                    <p:animEffect transition="in" filter="fade">
                                      <p:cBhvr>
                                        <p:cTn id="16"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WordArt 2"/>
          <p:cNvSpPr>
            <a:spLocks noChangeArrowheads="1" noChangeShapeType="1" noTextEdit="1"/>
          </p:cNvSpPr>
          <p:nvPr/>
        </p:nvSpPr>
        <p:spPr bwMode="auto">
          <a:xfrm>
            <a:off x="1905000" y="304800"/>
            <a:ext cx="5181600" cy="647700"/>
          </a:xfrm>
          <a:prstGeom prst="rect">
            <a:avLst/>
          </a:prstGeom>
        </p:spPr>
        <p:txBody>
          <a:bodyPr wrap="none" fromWordArt="1">
            <a:prstTxWarp prst="textPlain">
              <a:avLst>
                <a:gd name="adj" fmla="val 50000"/>
              </a:avLst>
            </a:prstTxWarp>
          </a:bodyPr>
          <a:lstStyle/>
          <a:p>
            <a:pPr algn="ctr"/>
            <a:r>
              <a:rPr lang="en-IN" sz="3600" b="1"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a:rPr>
              <a:t>BitWise Operators</a:t>
            </a:r>
          </a:p>
        </p:txBody>
      </p:sp>
      <p:sp>
        <p:nvSpPr>
          <p:cNvPr id="24579" name="Text Box 3"/>
          <p:cNvSpPr txBox="1">
            <a:spLocks noChangeArrowheads="1"/>
          </p:cNvSpPr>
          <p:nvPr/>
        </p:nvSpPr>
        <p:spPr bwMode="auto">
          <a:xfrm>
            <a:off x="762000" y="1066800"/>
            <a:ext cx="7467600" cy="701675"/>
          </a:xfrm>
          <a:prstGeom prst="rect">
            <a:avLst/>
          </a:prstGeom>
          <a:noFill/>
          <a:ln w="9525">
            <a:noFill/>
            <a:miter lim="800000"/>
            <a:headEnd/>
            <a:tailEnd/>
          </a:ln>
        </p:spPr>
        <p:txBody>
          <a:bodyPr>
            <a:spAutoFit/>
          </a:bodyPr>
          <a:lstStyle/>
          <a:p>
            <a:pPr>
              <a:spcBef>
                <a:spcPct val="50000"/>
              </a:spcBef>
            </a:pPr>
            <a:r>
              <a:rPr lang="en-US" sz="2000" b="1">
                <a:solidFill>
                  <a:srgbClr val="990033"/>
                </a:solidFill>
              </a:rPr>
              <a:t>           Used in applications which require manipulation of individual bits within a word of memory</a:t>
            </a:r>
          </a:p>
        </p:txBody>
      </p:sp>
      <p:graphicFrame>
        <p:nvGraphicFramePr>
          <p:cNvPr id="26628" name="Group 4"/>
          <p:cNvGraphicFramePr>
            <a:graphicFrameLocks noGrp="1"/>
          </p:cNvGraphicFramePr>
          <p:nvPr/>
        </p:nvGraphicFramePr>
        <p:xfrm>
          <a:off x="1524000" y="1828800"/>
          <a:ext cx="5181600" cy="2849880"/>
        </p:xfrm>
        <a:graphic>
          <a:graphicData uri="http://schemas.openxmlformats.org/drawingml/2006/table">
            <a:tbl>
              <a:tblPr/>
              <a:tblGrid>
                <a:gridCol w="3124200"/>
                <a:gridCol w="2057400"/>
              </a:tblGrid>
              <a:tr h="3810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smtClean="0">
                          <a:ln>
                            <a:noFill/>
                          </a:ln>
                          <a:solidFill>
                            <a:schemeClr val="bg1"/>
                          </a:solidFill>
                          <a:effectLst/>
                          <a:latin typeface="Times New Roman" pitchFamily="18" charset="0"/>
                        </a:rPr>
                        <a:t>Operators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1">
                      <a:blip r:embed="rId2"/>
                      <a:srcRect/>
                      <a:tile tx="0" ty="0" sx="100000" sy="100000" flip="none" algn="tl"/>
                    </a:blip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smtClean="0">
                          <a:ln>
                            <a:noFill/>
                          </a:ln>
                          <a:solidFill>
                            <a:schemeClr val="bg1"/>
                          </a:solidFill>
                          <a:effectLst/>
                          <a:latin typeface="Times New Roman" pitchFamily="18" charset="0"/>
                        </a:rPr>
                        <a:t>Meaning</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1">
                      <a:blip r:embed="rId2"/>
                      <a:srcRect/>
                      <a:tile tx="0" ty="0" sx="100000" sy="100000" flip="none" algn="tl"/>
                    </a:blipFill>
                  </a:tcPr>
                </a:tc>
              </a:tr>
              <a:tr h="2571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smtClean="0">
                          <a:ln>
                            <a:noFill/>
                          </a:ln>
                          <a:solidFill>
                            <a:schemeClr val="bg1"/>
                          </a:solidFill>
                          <a:effectLst/>
                          <a:latin typeface="Times New Roman" pitchFamily="18" charset="0"/>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1">
                      <a:blip r:embed="rId2"/>
                      <a:srcRect/>
                      <a:tile tx="0" ty="0" sx="100000" sy="100000" flip="none" algn="tl"/>
                    </a:blip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smtClean="0">
                          <a:ln>
                            <a:noFill/>
                          </a:ln>
                          <a:solidFill>
                            <a:schemeClr val="bg1"/>
                          </a:solidFill>
                          <a:effectLst/>
                          <a:latin typeface="Times New Roman" pitchFamily="18" charset="0"/>
                        </a:rPr>
                        <a:t>One’s Complement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1">
                      <a:blip r:embed="rId2"/>
                      <a:srcRect/>
                      <a:tile tx="0" ty="0" sx="100000" sy="100000" flip="none" algn="tl"/>
                    </a:blipFill>
                  </a:tcPr>
                </a:tc>
              </a:tr>
              <a:tr h="1825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smtClean="0">
                          <a:ln>
                            <a:noFill/>
                          </a:ln>
                          <a:solidFill>
                            <a:schemeClr val="bg1"/>
                          </a:solidFill>
                          <a:effectLst/>
                          <a:latin typeface="Times New Roman" pitchFamily="18" charset="0"/>
                        </a:rPr>
                        <a:t>&lt;&lt;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1">
                      <a:blip r:embed="rId2"/>
                      <a:srcRect/>
                      <a:tile tx="0" ty="0" sx="100000" sy="100000" flip="none" algn="tl"/>
                    </a:blip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smtClean="0">
                          <a:ln>
                            <a:noFill/>
                          </a:ln>
                          <a:solidFill>
                            <a:schemeClr val="bg1"/>
                          </a:solidFill>
                          <a:effectLst/>
                          <a:latin typeface="Times New Roman" pitchFamily="18" charset="0"/>
                        </a:rPr>
                        <a:t>Left Shift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1">
                      <a:blip r:embed="rId2"/>
                      <a:srcRect/>
                      <a:tile tx="0" ty="0" sx="100000" sy="100000" flip="none" algn="tl"/>
                    </a:blipFill>
                  </a:tcPr>
                </a:tc>
              </a:tr>
              <a:tr h="1841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smtClean="0">
                          <a:ln>
                            <a:noFill/>
                          </a:ln>
                          <a:solidFill>
                            <a:schemeClr val="bg1"/>
                          </a:solidFill>
                          <a:effectLst/>
                          <a:latin typeface="Times New Roman" pitchFamily="18" charset="0"/>
                        </a:rPr>
                        <a:t>&gt;&gt;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1">
                      <a:blip r:embed="rId2"/>
                      <a:srcRect/>
                      <a:tile tx="0" ty="0" sx="100000" sy="100000" flip="none" algn="tl"/>
                    </a:blip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smtClean="0">
                          <a:ln>
                            <a:noFill/>
                          </a:ln>
                          <a:solidFill>
                            <a:schemeClr val="bg1"/>
                          </a:solidFill>
                          <a:effectLst/>
                          <a:latin typeface="Times New Roman" pitchFamily="18" charset="0"/>
                        </a:rPr>
                        <a:t>Right Shift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1">
                      <a:blip r:embed="rId2"/>
                      <a:srcRect/>
                      <a:tile tx="0" ty="0" sx="100000" sy="100000" flip="none" algn="tl"/>
                    </a:blipFill>
                  </a:tcPr>
                </a:tc>
              </a:tr>
              <a:tr h="1809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smtClean="0">
                          <a:ln>
                            <a:noFill/>
                          </a:ln>
                          <a:solidFill>
                            <a:schemeClr val="bg1"/>
                          </a:solidFill>
                          <a:effectLst/>
                          <a:latin typeface="Times New Roman" pitchFamily="18" charset="0"/>
                        </a:rPr>
                        <a:t>&amp;</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1">
                      <a:blip r:embed="rId2"/>
                      <a:srcRect/>
                      <a:tile tx="0" ty="0" sx="100000" sy="100000" flip="none" algn="tl"/>
                    </a:blip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smtClean="0">
                          <a:ln>
                            <a:noFill/>
                          </a:ln>
                          <a:solidFill>
                            <a:schemeClr val="bg1"/>
                          </a:solidFill>
                          <a:effectLst/>
                          <a:latin typeface="Times New Roman" pitchFamily="18" charset="0"/>
                        </a:rPr>
                        <a:t>Bitwise AND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1">
                      <a:blip r:embed="rId2"/>
                      <a:srcRect/>
                      <a:tile tx="0" ty="0" sx="100000" sy="100000" flip="none" algn="tl"/>
                    </a:blipFill>
                  </a:tcPr>
                </a:tc>
              </a:tr>
              <a:tr h="1809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smtClean="0">
                          <a:ln>
                            <a:noFill/>
                          </a:ln>
                          <a:solidFill>
                            <a:schemeClr val="bg1"/>
                          </a:solidFill>
                          <a:effectLst/>
                          <a:latin typeface="Times New Roman" pitchFamily="18" charset="0"/>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1">
                      <a:blip r:embed="rId2"/>
                      <a:srcRect/>
                      <a:tile tx="0" ty="0" sx="100000" sy="100000" flip="none" algn="tl"/>
                    </a:blip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smtClean="0">
                          <a:ln>
                            <a:noFill/>
                          </a:ln>
                          <a:solidFill>
                            <a:schemeClr val="bg1"/>
                          </a:solidFill>
                          <a:effectLst/>
                          <a:latin typeface="Times New Roman" pitchFamily="18" charset="0"/>
                        </a:rPr>
                        <a:t>Bitwise OR</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1">
                      <a:blip r:embed="rId2"/>
                      <a:srcRect/>
                      <a:tile tx="0" ty="0" sx="100000" sy="100000" flip="none" algn="tl"/>
                    </a:blipFill>
                  </a:tcPr>
                </a:tc>
              </a:tr>
              <a:tr h="1889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smtClean="0">
                          <a:ln>
                            <a:noFill/>
                          </a:ln>
                          <a:solidFill>
                            <a:schemeClr val="bg1"/>
                          </a:solidFill>
                          <a:effectLst/>
                          <a:latin typeface="Times New Roman" pitchFamily="18" charset="0"/>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blipFill dpi="0" rotWithShape="1">
                      <a:blip r:embed="rId2"/>
                      <a:srcRect/>
                      <a:tile tx="0" ty="0" sx="100000" sy="100000" flip="none" algn="tl"/>
                    </a:blip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smtClean="0">
                          <a:ln>
                            <a:noFill/>
                          </a:ln>
                          <a:solidFill>
                            <a:schemeClr val="bg1"/>
                          </a:solidFill>
                          <a:effectLst/>
                          <a:latin typeface="Times New Roman" pitchFamily="18" charset="0"/>
                        </a:rPr>
                        <a:t>Bitwise X-OR</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blipFill dpi="0" rotWithShape="1">
                      <a:blip r:embed="rId2"/>
                      <a:srcRect/>
                      <a:tile tx="0" ty="0" sx="100000" sy="100000" flip="none" algn="tl"/>
                    </a:blipFill>
                  </a:tcPr>
                </a:tc>
              </a:tr>
            </a:tbl>
          </a:graphicData>
        </a:graphic>
      </p:graphicFrame>
      <p:sp>
        <p:nvSpPr>
          <p:cNvPr id="24606" name="WordArt 30"/>
          <p:cNvSpPr>
            <a:spLocks noChangeArrowheads="1" noChangeShapeType="1" noTextEdit="1"/>
          </p:cNvSpPr>
          <p:nvPr/>
        </p:nvSpPr>
        <p:spPr bwMode="auto">
          <a:xfrm>
            <a:off x="1676400" y="4838700"/>
            <a:ext cx="5181600" cy="419100"/>
          </a:xfrm>
          <a:prstGeom prst="rect">
            <a:avLst/>
          </a:prstGeom>
        </p:spPr>
        <p:txBody>
          <a:bodyPr wrap="none" fromWordArt="1">
            <a:prstTxWarp prst="textInflateTop">
              <a:avLst>
                <a:gd name="adj" fmla="val 31917"/>
              </a:avLst>
            </a:prstTxWarp>
          </a:bodyPr>
          <a:lstStyle/>
          <a:p>
            <a:pPr algn="ctr"/>
            <a:r>
              <a:rPr lang="en-IN" sz="3600" b="1" kern="10">
                <a:ln w="12700">
                  <a:solidFill>
                    <a:srgbClr val="EAEAEA"/>
                  </a:solidFill>
                  <a:round/>
                  <a:headEnd/>
                  <a:tailEnd/>
                </a:ln>
                <a:solidFill>
                  <a:srgbClr val="800000"/>
                </a:solidFill>
                <a:effectLst>
                  <a:outerShdw dist="35921" dir="2700000" sy="50000" kx="2115830" algn="bl" rotWithShape="0">
                    <a:srgbClr val="C0C0C0">
                      <a:alpha val="79999"/>
                    </a:srgbClr>
                  </a:outerShdw>
                </a:effectLst>
                <a:latin typeface="Arial Black"/>
              </a:rPr>
              <a:t>Special Operators</a:t>
            </a:r>
          </a:p>
        </p:txBody>
      </p:sp>
      <p:graphicFrame>
        <p:nvGraphicFramePr>
          <p:cNvPr id="26655" name="Group 31"/>
          <p:cNvGraphicFramePr>
            <a:graphicFrameLocks noGrp="1"/>
          </p:cNvGraphicFramePr>
          <p:nvPr/>
        </p:nvGraphicFramePr>
        <p:xfrm>
          <a:off x="762000" y="5486400"/>
          <a:ext cx="7848600" cy="1188720"/>
        </p:xfrm>
        <a:graphic>
          <a:graphicData uri="http://schemas.openxmlformats.org/drawingml/2006/table">
            <a:tbl>
              <a:tblPr/>
              <a:tblGrid>
                <a:gridCol w="2209800"/>
                <a:gridCol w="3051175"/>
                <a:gridCol w="2587625"/>
              </a:tblGrid>
              <a:tr h="3810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chemeClr val="bg1"/>
                          </a:solidFill>
                          <a:effectLst/>
                          <a:latin typeface="Times New Roman" pitchFamily="18" charset="0"/>
                        </a:rPr>
                        <a:t>Operators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1">
                      <a:blip r:embed="rId2"/>
                      <a:srcRect/>
                      <a:tile tx="0" ty="0" sx="100000" sy="100000" flip="none" algn="tl"/>
                    </a:blip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bg1"/>
                          </a:solidFill>
                          <a:effectLst/>
                          <a:latin typeface="Times New Roman" pitchFamily="18" charset="0"/>
                        </a:rPr>
                        <a:t>Meaning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1">
                      <a:blip r:embed="rId2"/>
                      <a:srcRect/>
                      <a:tile tx="0" ty="0" sx="100000" sy="100000" flip="none" algn="tl"/>
                    </a:blip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bg1"/>
                          </a:solidFill>
                          <a:effectLst/>
                          <a:latin typeface="Times New Roman" pitchFamily="18" charset="0"/>
                        </a:rPr>
                        <a:t>Example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1">
                      <a:blip r:embed="rId2"/>
                      <a:srcRect/>
                      <a:tile tx="0" ty="0" sx="100000" sy="100000" flip="none" algn="tl"/>
                    </a:blipFill>
                  </a:tcPr>
                </a:tc>
              </a:tr>
              <a:tr h="2571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bg1"/>
                          </a:solidFill>
                          <a:effectLst/>
                          <a:latin typeface="Times New Roman" pitchFamily="18" charset="0"/>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1">
                      <a:blip r:embed="rId2"/>
                      <a:srcRect/>
                      <a:tile tx="0" ty="0" sx="100000" sy="100000" flip="none" algn="tl"/>
                    </a:blip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bg1"/>
                          </a:solidFill>
                          <a:effectLst/>
                          <a:latin typeface="Times New Roman" pitchFamily="18" charset="0"/>
                        </a:rPr>
                        <a:t>Comma Operator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1">
                      <a:blip r:embed="rId2"/>
                      <a:srcRect/>
                      <a:tile tx="0" ty="0" sx="100000" sy="100000" flip="none" algn="tl"/>
                    </a:blip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bg1"/>
                          </a:solidFill>
                          <a:effectLst/>
                          <a:latin typeface="Times New Roman" pitchFamily="18" charset="0"/>
                        </a:rPr>
                        <a:t>Z=(x=5,y=6,x+y)</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1">
                      <a:blip r:embed="rId2"/>
                      <a:srcRect/>
                      <a:tile tx="0" ty="0" sx="100000" sy="100000" flip="none" algn="tl"/>
                    </a:blipFill>
                  </a:tcPr>
                </a:tc>
              </a:tr>
              <a:tr h="1825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chemeClr val="bg1"/>
                          </a:solidFill>
                          <a:effectLst/>
                          <a:latin typeface="Times New Roman" pitchFamily="18" charset="0"/>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blipFill dpi="0" rotWithShape="1">
                      <a:blip r:embed="rId2"/>
                      <a:srcRect/>
                      <a:tile tx="0" ty="0" sx="100000" sy="100000" flip="none" algn="tl"/>
                    </a:blip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bg1"/>
                          </a:solidFill>
                          <a:effectLst/>
                          <a:latin typeface="Times New Roman" pitchFamily="18" charset="0"/>
                        </a:rPr>
                        <a:t>Pointer Operator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blipFill dpi="0" rotWithShape="1">
                      <a:blip r:embed="rId2"/>
                      <a:srcRect/>
                      <a:tile tx="0" ty="0" sx="100000" sy="100000" flip="none" algn="tl"/>
                    </a:blip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1" i="0" u="none" strike="noStrike" cap="none" normalizeH="0" baseline="0" dirty="0" smtClean="0">
                        <a:ln>
                          <a:noFill/>
                        </a:ln>
                        <a:solidFill>
                          <a:schemeClr val="bg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blipFill dpi="0" rotWithShape="1">
                      <a:blip r:embed="rId2"/>
                      <a:srcRect/>
                      <a:tile tx="0" ty="0" sx="100000" sy="100000" flip="none" algn="tl"/>
                    </a:blipFill>
                  </a:tcPr>
                </a:tc>
              </a:tr>
            </a:tbl>
          </a:graphicData>
        </a:graphic>
      </p:graphicFrame>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ChangeArrowheads="1"/>
          </p:cNvSpPr>
          <p:nvPr/>
        </p:nvSpPr>
        <p:spPr bwMode="auto">
          <a:xfrm>
            <a:off x="1066800" y="1295400"/>
            <a:ext cx="7315200" cy="3759200"/>
          </a:xfrm>
          <a:prstGeom prst="rect">
            <a:avLst/>
          </a:prstGeom>
          <a:noFill/>
          <a:ln w="9525">
            <a:solidFill>
              <a:srgbClr val="800000"/>
            </a:solidFill>
            <a:miter lim="800000"/>
            <a:headEnd/>
            <a:tailEnd/>
          </a:ln>
          <a:scene3d>
            <a:camera prst="legacyPerspectiveBottomLeft"/>
            <a:lightRig rig="legacyFlat3" dir="t"/>
          </a:scene3d>
          <a:sp3d extrusionH="887400" prstMaterial="legacyMatte">
            <a:bevelT w="13500" h="13500" prst="angle"/>
            <a:bevelB w="13500" h="13500" prst="angle"/>
            <a:extrusionClr>
              <a:srgbClr val="D60093"/>
            </a:extrusionClr>
          </a:sp3d>
        </p:spPr>
        <p:txBody>
          <a:bodyPr>
            <a:spAutoFit/>
            <a:flatTx/>
          </a:bodyPr>
          <a:lstStyle/>
          <a:p>
            <a:pPr eaLnBrk="0" hangingPunct="0"/>
            <a:endParaRPr lang="en-US" sz="3600" b="1">
              <a:solidFill>
                <a:srgbClr val="990033"/>
              </a:solidFill>
              <a:latin typeface="Times New Roman" pitchFamily="18" charset="0"/>
            </a:endParaRPr>
          </a:p>
          <a:p>
            <a:pPr eaLnBrk="0" hangingPunct="0"/>
            <a:r>
              <a:rPr lang="en-US" sz="3600" b="1">
                <a:solidFill>
                  <a:srgbClr val="990033"/>
                </a:solidFill>
                <a:latin typeface="Times New Roman" pitchFamily="18" charset="0"/>
              </a:rPr>
              <a:t>SCOPE RESOLUTION  </a:t>
            </a:r>
          </a:p>
          <a:p>
            <a:pPr eaLnBrk="0" hangingPunct="0"/>
            <a:r>
              <a:rPr lang="en-US" sz="3600" b="1">
                <a:solidFill>
                  <a:srgbClr val="990033"/>
                </a:solidFill>
                <a:latin typeface="Times New Roman" pitchFamily="18" charset="0"/>
              </a:rPr>
              <a:t>                           OPERATOR  ::  </a:t>
            </a:r>
          </a:p>
          <a:p>
            <a:pPr eaLnBrk="0" hangingPunct="0"/>
            <a:r>
              <a:rPr lang="en-US" sz="4000" b="1">
                <a:solidFill>
                  <a:srgbClr val="990033"/>
                </a:solidFill>
                <a:latin typeface="Times New Roman" pitchFamily="18" charset="0"/>
              </a:rPr>
              <a:t>         	</a:t>
            </a:r>
            <a:r>
              <a:rPr lang="en-US" sz="4400" b="1">
                <a:solidFill>
                  <a:srgbClr val="990033"/>
                </a:solidFill>
                <a:latin typeface="Times New Roman" pitchFamily="18" charset="0"/>
              </a:rPr>
              <a:t>Used to define the member function defined outside of the class</a:t>
            </a: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2"/>
          <p:cNvSpPr txBox="1">
            <a:spLocks noChangeArrowheads="1"/>
          </p:cNvSpPr>
          <p:nvPr/>
        </p:nvSpPr>
        <p:spPr bwMode="auto">
          <a:xfrm>
            <a:off x="609600" y="582613"/>
            <a:ext cx="8077200" cy="762000"/>
          </a:xfrm>
          <a:prstGeom prst="rect">
            <a:avLst/>
          </a:prstGeom>
          <a:solidFill>
            <a:srgbClr val="990033"/>
          </a:solidFill>
          <a:ln w="9525">
            <a:noFill/>
            <a:miter lim="800000"/>
            <a:headEnd/>
            <a:tailEnd/>
          </a:ln>
          <a:effectLst/>
        </p:spPr>
        <p:txBody>
          <a:bodyPr>
            <a:spAutoFit/>
          </a:bodyPr>
          <a:lstStyle/>
          <a:p>
            <a:pPr>
              <a:defRPr/>
            </a:pPr>
            <a:r>
              <a:rPr lang="en-US" sz="4400" b="1">
                <a:solidFill>
                  <a:srgbClr val="66FFFF"/>
                </a:solidFill>
                <a:effectLst>
                  <a:outerShdw blurRad="38100" dist="38100" dir="2700000" algn="tl">
                    <a:srgbClr val="000000"/>
                  </a:outerShdw>
                </a:effectLst>
                <a:latin typeface="Arial Unicode MS" pitchFamily="34" charset="-128"/>
                <a:cs typeface="Times New Roman" pitchFamily="18" charset="0"/>
              </a:rPr>
              <a:t>Unformatted I/O Statement</a:t>
            </a:r>
          </a:p>
        </p:txBody>
      </p:sp>
      <p:pic>
        <p:nvPicPr>
          <p:cNvPr id="28675" name="Picture 3" descr="untitled"/>
          <p:cNvPicPr>
            <a:picLocks noChangeAspect="1" noChangeArrowheads="1"/>
          </p:cNvPicPr>
          <p:nvPr/>
        </p:nvPicPr>
        <p:blipFill>
          <a:blip r:embed="rId2"/>
          <a:srcRect/>
          <a:stretch>
            <a:fillRect/>
          </a:stretch>
        </p:blipFill>
        <p:spPr bwMode="auto">
          <a:xfrm>
            <a:off x="304800" y="3203575"/>
            <a:ext cx="8534400" cy="3349625"/>
          </a:xfrm>
          <a:prstGeom prst="rect">
            <a:avLst/>
          </a:prstGeom>
          <a:noFill/>
          <a:ln w="9525">
            <a:noFill/>
            <a:miter lim="800000"/>
            <a:headEnd/>
            <a:tailEnd/>
          </a:ln>
        </p:spPr>
      </p:pic>
      <p:sp>
        <p:nvSpPr>
          <p:cNvPr id="26628" name="Text Box 4"/>
          <p:cNvSpPr txBox="1">
            <a:spLocks noChangeArrowheads="1"/>
          </p:cNvSpPr>
          <p:nvPr/>
        </p:nvSpPr>
        <p:spPr bwMode="auto">
          <a:xfrm>
            <a:off x="457200" y="1828800"/>
            <a:ext cx="8229600" cy="1066800"/>
          </a:xfrm>
          <a:prstGeom prst="rect">
            <a:avLst/>
          </a:prstGeom>
          <a:noFill/>
          <a:ln w="9525">
            <a:noFill/>
            <a:miter lim="800000"/>
            <a:headEnd/>
            <a:tailEnd/>
          </a:ln>
        </p:spPr>
        <p:txBody>
          <a:bodyPr>
            <a:spAutoFit/>
          </a:bodyPr>
          <a:lstStyle/>
          <a:p>
            <a:pPr>
              <a:buFontTx/>
              <a:buBlip>
                <a:blip r:embed="rId3"/>
              </a:buBlip>
            </a:pPr>
            <a:r>
              <a:rPr lang="en-US" sz="3200" b="1">
                <a:solidFill>
                  <a:srgbClr val="990033"/>
                </a:solidFill>
                <a:latin typeface="Times New Roman" pitchFamily="18" charset="0"/>
                <a:cs typeface="Times New Roman" pitchFamily="18" charset="0"/>
              </a:rPr>
              <a:t> Characters can be read and written in C using the  following functions.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28675"/>
                                        </p:tgtEl>
                                        <p:attrNameLst>
                                          <p:attrName>style.visibility</p:attrName>
                                        </p:attrNameLst>
                                      </p:cBhvr>
                                      <p:to>
                                        <p:strVal val="visible"/>
                                      </p:to>
                                    </p:set>
                                    <p:animEffect transition="in" filter="dissolve">
                                      <p:cBhvr>
                                        <p:cTn id="7" dur="500"/>
                                        <p:tgtEl>
                                          <p:spTgt spid="286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WordArt 2"/>
          <p:cNvSpPr>
            <a:spLocks noChangeArrowheads="1" noChangeShapeType="1" noTextEdit="1"/>
          </p:cNvSpPr>
          <p:nvPr/>
        </p:nvSpPr>
        <p:spPr bwMode="auto">
          <a:xfrm>
            <a:off x="1447800" y="533400"/>
            <a:ext cx="6172200" cy="838200"/>
          </a:xfrm>
          <a:prstGeom prst="rect">
            <a:avLst/>
          </a:prstGeom>
        </p:spPr>
        <p:txBody>
          <a:bodyPr wrap="none" fromWordArt="1">
            <a:prstTxWarp prst="textWave1">
              <a:avLst>
                <a:gd name="adj1" fmla="val 13005"/>
                <a:gd name="adj2" fmla="val 0"/>
              </a:avLst>
            </a:prstTxWarp>
          </a:bodyPr>
          <a:lstStyle/>
          <a:p>
            <a:pPr algn="ctr"/>
            <a:r>
              <a:rPr lang="en-IN" sz="3600" b="1" kern="10">
                <a:ln w="28575">
                  <a:solidFill>
                    <a:srgbClr val="CC0066"/>
                  </a:solidFill>
                  <a:round/>
                  <a:headEnd/>
                  <a:tailEnd/>
                </a:ln>
                <a:noFill/>
                <a:effectLst>
                  <a:outerShdw dist="53882" dir="2700000" algn="ctr" rotWithShape="0">
                    <a:srgbClr val="C0C0C0">
                      <a:alpha val="79999"/>
                    </a:srgbClr>
                  </a:outerShdw>
                </a:effectLst>
                <a:latin typeface="Times New Roman"/>
                <a:cs typeface="Times New Roman"/>
              </a:rPr>
              <a:t>Input/Output Statement</a:t>
            </a:r>
          </a:p>
        </p:txBody>
      </p:sp>
      <p:sp>
        <p:nvSpPr>
          <p:cNvPr id="27651" name="AutoShape 3"/>
          <p:cNvSpPr>
            <a:spLocks noChangeArrowheads="1"/>
          </p:cNvSpPr>
          <p:nvPr/>
        </p:nvSpPr>
        <p:spPr bwMode="auto">
          <a:xfrm>
            <a:off x="533400" y="1828800"/>
            <a:ext cx="1371600" cy="609600"/>
          </a:xfrm>
          <a:prstGeom prst="octagon">
            <a:avLst>
              <a:gd name="adj" fmla="val 2366"/>
            </a:avLst>
          </a:prstGeom>
          <a:solidFill>
            <a:schemeClr val="accent1"/>
          </a:solidFill>
          <a:ln w="9525">
            <a:solidFill>
              <a:schemeClr val="tx1"/>
            </a:solidFill>
            <a:miter lim="800000"/>
            <a:headEnd/>
            <a:tailEnd/>
          </a:ln>
        </p:spPr>
        <p:txBody>
          <a:bodyPr wrap="none" anchor="ctr"/>
          <a:lstStyle/>
          <a:p>
            <a:endParaRPr lang="en-US"/>
          </a:p>
        </p:txBody>
      </p:sp>
      <p:sp>
        <p:nvSpPr>
          <p:cNvPr id="27652" name="Text Box 4"/>
          <p:cNvSpPr txBox="1">
            <a:spLocks noChangeArrowheads="1"/>
          </p:cNvSpPr>
          <p:nvPr/>
        </p:nvSpPr>
        <p:spPr bwMode="auto">
          <a:xfrm>
            <a:off x="685800" y="1752600"/>
            <a:ext cx="990600" cy="641350"/>
          </a:xfrm>
          <a:prstGeom prst="rect">
            <a:avLst/>
          </a:prstGeom>
          <a:noFill/>
          <a:ln w="9525">
            <a:noFill/>
            <a:miter lim="800000"/>
            <a:headEnd/>
            <a:tailEnd/>
          </a:ln>
        </p:spPr>
        <p:txBody>
          <a:bodyPr>
            <a:spAutoFit/>
          </a:bodyPr>
          <a:lstStyle/>
          <a:p>
            <a:pPr eaLnBrk="0" hangingPunct="0">
              <a:spcBef>
                <a:spcPct val="50000"/>
              </a:spcBef>
            </a:pPr>
            <a:r>
              <a:rPr lang="en-US" sz="3600" b="1">
                <a:solidFill>
                  <a:srgbClr val="3333CC"/>
                </a:solidFill>
                <a:latin typeface="Verdana" pitchFamily="34" charset="0"/>
              </a:rPr>
              <a:t>cin</a:t>
            </a:r>
          </a:p>
        </p:txBody>
      </p:sp>
      <p:sp>
        <p:nvSpPr>
          <p:cNvPr id="27653" name="Text Box 5"/>
          <p:cNvSpPr txBox="1">
            <a:spLocks noChangeArrowheads="1"/>
          </p:cNvSpPr>
          <p:nvPr/>
        </p:nvSpPr>
        <p:spPr bwMode="auto">
          <a:xfrm>
            <a:off x="228600" y="2514600"/>
            <a:ext cx="8686800" cy="2441575"/>
          </a:xfrm>
          <a:prstGeom prst="rect">
            <a:avLst/>
          </a:prstGeom>
          <a:noFill/>
          <a:ln w="9525">
            <a:noFill/>
            <a:miter lim="800000"/>
            <a:headEnd/>
            <a:tailEnd/>
          </a:ln>
        </p:spPr>
        <p:txBody>
          <a:bodyPr>
            <a:spAutoFit/>
          </a:bodyPr>
          <a:lstStyle/>
          <a:p>
            <a:pPr algn="just" eaLnBrk="0" hangingPunct="0">
              <a:spcBef>
                <a:spcPct val="50000"/>
              </a:spcBef>
              <a:buFont typeface="Webdings" pitchFamily="18" charset="2"/>
              <a:buChar char="ÿ"/>
            </a:pPr>
            <a:r>
              <a:rPr lang="en-US" sz="2800" b="1">
                <a:solidFill>
                  <a:srgbClr val="800000"/>
                </a:solidFill>
                <a:latin typeface="Times New Roman" pitchFamily="18" charset="0"/>
              </a:rPr>
              <a:t>  It uses the standard input stream cin and the operator &gt;&gt; for reading the input. </a:t>
            </a:r>
          </a:p>
          <a:p>
            <a:pPr algn="just" eaLnBrk="0" hangingPunct="0">
              <a:spcBef>
                <a:spcPct val="50000"/>
              </a:spcBef>
              <a:buFont typeface="Webdings" pitchFamily="18" charset="2"/>
              <a:buChar char="ÿ"/>
            </a:pPr>
            <a:r>
              <a:rPr lang="en-US" sz="2800" b="1">
                <a:solidFill>
                  <a:srgbClr val="800000"/>
                </a:solidFill>
                <a:latin typeface="Times New Roman" pitchFamily="18" charset="0"/>
              </a:rPr>
              <a:t>  It is an extraction operator used to take the values from stream object on its left and places the variable to its right.</a:t>
            </a:r>
          </a:p>
        </p:txBody>
      </p:sp>
      <p:sp>
        <p:nvSpPr>
          <p:cNvPr id="27654" name="Text Box 6"/>
          <p:cNvSpPr txBox="1">
            <a:spLocks noChangeArrowheads="1"/>
          </p:cNvSpPr>
          <p:nvPr/>
        </p:nvSpPr>
        <p:spPr bwMode="auto">
          <a:xfrm>
            <a:off x="990600" y="4953000"/>
            <a:ext cx="2133600" cy="579438"/>
          </a:xfrm>
          <a:prstGeom prst="rect">
            <a:avLst/>
          </a:prstGeom>
          <a:noFill/>
          <a:ln w="9525">
            <a:noFill/>
            <a:miter lim="800000"/>
            <a:headEnd/>
            <a:tailEnd/>
          </a:ln>
        </p:spPr>
        <p:txBody>
          <a:bodyPr>
            <a:spAutoFit/>
          </a:bodyPr>
          <a:lstStyle/>
          <a:p>
            <a:pPr eaLnBrk="0" hangingPunct="0">
              <a:spcBef>
                <a:spcPct val="50000"/>
              </a:spcBef>
            </a:pPr>
            <a:r>
              <a:rPr lang="en-US" sz="3200" b="1">
                <a:solidFill>
                  <a:srgbClr val="800000"/>
                </a:solidFill>
              </a:rPr>
              <a:t>Syntax :</a:t>
            </a:r>
          </a:p>
        </p:txBody>
      </p:sp>
      <p:sp>
        <p:nvSpPr>
          <p:cNvPr id="27655" name="Text Box 7"/>
          <p:cNvSpPr txBox="1">
            <a:spLocks noChangeArrowheads="1"/>
          </p:cNvSpPr>
          <p:nvPr/>
        </p:nvSpPr>
        <p:spPr bwMode="auto">
          <a:xfrm>
            <a:off x="3276600" y="5043488"/>
            <a:ext cx="4419600" cy="528637"/>
          </a:xfrm>
          <a:prstGeom prst="rect">
            <a:avLst/>
          </a:prstGeom>
          <a:noFill/>
          <a:ln w="9525">
            <a:solidFill>
              <a:srgbClr val="CC0066"/>
            </a:solidFill>
            <a:miter lim="800000"/>
            <a:headEnd/>
            <a:tailEnd/>
          </a:ln>
        </p:spPr>
        <p:txBody>
          <a:bodyPr>
            <a:spAutoFit/>
          </a:bodyPr>
          <a:lstStyle/>
          <a:p>
            <a:pPr eaLnBrk="0" hangingPunct="0">
              <a:spcBef>
                <a:spcPct val="50000"/>
              </a:spcBef>
            </a:pPr>
            <a:r>
              <a:rPr lang="en-US" sz="2800" b="1">
                <a:solidFill>
                  <a:srgbClr val="3333CC"/>
                </a:solidFill>
                <a:latin typeface="Times New Roman" pitchFamily="18" charset="0"/>
              </a:rPr>
              <a:t>cin&gt;&gt;variablename</a:t>
            </a:r>
            <a:r>
              <a:rPr lang="en-US" sz="2800" b="1">
                <a:solidFill>
                  <a:srgbClr val="3333CC"/>
                </a:solidFill>
              </a:rPr>
              <a:t>;</a:t>
            </a:r>
          </a:p>
        </p:txBody>
      </p:sp>
      <p:sp>
        <p:nvSpPr>
          <p:cNvPr id="27656" name="Text Box 8"/>
          <p:cNvSpPr txBox="1">
            <a:spLocks noChangeArrowheads="1"/>
          </p:cNvSpPr>
          <p:nvPr/>
        </p:nvSpPr>
        <p:spPr bwMode="auto">
          <a:xfrm>
            <a:off x="990600" y="5791200"/>
            <a:ext cx="2133600" cy="519113"/>
          </a:xfrm>
          <a:prstGeom prst="rect">
            <a:avLst/>
          </a:prstGeom>
          <a:noFill/>
          <a:ln w="9525">
            <a:noFill/>
            <a:miter lim="800000"/>
            <a:headEnd/>
            <a:tailEnd/>
          </a:ln>
        </p:spPr>
        <p:txBody>
          <a:bodyPr>
            <a:spAutoFit/>
          </a:bodyPr>
          <a:lstStyle/>
          <a:p>
            <a:pPr eaLnBrk="0" hangingPunct="0">
              <a:spcBef>
                <a:spcPct val="50000"/>
              </a:spcBef>
            </a:pPr>
            <a:r>
              <a:rPr lang="en-US" sz="2800" b="1">
                <a:solidFill>
                  <a:srgbClr val="800000"/>
                </a:solidFill>
              </a:rPr>
              <a:t>Example :</a:t>
            </a:r>
          </a:p>
        </p:txBody>
      </p:sp>
      <p:sp>
        <p:nvSpPr>
          <p:cNvPr id="27657" name="Text Box 9"/>
          <p:cNvSpPr txBox="1">
            <a:spLocks noChangeArrowheads="1"/>
          </p:cNvSpPr>
          <p:nvPr/>
        </p:nvSpPr>
        <p:spPr bwMode="auto">
          <a:xfrm>
            <a:off x="3276600" y="5881688"/>
            <a:ext cx="5181600" cy="519112"/>
          </a:xfrm>
          <a:prstGeom prst="rect">
            <a:avLst/>
          </a:prstGeom>
          <a:noFill/>
          <a:ln w="9525">
            <a:noFill/>
            <a:miter lim="800000"/>
            <a:headEnd/>
            <a:tailEnd/>
          </a:ln>
        </p:spPr>
        <p:txBody>
          <a:bodyPr>
            <a:spAutoFit/>
          </a:bodyPr>
          <a:lstStyle/>
          <a:p>
            <a:pPr eaLnBrk="0" hangingPunct="0">
              <a:spcBef>
                <a:spcPct val="50000"/>
              </a:spcBef>
            </a:pPr>
            <a:r>
              <a:rPr lang="en-US" sz="2800" b="1">
                <a:solidFill>
                  <a:srgbClr val="3333CC"/>
                </a:solidFill>
                <a:latin typeface="Times New Roman" pitchFamily="18" charset="0"/>
              </a:rPr>
              <a:t>cin&gt;&gt;name&gt;&gt;age&gt;&gt;salary;</a:t>
            </a: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WordArt 2"/>
          <p:cNvSpPr>
            <a:spLocks noChangeArrowheads="1" noChangeShapeType="1" noTextEdit="1"/>
          </p:cNvSpPr>
          <p:nvPr/>
        </p:nvSpPr>
        <p:spPr bwMode="auto">
          <a:xfrm>
            <a:off x="1447800" y="533400"/>
            <a:ext cx="6172200" cy="838200"/>
          </a:xfrm>
          <a:prstGeom prst="rect">
            <a:avLst/>
          </a:prstGeom>
        </p:spPr>
        <p:txBody>
          <a:bodyPr wrap="none" fromWordArt="1">
            <a:prstTxWarp prst="textWave1">
              <a:avLst>
                <a:gd name="adj1" fmla="val 13005"/>
                <a:gd name="adj2" fmla="val 0"/>
              </a:avLst>
            </a:prstTxWarp>
          </a:bodyPr>
          <a:lstStyle/>
          <a:p>
            <a:pPr algn="ctr"/>
            <a:r>
              <a:rPr lang="en-IN" sz="3600" b="1" kern="10">
                <a:ln w="28575">
                  <a:solidFill>
                    <a:srgbClr val="CC0066"/>
                  </a:solidFill>
                  <a:round/>
                  <a:headEnd/>
                  <a:tailEnd/>
                </a:ln>
                <a:solidFill>
                  <a:schemeClr val="bg1"/>
                </a:solidFill>
                <a:effectLst>
                  <a:outerShdw dist="53882" dir="2700000" algn="ctr" rotWithShape="0">
                    <a:srgbClr val="C0C0C0">
                      <a:alpha val="79999"/>
                    </a:srgbClr>
                  </a:outerShdw>
                </a:effectLst>
                <a:latin typeface="Times New Roman"/>
                <a:cs typeface="Times New Roman"/>
              </a:rPr>
              <a:t>Output Statement</a:t>
            </a:r>
          </a:p>
        </p:txBody>
      </p:sp>
      <p:sp>
        <p:nvSpPr>
          <p:cNvPr id="28675" name="AutoShape 3"/>
          <p:cNvSpPr>
            <a:spLocks noChangeArrowheads="1"/>
          </p:cNvSpPr>
          <p:nvPr/>
        </p:nvSpPr>
        <p:spPr bwMode="auto">
          <a:xfrm>
            <a:off x="533400" y="1828800"/>
            <a:ext cx="1752600" cy="609600"/>
          </a:xfrm>
          <a:prstGeom prst="octagon">
            <a:avLst>
              <a:gd name="adj" fmla="val 0"/>
            </a:avLst>
          </a:prstGeom>
          <a:solidFill>
            <a:schemeClr val="accent1"/>
          </a:solidFill>
          <a:ln w="9525">
            <a:solidFill>
              <a:schemeClr val="tx1"/>
            </a:solidFill>
            <a:miter lim="800000"/>
            <a:headEnd/>
            <a:tailEnd/>
          </a:ln>
        </p:spPr>
        <p:txBody>
          <a:bodyPr wrap="none" anchor="ctr"/>
          <a:lstStyle/>
          <a:p>
            <a:endParaRPr lang="en-US"/>
          </a:p>
        </p:txBody>
      </p:sp>
      <p:sp>
        <p:nvSpPr>
          <p:cNvPr id="28676" name="Text Box 4"/>
          <p:cNvSpPr txBox="1">
            <a:spLocks noChangeArrowheads="1"/>
          </p:cNvSpPr>
          <p:nvPr/>
        </p:nvSpPr>
        <p:spPr bwMode="auto">
          <a:xfrm>
            <a:off x="685800" y="1752600"/>
            <a:ext cx="1600200" cy="641350"/>
          </a:xfrm>
          <a:prstGeom prst="rect">
            <a:avLst/>
          </a:prstGeom>
          <a:noFill/>
          <a:ln w="9525">
            <a:noFill/>
            <a:miter lim="800000"/>
            <a:headEnd/>
            <a:tailEnd/>
          </a:ln>
        </p:spPr>
        <p:txBody>
          <a:bodyPr>
            <a:spAutoFit/>
          </a:bodyPr>
          <a:lstStyle/>
          <a:p>
            <a:pPr eaLnBrk="0" hangingPunct="0">
              <a:spcBef>
                <a:spcPct val="50000"/>
              </a:spcBef>
            </a:pPr>
            <a:r>
              <a:rPr lang="en-US" sz="3600" b="1">
                <a:solidFill>
                  <a:srgbClr val="3333CC"/>
                </a:solidFill>
                <a:latin typeface="Verdana" pitchFamily="34" charset="0"/>
              </a:rPr>
              <a:t>cout</a:t>
            </a:r>
          </a:p>
        </p:txBody>
      </p:sp>
      <p:sp>
        <p:nvSpPr>
          <p:cNvPr id="28677" name="Text Box 5"/>
          <p:cNvSpPr txBox="1">
            <a:spLocks noChangeArrowheads="1"/>
          </p:cNvSpPr>
          <p:nvPr/>
        </p:nvSpPr>
        <p:spPr bwMode="auto">
          <a:xfrm>
            <a:off x="457200" y="2514600"/>
            <a:ext cx="8229600" cy="2014538"/>
          </a:xfrm>
          <a:prstGeom prst="rect">
            <a:avLst/>
          </a:prstGeom>
          <a:noFill/>
          <a:ln w="9525">
            <a:noFill/>
            <a:miter lim="800000"/>
            <a:headEnd/>
            <a:tailEnd/>
          </a:ln>
        </p:spPr>
        <p:txBody>
          <a:bodyPr>
            <a:spAutoFit/>
          </a:bodyPr>
          <a:lstStyle/>
          <a:p>
            <a:pPr indent="623888" algn="just" eaLnBrk="0" hangingPunct="0">
              <a:spcBef>
                <a:spcPct val="50000"/>
              </a:spcBef>
              <a:buFont typeface="Wingdings" pitchFamily="2" charset="2"/>
              <a:buChar char="J"/>
            </a:pPr>
            <a:r>
              <a:rPr lang="en-US" sz="2800" b="1">
                <a:solidFill>
                  <a:srgbClr val="800000"/>
                </a:solidFill>
                <a:latin typeface="Times New Roman" pitchFamily="18" charset="0"/>
              </a:rPr>
              <a:t>It uses the standard output stream cout and the operator &lt;&lt; for writing the output. </a:t>
            </a:r>
          </a:p>
          <a:p>
            <a:pPr indent="623888" algn="just" eaLnBrk="0" hangingPunct="0">
              <a:spcBef>
                <a:spcPct val="50000"/>
              </a:spcBef>
              <a:buFont typeface="Wingdings" pitchFamily="2" charset="2"/>
              <a:buChar char="J"/>
            </a:pPr>
            <a:r>
              <a:rPr lang="en-US" sz="2800" b="1">
                <a:solidFill>
                  <a:srgbClr val="800000"/>
                </a:solidFill>
                <a:latin typeface="Times New Roman" pitchFamily="18" charset="0"/>
              </a:rPr>
              <a:t>It is an insertion operator used to redirects the text output to the screen.</a:t>
            </a:r>
          </a:p>
        </p:txBody>
      </p:sp>
      <p:sp>
        <p:nvSpPr>
          <p:cNvPr id="28678" name="Text Box 6"/>
          <p:cNvSpPr txBox="1">
            <a:spLocks noChangeArrowheads="1"/>
          </p:cNvSpPr>
          <p:nvPr/>
        </p:nvSpPr>
        <p:spPr bwMode="auto">
          <a:xfrm>
            <a:off x="381000" y="4814888"/>
            <a:ext cx="2133600" cy="579437"/>
          </a:xfrm>
          <a:prstGeom prst="rect">
            <a:avLst/>
          </a:prstGeom>
          <a:noFill/>
          <a:ln w="9525">
            <a:noFill/>
            <a:miter lim="800000"/>
            <a:headEnd/>
            <a:tailEnd/>
          </a:ln>
        </p:spPr>
        <p:txBody>
          <a:bodyPr>
            <a:spAutoFit/>
          </a:bodyPr>
          <a:lstStyle/>
          <a:p>
            <a:pPr eaLnBrk="0" hangingPunct="0">
              <a:spcBef>
                <a:spcPct val="50000"/>
              </a:spcBef>
            </a:pPr>
            <a:r>
              <a:rPr lang="en-US" sz="3200" b="1">
                <a:solidFill>
                  <a:srgbClr val="800000"/>
                </a:solidFill>
              </a:rPr>
              <a:t>Syntax :</a:t>
            </a:r>
          </a:p>
        </p:txBody>
      </p:sp>
      <p:sp>
        <p:nvSpPr>
          <p:cNvPr id="28679" name="Text Box 7"/>
          <p:cNvSpPr txBox="1">
            <a:spLocks noChangeArrowheads="1"/>
          </p:cNvSpPr>
          <p:nvPr/>
        </p:nvSpPr>
        <p:spPr bwMode="auto">
          <a:xfrm>
            <a:off x="2667000" y="4905375"/>
            <a:ext cx="6324600" cy="528638"/>
          </a:xfrm>
          <a:prstGeom prst="rect">
            <a:avLst/>
          </a:prstGeom>
          <a:noFill/>
          <a:ln w="9525">
            <a:solidFill>
              <a:srgbClr val="CC0066"/>
            </a:solidFill>
            <a:miter lim="800000"/>
            <a:headEnd/>
            <a:tailEnd/>
          </a:ln>
        </p:spPr>
        <p:txBody>
          <a:bodyPr>
            <a:spAutoFit/>
          </a:bodyPr>
          <a:lstStyle/>
          <a:p>
            <a:pPr eaLnBrk="0" hangingPunct="0">
              <a:spcBef>
                <a:spcPct val="50000"/>
              </a:spcBef>
            </a:pPr>
            <a:r>
              <a:rPr lang="en-US" sz="2800" b="1">
                <a:solidFill>
                  <a:srgbClr val="3333CC"/>
                </a:solidFill>
                <a:latin typeface="Times New Roman" pitchFamily="18" charset="0"/>
              </a:rPr>
              <a:t>cout&lt;&lt;“message”&lt;&lt;variablename;</a:t>
            </a:r>
          </a:p>
        </p:txBody>
      </p:sp>
      <p:sp>
        <p:nvSpPr>
          <p:cNvPr id="28680" name="Text Box 8"/>
          <p:cNvSpPr txBox="1">
            <a:spLocks noChangeArrowheads="1"/>
          </p:cNvSpPr>
          <p:nvPr/>
        </p:nvSpPr>
        <p:spPr bwMode="auto">
          <a:xfrm>
            <a:off x="381000" y="5653088"/>
            <a:ext cx="2133600" cy="519112"/>
          </a:xfrm>
          <a:prstGeom prst="rect">
            <a:avLst/>
          </a:prstGeom>
          <a:noFill/>
          <a:ln w="9525">
            <a:noFill/>
            <a:miter lim="800000"/>
            <a:headEnd/>
            <a:tailEnd/>
          </a:ln>
        </p:spPr>
        <p:txBody>
          <a:bodyPr>
            <a:spAutoFit/>
          </a:bodyPr>
          <a:lstStyle/>
          <a:p>
            <a:pPr eaLnBrk="0" hangingPunct="0">
              <a:spcBef>
                <a:spcPct val="50000"/>
              </a:spcBef>
            </a:pPr>
            <a:r>
              <a:rPr lang="en-US" sz="2800" b="1">
                <a:solidFill>
                  <a:srgbClr val="800000"/>
                </a:solidFill>
              </a:rPr>
              <a:t>Example :</a:t>
            </a:r>
          </a:p>
        </p:txBody>
      </p:sp>
      <p:sp>
        <p:nvSpPr>
          <p:cNvPr id="28681" name="Text Box 9"/>
          <p:cNvSpPr txBox="1">
            <a:spLocks noChangeArrowheads="1"/>
          </p:cNvSpPr>
          <p:nvPr/>
        </p:nvSpPr>
        <p:spPr bwMode="auto">
          <a:xfrm>
            <a:off x="2667000" y="5743575"/>
            <a:ext cx="5943600" cy="519113"/>
          </a:xfrm>
          <a:prstGeom prst="rect">
            <a:avLst/>
          </a:prstGeom>
          <a:noFill/>
          <a:ln w="9525">
            <a:noFill/>
            <a:miter lim="800000"/>
            <a:headEnd/>
            <a:tailEnd/>
          </a:ln>
        </p:spPr>
        <p:txBody>
          <a:bodyPr>
            <a:spAutoFit/>
          </a:bodyPr>
          <a:lstStyle/>
          <a:p>
            <a:pPr eaLnBrk="0" hangingPunct="0">
              <a:spcBef>
                <a:spcPct val="50000"/>
              </a:spcBef>
            </a:pPr>
            <a:r>
              <a:rPr lang="en-US" sz="2800" b="1">
                <a:solidFill>
                  <a:srgbClr val="3333CC"/>
                </a:solidFill>
                <a:latin typeface="Times New Roman" pitchFamily="18" charset="0"/>
              </a:rPr>
              <a:t>cout&lt;&lt;“The Name is”&lt;&lt;name;</a:t>
            </a:r>
          </a:p>
        </p:txBody>
      </p:sp>
      <p:sp>
        <p:nvSpPr>
          <p:cNvPr id="28682" name="Text Box 10"/>
          <p:cNvSpPr txBox="1">
            <a:spLocks noChangeArrowheads="1"/>
          </p:cNvSpPr>
          <p:nvPr/>
        </p:nvSpPr>
        <p:spPr bwMode="auto">
          <a:xfrm>
            <a:off x="2743200" y="6338888"/>
            <a:ext cx="5181600" cy="519112"/>
          </a:xfrm>
          <a:prstGeom prst="rect">
            <a:avLst/>
          </a:prstGeom>
          <a:noFill/>
          <a:ln w="9525">
            <a:noFill/>
            <a:miter lim="800000"/>
            <a:headEnd/>
            <a:tailEnd/>
          </a:ln>
        </p:spPr>
        <p:txBody>
          <a:bodyPr>
            <a:spAutoFit/>
          </a:bodyPr>
          <a:lstStyle/>
          <a:p>
            <a:pPr eaLnBrk="0" hangingPunct="0">
              <a:spcBef>
                <a:spcPct val="50000"/>
              </a:spcBef>
            </a:pPr>
            <a:r>
              <a:rPr lang="en-US" sz="2800" b="1">
                <a:solidFill>
                  <a:srgbClr val="3333CC"/>
                </a:solidFill>
                <a:latin typeface="Times New Roman" pitchFamily="18" charset="0"/>
              </a:rPr>
              <a:t>cout&lt;&lt;name&lt;&lt;age&lt;&lt;salary;</a:t>
            </a: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ChangeArrowheads="1"/>
          </p:cNvSpPr>
          <p:nvPr/>
        </p:nvSpPr>
        <p:spPr bwMode="auto">
          <a:xfrm>
            <a:off x="990600" y="990600"/>
            <a:ext cx="6172200" cy="4708525"/>
          </a:xfrm>
          <a:prstGeom prst="rect">
            <a:avLst/>
          </a:prstGeom>
          <a:noFill/>
          <a:ln w="9525">
            <a:solidFill>
              <a:srgbClr val="FF66CC"/>
            </a:solidFill>
            <a:miter lim="800000"/>
            <a:headEnd/>
            <a:tailEnd/>
          </a:ln>
        </p:spPr>
        <p:txBody>
          <a:bodyPr>
            <a:spAutoFit/>
          </a:bodyPr>
          <a:lstStyle/>
          <a:p>
            <a:pPr eaLnBrk="0" hangingPunct="0"/>
            <a:r>
              <a:rPr lang="en-US" sz="2400" b="1">
                <a:solidFill>
                  <a:srgbClr val="990033"/>
                </a:solidFill>
              </a:rPr>
              <a:t>#include&lt;iostream.h&gt;</a:t>
            </a:r>
          </a:p>
          <a:p>
            <a:pPr eaLnBrk="0" hangingPunct="0"/>
            <a:r>
              <a:rPr lang="en-US" sz="2400" b="1">
                <a:solidFill>
                  <a:srgbClr val="990033"/>
                </a:solidFill>
              </a:rPr>
              <a:t>#include&lt;conio.h&gt;</a:t>
            </a:r>
          </a:p>
          <a:p>
            <a:pPr eaLnBrk="0" hangingPunct="0"/>
            <a:r>
              <a:rPr lang="en-US" sz="2400" b="1">
                <a:solidFill>
                  <a:srgbClr val="990033"/>
                </a:solidFill>
              </a:rPr>
              <a:t>void main()</a:t>
            </a:r>
          </a:p>
          <a:p>
            <a:pPr eaLnBrk="0" hangingPunct="0"/>
            <a:r>
              <a:rPr lang="en-US" sz="2400" b="1">
                <a:solidFill>
                  <a:srgbClr val="990033"/>
                </a:solidFill>
              </a:rPr>
              <a:t>{</a:t>
            </a:r>
          </a:p>
          <a:p>
            <a:pPr eaLnBrk="0" hangingPunct="0"/>
            <a:r>
              <a:rPr lang="en-US" sz="2400" b="1">
                <a:solidFill>
                  <a:srgbClr val="990033"/>
                </a:solidFill>
              </a:rPr>
              <a:t>char s[80];</a:t>
            </a:r>
          </a:p>
          <a:p>
            <a:pPr eaLnBrk="0" hangingPunct="0"/>
            <a:r>
              <a:rPr lang="en-US" sz="2400" b="1">
                <a:solidFill>
                  <a:srgbClr val="990033"/>
                </a:solidFill>
              </a:rPr>
              <a:t>clrscr();</a:t>
            </a:r>
          </a:p>
          <a:p>
            <a:pPr eaLnBrk="0" hangingPunct="0"/>
            <a:r>
              <a:rPr lang="en-US" sz="2400" b="1">
                <a:solidFill>
                  <a:srgbClr val="990033"/>
                </a:solidFill>
              </a:rPr>
              <a:t>cout&lt;&lt;"\n Enter Your String :";</a:t>
            </a:r>
          </a:p>
          <a:p>
            <a:pPr eaLnBrk="0" hangingPunct="0"/>
            <a:r>
              <a:rPr lang="en-US" sz="2400" b="1">
                <a:solidFill>
                  <a:srgbClr val="990033"/>
                </a:solidFill>
              </a:rPr>
              <a:t>cin&gt;&gt;s;</a:t>
            </a:r>
          </a:p>
          <a:p>
            <a:pPr eaLnBrk="0" hangingPunct="0"/>
            <a:r>
              <a:rPr lang="en-US" sz="2400" b="1">
                <a:solidFill>
                  <a:srgbClr val="990033"/>
                </a:solidFill>
              </a:rPr>
              <a:t>cout&lt;&lt;"\n Your String is "&lt;&lt;s;</a:t>
            </a:r>
          </a:p>
          <a:p>
            <a:pPr eaLnBrk="0" hangingPunct="0"/>
            <a:r>
              <a:rPr lang="en-US" sz="2400" b="1">
                <a:solidFill>
                  <a:srgbClr val="990033"/>
                </a:solidFill>
              </a:rPr>
              <a:t>getch();</a:t>
            </a:r>
          </a:p>
          <a:p>
            <a:pPr eaLnBrk="0" hangingPunct="0"/>
            <a:r>
              <a:rPr lang="en-US" sz="2400" b="1">
                <a:solidFill>
                  <a:srgbClr val="990033"/>
                </a:solidFill>
              </a:rPr>
              <a:t>}</a:t>
            </a:r>
          </a:p>
          <a:p>
            <a:pPr eaLnBrk="0" hangingPunct="0">
              <a:spcBef>
                <a:spcPct val="50000"/>
              </a:spcBef>
            </a:pPr>
            <a:endParaRPr lang="en-US" sz="2400" b="1">
              <a:solidFill>
                <a:srgbClr val="990033"/>
              </a:solidFill>
            </a:endParaRPr>
          </a:p>
        </p:txBody>
      </p:sp>
      <p:sp>
        <p:nvSpPr>
          <p:cNvPr id="29699" name="Text Box 3"/>
          <p:cNvSpPr txBox="1">
            <a:spLocks noChangeArrowheads="1"/>
          </p:cNvSpPr>
          <p:nvPr/>
        </p:nvSpPr>
        <p:spPr bwMode="auto">
          <a:xfrm>
            <a:off x="762000" y="242888"/>
            <a:ext cx="7010400" cy="519112"/>
          </a:xfrm>
          <a:prstGeom prst="rect">
            <a:avLst/>
          </a:prstGeom>
          <a:solidFill>
            <a:schemeClr val="accent1"/>
          </a:solidFill>
          <a:ln w="9525">
            <a:noFill/>
            <a:miter lim="800000"/>
            <a:headEnd/>
            <a:tailEnd/>
          </a:ln>
        </p:spPr>
        <p:txBody>
          <a:bodyPr>
            <a:spAutoFit/>
          </a:bodyPr>
          <a:lstStyle/>
          <a:p>
            <a:pPr eaLnBrk="0" hangingPunct="0">
              <a:spcBef>
                <a:spcPct val="50000"/>
              </a:spcBef>
            </a:pPr>
            <a:r>
              <a:rPr lang="en-US" sz="2800" b="1">
                <a:solidFill>
                  <a:srgbClr val="0033CC"/>
                </a:solidFill>
                <a:latin typeface="Verdana" pitchFamily="34" charset="0"/>
              </a:rPr>
              <a:t>Input/Output Statement Example</a:t>
            </a: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ChangeArrowheads="1"/>
          </p:cNvSpPr>
          <p:nvPr/>
        </p:nvSpPr>
        <p:spPr bwMode="auto">
          <a:xfrm>
            <a:off x="1981200" y="763588"/>
            <a:ext cx="5029200" cy="5694362"/>
          </a:xfrm>
          <a:prstGeom prst="rect">
            <a:avLst/>
          </a:prstGeom>
          <a:solidFill>
            <a:srgbClr val="660033"/>
          </a:solidFill>
          <a:ln w="9525">
            <a:solidFill>
              <a:srgbClr val="000066"/>
            </a:solidFill>
            <a:miter lim="800000"/>
            <a:headEnd/>
            <a:tailEnd/>
          </a:ln>
        </p:spPr>
        <p:txBody>
          <a:bodyPr>
            <a:spAutoFit/>
          </a:bodyPr>
          <a:lstStyle/>
          <a:p>
            <a:pPr eaLnBrk="0" hangingPunct="0"/>
            <a:r>
              <a:rPr lang="en-US" sz="2600" b="1">
                <a:solidFill>
                  <a:schemeClr val="bg1"/>
                </a:solidFill>
                <a:latin typeface="Times New Roman" pitchFamily="18" charset="0"/>
              </a:rPr>
              <a:t>#include&lt;iostream.h&gt;</a:t>
            </a:r>
          </a:p>
          <a:p>
            <a:pPr eaLnBrk="0" hangingPunct="0"/>
            <a:r>
              <a:rPr lang="en-US" sz="2600" b="1">
                <a:solidFill>
                  <a:schemeClr val="bg1"/>
                </a:solidFill>
                <a:latin typeface="Times New Roman" pitchFamily="18" charset="0"/>
              </a:rPr>
              <a:t>#include&lt;iomanip.h&gt;</a:t>
            </a:r>
          </a:p>
          <a:p>
            <a:pPr eaLnBrk="0" hangingPunct="0"/>
            <a:r>
              <a:rPr lang="en-US" sz="2600" b="1">
                <a:solidFill>
                  <a:schemeClr val="bg1"/>
                </a:solidFill>
                <a:latin typeface="Times New Roman" pitchFamily="18" charset="0"/>
              </a:rPr>
              <a:t>#include&lt;conio.h&gt;</a:t>
            </a:r>
          </a:p>
          <a:p>
            <a:pPr eaLnBrk="0" hangingPunct="0"/>
            <a:r>
              <a:rPr lang="en-US" sz="2600" b="1">
                <a:solidFill>
                  <a:schemeClr val="bg1"/>
                </a:solidFill>
                <a:latin typeface="Times New Roman" pitchFamily="18" charset="0"/>
              </a:rPr>
              <a:t>const int MAX=80;</a:t>
            </a:r>
          </a:p>
          <a:p>
            <a:pPr eaLnBrk="0" hangingPunct="0"/>
            <a:r>
              <a:rPr lang="en-US" sz="2600" b="1">
                <a:solidFill>
                  <a:schemeClr val="bg1"/>
                </a:solidFill>
                <a:latin typeface="Times New Roman" pitchFamily="18" charset="0"/>
              </a:rPr>
              <a:t>void main()</a:t>
            </a:r>
          </a:p>
          <a:p>
            <a:pPr eaLnBrk="0" hangingPunct="0"/>
            <a:r>
              <a:rPr lang="en-US" sz="2600" b="1">
                <a:solidFill>
                  <a:schemeClr val="bg1"/>
                </a:solidFill>
                <a:latin typeface="Times New Roman" pitchFamily="18" charset="0"/>
              </a:rPr>
              <a:t>{</a:t>
            </a:r>
          </a:p>
          <a:p>
            <a:pPr eaLnBrk="0" hangingPunct="0"/>
            <a:r>
              <a:rPr lang="en-US" sz="2600" b="1">
                <a:solidFill>
                  <a:schemeClr val="bg1"/>
                </a:solidFill>
                <a:latin typeface="Times New Roman" pitchFamily="18" charset="0"/>
              </a:rPr>
              <a:t>char s[MAX];</a:t>
            </a:r>
          </a:p>
          <a:p>
            <a:pPr eaLnBrk="0" hangingPunct="0"/>
            <a:r>
              <a:rPr lang="en-US" sz="2600" b="1">
                <a:solidFill>
                  <a:schemeClr val="bg1"/>
                </a:solidFill>
                <a:latin typeface="Times New Roman" pitchFamily="18" charset="0"/>
              </a:rPr>
              <a:t>clrscr();</a:t>
            </a:r>
          </a:p>
          <a:p>
            <a:pPr eaLnBrk="0" hangingPunct="0"/>
            <a:endParaRPr lang="en-US" sz="2600" b="1">
              <a:solidFill>
                <a:schemeClr val="bg1"/>
              </a:solidFill>
              <a:latin typeface="Times New Roman" pitchFamily="18" charset="0"/>
            </a:endParaRPr>
          </a:p>
          <a:p>
            <a:pPr eaLnBrk="0" hangingPunct="0"/>
            <a:r>
              <a:rPr lang="en-US" sz="2600" b="1">
                <a:solidFill>
                  <a:schemeClr val="bg1"/>
                </a:solidFill>
                <a:latin typeface="Times New Roman" pitchFamily="18" charset="0"/>
              </a:rPr>
              <a:t>cout&lt;&lt;"\n Enter Your String :";</a:t>
            </a:r>
          </a:p>
          <a:p>
            <a:pPr eaLnBrk="0" hangingPunct="0"/>
            <a:r>
              <a:rPr lang="en-US" sz="2600" b="1">
                <a:solidFill>
                  <a:schemeClr val="bg1"/>
                </a:solidFill>
                <a:latin typeface="Times New Roman" pitchFamily="18" charset="0"/>
              </a:rPr>
              <a:t>cin&gt;&gt;setw(MAX)&gt;&gt; s;</a:t>
            </a:r>
          </a:p>
          <a:p>
            <a:pPr eaLnBrk="0" hangingPunct="0"/>
            <a:r>
              <a:rPr lang="en-US" sz="2600" b="1">
                <a:solidFill>
                  <a:schemeClr val="bg1"/>
                </a:solidFill>
                <a:latin typeface="Times New Roman" pitchFamily="18" charset="0"/>
              </a:rPr>
              <a:t>cout&lt;&lt;"\n Your String is "&lt;&lt;s;</a:t>
            </a:r>
          </a:p>
          <a:p>
            <a:pPr eaLnBrk="0" hangingPunct="0"/>
            <a:r>
              <a:rPr lang="en-US" sz="2600" b="1">
                <a:solidFill>
                  <a:schemeClr val="bg1"/>
                </a:solidFill>
                <a:latin typeface="Times New Roman" pitchFamily="18" charset="0"/>
              </a:rPr>
              <a:t>getch();</a:t>
            </a:r>
          </a:p>
          <a:p>
            <a:pPr eaLnBrk="0" hangingPunct="0"/>
            <a:r>
              <a:rPr lang="en-US" sz="2600" b="1">
                <a:solidFill>
                  <a:schemeClr val="bg1"/>
                </a:solidFill>
                <a:latin typeface="Times New Roman" pitchFamily="18" charset="0"/>
              </a:rPr>
              <a:t>}</a:t>
            </a:r>
          </a:p>
        </p:txBody>
      </p:sp>
      <p:sp>
        <p:nvSpPr>
          <p:cNvPr id="30723" name="Text Box 3"/>
          <p:cNvSpPr txBox="1">
            <a:spLocks noChangeArrowheads="1"/>
          </p:cNvSpPr>
          <p:nvPr/>
        </p:nvSpPr>
        <p:spPr bwMode="auto">
          <a:xfrm>
            <a:off x="1447800" y="152400"/>
            <a:ext cx="6477000" cy="519113"/>
          </a:xfrm>
          <a:prstGeom prst="rect">
            <a:avLst/>
          </a:prstGeom>
          <a:solidFill>
            <a:schemeClr val="bg1"/>
          </a:solidFill>
          <a:ln w="9525">
            <a:noFill/>
            <a:miter lim="800000"/>
            <a:headEnd/>
            <a:tailEnd/>
          </a:ln>
        </p:spPr>
        <p:txBody>
          <a:bodyPr>
            <a:spAutoFit/>
          </a:bodyPr>
          <a:lstStyle/>
          <a:p>
            <a:pPr algn="ctr" eaLnBrk="0" hangingPunct="0">
              <a:spcBef>
                <a:spcPct val="50000"/>
              </a:spcBef>
            </a:pPr>
            <a:r>
              <a:rPr lang="en-US" sz="2800" b="1">
                <a:solidFill>
                  <a:srgbClr val="0033CC"/>
                </a:solidFill>
                <a:latin typeface="Verdana" pitchFamily="34" charset="0"/>
              </a:rPr>
              <a:t>‘Const’ Keyword Example</a:t>
            </a: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 Box 2"/>
          <p:cNvSpPr txBox="1">
            <a:spLocks noChangeArrowheads="1"/>
          </p:cNvSpPr>
          <p:nvPr/>
        </p:nvSpPr>
        <p:spPr bwMode="auto">
          <a:xfrm>
            <a:off x="0" y="1143000"/>
            <a:ext cx="8839200" cy="5518150"/>
          </a:xfrm>
          <a:prstGeom prst="rect">
            <a:avLst/>
          </a:prstGeom>
          <a:noFill/>
          <a:ln w="9525">
            <a:solidFill>
              <a:srgbClr val="990000"/>
            </a:solidFill>
            <a:miter lim="800000"/>
            <a:headEnd/>
            <a:tailEnd/>
          </a:ln>
        </p:spPr>
        <p:txBody>
          <a:bodyPr>
            <a:spAutoFit/>
          </a:bodyPr>
          <a:lstStyle/>
          <a:p>
            <a:pPr algn="just">
              <a:lnSpc>
                <a:spcPct val="105000"/>
              </a:lnSpc>
              <a:spcBef>
                <a:spcPct val="55000"/>
              </a:spcBef>
              <a:buFont typeface="Wingdings" pitchFamily="2" charset="2"/>
              <a:buChar char="Ø"/>
            </a:pPr>
            <a:r>
              <a:rPr lang="en-US" sz="2400" b="1">
                <a:solidFill>
                  <a:srgbClr val="800000"/>
                </a:solidFill>
                <a:latin typeface="Times New Roman" pitchFamily="18" charset="0"/>
                <a:cs typeface="Times New Roman" pitchFamily="18" charset="0"/>
              </a:rPr>
              <a:t>   </a:t>
            </a:r>
            <a:r>
              <a:rPr lang="en-US" sz="2400" b="1">
                <a:solidFill>
                  <a:srgbClr val="660033"/>
                </a:solidFill>
                <a:latin typeface="Times New Roman" pitchFamily="18" charset="0"/>
              </a:rPr>
              <a:t>C++ provides two pre-defined objects cin and cout for handling input and output</a:t>
            </a:r>
          </a:p>
          <a:p>
            <a:pPr eaLnBrk="0" hangingPunct="0">
              <a:lnSpc>
                <a:spcPct val="105000"/>
              </a:lnSpc>
              <a:spcBef>
                <a:spcPct val="55000"/>
              </a:spcBef>
              <a:buFont typeface="Wingdings" pitchFamily="2" charset="2"/>
              <a:buChar char="Ø"/>
            </a:pPr>
            <a:r>
              <a:rPr lang="en-US" sz="2400" b="1">
                <a:solidFill>
                  <a:srgbClr val="800000"/>
                </a:solidFill>
                <a:latin typeface="Times New Roman" pitchFamily="18" charset="0"/>
              </a:rPr>
              <a:t>  </a:t>
            </a:r>
            <a:r>
              <a:rPr lang="en-US" sz="2400" b="1">
                <a:solidFill>
                  <a:srgbClr val="660033"/>
                </a:solidFill>
                <a:latin typeface="Times New Roman" pitchFamily="18" charset="0"/>
              </a:rPr>
              <a:t>The stream extraction operator along with cin statement is used for reading input</a:t>
            </a:r>
          </a:p>
          <a:p>
            <a:pPr eaLnBrk="0" hangingPunct="0">
              <a:lnSpc>
                <a:spcPct val="105000"/>
              </a:lnSpc>
              <a:spcBef>
                <a:spcPct val="55000"/>
              </a:spcBef>
              <a:buFont typeface="Wingdings" pitchFamily="2" charset="2"/>
              <a:buChar char="Ø"/>
            </a:pPr>
            <a:r>
              <a:rPr lang="en-US" sz="2400" b="1">
                <a:solidFill>
                  <a:srgbClr val="660033"/>
                </a:solidFill>
                <a:latin typeface="Times New Roman" pitchFamily="18" charset="0"/>
              </a:rPr>
              <a:t>   The stream insertion operator along with cout statement is used for displaying the output</a:t>
            </a:r>
          </a:p>
          <a:p>
            <a:pPr eaLnBrk="0" hangingPunct="0">
              <a:lnSpc>
                <a:spcPct val="105000"/>
              </a:lnSpc>
              <a:spcBef>
                <a:spcPct val="55000"/>
              </a:spcBef>
              <a:buFont typeface="Wingdings" pitchFamily="2" charset="2"/>
              <a:buChar char="Ø"/>
            </a:pPr>
            <a:r>
              <a:rPr lang="en-US" sz="2400" b="1">
                <a:solidFill>
                  <a:srgbClr val="660033"/>
                </a:solidFill>
                <a:latin typeface="Times New Roman" pitchFamily="18" charset="0"/>
              </a:rPr>
              <a:t>  The comment statements are used in a program must be started with a pair of slashes (//)</a:t>
            </a:r>
          </a:p>
          <a:p>
            <a:pPr eaLnBrk="0" hangingPunct="0">
              <a:lnSpc>
                <a:spcPct val="105000"/>
              </a:lnSpc>
              <a:spcBef>
                <a:spcPct val="55000"/>
              </a:spcBef>
              <a:buFont typeface="Wingdings" pitchFamily="2" charset="2"/>
              <a:buChar char="Ø"/>
            </a:pPr>
            <a:r>
              <a:rPr lang="en-US" sz="2400" b="1">
                <a:solidFill>
                  <a:srgbClr val="660033"/>
                </a:solidFill>
                <a:latin typeface="Times New Roman" pitchFamily="18" charset="0"/>
              </a:rPr>
              <a:t>  The preprocessor directives &lt;#include&lt;iostream.h&gt; refers to a special file which contains the information about the standard input and output operations which must be included in the program when</a:t>
            </a:r>
            <a:r>
              <a:rPr lang="en-US" b="1">
                <a:solidFill>
                  <a:srgbClr val="660033"/>
                </a:solidFill>
                <a:latin typeface="Verdana" pitchFamily="34" charset="0"/>
              </a:rPr>
              <a:t> </a:t>
            </a:r>
            <a:r>
              <a:rPr lang="en-US" sz="2400" b="1">
                <a:solidFill>
                  <a:srgbClr val="660033"/>
                </a:solidFill>
                <a:latin typeface="Times New Roman" pitchFamily="18" charset="0"/>
              </a:rPr>
              <a:t>it is compiled</a:t>
            </a:r>
            <a:r>
              <a:rPr lang="en-US" sz="2400" b="1">
                <a:solidFill>
                  <a:srgbClr val="800000"/>
                </a:solidFill>
                <a:latin typeface="Times New Roman" pitchFamily="18" charset="0"/>
              </a:rPr>
              <a:t> </a:t>
            </a:r>
          </a:p>
        </p:txBody>
      </p:sp>
      <p:sp>
        <p:nvSpPr>
          <p:cNvPr id="31747" name="WordArt 3"/>
          <p:cNvSpPr>
            <a:spLocks noChangeArrowheads="1" noChangeShapeType="1" noTextEdit="1"/>
          </p:cNvSpPr>
          <p:nvPr/>
        </p:nvSpPr>
        <p:spPr bwMode="auto">
          <a:xfrm>
            <a:off x="2590800" y="152400"/>
            <a:ext cx="3200400" cy="914400"/>
          </a:xfrm>
          <a:prstGeom prst="rect">
            <a:avLst/>
          </a:prstGeom>
        </p:spPr>
        <p:txBody>
          <a:bodyPr wrap="none" fromWordArt="1">
            <a:prstTxWarp prst="textCanUp">
              <a:avLst>
                <a:gd name="adj" fmla="val 85713"/>
              </a:avLst>
            </a:prstTxWarp>
          </a:bodyPr>
          <a:lstStyle/>
          <a:p>
            <a:pPr algn="ctr"/>
            <a:r>
              <a:rPr lang="en-IN"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a:rPr>
              <a:t>Summary</a:t>
            </a: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2057400" y="609600"/>
            <a:ext cx="4876800" cy="609600"/>
            <a:chOff x="2016" y="384"/>
            <a:chExt cx="1728" cy="384"/>
          </a:xfrm>
        </p:grpSpPr>
        <p:sp>
          <p:nvSpPr>
            <p:cNvPr id="32773" name="Rectangle 3"/>
            <p:cNvSpPr>
              <a:spLocks noChangeArrowheads="1"/>
            </p:cNvSpPr>
            <p:nvPr/>
          </p:nvSpPr>
          <p:spPr bwMode="auto">
            <a:xfrm>
              <a:off x="2016" y="432"/>
              <a:ext cx="1728" cy="336"/>
            </a:xfrm>
            <a:prstGeom prst="rect">
              <a:avLst/>
            </a:prstGeom>
            <a:solidFill>
              <a:schemeClr val="accent1"/>
            </a:solidFill>
            <a:ln w="57150" cmpd="thickThin">
              <a:solidFill>
                <a:schemeClr val="tx1"/>
              </a:solidFill>
              <a:miter lim="800000"/>
              <a:headEnd/>
              <a:tailEnd/>
            </a:ln>
          </p:spPr>
          <p:txBody>
            <a:bodyPr wrap="none" anchor="ctr"/>
            <a:lstStyle/>
            <a:p>
              <a:endParaRPr lang="en-US"/>
            </a:p>
          </p:txBody>
        </p:sp>
        <p:sp>
          <p:nvSpPr>
            <p:cNvPr id="32774" name="Rectangle 4"/>
            <p:cNvSpPr>
              <a:spLocks noChangeArrowheads="1"/>
            </p:cNvSpPr>
            <p:nvPr/>
          </p:nvSpPr>
          <p:spPr bwMode="auto">
            <a:xfrm>
              <a:off x="2120" y="384"/>
              <a:ext cx="1576" cy="336"/>
            </a:xfrm>
            <a:prstGeom prst="rect">
              <a:avLst/>
            </a:prstGeom>
            <a:solidFill>
              <a:schemeClr val="accent1"/>
            </a:solidFill>
            <a:ln w="57150" cmpd="thickThin">
              <a:solidFill>
                <a:schemeClr val="tx1"/>
              </a:solidFill>
              <a:miter lim="800000"/>
              <a:headEnd/>
              <a:tailEnd/>
            </a:ln>
          </p:spPr>
          <p:txBody>
            <a:bodyPr wrap="none" anchor="ctr"/>
            <a:lstStyle/>
            <a:p>
              <a:endParaRPr lang="en-US"/>
            </a:p>
          </p:txBody>
        </p:sp>
      </p:grpSp>
      <p:sp>
        <p:nvSpPr>
          <p:cNvPr id="34821" name="Rectangle 5"/>
          <p:cNvSpPr>
            <a:spLocks noChangeArrowheads="1"/>
          </p:cNvSpPr>
          <p:nvPr/>
        </p:nvSpPr>
        <p:spPr bwMode="auto">
          <a:xfrm>
            <a:off x="304800" y="609600"/>
            <a:ext cx="8610600" cy="4335463"/>
          </a:xfrm>
          <a:prstGeom prst="rect">
            <a:avLst/>
          </a:prstGeom>
          <a:noFill/>
          <a:ln w="9525" algn="ctr">
            <a:noFill/>
            <a:miter lim="800000"/>
            <a:headEnd/>
            <a:tailEnd/>
          </a:ln>
        </p:spPr>
        <p:txBody>
          <a:bodyPr anchor="ctr">
            <a:spAutoFit/>
          </a:bodyPr>
          <a:lstStyle/>
          <a:p>
            <a:pPr marL="457200" indent="-457200" algn="ctr">
              <a:tabLst>
                <a:tab pos="457200" algn="l"/>
              </a:tabLst>
            </a:pPr>
            <a:r>
              <a:rPr lang="en-US" sz="3200" b="1">
                <a:solidFill>
                  <a:srgbClr val="000066"/>
                </a:solidFill>
                <a:latin typeface="Times New Roman" pitchFamily="18" charset="0"/>
              </a:rPr>
              <a:t>REVIEW QUESTIONS</a:t>
            </a:r>
          </a:p>
          <a:p>
            <a:pPr marL="457200" indent="-457200" algn="ctr">
              <a:tabLst>
                <a:tab pos="457200" algn="l"/>
              </a:tabLst>
            </a:pPr>
            <a:endParaRPr lang="en-US" sz="3200" b="1">
              <a:solidFill>
                <a:srgbClr val="000066"/>
              </a:solidFill>
              <a:latin typeface="Times New Roman" pitchFamily="18" charset="0"/>
            </a:endParaRPr>
          </a:p>
          <a:p>
            <a:pPr marL="457200" indent="-457200" eaLnBrk="0" hangingPunct="0">
              <a:lnSpc>
                <a:spcPct val="140000"/>
              </a:lnSpc>
              <a:spcAft>
                <a:spcPct val="35000"/>
              </a:spcAft>
              <a:buFontTx/>
              <a:buAutoNum type="arabicPeriod"/>
              <a:tabLst>
                <a:tab pos="457200" algn="l"/>
              </a:tabLst>
            </a:pPr>
            <a:r>
              <a:rPr lang="en-US" sz="2800" b="1">
                <a:solidFill>
                  <a:srgbClr val="000066"/>
                </a:solidFill>
                <a:latin typeface="Times New Roman" pitchFamily="18" charset="0"/>
              </a:rPr>
              <a:t>  </a:t>
            </a:r>
            <a:r>
              <a:rPr lang="en-US" sz="2400" b="1">
                <a:solidFill>
                  <a:srgbClr val="000066"/>
                </a:solidFill>
                <a:latin typeface="Times New Roman" pitchFamily="18" charset="0"/>
              </a:rPr>
              <a:t>Explain briefly classes &amp; Objects?</a:t>
            </a:r>
          </a:p>
          <a:p>
            <a:pPr marL="457200" indent="-457200" eaLnBrk="0" hangingPunct="0">
              <a:lnSpc>
                <a:spcPct val="140000"/>
              </a:lnSpc>
              <a:spcAft>
                <a:spcPct val="35000"/>
              </a:spcAft>
              <a:buFontTx/>
              <a:buAutoNum type="arabicPeriod"/>
              <a:tabLst>
                <a:tab pos="457200" algn="l"/>
              </a:tabLst>
            </a:pPr>
            <a:r>
              <a:rPr lang="en-US" sz="2400" b="1">
                <a:solidFill>
                  <a:srgbClr val="000066"/>
                </a:solidFill>
                <a:latin typeface="Times New Roman" pitchFamily="18" charset="0"/>
              </a:rPr>
              <a:t>   Explain about the declaration of variables in C++?</a:t>
            </a:r>
          </a:p>
          <a:p>
            <a:pPr marL="457200" indent="-457200" algn="just">
              <a:lnSpc>
                <a:spcPct val="140000"/>
              </a:lnSpc>
              <a:spcAft>
                <a:spcPct val="35000"/>
              </a:spcAft>
              <a:buFont typeface="Wingdings" pitchFamily="2" charset="2"/>
              <a:buAutoNum type="arabicPeriod"/>
              <a:tabLst>
                <a:tab pos="457200" algn="l"/>
              </a:tabLst>
            </a:pPr>
            <a:r>
              <a:rPr lang="en-US" sz="2400" b="1">
                <a:solidFill>
                  <a:srgbClr val="000066"/>
                </a:solidFill>
                <a:latin typeface="Times New Roman" pitchFamily="18" charset="0"/>
              </a:rPr>
              <a:t>   State the use of #include directive in C++?</a:t>
            </a:r>
          </a:p>
          <a:p>
            <a:pPr marL="457200" indent="-457200" eaLnBrk="0" hangingPunct="0">
              <a:lnSpc>
                <a:spcPct val="140000"/>
              </a:lnSpc>
              <a:spcBef>
                <a:spcPct val="30000"/>
              </a:spcBef>
              <a:buFontTx/>
              <a:buAutoNum type="arabicPeriod"/>
              <a:tabLst>
                <a:tab pos="457200" algn="l"/>
              </a:tabLst>
            </a:pPr>
            <a:r>
              <a:rPr lang="en-US" sz="2400" b="1">
                <a:solidFill>
                  <a:srgbClr val="000066"/>
                </a:solidFill>
                <a:latin typeface="Times New Roman" pitchFamily="18" charset="0"/>
              </a:rPr>
              <a:t>  Explain the use of memory management Operators in C++?</a:t>
            </a:r>
          </a:p>
          <a:p>
            <a:pPr marL="457200" indent="-457200" eaLnBrk="0" hangingPunct="0">
              <a:lnSpc>
                <a:spcPct val="140000"/>
              </a:lnSpc>
              <a:spcBef>
                <a:spcPct val="30000"/>
              </a:spcBef>
              <a:buFontTx/>
              <a:buAutoNum type="arabicPeriod"/>
              <a:tabLst>
                <a:tab pos="457200" algn="l"/>
              </a:tabLst>
            </a:pPr>
            <a:r>
              <a:rPr lang="en-US" sz="2400" b="1">
                <a:solidFill>
                  <a:srgbClr val="000066"/>
                </a:solidFill>
                <a:latin typeface="Times New Roman" pitchFamily="18" charset="0"/>
              </a:rPr>
              <a:t>  State the use of type cast operator in C++?</a:t>
            </a:r>
          </a:p>
        </p:txBody>
      </p:sp>
      <p:sp>
        <p:nvSpPr>
          <p:cNvPr id="32772" name="AutoShape 6"/>
          <p:cNvSpPr>
            <a:spLocks noChangeArrowheads="1"/>
          </p:cNvSpPr>
          <p:nvPr/>
        </p:nvSpPr>
        <p:spPr bwMode="auto">
          <a:xfrm>
            <a:off x="228600" y="533400"/>
            <a:ext cx="8534400" cy="5029200"/>
          </a:xfrm>
          <a:prstGeom prst="roundRect">
            <a:avLst>
              <a:gd name="adj" fmla="val 16667"/>
            </a:avLst>
          </a:prstGeom>
          <a:noFill/>
          <a:ln w="57150" cmpd="thickThin">
            <a:solidFill>
              <a:srgbClr val="990033"/>
            </a:solidFill>
            <a:round/>
            <a:headEnd/>
            <a:tailEnd/>
          </a:ln>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6" fill="hold" grpId="0" nodeType="withEffect">
                                  <p:stCondLst>
                                    <p:cond delay="0"/>
                                  </p:stCondLst>
                                  <p:childTnLst>
                                    <p:set>
                                      <p:cBhvr>
                                        <p:cTn id="6" dur="1" fill="hold">
                                          <p:stCondLst>
                                            <p:cond delay="0"/>
                                          </p:stCondLst>
                                        </p:cTn>
                                        <p:tgtEl>
                                          <p:spTgt spid="34821"/>
                                        </p:tgtEl>
                                        <p:attrNameLst>
                                          <p:attrName>style.visibility</p:attrName>
                                        </p:attrNameLst>
                                      </p:cBhvr>
                                      <p:to>
                                        <p:strVal val="visible"/>
                                      </p:to>
                                    </p:set>
                                    <p:anim calcmode="lin" valueType="num">
                                      <p:cBhvr>
                                        <p:cTn id="7" dur="500" fill="hold"/>
                                        <p:tgtEl>
                                          <p:spTgt spid="34821"/>
                                        </p:tgtEl>
                                        <p:attrNameLst>
                                          <p:attrName>ppt_w</p:attrName>
                                        </p:attrNameLst>
                                      </p:cBhvr>
                                      <p:tavLst>
                                        <p:tav tm="0">
                                          <p:val>
                                            <p:strVal val="(6*min(max(#ppt_w*#ppt_h,.3),1)-7.4)/-.7*#ppt_w"/>
                                          </p:val>
                                        </p:tav>
                                        <p:tav tm="100000">
                                          <p:val>
                                            <p:strVal val="#ppt_w"/>
                                          </p:val>
                                        </p:tav>
                                      </p:tavLst>
                                    </p:anim>
                                    <p:anim calcmode="lin" valueType="num">
                                      <p:cBhvr>
                                        <p:cTn id="8" dur="500" fill="hold"/>
                                        <p:tgtEl>
                                          <p:spTgt spid="34821"/>
                                        </p:tgtEl>
                                        <p:attrNameLst>
                                          <p:attrName>ppt_h</p:attrName>
                                        </p:attrNameLst>
                                      </p:cBhvr>
                                      <p:tavLst>
                                        <p:tav tm="0">
                                          <p:val>
                                            <p:strVal val="(6*min(max(#ppt_w*#ppt_h,.3),1)-7.4)/-.7*#ppt_h"/>
                                          </p:val>
                                        </p:tav>
                                        <p:tav tm="100000">
                                          <p:val>
                                            <p:strVal val="#ppt_h"/>
                                          </p:val>
                                        </p:tav>
                                      </p:tavLst>
                                    </p:anim>
                                    <p:anim calcmode="lin" valueType="num">
                                      <p:cBhvr>
                                        <p:cTn id="9" dur="500" fill="hold"/>
                                        <p:tgtEl>
                                          <p:spTgt spid="34821"/>
                                        </p:tgtEl>
                                        <p:attrNameLst>
                                          <p:attrName>ppt_x</p:attrName>
                                        </p:attrNameLst>
                                      </p:cBhvr>
                                      <p:tavLst>
                                        <p:tav tm="0">
                                          <p:val>
                                            <p:fltVal val="0.5"/>
                                          </p:val>
                                        </p:tav>
                                        <p:tav tm="100000">
                                          <p:val>
                                            <p:strVal val="#ppt_x"/>
                                          </p:val>
                                        </p:tav>
                                      </p:tavLst>
                                    </p:anim>
                                    <p:anim calcmode="lin" valueType="num">
                                      <p:cBhvr>
                                        <p:cTn id="10" dur="500" fill="hold"/>
                                        <p:tgtEl>
                                          <p:spTgt spid="34821"/>
                                        </p:tgtEl>
                                        <p:attrNameLst>
                                          <p:attrName>ppt_y</p:attrName>
                                        </p:attrNameLst>
                                      </p:cBhvr>
                                      <p:tavLst>
                                        <p:tav tm="0">
                                          <p:val>
                                            <p:strVal val="1+(6*min(max(#ppt_w*#ppt_h,.3),1)-7.4)/-.7*#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1"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Footer Placeholder 2"/>
          <p:cNvSpPr>
            <a:spLocks noGrp="1"/>
          </p:cNvSpPr>
          <p:nvPr>
            <p:ph type="ftr" sz="quarter" idx="11"/>
          </p:nvPr>
        </p:nvSpPr>
        <p:spPr/>
        <p:txBody>
          <a:bodyPr/>
          <a:lstStyle/>
          <a:p>
            <a:pPr>
              <a:defRPr/>
            </a:pPr>
            <a:r>
              <a:rPr lang="en-US" dirty="0" smtClean="0"/>
              <a:t>Apollo COMPUTER </a:t>
            </a:r>
            <a:r>
              <a:rPr lang="en-US" dirty="0"/>
              <a:t>EDUCATION, </a:t>
            </a:r>
            <a:r>
              <a:rPr lang="en-US" dirty="0" smtClean="0"/>
              <a:t>t </a:t>
            </a:r>
            <a:r>
              <a:rPr lang="en-US" dirty="0" err="1" smtClean="0"/>
              <a:t>nagar</a:t>
            </a:r>
            <a:r>
              <a:rPr lang="en-US" dirty="0" smtClean="0"/>
              <a:t> ,Ch-17</a:t>
            </a:r>
          </a:p>
          <a:p>
            <a:pPr>
              <a:defRPr/>
            </a:pPr>
            <a:endParaRPr lang="en-US" dirty="0"/>
          </a:p>
        </p:txBody>
      </p:sp>
      <p:sp>
        <p:nvSpPr>
          <p:cNvPr id="10243" name="WordArt 2"/>
          <p:cNvSpPr>
            <a:spLocks noChangeArrowheads="1" noChangeShapeType="1" noTextEdit="1"/>
          </p:cNvSpPr>
          <p:nvPr/>
        </p:nvSpPr>
        <p:spPr bwMode="auto">
          <a:xfrm>
            <a:off x="1219200" y="3276600"/>
            <a:ext cx="7086600" cy="914400"/>
          </a:xfrm>
          <a:prstGeom prst="rect">
            <a:avLst/>
          </a:prstGeom>
        </p:spPr>
        <p:txBody>
          <a:bodyPr wrap="none" fromWordArt="1">
            <a:prstTxWarp prst="textChevron">
              <a:avLst>
                <a:gd name="adj" fmla="val 25000"/>
              </a:avLst>
            </a:prstTxWarp>
          </a:bodyPr>
          <a:lstStyle/>
          <a:p>
            <a:pPr algn="ctr"/>
            <a:r>
              <a:rPr lang="en-IN" sz="3600" kern="10">
                <a:ln w="12700">
                  <a:solidFill>
                    <a:srgbClr val="B2B2B2"/>
                  </a:solidFill>
                  <a:round/>
                  <a:headEnd/>
                  <a:tailEnd/>
                </a:ln>
                <a:solidFill>
                  <a:srgbClr val="FF0000"/>
                </a:solidFill>
                <a:effectLst>
                  <a:outerShdw dist="35921" dir="2700000" sy="50000" rotWithShape="0">
                    <a:srgbClr val="875B0D">
                      <a:alpha val="70000"/>
                    </a:srgbClr>
                  </a:outerShdw>
                </a:effectLst>
                <a:latin typeface="Arial Black"/>
              </a:rPr>
              <a:t>User Defined Functions</a:t>
            </a:r>
          </a:p>
        </p:txBody>
      </p:sp>
      <p:sp>
        <p:nvSpPr>
          <p:cNvPr id="10244" name="WordArt 3"/>
          <p:cNvSpPr>
            <a:spLocks noChangeArrowheads="1" noChangeShapeType="1" noTextEdit="1"/>
          </p:cNvSpPr>
          <p:nvPr/>
        </p:nvSpPr>
        <p:spPr bwMode="auto">
          <a:xfrm>
            <a:off x="3124200" y="1066800"/>
            <a:ext cx="2895600" cy="647700"/>
          </a:xfrm>
          <a:prstGeom prst="rect">
            <a:avLst/>
          </a:prstGeom>
        </p:spPr>
        <p:txBody>
          <a:bodyPr wrap="none" fromWordArt="1">
            <a:prstTxWarp prst="textPlain">
              <a:avLst>
                <a:gd name="adj" fmla="val 50000"/>
              </a:avLst>
            </a:prstTxWarp>
          </a:bodyPr>
          <a:lstStyle/>
          <a:p>
            <a:pPr algn="ctr"/>
            <a:r>
              <a:rPr lang="en-IN" sz="3600" kern="10">
                <a:ln w="9525">
                  <a:solidFill>
                    <a:srgbClr val="000000"/>
                  </a:solidFill>
                  <a:round/>
                  <a:headEnd/>
                  <a:tailEnd/>
                </a:ln>
                <a:solidFill>
                  <a:srgbClr val="A50021"/>
                </a:solidFill>
                <a:latin typeface="Arial Black"/>
              </a:rPr>
              <a:t>CHAPTER 3</a:t>
            </a: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
          <p:cNvSpPr txBox="1">
            <a:spLocks noChangeArrowheads="1"/>
          </p:cNvSpPr>
          <p:nvPr/>
        </p:nvSpPr>
        <p:spPr bwMode="auto">
          <a:xfrm>
            <a:off x="1828800" y="609600"/>
            <a:ext cx="5376863" cy="823913"/>
          </a:xfrm>
          <a:prstGeom prst="rect">
            <a:avLst/>
          </a:prstGeom>
          <a:solidFill>
            <a:srgbClr val="FF0000"/>
          </a:solidFill>
          <a:ln w="9525">
            <a:noFill/>
            <a:miter lim="800000"/>
            <a:headEnd/>
            <a:tailEnd/>
          </a:ln>
          <a:effectLst/>
        </p:spPr>
        <p:txBody>
          <a:bodyPr wrap="none">
            <a:spAutoFit/>
          </a:bodyPr>
          <a:lstStyle/>
          <a:p>
            <a:pPr>
              <a:defRPr/>
            </a:pPr>
            <a:r>
              <a:rPr lang="en-US" sz="4800" b="1">
                <a:solidFill>
                  <a:srgbClr val="66FFFF"/>
                </a:solidFill>
                <a:effectLst>
                  <a:outerShdw blurRad="38100" dist="38100" dir="2700000" algn="tl">
                    <a:srgbClr val="000000"/>
                  </a:outerShdw>
                </a:effectLst>
                <a:latin typeface="Arial Unicode MS" pitchFamily="34" charset="-128"/>
                <a:cs typeface="Times New Roman" pitchFamily="18" charset="0"/>
              </a:rPr>
              <a:t>Session Objectives</a:t>
            </a:r>
          </a:p>
        </p:txBody>
      </p:sp>
      <p:sp>
        <p:nvSpPr>
          <p:cNvPr id="5123" name="Text Box 3"/>
          <p:cNvSpPr txBox="1">
            <a:spLocks noChangeArrowheads="1"/>
          </p:cNvSpPr>
          <p:nvPr/>
        </p:nvSpPr>
        <p:spPr bwMode="auto">
          <a:xfrm>
            <a:off x="838200" y="2743200"/>
            <a:ext cx="3567113" cy="519113"/>
          </a:xfrm>
          <a:prstGeom prst="rect">
            <a:avLst/>
          </a:prstGeom>
          <a:noFill/>
          <a:ln w="9525">
            <a:noFill/>
            <a:miter lim="800000"/>
            <a:headEnd/>
            <a:tailEnd/>
          </a:ln>
        </p:spPr>
        <p:txBody>
          <a:bodyPr wrap="none">
            <a:spAutoFit/>
          </a:bodyPr>
          <a:lstStyle/>
          <a:p>
            <a:pPr>
              <a:buFontTx/>
              <a:buBlip>
                <a:blip r:embed="rId2"/>
              </a:buBlip>
            </a:pPr>
            <a:r>
              <a:rPr lang="en-US" sz="2800">
                <a:solidFill>
                  <a:srgbClr val="990033"/>
                </a:solidFill>
                <a:latin typeface="Times New Roman" pitchFamily="18" charset="0"/>
                <a:cs typeface="Times New Roman" pitchFamily="18" charset="0"/>
              </a:rPr>
              <a:t> </a:t>
            </a:r>
            <a:r>
              <a:rPr lang="en-US" sz="2800" b="1">
                <a:solidFill>
                  <a:srgbClr val="990033"/>
                </a:solidFill>
                <a:latin typeface="Times New Roman" pitchFamily="18" charset="0"/>
                <a:cs typeface="Times New Roman" pitchFamily="18" charset="0"/>
              </a:rPr>
              <a:t>Define Storage class</a:t>
            </a:r>
          </a:p>
        </p:txBody>
      </p:sp>
      <p:sp>
        <p:nvSpPr>
          <p:cNvPr id="5124" name="Text Box 4"/>
          <p:cNvSpPr txBox="1">
            <a:spLocks noChangeArrowheads="1"/>
          </p:cNvSpPr>
          <p:nvPr/>
        </p:nvSpPr>
        <p:spPr bwMode="auto">
          <a:xfrm>
            <a:off x="838200" y="3505200"/>
            <a:ext cx="3973513" cy="519113"/>
          </a:xfrm>
          <a:prstGeom prst="rect">
            <a:avLst/>
          </a:prstGeom>
          <a:noFill/>
          <a:ln w="9525">
            <a:noFill/>
            <a:miter lim="800000"/>
            <a:headEnd/>
            <a:tailEnd/>
          </a:ln>
        </p:spPr>
        <p:txBody>
          <a:bodyPr wrap="none">
            <a:spAutoFit/>
          </a:bodyPr>
          <a:lstStyle/>
          <a:p>
            <a:pPr>
              <a:buFontTx/>
              <a:buBlip>
                <a:blip r:embed="rId2"/>
              </a:buBlip>
            </a:pPr>
            <a:r>
              <a:rPr lang="en-US" sz="2800">
                <a:solidFill>
                  <a:srgbClr val="990033"/>
                </a:solidFill>
                <a:latin typeface="Times New Roman" pitchFamily="18" charset="0"/>
                <a:cs typeface="Times New Roman" pitchFamily="18" charset="0"/>
              </a:rPr>
              <a:t> </a:t>
            </a:r>
            <a:r>
              <a:rPr lang="en-US" sz="2800" b="1">
                <a:solidFill>
                  <a:srgbClr val="990033"/>
                </a:solidFill>
                <a:latin typeface="Times New Roman" pitchFamily="18" charset="0"/>
                <a:cs typeface="Times New Roman" pitchFamily="18" charset="0"/>
              </a:rPr>
              <a:t>Types of Storage Class</a:t>
            </a:r>
          </a:p>
        </p:txBody>
      </p:sp>
      <p:sp>
        <p:nvSpPr>
          <p:cNvPr id="5125" name="Text Box 5"/>
          <p:cNvSpPr txBox="1">
            <a:spLocks noChangeArrowheads="1"/>
          </p:cNvSpPr>
          <p:nvPr/>
        </p:nvSpPr>
        <p:spPr bwMode="auto">
          <a:xfrm>
            <a:off x="914400" y="4419600"/>
            <a:ext cx="3995738" cy="519113"/>
          </a:xfrm>
          <a:prstGeom prst="rect">
            <a:avLst/>
          </a:prstGeom>
          <a:noFill/>
          <a:ln w="9525">
            <a:noFill/>
            <a:miter lim="800000"/>
            <a:headEnd/>
            <a:tailEnd/>
          </a:ln>
        </p:spPr>
        <p:txBody>
          <a:bodyPr wrap="none">
            <a:spAutoFit/>
          </a:bodyPr>
          <a:lstStyle/>
          <a:p>
            <a:pPr>
              <a:buFontTx/>
              <a:buBlip>
                <a:blip r:embed="rId2"/>
              </a:buBlip>
            </a:pPr>
            <a:r>
              <a:rPr lang="en-US" sz="2800">
                <a:solidFill>
                  <a:srgbClr val="990033"/>
                </a:solidFill>
                <a:latin typeface="Times New Roman" pitchFamily="18" charset="0"/>
                <a:cs typeface="Times New Roman" pitchFamily="18" charset="0"/>
              </a:rPr>
              <a:t> </a:t>
            </a:r>
            <a:r>
              <a:rPr lang="en-US" sz="2800" b="1">
                <a:solidFill>
                  <a:srgbClr val="990033"/>
                </a:solidFill>
                <a:latin typeface="Times New Roman" pitchFamily="18" charset="0"/>
                <a:cs typeface="Times New Roman" pitchFamily="18" charset="0"/>
              </a:rPr>
              <a:t>Category of Functions </a:t>
            </a:r>
          </a:p>
        </p:txBody>
      </p:sp>
      <p:sp>
        <p:nvSpPr>
          <p:cNvPr id="5126" name="Text Box 6"/>
          <p:cNvSpPr txBox="1">
            <a:spLocks noChangeArrowheads="1"/>
          </p:cNvSpPr>
          <p:nvPr/>
        </p:nvSpPr>
        <p:spPr bwMode="auto">
          <a:xfrm>
            <a:off x="914400" y="5105400"/>
            <a:ext cx="2452688" cy="519113"/>
          </a:xfrm>
          <a:prstGeom prst="rect">
            <a:avLst/>
          </a:prstGeom>
          <a:noFill/>
          <a:ln w="9525">
            <a:noFill/>
            <a:miter lim="800000"/>
            <a:headEnd/>
            <a:tailEnd/>
          </a:ln>
        </p:spPr>
        <p:txBody>
          <a:bodyPr wrap="none">
            <a:spAutoFit/>
          </a:bodyPr>
          <a:lstStyle/>
          <a:p>
            <a:pPr>
              <a:buFontTx/>
              <a:buBlip>
                <a:blip r:embed="rId2"/>
              </a:buBlip>
            </a:pPr>
            <a:r>
              <a:rPr lang="en-US" sz="2800">
                <a:solidFill>
                  <a:srgbClr val="990033"/>
                </a:solidFill>
                <a:latin typeface="Times New Roman" pitchFamily="18" charset="0"/>
                <a:cs typeface="Times New Roman" pitchFamily="18" charset="0"/>
              </a:rPr>
              <a:t> </a:t>
            </a:r>
            <a:r>
              <a:rPr lang="en-US" sz="2800" b="1">
                <a:solidFill>
                  <a:srgbClr val="990033"/>
                </a:solidFill>
                <a:latin typeface="Times New Roman" pitchFamily="18" charset="0"/>
                <a:cs typeface="Times New Roman" pitchFamily="18" charset="0"/>
              </a:rPr>
              <a:t>Type casting</a:t>
            </a:r>
          </a:p>
        </p:txBody>
      </p:sp>
      <p:sp>
        <p:nvSpPr>
          <p:cNvPr id="5127" name="Text Box 7"/>
          <p:cNvSpPr txBox="1">
            <a:spLocks noChangeArrowheads="1"/>
          </p:cNvSpPr>
          <p:nvPr/>
        </p:nvSpPr>
        <p:spPr bwMode="auto">
          <a:xfrm>
            <a:off x="838200" y="1981200"/>
            <a:ext cx="6861175" cy="519113"/>
          </a:xfrm>
          <a:prstGeom prst="rect">
            <a:avLst/>
          </a:prstGeom>
          <a:noFill/>
          <a:ln w="9525">
            <a:noFill/>
            <a:miter lim="800000"/>
            <a:headEnd/>
            <a:tailEnd/>
          </a:ln>
        </p:spPr>
        <p:txBody>
          <a:bodyPr wrap="none">
            <a:spAutoFit/>
          </a:bodyPr>
          <a:lstStyle/>
          <a:p>
            <a:pPr>
              <a:buFontTx/>
              <a:buBlip>
                <a:blip r:embed="rId2"/>
              </a:buBlip>
            </a:pPr>
            <a:r>
              <a:rPr lang="en-US" sz="2800">
                <a:solidFill>
                  <a:srgbClr val="990033"/>
                </a:solidFill>
                <a:latin typeface="Times New Roman" pitchFamily="18" charset="0"/>
                <a:cs typeface="Times New Roman" pitchFamily="18" charset="0"/>
              </a:rPr>
              <a:t> </a:t>
            </a:r>
            <a:r>
              <a:rPr lang="en-US" sz="2800" b="1">
                <a:solidFill>
                  <a:srgbClr val="990033"/>
                </a:solidFill>
                <a:latin typeface="Times New Roman" pitchFamily="18" charset="0"/>
                <a:cs typeface="Times New Roman" pitchFamily="18" charset="0"/>
              </a:rPr>
              <a:t>Define Functions &amp; category of Functions</a:t>
            </a:r>
          </a:p>
        </p:txBody>
      </p:sp>
      <p:sp>
        <p:nvSpPr>
          <p:cNvPr id="5128" name="Text Box 8"/>
          <p:cNvSpPr txBox="1">
            <a:spLocks noChangeArrowheads="1"/>
          </p:cNvSpPr>
          <p:nvPr/>
        </p:nvSpPr>
        <p:spPr bwMode="auto">
          <a:xfrm>
            <a:off x="914400" y="5715000"/>
            <a:ext cx="2870200" cy="519113"/>
          </a:xfrm>
          <a:prstGeom prst="rect">
            <a:avLst/>
          </a:prstGeom>
          <a:noFill/>
          <a:ln w="9525">
            <a:noFill/>
            <a:miter lim="800000"/>
            <a:headEnd/>
            <a:tailEnd/>
          </a:ln>
        </p:spPr>
        <p:txBody>
          <a:bodyPr wrap="none">
            <a:spAutoFit/>
          </a:bodyPr>
          <a:lstStyle/>
          <a:p>
            <a:pPr>
              <a:buFontTx/>
              <a:buBlip>
                <a:blip r:embed="rId2"/>
              </a:buBlip>
            </a:pPr>
            <a:r>
              <a:rPr lang="en-US" sz="2800">
                <a:solidFill>
                  <a:srgbClr val="990033"/>
                </a:solidFill>
                <a:latin typeface="Times New Roman" pitchFamily="18" charset="0"/>
                <a:cs typeface="Times New Roman" pitchFamily="18" charset="0"/>
              </a:rPr>
              <a:t> </a:t>
            </a:r>
            <a:r>
              <a:rPr lang="en-US" sz="2800" b="1">
                <a:solidFill>
                  <a:srgbClr val="990033"/>
                </a:solidFill>
                <a:latin typeface="Times New Roman" pitchFamily="18" charset="0"/>
                <a:cs typeface="Times New Roman" pitchFamily="18" charset="0"/>
              </a:rPr>
              <a:t>Inline Function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88" fill="hold" grpId="0" nodeType="afterEffect">
                                  <p:stCondLst>
                                    <p:cond delay="0"/>
                                  </p:stCondLst>
                                  <p:childTnLst>
                                    <p:set>
                                      <p:cBhvr>
                                        <p:cTn id="6" dur="1" fill="hold">
                                          <p:stCondLst>
                                            <p:cond delay="0"/>
                                          </p:stCondLst>
                                        </p:cTn>
                                        <p:tgtEl>
                                          <p:spTgt spid="5123"/>
                                        </p:tgtEl>
                                        <p:attrNameLst>
                                          <p:attrName>style.visibility</p:attrName>
                                        </p:attrNameLst>
                                      </p:cBhvr>
                                      <p:to>
                                        <p:strVal val="visible"/>
                                      </p:to>
                                    </p:set>
                                    <p:anim calcmode="lin" valueType="num">
                                      <p:cBhvr>
                                        <p:cTn id="7" dur="500" fill="hold"/>
                                        <p:tgtEl>
                                          <p:spTgt spid="5123"/>
                                        </p:tgtEl>
                                        <p:attrNameLst>
                                          <p:attrName>ppt_w</p:attrName>
                                        </p:attrNameLst>
                                      </p:cBhvr>
                                      <p:tavLst>
                                        <p:tav tm="0">
                                          <p:val>
                                            <p:strVal val="4/3*#ppt_w"/>
                                          </p:val>
                                        </p:tav>
                                        <p:tav tm="100000">
                                          <p:val>
                                            <p:strVal val="#ppt_w"/>
                                          </p:val>
                                        </p:tav>
                                      </p:tavLst>
                                    </p:anim>
                                    <p:anim calcmode="lin" valueType="num">
                                      <p:cBhvr>
                                        <p:cTn id="8" dur="500" fill="hold"/>
                                        <p:tgtEl>
                                          <p:spTgt spid="5123"/>
                                        </p:tgtEl>
                                        <p:attrNameLst>
                                          <p:attrName>ppt_h</p:attrName>
                                        </p:attrNameLst>
                                      </p:cBhvr>
                                      <p:tavLst>
                                        <p:tav tm="0">
                                          <p:val>
                                            <p:strVal val="4/3*#ppt_h"/>
                                          </p:val>
                                        </p:tav>
                                        <p:tav tm="100000">
                                          <p:val>
                                            <p:strVal val="#ppt_h"/>
                                          </p:val>
                                        </p:tav>
                                      </p:tavLst>
                                    </p:anim>
                                  </p:childTnLst>
                                </p:cTn>
                              </p:par>
                            </p:childTnLst>
                          </p:cTn>
                        </p:par>
                        <p:par>
                          <p:cTn id="9" fill="hold">
                            <p:stCondLst>
                              <p:cond delay="500"/>
                            </p:stCondLst>
                            <p:childTnLst>
                              <p:par>
                                <p:cTn id="10" presetID="23" presetClass="entr" presetSubtype="288" fill="hold" grpId="0" nodeType="afterEffect">
                                  <p:stCondLst>
                                    <p:cond delay="0"/>
                                  </p:stCondLst>
                                  <p:childTnLst>
                                    <p:set>
                                      <p:cBhvr>
                                        <p:cTn id="11" dur="1" fill="hold">
                                          <p:stCondLst>
                                            <p:cond delay="0"/>
                                          </p:stCondLst>
                                        </p:cTn>
                                        <p:tgtEl>
                                          <p:spTgt spid="5124"/>
                                        </p:tgtEl>
                                        <p:attrNameLst>
                                          <p:attrName>style.visibility</p:attrName>
                                        </p:attrNameLst>
                                      </p:cBhvr>
                                      <p:to>
                                        <p:strVal val="visible"/>
                                      </p:to>
                                    </p:set>
                                    <p:anim calcmode="lin" valueType="num">
                                      <p:cBhvr>
                                        <p:cTn id="12" dur="500" fill="hold"/>
                                        <p:tgtEl>
                                          <p:spTgt spid="5124"/>
                                        </p:tgtEl>
                                        <p:attrNameLst>
                                          <p:attrName>ppt_w</p:attrName>
                                        </p:attrNameLst>
                                      </p:cBhvr>
                                      <p:tavLst>
                                        <p:tav tm="0">
                                          <p:val>
                                            <p:strVal val="4/3*#ppt_w"/>
                                          </p:val>
                                        </p:tav>
                                        <p:tav tm="100000">
                                          <p:val>
                                            <p:strVal val="#ppt_w"/>
                                          </p:val>
                                        </p:tav>
                                      </p:tavLst>
                                    </p:anim>
                                    <p:anim calcmode="lin" valueType="num">
                                      <p:cBhvr>
                                        <p:cTn id="13" dur="500" fill="hold"/>
                                        <p:tgtEl>
                                          <p:spTgt spid="5124"/>
                                        </p:tgtEl>
                                        <p:attrNameLst>
                                          <p:attrName>ppt_h</p:attrName>
                                        </p:attrNameLst>
                                      </p:cBhvr>
                                      <p:tavLst>
                                        <p:tav tm="0">
                                          <p:val>
                                            <p:strVal val="4/3*#ppt_h"/>
                                          </p:val>
                                        </p:tav>
                                        <p:tav tm="100000">
                                          <p:val>
                                            <p:strVal val="#ppt_h"/>
                                          </p:val>
                                        </p:tav>
                                      </p:tavLst>
                                    </p:anim>
                                  </p:childTnLst>
                                </p:cTn>
                              </p:par>
                            </p:childTnLst>
                          </p:cTn>
                        </p:par>
                        <p:par>
                          <p:cTn id="14" fill="hold">
                            <p:stCondLst>
                              <p:cond delay="1000"/>
                            </p:stCondLst>
                            <p:childTnLst>
                              <p:par>
                                <p:cTn id="15" presetID="23" presetClass="entr" presetSubtype="288" fill="hold" grpId="0" nodeType="afterEffect">
                                  <p:stCondLst>
                                    <p:cond delay="0"/>
                                  </p:stCondLst>
                                  <p:childTnLst>
                                    <p:set>
                                      <p:cBhvr>
                                        <p:cTn id="16" dur="1" fill="hold">
                                          <p:stCondLst>
                                            <p:cond delay="0"/>
                                          </p:stCondLst>
                                        </p:cTn>
                                        <p:tgtEl>
                                          <p:spTgt spid="5125"/>
                                        </p:tgtEl>
                                        <p:attrNameLst>
                                          <p:attrName>style.visibility</p:attrName>
                                        </p:attrNameLst>
                                      </p:cBhvr>
                                      <p:to>
                                        <p:strVal val="visible"/>
                                      </p:to>
                                    </p:set>
                                    <p:anim calcmode="lin" valueType="num">
                                      <p:cBhvr>
                                        <p:cTn id="17" dur="500" fill="hold"/>
                                        <p:tgtEl>
                                          <p:spTgt spid="5125"/>
                                        </p:tgtEl>
                                        <p:attrNameLst>
                                          <p:attrName>ppt_w</p:attrName>
                                        </p:attrNameLst>
                                      </p:cBhvr>
                                      <p:tavLst>
                                        <p:tav tm="0">
                                          <p:val>
                                            <p:strVal val="4/3*#ppt_w"/>
                                          </p:val>
                                        </p:tav>
                                        <p:tav tm="100000">
                                          <p:val>
                                            <p:strVal val="#ppt_w"/>
                                          </p:val>
                                        </p:tav>
                                      </p:tavLst>
                                    </p:anim>
                                    <p:anim calcmode="lin" valueType="num">
                                      <p:cBhvr>
                                        <p:cTn id="18" dur="500" fill="hold"/>
                                        <p:tgtEl>
                                          <p:spTgt spid="5125"/>
                                        </p:tgtEl>
                                        <p:attrNameLst>
                                          <p:attrName>ppt_h</p:attrName>
                                        </p:attrNameLst>
                                      </p:cBhvr>
                                      <p:tavLst>
                                        <p:tav tm="0">
                                          <p:val>
                                            <p:strVal val="4/3*#ppt_h"/>
                                          </p:val>
                                        </p:tav>
                                        <p:tav tm="100000">
                                          <p:val>
                                            <p:strVal val="#ppt_h"/>
                                          </p:val>
                                        </p:tav>
                                      </p:tavLst>
                                    </p:anim>
                                  </p:childTnLst>
                                </p:cTn>
                              </p:par>
                            </p:childTnLst>
                          </p:cTn>
                        </p:par>
                        <p:par>
                          <p:cTn id="19" fill="hold">
                            <p:stCondLst>
                              <p:cond delay="1500"/>
                            </p:stCondLst>
                            <p:childTnLst>
                              <p:par>
                                <p:cTn id="20" presetID="23" presetClass="entr" presetSubtype="288" fill="hold" grpId="0" nodeType="afterEffect">
                                  <p:stCondLst>
                                    <p:cond delay="0"/>
                                  </p:stCondLst>
                                  <p:childTnLst>
                                    <p:set>
                                      <p:cBhvr>
                                        <p:cTn id="21" dur="1" fill="hold">
                                          <p:stCondLst>
                                            <p:cond delay="0"/>
                                          </p:stCondLst>
                                        </p:cTn>
                                        <p:tgtEl>
                                          <p:spTgt spid="5126"/>
                                        </p:tgtEl>
                                        <p:attrNameLst>
                                          <p:attrName>style.visibility</p:attrName>
                                        </p:attrNameLst>
                                      </p:cBhvr>
                                      <p:to>
                                        <p:strVal val="visible"/>
                                      </p:to>
                                    </p:set>
                                    <p:anim calcmode="lin" valueType="num">
                                      <p:cBhvr>
                                        <p:cTn id="22" dur="500" fill="hold"/>
                                        <p:tgtEl>
                                          <p:spTgt spid="5126"/>
                                        </p:tgtEl>
                                        <p:attrNameLst>
                                          <p:attrName>ppt_w</p:attrName>
                                        </p:attrNameLst>
                                      </p:cBhvr>
                                      <p:tavLst>
                                        <p:tav tm="0">
                                          <p:val>
                                            <p:strVal val="4/3*#ppt_w"/>
                                          </p:val>
                                        </p:tav>
                                        <p:tav tm="100000">
                                          <p:val>
                                            <p:strVal val="#ppt_w"/>
                                          </p:val>
                                        </p:tav>
                                      </p:tavLst>
                                    </p:anim>
                                    <p:anim calcmode="lin" valueType="num">
                                      <p:cBhvr>
                                        <p:cTn id="23" dur="500" fill="hold"/>
                                        <p:tgtEl>
                                          <p:spTgt spid="5126"/>
                                        </p:tgtEl>
                                        <p:attrNameLst>
                                          <p:attrName>ppt_h</p:attrName>
                                        </p:attrNameLst>
                                      </p:cBhvr>
                                      <p:tavLst>
                                        <p:tav tm="0">
                                          <p:val>
                                            <p:strVal val="4/3*#ppt_h"/>
                                          </p:val>
                                        </p:tav>
                                        <p:tav tm="100000">
                                          <p:val>
                                            <p:strVal val="#ppt_h"/>
                                          </p:val>
                                        </p:tav>
                                      </p:tavLst>
                                    </p:anim>
                                  </p:childTnLst>
                                </p:cTn>
                              </p:par>
                            </p:childTnLst>
                          </p:cTn>
                        </p:par>
                        <p:par>
                          <p:cTn id="24" fill="hold">
                            <p:stCondLst>
                              <p:cond delay="2000"/>
                            </p:stCondLst>
                            <p:childTnLst>
                              <p:par>
                                <p:cTn id="25" presetID="23" presetClass="entr" presetSubtype="288" fill="hold" grpId="0" nodeType="afterEffect">
                                  <p:stCondLst>
                                    <p:cond delay="0"/>
                                  </p:stCondLst>
                                  <p:childTnLst>
                                    <p:set>
                                      <p:cBhvr>
                                        <p:cTn id="26" dur="1" fill="hold">
                                          <p:stCondLst>
                                            <p:cond delay="0"/>
                                          </p:stCondLst>
                                        </p:cTn>
                                        <p:tgtEl>
                                          <p:spTgt spid="5127"/>
                                        </p:tgtEl>
                                        <p:attrNameLst>
                                          <p:attrName>style.visibility</p:attrName>
                                        </p:attrNameLst>
                                      </p:cBhvr>
                                      <p:to>
                                        <p:strVal val="visible"/>
                                      </p:to>
                                    </p:set>
                                    <p:anim calcmode="lin" valueType="num">
                                      <p:cBhvr>
                                        <p:cTn id="27" dur="500" fill="hold"/>
                                        <p:tgtEl>
                                          <p:spTgt spid="5127"/>
                                        </p:tgtEl>
                                        <p:attrNameLst>
                                          <p:attrName>ppt_w</p:attrName>
                                        </p:attrNameLst>
                                      </p:cBhvr>
                                      <p:tavLst>
                                        <p:tav tm="0">
                                          <p:val>
                                            <p:strVal val="4/3*#ppt_w"/>
                                          </p:val>
                                        </p:tav>
                                        <p:tav tm="100000">
                                          <p:val>
                                            <p:strVal val="#ppt_w"/>
                                          </p:val>
                                        </p:tav>
                                      </p:tavLst>
                                    </p:anim>
                                    <p:anim calcmode="lin" valueType="num">
                                      <p:cBhvr>
                                        <p:cTn id="28" dur="500" fill="hold"/>
                                        <p:tgtEl>
                                          <p:spTgt spid="5127"/>
                                        </p:tgtEl>
                                        <p:attrNameLst>
                                          <p:attrName>ppt_h</p:attrName>
                                        </p:attrNameLst>
                                      </p:cBhvr>
                                      <p:tavLst>
                                        <p:tav tm="0">
                                          <p:val>
                                            <p:strVal val="4/3*#ppt_h"/>
                                          </p:val>
                                        </p:tav>
                                        <p:tav tm="100000">
                                          <p:val>
                                            <p:strVal val="#ppt_h"/>
                                          </p:val>
                                        </p:tav>
                                      </p:tavLst>
                                    </p:anim>
                                  </p:childTnLst>
                                </p:cTn>
                              </p:par>
                            </p:childTnLst>
                          </p:cTn>
                        </p:par>
                        <p:par>
                          <p:cTn id="29" fill="hold">
                            <p:stCondLst>
                              <p:cond delay="2500"/>
                            </p:stCondLst>
                            <p:childTnLst>
                              <p:par>
                                <p:cTn id="30" presetID="23" presetClass="entr" presetSubtype="288" fill="hold" grpId="0" nodeType="afterEffect">
                                  <p:stCondLst>
                                    <p:cond delay="0"/>
                                  </p:stCondLst>
                                  <p:childTnLst>
                                    <p:set>
                                      <p:cBhvr>
                                        <p:cTn id="31" dur="1" fill="hold">
                                          <p:stCondLst>
                                            <p:cond delay="0"/>
                                          </p:stCondLst>
                                        </p:cTn>
                                        <p:tgtEl>
                                          <p:spTgt spid="5128"/>
                                        </p:tgtEl>
                                        <p:attrNameLst>
                                          <p:attrName>style.visibility</p:attrName>
                                        </p:attrNameLst>
                                      </p:cBhvr>
                                      <p:to>
                                        <p:strVal val="visible"/>
                                      </p:to>
                                    </p:set>
                                    <p:anim calcmode="lin" valueType="num">
                                      <p:cBhvr>
                                        <p:cTn id="32" dur="500" fill="hold"/>
                                        <p:tgtEl>
                                          <p:spTgt spid="5128"/>
                                        </p:tgtEl>
                                        <p:attrNameLst>
                                          <p:attrName>ppt_w</p:attrName>
                                        </p:attrNameLst>
                                      </p:cBhvr>
                                      <p:tavLst>
                                        <p:tav tm="0">
                                          <p:val>
                                            <p:strVal val="4/3*#ppt_w"/>
                                          </p:val>
                                        </p:tav>
                                        <p:tav tm="100000">
                                          <p:val>
                                            <p:strVal val="#ppt_w"/>
                                          </p:val>
                                        </p:tav>
                                      </p:tavLst>
                                    </p:anim>
                                    <p:anim calcmode="lin" valueType="num">
                                      <p:cBhvr>
                                        <p:cTn id="33" dur="500" fill="hold"/>
                                        <p:tgtEl>
                                          <p:spTgt spid="5128"/>
                                        </p:tgtEl>
                                        <p:attrNameLst>
                                          <p:attrName>ppt_h</p:attrName>
                                        </p:attrNameLst>
                                      </p:cBhvr>
                                      <p:tavLst>
                                        <p:tav tm="0">
                                          <p:val>
                                            <p:strVal val="4/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autoUpdateAnimBg="0"/>
      <p:bldP spid="5124" grpId="0" autoUpdateAnimBg="0"/>
      <p:bldP spid="5125" grpId="0" autoUpdateAnimBg="0"/>
      <p:bldP spid="5126" grpId="0" autoUpdateAnimBg="0"/>
      <p:bldP spid="5127" grpId="0" autoUpdateAnimBg="0"/>
      <p:bldP spid="5128" grpId="0"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WordArt 2"/>
          <p:cNvSpPr>
            <a:spLocks noChangeArrowheads="1" noChangeShapeType="1" noTextEdit="1"/>
          </p:cNvSpPr>
          <p:nvPr/>
        </p:nvSpPr>
        <p:spPr bwMode="auto">
          <a:xfrm>
            <a:off x="2895600" y="609600"/>
            <a:ext cx="3028950" cy="457200"/>
          </a:xfrm>
          <a:prstGeom prst="rect">
            <a:avLst/>
          </a:prstGeom>
        </p:spPr>
        <p:txBody>
          <a:bodyPr wrap="none" fromWordArt="1">
            <a:prstTxWarp prst="textPlain">
              <a:avLst>
                <a:gd name="adj" fmla="val 50000"/>
              </a:avLst>
            </a:prstTxWarp>
          </a:bodyPr>
          <a:lstStyle/>
          <a:p>
            <a:pPr algn="ctr"/>
            <a:r>
              <a:rPr lang="en-IN" sz="3600" kern="10">
                <a:ln w="9525">
                  <a:solidFill>
                    <a:srgbClr val="000000"/>
                  </a:solidFill>
                  <a:round/>
                  <a:headEnd/>
                  <a:tailEnd/>
                </a:ln>
                <a:solidFill>
                  <a:srgbClr val="FF0066"/>
                </a:solidFill>
                <a:latin typeface="Arial Black"/>
              </a:rPr>
              <a:t>FUNCTIONS</a:t>
            </a:r>
          </a:p>
        </p:txBody>
      </p:sp>
      <p:sp>
        <p:nvSpPr>
          <p:cNvPr id="6147" name="WordArt 3"/>
          <p:cNvSpPr>
            <a:spLocks noChangeArrowheads="1" noChangeShapeType="1" noTextEdit="1"/>
          </p:cNvSpPr>
          <p:nvPr/>
        </p:nvSpPr>
        <p:spPr bwMode="auto">
          <a:xfrm>
            <a:off x="457200" y="2362200"/>
            <a:ext cx="3028950" cy="838200"/>
          </a:xfrm>
          <a:prstGeom prst="rect">
            <a:avLst/>
          </a:prstGeom>
        </p:spPr>
        <p:txBody>
          <a:bodyPr wrap="none" fromWordArt="1">
            <a:prstTxWarp prst="textPlain">
              <a:avLst>
                <a:gd name="adj" fmla="val 50000"/>
              </a:avLst>
            </a:prstTxWarp>
          </a:bodyPr>
          <a:lstStyle/>
          <a:p>
            <a:pPr algn="ctr"/>
            <a:r>
              <a:rPr lang="en-IN" sz="3600" kern="10">
                <a:ln w="9525">
                  <a:solidFill>
                    <a:srgbClr val="000000"/>
                  </a:solidFill>
                  <a:round/>
                  <a:headEnd/>
                  <a:tailEnd/>
                </a:ln>
                <a:solidFill>
                  <a:srgbClr val="FF0066"/>
                </a:solidFill>
                <a:latin typeface="Arial Black"/>
              </a:rPr>
              <a:t>Built-In</a:t>
            </a:r>
          </a:p>
          <a:p>
            <a:pPr algn="ctr"/>
            <a:r>
              <a:rPr lang="en-IN" sz="3600" kern="10">
                <a:ln w="9525">
                  <a:solidFill>
                    <a:srgbClr val="000000"/>
                  </a:solidFill>
                  <a:round/>
                  <a:headEnd/>
                  <a:tailEnd/>
                </a:ln>
                <a:solidFill>
                  <a:srgbClr val="FF0066"/>
                </a:solidFill>
                <a:latin typeface="Arial Black"/>
              </a:rPr>
              <a:t>Functions</a:t>
            </a:r>
          </a:p>
        </p:txBody>
      </p:sp>
      <p:sp>
        <p:nvSpPr>
          <p:cNvPr id="6148" name="WordArt 4"/>
          <p:cNvSpPr>
            <a:spLocks noChangeArrowheads="1" noChangeShapeType="1" noTextEdit="1"/>
          </p:cNvSpPr>
          <p:nvPr/>
        </p:nvSpPr>
        <p:spPr bwMode="auto">
          <a:xfrm>
            <a:off x="5410200" y="2438400"/>
            <a:ext cx="3028950" cy="838200"/>
          </a:xfrm>
          <a:prstGeom prst="rect">
            <a:avLst/>
          </a:prstGeom>
        </p:spPr>
        <p:txBody>
          <a:bodyPr wrap="none" fromWordArt="1">
            <a:prstTxWarp prst="textPlain">
              <a:avLst>
                <a:gd name="adj" fmla="val 50000"/>
              </a:avLst>
            </a:prstTxWarp>
          </a:bodyPr>
          <a:lstStyle/>
          <a:p>
            <a:pPr algn="ctr"/>
            <a:r>
              <a:rPr lang="en-IN" sz="3600" kern="10">
                <a:ln w="9525">
                  <a:solidFill>
                    <a:srgbClr val="000000"/>
                  </a:solidFill>
                  <a:round/>
                  <a:headEnd/>
                  <a:tailEnd/>
                </a:ln>
                <a:solidFill>
                  <a:srgbClr val="FF0066"/>
                </a:solidFill>
                <a:latin typeface="Arial Black"/>
              </a:rPr>
              <a:t>User-Defined</a:t>
            </a:r>
          </a:p>
          <a:p>
            <a:pPr algn="ctr"/>
            <a:r>
              <a:rPr lang="en-IN" sz="3600" kern="10">
                <a:ln w="9525">
                  <a:solidFill>
                    <a:srgbClr val="000000"/>
                  </a:solidFill>
                  <a:round/>
                  <a:headEnd/>
                  <a:tailEnd/>
                </a:ln>
                <a:solidFill>
                  <a:srgbClr val="FF0066"/>
                </a:solidFill>
                <a:latin typeface="Arial Black"/>
              </a:rPr>
              <a:t>Functions</a:t>
            </a:r>
          </a:p>
        </p:txBody>
      </p:sp>
      <p:sp>
        <p:nvSpPr>
          <p:cNvPr id="6149" name="Line 5"/>
          <p:cNvSpPr>
            <a:spLocks noChangeShapeType="1"/>
          </p:cNvSpPr>
          <p:nvPr/>
        </p:nvSpPr>
        <p:spPr bwMode="auto">
          <a:xfrm flipH="1">
            <a:off x="2286000" y="1143000"/>
            <a:ext cx="1752600" cy="1011238"/>
          </a:xfrm>
          <a:prstGeom prst="line">
            <a:avLst/>
          </a:prstGeom>
          <a:noFill/>
          <a:ln w="38100">
            <a:solidFill>
              <a:srgbClr val="990033"/>
            </a:solidFill>
            <a:round/>
            <a:headEnd/>
            <a:tailEnd type="triangle" w="med" len="med"/>
          </a:ln>
        </p:spPr>
        <p:txBody>
          <a:bodyPr/>
          <a:lstStyle/>
          <a:p>
            <a:endParaRPr lang="en-IN"/>
          </a:p>
        </p:txBody>
      </p:sp>
      <p:sp>
        <p:nvSpPr>
          <p:cNvPr id="6150" name="Line 6"/>
          <p:cNvSpPr>
            <a:spLocks noChangeShapeType="1"/>
          </p:cNvSpPr>
          <p:nvPr/>
        </p:nvSpPr>
        <p:spPr bwMode="auto">
          <a:xfrm>
            <a:off x="4267200" y="1143000"/>
            <a:ext cx="1905000" cy="1100138"/>
          </a:xfrm>
          <a:prstGeom prst="line">
            <a:avLst/>
          </a:prstGeom>
          <a:noFill/>
          <a:ln w="38100">
            <a:solidFill>
              <a:srgbClr val="990033"/>
            </a:solidFill>
            <a:round/>
            <a:headEnd/>
            <a:tailEnd type="triangle" w="med" len="med"/>
          </a:ln>
        </p:spPr>
        <p:txBody>
          <a:bodyPr/>
          <a:lstStyle/>
          <a:p>
            <a:endParaRPr lang="en-IN"/>
          </a:p>
        </p:txBody>
      </p:sp>
      <p:grpSp>
        <p:nvGrpSpPr>
          <p:cNvPr id="2" name="Group 7"/>
          <p:cNvGrpSpPr>
            <a:grpSpLocks/>
          </p:cNvGrpSpPr>
          <p:nvPr/>
        </p:nvGrpSpPr>
        <p:grpSpPr bwMode="auto">
          <a:xfrm>
            <a:off x="228600" y="3657600"/>
            <a:ext cx="3048000" cy="1828800"/>
            <a:chOff x="192" y="2304"/>
            <a:chExt cx="1920" cy="1152"/>
          </a:xfrm>
        </p:grpSpPr>
        <p:sp>
          <p:nvSpPr>
            <p:cNvPr id="12297" name="AutoShape 8"/>
            <p:cNvSpPr>
              <a:spLocks/>
            </p:cNvSpPr>
            <p:nvPr/>
          </p:nvSpPr>
          <p:spPr bwMode="auto">
            <a:xfrm>
              <a:off x="192" y="2304"/>
              <a:ext cx="240" cy="1152"/>
            </a:xfrm>
            <a:prstGeom prst="leftBracket">
              <a:avLst>
                <a:gd name="adj" fmla="val 40000"/>
              </a:avLst>
            </a:prstGeom>
            <a:noFill/>
            <a:ln w="9525">
              <a:solidFill>
                <a:srgbClr val="990033"/>
              </a:solidFill>
              <a:round/>
              <a:headEnd/>
              <a:tailEnd/>
            </a:ln>
          </p:spPr>
          <p:txBody>
            <a:bodyPr wrap="none" anchor="ctr"/>
            <a:lstStyle/>
            <a:p>
              <a:endParaRPr lang="en-US"/>
            </a:p>
          </p:txBody>
        </p:sp>
        <p:sp>
          <p:nvSpPr>
            <p:cNvPr id="12298" name="AutoShape 9"/>
            <p:cNvSpPr>
              <a:spLocks/>
            </p:cNvSpPr>
            <p:nvPr/>
          </p:nvSpPr>
          <p:spPr bwMode="auto">
            <a:xfrm>
              <a:off x="1296" y="2334"/>
              <a:ext cx="240" cy="1122"/>
            </a:xfrm>
            <a:prstGeom prst="rightBracket">
              <a:avLst>
                <a:gd name="adj" fmla="val 38331"/>
              </a:avLst>
            </a:prstGeom>
            <a:noFill/>
            <a:ln w="9525">
              <a:solidFill>
                <a:srgbClr val="990033"/>
              </a:solidFill>
              <a:round/>
              <a:headEnd/>
              <a:tailEnd/>
            </a:ln>
          </p:spPr>
          <p:txBody>
            <a:bodyPr wrap="none" anchor="ctr"/>
            <a:lstStyle/>
            <a:p>
              <a:endParaRPr lang="en-US"/>
            </a:p>
          </p:txBody>
        </p:sp>
        <p:sp>
          <p:nvSpPr>
            <p:cNvPr id="12299" name="Text Box 10"/>
            <p:cNvSpPr txBox="1">
              <a:spLocks noChangeArrowheads="1"/>
            </p:cNvSpPr>
            <p:nvPr/>
          </p:nvSpPr>
          <p:spPr bwMode="auto">
            <a:xfrm>
              <a:off x="480" y="2304"/>
              <a:ext cx="1632" cy="1095"/>
            </a:xfrm>
            <a:prstGeom prst="rect">
              <a:avLst/>
            </a:prstGeom>
            <a:noFill/>
            <a:ln w="9525">
              <a:noFill/>
              <a:miter lim="800000"/>
              <a:headEnd/>
              <a:tailEnd/>
            </a:ln>
          </p:spPr>
          <p:txBody>
            <a:bodyPr>
              <a:spAutoFit/>
            </a:bodyPr>
            <a:lstStyle/>
            <a:p>
              <a:pPr>
                <a:lnSpc>
                  <a:spcPct val="75000"/>
                </a:lnSpc>
                <a:spcBef>
                  <a:spcPct val="50000"/>
                </a:spcBef>
              </a:pPr>
              <a:r>
                <a:rPr lang="en-US" sz="2400" b="1">
                  <a:solidFill>
                    <a:srgbClr val="990033"/>
                  </a:solidFill>
                </a:rPr>
                <a:t>cin</a:t>
              </a:r>
            </a:p>
            <a:p>
              <a:pPr>
                <a:lnSpc>
                  <a:spcPct val="75000"/>
                </a:lnSpc>
                <a:spcBef>
                  <a:spcPct val="50000"/>
                </a:spcBef>
              </a:pPr>
              <a:r>
                <a:rPr lang="en-US" sz="2400" b="1">
                  <a:solidFill>
                    <a:srgbClr val="990033"/>
                  </a:solidFill>
                </a:rPr>
                <a:t>cout</a:t>
              </a:r>
            </a:p>
            <a:p>
              <a:pPr>
                <a:lnSpc>
                  <a:spcPct val="75000"/>
                </a:lnSpc>
                <a:spcBef>
                  <a:spcPct val="50000"/>
                </a:spcBef>
              </a:pPr>
              <a:r>
                <a:rPr lang="en-US" sz="2400" b="1">
                  <a:solidFill>
                    <a:srgbClr val="990033"/>
                  </a:solidFill>
                </a:rPr>
                <a:t>gets()</a:t>
              </a:r>
            </a:p>
            <a:p>
              <a:pPr>
                <a:lnSpc>
                  <a:spcPct val="75000"/>
                </a:lnSpc>
                <a:spcBef>
                  <a:spcPct val="50000"/>
                </a:spcBef>
              </a:pPr>
              <a:r>
                <a:rPr lang="en-US" sz="2400" b="1">
                  <a:solidFill>
                    <a:srgbClr val="990033"/>
                  </a:solidFill>
                </a:rPr>
                <a:t>puts()</a:t>
              </a:r>
            </a:p>
          </p:txBody>
        </p:sp>
      </p:grpSp>
      <p:sp>
        <p:nvSpPr>
          <p:cNvPr id="6155" name="AutoShape 11"/>
          <p:cNvSpPr>
            <a:spLocks/>
          </p:cNvSpPr>
          <p:nvPr/>
        </p:nvSpPr>
        <p:spPr bwMode="auto">
          <a:xfrm>
            <a:off x="4724400" y="4038600"/>
            <a:ext cx="3886200" cy="1293813"/>
          </a:xfrm>
          <a:prstGeom prst="borderCallout3">
            <a:avLst>
              <a:gd name="adj1" fmla="val -1875"/>
              <a:gd name="adj2" fmla="val 88773"/>
              <a:gd name="adj3" fmla="val -1875"/>
              <a:gd name="adj4" fmla="val 89130"/>
              <a:gd name="adj5" fmla="val -28222"/>
              <a:gd name="adj6" fmla="val 101963"/>
              <a:gd name="adj7" fmla="val -56194"/>
              <a:gd name="adj8" fmla="val 41463"/>
            </a:avLst>
          </a:prstGeom>
          <a:solidFill>
            <a:schemeClr val="accent1"/>
          </a:solidFill>
          <a:ln w="19050">
            <a:solidFill>
              <a:schemeClr val="tx1"/>
            </a:solidFill>
            <a:miter lim="800000"/>
            <a:headEnd/>
            <a:tailEnd/>
          </a:ln>
        </p:spPr>
        <p:txBody>
          <a:bodyPr/>
          <a:lstStyle/>
          <a:p>
            <a:pPr algn="ctr"/>
            <a:r>
              <a:rPr lang="en-US" sz="2400" b="1">
                <a:solidFill>
                  <a:srgbClr val="990033"/>
                </a:solidFill>
              </a:rPr>
              <a:t>A series of Instructions that are to be executed more than once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grpId="0" nodeType="withEffect">
                                  <p:stCondLst>
                                    <p:cond delay="0"/>
                                  </p:stCondLst>
                                  <p:childTnLst>
                                    <p:set>
                                      <p:cBhvr>
                                        <p:cTn id="6" dur="1" fill="hold">
                                          <p:stCondLst>
                                            <p:cond delay="0"/>
                                          </p:stCondLst>
                                        </p:cTn>
                                        <p:tgtEl>
                                          <p:spTgt spid="6146"/>
                                        </p:tgtEl>
                                        <p:attrNameLst>
                                          <p:attrName>style.visibility</p:attrName>
                                        </p:attrNameLst>
                                      </p:cBhvr>
                                      <p:to>
                                        <p:strVal val="visible"/>
                                      </p:to>
                                    </p:set>
                                    <p:animEffect transition="in" filter="wedge">
                                      <p:cBhvr>
                                        <p:cTn id="7" dur="2000"/>
                                        <p:tgtEl>
                                          <p:spTgt spid="6146"/>
                                        </p:tgtEl>
                                      </p:cBhvr>
                                    </p:animEffect>
                                  </p:childTnLst>
                                </p:cTn>
                              </p:par>
                            </p:childTnLst>
                          </p:cTn>
                        </p:par>
                        <p:par>
                          <p:cTn id="8" fill="hold">
                            <p:stCondLst>
                              <p:cond delay="2000"/>
                            </p:stCondLst>
                            <p:childTnLst>
                              <p:par>
                                <p:cTn id="9" presetID="18" presetClass="entr" presetSubtype="12" fill="hold" grpId="0" nodeType="afterEffect">
                                  <p:stCondLst>
                                    <p:cond delay="0"/>
                                  </p:stCondLst>
                                  <p:childTnLst>
                                    <p:set>
                                      <p:cBhvr>
                                        <p:cTn id="10" dur="1" fill="hold">
                                          <p:stCondLst>
                                            <p:cond delay="0"/>
                                          </p:stCondLst>
                                        </p:cTn>
                                        <p:tgtEl>
                                          <p:spTgt spid="6149"/>
                                        </p:tgtEl>
                                        <p:attrNameLst>
                                          <p:attrName>style.visibility</p:attrName>
                                        </p:attrNameLst>
                                      </p:cBhvr>
                                      <p:to>
                                        <p:strVal val="visible"/>
                                      </p:to>
                                    </p:set>
                                    <p:animEffect transition="in" filter="strips(downLeft)">
                                      <p:cBhvr>
                                        <p:cTn id="11" dur="2000"/>
                                        <p:tgtEl>
                                          <p:spTgt spid="6149"/>
                                        </p:tgtEl>
                                      </p:cBhvr>
                                    </p:animEffect>
                                  </p:childTnLst>
                                </p:cTn>
                              </p:par>
                            </p:childTnLst>
                          </p:cTn>
                        </p:par>
                        <p:par>
                          <p:cTn id="12" fill="hold">
                            <p:stCondLst>
                              <p:cond delay="4000"/>
                            </p:stCondLst>
                            <p:childTnLst>
                              <p:par>
                                <p:cTn id="13" presetID="23" presetClass="entr" presetSubtype="36" fill="hold" grpId="0" nodeType="afterEffect">
                                  <p:stCondLst>
                                    <p:cond delay="0"/>
                                  </p:stCondLst>
                                  <p:childTnLst>
                                    <p:set>
                                      <p:cBhvr>
                                        <p:cTn id="14" dur="1" fill="hold">
                                          <p:stCondLst>
                                            <p:cond delay="0"/>
                                          </p:stCondLst>
                                        </p:cTn>
                                        <p:tgtEl>
                                          <p:spTgt spid="6147"/>
                                        </p:tgtEl>
                                        <p:attrNameLst>
                                          <p:attrName>style.visibility</p:attrName>
                                        </p:attrNameLst>
                                      </p:cBhvr>
                                      <p:to>
                                        <p:strVal val="visible"/>
                                      </p:to>
                                    </p:set>
                                    <p:anim calcmode="lin" valueType="num">
                                      <p:cBhvr>
                                        <p:cTn id="15" dur="500" fill="hold"/>
                                        <p:tgtEl>
                                          <p:spTgt spid="6147"/>
                                        </p:tgtEl>
                                        <p:attrNameLst>
                                          <p:attrName>ppt_w</p:attrName>
                                        </p:attrNameLst>
                                      </p:cBhvr>
                                      <p:tavLst>
                                        <p:tav tm="0">
                                          <p:val>
                                            <p:strVal val="(6*min(max(#ppt_w*#ppt_h,.3),1)-7.4)/-.7*#ppt_w"/>
                                          </p:val>
                                        </p:tav>
                                        <p:tav tm="100000">
                                          <p:val>
                                            <p:strVal val="#ppt_w"/>
                                          </p:val>
                                        </p:tav>
                                      </p:tavLst>
                                    </p:anim>
                                    <p:anim calcmode="lin" valueType="num">
                                      <p:cBhvr>
                                        <p:cTn id="16" dur="500" fill="hold"/>
                                        <p:tgtEl>
                                          <p:spTgt spid="6147"/>
                                        </p:tgtEl>
                                        <p:attrNameLst>
                                          <p:attrName>ppt_h</p:attrName>
                                        </p:attrNameLst>
                                      </p:cBhvr>
                                      <p:tavLst>
                                        <p:tav tm="0">
                                          <p:val>
                                            <p:strVal val="(6*min(max(#ppt_w*#ppt_h,.3),1)-7.4)/-.7*#ppt_h"/>
                                          </p:val>
                                        </p:tav>
                                        <p:tav tm="100000">
                                          <p:val>
                                            <p:strVal val="#ppt_h"/>
                                          </p:val>
                                        </p:tav>
                                      </p:tavLst>
                                    </p:anim>
                                    <p:anim calcmode="lin" valueType="num">
                                      <p:cBhvr>
                                        <p:cTn id="17" dur="500" fill="hold"/>
                                        <p:tgtEl>
                                          <p:spTgt spid="6147"/>
                                        </p:tgtEl>
                                        <p:attrNameLst>
                                          <p:attrName>ppt_x</p:attrName>
                                        </p:attrNameLst>
                                      </p:cBhvr>
                                      <p:tavLst>
                                        <p:tav tm="0">
                                          <p:val>
                                            <p:fltVal val="0.5"/>
                                          </p:val>
                                        </p:tav>
                                        <p:tav tm="100000">
                                          <p:val>
                                            <p:strVal val="#ppt_x"/>
                                          </p:val>
                                        </p:tav>
                                      </p:tavLst>
                                    </p:anim>
                                    <p:anim calcmode="lin" valueType="num">
                                      <p:cBhvr>
                                        <p:cTn id="18" dur="500" fill="hold"/>
                                        <p:tgtEl>
                                          <p:spTgt spid="6147"/>
                                        </p:tgtEl>
                                        <p:attrNameLst>
                                          <p:attrName>ppt_y</p:attrName>
                                        </p:attrNameLst>
                                      </p:cBhvr>
                                      <p:tavLst>
                                        <p:tav tm="0">
                                          <p:val>
                                            <p:strVal val="1+(6*min(max(#ppt_w*#ppt_h,.3),1)-7.4)/-.7*#ppt_h/2"/>
                                          </p:val>
                                        </p:tav>
                                        <p:tav tm="100000">
                                          <p:val>
                                            <p:strVal val="#ppt_y"/>
                                          </p:val>
                                        </p:tav>
                                      </p:tavLst>
                                    </p:anim>
                                  </p:childTnLst>
                                </p:cTn>
                              </p:par>
                            </p:childTnLst>
                          </p:cTn>
                        </p:par>
                        <p:par>
                          <p:cTn id="19" fill="hold">
                            <p:stCondLst>
                              <p:cond delay="4500"/>
                            </p:stCondLst>
                            <p:childTnLst>
                              <p:par>
                                <p:cTn id="20" presetID="18" presetClass="entr" presetSubtype="12" fill="hold" grpId="0" nodeType="afterEffect">
                                  <p:stCondLst>
                                    <p:cond delay="0"/>
                                  </p:stCondLst>
                                  <p:childTnLst>
                                    <p:set>
                                      <p:cBhvr>
                                        <p:cTn id="21" dur="1" fill="hold">
                                          <p:stCondLst>
                                            <p:cond delay="0"/>
                                          </p:stCondLst>
                                        </p:cTn>
                                        <p:tgtEl>
                                          <p:spTgt spid="6150"/>
                                        </p:tgtEl>
                                        <p:attrNameLst>
                                          <p:attrName>style.visibility</p:attrName>
                                        </p:attrNameLst>
                                      </p:cBhvr>
                                      <p:to>
                                        <p:strVal val="visible"/>
                                      </p:to>
                                    </p:set>
                                    <p:animEffect transition="in" filter="strips(downLeft)">
                                      <p:cBhvr>
                                        <p:cTn id="22" dur="2000"/>
                                        <p:tgtEl>
                                          <p:spTgt spid="6150"/>
                                        </p:tgtEl>
                                      </p:cBhvr>
                                    </p:animEffect>
                                  </p:childTnLst>
                                </p:cTn>
                              </p:par>
                            </p:childTnLst>
                          </p:cTn>
                        </p:par>
                        <p:par>
                          <p:cTn id="23" fill="hold">
                            <p:stCondLst>
                              <p:cond delay="6500"/>
                            </p:stCondLst>
                            <p:childTnLst>
                              <p:par>
                                <p:cTn id="24" presetID="23" presetClass="entr" presetSubtype="36" fill="hold" grpId="0" nodeType="afterEffect">
                                  <p:stCondLst>
                                    <p:cond delay="0"/>
                                  </p:stCondLst>
                                  <p:childTnLst>
                                    <p:set>
                                      <p:cBhvr>
                                        <p:cTn id="25" dur="1" fill="hold">
                                          <p:stCondLst>
                                            <p:cond delay="0"/>
                                          </p:stCondLst>
                                        </p:cTn>
                                        <p:tgtEl>
                                          <p:spTgt spid="6148"/>
                                        </p:tgtEl>
                                        <p:attrNameLst>
                                          <p:attrName>style.visibility</p:attrName>
                                        </p:attrNameLst>
                                      </p:cBhvr>
                                      <p:to>
                                        <p:strVal val="visible"/>
                                      </p:to>
                                    </p:set>
                                    <p:anim calcmode="lin" valueType="num">
                                      <p:cBhvr>
                                        <p:cTn id="26" dur="500" fill="hold"/>
                                        <p:tgtEl>
                                          <p:spTgt spid="6148"/>
                                        </p:tgtEl>
                                        <p:attrNameLst>
                                          <p:attrName>ppt_w</p:attrName>
                                        </p:attrNameLst>
                                      </p:cBhvr>
                                      <p:tavLst>
                                        <p:tav tm="0">
                                          <p:val>
                                            <p:strVal val="(6*min(max(#ppt_w*#ppt_h,.3),1)-7.4)/-.7*#ppt_w"/>
                                          </p:val>
                                        </p:tav>
                                        <p:tav tm="100000">
                                          <p:val>
                                            <p:strVal val="#ppt_w"/>
                                          </p:val>
                                        </p:tav>
                                      </p:tavLst>
                                    </p:anim>
                                    <p:anim calcmode="lin" valueType="num">
                                      <p:cBhvr>
                                        <p:cTn id="27" dur="500" fill="hold"/>
                                        <p:tgtEl>
                                          <p:spTgt spid="6148"/>
                                        </p:tgtEl>
                                        <p:attrNameLst>
                                          <p:attrName>ppt_h</p:attrName>
                                        </p:attrNameLst>
                                      </p:cBhvr>
                                      <p:tavLst>
                                        <p:tav tm="0">
                                          <p:val>
                                            <p:strVal val="(6*min(max(#ppt_w*#ppt_h,.3),1)-7.4)/-.7*#ppt_h"/>
                                          </p:val>
                                        </p:tav>
                                        <p:tav tm="100000">
                                          <p:val>
                                            <p:strVal val="#ppt_h"/>
                                          </p:val>
                                        </p:tav>
                                      </p:tavLst>
                                    </p:anim>
                                    <p:anim calcmode="lin" valueType="num">
                                      <p:cBhvr>
                                        <p:cTn id="28" dur="500" fill="hold"/>
                                        <p:tgtEl>
                                          <p:spTgt spid="6148"/>
                                        </p:tgtEl>
                                        <p:attrNameLst>
                                          <p:attrName>ppt_x</p:attrName>
                                        </p:attrNameLst>
                                      </p:cBhvr>
                                      <p:tavLst>
                                        <p:tav tm="0">
                                          <p:val>
                                            <p:fltVal val="0.5"/>
                                          </p:val>
                                        </p:tav>
                                        <p:tav tm="100000">
                                          <p:val>
                                            <p:strVal val="#ppt_x"/>
                                          </p:val>
                                        </p:tav>
                                      </p:tavLst>
                                    </p:anim>
                                    <p:anim calcmode="lin" valueType="num">
                                      <p:cBhvr>
                                        <p:cTn id="29" dur="500" fill="hold"/>
                                        <p:tgtEl>
                                          <p:spTgt spid="6148"/>
                                        </p:tgtEl>
                                        <p:attrNameLst>
                                          <p:attrName>ppt_y</p:attrName>
                                        </p:attrNameLst>
                                      </p:cBhvr>
                                      <p:tavLst>
                                        <p:tav tm="0">
                                          <p:val>
                                            <p:strVal val="1+(6*min(max(#ppt_w*#ppt_h,.3),1)-7.4)/-.7*#ppt_h/2"/>
                                          </p:val>
                                        </p:tav>
                                        <p:tav tm="100000">
                                          <p:val>
                                            <p:strVal val="#ppt_y"/>
                                          </p:val>
                                        </p:tav>
                                      </p:tavLst>
                                    </p:anim>
                                  </p:childTnLst>
                                </p:cTn>
                              </p:par>
                            </p:childTnLst>
                          </p:cTn>
                        </p:par>
                        <p:par>
                          <p:cTn id="30" fill="hold">
                            <p:stCondLst>
                              <p:cond delay="7000"/>
                            </p:stCondLst>
                            <p:childTnLst>
                              <p:par>
                                <p:cTn id="31" presetID="20" presetClass="entr" presetSubtype="0" fill="hold" nodeType="after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wedge">
                                      <p:cBhvr>
                                        <p:cTn id="33" dur="2000"/>
                                        <p:tgtEl>
                                          <p:spTgt spid="2"/>
                                        </p:tgtEl>
                                      </p:cBhvr>
                                    </p:animEffect>
                                  </p:childTnLst>
                                </p:cTn>
                              </p:par>
                            </p:childTnLst>
                          </p:cTn>
                        </p:par>
                        <p:par>
                          <p:cTn id="34" fill="hold">
                            <p:stCondLst>
                              <p:cond delay="9000"/>
                            </p:stCondLst>
                            <p:childTnLst>
                              <p:par>
                                <p:cTn id="35" presetID="18" presetClass="entr" presetSubtype="12" fill="hold" grpId="0" nodeType="afterEffect">
                                  <p:stCondLst>
                                    <p:cond delay="0"/>
                                  </p:stCondLst>
                                  <p:childTnLst>
                                    <p:set>
                                      <p:cBhvr>
                                        <p:cTn id="36" dur="1" fill="hold">
                                          <p:stCondLst>
                                            <p:cond delay="0"/>
                                          </p:stCondLst>
                                        </p:cTn>
                                        <p:tgtEl>
                                          <p:spTgt spid="6155"/>
                                        </p:tgtEl>
                                        <p:attrNameLst>
                                          <p:attrName>style.visibility</p:attrName>
                                        </p:attrNameLst>
                                      </p:cBhvr>
                                      <p:to>
                                        <p:strVal val="visible"/>
                                      </p:to>
                                    </p:set>
                                    <p:animEffect transition="in" filter="strips(downLeft)">
                                      <p:cBhvr>
                                        <p:cTn id="37" dur="500"/>
                                        <p:tgtEl>
                                          <p:spTgt spid="61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animBg="1"/>
      <p:bldP spid="6147" grpId="0" animBg="1"/>
      <p:bldP spid="6148" grpId="0" animBg="1"/>
      <p:bldP spid="6149" grpId="0" animBg="1"/>
      <p:bldP spid="6150" grpId="0" animBg="1"/>
      <p:bldP spid="6155"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ChangeArrowheads="1"/>
          </p:cNvSpPr>
          <p:nvPr/>
        </p:nvSpPr>
        <p:spPr bwMode="auto">
          <a:xfrm>
            <a:off x="457200" y="420688"/>
            <a:ext cx="8382000" cy="5949950"/>
          </a:xfrm>
          <a:prstGeom prst="rect">
            <a:avLst/>
          </a:prstGeom>
          <a:solidFill>
            <a:schemeClr val="accent1"/>
          </a:solidFill>
          <a:ln w="9525">
            <a:solidFill>
              <a:schemeClr val="bg1"/>
            </a:solidFill>
            <a:miter lim="800000"/>
            <a:headEnd/>
            <a:tailEnd/>
          </a:ln>
        </p:spPr>
        <p:txBody>
          <a:bodyPr>
            <a:spAutoFit/>
          </a:bodyPr>
          <a:lstStyle/>
          <a:p>
            <a:r>
              <a:rPr lang="en-US" sz="3200" b="1" u="sng">
                <a:latin typeface="Times New Roman" pitchFamily="18" charset="0"/>
              </a:rPr>
              <a:t>USER DEFINED FUNCTION :</a:t>
            </a:r>
          </a:p>
          <a:p>
            <a:r>
              <a:rPr lang="en-US" sz="3200" b="1">
                <a:solidFill>
                  <a:srgbClr val="FF0066"/>
                </a:solidFill>
                <a:latin typeface="Times New Roman" pitchFamily="18" charset="0"/>
              </a:rPr>
              <a:t>SYNTAX :</a:t>
            </a:r>
          </a:p>
          <a:p>
            <a:r>
              <a:rPr lang="en-US" sz="3200" b="1">
                <a:latin typeface="Times New Roman" pitchFamily="18" charset="0"/>
              </a:rPr>
              <a:t>  return_datatype func_name(arguments)</a:t>
            </a:r>
          </a:p>
          <a:p>
            <a:r>
              <a:rPr lang="en-US" sz="3200" b="1">
                <a:latin typeface="Times New Roman" pitchFamily="18" charset="0"/>
              </a:rPr>
              <a:t>{</a:t>
            </a:r>
          </a:p>
          <a:p>
            <a:r>
              <a:rPr lang="en-US" sz="3200" b="1">
                <a:latin typeface="Times New Roman" pitchFamily="18" charset="0"/>
              </a:rPr>
              <a:t>  Body of the function;</a:t>
            </a:r>
          </a:p>
          <a:p>
            <a:r>
              <a:rPr lang="en-US" sz="3200" b="1">
                <a:latin typeface="Times New Roman" pitchFamily="18" charset="0"/>
              </a:rPr>
              <a:t>  statements;</a:t>
            </a:r>
          </a:p>
          <a:p>
            <a:r>
              <a:rPr lang="en-US" sz="3200" b="1">
                <a:latin typeface="Times New Roman" pitchFamily="18" charset="0"/>
              </a:rPr>
              <a:t>  return;</a:t>
            </a:r>
          </a:p>
          <a:p>
            <a:r>
              <a:rPr lang="en-US" sz="3200" b="1">
                <a:latin typeface="Times New Roman" pitchFamily="18" charset="0"/>
              </a:rPr>
              <a:t>}</a:t>
            </a:r>
          </a:p>
          <a:p>
            <a:endParaRPr lang="en-US" sz="3200" b="1">
              <a:latin typeface="Times New Roman" pitchFamily="18" charset="0"/>
            </a:endParaRPr>
          </a:p>
          <a:p>
            <a:r>
              <a:rPr lang="en-US" sz="3200" b="1" u="sng">
                <a:latin typeface="Times New Roman" pitchFamily="18" charset="0"/>
              </a:rPr>
              <a:t>call the function from main() :</a:t>
            </a:r>
          </a:p>
          <a:p>
            <a:r>
              <a:rPr lang="en-US" sz="3200" b="1">
                <a:solidFill>
                  <a:srgbClr val="FF0066"/>
                </a:solidFill>
                <a:latin typeface="Times New Roman" pitchFamily="18" charset="0"/>
              </a:rPr>
              <a:t>syntax :</a:t>
            </a:r>
          </a:p>
          <a:p>
            <a:r>
              <a:rPr lang="en-US" sz="3200" b="1">
                <a:latin typeface="Times New Roman" pitchFamily="18" charset="0"/>
              </a:rPr>
              <a:t>     func_name(arguments );</a:t>
            </a:r>
          </a:p>
        </p:txBody>
      </p:sp>
    </p:spTree>
  </p:cSld>
  <p:clrMapOvr>
    <a:masterClrMapping/>
  </p:clrMapOvr>
  <p:transition spd="med">
    <p:zoom/>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ChangeArrowheads="1"/>
          </p:cNvSpPr>
          <p:nvPr/>
        </p:nvSpPr>
        <p:spPr bwMode="auto">
          <a:xfrm>
            <a:off x="228600" y="609600"/>
            <a:ext cx="8305800" cy="6003925"/>
          </a:xfrm>
          <a:prstGeom prst="rect">
            <a:avLst/>
          </a:prstGeom>
          <a:solidFill>
            <a:schemeClr val="accent1"/>
          </a:solidFill>
          <a:ln w="9525">
            <a:solidFill>
              <a:schemeClr val="bg1"/>
            </a:solidFill>
            <a:miter lim="800000"/>
            <a:headEnd/>
            <a:tailEnd/>
          </a:ln>
        </p:spPr>
        <p:txBody>
          <a:bodyPr>
            <a:spAutoFit/>
          </a:bodyPr>
          <a:lstStyle/>
          <a:p>
            <a:pPr>
              <a:lnSpc>
                <a:spcPct val="115000"/>
              </a:lnSpc>
            </a:pPr>
            <a:r>
              <a:rPr lang="en-US" sz="2400" b="1">
                <a:latin typeface="Times New Roman" pitchFamily="18" charset="0"/>
              </a:rPr>
              <a:t>#include&lt;iostream.h&gt;</a:t>
            </a:r>
          </a:p>
          <a:p>
            <a:pPr>
              <a:lnSpc>
                <a:spcPct val="115000"/>
              </a:lnSpc>
            </a:pPr>
            <a:r>
              <a:rPr lang="en-US" sz="2400" b="1">
                <a:latin typeface="Times New Roman" pitchFamily="18" charset="0"/>
              </a:rPr>
              <a:t>#include&lt;conio.h&gt;</a:t>
            </a:r>
          </a:p>
          <a:p>
            <a:pPr>
              <a:lnSpc>
                <a:spcPct val="115000"/>
              </a:lnSpc>
            </a:pPr>
            <a:r>
              <a:rPr lang="en-US" sz="2400" b="1">
                <a:latin typeface="Times New Roman" pitchFamily="18" charset="0"/>
              </a:rPr>
              <a:t>void hai();  // function prototype declaration</a:t>
            </a:r>
          </a:p>
          <a:p>
            <a:pPr>
              <a:lnSpc>
                <a:spcPct val="115000"/>
              </a:lnSpc>
            </a:pPr>
            <a:r>
              <a:rPr lang="en-US" sz="2400" b="1">
                <a:latin typeface="Times New Roman" pitchFamily="18" charset="0"/>
              </a:rPr>
              <a:t>void hai()    //definition</a:t>
            </a:r>
          </a:p>
          <a:p>
            <a:pPr>
              <a:lnSpc>
                <a:spcPct val="115000"/>
              </a:lnSpc>
            </a:pPr>
            <a:r>
              <a:rPr lang="en-US" sz="2400" b="1">
                <a:latin typeface="Times New Roman" pitchFamily="18" charset="0"/>
              </a:rPr>
              <a:t>{</a:t>
            </a:r>
          </a:p>
          <a:p>
            <a:pPr>
              <a:lnSpc>
                <a:spcPct val="115000"/>
              </a:lnSpc>
            </a:pPr>
            <a:r>
              <a:rPr lang="en-US" sz="2400" b="1">
                <a:latin typeface="Times New Roman" pitchFamily="18" charset="0"/>
              </a:rPr>
              <a:t>Cout&lt;&lt;" Welcome to functions\n";</a:t>
            </a:r>
          </a:p>
          <a:p>
            <a:pPr>
              <a:lnSpc>
                <a:spcPct val="115000"/>
              </a:lnSpc>
            </a:pPr>
            <a:r>
              <a:rPr lang="en-US" sz="2400" b="1">
                <a:latin typeface="Times New Roman" pitchFamily="18" charset="0"/>
              </a:rPr>
              <a:t>Cout&lt;&lt;"Good Morning\n";</a:t>
            </a:r>
          </a:p>
          <a:p>
            <a:pPr>
              <a:lnSpc>
                <a:spcPct val="115000"/>
              </a:lnSpc>
            </a:pPr>
            <a:r>
              <a:rPr lang="en-US" sz="2400" b="1">
                <a:latin typeface="Times New Roman" pitchFamily="18" charset="0"/>
              </a:rPr>
              <a:t>}</a:t>
            </a:r>
          </a:p>
          <a:p>
            <a:pPr>
              <a:lnSpc>
                <a:spcPct val="115000"/>
              </a:lnSpc>
            </a:pPr>
            <a:r>
              <a:rPr lang="en-US" sz="2400" b="1">
                <a:latin typeface="Times New Roman" pitchFamily="18" charset="0"/>
              </a:rPr>
              <a:t>void main()</a:t>
            </a:r>
          </a:p>
          <a:p>
            <a:pPr>
              <a:lnSpc>
                <a:spcPct val="115000"/>
              </a:lnSpc>
            </a:pPr>
            <a:r>
              <a:rPr lang="en-US" sz="2400" b="1">
                <a:latin typeface="Times New Roman" pitchFamily="18" charset="0"/>
              </a:rPr>
              <a:t>{</a:t>
            </a:r>
          </a:p>
          <a:p>
            <a:pPr>
              <a:lnSpc>
                <a:spcPct val="115000"/>
              </a:lnSpc>
            </a:pPr>
            <a:r>
              <a:rPr lang="en-US" sz="2400" b="1">
                <a:latin typeface="Times New Roman" pitchFamily="18" charset="0"/>
              </a:rPr>
              <a:t>Cout&lt;&lt;"Main, Welcome to functions\n";</a:t>
            </a:r>
          </a:p>
          <a:p>
            <a:pPr>
              <a:lnSpc>
                <a:spcPct val="115000"/>
              </a:lnSpc>
            </a:pPr>
            <a:r>
              <a:rPr lang="en-US" sz="2400" b="1">
                <a:latin typeface="Times New Roman" pitchFamily="18" charset="0"/>
              </a:rPr>
              <a:t>hai();       //calling</a:t>
            </a:r>
          </a:p>
          <a:p>
            <a:pPr>
              <a:lnSpc>
                <a:spcPct val="115000"/>
              </a:lnSpc>
            </a:pPr>
            <a:r>
              <a:rPr lang="en-US" sz="2400" b="1">
                <a:latin typeface="Times New Roman" pitchFamily="18" charset="0"/>
              </a:rPr>
              <a:t>Cout&lt;&lt;"Bye";getch();</a:t>
            </a:r>
          </a:p>
          <a:p>
            <a:pPr>
              <a:lnSpc>
                <a:spcPct val="115000"/>
              </a:lnSpc>
            </a:pPr>
            <a:r>
              <a:rPr lang="en-US" sz="2400" b="1">
                <a:latin typeface="Times New Roman" pitchFamily="18" charset="0"/>
              </a:rPr>
              <a:t>}</a:t>
            </a:r>
          </a:p>
        </p:txBody>
      </p:sp>
      <p:sp>
        <p:nvSpPr>
          <p:cNvPr id="14339" name="WordArt 3"/>
          <p:cNvSpPr>
            <a:spLocks noChangeArrowheads="1" noChangeShapeType="1" noTextEdit="1"/>
          </p:cNvSpPr>
          <p:nvPr/>
        </p:nvSpPr>
        <p:spPr bwMode="auto">
          <a:xfrm>
            <a:off x="152400" y="76200"/>
            <a:ext cx="3124200" cy="419100"/>
          </a:xfrm>
          <a:prstGeom prst="rect">
            <a:avLst/>
          </a:prstGeom>
        </p:spPr>
        <p:txBody>
          <a:bodyPr wrap="none" fromWordArt="1">
            <a:prstTxWarp prst="textPlain">
              <a:avLst>
                <a:gd name="adj" fmla="val 50000"/>
              </a:avLst>
            </a:prstTxWarp>
          </a:bodyPr>
          <a:lstStyle/>
          <a:p>
            <a:pPr algn="ctr"/>
            <a:r>
              <a:rPr lang="en-IN" sz="3600" kern="10">
                <a:ln w="9525">
                  <a:solidFill>
                    <a:srgbClr val="000000"/>
                  </a:solidFill>
                  <a:round/>
                  <a:headEnd/>
                  <a:tailEnd/>
                </a:ln>
                <a:solidFill>
                  <a:srgbClr val="FF9933"/>
                </a:solidFill>
                <a:latin typeface="Arial Black"/>
              </a:rPr>
              <a:t>For Example</a:t>
            </a:r>
          </a:p>
        </p:txBody>
      </p:sp>
    </p:spTree>
  </p:cSld>
  <p:clrMapOvr>
    <a:masterClrMapping/>
  </p:clrMapOvr>
  <p:transition spd="med">
    <p:zoom dir="in"/>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WordArt 2"/>
          <p:cNvSpPr>
            <a:spLocks noChangeArrowheads="1" noChangeShapeType="1" noTextEdit="1"/>
          </p:cNvSpPr>
          <p:nvPr/>
        </p:nvSpPr>
        <p:spPr bwMode="auto">
          <a:xfrm>
            <a:off x="1514475" y="457200"/>
            <a:ext cx="5495925" cy="647700"/>
          </a:xfrm>
          <a:prstGeom prst="rect">
            <a:avLst/>
          </a:prstGeom>
        </p:spPr>
        <p:txBody>
          <a:bodyPr wrap="none" fromWordArt="1">
            <a:prstTxWarp prst="textPlain">
              <a:avLst>
                <a:gd name="adj" fmla="val 50000"/>
              </a:avLst>
            </a:prstTxWarp>
          </a:bodyPr>
          <a:lstStyle/>
          <a:p>
            <a:pPr algn="ctr"/>
            <a:r>
              <a:rPr lang="en-IN"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a:rPr>
              <a:t>Category of Functions</a:t>
            </a:r>
          </a:p>
        </p:txBody>
      </p:sp>
      <p:sp>
        <p:nvSpPr>
          <p:cNvPr id="15363" name="Rectangle 3"/>
          <p:cNvSpPr>
            <a:spLocks noChangeArrowheads="1"/>
          </p:cNvSpPr>
          <p:nvPr/>
        </p:nvSpPr>
        <p:spPr bwMode="auto">
          <a:xfrm>
            <a:off x="1219200" y="1828800"/>
            <a:ext cx="7391400" cy="3549650"/>
          </a:xfrm>
          <a:prstGeom prst="rect">
            <a:avLst/>
          </a:prstGeom>
          <a:noFill/>
          <a:ln w="9525">
            <a:noFill/>
            <a:miter lim="800000"/>
            <a:headEnd/>
            <a:tailEnd/>
          </a:ln>
        </p:spPr>
        <p:txBody>
          <a:bodyPr>
            <a:spAutoFit/>
          </a:bodyPr>
          <a:lstStyle/>
          <a:p>
            <a:pPr>
              <a:lnSpc>
                <a:spcPct val="160000"/>
              </a:lnSpc>
              <a:buFont typeface="Wingdings" pitchFamily="2" charset="2"/>
              <a:buNone/>
            </a:pPr>
            <a:endParaRPr lang="en-US" sz="2200" b="1">
              <a:solidFill>
                <a:srgbClr val="FF0066"/>
              </a:solidFill>
            </a:endParaRPr>
          </a:p>
          <a:p>
            <a:pPr>
              <a:lnSpc>
                <a:spcPct val="160000"/>
              </a:lnSpc>
              <a:buFont typeface="Wingdings" pitchFamily="2" charset="2"/>
              <a:buChar char="I"/>
            </a:pPr>
            <a:r>
              <a:rPr lang="en-US" sz="2200" b="1">
                <a:solidFill>
                  <a:srgbClr val="FF0066"/>
                </a:solidFill>
              </a:rPr>
              <a:t>   </a:t>
            </a:r>
            <a:r>
              <a:rPr lang="en-US" sz="2400" b="1">
                <a:solidFill>
                  <a:srgbClr val="FF0066"/>
                </a:solidFill>
              </a:rPr>
              <a:t>NO ARGUMENT NO RETURN VALUES</a:t>
            </a:r>
          </a:p>
          <a:p>
            <a:pPr>
              <a:lnSpc>
                <a:spcPct val="160000"/>
              </a:lnSpc>
              <a:buFont typeface="Wingdings" pitchFamily="2" charset="2"/>
              <a:buChar char="I"/>
            </a:pPr>
            <a:r>
              <a:rPr lang="en-US" sz="2400" b="1">
                <a:solidFill>
                  <a:srgbClr val="FF0066"/>
                </a:solidFill>
              </a:rPr>
              <a:t>  ARGUMENT BUT NO RETURN VALUES</a:t>
            </a:r>
          </a:p>
          <a:p>
            <a:pPr>
              <a:lnSpc>
                <a:spcPct val="160000"/>
              </a:lnSpc>
              <a:buFont typeface="Wingdings" pitchFamily="2" charset="2"/>
              <a:buChar char="I"/>
            </a:pPr>
            <a:r>
              <a:rPr lang="en-US" sz="2400" b="1">
                <a:solidFill>
                  <a:srgbClr val="FF0066"/>
                </a:solidFill>
              </a:rPr>
              <a:t>  NO ARGUMENT WITH  RETURN VALUES</a:t>
            </a:r>
          </a:p>
          <a:p>
            <a:pPr>
              <a:lnSpc>
                <a:spcPct val="160000"/>
              </a:lnSpc>
              <a:buFont typeface="Wingdings" pitchFamily="2" charset="2"/>
              <a:buChar char="I"/>
            </a:pPr>
            <a:r>
              <a:rPr lang="en-US" sz="2400" b="1">
                <a:solidFill>
                  <a:srgbClr val="FF0066"/>
                </a:solidFill>
              </a:rPr>
              <a:t>  WITH ARGUMENT WITH  RETURN VALUES</a:t>
            </a:r>
          </a:p>
          <a:p>
            <a:pPr>
              <a:lnSpc>
                <a:spcPct val="160000"/>
              </a:lnSpc>
              <a:buFont typeface="Wingdings" pitchFamily="2" charset="2"/>
              <a:buChar char="I"/>
            </a:pPr>
            <a:endParaRPr lang="en-US" sz="2400" b="1">
              <a:solidFill>
                <a:srgbClr val="FF0066"/>
              </a:solidFill>
            </a:endParaRPr>
          </a:p>
        </p:txBody>
      </p:sp>
      <p:sp>
        <p:nvSpPr>
          <p:cNvPr id="15364" name="Text Box 4"/>
          <p:cNvSpPr txBox="1">
            <a:spLocks noChangeArrowheads="1"/>
          </p:cNvSpPr>
          <p:nvPr/>
        </p:nvSpPr>
        <p:spPr bwMode="auto">
          <a:xfrm>
            <a:off x="914400" y="1219200"/>
            <a:ext cx="7467600" cy="457200"/>
          </a:xfrm>
          <a:prstGeom prst="rect">
            <a:avLst/>
          </a:prstGeom>
          <a:noFill/>
          <a:ln w="9525">
            <a:noFill/>
            <a:miter lim="800000"/>
            <a:headEnd/>
            <a:tailEnd/>
          </a:ln>
        </p:spPr>
        <p:txBody>
          <a:bodyPr>
            <a:spAutoFit/>
          </a:bodyPr>
          <a:lstStyle/>
          <a:p>
            <a:pPr>
              <a:spcBef>
                <a:spcPct val="50000"/>
              </a:spcBef>
            </a:pPr>
            <a:r>
              <a:rPr lang="en-US" sz="2400" b="1"/>
              <a:t>(Based on Return values and passing Arguments)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9218"/>
                                        </p:tgtEl>
                                        <p:attrNameLst>
                                          <p:attrName>style.visibility</p:attrName>
                                        </p:attrNameLst>
                                      </p:cBhvr>
                                      <p:to>
                                        <p:strVal val="visible"/>
                                      </p:to>
                                    </p:set>
                                    <p:animEffect transition="in" filter="diamond(in)">
                                      <p:cBhvr>
                                        <p:cTn id="7" dur="2000"/>
                                        <p:tgtEl>
                                          <p:spTgt spid="92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0" y="533400"/>
            <a:ext cx="9144000" cy="6740525"/>
          </a:xfrm>
          <a:prstGeom prst="rect">
            <a:avLst/>
          </a:prstGeom>
          <a:noFill/>
          <a:ln w="9525">
            <a:solidFill>
              <a:srgbClr val="FF66CC"/>
            </a:solidFill>
            <a:miter lim="800000"/>
            <a:headEnd/>
            <a:tailEnd/>
          </a:ln>
        </p:spPr>
        <p:txBody>
          <a:bodyPr>
            <a:spAutoFit/>
          </a:bodyPr>
          <a:lstStyle/>
          <a:p>
            <a:pPr eaLnBrk="0" hangingPunct="0"/>
            <a:r>
              <a:rPr lang="en-US" sz="2400" b="1">
                <a:solidFill>
                  <a:srgbClr val="990033"/>
                </a:solidFill>
                <a:latin typeface="Times New Roman" pitchFamily="18" charset="0"/>
              </a:rPr>
              <a:t>#include&lt;iostream.h&gt;</a:t>
            </a:r>
          </a:p>
          <a:p>
            <a:pPr eaLnBrk="0" hangingPunct="0"/>
            <a:r>
              <a:rPr lang="en-US" sz="2400" b="1">
                <a:solidFill>
                  <a:srgbClr val="990033"/>
                </a:solidFill>
                <a:latin typeface="Times New Roman" pitchFamily="18" charset="0"/>
              </a:rPr>
              <a:t>#include&lt;conio.h&gt;</a:t>
            </a:r>
          </a:p>
          <a:p>
            <a:pPr eaLnBrk="0" hangingPunct="0"/>
            <a:r>
              <a:rPr lang="en-US" sz="2400" b="1">
                <a:solidFill>
                  <a:srgbClr val="990033"/>
                </a:solidFill>
                <a:latin typeface="Times New Roman" pitchFamily="18" charset="0"/>
              </a:rPr>
              <a:t>void message();</a:t>
            </a:r>
          </a:p>
          <a:p>
            <a:pPr eaLnBrk="0" hangingPunct="0"/>
            <a:r>
              <a:rPr lang="en-US" sz="2400" b="1">
                <a:solidFill>
                  <a:srgbClr val="990033"/>
                </a:solidFill>
                <a:latin typeface="Times New Roman" pitchFamily="18" charset="0"/>
              </a:rPr>
              <a:t>void main()</a:t>
            </a:r>
          </a:p>
          <a:p>
            <a:pPr eaLnBrk="0" hangingPunct="0"/>
            <a:r>
              <a:rPr lang="en-US" sz="2400" b="1">
                <a:solidFill>
                  <a:srgbClr val="990033"/>
                </a:solidFill>
                <a:latin typeface="Times New Roman" pitchFamily="18" charset="0"/>
              </a:rPr>
              <a:t>{</a:t>
            </a:r>
          </a:p>
          <a:p>
            <a:pPr eaLnBrk="0" hangingPunct="0"/>
            <a:r>
              <a:rPr lang="en-US" sz="2400" b="1">
                <a:solidFill>
                  <a:srgbClr val="990033"/>
                </a:solidFill>
                <a:latin typeface="Times New Roman" pitchFamily="18" charset="0"/>
              </a:rPr>
              <a:t>clrscr();</a:t>
            </a:r>
          </a:p>
          <a:p>
            <a:pPr eaLnBrk="0" hangingPunct="0"/>
            <a:r>
              <a:rPr lang="en-US" sz="2400" b="1">
                <a:solidFill>
                  <a:srgbClr val="990033"/>
                </a:solidFill>
                <a:latin typeface="Times New Roman" pitchFamily="18" charset="0"/>
              </a:rPr>
              <a:t>cout&lt;&lt;endl;"Welcome to C++";</a:t>
            </a:r>
          </a:p>
          <a:p>
            <a:pPr eaLnBrk="0" hangingPunct="0"/>
            <a:r>
              <a:rPr lang="en-US" sz="2400" b="1">
                <a:solidFill>
                  <a:srgbClr val="990033"/>
                </a:solidFill>
                <a:latin typeface="Times New Roman" pitchFamily="18" charset="0"/>
              </a:rPr>
              <a:t>message();</a:t>
            </a:r>
          </a:p>
          <a:p>
            <a:pPr eaLnBrk="0" hangingPunct="0"/>
            <a:r>
              <a:rPr lang="en-US" sz="2400" b="1">
                <a:solidFill>
                  <a:srgbClr val="990033"/>
                </a:solidFill>
                <a:latin typeface="Times New Roman" pitchFamily="18" charset="0"/>
              </a:rPr>
              <a:t>cout&lt;&lt;endl&lt;&lt;"end";</a:t>
            </a:r>
          </a:p>
          <a:p>
            <a:pPr eaLnBrk="0" hangingPunct="0"/>
            <a:r>
              <a:rPr lang="en-US" sz="2400" b="1">
                <a:solidFill>
                  <a:srgbClr val="990033"/>
                </a:solidFill>
                <a:latin typeface="Times New Roman" pitchFamily="18" charset="0"/>
              </a:rPr>
              <a:t>getch();</a:t>
            </a:r>
          </a:p>
          <a:p>
            <a:pPr eaLnBrk="0" hangingPunct="0"/>
            <a:r>
              <a:rPr lang="en-US" sz="2400" b="1">
                <a:solidFill>
                  <a:srgbClr val="990033"/>
                </a:solidFill>
                <a:latin typeface="Times New Roman" pitchFamily="18" charset="0"/>
              </a:rPr>
              <a:t>}</a:t>
            </a:r>
          </a:p>
          <a:p>
            <a:pPr eaLnBrk="0" hangingPunct="0"/>
            <a:r>
              <a:rPr lang="en-US" sz="2400" b="1">
                <a:solidFill>
                  <a:srgbClr val="990033"/>
                </a:solidFill>
                <a:latin typeface="Times New Roman" pitchFamily="18" charset="0"/>
              </a:rPr>
              <a:t>void message()</a:t>
            </a:r>
          </a:p>
          <a:p>
            <a:pPr eaLnBrk="0" hangingPunct="0"/>
            <a:r>
              <a:rPr lang="en-US" sz="2400" b="1">
                <a:solidFill>
                  <a:srgbClr val="990033"/>
                </a:solidFill>
                <a:latin typeface="Times New Roman" pitchFamily="18" charset="0"/>
              </a:rPr>
              <a:t>{</a:t>
            </a:r>
          </a:p>
          <a:p>
            <a:pPr eaLnBrk="0" hangingPunct="0"/>
            <a:r>
              <a:rPr lang="en-US" sz="2400" b="1">
                <a:solidFill>
                  <a:srgbClr val="990033"/>
                </a:solidFill>
                <a:latin typeface="Times New Roman" pitchFamily="18" charset="0"/>
              </a:rPr>
              <a:t>cout&lt;&lt;endl&lt;&lt;"Welcome to the Function";</a:t>
            </a:r>
          </a:p>
          <a:p>
            <a:pPr eaLnBrk="0" hangingPunct="0"/>
            <a:endParaRPr lang="en-US" sz="2400" b="1">
              <a:solidFill>
                <a:srgbClr val="990033"/>
              </a:solidFill>
              <a:latin typeface="Times New Roman" pitchFamily="18" charset="0"/>
            </a:endParaRPr>
          </a:p>
          <a:p>
            <a:pPr eaLnBrk="0" hangingPunct="0"/>
            <a:r>
              <a:rPr lang="en-US" sz="2400" b="1">
                <a:solidFill>
                  <a:srgbClr val="990033"/>
                </a:solidFill>
                <a:latin typeface="Times New Roman" pitchFamily="18" charset="0"/>
              </a:rPr>
              <a:t>}</a:t>
            </a:r>
          </a:p>
          <a:p>
            <a:pPr eaLnBrk="0" hangingPunct="0"/>
            <a:endParaRPr lang="en-US" sz="2400" b="1">
              <a:solidFill>
                <a:srgbClr val="990033"/>
              </a:solidFill>
              <a:latin typeface="Times New Roman" pitchFamily="18" charset="0"/>
            </a:endParaRPr>
          </a:p>
          <a:p>
            <a:pPr eaLnBrk="0" hangingPunct="0"/>
            <a:endParaRPr lang="en-US" sz="2400" b="1">
              <a:solidFill>
                <a:srgbClr val="990033"/>
              </a:solidFill>
              <a:latin typeface="Times New Roman" pitchFamily="18" charset="0"/>
            </a:endParaRPr>
          </a:p>
        </p:txBody>
      </p:sp>
      <p:sp>
        <p:nvSpPr>
          <p:cNvPr id="16387" name="Text Box 3" descr="Brown marble"/>
          <p:cNvSpPr txBox="1">
            <a:spLocks noChangeArrowheads="1"/>
          </p:cNvSpPr>
          <p:nvPr/>
        </p:nvSpPr>
        <p:spPr bwMode="auto">
          <a:xfrm>
            <a:off x="0" y="0"/>
            <a:ext cx="9144000" cy="579438"/>
          </a:xfrm>
          <a:prstGeom prst="rect">
            <a:avLst/>
          </a:prstGeom>
          <a:blipFill dpi="0" rotWithShape="1">
            <a:blip r:embed="rId2"/>
            <a:srcRect/>
            <a:tile tx="0" ty="0" sx="100000" sy="100000" flip="none" algn="tl"/>
          </a:blipFill>
          <a:ln w="9525">
            <a:noFill/>
            <a:miter lim="800000"/>
            <a:headEnd/>
            <a:tailEnd/>
          </a:ln>
        </p:spPr>
        <p:txBody>
          <a:bodyPr>
            <a:spAutoFit/>
          </a:bodyPr>
          <a:lstStyle/>
          <a:p>
            <a:pPr algn="ctr" eaLnBrk="0" hangingPunct="0">
              <a:spcBef>
                <a:spcPct val="50000"/>
              </a:spcBef>
            </a:pPr>
            <a:r>
              <a:rPr lang="en-US" sz="3200" b="1">
                <a:solidFill>
                  <a:schemeClr val="bg1"/>
                </a:solidFill>
                <a:latin typeface="Arial Black" pitchFamily="34" charset="0"/>
              </a:rPr>
              <a:t>NO ARGUMENT NO RETURN VALUES</a:t>
            </a: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Footer Placeholder 2"/>
          <p:cNvSpPr>
            <a:spLocks noGrp="1"/>
          </p:cNvSpPr>
          <p:nvPr>
            <p:ph type="ftr" sz="quarter" idx="11"/>
          </p:nvPr>
        </p:nvSpPr>
        <p:spPr/>
        <p:txBody>
          <a:bodyPr/>
          <a:lstStyle/>
          <a:p>
            <a:pPr>
              <a:defRPr/>
            </a:pPr>
            <a:r>
              <a:rPr lang="en-US"/>
              <a:t>CSC COMPUTER EDUCATION, Kodungaiyur,Ch-118</a:t>
            </a:r>
          </a:p>
        </p:txBody>
      </p:sp>
      <p:sp>
        <p:nvSpPr>
          <p:cNvPr id="17411" name="Rectangle 2"/>
          <p:cNvSpPr>
            <a:spLocks noChangeArrowheads="1"/>
          </p:cNvSpPr>
          <p:nvPr/>
        </p:nvSpPr>
        <p:spPr bwMode="auto">
          <a:xfrm>
            <a:off x="76200" y="0"/>
            <a:ext cx="8991600" cy="6740525"/>
          </a:xfrm>
          <a:prstGeom prst="rect">
            <a:avLst/>
          </a:prstGeom>
          <a:solidFill>
            <a:schemeClr val="accent1"/>
          </a:solidFill>
          <a:ln w="9525">
            <a:solidFill>
              <a:schemeClr val="bg1"/>
            </a:solidFill>
            <a:miter lim="800000"/>
            <a:headEnd/>
            <a:tailEnd/>
          </a:ln>
        </p:spPr>
        <p:txBody>
          <a:bodyPr>
            <a:spAutoFit/>
          </a:bodyPr>
          <a:lstStyle/>
          <a:p>
            <a:r>
              <a:rPr lang="en-US" sz="2400" b="1">
                <a:latin typeface="Times New Roman" pitchFamily="18" charset="0"/>
              </a:rPr>
              <a:t>/*  To perform Addition of two numbers </a:t>
            </a:r>
          </a:p>
          <a:p>
            <a:r>
              <a:rPr lang="en-US" sz="2400" b="1">
                <a:latin typeface="Times New Roman" pitchFamily="18" charset="0"/>
              </a:rPr>
              <a:t> Without Argument  and With Return values */</a:t>
            </a:r>
          </a:p>
          <a:p>
            <a:r>
              <a:rPr lang="en-US" sz="2400" b="1">
                <a:latin typeface="Times New Roman" pitchFamily="18" charset="0"/>
              </a:rPr>
              <a:t>#include&lt;iostream.h&gt;</a:t>
            </a:r>
          </a:p>
          <a:p>
            <a:r>
              <a:rPr lang="en-US" sz="2400" b="1">
                <a:latin typeface="Times New Roman" pitchFamily="18" charset="0"/>
              </a:rPr>
              <a:t>#include&lt;conio.h&gt;</a:t>
            </a:r>
          </a:p>
          <a:p>
            <a:r>
              <a:rPr lang="en-US" sz="2400" b="1">
                <a:latin typeface="Times New Roman" pitchFamily="18" charset="0"/>
              </a:rPr>
              <a:t>int add();     //function prototype declaration</a:t>
            </a:r>
          </a:p>
          <a:p>
            <a:r>
              <a:rPr lang="en-US" sz="2400" b="1">
                <a:latin typeface="Times New Roman" pitchFamily="18" charset="0"/>
              </a:rPr>
              <a:t>void  main()</a:t>
            </a:r>
          </a:p>
          <a:p>
            <a:r>
              <a:rPr lang="en-US" sz="2400" b="1">
                <a:latin typeface="Times New Roman" pitchFamily="18" charset="0"/>
              </a:rPr>
              <a:t>{</a:t>
            </a:r>
          </a:p>
          <a:p>
            <a:r>
              <a:rPr lang="en-US" sz="2400" b="1">
                <a:latin typeface="Times New Roman" pitchFamily="18" charset="0"/>
              </a:rPr>
              <a:t>int c;</a:t>
            </a:r>
          </a:p>
          <a:p>
            <a:r>
              <a:rPr lang="en-US" sz="2400" b="1">
                <a:latin typeface="Times New Roman" pitchFamily="18" charset="0"/>
              </a:rPr>
              <a:t>c=add();      /* Return Variable - c */</a:t>
            </a:r>
          </a:p>
          <a:p>
            <a:r>
              <a:rPr lang="en-US" sz="2400" b="1">
                <a:latin typeface="Times New Roman" pitchFamily="18" charset="0"/>
              </a:rPr>
              <a:t>cout&lt;&lt;"The sum of two numbers is “&lt;&lt;c;</a:t>
            </a:r>
          </a:p>
          <a:p>
            <a:r>
              <a:rPr lang="en-US" sz="2400" b="1">
                <a:latin typeface="Times New Roman" pitchFamily="18" charset="0"/>
              </a:rPr>
              <a:t>}</a:t>
            </a:r>
          </a:p>
          <a:p>
            <a:r>
              <a:rPr lang="en-US" sz="2400" b="1">
                <a:latin typeface="Times New Roman" pitchFamily="18" charset="0"/>
              </a:rPr>
              <a:t>int add()</a:t>
            </a:r>
          </a:p>
          <a:p>
            <a:r>
              <a:rPr lang="en-US" sz="2400" b="1">
                <a:latin typeface="Times New Roman" pitchFamily="18" charset="0"/>
              </a:rPr>
              <a:t>{</a:t>
            </a:r>
          </a:p>
          <a:p>
            <a:r>
              <a:rPr lang="en-US" sz="2400" b="1">
                <a:latin typeface="Times New Roman" pitchFamily="18" charset="0"/>
              </a:rPr>
              <a:t>int a,b,c;</a:t>
            </a:r>
          </a:p>
          <a:p>
            <a:r>
              <a:rPr lang="en-US" sz="2400" b="1">
                <a:latin typeface="Times New Roman" pitchFamily="18" charset="0"/>
              </a:rPr>
              <a:t>cout&lt;&lt;"Enter two Numbers=";</a:t>
            </a:r>
          </a:p>
          <a:p>
            <a:r>
              <a:rPr lang="en-US" sz="2400" b="1">
                <a:latin typeface="Times New Roman" pitchFamily="18" charset="0"/>
              </a:rPr>
              <a:t>cin&gt;&gt;a&gt;&gt;b;</a:t>
            </a:r>
          </a:p>
          <a:p>
            <a:r>
              <a:rPr lang="en-US" sz="2400" b="1">
                <a:latin typeface="Times New Roman" pitchFamily="18" charset="0"/>
              </a:rPr>
              <a:t>c=a+b;</a:t>
            </a:r>
          </a:p>
          <a:p>
            <a:r>
              <a:rPr lang="en-US" sz="2400" b="1">
                <a:latin typeface="Times New Roman" pitchFamily="18" charset="0"/>
              </a:rPr>
              <a:t>return(c);}</a:t>
            </a: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ChangeArrowheads="1"/>
          </p:cNvSpPr>
          <p:nvPr/>
        </p:nvSpPr>
        <p:spPr bwMode="auto">
          <a:xfrm>
            <a:off x="0" y="533400"/>
            <a:ext cx="9144000" cy="6740525"/>
          </a:xfrm>
          <a:prstGeom prst="rect">
            <a:avLst/>
          </a:prstGeom>
          <a:noFill/>
          <a:ln w="9525">
            <a:solidFill>
              <a:srgbClr val="FF66CC"/>
            </a:solidFill>
            <a:miter lim="800000"/>
            <a:headEnd/>
            <a:tailEnd/>
          </a:ln>
        </p:spPr>
        <p:txBody>
          <a:bodyPr>
            <a:spAutoFit/>
          </a:bodyPr>
          <a:lstStyle/>
          <a:p>
            <a:pPr eaLnBrk="0" hangingPunct="0"/>
            <a:r>
              <a:rPr lang="en-US" sz="2400" b="1">
                <a:solidFill>
                  <a:srgbClr val="800000"/>
                </a:solidFill>
                <a:latin typeface="Times New Roman" pitchFamily="18" charset="0"/>
              </a:rPr>
              <a:t>#include&lt;iostream.h&gt;</a:t>
            </a:r>
          </a:p>
          <a:p>
            <a:pPr eaLnBrk="0" hangingPunct="0"/>
            <a:r>
              <a:rPr lang="en-US" sz="2400" b="1">
                <a:solidFill>
                  <a:srgbClr val="800000"/>
                </a:solidFill>
                <a:latin typeface="Times New Roman" pitchFamily="18" charset="0"/>
              </a:rPr>
              <a:t>#include&lt;conio.h&gt;</a:t>
            </a:r>
          </a:p>
          <a:p>
            <a:pPr eaLnBrk="0" hangingPunct="0"/>
            <a:r>
              <a:rPr lang="en-US" sz="2400" b="1">
                <a:solidFill>
                  <a:srgbClr val="800000"/>
                </a:solidFill>
                <a:latin typeface="Times New Roman" pitchFamily="18" charset="0"/>
              </a:rPr>
              <a:t>void area(int,int);</a:t>
            </a:r>
          </a:p>
          <a:p>
            <a:pPr eaLnBrk="0" hangingPunct="0"/>
            <a:r>
              <a:rPr lang="en-US" sz="2400" b="1">
                <a:solidFill>
                  <a:srgbClr val="800000"/>
                </a:solidFill>
                <a:latin typeface="Times New Roman" pitchFamily="18" charset="0"/>
              </a:rPr>
              <a:t>void main()</a:t>
            </a:r>
          </a:p>
          <a:p>
            <a:pPr eaLnBrk="0" hangingPunct="0"/>
            <a:r>
              <a:rPr lang="en-US" sz="2400" b="1">
                <a:solidFill>
                  <a:srgbClr val="800000"/>
                </a:solidFill>
                <a:latin typeface="Times New Roman" pitchFamily="18" charset="0"/>
              </a:rPr>
              <a:t>{</a:t>
            </a:r>
          </a:p>
          <a:p>
            <a:pPr eaLnBrk="0" hangingPunct="0"/>
            <a:r>
              <a:rPr lang="en-US" sz="2400" b="1">
                <a:solidFill>
                  <a:srgbClr val="800000"/>
                </a:solidFill>
                <a:latin typeface="Times New Roman" pitchFamily="18" charset="0"/>
              </a:rPr>
              <a:t>int b,h;</a:t>
            </a:r>
          </a:p>
          <a:p>
            <a:pPr eaLnBrk="0" hangingPunct="0"/>
            <a:r>
              <a:rPr lang="en-US" sz="2400" b="1">
                <a:solidFill>
                  <a:srgbClr val="800000"/>
                </a:solidFill>
                <a:latin typeface="Times New Roman" pitchFamily="18" charset="0"/>
              </a:rPr>
              <a:t>cout&lt;&lt;endl&lt;&lt;"Enter Base and Height Values";</a:t>
            </a:r>
          </a:p>
          <a:p>
            <a:pPr eaLnBrk="0" hangingPunct="0"/>
            <a:r>
              <a:rPr lang="en-US" sz="2400" b="1">
                <a:solidFill>
                  <a:srgbClr val="800000"/>
                </a:solidFill>
                <a:latin typeface="Times New Roman" pitchFamily="18" charset="0"/>
              </a:rPr>
              <a:t>cin&gt;&gt;b&gt;&gt;h;</a:t>
            </a:r>
          </a:p>
          <a:p>
            <a:pPr eaLnBrk="0" hangingPunct="0"/>
            <a:r>
              <a:rPr lang="en-US" sz="2400" b="1">
                <a:solidFill>
                  <a:srgbClr val="800000"/>
                </a:solidFill>
                <a:latin typeface="Times New Roman" pitchFamily="18" charset="0"/>
              </a:rPr>
              <a:t>area(b,h);</a:t>
            </a:r>
          </a:p>
          <a:p>
            <a:pPr eaLnBrk="0" hangingPunct="0"/>
            <a:r>
              <a:rPr lang="en-US" sz="2400" b="1">
                <a:solidFill>
                  <a:srgbClr val="800000"/>
                </a:solidFill>
                <a:latin typeface="Times New Roman" pitchFamily="18" charset="0"/>
              </a:rPr>
              <a:t>cout&lt;&lt;endl&lt;&lt;"end";</a:t>
            </a:r>
          </a:p>
          <a:p>
            <a:pPr eaLnBrk="0" hangingPunct="0"/>
            <a:r>
              <a:rPr lang="en-US" sz="2400" b="1">
                <a:solidFill>
                  <a:srgbClr val="800000"/>
                </a:solidFill>
                <a:latin typeface="Times New Roman" pitchFamily="18" charset="0"/>
              </a:rPr>
              <a:t>}</a:t>
            </a:r>
          </a:p>
          <a:p>
            <a:pPr eaLnBrk="0" hangingPunct="0"/>
            <a:r>
              <a:rPr lang="en-US" sz="2400" b="1">
                <a:solidFill>
                  <a:srgbClr val="800000"/>
                </a:solidFill>
                <a:latin typeface="Times New Roman" pitchFamily="18" charset="0"/>
              </a:rPr>
              <a:t>void area(int x,int y)</a:t>
            </a:r>
          </a:p>
          <a:p>
            <a:pPr eaLnBrk="0" hangingPunct="0"/>
            <a:r>
              <a:rPr lang="en-US" sz="2400" b="1">
                <a:solidFill>
                  <a:srgbClr val="800000"/>
                </a:solidFill>
                <a:latin typeface="Times New Roman" pitchFamily="18" charset="0"/>
              </a:rPr>
              <a:t>{</a:t>
            </a:r>
          </a:p>
          <a:p>
            <a:pPr eaLnBrk="0" hangingPunct="0"/>
            <a:r>
              <a:rPr lang="en-US" sz="2400" b="1">
                <a:solidFill>
                  <a:srgbClr val="800000"/>
                </a:solidFill>
                <a:latin typeface="Times New Roman" pitchFamily="18" charset="0"/>
              </a:rPr>
              <a:t>float at;</a:t>
            </a:r>
          </a:p>
          <a:p>
            <a:pPr eaLnBrk="0" hangingPunct="0"/>
            <a:r>
              <a:rPr lang="en-US" sz="2400" b="1">
                <a:solidFill>
                  <a:srgbClr val="800000"/>
                </a:solidFill>
                <a:latin typeface="Times New Roman" pitchFamily="18" charset="0"/>
              </a:rPr>
              <a:t>at=0.5*x*y;</a:t>
            </a:r>
          </a:p>
          <a:p>
            <a:pPr eaLnBrk="0" hangingPunct="0"/>
            <a:r>
              <a:rPr lang="en-US" sz="2400" b="1">
                <a:solidFill>
                  <a:srgbClr val="800000"/>
                </a:solidFill>
                <a:latin typeface="Times New Roman" pitchFamily="18" charset="0"/>
              </a:rPr>
              <a:t>cout&lt;&lt;"area is :"&lt;&lt;at;</a:t>
            </a:r>
          </a:p>
          <a:p>
            <a:pPr eaLnBrk="0" hangingPunct="0"/>
            <a:r>
              <a:rPr lang="en-US" sz="2400" b="1">
                <a:solidFill>
                  <a:srgbClr val="800000"/>
                </a:solidFill>
                <a:latin typeface="Times New Roman" pitchFamily="18" charset="0"/>
              </a:rPr>
              <a:t>getch();}</a:t>
            </a:r>
          </a:p>
          <a:p>
            <a:pPr eaLnBrk="0" hangingPunct="0"/>
            <a:endParaRPr lang="en-US" sz="2400" b="1">
              <a:solidFill>
                <a:srgbClr val="800000"/>
              </a:solidFill>
              <a:latin typeface="Times New Roman" pitchFamily="18" charset="0"/>
            </a:endParaRPr>
          </a:p>
        </p:txBody>
      </p:sp>
      <p:sp>
        <p:nvSpPr>
          <p:cNvPr id="18435" name="Text Box 3"/>
          <p:cNvSpPr txBox="1">
            <a:spLocks noChangeArrowheads="1"/>
          </p:cNvSpPr>
          <p:nvPr/>
        </p:nvSpPr>
        <p:spPr bwMode="auto">
          <a:xfrm>
            <a:off x="0" y="0"/>
            <a:ext cx="9144000" cy="554038"/>
          </a:xfrm>
          <a:prstGeom prst="rect">
            <a:avLst/>
          </a:prstGeom>
          <a:solidFill>
            <a:schemeClr val="accent1"/>
          </a:solidFill>
          <a:ln w="9525">
            <a:noFill/>
            <a:miter lim="800000"/>
            <a:headEnd/>
            <a:tailEnd/>
          </a:ln>
        </p:spPr>
        <p:txBody>
          <a:bodyPr>
            <a:spAutoFit/>
          </a:bodyPr>
          <a:lstStyle/>
          <a:p>
            <a:pPr algn="ctr" eaLnBrk="0" hangingPunct="0">
              <a:spcBef>
                <a:spcPct val="50000"/>
              </a:spcBef>
            </a:pPr>
            <a:r>
              <a:rPr lang="en-US" sz="3000" b="1">
                <a:solidFill>
                  <a:srgbClr val="800000"/>
                </a:solidFill>
                <a:latin typeface="Arial Black" pitchFamily="34" charset="0"/>
              </a:rPr>
              <a:t>WITH ARGUMENT NO RETURN VALUES</a:t>
            </a: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ChangeArrowheads="1"/>
          </p:cNvSpPr>
          <p:nvPr/>
        </p:nvSpPr>
        <p:spPr bwMode="auto">
          <a:xfrm>
            <a:off x="152400" y="838200"/>
            <a:ext cx="4572000" cy="6002338"/>
          </a:xfrm>
          <a:prstGeom prst="rect">
            <a:avLst/>
          </a:prstGeom>
          <a:noFill/>
          <a:ln w="9525">
            <a:solidFill>
              <a:srgbClr val="FF66CC"/>
            </a:solidFill>
            <a:miter lim="800000"/>
            <a:headEnd/>
            <a:tailEnd/>
          </a:ln>
        </p:spPr>
        <p:txBody>
          <a:bodyPr>
            <a:spAutoFit/>
          </a:bodyPr>
          <a:lstStyle/>
          <a:p>
            <a:pPr eaLnBrk="0" hangingPunct="0"/>
            <a:r>
              <a:rPr lang="en-US" sz="2400" b="1">
                <a:solidFill>
                  <a:srgbClr val="000066"/>
                </a:solidFill>
              </a:rPr>
              <a:t>#include&lt;iostream.h&gt;</a:t>
            </a:r>
          </a:p>
          <a:p>
            <a:pPr eaLnBrk="0" hangingPunct="0"/>
            <a:r>
              <a:rPr lang="en-US" sz="2400" b="1">
                <a:solidFill>
                  <a:srgbClr val="000066"/>
                </a:solidFill>
              </a:rPr>
              <a:t>#include&lt;conio.h&gt;</a:t>
            </a:r>
          </a:p>
          <a:p>
            <a:pPr eaLnBrk="0" hangingPunct="0"/>
            <a:r>
              <a:rPr lang="en-US" sz="2400" b="1">
                <a:solidFill>
                  <a:srgbClr val="000066"/>
                </a:solidFill>
              </a:rPr>
              <a:t>float area(int,int);</a:t>
            </a:r>
          </a:p>
          <a:p>
            <a:pPr eaLnBrk="0" hangingPunct="0"/>
            <a:r>
              <a:rPr lang="en-US" sz="2400" b="1">
                <a:solidFill>
                  <a:srgbClr val="000066"/>
                </a:solidFill>
              </a:rPr>
              <a:t>void main()</a:t>
            </a:r>
          </a:p>
          <a:p>
            <a:pPr eaLnBrk="0" hangingPunct="0"/>
            <a:r>
              <a:rPr lang="en-US" sz="2400" b="1">
                <a:solidFill>
                  <a:srgbClr val="000066"/>
                </a:solidFill>
              </a:rPr>
              <a:t>{</a:t>
            </a:r>
          </a:p>
          <a:p>
            <a:pPr eaLnBrk="0" hangingPunct="0"/>
            <a:r>
              <a:rPr lang="en-US" sz="2400" b="1">
                <a:solidFill>
                  <a:srgbClr val="000066"/>
                </a:solidFill>
              </a:rPr>
              <a:t>int b,h;</a:t>
            </a:r>
          </a:p>
          <a:p>
            <a:pPr eaLnBrk="0" hangingPunct="0"/>
            <a:r>
              <a:rPr lang="en-US" sz="2400" b="1">
                <a:solidFill>
                  <a:srgbClr val="000066"/>
                </a:solidFill>
              </a:rPr>
              <a:t>float a;</a:t>
            </a:r>
          </a:p>
          <a:p>
            <a:pPr eaLnBrk="0" hangingPunct="0"/>
            <a:r>
              <a:rPr lang="en-US" sz="2400" b="1">
                <a:solidFill>
                  <a:srgbClr val="000066"/>
                </a:solidFill>
              </a:rPr>
              <a:t>clrscr();</a:t>
            </a:r>
          </a:p>
          <a:p>
            <a:pPr eaLnBrk="0" hangingPunct="0"/>
            <a:r>
              <a:rPr lang="en-US" sz="2400" b="1">
                <a:solidFill>
                  <a:srgbClr val="000066"/>
                </a:solidFill>
              </a:rPr>
              <a:t>cout&lt;&lt;endl&lt;&lt;"Enter Base and Height Values";</a:t>
            </a:r>
          </a:p>
          <a:p>
            <a:pPr eaLnBrk="0" hangingPunct="0"/>
            <a:r>
              <a:rPr lang="en-US" sz="2400" b="1">
                <a:solidFill>
                  <a:srgbClr val="000066"/>
                </a:solidFill>
              </a:rPr>
              <a:t>cin&gt;&gt;b&gt;&gt;h;</a:t>
            </a:r>
          </a:p>
          <a:p>
            <a:pPr eaLnBrk="0" hangingPunct="0"/>
            <a:r>
              <a:rPr lang="en-US" sz="2400" b="1">
                <a:solidFill>
                  <a:srgbClr val="000066"/>
                </a:solidFill>
              </a:rPr>
              <a:t>a=area(b,h);</a:t>
            </a:r>
          </a:p>
          <a:p>
            <a:pPr eaLnBrk="0" hangingPunct="0"/>
            <a:r>
              <a:rPr lang="en-US" sz="2400" b="1">
                <a:solidFill>
                  <a:srgbClr val="000066"/>
                </a:solidFill>
              </a:rPr>
              <a:t>cout&lt;&lt;endl&lt;&lt;"Area of the Triangle is "&lt;&lt;a;</a:t>
            </a:r>
          </a:p>
          <a:p>
            <a:pPr eaLnBrk="0" hangingPunct="0"/>
            <a:r>
              <a:rPr lang="en-US" sz="2400" b="1">
                <a:solidFill>
                  <a:srgbClr val="000066"/>
                </a:solidFill>
              </a:rPr>
              <a:t>getch();</a:t>
            </a:r>
          </a:p>
          <a:p>
            <a:pPr eaLnBrk="0" hangingPunct="0"/>
            <a:r>
              <a:rPr lang="en-US" sz="2400" b="1">
                <a:solidFill>
                  <a:srgbClr val="000066"/>
                </a:solidFill>
              </a:rPr>
              <a:t>}</a:t>
            </a:r>
          </a:p>
        </p:txBody>
      </p:sp>
      <p:sp>
        <p:nvSpPr>
          <p:cNvPr id="19459" name="Rectangle 3"/>
          <p:cNvSpPr>
            <a:spLocks noChangeArrowheads="1"/>
          </p:cNvSpPr>
          <p:nvPr/>
        </p:nvSpPr>
        <p:spPr bwMode="auto">
          <a:xfrm>
            <a:off x="4724400" y="908050"/>
            <a:ext cx="4267200" cy="2292350"/>
          </a:xfrm>
          <a:prstGeom prst="rect">
            <a:avLst/>
          </a:prstGeom>
          <a:noFill/>
          <a:ln w="9525">
            <a:solidFill>
              <a:srgbClr val="FF66CC"/>
            </a:solidFill>
            <a:miter lim="800000"/>
            <a:headEnd/>
            <a:tailEnd/>
          </a:ln>
        </p:spPr>
        <p:txBody>
          <a:bodyPr>
            <a:spAutoFit/>
          </a:bodyPr>
          <a:lstStyle/>
          <a:p>
            <a:pPr eaLnBrk="0" hangingPunct="0"/>
            <a:r>
              <a:rPr lang="en-US" sz="2400" b="1">
                <a:solidFill>
                  <a:srgbClr val="000066"/>
                </a:solidFill>
              </a:rPr>
              <a:t>float area(int x,int y)</a:t>
            </a:r>
          </a:p>
          <a:p>
            <a:pPr eaLnBrk="0" hangingPunct="0"/>
            <a:r>
              <a:rPr lang="en-US" sz="2400" b="1">
                <a:solidFill>
                  <a:srgbClr val="000066"/>
                </a:solidFill>
              </a:rPr>
              <a:t>{</a:t>
            </a:r>
          </a:p>
          <a:p>
            <a:pPr eaLnBrk="0" hangingPunct="0"/>
            <a:r>
              <a:rPr lang="en-US" sz="2400" b="1">
                <a:solidFill>
                  <a:srgbClr val="000066"/>
                </a:solidFill>
              </a:rPr>
              <a:t>float ar;</a:t>
            </a:r>
          </a:p>
          <a:p>
            <a:pPr eaLnBrk="0" hangingPunct="0"/>
            <a:r>
              <a:rPr lang="en-US" sz="2400" b="1">
                <a:solidFill>
                  <a:srgbClr val="000066"/>
                </a:solidFill>
              </a:rPr>
              <a:t>ar=0.5*x*y;</a:t>
            </a:r>
          </a:p>
          <a:p>
            <a:pPr eaLnBrk="0" hangingPunct="0"/>
            <a:r>
              <a:rPr lang="en-US" sz="2400" b="1">
                <a:solidFill>
                  <a:srgbClr val="000066"/>
                </a:solidFill>
              </a:rPr>
              <a:t>return ar;</a:t>
            </a:r>
          </a:p>
          <a:p>
            <a:pPr eaLnBrk="0" hangingPunct="0"/>
            <a:r>
              <a:rPr lang="en-US" sz="2400" b="1">
                <a:solidFill>
                  <a:srgbClr val="000066"/>
                </a:solidFill>
              </a:rPr>
              <a:t>}</a:t>
            </a:r>
          </a:p>
        </p:txBody>
      </p:sp>
      <p:sp>
        <p:nvSpPr>
          <p:cNvPr id="19460" name="Text Box 4"/>
          <p:cNvSpPr txBox="1">
            <a:spLocks noChangeArrowheads="1"/>
          </p:cNvSpPr>
          <p:nvPr/>
        </p:nvSpPr>
        <p:spPr bwMode="auto">
          <a:xfrm>
            <a:off x="0" y="228600"/>
            <a:ext cx="9144000" cy="549275"/>
          </a:xfrm>
          <a:prstGeom prst="rect">
            <a:avLst/>
          </a:prstGeom>
          <a:noFill/>
          <a:ln w="9525">
            <a:noFill/>
            <a:miter lim="800000"/>
            <a:headEnd/>
            <a:tailEnd/>
          </a:ln>
        </p:spPr>
        <p:txBody>
          <a:bodyPr>
            <a:spAutoFit/>
          </a:bodyPr>
          <a:lstStyle/>
          <a:p>
            <a:pPr algn="ctr" eaLnBrk="0" hangingPunct="0">
              <a:spcBef>
                <a:spcPct val="50000"/>
              </a:spcBef>
            </a:pPr>
            <a:r>
              <a:rPr lang="en-US" sz="3000" b="1">
                <a:latin typeface="Arial Black" pitchFamily="34" charset="0"/>
              </a:rPr>
              <a:t>WITH ARGUMENT WITH RETURN VALUES</a:t>
            </a: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WordArt 2"/>
          <p:cNvSpPr>
            <a:spLocks noChangeArrowheads="1" noChangeShapeType="1" noTextEdit="1"/>
          </p:cNvSpPr>
          <p:nvPr/>
        </p:nvSpPr>
        <p:spPr bwMode="auto">
          <a:xfrm rot="-423759">
            <a:off x="998538" y="2620963"/>
            <a:ext cx="6784975" cy="1779587"/>
          </a:xfrm>
          <a:prstGeom prst="rect">
            <a:avLst/>
          </a:prstGeom>
        </p:spPr>
        <p:txBody>
          <a:bodyPr wrap="none" fromWordArt="1">
            <a:prstTxWarp prst="textCascadeUp">
              <a:avLst>
                <a:gd name="adj" fmla="val 39616"/>
              </a:avLst>
            </a:prstTxWarp>
          </a:bodyPr>
          <a:lstStyle/>
          <a:p>
            <a:pPr algn="ctr"/>
            <a:r>
              <a:rPr lang="en-IN" sz="3600" b="1" kern="10">
                <a:ln w="9525">
                  <a:solidFill>
                    <a:srgbClr val="000000"/>
                  </a:solidFill>
                  <a:round/>
                  <a:headEnd/>
                  <a:tailEnd/>
                </a:ln>
                <a:solidFill>
                  <a:srgbClr val="0033CC"/>
                </a:solidFill>
                <a:latin typeface="Impact"/>
              </a:rPr>
              <a:t>Storage Class in C++</a:t>
            </a: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WordArt 2"/>
          <p:cNvSpPr>
            <a:spLocks noChangeArrowheads="1" noChangeShapeType="1" noTextEdit="1"/>
          </p:cNvSpPr>
          <p:nvPr/>
        </p:nvSpPr>
        <p:spPr bwMode="auto">
          <a:xfrm>
            <a:off x="1752600" y="457200"/>
            <a:ext cx="5562600" cy="698500"/>
          </a:xfrm>
          <a:prstGeom prst="rect">
            <a:avLst/>
          </a:prstGeom>
        </p:spPr>
        <p:txBody>
          <a:bodyPr wrap="none" fromWordArt="1">
            <a:prstTxWarp prst="textTriangle">
              <a:avLst>
                <a:gd name="adj" fmla="val 50000"/>
              </a:avLst>
            </a:prstTxWarp>
          </a:bodyPr>
          <a:lstStyle/>
          <a:p>
            <a:pPr algn="ctr"/>
            <a:r>
              <a:rPr lang="en-IN" sz="3600" b="1" kern="10">
                <a:ln w="9525">
                  <a:solidFill>
                    <a:srgbClr val="000000"/>
                  </a:solidFill>
                  <a:round/>
                  <a:headEnd/>
                  <a:tailEnd/>
                </a:ln>
                <a:gradFill rotWithShape="1">
                  <a:gsLst>
                    <a:gs pos="0">
                      <a:srgbClr val="FF8200"/>
                    </a:gs>
                    <a:gs pos="5000">
                      <a:srgbClr val="FF0000"/>
                    </a:gs>
                    <a:gs pos="17500">
                      <a:srgbClr val="BA0066"/>
                    </a:gs>
                    <a:gs pos="35001">
                      <a:srgbClr val="66008F"/>
                    </a:gs>
                    <a:gs pos="50000">
                      <a:srgbClr val="000082"/>
                    </a:gs>
                    <a:gs pos="64999">
                      <a:srgbClr val="66008F"/>
                    </a:gs>
                    <a:gs pos="82500">
                      <a:srgbClr val="BA0066"/>
                    </a:gs>
                    <a:gs pos="95000">
                      <a:srgbClr val="FF0000"/>
                    </a:gs>
                    <a:gs pos="100000">
                      <a:srgbClr val="FF8200"/>
                    </a:gs>
                  </a:gsLst>
                  <a:lin ang="5400000" scaled="1"/>
                </a:gradFill>
                <a:effectLst>
                  <a:prstShdw prst="shdw13" dist="53882" dir="13500000">
                    <a:srgbClr val="868686">
                      <a:alpha val="50000"/>
                    </a:srgbClr>
                  </a:prstShdw>
                </a:effectLst>
                <a:latin typeface="Times New Roman"/>
                <a:cs typeface="Times New Roman"/>
              </a:rPr>
              <a:t>STORAGE CLASS</a:t>
            </a:r>
          </a:p>
        </p:txBody>
      </p:sp>
      <p:sp>
        <p:nvSpPr>
          <p:cNvPr id="21507" name="Text Box 3"/>
          <p:cNvSpPr txBox="1">
            <a:spLocks noChangeArrowheads="1"/>
          </p:cNvSpPr>
          <p:nvPr/>
        </p:nvSpPr>
        <p:spPr bwMode="auto">
          <a:xfrm>
            <a:off x="381000" y="1371600"/>
            <a:ext cx="8763000" cy="854075"/>
          </a:xfrm>
          <a:prstGeom prst="rect">
            <a:avLst/>
          </a:prstGeom>
          <a:noFill/>
          <a:ln w="9525">
            <a:noFill/>
            <a:miter lim="800000"/>
            <a:headEnd/>
            <a:tailEnd/>
          </a:ln>
        </p:spPr>
        <p:txBody>
          <a:bodyPr>
            <a:spAutoFit/>
          </a:bodyPr>
          <a:lstStyle/>
          <a:p>
            <a:pPr algn="ctr">
              <a:spcBef>
                <a:spcPct val="50000"/>
              </a:spcBef>
            </a:pPr>
            <a:r>
              <a:rPr lang="en-US" sz="2000" b="1"/>
              <a:t>Every ‘C++’ variable has a characteristic called its Storage Class.</a:t>
            </a:r>
          </a:p>
          <a:p>
            <a:pPr algn="ctr">
              <a:spcBef>
                <a:spcPct val="50000"/>
              </a:spcBef>
            </a:pPr>
            <a:r>
              <a:rPr lang="en-US" sz="2000" b="1"/>
              <a:t>All variables have datatype and storage classes</a:t>
            </a:r>
          </a:p>
        </p:txBody>
      </p:sp>
      <p:sp>
        <p:nvSpPr>
          <p:cNvPr id="21508" name="WordArt 4"/>
          <p:cNvSpPr>
            <a:spLocks noChangeArrowheads="1" noChangeShapeType="1" noTextEdit="1"/>
          </p:cNvSpPr>
          <p:nvPr/>
        </p:nvSpPr>
        <p:spPr bwMode="auto">
          <a:xfrm>
            <a:off x="2895600" y="2286000"/>
            <a:ext cx="2971800" cy="533400"/>
          </a:xfrm>
          <a:prstGeom prst="rect">
            <a:avLst/>
          </a:prstGeom>
        </p:spPr>
        <p:txBody>
          <a:bodyPr wrap="none" fromWordArt="1">
            <a:prstTxWarp prst="textPlain">
              <a:avLst>
                <a:gd name="adj" fmla="val 50000"/>
              </a:avLst>
            </a:prstTxWarp>
          </a:bodyPr>
          <a:lstStyle/>
          <a:p>
            <a:pPr algn="ctr"/>
            <a:r>
              <a:rPr lang="en-IN" sz="3600" b="1"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a:rPr>
              <a:t>Based On</a:t>
            </a:r>
          </a:p>
        </p:txBody>
      </p:sp>
      <p:sp>
        <p:nvSpPr>
          <p:cNvPr id="21509" name="AutoShape 5"/>
          <p:cNvSpPr>
            <a:spLocks noChangeArrowheads="1"/>
          </p:cNvSpPr>
          <p:nvPr/>
        </p:nvSpPr>
        <p:spPr bwMode="auto">
          <a:xfrm>
            <a:off x="2209800" y="3429000"/>
            <a:ext cx="5562600" cy="2667000"/>
          </a:xfrm>
          <a:prstGeom prst="cloudCallout">
            <a:avLst>
              <a:gd name="adj1" fmla="val -30796"/>
              <a:gd name="adj2" fmla="val -74333"/>
            </a:avLst>
          </a:prstGeom>
          <a:solidFill>
            <a:schemeClr val="accent1"/>
          </a:solidFill>
          <a:ln w="9525">
            <a:solidFill>
              <a:schemeClr val="tx1"/>
            </a:solidFill>
            <a:round/>
            <a:headEnd/>
            <a:tailEnd/>
          </a:ln>
        </p:spPr>
        <p:txBody>
          <a:bodyPr/>
          <a:lstStyle/>
          <a:p>
            <a:pPr>
              <a:buFont typeface="Wingdings" pitchFamily="2" charset="2"/>
              <a:buChar char="ü"/>
            </a:pPr>
            <a:r>
              <a:rPr lang="en-US" sz="2400" b="1"/>
              <a:t>  Keyword</a:t>
            </a:r>
          </a:p>
          <a:p>
            <a:pPr>
              <a:buFont typeface="Wingdings" pitchFamily="2" charset="2"/>
              <a:buChar char="ü"/>
            </a:pPr>
            <a:r>
              <a:rPr lang="en-US" sz="2400" b="1"/>
              <a:t>  Where it is Declared</a:t>
            </a:r>
          </a:p>
          <a:p>
            <a:pPr>
              <a:buFont typeface="Wingdings" pitchFamily="2" charset="2"/>
              <a:buChar char="ü"/>
            </a:pPr>
            <a:r>
              <a:rPr lang="en-US" sz="2400" b="1"/>
              <a:t>  Storage Area</a:t>
            </a:r>
          </a:p>
          <a:p>
            <a:pPr>
              <a:buFont typeface="Wingdings" pitchFamily="2" charset="2"/>
              <a:buChar char="ü"/>
            </a:pPr>
            <a:r>
              <a:rPr lang="en-US" sz="2400" b="1"/>
              <a:t>  Default Initial value</a:t>
            </a:r>
          </a:p>
          <a:p>
            <a:pPr>
              <a:buFont typeface="Wingdings" pitchFamily="2" charset="2"/>
              <a:buChar char="ü"/>
            </a:pPr>
            <a:r>
              <a:rPr lang="en-US" sz="2400" b="1"/>
              <a:t>  Lifetime of a variable</a:t>
            </a: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WordArt 2"/>
          <p:cNvSpPr>
            <a:spLocks noChangeArrowheads="1" noChangeShapeType="1" noTextEdit="1"/>
          </p:cNvSpPr>
          <p:nvPr/>
        </p:nvSpPr>
        <p:spPr bwMode="auto">
          <a:xfrm>
            <a:off x="1676400" y="457200"/>
            <a:ext cx="5486400" cy="685800"/>
          </a:xfrm>
          <a:prstGeom prst="rect">
            <a:avLst/>
          </a:prstGeom>
        </p:spPr>
        <p:txBody>
          <a:bodyPr wrap="none" fromWordArt="1">
            <a:prstTxWarp prst="textPlain">
              <a:avLst>
                <a:gd name="adj" fmla="val 50000"/>
              </a:avLst>
            </a:prstTxWarp>
          </a:bodyPr>
          <a:lstStyle/>
          <a:p>
            <a:pPr algn="ctr"/>
            <a:r>
              <a:rPr lang="en-IN" sz="3600" kern="10">
                <a:ln w="9525">
                  <a:solidFill>
                    <a:srgbClr val="000000"/>
                  </a:solidFill>
                  <a:round/>
                  <a:headEnd/>
                  <a:tailEnd/>
                </a:ln>
                <a:solidFill>
                  <a:srgbClr val="FF0066"/>
                </a:solidFill>
                <a:latin typeface="Arial Black"/>
              </a:rPr>
              <a:t>Four different storage classes in "c++"</a:t>
            </a:r>
          </a:p>
        </p:txBody>
      </p:sp>
      <p:sp>
        <p:nvSpPr>
          <p:cNvPr id="22531" name="AutoShape 3"/>
          <p:cNvSpPr>
            <a:spLocks noChangeArrowheads="1"/>
          </p:cNvSpPr>
          <p:nvPr/>
        </p:nvSpPr>
        <p:spPr bwMode="auto">
          <a:xfrm>
            <a:off x="1905000" y="1676400"/>
            <a:ext cx="5334000" cy="2209800"/>
          </a:xfrm>
          <a:prstGeom prst="wedgeRectCallout">
            <a:avLst>
              <a:gd name="adj1" fmla="val -34139"/>
              <a:gd name="adj2" fmla="val -75718"/>
            </a:avLst>
          </a:prstGeom>
          <a:solidFill>
            <a:srgbClr val="FFCC66"/>
          </a:solidFill>
          <a:ln w="9525">
            <a:solidFill>
              <a:schemeClr val="tx1"/>
            </a:solidFill>
            <a:miter lim="800000"/>
            <a:headEnd/>
            <a:tailEnd/>
          </a:ln>
        </p:spPr>
        <p:txBody>
          <a:bodyPr/>
          <a:lstStyle/>
          <a:p>
            <a:pPr marL="342900" indent="-342900">
              <a:lnSpc>
                <a:spcPct val="135000"/>
              </a:lnSpc>
              <a:buFontTx/>
              <a:buAutoNum type="arabicPeriod"/>
            </a:pPr>
            <a:r>
              <a:rPr lang="en-US" sz="2400" b="1"/>
              <a:t>Local or Auto or Internal variable</a:t>
            </a:r>
          </a:p>
          <a:p>
            <a:pPr marL="342900" indent="-342900">
              <a:lnSpc>
                <a:spcPct val="135000"/>
              </a:lnSpc>
              <a:buFontTx/>
              <a:buAutoNum type="arabicPeriod"/>
            </a:pPr>
            <a:r>
              <a:rPr lang="en-US" sz="2400" b="1"/>
              <a:t> External or Global variable</a:t>
            </a:r>
          </a:p>
          <a:p>
            <a:pPr marL="342900" indent="-342900">
              <a:lnSpc>
                <a:spcPct val="135000"/>
              </a:lnSpc>
              <a:buFontTx/>
              <a:buAutoNum type="arabicPeriod"/>
            </a:pPr>
            <a:r>
              <a:rPr lang="en-US" sz="2400" b="1"/>
              <a:t>Static variable</a:t>
            </a:r>
          </a:p>
          <a:p>
            <a:pPr marL="342900" indent="-342900">
              <a:lnSpc>
                <a:spcPct val="135000"/>
              </a:lnSpc>
              <a:buFontTx/>
              <a:buAutoNum type="arabicPeriod"/>
            </a:pPr>
            <a:r>
              <a:rPr lang="en-US" sz="2400" b="1"/>
              <a:t>Register Variable</a:t>
            </a: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WordArt 2" descr="Purple mesh"/>
          <p:cNvSpPr>
            <a:spLocks noChangeArrowheads="1" noChangeShapeType="1" noTextEdit="1"/>
          </p:cNvSpPr>
          <p:nvPr/>
        </p:nvSpPr>
        <p:spPr bwMode="auto">
          <a:xfrm>
            <a:off x="1752600" y="2362200"/>
            <a:ext cx="5638800" cy="1600200"/>
          </a:xfrm>
          <a:prstGeom prst="rect">
            <a:avLst/>
          </a:prstGeom>
        </p:spPr>
        <p:txBody>
          <a:bodyPr wrap="none" fromWordArt="1">
            <a:prstTxWarp prst="textSlantUp">
              <a:avLst>
                <a:gd name="adj" fmla="val 55556"/>
              </a:avLst>
            </a:prstTxWarp>
          </a:bodyPr>
          <a:lstStyle/>
          <a:p>
            <a:pPr algn="ctr"/>
            <a:r>
              <a:rPr lang="en-IN" sz="3600" kern="10">
                <a:ln w="9525">
                  <a:noFill/>
                  <a:round/>
                  <a:headEnd/>
                  <a:tailEnd/>
                </a:ln>
                <a:blipFill dpi="0" rotWithShape="1">
                  <a:blip r:embed="rId2"/>
                  <a:srcRect/>
                  <a:tile tx="0" ty="0" sx="100000" sy="100000" flip="none" algn="tl"/>
                </a:blipFill>
                <a:effectLst>
                  <a:outerShdw dist="35921" dir="2700000" algn="ctr" rotWithShape="0">
                    <a:srgbClr val="C0C0C0">
                      <a:alpha val="79999"/>
                    </a:srgbClr>
                  </a:outerShdw>
                </a:effectLst>
                <a:latin typeface="Impact"/>
              </a:rPr>
              <a:t>Local Variable</a:t>
            </a: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ChangeArrowheads="1"/>
          </p:cNvSpPr>
          <p:nvPr/>
        </p:nvSpPr>
        <p:spPr bwMode="auto">
          <a:xfrm>
            <a:off x="76200" y="76200"/>
            <a:ext cx="4419600" cy="6451600"/>
          </a:xfrm>
          <a:prstGeom prst="rect">
            <a:avLst/>
          </a:prstGeom>
          <a:noFill/>
          <a:ln w="9525">
            <a:solidFill>
              <a:srgbClr val="FF0066"/>
            </a:solidFill>
            <a:miter lim="800000"/>
            <a:headEnd/>
            <a:tailEnd/>
          </a:ln>
        </p:spPr>
        <p:txBody>
          <a:bodyPr>
            <a:spAutoFit/>
          </a:bodyPr>
          <a:lstStyle/>
          <a:p>
            <a:pPr algn="just">
              <a:lnSpc>
                <a:spcPct val="130000"/>
              </a:lnSpc>
            </a:pPr>
            <a:r>
              <a:rPr lang="en-US" sz="2000" b="1"/>
              <a:t>Auto variable are always declared within a function and they are local to the function in which they are declared. Hence they are also named as local variables</a:t>
            </a:r>
          </a:p>
          <a:p>
            <a:pPr algn="just">
              <a:lnSpc>
                <a:spcPct val="130000"/>
              </a:lnSpc>
            </a:pPr>
            <a:endParaRPr lang="en-US" sz="2000" b="1"/>
          </a:p>
          <a:p>
            <a:pPr algn="just">
              <a:lnSpc>
                <a:spcPct val="130000"/>
              </a:lnSpc>
            </a:pPr>
            <a:r>
              <a:rPr lang="en-US" sz="2000" b="1" u="sng"/>
              <a:t>Keyword :</a:t>
            </a:r>
            <a:r>
              <a:rPr lang="en-US" sz="2000" b="1"/>
              <a:t> auto </a:t>
            </a:r>
          </a:p>
          <a:p>
            <a:pPr algn="just">
              <a:lnSpc>
                <a:spcPct val="130000"/>
              </a:lnSpc>
            </a:pPr>
            <a:r>
              <a:rPr lang="en-US" sz="2000" b="1" u="sng"/>
              <a:t>Declaration :</a:t>
            </a:r>
            <a:r>
              <a:rPr lang="en-US" sz="2000" b="1"/>
              <a:t> Inside the function</a:t>
            </a:r>
          </a:p>
          <a:p>
            <a:pPr algn="just">
              <a:lnSpc>
                <a:spcPct val="130000"/>
              </a:lnSpc>
            </a:pPr>
            <a:r>
              <a:rPr lang="en-US" sz="2000" b="1" u="sng"/>
              <a:t>Storage Area :</a:t>
            </a:r>
            <a:r>
              <a:rPr lang="en-US" sz="2000" b="1"/>
              <a:t> Stack</a:t>
            </a:r>
          </a:p>
          <a:p>
            <a:pPr algn="just">
              <a:lnSpc>
                <a:spcPct val="130000"/>
              </a:lnSpc>
            </a:pPr>
            <a:r>
              <a:rPr lang="en-US" sz="2000" b="1" u="sng"/>
              <a:t>Initial Value :</a:t>
            </a:r>
            <a:r>
              <a:rPr lang="en-US" sz="2000" b="1"/>
              <a:t> Garbage value               (At the time of compilation compiler assigns any value)</a:t>
            </a:r>
          </a:p>
          <a:p>
            <a:pPr algn="just">
              <a:lnSpc>
                <a:spcPct val="130000"/>
              </a:lnSpc>
            </a:pPr>
            <a:r>
              <a:rPr lang="en-US" sz="2000" b="1" u="sng"/>
              <a:t>Lifetime :</a:t>
            </a:r>
            <a:r>
              <a:rPr lang="en-US" sz="2000" b="1"/>
              <a:t> Upto that function only</a:t>
            </a:r>
          </a:p>
          <a:p>
            <a:pPr algn="just">
              <a:lnSpc>
                <a:spcPct val="130000"/>
              </a:lnSpc>
            </a:pPr>
            <a:endParaRPr lang="en-US" sz="2000" b="1"/>
          </a:p>
          <a:p>
            <a:pPr algn="just">
              <a:lnSpc>
                <a:spcPct val="130000"/>
              </a:lnSpc>
            </a:pPr>
            <a:r>
              <a:rPr lang="en-US" sz="2000" b="1"/>
              <a:t>Example :</a:t>
            </a:r>
          </a:p>
          <a:p>
            <a:pPr algn="just">
              <a:lnSpc>
                <a:spcPct val="130000"/>
              </a:lnSpc>
            </a:pPr>
            <a:r>
              <a:rPr lang="en-US" sz="2000" b="1"/>
              <a:t>auto int x;  (or)  int x;</a:t>
            </a:r>
          </a:p>
        </p:txBody>
      </p:sp>
      <p:sp>
        <p:nvSpPr>
          <p:cNvPr id="24579" name="Rectangle 3"/>
          <p:cNvSpPr>
            <a:spLocks noChangeArrowheads="1"/>
          </p:cNvSpPr>
          <p:nvPr/>
        </p:nvSpPr>
        <p:spPr bwMode="auto">
          <a:xfrm>
            <a:off x="4495800" y="88900"/>
            <a:ext cx="4419600" cy="6746875"/>
          </a:xfrm>
          <a:prstGeom prst="rect">
            <a:avLst/>
          </a:prstGeom>
          <a:noFill/>
          <a:ln w="9525">
            <a:solidFill>
              <a:srgbClr val="FF0066"/>
            </a:solidFill>
            <a:miter lim="800000"/>
            <a:headEnd/>
            <a:tailEnd/>
          </a:ln>
        </p:spPr>
        <p:txBody>
          <a:bodyPr>
            <a:spAutoFit/>
          </a:bodyPr>
          <a:lstStyle/>
          <a:p>
            <a:r>
              <a:rPr lang="en-US" sz="2000" b="1"/>
              <a:t>#include&lt;iostream.h&gt;</a:t>
            </a:r>
          </a:p>
          <a:p>
            <a:r>
              <a:rPr lang="en-US" sz="2000" b="1"/>
              <a:t>void function1();</a:t>
            </a:r>
          </a:p>
          <a:p>
            <a:r>
              <a:rPr lang="en-US" sz="2000" b="1"/>
              <a:t>void function2();</a:t>
            </a:r>
          </a:p>
          <a:p>
            <a:r>
              <a:rPr lang="en-US" sz="2000" b="1"/>
              <a:t>void main()</a:t>
            </a:r>
          </a:p>
          <a:p>
            <a:r>
              <a:rPr lang="en-US" sz="2000" b="1"/>
              <a:t>{</a:t>
            </a:r>
          </a:p>
          <a:p>
            <a:r>
              <a:rPr lang="en-US" sz="2000" b="1"/>
              <a:t>int m=1000;</a:t>
            </a:r>
          </a:p>
          <a:p>
            <a:r>
              <a:rPr lang="en-US" sz="2000" b="1"/>
              <a:t>function2();</a:t>
            </a:r>
          </a:p>
          <a:p>
            <a:r>
              <a:rPr lang="en-US" sz="2000" b="1"/>
              <a:t>cout&lt;&lt;m;</a:t>
            </a:r>
          </a:p>
          <a:p>
            <a:r>
              <a:rPr lang="en-US" sz="2000" b="1"/>
              <a:t>}</a:t>
            </a:r>
          </a:p>
          <a:p>
            <a:endParaRPr lang="en-US" sz="2000" b="1"/>
          </a:p>
          <a:p>
            <a:r>
              <a:rPr lang="en-US" sz="2000" b="1"/>
              <a:t>void function1()</a:t>
            </a:r>
          </a:p>
          <a:p>
            <a:r>
              <a:rPr lang="en-US" sz="2000" b="1"/>
              <a:t>{</a:t>
            </a:r>
          </a:p>
          <a:p>
            <a:r>
              <a:rPr lang="en-US" sz="2000" b="1"/>
              <a:t>int m=10;</a:t>
            </a:r>
          </a:p>
          <a:p>
            <a:r>
              <a:rPr lang="en-US" b="1">
                <a:latin typeface="Verdana" pitchFamily="34" charset="0"/>
              </a:rPr>
              <a:t>cout&lt;&lt;m;</a:t>
            </a:r>
          </a:p>
          <a:p>
            <a:r>
              <a:rPr lang="en-US" sz="2000" b="1"/>
              <a:t>}</a:t>
            </a:r>
          </a:p>
          <a:p>
            <a:endParaRPr lang="en-US" sz="2000" b="1"/>
          </a:p>
          <a:p>
            <a:r>
              <a:rPr lang="en-US" sz="2000" b="1"/>
              <a:t>void function2()</a:t>
            </a:r>
          </a:p>
          <a:p>
            <a:r>
              <a:rPr lang="en-US" sz="2000" b="1"/>
              <a:t>{</a:t>
            </a:r>
          </a:p>
          <a:p>
            <a:r>
              <a:rPr lang="en-US" sz="2000" b="1"/>
              <a:t>int m=100;</a:t>
            </a:r>
          </a:p>
          <a:p>
            <a:r>
              <a:rPr lang="en-US" sz="2000" b="1"/>
              <a:t>function1();</a:t>
            </a:r>
          </a:p>
          <a:p>
            <a:r>
              <a:rPr lang="en-US" b="1">
                <a:latin typeface="Verdana" pitchFamily="34" charset="0"/>
              </a:rPr>
              <a:t>cout&lt;&lt;m;</a:t>
            </a:r>
          </a:p>
          <a:p>
            <a:r>
              <a:rPr lang="en-US" sz="2000" b="1"/>
              <a:t>}</a:t>
            </a: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ChangeArrowheads="1"/>
          </p:cNvSpPr>
          <p:nvPr/>
        </p:nvSpPr>
        <p:spPr bwMode="auto">
          <a:xfrm>
            <a:off x="533400" y="1371600"/>
            <a:ext cx="7543800" cy="3944938"/>
          </a:xfrm>
          <a:prstGeom prst="rect">
            <a:avLst/>
          </a:prstGeom>
          <a:noFill/>
          <a:ln w="9525">
            <a:solidFill>
              <a:srgbClr val="CC0066"/>
            </a:solidFill>
            <a:miter lim="800000"/>
            <a:headEnd/>
            <a:tailEnd/>
          </a:ln>
        </p:spPr>
        <p:txBody>
          <a:bodyPr>
            <a:spAutoFit/>
          </a:bodyPr>
          <a:lstStyle/>
          <a:p>
            <a:pPr eaLnBrk="0" hangingPunct="0"/>
            <a:r>
              <a:rPr lang="en-US" sz="2800" b="1">
                <a:solidFill>
                  <a:srgbClr val="000099"/>
                </a:solidFill>
                <a:latin typeface="Bookman Old Style" pitchFamily="18" charset="0"/>
              </a:rPr>
              <a:t>#include&lt;iostream.h&gt;</a:t>
            </a:r>
          </a:p>
          <a:p>
            <a:pPr eaLnBrk="0" hangingPunct="0"/>
            <a:r>
              <a:rPr lang="en-US" sz="2800" b="1">
                <a:solidFill>
                  <a:srgbClr val="000099"/>
                </a:solidFill>
                <a:latin typeface="Bookman Old Style" pitchFamily="18" charset="0"/>
              </a:rPr>
              <a:t>#include&lt;conio.h&gt;</a:t>
            </a:r>
          </a:p>
          <a:p>
            <a:pPr eaLnBrk="0" hangingPunct="0"/>
            <a:r>
              <a:rPr lang="en-US" sz="2800" b="1">
                <a:solidFill>
                  <a:srgbClr val="000099"/>
                </a:solidFill>
                <a:latin typeface="Bookman Old Style" pitchFamily="18" charset="0"/>
              </a:rPr>
              <a:t>void main()</a:t>
            </a:r>
          </a:p>
          <a:p>
            <a:pPr eaLnBrk="0" hangingPunct="0"/>
            <a:r>
              <a:rPr lang="en-US" sz="2800" b="1">
                <a:solidFill>
                  <a:srgbClr val="000099"/>
                </a:solidFill>
                <a:latin typeface="Bookman Old Style" pitchFamily="18" charset="0"/>
              </a:rPr>
              <a:t>{</a:t>
            </a:r>
          </a:p>
          <a:p>
            <a:pPr eaLnBrk="0" hangingPunct="0"/>
            <a:r>
              <a:rPr lang="en-US" sz="2800" b="1">
                <a:solidFill>
                  <a:srgbClr val="000099"/>
                </a:solidFill>
                <a:latin typeface="Bookman Old Style" pitchFamily="18" charset="0"/>
              </a:rPr>
              <a:t>auto int x=1;  //same as int x;</a:t>
            </a:r>
          </a:p>
          <a:p>
            <a:pPr eaLnBrk="0" hangingPunct="0"/>
            <a:r>
              <a:rPr lang="en-US" sz="2800" b="1">
                <a:solidFill>
                  <a:srgbClr val="000099"/>
                </a:solidFill>
                <a:latin typeface="Bookman Old Style" pitchFamily="18" charset="0"/>
              </a:rPr>
              <a:t>clrscr();</a:t>
            </a:r>
          </a:p>
          <a:p>
            <a:pPr eaLnBrk="0" hangingPunct="0"/>
            <a:r>
              <a:rPr lang="en-US" sz="2800" b="1">
                <a:solidFill>
                  <a:srgbClr val="000099"/>
                </a:solidFill>
                <a:latin typeface="Bookman Old Style" pitchFamily="18" charset="0"/>
              </a:rPr>
              <a:t>cout&lt;&lt;endl&lt;&lt;x;</a:t>
            </a:r>
          </a:p>
          <a:p>
            <a:pPr eaLnBrk="0" hangingPunct="0"/>
            <a:r>
              <a:rPr lang="en-US" sz="2800" b="1">
                <a:solidFill>
                  <a:srgbClr val="000099"/>
                </a:solidFill>
                <a:latin typeface="Bookman Old Style" pitchFamily="18" charset="0"/>
              </a:rPr>
              <a:t>getch();</a:t>
            </a:r>
          </a:p>
          <a:p>
            <a:pPr eaLnBrk="0" hangingPunct="0"/>
            <a:r>
              <a:rPr lang="en-US" sz="2800" b="1">
                <a:solidFill>
                  <a:srgbClr val="000099"/>
                </a:solidFill>
                <a:latin typeface="Bookman Old Style" pitchFamily="18" charset="0"/>
              </a:rPr>
              <a:t>}</a:t>
            </a:r>
          </a:p>
        </p:txBody>
      </p:sp>
      <p:sp>
        <p:nvSpPr>
          <p:cNvPr id="25603" name="WordArt 3"/>
          <p:cNvSpPr>
            <a:spLocks noChangeArrowheads="1" noChangeShapeType="1" noTextEdit="1"/>
          </p:cNvSpPr>
          <p:nvPr/>
        </p:nvSpPr>
        <p:spPr bwMode="auto">
          <a:xfrm>
            <a:off x="1828800" y="533400"/>
            <a:ext cx="5562600" cy="708025"/>
          </a:xfrm>
          <a:prstGeom prst="rect">
            <a:avLst/>
          </a:prstGeom>
        </p:spPr>
        <p:txBody>
          <a:bodyPr wrap="none" fromWordArt="1">
            <a:prstTxWarp prst="textWave1">
              <a:avLst>
                <a:gd name="adj1" fmla="val 13005"/>
                <a:gd name="adj2" fmla="val 0"/>
              </a:avLst>
            </a:prstTxWarp>
          </a:bodyPr>
          <a:lstStyle/>
          <a:p>
            <a:pPr algn="ctr"/>
            <a:r>
              <a:rPr lang="en-IN" sz="3600" b="1" kern="10">
                <a:ln w="9525">
                  <a:noFill/>
                  <a:round/>
                  <a:headEnd/>
                  <a:tailEnd/>
                </a:ln>
                <a:solidFill>
                  <a:srgbClr val="0033CC"/>
                </a:solidFill>
                <a:effectLst>
                  <a:outerShdw dist="53882" dir="2700000" algn="ctr" rotWithShape="0">
                    <a:srgbClr val="C0C0C0">
                      <a:alpha val="79999"/>
                    </a:srgbClr>
                  </a:outerShdw>
                </a:effectLst>
                <a:latin typeface="Times New Roman"/>
                <a:cs typeface="Times New Roman"/>
              </a:rPr>
              <a:t>Local Variable</a:t>
            </a:r>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WordArt 2" descr="Purple mesh"/>
          <p:cNvSpPr>
            <a:spLocks noChangeArrowheads="1" noChangeShapeType="1" noTextEdit="1"/>
          </p:cNvSpPr>
          <p:nvPr/>
        </p:nvSpPr>
        <p:spPr bwMode="auto">
          <a:xfrm>
            <a:off x="1752600" y="2362200"/>
            <a:ext cx="5638800" cy="1600200"/>
          </a:xfrm>
          <a:prstGeom prst="rect">
            <a:avLst/>
          </a:prstGeom>
        </p:spPr>
        <p:txBody>
          <a:bodyPr wrap="none" fromWordArt="1">
            <a:prstTxWarp prst="textSlantUp">
              <a:avLst>
                <a:gd name="adj" fmla="val 55556"/>
              </a:avLst>
            </a:prstTxWarp>
          </a:bodyPr>
          <a:lstStyle/>
          <a:p>
            <a:pPr algn="ctr"/>
            <a:r>
              <a:rPr lang="en-IN" sz="3600" kern="10">
                <a:ln w="9525">
                  <a:noFill/>
                  <a:round/>
                  <a:headEnd/>
                  <a:tailEnd/>
                </a:ln>
                <a:blipFill dpi="0" rotWithShape="1">
                  <a:blip r:embed="rId2"/>
                  <a:srcRect/>
                  <a:tile tx="0" ty="0" sx="100000" sy="100000" flip="none" algn="tl"/>
                </a:blipFill>
                <a:effectLst>
                  <a:outerShdw dist="35921" dir="2700000" algn="ctr" rotWithShape="0">
                    <a:srgbClr val="C0C0C0">
                      <a:alpha val="79999"/>
                    </a:srgbClr>
                  </a:outerShdw>
                </a:effectLst>
                <a:latin typeface="Impact"/>
              </a:rPr>
              <a:t>Global Variable</a:t>
            </a: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ChangeArrowheads="1"/>
          </p:cNvSpPr>
          <p:nvPr/>
        </p:nvSpPr>
        <p:spPr bwMode="auto">
          <a:xfrm>
            <a:off x="76200" y="76200"/>
            <a:ext cx="4419600" cy="5926138"/>
          </a:xfrm>
          <a:prstGeom prst="rect">
            <a:avLst/>
          </a:prstGeom>
          <a:noFill/>
          <a:ln w="9525">
            <a:solidFill>
              <a:srgbClr val="FF0066"/>
            </a:solidFill>
            <a:miter lim="800000"/>
            <a:headEnd/>
            <a:tailEnd/>
          </a:ln>
        </p:spPr>
        <p:txBody>
          <a:bodyPr>
            <a:spAutoFit/>
          </a:bodyPr>
          <a:lstStyle/>
          <a:p>
            <a:r>
              <a:rPr lang="en-US" sz="2200" b="1"/>
              <a:t>A variable which can be access with in a function and outside the</a:t>
            </a:r>
          </a:p>
          <a:p>
            <a:r>
              <a:rPr lang="en-US" sz="2200" b="1"/>
              <a:t>main function. These variables are also named as Global variables or External variables</a:t>
            </a:r>
          </a:p>
          <a:p>
            <a:r>
              <a:rPr lang="en-US" sz="2200" b="1" u="sng"/>
              <a:t>Keyword :</a:t>
            </a:r>
            <a:r>
              <a:rPr lang="en-US" sz="2200" b="1"/>
              <a:t> extern</a:t>
            </a:r>
          </a:p>
          <a:p>
            <a:pPr algn="just">
              <a:lnSpc>
                <a:spcPct val="130000"/>
              </a:lnSpc>
            </a:pPr>
            <a:r>
              <a:rPr lang="en-US" sz="2200" b="1" u="sng"/>
              <a:t>Declaration :</a:t>
            </a:r>
            <a:r>
              <a:rPr lang="en-US" sz="2200" b="1"/>
              <a:t> Outside of the  main() function</a:t>
            </a:r>
          </a:p>
          <a:p>
            <a:pPr algn="just">
              <a:lnSpc>
                <a:spcPct val="130000"/>
              </a:lnSpc>
            </a:pPr>
            <a:r>
              <a:rPr lang="en-US" sz="2200" b="1" u="sng"/>
              <a:t>Storage Area :</a:t>
            </a:r>
            <a:r>
              <a:rPr lang="en-US" sz="2200" b="1"/>
              <a:t> CPU–memory</a:t>
            </a:r>
          </a:p>
          <a:p>
            <a:pPr algn="just">
              <a:lnSpc>
                <a:spcPct val="130000"/>
              </a:lnSpc>
            </a:pPr>
            <a:r>
              <a:rPr lang="en-US" sz="2200" b="1" u="sng"/>
              <a:t>Initial Value :</a:t>
            </a:r>
            <a:r>
              <a:rPr lang="en-US" sz="2200" b="1"/>
              <a:t> Garbage value               (At the time of compilation compiler assigns any value)</a:t>
            </a:r>
          </a:p>
          <a:p>
            <a:pPr algn="just">
              <a:lnSpc>
                <a:spcPct val="130000"/>
              </a:lnSpc>
            </a:pPr>
            <a:r>
              <a:rPr lang="en-US" sz="2200" b="1" u="sng"/>
              <a:t>Lifetime :</a:t>
            </a:r>
            <a:r>
              <a:rPr lang="en-US" sz="2200" b="1"/>
              <a:t> Upto the entire program</a:t>
            </a:r>
          </a:p>
        </p:txBody>
      </p:sp>
      <p:sp>
        <p:nvSpPr>
          <p:cNvPr id="27651" name="Rectangle 3"/>
          <p:cNvSpPr>
            <a:spLocks noChangeArrowheads="1"/>
          </p:cNvSpPr>
          <p:nvPr/>
        </p:nvSpPr>
        <p:spPr bwMode="auto">
          <a:xfrm>
            <a:off x="4495800" y="88900"/>
            <a:ext cx="4419600" cy="6692900"/>
          </a:xfrm>
          <a:prstGeom prst="rect">
            <a:avLst/>
          </a:prstGeom>
          <a:noFill/>
          <a:ln w="9525">
            <a:solidFill>
              <a:srgbClr val="FF0066"/>
            </a:solidFill>
            <a:miter lim="800000"/>
            <a:headEnd/>
            <a:tailEnd/>
          </a:ln>
        </p:spPr>
        <p:txBody>
          <a:bodyPr>
            <a:spAutoFit/>
          </a:bodyPr>
          <a:lstStyle/>
          <a:p>
            <a:r>
              <a:rPr lang="en-US" b="1"/>
              <a:t>#include&lt;iostream.h&gt;</a:t>
            </a:r>
          </a:p>
          <a:p>
            <a:r>
              <a:rPr lang="en-US" b="1"/>
              <a:t>int k;  </a:t>
            </a:r>
          </a:p>
          <a:p>
            <a:r>
              <a:rPr lang="en-US" b="1"/>
              <a:t>void function1();</a:t>
            </a:r>
          </a:p>
          <a:p>
            <a:r>
              <a:rPr lang="en-US" b="1"/>
              <a:t>void function2();</a:t>
            </a:r>
          </a:p>
          <a:p>
            <a:r>
              <a:rPr lang="en-US" b="1"/>
              <a:t>void function3();</a:t>
            </a:r>
          </a:p>
          <a:p>
            <a:r>
              <a:rPr lang="en-US" b="1"/>
              <a:t>void main()</a:t>
            </a:r>
          </a:p>
          <a:p>
            <a:r>
              <a:rPr lang="en-US" b="1"/>
              <a:t>{</a:t>
            </a:r>
          </a:p>
          <a:p>
            <a:r>
              <a:rPr lang="en-US" b="1"/>
              <a:t>k=20;</a:t>
            </a:r>
          </a:p>
          <a:p>
            <a:r>
              <a:rPr lang="en-US" b="1"/>
              <a:t>function1();</a:t>
            </a:r>
          </a:p>
          <a:p>
            <a:r>
              <a:rPr lang="en-US" b="1"/>
              <a:t>function2();</a:t>
            </a:r>
          </a:p>
          <a:p>
            <a:r>
              <a:rPr lang="en-US" b="1"/>
              <a:t>function3();</a:t>
            </a:r>
          </a:p>
          <a:p>
            <a:r>
              <a:rPr lang="en-US" b="1"/>
              <a:t>}</a:t>
            </a:r>
          </a:p>
          <a:p>
            <a:r>
              <a:rPr lang="en-US" b="1"/>
              <a:t>void function1()  {</a:t>
            </a:r>
          </a:p>
          <a:p>
            <a:r>
              <a:rPr lang="en-US" b="1"/>
              <a:t>k=k+10;</a:t>
            </a:r>
          </a:p>
          <a:p>
            <a:r>
              <a:rPr lang="en-US" b="1"/>
              <a:t>cout&lt;&lt;k;  }</a:t>
            </a:r>
          </a:p>
          <a:p>
            <a:r>
              <a:rPr lang="en-US" b="1"/>
              <a:t>void function2()</a:t>
            </a:r>
          </a:p>
          <a:p>
            <a:r>
              <a:rPr lang="en-US" b="1"/>
              <a:t>{</a:t>
            </a:r>
          </a:p>
          <a:p>
            <a:r>
              <a:rPr lang="en-US" b="1"/>
              <a:t>k=k+1000;</a:t>
            </a:r>
          </a:p>
          <a:p>
            <a:pPr eaLnBrk="0" hangingPunct="0"/>
            <a:r>
              <a:rPr lang="en-US" b="1">
                <a:latin typeface="Verdana" pitchFamily="34" charset="0"/>
              </a:rPr>
              <a:t>cout&lt;&lt;k;</a:t>
            </a:r>
          </a:p>
          <a:p>
            <a:pPr eaLnBrk="0" hangingPunct="0"/>
            <a:r>
              <a:rPr lang="en-US" b="1"/>
              <a:t>}</a:t>
            </a:r>
          </a:p>
          <a:p>
            <a:r>
              <a:rPr lang="en-US" b="1"/>
              <a:t>void function3()</a:t>
            </a:r>
          </a:p>
          <a:p>
            <a:r>
              <a:rPr lang="en-US" b="1"/>
              <a:t>{</a:t>
            </a:r>
          </a:p>
          <a:p>
            <a:r>
              <a:rPr lang="en-US" b="1"/>
              <a:t>k=k+10;</a:t>
            </a:r>
          </a:p>
          <a:p>
            <a:r>
              <a:rPr lang="en-US" b="1">
                <a:latin typeface="Verdana" pitchFamily="34" charset="0"/>
              </a:rPr>
              <a:t>cout&lt;&lt;k;</a:t>
            </a:r>
            <a:r>
              <a:rPr lang="en-US" b="1"/>
              <a:t>   }</a:t>
            </a: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533400" y="1371600"/>
            <a:ext cx="8382000" cy="461963"/>
          </a:xfrm>
          <a:prstGeom prst="rect">
            <a:avLst/>
          </a:prstGeom>
          <a:noFill/>
          <a:ln w="9525">
            <a:solidFill>
              <a:srgbClr val="CC0066"/>
            </a:solidFill>
            <a:miter lim="800000"/>
            <a:headEnd/>
            <a:tailEnd/>
          </a:ln>
        </p:spPr>
        <p:txBody>
          <a:bodyPr>
            <a:spAutoFit/>
          </a:bodyPr>
          <a:lstStyle/>
          <a:p>
            <a:pPr eaLnBrk="0" hangingPunct="0"/>
            <a:endParaRPr lang="en-US" sz="2400" b="1">
              <a:solidFill>
                <a:srgbClr val="000066"/>
              </a:solidFill>
              <a:latin typeface="Bookman Old Style" pitchFamily="18" charset="0"/>
            </a:endParaRPr>
          </a:p>
        </p:txBody>
      </p:sp>
      <p:sp>
        <p:nvSpPr>
          <p:cNvPr id="28675" name="WordArt 3"/>
          <p:cNvSpPr>
            <a:spLocks noChangeArrowheads="1" noChangeShapeType="1" noTextEdit="1"/>
          </p:cNvSpPr>
          <p:nvPr/>
        </p:nvSpPr>
        <p:spPr bwMode="auto">
          <a:xfrm>
            <a:off x="1828800" y="533400"/>
            <a:ext cx="5562600" cy="708025"/>
          </a:xfrm>
          <a:prstGeom prst="rect">
            <a:avLst/>
          </a:prstGeom>
        </p:spPr>
        <p:txBody>
          <a:bodyPr wrap="none" fromWordArt="1">
            <a:prstTxWarp prst="textWave1">
              <a:avLst>
                <a:gd name="adj1" fmla="val 13005"/>
                <a:gd name="adj2" fmla="val 0"/>
              </a:avLst>
            </a:prstTxWarp>
          </a:bodyPr>
          <a:lstStyle/>
          <a:p>
            <a:pPr algn="ctr"/>
            <a:r>
              <a:rPr lang="en-IN" sz="3600" b="1" kern="10">
                <a:ln w="9525">
                  <a:noFill/>
                  <a:round/>
                  <a:headEnd/>
                  <a:tailEnd/>
                </a:ln>
                <a:solidFill>
                  <a:srgbClr val="0033CC"/>
                </a:solidFill>
                <a:effectLst>
                  <a:outerShdw dist="53882" dir="2700000" algn="ctr" rotWithShape="0">
                    <a:srgbClr val="C0C0C0">
                      <a:alpha val="79999"/>
                    </a:srgbClr>
                  </a:outerShdw>
                </a:effectLst>
                <a:latin typeface="Times New Roman"/>
                <a:cs typeface="Times New Roman"/>
              </a:rPr>
              <a:t>Global Variable</a:t>
            </a:r>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WordArt 2" descr="Purple mesh"/>
          <p:cNvSpPr>
            <a:spLocks noChangeArrowheads="1" noChangeShapeType="1" noTextEdit="1"/>
          </p:cNvSpPr>
          <p:nvPr/>
        </p:nvSpPr>
        <p:spPr bwMode="auto">
          <a:xfrm>
            <a:off x="1752600" y="2362200"/>
            <a:ext cx="5638800" cy="1600200"/>
          </a:xfrm>
          <a:prstGeom prst="rect">
            <a:avLst/>
          </a:prstGeom>
        </p:spPr>
        <p:txBody>
          <a:bodyPr wrap="none" fromWordArt="1">
            <a:prstTxWarp prst="textSlantUp">
              <a:avLst>
                <a:gd name="adj" fmla="val 55556"/>
              </a:avLst>
            </a:prstTxWarp>
          </a:bodyPr>
          <a:lstStyle/>
          <a:p>
            <a:pPr algn="ctr"/>
            <a:r>
              <a:rPr lang="en-IN" sz="3600" kern="10">
                <a:ln w="9525">
                  <a:noFill/>
                  <a:round/>
                  <a:headEnd/>
                  <a:tailEnd/>
                </a:ln>
                <a:blipFill dpi="0" rotWithShape="1">
                  <a:blip r:embed="rId2"/>
                  <a:srcRect/>
                  <a:tile tx="0" ty="0" sx="100000" sy="100000" flip="none" algn="tl"/>
                </a:blipFill>
                <a:effectLst>
                  <a:outerShdw dist="35921" dir="2700000" algn="ctr" rotWithShape="0">
                    <a:srgbClr val="C0C0C0">
                      <a:alpha val="79999"/>
                    </a:srgbClr>
                  </a:outerShdw>
                </a:effectLst>
                <a:latin typeface="Impact"/>
              </a:rPr>
              <a:t>Static Variable</a:t>
            </a: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ChangeArrowheads="1"/>
          </p:cNvSpPr>
          <p:nvPr/>
        </p:nvSpPr>
        <p:spPr bwMode="auto">
          <a:xfrm>
            <a:off x="0" y="12700"/>
            <a:ext cx="4572000" cy="5016500"/>
          </a:xfrm>
          <a:prstGeom prst="rect">
            <a:avLst/>
          </a:prstGeom>
          <a:noFill/>
          <a:ln w="9525">
            <a:solidFill>
              <a:srgbClr val="FF0066"/>
            </a:solidFill>
            <a:miter lim="800000"/>
            <a:headEnd/>
            <a:tailEnd/>
          </a:ln>
        </p:spPr>
        <p:txBody>
          <a:bodyPr>
            <a:spAutoFit/>
          </a:bodyPr>
          <a:lstStyle/>
          <a:p>
            <a:pPr algn="just"/>
            <a:r>
              <a:rPr lang="en-US" sz="2000" b="1">
                <a:solidFill>
                  <a:srgbClr val="000066"/>
                </a:solidFill>
              </a:rPr>
              <a:t>This variable static is constant and the value is continued in all the</a:t>
            </a:r>
          </a:p>
          <a:p>
            <a:pPr algn="just"/>
            <a:r>
              <a:rPr lang="en-US" sz="2000" b="1">
                <a:solidFill>
                  <a:srgbClr val="000066"/>
                </a:solidFill>
              </a:rPr>
              <a:t>steps. </a:t>
            </a:r>
            <a:endParaRPr lang="en-US" sz="2400" b="1">
              <a:solidFill>
                <a:srgbClr val="000066"/>
              </a:solidFill>
            </a:endParaRPr>
          </a:p>
          <a:p>
            <a:pPr algn="just">
              <a:lnSpc>
                <a:spcPct val="130000"/>
              </a:lnSpc>
            </a:pPr>
            <a:r>
              <a:rPr lang="en-US" sz="2000" b="1" u="sng">
                <a:solidFill>
                  <a:srgbClr val="000066"/>
                </a:solidFill>
              </a:rPr>
              <a:t>Keyword :</a:t>
            </a:r>
            <a:r>
              <a:rPr lang="en-US" sz="2000" b="1">
                <a:solidFill>
                  <a:srgbClr val="000066"/>
                </a:solidFill>
              </a:rPr>
              <a:t> static </a:t>
            </a:r>
          </a:p>
          <a:p>
            <a:pPr algn="just">
              <a:lnSpc>
                <a:spcPct val="130000"/>
              </a:lnSpc>
            </a:pPr>
            <a:r>
              <a:rPr lang="en-US" sz="2000" b="1" u="sng">
                <a:solidFill>
                  <a:srgbClr val="000066"/>
                </a:solidFill>
              </a:rPr>
              <a:t>Declaration :</a:t>
            </a:r>
            <a:r>
              <a:rPr lang="en-US" sz="2000" b="1">
                <a:solidFill>
                  <a:srgbClr val="000066"/>
                </a:solidFill>
              </a:rPr>
              <a:t> Inside the function</a:t>
            </a:r>
          </a:p>
          <a:p>
            <a:pPr algn="just">
              <a:lnSpc>
                <a:spcPct val="130000"/>
              </a:lnSpc>
            </a:pPr>
            <a:r>
              <a:rPr lang="en-US" sz="2000" b="1" u="sng">
                <a:solidFill>
                  <a:srgbClr val="000066"/>
                </a:solidFill>
              </a:rPr>
              <a:t>Storage Area :</a:t>
            </a:r>
            <a:r>
              <a:rPr lang="en-US" sz="2000" b="1">
                <a:solidFill>
                  <a:srgbClr val="000066"/>
                </a:solidFill>
              </a:rPr>
              <a:t> CPU –  memory</a:t>
            </a:r>
          </a:p>
          <a:p>
            <a:pPr algn="just">
              <a:lnSpc>
                <a:spcPct val="130000"/>
              </a:lnSpc>
            </a:pPr>
            <a:r>
              <a:rPr lang="en-US" sz="2000" b="1" u="sng">
                <a:solidFill>
                  <a:srgbClr val="000066"/>
                </a:solidFill>
              </a:rPr>
              <a:t>Initial Value :</a:t>
            </a:r>
            <a:r>
              <a:rPr lang="en-US" sz="2000" b="1">
                <a:solidFill>
                  <a:srgbClr val="000066"/>
                </a:solidFill>
              </a:rPr>
              <a:t> Zero</a:t>
            </a:r>
          </a:p>
          <a:p>
            <a:pPr algn="just">
              <a:lnSpc>
                <a:spcPct val="130000"/>
              </a:lnSpc>
            </a:pPr>
            <a:r>
              <a:rPr lang="en-US" sz="2000" b="1" u="sng">
                <a:solidFill>
                  <a:srgbClr val="000066"/>
                </a:solidFill>
              </a:rPr>
              <a:t>Lifetime :</a:t>
            </a:r>
            <a:r>
              <a:rPr lang="en-US" sz="2000" b="1">
                <a:solidFill>
                  <a:srgbClr val="000066"/>
                </a:solidFill>
              </a:rPr>
              <a:t> The value of the variable persists between different function calls.</a:t>
            </a:r>
          </a:p>
          <a:p>
            <a:pPr algn="just">
              <a:lnSpc>
                <a:spcPct val="130000"/>
              </a:lnSpc>
            </a:pPr>
            <a:r>
              <a:rPr lang="en-US" sz="2000" b="1">
                <a:solidFill>
                  <a:srgbClr val="000066"/>
                </a:solidFill>
              </a:rPr>
              <a:t>Example :</a:t>
            </a:r>
          </a:p>
          <a:p>
            <a:pPr algn="just">
              <a:lnSpc>
                <a:spcPct val="130000"/>
              </a:lnSpc>
            </a:pPr>
            <a:r>
              <a:rPr lang="en-US" sz="2000" b="1">
                <a:solidFill>
                  <a:srgbClr val="000066"/>
                </a:solidFill>
              </a:rPr>
              <a:t>static int x; </a:t>
            </a:r>
          </a:p>
          <a:p>
            <a:pPr algn="just">
              <a:lnSpc>
                <a:spcPct val="130000"/>
              </a:lnSpc>
            </a:pPr>
            <a:endParaRPr lang="en-US" sz="2000" b="1">
              <a:solidFill>
                <a:srgbClr val="000066"/>
              </a:solidFill>
            </a:endParaRPr>
          </a:p>
        </p:txBody>
      </p:sp>
      <p:sp>
        <p:nvSpPr>
          <p:cNvPr id="30723" name="Rectangle 3"/>
          <p:cNvSpPr>
            <a:spLocks noChangeArrowheads="1"/>
          </p:cNvSpPr>
          <p:nvPr/>
        </p:nvSpPr>
        <p:spPr bwMode="auto">
          <a:xfrm>
            <a:off x="4572000" y="0"/>
            <a:ext cx="4572000" cy="4708525"/>
          </a:xfrm>
          <a:prstGeom prst="rect">
            <a:avLst/>
          </a:prstGeom>
          <a:noFill/>
          <a:ln w="9525">
            <a:solidFill>
              <a:srgbClr val="FF0066"/>
            </a:solidFill>
            <a:miter lim="800000"/>
            <a:headEnd/>
            <a:tailEnd/>
          </a:ln>
        </p:spPr>
        <p:txBody>
          <a:bodyPr>
            <a:spAutoFit/>
          </a:bodyPr>
          <a:lstStyle/>
          <a:p>
            <a:r>
              <a:rPr lang="en-US" sz="2000" b="1">
                <a:solidFill>
                  <a:srgbClr val="000066"/>
                </a:solidFill>
              </a:rPr>
              <a:t>/* To print the value of x */</a:t>
            </a:r>
          </a:p>
          <a:p>
            <a:r>
              <a:rPr lang="en-US" sz="2000" b="1">
                <a:solidFill>
                  <a:srgbClr val="000066"/>
                </a:solidFill>
              </a:rPr>
              <a:t>#include&lt;iostream.h&gt;</a:t>
            </a:r>
          </a:p>
          <a:p>
            <a:r>
              <a:rPr lang="en-US" sz="2000" b="1">
                <a:solidFill>
                  <a:srgbClr val="000066"/>
                </a:solidFill>
              </a:rPr>
              <a:t>void stat();</a:t>
            </a:r>
          </a:p>
          <a:p>
            <a:r>
              <a:rPr lang="en-US" sz="2000" b="1">
                <a:solidFill>
                  <a:srgbClr val="000066"/>
                </a:solidFill>
              </a:rPr>
              <a:t>void main()</a:t>
            </a:r>
          </a:p>
          <a:p>
            <a:r>
              <a:rPr lang="en-US" sz="2000" b="1">
                <a:solidFill>
                  <a:srgbClr val="000066"/>
                </a:solidFill>
              </a:rPr>
              <a:t>{</a:t>
            </a:r>
          </a:p>
          <a:p>
            <a:r>
              <a:rPr lang="en-US" sz="2000" b="1">
                <a:solidFill>
                  <a:srgbClr val="000066"/>
                </a:solidFill>
              </a:rPr>
              <a:t>int i;</a:t>
            </a:r>
          </a:p>
          <a:p>
            <a:r>
              <a:rPr lang="en-US" sz="2000" b="1">
                <a:solidFill>
                  <a:srgbClr val="000066"/>
                </a:solidFill>
              </a:rPr>
              <a:t>for(i=1;i&lt;=5;i++)</a:t>
            </a:r>
          </a:p>
          <a:p>
            <a:r>
              <a:rPr lang="en-US" sz="2000" b="1">
                <a:solidFill>
                  <a:srgbClr val="000066"/>
                </a:solidFill>
              </a:rPr>
              <a:t>stat();        //calling</a:t>
            </a:r>
          </a:p>
          <a:p>
            <a:r>
              <a:rPr lang="en-US" sz="2000" b="1">
                <a:solidFill>
                  <a:srgbClr val="000066"/>
                </a:solidFill>
              </a:rPr>
              <a:t>}</a:t>
            </a:r>
          </a:p>
          <a:p>
            <a:r>
              <a:rPr lang="en-US" sz="2000" b="1">
                <a:solidFill>
                  <a:srgbClr val="000066"/>
                </a:solidFill>
              </a:rPr>
              <a:t>void stat()        //definition</a:t>
            </a:r>
          </a:p>
          <a:p>
            <a:r>
              <a:rPr lang="en-US" sz="2000" b="1">
                <a:solidFill>
                  <a:srgbClr val="000066"/>
                </a:solidFill>
              </a:rPr>
              <a:t>{</a:t>
            </a:r>
          </a:p>
          <a:p>
            <a:r>
              <a:rPr lang="en-US" sz="2000" b="1">
                <a:solidFill>
                  <a:srgbClr val="000066"/>
                </a:solidFill>
              </a:rPr>
              <a:t>static int x=0;</a:t>
            </a:r>
          </a:p>
          <a:p>
            <a:r>
              <a:rPr lang="en-US" sz="2000" b="1">
                <a:solidFill>
                  <a:srgbClr val="000066"/>
                </a:solidFill>
              </a:rPr>
              <a:t>cout&lt;&lt;x;</a:t>
            </a:r>
          </a:p>
          <a:p>
            <a:r>
              <a:rPr lang="en-US" sz="2000" b="1">
                <a:solidFill>
                  <a:srgbClr val="000066"/>
                </a:solidFill>
              </a:rPr>
              <a:t>x=x+1;</a:t>
            </a:r>
          </a:p>
          <a:p>
            <a:r>
              <a:rPr lang="en-US" sz="2000" b="1">
                <a:solidFill>
                  <a:srgbClr val="000066"/>
                </a:solidFill>
              </a:rPr>
              <a:t>}</a:t>
            </a:r>
          </a:p>
        </p:txBody>
      </p:sp>
      <p:sp>
        <p:nvSpPr>
          <p:cNvPr id="30724" name="AutoShape 4"/>
          <p:cNvSpPr>
            <a:spLocks noChangeArrowheads="1"/>
          </p:cNvSpPr>
          <p:nvPr/>
        </p:nvSpPr>
        <p:spPr bwMode="auto">
          <a:xfrm>
            <a:off x="6553200" y="5029200"/>
            <a:ext cx="2590800" cy="1828800"/>
          </a:xfrm>
          <a:prstGeom prst="cloudCallout">
            <a:avLst>
              <a:gd name="adj1" fmla="val -63542"/>
              <a:gd name="adj2" fmla="val -33769"/>
            </a:avLst>
          </a:prstGeom>
          <a:solidFill>
            <a:schemeClr val="accent1"/>
          </a:solidFill>
          <a:ln w="9525">
            <a:solidFill>
              <a:schemeClr val="tx1"/>
            </a:solidFill>
            <a:round/>
            <a:headEnd/>
            <a:tailEnd/>
          </a:ln>
        </p:spPr>
        <p:txBody>
          <a:bodyPr/>
          <a:lstStyle/>
          <a:p>
            <a:pPr algn="ctr"/>
            <a:r>
              <a:rPr lang="en-US" sz="1600" b="1"/>
              <a:t>0</a:t>
            </a:r>
          </a:p>
          <a:p>
            <a:pPr algn="ctr"/>
            <a:r>
              <a:rPr lang="en-US" sz="1600" b="1"/>
              <a:t>1</a:t>
            </a:r>
          </a:p>
          <a:p>
            <a:pPr algn="ctr"/>
            <a:r>
              <a:rPr lang="en-US" sz="1600" b="1"/>
              <a:t>2</a:t>
            </a:r>
          </a:p>
          <a:p>
            <a:pPr algn="ctr"/>
            <a:r>
              <a:rPr lang="en-US" sz="1600" b="1"/>
              <a:t>3</a:t>
            </a:r>
          </a:p>
          <a:p>
            <a:pPr algn="ctr"/>
            <a:r>
              <a:rPr lang="en-US" sz="1600" b="1"/>
              <a:t>4</a:t>
            </a:r>
          </a:p>
          <a:p>
            <a:pPr algn="ctr"/>
            <a:r>
              <a:rPr lang="en-US" sz="1600" b="1"/>
              <a:t>5</a:t>
            </a:r>
          </a:p>
        </p:txBody>
      </p:sp>
      <p:sp>
        <p:nvSpPr>
          <p:cNvPr id="30725" name="WordArt 5"/>
          <p:cNvSpPr>
            <a:spLocks noChangeArrowheads="1" noChangeShapeType="1" noTextEdit="1"/>
          </p:cNvSpPr>
          <p:nvPr/>
        </p:nvSpPr>
        <p:spPr bwMode="auto">
          <a:xfrm>
            <a:off x="4495800" y="5181600"/>
            <a:ext cx="1695450" cy="457200"/>
          </a:xfrm>
          <a:prstGeom prst="rect">
            <a:avLst/>
          </a:prstGeom>
        </p:spPr>
        <p:txBody>
          <a:bodyPr wrap="none" fromWordArt="1">
            <a:prstTxWarp prst="textPlain">
              <a:avLst>
                <a:gd name="adj" fmla="val 50000"/>
              </a:avLst>
            </a:prstTxWarp>
          </a:bodyPr>
          <a:lstStyle/>
          <a:p>
            <a:pPr algn="ctr"/>
            <a:r>
              <a:rPr lang="en-IN" sz="3600" kern="10">
                <a:ln w="9525">
                  <a:solidFill>
                    <a:srgbClr val="000000"/>
                  </a:solidFill>
                  <a:round/>
                  <a:headEnd/>
                  <a:tailEnd/>
                </a:ln>
                <a:solidFill>
                  <a:srgbClr val="FFFFFF"/>
                </a:solidFill>
                <a:latin typeface="Arial Black"/>
              </a:rPr>
              <a:t>Output</a:t>
            </a:r>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ChangeArrowheads="1"/>
          </p:cNvSpPr>
          <p:nvPr/>
        </p:nvSpPr>
        <p:spPr bwMode="auto">
          <a:xfrm>
            <a:off x="533400" y="1371600"/>
            <a:ext cx="8305800" cy="3944938"/>
          </a:xfrm>
          <a:prstGeom prst="rect">
            <a:avLst/>
          </a:prstGeom>
          <a:noFill/>
          <a:ln w="9525">
            <a:solidFill>
              <a:srgbClr val="CC0066"/>
            </a:solidFill>
            <a:miter lim="800000"/>
            <a:headEnd/>
            <a:tailEnd/>
          </a:ln>
        </p:spPr>
        <p:txBody>
          <a:bodyPr>
            <a:spAutoFit/>
          </a:bodyPr>
          <a:lstStyle/>
          <a:p>
            <a:pPr eaLnBrk="0" hangingPunct="0"/>
            <a:r>
              <a:rPr lang="en-US" sz="2800" b="1">
                <a:solidFill>
                  <a:srgbClr val="000066"/>
                </a:solidFill>
                <a:latin typeface="Bookman Old Style" pitchFamily="18" charset="0"/>
              </a:rPr>
              <a:t>#include&lt;iostream.h&gt;</a:t>
            </a:r>
          </a:p>
          <a:p>
            <a:pPr eaLnBrk="0" hangingPunct="0"/>
            <a:r>
              <a:rPr lang="en-US" sz="2800" b="1">
                <a:solidFill>
                  <a:srgbClr val="000066"/>
                </a:solidFill>
                <a:latin typeface="Bookman Old Style" pitchFamily="18" charset="0"/>
              </a:rPr>
              <a:t>#include&lt;conio.h&gt;</a:t>
            </a:r>
          </a:p>
          <a:p>
            <a:pPr eaLnBrk="0" hangingPunct="0"/>
            <a:r>
              <a:rPr lang="en-US" sz="2800" b="1">
                <a:solidFill>
                  <a:srgbClr val="000066"/>
                </a:solidFill>
                <a:latin typeface="Bookman Old Style" pitchFamily="18" charset="0"/>
              </a:rPr>
              <a:t>void main()</a:t>
            </a:r>
          </a:p>
          <a:p>
            <a:pPr eaLnBrk="0" hangingPunct="0"/>
            <a:r>
              <a:rPr lang="en-US" sz="2800" b="1">
                <a:solidFill>
                  <a:srgbClr val="000066"/>
                </a:solidFill>
                <a:latin typeface="Bookman Old Style" pitchFamily="18" charset="0"/>
              </a:rPr>
              <a:t>{</a:t>
            </a:r>
          </a:p>
          <a:p>
            <a:pPr eaLnBrk="0" hangingPunct="0"/>
            <a:r>
              <a:rPr lang="en-US" sz="2800" b="1">
                <a:solidFill>
                  <a:srgbClr val="000066"/>
                </a:solidFill>
                <a:latin typeface="Bookman Old Style" pitchFamily="18" charset="0"/>
              </a:rPr>
              <a:t>static int x;</a:t>
            </a:r>
          </a:p>
          <a:p>
            <a:pPr eaLnBrk="0" hangingPunct="0"/>
            <a:r>
              <a:rPr lang="en-US" sz="2800" b="1">
                <a:solidFill>
                  <a:srgbClr val="000066"/>
                </a:solidFill>
                <a:latin typeface="Bookman Old Style" pitchFamily="18" charset="0"/>
              </a:rPr>
              <a:t>clrscr();</a:t>
            </a:r>
          </a:p>
          <a:p>
            <a:pPr eaLnBrk="0" hangingPunct="0"/>
            <a:r>
              <a:rPr lang="en-US" sz="2800" b="1">
                <a:solidFill>
                  <a:srgbClr val="000066"/>
                </a:solidFill>
                <a:latin typeface="Bookman Old Style" pitchFamily="18" charset="0"/>
              </a:rPr>
              <a:t>cout&lt;&lt;endl&lt;&lt;x;</a:t>
            </a:r>
          </a:p>
          <a:p>
            <a:pPr eaLnBrk="0" hangingPunct="0"/>
            <a:r>
              <a:rPr lang="en-US" sz="2800" b="1">
                <a:solidFill>
                  <a:srgbClr val="000066"/>
                </a:solidFill>
                <a:latin typeface="Bookman Old Style" pitchFamily="18" charset="0"/>
              </a:rPr>
              <a:t>getch();</a:t>
            </a:r>
          </a:p>
          <a:p>
            <a:pPr eaLnBrk="0" hangingPunct="0"/>
            <a:r>
              <a:rPr lang="en-US" sz="2800" b="1">
                <a:solidFill>
                  <a:srgbClr val="000066"/>
                </a:solidFill>
                <a:latin typeface="Bookman Old Style" pitchFamily="18" charset="0"/>
              </a:rPr>
              <a:t>}</a:t>
            </a:r>
          </a:p>
        </p:txBody>
      </p:sp>
      <p:sp>
        <p:nvSpPr>
          <p:cNvPr id="31747" name="WordArt 3"/>
          <p:cNvSpPr>
            <a:spLocks noChangeArrowheads="1" noChangeShapeType="1" noTextEdit="1"/>
          </p:cNvSpPr>
          <p:nvPr/>
        </p:nvSpPr>
        <p:spPr bwMode="auto">
          <a:xfrm>
            <a:off x="1828800" y="533400"/>
            <a:ext cx="5562600" cy="708025"/>
          </a:xfrm>
          <a:prstGeom prst="rect">
            <a:avLst/>
          </a:prstGeom>
        </p:spPr>
        <p:txBody>
          <a:bodyPr wrap="none" fromWordArt="1">
            <a:prstTxWarp prst="textWave1">
              <a:avLst>
                <a:gd name="adj1" fmla="val 13005"/>
                <a:gd name="adj2" fmla="val 0"/>
              </a:avLst>
            </a:prstTxWarp>
          </a:bodyPr>
          <a:lstStyle/>
          <a:p>
            <a:pPr algn="ctr"/>
            <a:r>
              <a:rPr lang="en-IN" sz="3600" b="1" kern="10">
                <a:ln w="9525">
                  <a:noFill/>
                  <a:round/>
                  <a:headEnd/>
                  <a:tailEnd/>
                </a:ln>
                <a:solidFill>
                  <a:srgbClr val="0033CC"/>
                </a:solidFill>
                <a:effectLst>
                  <a:outerShdw dist="53882" dir="2700000" algn="ctr" rotWithShape="0">
                    <a:srgbClr val="C0C0C0">
                      <a:alpha val="79999"/>
                    </a:srgbClr>
                  </a:outerShdw>
                </a:effectLst>
                <a:latin typeface="Times New Roman"/>
                <a:cs typeface="Times New Roman"/>
              </a:rPr>
              <a:t>StaticVariable</a:t>
            </a:r>
          </a:p>
        </p:txBody>
      </p:sp>
      <p:sp>
        <p:nvSpPr>
          <p:cNvPr id="31748" name="WordArt 4"/>
          <p:cNvSpPr>
            <a:spLocks noChangeArrowheads="1" noChangeShapeType="1" noTextEdit="1"/>
          </p:cNvSpPr>
          <p:nvPr/>
        </p:nvSpPr>
        <p:spPr bwMode="auto">
          <a:xfrm rot="-1241727">
            <a:off x="3962400" y="4343400"/>
            <a:ext cx="1752600" cy="762000"/>
          </a:xfrm>
          <a:prstGeom prst="rect">
            <a:avLst/>
          </a:prstGeom>
        </p:spPr>
        <p:txBody>
          <a:bodyPr wrap="none" fromWordArt="1">
            <a:prstTxWarp prst="textDoubleWave1">
              <a:avLst>
                <a:gd name="adj1" fmla="val 6500"/>
                <a:gd name="adj2" fmla="val 0"/>
              </a:avLst>
            </a:prstTxWarp>
          </a:bodyPr>
          <a:lstStyle/>
          <a:p>
            <a:pPr algn="ctr"/>
            <a:r>
              <a:rPr lang="en-IN" sz="3600" b="1" kern="10">
                <a:ln w="12700">
                  <a:solidFill>
                    <a:srgbClr val="000099"/>
                  </a:solidFill>
                  <a:round/>
                  <a:headEnd/>
                  <a:tailEnd/>
                </a:ln>
                <a:solidFill>
                  <a:srgbClr val="33CCFF"/>
                </a:solidFill>
                <a:effectLst>
                  <a:outerShdw dist="125724" dir="18900000" algn="ctr" rotWithShape="0">
                    <a:srgbClr val="000099"/>
                  </a:outerShdw>
                </a:effectLst>
                <a:latin typeface="Impact"/>
              </a:rPr>
              <a:t>Output</a:t>
            </a:r>
          </a:p>
        </p:txBody>
      </p:sp>
      <p:sp>
        <p:nvSpPr>
          <p:cNvPr id="31749" name="Text Box 5"/>
          <p:cNvSpPr txBox="1">
            <a:spLocks noChangeArrowheads="1"/>
          </p:cNvSpPr>
          <p:nvPr/>
        </p:nvSpPr>
        <p:spPr bwMode="auto">
          <a:xfrm>
            <a:off x="5410200" y="5476875"/>
            <a:ext cx="2209800" cy="466725"/>
          </a:xfrm>
          <a:prstGeom prst="rect">
            <a:avLst/>
          </a:prstGeom>
          <a:noFill/>
          <a:ln w="9525">
            <a:solidFill>
              <a:schemeClr val="tx1"/>
            </a:solidFill>
            <a:miter lim="800000"/>
            <a:headEnd/>
            <a:tailEnd/>
          </a:ln>
        </p:spPr>
        <p:txBody>
          <a:bodyPr>
            <a:spAutoFit/>
          </a:bodyPr>
          <a:lstStyle/>
          <a:p>
            <a:pPr>
              <a:spcBef>
                <a:spcPct val="50000"/>
              </a:spcBef>
            </a:pPr>
            <a:r>
              <a:rPr lang="en-US" sz="2400" b="1"/>
              <a:t>Zero (0)</a:t>
            </a:r>
          </a:p>
        </p:txBody>
      </p:sp>
      <p:sp>
        <p:nvSpPr>
          <p:cNvPr id="31750" name="Line 6"/>
          <p:cNvSpPr>
            <a:spLocks noChangeShapeType="1"/>
          </p:cNvSpPr>
          <p:nvPr/>
        </p:nvSpPr>
        <p:spPr bwMode="auto">
          <a:xfrm>
            <a:off x="5181600" y="4953000"/>
            <a:ext cx="1295400" cy="533400"/>
          </a:xfrm>
          <a:prstGeom prst="line">
            <a:avLst/>
          </a:prstGeom>
          <a:noFill/>
          <a:ln w="38100">
            <a:solidFill>
              <a:schemeClr val="tx1"/>
            </a:solidFill>
            <a:round/>
            <a:headEnd/>
            <a:tailEnd type="triangle" w="med" len="med"/>
          </a:ln>
        </p:spPr>
        <p:txBody>
          <a:bodyPr/>
          <a:lstStyle/>
          <a:p>
            <a:endParaRPr lang="en-IN"/>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ChangeArrowheads="1"/>
          </p:cNvSpPr>
          <p:nvPr/>
        </p:nvSpPr>
        <p:spPr bwMode="auto">
          <a:xfrm>
            <a:off x="152400" y="304800"/>
            <a:ext cx="4572000" cy="5892800"/>
          </a:xfrm>
          <a:prstGeom prst="rect">
            <a:avLst/>
          </a:prstGeom>
          <a:noFill/>
          <a:ln w="9525">
            <a:solidFill>
              <a:schemeClr val="tx1"/>
            </a:solidFill>
            <a:miter lim="800000"/>
            <a:headEnd/>
            <a:tailEnd/>
          </a:ln>
        </p:spPr>
        <p:txBody>
          <a:bodyPr>
            <a:spAutoFit/>
          </a:bodyPr>
          <a:lstStyle/>
          <a:p>
            <a:r>
              <a:rPr lang="en-US" sz="2000" b="1">
                <a:solidFill>
                  <a:srgbClr val="000066"/>
                </a:solidFill>
              </a:rPr>
              <a:t>/* Example 2  */</a:t>
            </a:r>
          </a:p>
          <a:p>
            <a:r>
              <a:rPr lang="en-US" sz="2000" b="1">
                <a:solidFill>
                  <a:srgbClr val="000066"/>
                </a:solidFill>
              </a:rPr>
              <a:t>#include&lt;iostream.h&gt;</a:t>
            </a:r>
          </a:p>
          <a:p>
            <a:r>
              <a:rPr lang="en-US" sz="2000" b="1">
                <a:solidFill>
                  <a:srgbClr val="000066"/>
                </a:solidFill>
              </a:rPr>
              <a:t>#include&lt;conio.h&gt;</a:t>
            </a:r>
          </a:p>
          <a:p>
            <a:r>
              <a:rPr lang="en-US" sz="2000" b="1">
                <a:solidFill>
                  <a:srgbClr val="000066"/>
                </a:solidFill>
              </a:rPr>
              <a:t>void incre();  /* Function prototype declaration */</a:t>
            </a:r>
          </a:p>
          <a:p>
            <a:r>
              <a:rPr lang="en-US" sz="2000" b="1">
                <a:solidFill>
                  <a:srgbClr val="000066"/>
                </a:solidFill>
              </a:rPr>
              <a:t>void main()</a:t>
            </a:r>
          </a:p>
          <a:p>
            <a:r>
              <a:rPr lang="en-US" sz="2000" b="1">
                <a:solidFill>
                  <a:srgbClr val="000066"/>
                </a:solidFill>
              </a:rPr>
              <a:t>{</a:t>
            </a:r>
          </a:p>
          <a:p>
            <a:r>
              <a:rPr lang="en-US" sz="2000" b="1">
                <a:solidFill>
                  <a:srgbClr val="000066"/>
                </a:solidFill>
              </a:rPr>
              <a:t>clrscr();</a:t>
            </a:r>
          </a:p>
          <a:p>
            <a:r>
              <a:rPr lang="en-US" sz="2000" b="1">
                <a:solidFill>
                  <a:srgbClr val="000066"/>
                </a:solidFill>
              </a:rPr>
              <a:t>incre();</a:t>
            </a:r>
          </a:p>
          <a:p>
            <a:r>
              <a:rPr lang="en-US" sz="2000" b="1">
                <a:solidFill>
                  <a:srgbClr val="000066"/>
                </a:solidFill>
              </a:rPr>
              <a:t>incre();</a:t>
            </a:r>
          </a:p>
          <a:p>
            <a:r>
              <a:rPr lang="en-US" sz="2000" b="1">
                <a:solidFill>
                  <a:srgbClr val="000066"/>
                </a:solidFill>
              </a:rPr>
              <a:t>incre();</a:t>
            </a:r>
          </a:p>
          <a:p>
            <a:r>
              <a:rPr lang="en-US" sz="2000" b="1">
                <a:solidFill>
                  <a:srgbClr val="000066"/>
                </a:solidFill>
              </a:rPr>
              <a:t>getch();</a:t>
            </a:r>
          </a:p>
          <a:p>
            <a:r>
              <a:rPr lang="en-US" sz="2000" b="1">
                <a:solidFill>
                  <a:srgbClr val="000066"/>
                </a:solidFill>
              </a:rPr>
              <a:t>}</a:t>
            </a:r>
          </a:p>
          <a:p>
            <a:endParaRPr lang="en-US" sz="2000" b="1">
              <a:solidFill>
                <a:srgbClr val="000066"/>
              </a:solidFill>
            </a:endParaRPr>
          </a:p>
          <a:p>
            <a:r>
              <a:rPr lang="en-US" sz="2000" b="1">
                <a:solidFill>
                  <a:srgbClr val="000066"/>
                </a:solidFill>
              </a:rPr>
              <a:t>void incre()</a:t>
            </a:r>
          </a:p>
          <a:p>
            <a:r>
              <a:rPr lang="en-US" sz="2000" b="1">
                <a:solidFill>
                  <a:srgbClr val="000066"/>
                </a:solidFill>
              </a:rPr>
              <a:t>{</a:t>
            </a:r>
          </a:p>
          <a:p>
            <a:r>
              <a:rPr lang="en-US" sz="2000" b="1">
                <a:solidFill>
                  <a:srgbClr val="000066"/>
                </a:solidFill>
              </a:rPr>
              <a:t>static char x=65;</a:t>
            </a:r>
          </a:p>
          <a:p>
            <a:r>
              <a:rPr lang="en-US" sz="2000" b="1">
                <a:solidFill>
                  <a:srgbClr val="000066"/>
                </a:solidFill>
              </a:rPr>
              <a:t>cout&lt;&lt;x++;</a:t>
            </a:r>
          </a:p>
          <a:p>
            <a:r>
              <a:rPr lang="en-US" sz="2000" b="1">
                <a:solidFill>
                  <a:srgbClr val="000066"/>
                </a:solidFill>
              </a:rPr>
              <a:t>}</a:t>
            </a:r>
          </a:p>
        </p:txBody>
      </p:sp>
      <p:sp>
        <p:nvSpPr>
          <p:cNvPr id="32771" name="WordArt 3"/>
          <p:cNvSpPr>
            <a:spLocks noChangeArrowheads="1" noChangeShapeType="1" noTextEdit="1"/>
          </p:cNvSpPr>
          <p:nvPr/>
        </p:nvSpPr>
        <p:spPr bwMode="auto">
          <a:xfrm rot="-1241727">
            <a:off x="3657600" y="2438400"/>
            <a:ext cx="1752600" cy="762000"/>
          </a:xfrm>
          <a:prstGeom prst="rect">
            <a:avLst/>
          </a:prstGeom>
        </p:spPr>
        <p:txBody>
          <a:bodyPr wrap="none" fromWordArt="1">
            <a:prstTxWarp prst="textDoubleWave1">
              <a:avLst>
                <a:gd name="adj1" fmla="val 6500"/>
                <a:gd name="adj2" fmla="val 0"/>
              </a:avLst>
            </a:prstTxWarp>
          </a:bodyPr>
          <a:lstStyle/>
          <a:p>
            <a:pPr algn="ctr"/>
            <a:r>
              <a:rPr lang="en-IN" sz="3600" b="1" kern="10">
                <a:ln w="12700">
                  <a:solidFill>
                    <a:srgbClr val="000099"/>
                  </a:solidFill>
                  <a:round/>
                  <a:headEnd/>
                  <a:tailEnd/>
                </a:ln>
                <a:solidFill>
                  <a:srgbClr val="33CCFF"/>
                </a:solidFill>
                <a:effectLst>
                  <a:outerShdw dist="125724" dir="18900000" algn="ctr" rotWithShape="0">
                    <a:srgbClr val="000099"/>
                  </a:outerShdw>
                </a:effectLst>
                <a:latin typeface="Impact"/>
              </a:rPr>
              <a:t>Output</a:t>
            </a:r>
          </a:p>
        </p:txBody>
      </p:sp>
      <p:sp>
        <p:nvSpPr>
          <p:cNvPr id="32772" name="Text Box 4"/>
          <p:cNvSpPr txBox="1">
            <a:spLocks noChangeArrowheads="1"/>
          </p:cNvSpPr>
          <p:nvPr/>
        </p:nvSpPr>
        <p:spPr bwMode="auto">
          <a:xfrm>
            <a:off x="4724400" y="3581400"/>
            <a:ext cx="3810000" cy="1320800"/>
          </a:xfrm>
          <a:prstGeom prst="rect">
            <a:avLst/>
          </a:prstGeom>
          <a:noFill/>
          <a:ln w="9525">
            <a:solidFill>
              <a:schemeClr val="tx1"/>
            </a:solidFill>
            <a:miter lim="800000"/>
            <a:headEnd/>
            <a:tailEnd/>
          </a:ln>
        </p:spPr>
        <p:txBody>
          <a:bodyPr>
            <a:spAutoFit/>
          </a:bodyPr>
          <a:lstStyle/>
          <a:p>
            <a:pPr>
              <a:spcBef>
                <a:spcPct val="50000"/>
              </a:spcBef>
            </a:pPr>
            <a:r>
              <a:rPr lang="en-US" sz="2000" b="1">
                <a:solidFill>
                  <a:srgbClr val="000066"/>
                </a:solidFill>
              </a:rPr>
              <a:t>The character Stored in x is A</a:t>
            </a:r>
          </a:p>
          <a:p>
            <a:pPr>
              <a:spcBef>
                <a:spcPct val="50000"/>
              </a:spcBef>
            </a:pPr>
            <a:r>
              <a:rPr lang="en-US" sz="2000" b="1">
                <a:solidFill>
                  <a:srgbClr val="000066"/>
                </a:solidFill>
              </a:rPr>
              <a:t>The character Stored in x is B</a:t>
            </a:r>
          </a:p>
          <a:p>
            <a:pPr>
              <a:spcBef>
                <a:spcPct val="50000"/>
              </a:spcBef>
            </a:pPr>
            <a:r>
              <a:rPr lang="en-US" sz="2000" b="1">
                <a:solidFill>
                  <a:srgbClr val="000066"/>
                </a:solidFill>
              </a:rPr>
              <a:t>The character Stored in x is C</a:t>
            </a:r>
          </a:p>
        </p:txBody>
      </p:sp>
      <p:sp>
        <p:nvSpPr>
          <p:cNvPr id="32773" name="Line 5"/>
          <p:cNvSpPr>
            <a:spLocks noChangeShapeType="1"/>
          </p:cNvSpPr>
          <p:nvPr/>
        </p:nvSpPr>
        <p:spPr bwMode="auto">
          <a:xfrm>
            <a:off x="4876800" y="3048000"/>
            <a:ext cx="1295400" cy="533400"/>
          </a:xfrm>
          <a:prstGeom prst="line">
            <a:avLst/>
          </a:prstGeom>
          <a:noFill/>
          <a:ln w="38100">
            <a:solidFill>
              <a:schemeClr val="tx1"/>
            </a:solidFill>
            <a:round/>
            <a:headEnd/>
            <a:tailEnd type="triangle" w="med" len="med"/>
          </a:ln>
        </p:spPr>
        <p:txBody>
          <a:bodyPr/>
          <a:lstStyle/>
          <a:p>
            <a:endParaRPr lang="en-IN"/>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WordArt 2" descr="Purple mesh"/>
          <p:cNvSpPr>
            <a:spLocks noChangeArrowheads="1" noChangeShapeType="1" noTextEdit="1"/>
          </p:cNvSpPr>
          <p:nvPr/>
        </p:nvSpPr>
        <p:spPr bwMode="auto">
          <a:xfrm>
            <a:off x="1752600" y="2362200"/>
            <a:ext cx="5638800" cy="1600200"/>
          </a:xfrm>
          <a:prstGeom prst="rect">
            <a:avLst/>
          </a:prstGeom>
        </p:spPr>
        <p:txBody>
          <a:bodyPr wrap="none" fromWordArt="1">
            <a:prstTxWarp prst="textSlantUp">
              <a:avLst>
                <a:gd name="adj" fmla="val 55556"/>
              </a:avLst>
            </a:prstTxWarp>
          </a:bodyPr>
          <a:lstStyle/>
          <a:p>
            <a:pPr algn="ctr"/>
            <a:r>
              <a:rPr lang="en-IN" sz="3600" kern="10">
                <a:ln w="9525">
                  <a:noFill/>
                  <a:round/>
                  <a:headEnd/>
                  <a:tailEnd/>
                </a:ln>
                <a:blipFill dpi="0" rotWithShape="1">
                  <a:blip r:embed="rId2"/>
                  <a:srcRect/>
                  <a:tile tx="0" ty="0" sx="100000" sy="100000" flip="none" algn="tl"/>
                </a:blipFill>
                <a:effectLst>
                  <a:outerShdw dist="35921" dir="2700000" algn="ctr" rotWithShape="0">
                    <a:srgbClr val="C0C0C0">
                      <a:alpha val="79999"/>
                    </a:srgbClr>
                  </a:outerShdw>
                </a:effectLst>
                <a:latin typeface="Impact"/>
              </a:rPr>
              <a:t>Register Variable</a:t>
            </a:r>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ChangeArrowheads="1"/>
          </p:cNvSpPr>
          <p:nvPr/>
        </p:nvSpPr>
        <p:spPr bwMode="auto">
          <a:xfrm>
            <a:off x="76200" y="76200"/>
            <a:ext cx="4648200" cy="6689725"/>
          </a:xfrm>
          <a:prstGeom prst="rect">
            <a:avLst/>
          </a:prstGeom>
          <a:noFill/>
          <a:ln w="9525">
            <a:solidFill>
              <a:srgbClr val="FF0066"/>
            </a:solidFill>
            <a:miter lim="800000"/>
            <a:headEnd/>
            <a:tailEnd/>
          </a:ln>
        </p:spPr>
        <p:txBody>
          <a:bodyPr>
            <a:spAutoFit/>
          </a:bodyPr>
          <a:lstStyle/>
          <a:p>
            <a:pPr algn="just">
              <a:lnSpc>
                <a:spcPct val="130000"/>
              </a:lnSpc>
            </a:pPr>
            <a:r>
              <a:rPr lang="en-US" b="1">
                <a:solidFill>
                  <a:srgbClr val="000066"/>
                </a:solidFill>
              </a:rPr>
              <a:t>These variables are stored in CPU registers and hence they can be accessed faster than the one which is stored in memory.</a:t>
            </a:r>
          </a:p>
          <a:p>
            <a:pPr algn="just">
              <a:lnSpc>
                <a:spcPct val="130000"/>
              </a:lnSpc>
            </a:pPr>
            <a:r>
              <a:rPr lang="en-US" b="1" u="sng">
                <a:solidFill>
                  <a:srgbClr val="000066"/>
                </a:solidFill>
              </a:rPr>
              <a:t>Keyword :</a:t>
            </a:r>
            <a:r>
              <a:rPr lang="en-US" b="1">
                <a:solidFill>
                  <a:srgbClr val="000066"/>
                </a:solidFill>
              </a:rPr>
              <a:t> register</a:t>
            </a:r>
          </a:p>
          <a:p>
            <a:pPr algn="just">
              <a:lnSpc>
                <a:spcPct val="130000"/>
              </a:lnSpc>
            </a:pPr>
            <a:r>
              <a:rPr lang="en-US" b="1" u="sng">
                <a:solidFill>
                  <a:srgbClr val="000066"/>
                </a:solidFill>
              </a:rPr>
              <a:t>Declaration :</a:t>
            </a:r>
            <a:r>
              <a:rPr lang="en-US" b="1">
                <a:solidFill>
                  <a:srgbClr val="000066"/>
                </a:solidFill>
              </a:rPr>
              <a:t> Inside the function</a:t>
            </a:r>
          </a:p>
          <a:p>
            <a:pPr algn="just">
              <a:lnSpc>
                <a:spcPct val="130000"/>
              </a:lnSpc>
            </a:pPr>
            <a:r>
              <a:rPr lang="en-US" b="1" u="sng">
                <a:solidFill>
                  <a:srgbClr val="000066"/>
                </a:solidFill>
              </a:rPr>
              <a:t>Storage Area :</a:t>
            </a:r>
            <a:r>
              <a:rPr lang="en-US" b="1">
                <a:solidFill>
                  <a:srgbClr val="000066"/>
                </a:solidFill>
              </a:rPr>
              <a:t> CPU - Register</a:t>
            </a:r>
          </a:p>
          <a:p>
            <a:pPr algn="just">
              <a:lnSpc>
                <a:spcPct val="130000"/>
              </a:lnSpc>
            </a:pPr>
            <a:r>
              <a:rPr lang="en-US" b="1" u="sng">
                <a:solidFill>
                  <a:srgbClr val="000066"/>
                </a:solidFill>
              </a:rPr>
              <a:t>Initial Value :</a:t>
            </a:r>
            <a:r>
              <a:rPr lang="en-US" b="1">
                <a:solidFill>
                  <a:srgbClr val="000066"/>
                </a:solidFill>
              </a:rPr>
              <a:t> Garbage value(At the time of compilation compiler assigns any value)</a:t>
            </a:r>
          </a:p>
          <a:p>
            <a:pPr algn="just">
              <a:lnSpc>
                <a:spcPct val="130000"/>
              </a:lnSpc>
            </a:pPr>
            <a:r>
              <a:rPr lang="en-US" b="1" u="sng">
                <a:solidFill>
                  <a:srgbClr val="000066"/>
                </a:solidFill>
              </a:rPr>
              <a:t>Lifetime :</a:t>
            </a:r>
            <a:r>
              <a:rPr lang="en-US" b="1">
                <a:solidFill>
                  <a:srgbClr val="000066"/>
                </a:solidFill>
              </a:rPr>
              <a:t> Upto that function only</a:t>
            </a:r>
          </a:p>
          <a:p>
            <a:pPr algn="just">
              <a:lnSpc>
                <a:spcPct val="130000"/>
              </a:lnSpc>
            </a:pPr>
            <a:r>
              <a:rPr lang="en-US" b="1" i="1" u="sng">
                <a:solidFill>
                  <a:srgbClr val="000066"/>
                </a:solidFill>
              </a:rPr>
              <a:t>Example </a:t>
            </a:r>
            <a:r>
              <a:rPr lang="en-US" b="1" i="1">
                <a:solidFill>
                  <a:srgbClr val="000066"/>
                </a:solidFill>
              </a:rPr>
              <a:t>:  </a:t>
            </a:r>
            <a:r>
              <a:rPr lang="en-US" b="1">
                <a:solidFill>
                  <a:srgbClr val="000066"/>
                </a:solidFill>
              </a:rPr>
              <a:t>register int x;  </a:t>
            </a:r>
          </a:p>
          <a:p>
            <a:pPr algn="just">
              <a:lnSpc>
                <a:spcPct val="130000"/>
              </a:lnSpc>
            </a:pPr>
            <a:r>
              <a:rPr lang="en-US" b="1" u="sng">
                <a:solidFill>
                  <a:srgbClr val="000066"/>
                </a:solidFill>
              </a:rPr>
              <a:t>Note :</a:t>
            </a:r>
          </a:p>
          <a:p>
            <a:pPr algn="just">
              <a:lnSpc>
                <a:spcPct val="130000"/>
              </a:lnSpc>
            </a:pPr>
            <a:r>
              <a:rPr lang="en-US" sz="1600" b="1">
                <a:solidFill>
                  <a:srgbClr val="000066"/>
                </a:solidFill>
              </a:rPr>
              <a:t>       register double x;        register float  y;</a:t>
            </a:r>
            <a:endParaRPr lang="en-US" sz="1400" b="1">
              <a:solidFill>
                <a:srgbClr val="000066"/>
              </a:solidFill>
            </a:endParaRPr>
          </a:p>
          <a:p>
            <a:pPr algn="just">
              <a:lnSpc>
                <a:spcPct val="130000"/>
              </a:lnSpc>
            </a:pPr>
            <a:r>
              <a:rPr lang="en-US" sz="1600" b="1">
                <a:solidFill>
                  <a:srgbClr val="000066"/>
                </a:solidFill>
              </a:rPr>
              <a:t>Registers are usually a 16bit therefore it</a:t>
            </a:r>
          </a:p>
          <a:p>
            <a:pPr algn="just">
              <a:lnSpc>
                <a:spcPct val="130000"/>
              </a:lnSpc>
            </a:pPr>
            <a:r>
              <a:rPr lang="en-US" sz="1600" b="1">
                <a:solidFill>
                  <a:srgbClr val="000066"/>
                </a:solidFill>
              </a:rPr>
              <a:t> cannot hold a float or double data type value which require 52 &amp; 64 bytes respectively for storing a value. But the compiler would treat as automatic variables</a:t>
            </a:r>
            <a:r>
              <a:rPr lang="en-US" b="1">
                <a:solidFill>
                  <a:srgbClr val="000066"/>
                </a:solidFill>
              </a:rPr>
              <a:t> </a:t>
            </a:r>
          </a:p>
        </p:txBody>
      </p:sp>
      <p:sp>
        <p:nvSpPr>
          <p:cNvPr id="34819" name="Rectangle 3"/>
          <p:cNvSpPr>
            <a:spLocks noChangeArrowheads="1"/>
          </p:cNvSpPr>
          <p:nvPr/>
        </p:nvSpPr>
        <p:spPr bwMode="auto">
          <a:xfrm>
            <a:off x="4724400" y="88900"/>
            <a:ext cx="4419600" cy="2844800"/>
          </a:xfrm>
          <a:prstGeom prst="rect">
            <a:avLst/>
          </a:prstGeom>
          <a:noFill/>
          <a:ln w="9525">
            <a:solidFill>
              <a:srgbClr val="FF0066"/>
            </a:solidFill>
            <a:miter lim="800000"/>
            <a:headEnd/>
            <a:tailEnd/>
          </a:ln>
        </p:spPr>
        <p:txBody>
          <a:bodyPr>
            <a:spAutoFit/>
          </a:bodyPr>
          <a:lstStyle/>
          <a:p>
            <a:r>
              <a:rPr lang="en-US" sz="2000" b="1">
                <a:solidFill>
                  <a:srgbClr val="000066"/>
                </a:solidFill>
              </a:rPr>
              <a:t>#include&lt;stdio.h&gt;</a:t>
            </a:r>
          </a:p>
          <a:p>
            <a:r>
              <a:rPr lang="en-US" sz="2000" b="1">
                <a:solidFill>
                  <a:srgbClr val="000066"/>
                </a:solidFill>
              </a:rPr>
              <a:t>#include&lt;conio.h&gt;</a:t>
            </a:r>
          </a:p>
          <a:p>
            <a:r>
              <a:rPr lang="en-US" sz="2000" b="1">
                <a:solidFill>
                  <a:srgbClr val="000066"/>
                </a:solidFill>
              </a:rPr>
              <a:t>void main()</a:t>
            </a:r>
          </a:p>
          <a:p>
            <a:r>
              <a:rPr lang="en-US" sz="2000" b="1">
                <a:solidFill>
                  <a:srgbClr val="000066"/>
                </a:solidFill>
              </a:rPr>
              <a:t>{</a:t>
            </a:r>
          </a:p>
          <a:p>
            <a:r>
              <a:rPr lang="en-US" sz="2000" b="1">
                <a:solidFill>
                  <a:srgbClr val="000066"/>
                </a:solidFill>
              </a:rPr>
              <a:t>register int x;</a:t>
            </a:r>
          </a:p>
          <a:p>
            <a:r>
              <a:rPr lang="en-US" sz="2000" b="1">
                <a:solidFill>
                  <a:srgbClr val="000066"/>
                </a:solidFill>
              </a:rPr>
              <a:t>clrscr();</a:t>
            </a:r>
          </a:p>
          <a:p>
            <a:r>
              <a:rPr lang="en-US" sz="2000" b="1">
                <a:solidFill>
                  <a:srgbClr val="000066"/>
                </a:solidFill>
              </a:rPr>
              <a:t>Cout&lt;&lt;x;</a:t>
            </a:r>
          </a:p>
          <a:p>
            <a:r>
              <a:rPr lang="en-US" sz="2000" b="1">
                <a:solidFill>
                  <a:srgbClr val="000066"/>
                </a:solidFill>
              </a:rPr>
              <a:t>getch();</a:t>
            </a:r>
          </a:p>
          <a:p>
            <a:r>
              <a:rPr lang="en-US" sz="2000" b="1">
                <a:solidFill>
                  <a:srgbClr val="000066"/>
                </a:solidFill>
              </a:rPr>
              <a:t>}</a:t>
            </a:r>
          </a:p>
        </p:txBody>
      </p:sp>
      <p:sp>
        <p:nvSpPr>
          <p:cNvPr id="34820" name="WordArt 4"/>
          <p:cNvSpPr>
            <a:spLocks noChangeArrowheads="1" noChangeShapeType="1" noTextEdit="1"/>
          </p:cNvSpPr>
          <p:nvPr/>
        </p:nvSpPr>
        <p:spPr bwMode="auto">
          <a:xfrm>
            <a:off x="4781550" y="3124200"/>
            <a:ext cx="1695450" cy="457200"/>
          </a:xfrm>
          <a:prstGeom prst="rect">
            <a:avLst/>
          </a:prstGeom>
        </p:spPr>
        <p:txBody>
          <a:bodyPr wrap="none" fromWordArt="1">
            <a:prstTxWarp prst="textPlain">
              <a:avLst>
                <a:gd name="adj" fmla="val 50000"/>
              </a:avLst>
            </a:prstTxWarp>
          </a:bodyPr>
          <a:lstStyle/>
          <a:p>
            <a:pPr algn="ctr"/>
            <a:r>
              <a:rPr lang="en-IN" sz="3600" kern="10">
                <a:ln w="9525">
                  <a:solidFill>
                    <a:srgbClr val="000000"/>
                  </a:solidFill>
                  <a:round/>
                  <a:headEnd/>
                  <a:tailEnd/>
                </a:ln>
                <a:solidFill>
                  <a:srgbClr val="FFFFFF"/>
                </a:solidFill>
                <a:latin typeface="Arial Black"/>
              </a:rPr>
              <a:t>Output</a:t>
            </a:r>
          </a:p>
        </p:txBody>
      </p:sp>
      <p:sp>
        <p:nvSpPr>
          <p:cNvPr id="34821" name="AutoShape 5"/>
          <p:cNvSpPr>
            <a:spLocks/>
          </p:cNvSpPr>
          <p:nvPr/>
        </p:nvSpPr>
        <p:spPr bwMode="auto">
          <a:xfrm>
            <a:off x="5638800" y="4305300"/>
            <a:ext cx="2590800" cy="876300"/>
          </a:xfrm>
          <a:prstGeom prst="borderCallout1">
            <a:avLst>
              <a:gd name="adj1" fmla="val 13042"/>
              <a:gd name="adj2" fmla="val -2940"/>
              <a:gd name="adj3" fmla="val -77898"/>
              <a:gd name="adj4" fmla="val -16361"/>
            </a:avLst>
          </a:prstGeom>
          <a:solidFill>
            <a:schemeClr val="accent1"/>
          </a:solidFill>
          <a:ln w="9525">
            <a:solidFill>
              <a:schemeClr val="tx1"/>
            </a:solidFill>
            <a:miter lim="800000"/>
            <a:headEnd/>
            <a:tailEnd/>
          </a:ln>
        </p:spPr>
        <p:txBody>
          <a:bodyPr/>
          <a:lstStyle/>
          <a:p>
            <a:pPr algn="ctr"/>
            <a:r>
              <a:rPr lang="en-US" sz="2000" b="1"/>
              <a:t>-899</a:t>
            </a:r>
          </a:p>
          <a:p>
            <a:pPr algn="ctr"/>
            <a:r>
              <a:rPr lang="en-US" sz="2000" b="1"/>
              <a:t>(Garbage Value)</a:t>
            </a:r>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WordArt 2"/>
          <p:cNvSpPr>
            <a:spLocks noChangeArrowheads="1" noChangeShapeType="1" noTextEdit="1"/>
          </p:cNvSpPr>
          <p:nvPr/>
        </p:nvSpPr>
        <p:spPr bwMode="auto">
          <a:xfrm>
            <a:off x="1828800" y="228600"/>
            <a:ext cx="5562600" cy="838200"/>
          </a:xfrm>
          <a:prstGeom prst="rect">
            <a:avLst/>
          </a:prstGeom>
        </p:spPr>
        <p:txBody>
          <a:bodyPr wrap="none" fromWordArt="1">
            <a:prstTxWarp prst="textWave1">
              <a:avLst>
                <a:gd name="adj1" fmla="val 13005"/>
                <a:gd name="adj2" fmla="val 0"/>
              </a:avLst>
            </a:prstTxWarp>
          </a:bodyPr>
          <a:lstStyle/>
          <a:p>
            <a:pPr algn="ctr"/>
            <a:r>
              <a:rPr lang="en-IN" sz="3600" b="1" kern="10">
                <a:ln w="9525">
                  <a:noFill/>
                  <a:round/>
                  <a:headEnd/>
                  <a:tailEnd/>
                </a:ln>
                <a:solidFill>
                  <a:srgbClr val="0033CC"/>
                </a:solidFill>
                <a:effectLst>
                  <a:outerShdw dist="53882" dir="2700000" algn="ctr" rotWithShape="0">
                    <a:srgbClr val="C0C0C0">
                      <a:alpha val="79999"/>
                    </a:srgbClr>
                  </a:outerShdw>
                </a:effectLst>
                <a:latin typeface="Times New Roman"/>
                <a:cs typeface="Times New Roman"/>
              </a:rPr>
              <a:t>Register Variable</a:t>
            </a:r>
          </a:p>
        </p:txBody>
      </p:sp>
      <p:sp>
        <p:nvSpPr>
          <p:cNvPr id="35843" name="Rectangle 3"/>
          <p:cNvSpPr>
            <a:spLocks noChangeArrowheads="1"/>
          </p:cNvSpPr>
          <p:nvPr/>
        </p:nvSpPr>
        <p:spPr bwMode="auto">
          <a:xfrm>
            <a:off x="685800" y="1219200"/>
            <a:ext cx="7848600" cy="5653088"/>
          </a:xfrm>
          <a:prstGeom prst="rect">
            <a:avLst/>
          </a:prstGeom>
          <a:noFill/>
          <a:ln w="9525">
            <a:solidFill>
              <a:srgbClr val="CC0066"/>
            </a:solidFill>
            <a:miter lim="800000"/>
            <a:headEnd/>
            <a:tailEnd/>
          </a:ln>
        </p:spPr>
        <p:txBody>
          <a:bodyPr>
            <a:spAutoFit/>
          </a:bodyPr>
          <a:lstStyle/>
          <a:p>
            <a:pPr eaLnBrk="0" hangingPunct="0"/>
            <a:r>
              <a:rPr lang="en-US" sz="2800" b="1">
                <a:solidFill>
                  <a:srgbClr val="000066"/>
                </a:solidFill>
                <a:latin typeface="Bookman Old Style" pitchFamily="18" charset="0"/>
              </a:rPr>
              <a:t>#include&lt;iostream.h&gt;</a:t>
            </a:r>
          </a:p>
          <a:p>
            <a:pPr eaLnBrk="0" hangingPunct="0"/>
            <a:r>
              <a:rPr lang="en-US" sz="2800" b="1">
                <a:solidFill>
                  <a:srgbClr val="000066"/>
                </a:solidFill>
                <a:latin typeface="Bookman Old Style" pitchFamily="18" charset="0"/>
              </a:rPr>
              <a:t>#include&lt;conio.h&gt;</a:t>
            </a:r>
          </a:p>
          <a:p>
            <a:pPr eaLnBrk="0" hangingPunct="0"/>
            <a:r>
              <a:rPr lang="en-US" sz="2800" b="1">
                <a:solidFill>
                  <a:srgbClr val="000066"/>
                </a:solidFill>
                <a:latin typeface="Bookman Old Style" pitchFamily="18" charset="0"/>
              </a:rPr>
              <a:t>void main()</a:t>
            </a:r>
          </a:p>
          <a:p>
            <a:pPr eaLnBrk="0" hangingPunct="0"/>
            <a:r>
              <a:rPr lang="en-US" sz="2800" b="1">
                <a:solidFill>
                  <a:srgbClr val="000066"/>
                </a:solidFill>
                <a:latin typeface="Bookman Old Style" pitchFamily="18" charset="0"/>
              </a:rPr>
              <a:t>{</a:t>
            </a:r>
          </a:p>
          <a:p>
            <a:pPr eaLnBrk="0" hangingPunct="0"/>
            <a:r>
              <a:rPr lang="en-US" sz="2800" b="1">
                <a:solidFill>
                  <a:srgbClr val="000066"/>
                </a:solidFill>
                <a:latin typeface="Bookman Old Style" pitchFamily="18" charset="0"/>
              </a:rPr>
              <a:t>register int i;</a:t>
            </a:r>
          </a:p>
          <a:p>
            <a:pPr eaLnBrk="0" hangingPunct="0"/>
            <a:r>
              <a:rPr lang="en-US" sz="2800" b="1">
                <a:solidFill>
                  <a:srgbClr val="000066"/>
                </a:solidFill>
                <a:latin typeface="Bookman Old Style" pitchFamily="18" charset="0"/>
              </a:rPr>
              <a:t>clrscr();</a:t>
            </a:r>
          </a:p>
          <a:p>
            <a:pPr eaLnBrk="0" hangingPunct="0"/>
            <a:r>
              <a:rPr lang="en-US" sz="2800" b="1">
                <a:solidFill>
                  <a:srgbClr val="000066"/>
                </a:solidFill>
                <a:latin typeface="Bookman Old Style" pitchFamily="18" charset="0"/>
              </a:rPr>
              <a:t>cout&lt;&lt;"The I value is "&lt;&lt;i;</a:t>
            </a:r>
          </a:p>
          <a:p>
            <a:pPr eaLnBrk="0" hangingPunct="0"/>
            <a:r>
              <a:rPr lang="en-US" sz="2800" b="1">
                <a:solidFill>
                  <a:srgbClr val="000066"/>
                </a:solidFill>
                <a:latin typeface="Bookman Old Style" pitchFamily="18" charset="0"/>
              </a:rPr>
              <a:t>for(i=1;i&lt;=5;i++)</a:t>
            </a:r>
          </a:p>
          <a:p>
            <a:pPr eaLnBrk="0" hangingPunct="0"/>
            <a:r>
              <a:rPr lang="en-US" sz="2800" b="1">
                <a:solidFill>
                  <a:srgbClr val="000066"/>
                </a:solidFill>
                <a:latin typeface="Bookman Old Style" pitchFamily="18" charset="0"/>
              </a:rPr>
              <a:t>{</a:t>
            </a:r>
          </a:p>
          <a:p>
            <a:pPr eaLnBrk="0" hangingPunct="0"/>
            <a:r>
              <a:rPr lang="en-US" sz="2800" b="1">
                <a:solidFill>
                  <a:srgbClr val="000066"/>
                </a:solidFill>
                <a:latin typeface="Bookman Old Style" pitchFamily="18" charset="0"/>
              </a:rPr>
              <a:t>cout&lt;&lt;endl&lt;&lt;i;</a:t>
            </a:r>
          </a:p>
          <a:p>
            <a:pPr eaLnBrk="0" hangingPunct="0"/>
            <a:r>
              <a:rPr lang="en-US" sz="2800" b="1">
                <a:solidFill>
                  <a:srgbClr val="000066"/>
                </a:solidFill>
                <a:latin typeface="Bookman Old Style" pitchFamily="18" charset="0"/>
              </a:rPr>
              <a:t>}</a:t>
            </a:r>
          </a:p>
          <a:p>
            <a:pPr eaLnBrk="0" hangingPunct="0"/>
            <a:r>
              <a:rPr lang="en-US" sz="2800" b="1">
                <a:solidFill>
                  <a:srgbClr val="000066"/>
                </a:solidFill>
                <a:latin typeface="Bookman Old Style" pitchFamily="18" charset="0"/>
              </a:rPr>
              <a:t>getch();</a:t>
            </a:r>
          </a:p>
          <a:p>
            <a:pPr eaLnBrk="0" hangingPunct="0"/>
            <a:r>
              <a:rPr lang="en-US" sz="2800" b="1">
                <a:solidFill>
                  <a:srgbClr val="000066"/>
                </a:solidFill>
                <a:latin typeface="Bookman Old Style" pitchFamily="18" charset="0"/>
              </a:rPr>
              <a:t>}</a:t>
            </a:r>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ChangeArrowheads="1"/>
          </p:cNvSpPr>
          <p:nvPr/>
        </p:nvSpPr>
        <p:spPr bwMode="auto">
          <a:xfrm>
            <a:off x="838200" y="2511425"/>
            <a:ext cx="5105400" cy="4117975"/>
          </a:xfrm>
          <a:prstGeom prst="rect">
            <a:avLst/>
          </a:prstGeom>
          <a:noFill/>
          <a:ln w="9525">
            <a:solidFill>
              <a:srgbClr val="FF66CC"/>
            </a:solidFill>
            <a:miter lim="800000"/>
            <a:headEnd/>
            <a:tailEnd/>
          </a:ln>
        </p:spPr>
        <p:txBody>
          <a:bodyPr>
            <a:spAutoFit/>
          </a:bodyPr>
          <a:lstStyle/>
          <a:p>
            <a:pPr eaLnBrk="0" hangingPunct="0"/>
            <a:r>
              <a:rPr lang="en-US" sz="2400" b="1">
                <a:solidFill>
                  <a:srgbClr val="000066"/>
                </a:solidFill>
                <a:latin typeface="Times New Roman" pitchFamily="18" charset="0"/>
              </a:rPr>
              <a:t>#include&lt;iostream.h&gt;</a:t>
            </a:r>
          </a:p>
          <a:p>
            <a:pPr eaLnBrk="0" hangingPunct="0"/>
            <a:r>
              <a:rPr lang="en-US" sz="2400" b="1">
                <a:solidFill>
                  <a:srgbClr val="000066"/>
                </a:solidFill>
                <a:latin typeface="Times New Roman" pitchFamily="18" charset="0"/>
              </a:rPr>
              <a:t>#include&lt;conio.h&gt;</a:t>
            </a:r>
          </a:p>
          <a:p>
            <a:pPr eaLnBrk="0" hangingPunct="0"/>
            <a:r>
              <a:rPr lang="en-US" sz="2400" b="1">
                <a:solidFill>
                  <a:srgbClr val="000066"/>
                </a:solidFill>
                <a:latin typeface="Times New Roman" pitchFamily="18" charset="0"/>
              </a:rPr>
              <a:t>void main()</a:t>
            </a:r>
          </a:p>
          <a:p>
            <a:pPr eaLnBrk="0" hangingPunct="0"/>
            <a:r>
              <a:rPr lang="en-US" sz="2400" b="1">
                <a:solidFill>
                  <a:srgbClr val="000066"/>
                </a:solidFill>
                <a:latin typeface="Times New Roman" pitchFamily="18" charset="0"/>
              </a:rPr>
              <a:t>{</a:t>
            </a:r>
          </a:p>
          <a:p>
            <a:pPr eaLnBrk="0" hangingPunct="0"/>
            <a:r>
              <a:rPr lang="en-US" sz="2400" b="1">
                <a:solidFill>
                  <a:srgbClr val="000066"/>
                </a:solidFill>
                <a:latin typeface="Times New Roman" pitchFamily="18" charset="0"/>
              </a:rPr>
              <a:t>int a=10,b;</a:t>
            </a:r>
          </a:p>
          <a:p>
            <a:pPr eaLnBrk="0" hangingPunct="0"/>
            <a:r>
              <a:rPr lang="en-US" sz="2400" b="1">
                <a:solidFill>
                  <a:srgbClr val="000066"/>
                </a:solidFill>
                <a:latin typeface="Times New Roman" pitchFamily="18" charset="0"/>
              </a:rPr>
              <a:t>float c=2.3;</a:t>
            </a:r>
          </a:p>
          <a:p>
            <a:pPr eaLnBrk="0" hangingPunct="0"/>
            <a:r>
              <a:rPr lang="en-US" sz="2400" b="1">
                <a:solidFill>
                  <a:srgbClr val="000066"/>
                </a:solidFill>
                <a:latin typeface="Times New Roman" pitchFamily="18" charset="0"/>
              </a:rPr>
              <a:t>clrscr();</a:t>
            </a:r>
          </a:p>
          <a:p>
            <a:pPr eaLnBrk="0" hangingPunct="0"/>
            <a:r>
              <a:rPr lang="en-US" sz="2400" b="1">
                <a:solidFill>
                  <a:srgbClr val="000066"/>
                </a:solidFill>
                <a:latin typeface="Times New Roman" pitchFamily="18" charset="0"/>
              </a:rPr>
              <a:t>b=int(a+c);</a:t>
            </a:r>
          </a:p>
          <a:p>
            <a:pPr eaLnBrk="0" hangingPunct="0"/>
            <a:r>
              <a:rPr lang="en-US" sz="2400" b="1">
                <a:solidFill>
                  <a:srgbClr val="000066"/>
                </a:solidFill>
                <a:latin typeface="Times New Roman" pitchFamily="18" charset="0"/>
              </a:rPr>
              <a:t>Cout&lt;&lt;"The value of b is &lt;&lt;b;</a:t>
            </a:r>
          </a:p>
          <a:p>
            <a:pPr eaLnBrk="0" hangingPunct="0"/>
            <a:r>
              <a:rPr lang="en-US" sz="2400" b="1">
                <a:solidFill>
                  <a:srgbClr val="000066"/>
                </a:solidFill>
                <a:latin typeface="Times New Roman" pitchFamily="18" charset="0"/>
              </a:rPr>
              <a:t>getch();</a:t>
            </a:r>
          </a:p>
          <a:p>
            <a:pPr eaLnBrk="0" hangingPunct="0"/>
            <a:r>
              <a:rPr lang="en-US" sz="2400" b="1">
                <a:solidFill>
                  <a:srgbClr val="000066"/>
                </a:solidFill>
                <a:latin typeface="Times New Roman" pitchFamily="18" charset="0"/>
              </a:rPr>
              <a:t>}</a:t>
            </a:r>
          </a:p>
        </p:txBody>
      </p:sp>
      <p:sp>
        <p:nvSpPr>
          <p:cNvPr id="36867" name="WordArt 3"/>
          <p:cNvSpPr>
            <a:spLocks noChangeArrowheads="1" noChangeShapeType="1" noTextEdit="1"/>
          </p:cNvSpPr>
          <p:nvPr/>
        </p:nvSpPr>
        <p:spPr bwMode="auto">
          <a:xfrm>
            <a:off x="1066800" y="609600"/>
            <a:ext cx="6858000" cy="838200"/>
          </a:xfrm>
          <a:prstGeom prst="rect">
            <a:avLst/>
          </a:prstGeom>
        </p:spPr>
        <p:txBody>
          <a:bodyPr wrap="none" fromWordArt="1">
            <a:prstTxWarp prst="textDoubleWave1">
              <a:avLst>
                <a:gd name="adj1" fmla="val 6500"/>
                <a:gd name="adj2" fmla="val 0"/>
              </a:avLst>
            </a:prstTxWarp>
          </a:bodyPr>
          <a:lstStyle/>
          <a:p>
            <a:pPr algn="ctr"/>
            <a:r>
              <a:rPr lang="en-IN" sz="3600" b="1" kern="10">
                <a:ln w="12700">
                  <a:solidFill>
                    <a:srgbClr val="000099"/>
                  </a:solidFill>
                  <a:round/>
                  <a:headEnd/>
                  <a:tailEnd/>
                </a:ln>
                <a:solidFill>
                  <a:srgbClr val="33CCFF"/>
                </a:solidFill>
                <a:effectLst>
                  <a:outerShdw dist="125724" dir="18900000" algn="ctr" rotWithShape="0">
                    <a:srgbClr val="000099"/>
                  </a:outerShdw>
                </a:effectLst>
                <a:latin typeface="Impact"/>
              </a:rPr>
              <a:t>TYPE CASTING</a:t>
            </a:r>
          </a:p>
        </p:txBody>
      </p:sp>
      <p:sp>
        <p:nvSpPr>
          <p:cNvPr id="36868" name="Text Box 4"/>
          <p:cNvSpPr txBox="1">
            <a:spLocks noChangeArrowheads="1"/>
          </p:cNvSpPr>
          <p:nvPr/>
        </p:nvSpPr>
        <p:spPr bwMode="auto">
          <a:xfrm>
            <a:off x="838200" y="1600200"/>
            <a:ext cx="8839200" cy="457200"/>
          </a:xfrm>
          <a:prstGeom prst="rect">
            <a:avLst/>
          </a:prstGeom>
          <a:noFill/>
          <a:ln w="9525">
            <a:noFill/>
            <a:miter lim="800000"/>
            <a:headEnd/>
            <a:tailEnd/>
          </a:ln>
        </p:spPr>
        <p:txBody>
          <a:bodyPr>
            <a:spAutoFit/>
          </a:bodyPr>
          <a:lstStyle/>
          <a:p>
            <a:pPr eaLnBrk="0" hangingPunct="0">
              <a:spcBef>
                <a:spcPct val="50000"/>
              </a:spcBef>
            </a:pPr>
            <a:r>
              <a:rPr lang="en-US" sz="2400" b="1">
                <a:solidFill>
                  <a:srgbClr val="000066"/>
                </a:solidFill>
              </a:rPr>
              <a:t>Used to convert one datatype into another data type</a:t>
            </a:r>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 Box 2"/>
          <p:cNvSpPr txBox="1">
            <a:spLocks noChangeArrowheads="1"/>
          </p:cNvSpPr>
          <p:nvPr/>
        </p:nvSpPr>
        <p:spPr bwMode="auto">
          <a:xfrm>
            <a:off x="2138363" y="533400"/>
            <a:ext cx="4410075" cy="762000"/>
          </a:xfrm>
          <a:prstGeom prst="rect">
            <a:avLst/>
          </a:prstGeom>
          <a:solidFill>
            <a:srgbClr val="FF00FF"/>
          </a:solidFill>
          <a:ln w="9525">
            <a:noFill/>
            <a:miter lim="800000"/>
            <a:headEnd/>
            <a:tailEnd/>
          </a:ln>
          <a:effectLst/>
        </p:spPr>
        <p:txBody>
          <a:bodyPr wrap="none">
            <a:spAutoFit/>
          </a:bodyPr>
          <a:lstStyle/>
          <a:p>
            <a:pPr>
              <a:defRPr/>
            </a:pPr>
            <a:r>
              <a:rPr lang="en-US" sz="4400" b="1">
                <a:solidFill>
                  <a:srgbClr val="66FFFF"/>
                </a:solidFill>
                <a:effectLst>
                  <a:outerShdw blurRad="38100" dist="38100" dir="2700000" algn="tl">
                    <a:srgbClr val="000000"/>
                  </a:outerShdw>
                </a:effectLst>
                <a:latin typeface="Arial Unicode MS" pitchFamily="34" charset="-128"/>
                <a:cs typeface="Times New Roman" pitchFamily="18" charset="0"/>
              </a:rPr>
              <a:t>Type Conversion</a:t>
            </a:r>
          </a:p>
        </p:txBody>
      </p:sp>
      <p:sp>
        <p:nvSpPr>
          <p:cNvPr id="31747" name="Text Box 3"/>
          <p:cNvSpPr txBox="1">
            <a:spLocks noChangeArrowheads="1"/>
          </p:cNvSpPr>
          <p:nvPr/>
        </p:nvSpPr>
        <p:spPr bwMode="auto">
          <a:xfrm>
            <a:off x="228600" y="1600200"/>
            <a:ext cx="8686800" cy="581025"/>
          </a:xfrm>
          <a:prstGeom prst="rect">
            <a:avLst/>
          </a:prstGeom>
          <a:noFill/>
          <a:ln w="9525">
            <a:noFill/>
            <a:miter lim="800000"/>
            <a:headEnd/>
            <a:tailEnd/>
          </a:ln>
        </p:spPr>
        <p:txBody>
          <a:bodyPr>
            <a:spAutoFit/>
          </a:bodyPr>
          <a:lstStyle/>
          <a:p>
            <a:pPr algn="just">
              <a:spcBef>
                <a:spcPct val="50000"/>
              </a:spcBef>
              <a:buFontTx/>
              <a:buBlip>
                <a:blip r:embed="rId2"/>
              </a:buBlip>
            </a:pPr>
            <a:r>
              <a:rPr lang="en-US" sz="1600" b="1">
                <a:solidFill>
                  <a:srgbClr val="FFFE00"/>
                </a:solidFill>
                <a:cs typeface="Times New Roman" pitchFamily="18" charset="0"/>
              </a:rPr>
              <a:t> </a:t>
            </a:r>
            <a:r>
              <a:rPr lang="en-US" sz="1600" b="1"/>
              <a:t>This is used to convert one data type to another data type. </a:t>
            </a:r>
            <a:r>
              <a:rPr lang="en-US" sz="1600" b="1">
                <a:cs typeface="Times New Roman" pitchFamily="18" charset="0"/>
              </a:rPr>
              <a:t>The automatic type conversions for evaluating an expression   are given below  -</a:t>
            </a:r>
          </a:p>
        </p:txBody>
      </p:sp>
      <p:sp>
        <p:nvSpPr>
          <p:cNvPr id="31748" name="Text Box 4"/>
          <p:cNvSpPr txBox="1">
            <a:spLocks noChangeArrowheads="1"/>
          </p:cNvSpPr>
          <p:nvPr/>
        </p:nvSpPr>
        <p:spPr bwMode="auto">
          <a:xfrm>
            <a:off x="228600" y="4800600"/>
            <a:ext cx="2286000" cy="457200"/>
          </a:xfrm>
          <a:prstGeom prst="rect">
            <a:avLst/>
          </a:prstGeom>
          <a:noFill/>
          <a:ln w="9525">
            <a:noFill/>
            <a:miter lim="800000"/>
            <a:headEnd/>
            <a:tailEnd/>
          </a:ln>
        </p:spPr>
        <p:txBody>
          <a:bodyPr>
            <a:spAutoFit/>
          </a:bodyPr>
          <a:lstStyle/>
          <a:p>
            <a:pPr>
              <a:spcBef>
                <a:spcPct val="50000"/>
              </a:spcBef>
              <a:buFontTx/>
              <a:buBlip>
                <a:blip r:embed="rId2"/>
              </a:buBlip>
            </a:pPr>
            <a:r>
              <a:rPr lang="en-US" sz="2400" b="1">
                <a:solidFill>
                  <a:srgbClr val="FFFE00"/>
                </a:solidFill>
                <a:latin typeface="Times New Roman" pitchFamily="18" charset="0"/>
                <a:cs typeface="Times New Roman" pitchFamily="18" charset="0"/>
              </a:rPr>
              <a:t> </a:t>
            </a:r>
            <a:r>
              <a:rPr lang="en-US" sz="2400" b="1">
                <a:latin typeface="Times New Roman" pitchFamily="18" charset="0"/>
                <a:cs typeface="Times New Roman" pitchFamily="18" charset="0"/>
              </a:rPr>
              <a:t>For example,</a:t>
            </a:r>
          </a:p>
        </p:txBody>
      </p:sp>
      <p:pic>
        <p:nvPicPr>
          <p:cNvPr id="37893" name="Picture 5"/>
          <p:cNvPicPr>
            <a:picLocks noChangeAspect="1" noChangeArrowheads="1"/>
          </p:cNvPicPr>
          <p:nvPr/>
        </p:nvPicPr>
        <p:blipFill>
          <a:blip r:embed="rId3"/>
          <a:srcRect/>
          <a:stretch>
            <a:fillRect/>
          </a:stretch>
        </p:blipFill>
        <p:spPr bwMode="auto">
          <a:xfrm>
            <a:off x="3886200" y="4486275"/>
            <a:ext cx="2752725" cy="2219325"/>
          </a:xfrm>
          <a:prstGeom prst="rect">
            <a:avLst/>
          </a:prstGeom>
          <a:noFill/>
          <a:ln w="9525">
            <a:noFill/>
            <a:miter lim="800000"/>
            <a:headEnd/>
            <a:tailEnd/>
          </a:ln>
        </p:spPr>
      </p:pic>
      <p:pic>
        <p:nvPicPr>
          <p:cNvPr id="37894" name="Picture 6"/>
          <p:cNvPicPr>
            <a:picLocks noChangeAspect="1" noChangeArrowheads="1"/>
          </p:cNvPicPr>
          <p:nvPr/>
        </p:nvPicPr>
        <p:blipFill>
          <a:blip r:embed="rId4"/>
          <a:srcRect/>
          <a:stretch>
            <a:fillRect/>
          </a:stretch>
        </p:blipFill>
        <p:spPr bwMode="auto">
          <a:xfrm>
            <a:off x="228600" y="2438400"/>
            <a:ext cx="8915400" cy="2005013"/>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1747"/>
                                        </p:tgtEl>
                                        <p:attrNameLst>
                                          <p:attrName>style.visibility</p:attrName>
                                        </p:attrNameLst>
                                      </p:cBhvr>
                                      <p:to>
                                        <p:strVal val="visible"/>
                                      </p:to>
                                    </p:set>
                                    <p:animEffect transition="in" filter="slide(fromBottom)">
                                      <p:cBhvr>
                                        <p:cTn id="7" dur="500"/>
                                        <p:tgtEl>
                                          <p:spTgt spid="31747"/>
                                        </p:tgtEl>
                                      </p:cBhvr>
                                    </p:animEffect>
                                  </p:childTnLst>
                                </p:cTn>
                              </p:par>
                            </p:childTnLst>
                          </p:cTn>
                        </p:par>
                        <p:par>
                          <p:cTn id="8" fill="hold">
                            <p:stCondLst>
                              <p:cond delay="500"/>
                            </p:stCondLst>
                            <p:childTnLst>
                              <p:par>
                                <p:cTn id="9" presetID="12" presetClass="entr" presetSubtype="4" fill="hold" grpId="0" nodeType="afterEffect">
                                  <p:stCondLst>
                                    <p:cond delay="0"/>
                                  </p:stCondLst>
                                  <p:childTnLst>
                                    <p:set>
                                      <p:cBhvr>
                                        <p:cTn id="10" dur="1" fill="hold">
                                          <p:stCondLst>
                                            <p:cond delay="0"/>
                                          </p:stCondLst>
                                        </p:cTn>
                                        <p:tgtEl>
                                          <p:spTgt spid="31748"/>
                                        </p:tgtEl>
                                        <p:attrNameLst>
                                          <p:attrName>style.visibility</p:attrName>
                                        </p:attrNameLst>
                                      </p:cBhvr>
                                      <p:to>
                                        <p:strVal val="visible"/>
                                      </p:to>
                                    </p:set>
                                    <p:animEffect transition="in" filter="slide(fromBottom)">
                                      <p:cBhvr>
                                        <p:cTn id="11" dur="500"/>
                                        <p:tgtEl>
                                          <p:spTgt spid="317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autoUpdateAnimBg="0"/>
      <p:bldP spid="31748" grpId="0" autoUpdateAnimBg="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AutoShape 2"/>
          <p:cNvSpPr>
            <a:spLocks noChangeArrowheads="1"/>
          </p:cNvSpPr>
          <p:nvPr/>
        </p:nvSpPr>
        <p:spPr bwMode="auto">
          <a:xfrm>
            <a:off x="76200" y="1219200"/>
            <a:ext cx="8991600" cy="5486400"/>
          </a:xfrm>
          <a:prstGeom prst="horizontalScroll">
            <a:avLst>
              <a:gd name="adj" fmla="val 9130"/>
            </a:avLst>
          </a:prstGeom>
          <a:noFill/>
          <a:ln w="38100">
            <a:solidFill>
              <a:srgbClr val="990033"/>
            </a:solidFill>
            <a:round/>
            <a:headEnd/>
            <a:tailEnd/>
          </a:ln>
        </p:spPr>
        <p:txBody>
          <a:bodyPr wrap="none" anchor="ctr"/>
          <a:lstStyle/>
          <a:p>
            <a:pPr algn="ctr" eaLnBrk="0" hangingPunct="0"/>
            <a:endParaRPr lang="en-US">
              <a:solidFill>
                <a:srgbClr val="000066"/>
              </a:solidFill>
              <a:latin typeface="Verdana" pitchFamily="34" charset="0"/>
            </a:endParaRPr>
          </a:p>
        </p:txBody>
      </p:sp>
      <p:sp>
        <p:nvSpPr>
          <p:cNvPr id="38915" name="AutoShape 3"/>
          <p:cNvSpPr>
            <a:spLocks noChangeArrowheads="1"/>
          </p:cNvSpPr>
          <p:nvPr/>
        </p:nvSpPr>
        <p:spPr bwMode="auto">
          <a:xfrm>
            <a:off x="1828800" y="0"/>
            <a:ext cx="5562600" cy="1066800"/>
          </a:xfrm>
          <a:prstGeom prst="cloudCallout">
            <a:avLst>
              <a:gd name="adj1" fmla="val -43495"/>
              <a:gd name="adj2" fmla="val 110713"/>
            </a:avLst>
          </a:prstGeom>
          <a:solidFill>
            <a:schemeClr val="accent1"/>
          </a:solidFill>
          <a:ln w="9525">
            <a:solidFill>
              <a:schemeClr val="tx1"/>
            </a:solidFill>
            <a:round/>
            <a:headEnd/>
            <a:tailEnd/>
          </a:ln>
        </p:spPr>
        <p:txBody>
          <a:bodyPr/>
          <a:lstStyle/>
          <a:p>
            <a:pPr algn="ctr" eaLnBrk="0" hangingPunct="0"/>
            <a:endParaRPr lang="en-US">
              <a:latin typeface="Verdana" pitchFamily="34" charset="0"/>
            </a:endParaRPr>
          </a:p>
        </p:txBody>
      </p:sp>
      <p:sp>
        <p:nvSpPr>
          <p:cNvPr id="38916" name="Rectangle 4"/>
          <p:cNvSpPr>
            <a:spLocks noRot="1" noChangeArrowheads="1"/>
          </p:cNvSpPr>
          <p:nvPr/>
        </p:nvSpPr>
        <p:spPr bwMode="auto">
          <a:xfrm>
            <a:off x="280988" y="0"/>
            <a:ext cx="8558212" cy="1203325"/>
          </a:xfrm>
          <a:prstGeom prst="rect">
            <a:avLst/>
          </a:prstGeom>
          <a:noFill/>
          <a:ln w="9525">
            <a:noFill/>
            <a:miter lim="800000"/>
            <a:headEnd/>
            <a:tailEnd/>
          </a:ln>
        </p:spPr>
        <p:txBody>
          <a:bodyPr lIns="98225" tIns="49112" rIns="98225" bIns="49112" anchor="ctr"/>
          <a:lstStyle/>
          <a:p>
            <a:pPr algn="ctr"/>
            <a:r>
              <a:rPr lang="en-US" sz="3600" b="1">
                <a:solidFill>
                  <a:srgbClr val="800000"/>
                </a:solidFill>
                <a:latin typeface="Bookman Old Style" pitchFamily="18" charset="0"/>
              </a:rPr>
              <a:t>Inline function</a:t>
            </a:r>
          </a:p>
        </p:txBody>
      </p:sp>
      <p:sp>
        <p:nvSpPr>
          <p:cNvPr id="38917" name="Text Box 5"/>
          <p:cNvSpPr txBox="1">
            <a:spLocks noChangeArrowheads="1"/>
          </p:cNvSpPr>
          <p:nvPr/>
        </p:nvSpPr>
        <p:spPr bwMode="auto">
          <a:xfrm>
            <a:off x="563563" y="1898650"/>
            <a:ext cx="8305800" cy="4291013"/>
          </a:xfrm>
          <a:prstGeom prst="rect">
            <a:avLst/>
          </a:prstGeom>
          <a:noFill/>
          <a:ln w="9525">
            <a:noFill/>
            <a:miter lim="800000"/>
            <a:headEnd/>
            <a:tailEnd/>
          </a:ln>
        </p:spPr>
        <p:txBody>
          <a:bodyPr lIns="91437" tIns="45719" rIns="91437" bIns="45719">
            <a:spAutoFit/>
          </a:bodyPr>
          <a:lstStyle/>
          <a:p>
            <a:pPr algn="just">
              <a:spcBef>
                <a:spcPct val="50000"/>
              </a:spcBef>
            </a:pPr>
            <a:r>
              <a:rPr lang="en-US" sz="2000" b="1">
                <a:solidFill>
                  <a:srgbClr val="990000"/>
                </a:solidFill>
                <a:latin typeface="Times New Roman" pitchFamily="18" charset="0"/>
              </a:rPr>
              <a:t>	</a:t>
            </a:r>
            <a:r>
              <a:rPr lang="en-US" sz="2400" b="1">
                <a:solidFill>
                  <a:srgbClr val="000066"/>
                </a:solidFill>
                <a:latin typeface="Times New Roman" pitchFamily="18" charset="0"/>
              </a:rPr>
              <a:t>Basically function are used to save the memory space. When the compiler  sees a function it jumps back to instruction following to the call.It takes extra time to execute .</a:t>
            </a:r>
          </a:p>
          <a:p>
            <a:pPr>
              <a:spcBef>
                <a:spcPct val="50000"/>
              </a:spcBef>
            </a:pPr>
            <a:r>
              <a:rPr lang="en-US" sz="2400" b="1">
                <a:solidFill>
                  <a:srgbClr val="000066"/>
                </a:solidFill>
                <a:latin typeface="Times New Roman" pitchFamily="18" charset="0"/>
              </a:rPr>
              <a:t>	To avoid this slow down process inline function are used.</a:t>
            </a:r>
          </a:p>
          <a:p>
            <a:pPr>
              <a:spcBef>
                <a:spcPct val="50000"/>
              </a:spcBef>
            </a:pPr>
            <a:r>
              <a:rPr lang="en-US" sz="2400" b="1">
                <a:solidFill>
                  <a:srgbClr val="000066"/>
                </a:solidFill>
                <a:latin typeface="Times New Roman" pitchFamily="18" charset="0"/>
              </a:rPr>
              <a:t>	Inline is a function that is expanded in line when it is invoked. The compiler replaces the function call when it is invoked</a:t>
            </a:r>
          </a:p>
          <a:p>
            <a:pPr algn="just">
              <a:spcBef>
                <a:spcPct val="50000"/>
              </a:spcBef>
            </a:pPr>
            <a:r>
              <a:rPr lang="en-US" sz="2400" b="1">
                <a:solidFill>
                  <a:srgbClr val="000066"/>
                </a:solidFill>
                <a:latin typeface="Times New Roman" pitchFamily="18" charset="0"/>
              </a:rPr>
              <a:t>	To make a function as inline ,the inline keyword must be used before function definition</a:t>
            </a:r>
            <a:endParaRPr lang="en-US" sz="2800" b="1">
              <a:solidFill>
                <a:srgbClr val="000066"/>
              </a:solidFill>
              <a:latin typeface="Times New Roman" pitchFamily="18" charset="0"/>
            </a:endParaRPr>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ChangeArrowheads="1"/>
          </p:cNvSpPr>
          <p:nvPr/>
        </p:nvSpPr>
        <p:spPr bwMode="auto">
          <a:xfrm>
            <a:off x="152400" y="1339850"/>
            <a:ext cx="8839200" cy="4375150"/>
          </a:xfrm>
          <a:prstGeom prst="rect">
            <a:avLst/>
          </a:prstGeom>
          <a:noFill/>
          <a:ln w="9525">
            <a:solidFill>
              <a:srgbClr val="990033"/>
            </a:solidFill>
            <a:miter lim="800000"/>
            <a:headEnd/>
            <a:tailEnd/>
          </a:ln>
        </p:spPr>
        <p:txBody>
          <a:bodyPr>
            <a:spAutoFit/>
          </a:bodyPr>
          <a:lstStyle/>
          <a:p>
            <a:pPr algn="just" eaLnBrk="0" hangingPunct="0">
              <a:lnSpc>
                <a:spcPct val="160000"/>
              </a:lnSpc>
              <a:spcBef>
                <a:spcPct val="10000"/>
              </a:spcBef>
              <a:spcAft>
                <a:spcPct val="15000"/>
              </a:spcAft>
              <a:buFont typeface="Wingdings" pitchFamily="2" charset="2"/>
              <a:buChar char="@"/>
            </a:pPr>
            <a:r>
              <a:rPr lang="en-US" sz="2400" b="1">
                <a:solidFill>
                  <a:srgbClr val="660033"/>
                </a:solidFill>
                <a:latin typeface="Times New Roman" pitchFamily="18" charset="0"/>
              </a:rPr>
              <a:t>  </a:t>
            </a:r>
            <a:r>
              <a:rPr lang="en-US" sz="2400" b="1">
                <a:solidFill>
                  <a:srgbClr val="000099"/>
                </a:solidFill>
                <a:latin typeface="Times New Roman" pitchFamily="18" charset="0"/>
              </a:rPr>
              <a:t>An Inline function is a function with a few statements that is expanded inline when it is invoked</a:t>
            </a:r>
          </a:p>
          <a:p>
            <a:pPr algn="just" eaLnBrk="0" hangingPunct="0">
              <a:lnSpc>
                <a:spcPct val="160000"/>
              </a:lnSpc>
              <a:spcBef>
                <a:spcPct val="10000"/>
              </a:spcBef>
              <a:spcAft>
                <a:spcPct val="15000"/>
              </a:spcAft>
              <a:buFont typeface="Wingdings" pitchFamily="2" charset="2"/>
              <a:buChar char="@"/>
            </a:pPr>
            <a:r>
              <a:rPr lang="en-US" sz="2400" b="1">
                <a:solidFill>
                  <a:srgbClr val="000099"/>
                </a:solidFill>
                <a:latin typeface="Times New Roman" pitchFamily="18" charset="0"/>
              </a:rPr>
              <a:t>  An inline function specifier is actually a request and not a command to the compiler, hence it may ignore the request  and compile the function as an ordinary function</a:t>
            </a:r>
          </a:p>
          <a:p>
            <a:pPr algn="just" eaLnBrk="0" hangingPunct="0">
              <a:lnSpc>
                <a:spcPct val="160000"/>
              </a:lnSpc>
              <a:spcBef>
                <a:spcPct val="10000"/>
              </a:spcBef>
              <a:spcAft>
                <a:spcPct val="15000"/>
              </a:spcAft>
              <a:buFont typeface="Wingdings" pitchFamily="2" charset="2"/>
              <a:buChar char="@"/>
            </a:pPr>
            <a:r>
              <a:rPr lang="en-US" sz="2400" b="1">
                <a:solidFill>
                  <a:srgbClr val="000099"/>
                </a:solidFill>
                <a:latin typeface="Times New Roman" pitchFamily="18" charset="0"/>
              </a:rPr>
              <a:t>  Automatic inlining is the process of defining a function inside the class declaration</a:t>
            </a:r>
          </a:p>
        </p:txBody>
      </p:sp>
      <p:sp>
        <p:nvSpPr>
          <p:cNvPr id="39939" name="WordArt 3"/>
          <p:cNvSpPr>
            <a:spLocks noChangeArrowheads="1" noChangeShapeType="1" noTextEdit="1"/>
          </p:cNvSpPr>
          <p:nvPr/>
        </p:nvSpPr>
        <p:spPr bwMode="auto">
          <a:xfrm>
            <a:off x="2590800" y="139700"/>
            <a:ext cx="2971800" cy="850900"/>
          </a:xfrm>
          <a:prstGeom prst="rect">
            <a:avLst/>
          </a:prstGeom>
        </p:spPr>
        <p:txBody>
          <a:bodyPr wrap="none" fromWordArt="1">
            <a:prstTxWarp prst="textWave2">
              <a:avLst>
                <a:gd name="adj1" fmla="val 13005"/>
                <a:gd name="adj2" fmla="val 0"/>
              </a:avLst>
            </a:prstTxWarp>
            <a:scene3d>
              <a:camera prst="legacyObliqueTopLeft"/>
              <a:lightRig rig="legacyNormal3" dir="r"/>
            </a:scene3d>
            <a:sp3d extrusionH="201600" prstMaterial="legacyMatte">
              <a:extrusionClr>
                <a:srgbClr val="0066CC"/>
              </a:extrusionClr>
            </a:sp3d>
          </a:bodyPr>
          <a:lstStyle/>
          <a:p>
            <a:pPr algn="ctr"/>
            <a:r>
              <a:rPr lang="en-IN" sz="4400" b="1" kern="10">
                <a:ln w="9525">
                  <a:round/>
                  <a:headEnd/>
                  <a:tailEnd/>
                </a:ln>
                <a:gradFill rotWithShape="1">
                  <a:gsLst>
                    <a:gs pos="0">
                      <a:srgbClr val="000082"/>
                    </a:gs>
                    <a:gs pos="30000">
                      <a:srgbClr val="66008F"/>
                    </a:gs>
                    <a:gs pos="64999">
                      <a:srgbClr val="BA0066"/>
                    </a:gs>
                    <a:gs pos="89999">
                      <a:srgbClr val="FF0000"/>
                    </a:gs>
                    <a:gs pos="100000">
                      <a:srgbClr val="FF8200"/>
                    </a:gs>
                  </a:gsLst>
                  <a:path path="rect">
                    <a:fillToRect l="50000" t="50000" r="50000" b="50000"/>
                  </a:path>
                </a:gradFill>
                <a:latin typeface="Times New Roman"/>
                <a:cs typeface="Times New Roman"/>
              </a:rPr>
              <a:t>HINTS</a:t>
            </a:r>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ChangeArrowheads="1"/>
          </p:cNvSpPr>
          <p:nvPr/>
        </p:nvSpPr>
        <p:spPr bwMode="auto">
          <a:xfrm>
            <a:off x="228600" y="527050"/>
            <a:ext cx="8763000" cy="4673600"/>
          </a:xfrm>
          <a:prstGeom prst="rect">
            <a:avLst/>
          </a:prstGeom>
          <a:noFill/>
          <a:ln w="9525">
            <a:solidFill>
              <a:srgbClr val="990033"/>
            </a:solidFill>
            <a:miter lim="800000"/>
            <a:headEnd/>
            <a:tailEnd/>
          </a:ln>
        </p:spPr>
        <p:txBody>
          <a:bodyPr>
            <a:spAutoFit/>
          </a:bodyPr>
          <a:lstStyle/>
          <a:p>
            <a:pPr algn="just" eaLnBrk="0" hangingPunct="0">
              <a:lnSpc>
                <a:spcPct val="160000"/>
              </a:lnSpc>
              <a:spcBef>
                <a:spcPct val="10000"/>
              </a:spcBef>
              <a:spcAft>
                <a:spcPct val="15000"/>
              </a:spcAft>
              <a:buFont typeface="Wingdings" pitchFamily="2" charset="2"/>
              <a:buNone/>
            </a:pPr>
            <a:r>
              <a:rPr lang="en-US" sz="2400" b="1" i="1" u="sng">
                <a:solidFill>
                  <a:srgbClr val="000099"/>
                </a:solidFill>
              </a:rPr>
              <a:t>Common Restrictions while using Inline</a:t>
            </a:r>
            <a:r>
              <a:rPr lang="en-US" sz="2400" b="1">
                <a:solidFill>
                  <a:srgbClr val="000099"/>
                </a:solidFill>
                <a:latin typeface="Times New Roman" pitchFamily="18" charset="0"/>
              </a:rPr>
              <a:t> </a:t>
            </a:r>
          </a:p>
          <a:p>
            <a:pPr algn="just" eaLnBrk="0" hangingPunct="0">
              <a:lnSpc>
                <a:spcPct val="180000"/>
              </a:lnSpc>
              <a:spcBef>
                <a:spcPct val="15000"/>
              </a:spcBef>
              <a:spcAft>
                <a:spcPct val="25000"/>
              </a:spcAft>
              <a:buSzPct val="110000"/>
              <a:buFont typeface="Wingdings" pitchFamily="2" charset="2"/>
              <a:buChar char="@"/>
            </a:pPr>
            <a:r>
              <a:rPr lang="en-US" sz="2400" b="1">
                <a:solidFill>
                  <a:srgbClr val="000099"/>
                </a:solidFill>
                <a:latin typeface="Times New Roman" pitchFamily="18" charset="0"/>
              </a:rPr>
              <a:t> An inline function must be defined before it is used.</a:t>
            </a:r>
          </a:p>
          <a:p>
            <a:pPr algn="just" eaLnBrk="0" hangingPunct="0">
              <a:lnSpc>
                <a:spcPct val="180000"/>
              </a:lnSpc>
              <a:spcBef>
                <a:spcPct val="15000"/>
              </a:spcBef>
              <a:spcAft>
                <a:spcPct val="25000"/>
              </a:spcAft>
              <a:buSzPct val="110000"/>
              <a:buFont typeface="Wingdings" pitchFamily="2" charset="2"/>
              <a:buChar char="@"/>
            </a:pPr>
            <a:r>
              <a:rPr lang="en-US" sz="2400" b="1">
                <a:solidFill>
                  <a:srgbClr val="000099"/>
                </a:solidFill>
                <a:latin typeface="Times New Roman" pitchFamily="18" charset="0"/>
              </a:rPr>
              <a:t>  It should not contain any loops</a:t>
            </a:r>
          </a:p>
          <a:p>
            <a:pPr algn="just" eaLnBrk="0" hangingPunct="0">
              <a:lnSpc>
                <a:spcPct val="180000"/>
              </a:lnSpc>
              <a:spcBef>
                <a:spcPct val="15000"/>
              </a:spcBef>
              <a:spcAft>
                <a:spcPct val="25000"/>
              </a:spcAft>
              <a:buSzPct val="110000"/>
              <a:buFont typeface="Wingdings" pitchFamily="2" charset="2"/>
              <a:buChar char="@"/>
            </a:pPr>
            <a:r>
              <a:rPr lang="en-US" sz="2400" b="1">
                <a:solidFill>
                  <a:srgbClr val="000099"/>
                </a:solidFill>
                <a:latin typeface="Times New Roman" pitchFamily="18" charset="0"/>
              </a:rPr>
              <a:t>  It should not be recursive</a:t>
            </a:r>
          </a:p>
          <a:p>
            <a:pPr algn="just" eaLnBrk="0" hangingPunct="0">
              <a:lnSpc>
                <a:spcPct val="180000"/>
              </a:lnSpc>
              <a:spcBef>
                <a:spcPct val="15000"/>
              </a:spcBef>
              <a:spcAft>
                <a:spcPct val="25000"/>
              </a:spcAft>
              <a:buSzPct val="110000"/>
              <a:buFont typeface="Wingdings" pitchFamily="2" charset="2"/>
              <a:buChar char="@"/>
            </a:pPr>
            <a:r>
              <a:rPr lang="en-US" sz="2400" b="1">
                <a:solidFill>
                  <a:srgbClr val="000099"/>
                </a:solidFill>
                <a:latin typeface="Times New Roman" pitchFamily="18" charset="0"/>
              </a:rPr>
              <a:t>  It should not contain any static variables</a:t>
            </a:r>
          </a:p>
          <a:p>
            <a:pPr algn="just" eaLnBrk="0" hangingPunct="0">
              <a:lnSpc>
                <a:spcPct val="180000"/>
              </a:lnSpc>
              <a:spcBef>
                <a:spcPct val="15000"/>
              </a:spcBef>
              <a:spcAft>
                <a:spcPct val="25000"/>
              </a:spcAft>
              <a:buSzPct val="110000"/>
              <a:buFont typeface="Wingdings" pitchFamily="2" charset="2"/>
              <a:buChar char="@"/>
            </a:pPr>
            <a:r>
              <a:rPr lang="en-US" sz="2400" b="1">
                <a:solidFill>
                  <a:srgbClr val="000099"/>
                </a:solidFill>
                <a:latin typeface="Times New Roman" pitchFamily="18" charset="0"/>
              </a:rPr>
              <a:t>  It should not contain a goto or a switch statement</a:t>
            </a:r>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Rot="1" noChangeArrowheads="1"/>
          </p:cNvSpPr>
          <p:nvPr/>
        </p:nvSpPr>
        <p:spPr bwMode="auto">
          <a:xfrm>
            <a:off x="0" y="228600"/>
            <a:ext cx="9102725" cy="747713"/>
          </a:xfrm>
          <a:prstGeom prst="rect">
            <a:avLst/>
          </a:prstGeom>
          <a:noFill/>
          <a:ln w="9525">
            <a:noFill/>
            <a:miter lim="800000"/>
            <a:headEnd/>
            <a:tailEnd/>
          </a:ln>
        </p:spPr>
        <p:txBody>
          <a:bodyPr lIns="98225" tIns="49112" rIns="98225" bIns="49112" anchor="ctr"/>
          <a:lstStyle/>
          <a:p>
            <a:pPr algn="ctr"/>
            <a:r>
              <a:rPr lang="en-US" sz="4000" b="1" u="sng">
                <a:solidFill>
                  <a:srgbClr val="000066"/>
                </a:solidFill>
                <a:latin typeface="Times New Roman" pitchFamily="18" charset="0"/>
              </a:rPr>
              <a:t>Example for inline function</a:t>
            </a:r>
          </a:p>
        </p:txBody>
      </p:sp>
      <p:sp>
        <p:nvSpPr>
          <p:cNvPr id="41987" name="Text Box 3"/>
          <p:cNvSpPr txBox="1">
            <a:spLocks noChangeArrowheads="1"/>
          </p:cNvSpPr>
          <p:nvPr/>
        </p:nvSpPr>
        <p:spPr bwMode="auto">
          <a:xfrm>
            <a:off x="228600" y="1016000"/>
            <a:ext cx="8869363" cy="4848225"/>
          </a:xfrm>
          <a:prstGeom prst="rect">
            <a:avLst/>
          </a:prstGeom>
          <a:noFill/>
          <a:ln w="9525">
            <a:solidFill>
              <a:srgbClr val="990033"/>
            </a:solidFill>
            <a:miter lim="800000"/>
            <a:headEnd/>
            <a:tailEnd/>
          </a:ln>
        </p:spPr>
        <p:txBody>
          <a:bodyPr lIns="91437" tIns="45719" rIns="91437" bIns="45719">
            <a:spAutoFit/>
          </a:bodyPr>
          <a:lstStyle/>
          <a:p>
            <a:r>
              <a:rPr lang="en-US" sz="2400" b="1">
                <a:solidFill>
                  <a:srgbClr val="000066"/>
                </a:solidFill>
                <a:latin typeface="Times New Roman" pitchFamily="18" charset="0"/>
              </a:rPr>
              <a:t>#include&lt;iostream.h&gt;</a:t>
            </a:r>
          </a:p>
          <a:p>
            <a:r>
              <a:rPr lang="en-US" sz="2400" b="1">
                <a:solidFill>
                  <a:srgbClr val="000066"/>
                </a:solidFill>
                <a:latin typeface="Times New Roman" pitchFamily="18" charset="0"/>
              </a:rPr>
              <a:t>inline float cmtom(int cm)</a:t>
            </a:r>
          </a:p>
          <a:p>
            <a:r>
              <a:rPr lang="en-US" sz="2400" b="1">
                <a:solidFill>
                  <a:srgbClr val="000066"/>
                </a:solidFill>
                <a:latin typeface="Times New Roman" pitchFamily="18" charset="0"/>
              </a:rPr>
              <a:t>{</a:t>
            </a:r>
          </a:p>
          <a:p>
            <a:r>
              <a:rPr lang="en-US" sz="2400" b="1">
                <a:solidFill>
                  <a:srgbClr val="000066"/>
                </a:solidFill>
                <a:latin typeface="Times New Roman" pitchFamily="18" charset="0"/>
              </a:rPr>
              <a:t>return (float)cm/100;</a:t>
            </a:r>
          </a:p>
          <a:p>
            <a:r>
              <a:rPr lang="en-US" sz="2400" b="1">
                <a:solidFill>
                  <a:srgbClr val="000066"/>
                </a:solidFill>
                <a:latin typeface="Times New Roman" pitchFamily="18" charset="0"/>
              </a:rPr>
              <a:t>}</a:t>
            </a:r>
          </a:p>
          <a:p>
            <a:r>
              <a:rPr lang="en-US" sz="2400" b="1">
                <a:solidFill>
                  <a:srgbClr val="000066"/>
                </a:solidFill>
                <a:latin typeface="Times New Roman" pitchFamily="18" charset="0"/>
              </a:rPr>
              <a:t>void main()</a:t>
            </a:r>
          </a:p>
          <a:p>
            <a:r>
              <a:rPr lang="en-US" sz="2400" b="1">
                <a:solidFill>
                  <a:srgbClr val="000066"/>
                </a:solidFill>
                <a:latin typeface="Times New Roman" pitchFamily="18" charset="0"/>
              </a:rPr>
              <a:t>{</a:t>
            </a:r>
          </a:p>
          <a:p>
            <a:r>
              <a:rPr lang="en-US" sz="2400" b="1">
                <a:solidFill>
                  <a:srgbClr val="000066"/>
                </a:solidFill>
                <a:latin typeface="Times New Roman" pitchFamily="18" charset="0"/>
              </a:rPr>
              <a:t>int cm;</a:t>
            </a:r>
          </a:p>
          <a:p>
            <a:r>
              <a:rPr lang="en-US" sz="2400" b="1">
                <a:solidFill>
                  <a:srgbClr val="000066"/>
                </a:solidFill>
                <a:latin typeface="Times New Roman" pitchFamily="18" charset="0"/>
              </a:rPr>
              <a:t>clrscr();</a:t>
            </a:r>
          </a:p>
          <a:p>
            <a:r>
              <a:rPr lang="en-US" sz="2400" b="1">
                <a:solidFill>
                  <a:srgbClr val="000066"/>
                </a:solidFill>
                <a:latin typeface="Times New Roman" pitchFamily="18" charset="0"/>
              </a:rPr>
              <a:t>cout&lt;&lt;"enter the length in centimeter:"&lt;&lt;endl;</a:t>
            </a:r>
          </a:p>
          <a:p>
            <a:r>
              <a:rPr lang="en-US" sz="2400" b="1">
                <a:solidFill>
                  <a:srgbClr val="000066"/>
                </a:solidFill>
                <a:latin typeface="Times New Roman" pitchFamily="18" charset="0"/>
              </a:rPr>
              <a:t>cin&gt;&gt;cm;</a:t>
            </a:r>
          </a:p>
          <a:p>
            <a:r>
              <a:rPr lang="en-US" sz="2400" b="1">
                <a:solidFill>
                  <a:srgbClr val="000066"/>
                </a:solidFill>
                <a:latin typeface="Times New Roman" pitchFamily="18" charset="0"/>
              </a:rPr>
              <a:t>cout&lt;&lt;"the equivalent meter value is :"&lt;&lt;cmtom(cm)&lt;&lt;endl;</a:t>
            </a:r>
          </a:p>
          <a:p>
            <a:r>
              <a:rPr lang="en-US" sz="2400" b="1">
                <a:solidFill>
                  <a:srgbClr val="000066"/>
                </a:solidFill>
                <a:latin typeface="Times New Roman" pitchFamily="18" charset="0"/>
              </a:rPr>
              <a:t>}</a:t>
            </a:r>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ChangeArrowheads="1"/>
          </p:cNvSpPr>
          <p:nvPr/>
        </p:nvSpPr>
        <p:spPr bwMode="auto">
          <a:xfrm>
            <a:off x="76200" y="152400"/>
            <a:ext cx="8839200" cy="6308725"/>
          </a:xfrm>
          <a:prstGeom prst="rect">
            <a:avLst/>
          </a:prstGeom>
          <a:noFill/>
          <a:ln w="9525">
            <a:solidFill>
              <a:srgbClr val="990033"/>
            </a:solidFill>
            <a:miter lim="800000"/>
            <a:headEnd/>
            <a:tailEnd/>
          </a:ln>
        </p:spPr>
        <p:txBody>
          <a:bodyPr>
            <a:spAutoFit/>
          </a:bodyPr>
          <a:lstStyle/>
          <a:p>
            <a:pPr eaLnBrk="0" hangingPunct="0"/>
            <a:r>
              <a:rPr lang="en-US" sz="2400" b="1">
                <a:solidFill>
                  <a:srgbClr val="000066"/>
                </a:solidFill>
                <a:latin typeface="Times New Roman" pitchFamily="18" charset="0"/>
              </a:rPr>
              <a:t>// Demonstrate INLINE Functions</a:t>
            </a:r>
          </a:p>
          <a:p>
            <a:pPr eaLnBrk="0" hangingPunct="0"/>
            <a:r>
              <a:rPr lang="en-US" sz="2400" b="1">
                <a:solidFill>
                  <a:srgbClr val="000066"/>
                </a:solidFill>
                <a:latin typeface="Times New Roman" pitchFamily="18" charset="0"/>
              </a:rPr>
              <a:t>#include&lt;iostream.h&gt;</a:t>
            </a:r>
          </a:p>
          <a:p>
            <a:pPr eaLnBrk="0" hangingPunct="0"/>
            <a:r>
              <a:rPr lang="en-US" sz="2400" b="1">
                <a:solidFill>
                  <a:srgbClr val="000066"/>
                </a:solidFill>
                <a:latin typeface="Times New Roman" pitchFamily="18" charset="0"/>
              </a:rPr>
              <a:t>float convert(float);</a:t>
            </a:r>
          </a:p>
          <a:p>
            <a:pPr eaLnBrk="0" hangingPunct="0"/>
            <a:r>
              <a:rPr lang="en-US" sz="2400" b="1">
                <a:solidFill>
                  <a:srgbClr val="000066"/>
                </a:solidFill>
                <a:latin typeface="Times New Roman" pitchFamily="18" charset="0"/>
              </a:rPr>
              <a:t>inline float convert(float pounds)</a:t>
            </a:r>
          </a:p>
          <a:p>
            <a:pPr eaLnBrk="0" hangingPunct="0"/>
            <a:r>
              <a:rPr lang="en-US" sz="2400" b="1">
                <a:solidFill>
                  <a:srgbClr val="000066"/>
                </a:solidFill>
                <a:latin typeface="Times New Roman" pitchFamily="18" charset="0"/>
              </a:rPr>
              <a:t>{</a:t>
            </a:r>
          </a:p>
          <a:p>
            <a:pPr eaLnBrk="0" hangingPunct="0"/>
            <a:r>
              <a:rPr lang="en-US" sz="2400" b="1">
                <a:solidFill>
                  <a:srgbClr val="000066"/>
                </a:solidFill>
                <a:latin typeface="Times New Roman" pitchFamily="18" charset="0"/>
              </a:rPr>
              <a:t>float c;</a:t>
            </a:r>
          </a:p>
          <a:p>
            <a:pPr eaLnBrk="0" hangingPunct="0"/>
            <a:r>
              <a:rPr lang="en-US" sz="2400" b="1">
                <a:solidFill>
                  <a:srgbClr val="000066"/>
                </a:solidFill>
                <a:latin typeface="Times New Roman" pitchFamily="18" charset="0"/>
              </a:rPr>
              <a:t>c=0.453592 * pounds;</a:t>
            </a:r>
          </a:p>
          <a:p>
            <a:pPr eaLnBrk="0" hangingPunct="0"/>
            <a:r>
              <a:rPr lang="en-US" sz="2400" b="1">
                <a:solidFill>
                  <a:srgbClr val="000066"/>
                </a:solidFill>
                <a:latin typeface="Times New Roman" pitchFamily="18" charset="0"/>
              </a:rPr>
              <a:t>return(c);</a:t>
            </a:r>
          </a:p>
          <a:p>
            <a:pPr eaLnBrk="0" hangingPunct="0"/>
            <a:r>
              <a:rPr lang="en-US" sz="2400" b="1">
                <a:solidFill>
                  <a:srgbClr val="000066"/>
                </a:solidFill>
                <a:latin typeface="Times New Roman" pitchFamily="18" charset="0"/>
              </a:rPr>
              <a:t>}</a:t>
            </a:r>
          </a:p>
          <a:p>
            <a:pPr eaLnBrk="0" hangingPunct="0"/>
            <a:r>
              <a:rPr lang="en-US" sz="2400" b="1">
                <a:solidFill>
                  <a:srgbClr val="000066"/>
                </a:solidFill>
                <a:latin typeface="Times New Roman" pitchFamily="18" charset="0"/>
              </a:rPr>
              <a:t>void main()</a:t>
            </a:r>
          </a:p>
          <a:p>
            <a:pPr eaLnBrk="0" hangingPunct="0"/>
            <a:r>
              <a:rPr lang="en-US" sz="2400" b="1">
                <a:solidFill>
                  <a:srgbClr val="000066"/>
                </a:solidFill>
                <a:latin typeface="Times New Roman" pitchFamily="18" charset="0"/>
              </a:rPr>
              <a:t>{</a:t>
            </a:r>
          </a:p>
          <a:p>
            <a:pPr eaLnBrk="0" hangingPunct="0"/>
            <a:r>
              <a:rPr lang="en-US" sz="2400" b="1">
                <a:solidFill>
                  <a:srgbClr val="000066"/>
                </a:solidFill>
                <a:latin typeface="Times New Roman" pitchFamily="18" charset="0"/>
              </a:rPr>
              <a:t>float w,res;</a:t>
            </a:r>
          </a:p>
          <a:p>
            <a:pPr eaLnBrk="0" hangingPunct="0"/>
            <a:r>
              <a:rPr lang="en-US" sz="2400" b="1">
                <a:solidFill>
                  <a:srgbClr val="000066"/>
                </a:solidFill>
                <a:latin typeface="Times New Roman" pitchFamily="18" charset="0"/>
              </a:rPr>
              <a:t>cout&lt;&lt;endl&lt;&lt;"Enter Your Weights in Pounds  :";</a:t>
            </a:r>
          </a:p>
          <a:p>
            <a:pPr eaLnBrk="0" hangingPunct="0"/>
            <a:r>
              <a:rPr lang="en-US" sz="2400" b="1">
                <a:solidFill>
                  <a:srgbClr val="000066"/>
                </a:solidFill>
                <a:latin typeface="Times New Roman" pitchFamily="18" charset="0"/>
              </a:rPr>
              <a:t>cin&gt;&gt;w;</a:t>
            </a:r>
          </a:p>
          <a:p>
            <a:pPr eaLnBrk="0" hangingPunct="0"/>
            <a:r>
              <a:rPr lang="en-US" sz="2400" b="1">
                <a:solidFill>
                  <a:srgbClr val="000066"/>
                </a:solidFill>
                <a:latin typeface="Times New Roman" pitchFamily="18" charset="0"/>
              </a:rPr>
              <a:t>res=convert(w);</a:t>
            </a:r>
          </a:p>
          <a:p>
            <a:pPr eaLnBrk="0" hangingPunct="0"/>
            <a:r>
              <a:rPr lang="en-US" sz="2400" b="1">
                <a:solidFill>
                  <a:srgbClr val="000066"/>
                </a:solidFill>
                <a:latin typeface="Times New Roman" pitchFamily="18" charset="0"/>
              </a:rPr>
              <a:t>cout&lt;&lt;"Your Weight in Kilograms is "&lt;&lt;res&lt;&lt;endl;</a:t>
            </a:r>
          </a:p>
          <a:p>
            <a:pPr eaLnBrk="0" hangingPunct="0"/>
            <a:r>
              <a:rPr lang="en-US" sz="2400" b="1">
                <a:solidFill>
                  <a:srgbClr val="000066"/>
                </a:solidFill>
                <a:latin typeface="Times New Roman" pitchFamily="18" charset="0"/>
              </a:rPr>
              <a:t>}</a:t>
            </a:r>
            <a:endParaRPr lang="en-US" sz="2000">
              <a:solidFill>
                <a:srgbClr val="000066"/>
              </a:solidFill>
              <a:latin typeface="Times New Roman" pitchFamily="18" charset="0"/>
            </a:endParaRPr>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2"/>
          <p:cNvSpPr txBox="1">
            <a:spLocks noChangeArrowheads="1"/>
          </p:cNvSpPr>
          <p:nvPr/>
        </p:nvSpPr>
        <p:spPr bwMode="auto">
          <a:xfrm>
            <a:off x="457200" y="1447800"/>
            <a:ext cx="8534400" cy="2538413"/>
          </a:xfrm>
          <a:prstGeom prst="rect">
            <a:avLst/>
          </a:prstGeom>
          <a:noFill/>
          <a:ln w="9525">
            <a:noFill/>
            <a:miter lim="800000"/>
            <a:headEnd/>
            <a:tailEnd/>
          </a:ln>
        </p:spPr>
        <p:txBody>
          <a:bodyPr>
            <a:spAutoFit/>
          </a:bodyPr>
          <a:lstStyle/>
          <a:p>
            <a:pPr algn="just">
              <a:lnSpc>
                <a:spcPct val="160000"/>
              </a:lnSpc>
              <a:spcBef>
                <a:spcPct val="50000"/>
              </a:spcBef>
              <a:buFont typeface="Wingdings" pitchFamily="2" charset="2"/>
              <a:buChar char="§"/>
            </a:pPr>
            <a:r>
              <a:rPr lang="en-US" sz="2400" b="1">
                <a:solidFill>
                  <a:srgbClr val="660033"/>
                </a:solidFill>
                <a:latin typeface="Times New Roman" pitchFamily="18" charset="0"/>
              </a:rPr>
              <a:t>  </a:t>
            </a:r>
            <a:r>
              <a:rPr lang="en-US" sz="2400" b="1">
                <a:solidFill>
                  <a:srgbClr val="000066"/>
                </a:solidFill>
                <a:latin typeface="Times New Roman" pitchFamily="18" charset="0"/>
              </a:rPr>
              <a:t>An Inline function is a function with a few statements that is expanded inline when it is invoked</a:t>
            </a:r>
          </a:p>
          <a:p>
            <a:pPr eaLnBrk="0" hangingPunct="0">
              <a:spcBef>
                <a:spcPct val="50000"/>
              </a:spcBef>
              <a:buFont typeface="Wingdings" pitchFamily="2" charset="2"/>
              <a:buChar char="§"/>
            </a:pPr>
            <a:r>
              <a:rPr lang="en-US" sz="2400" b="1">
                <a:solidFill>
                  <a:srgbClr val="000066"/>
                </a:solidFill>
                <a:latin typeface="Times New Roman" pitchFamily="18" charset="0"/>
              </a:rPr>
              <a:t>  An inline function specifier is actually a request and not a command to the compiler, hence it may ignore the request  and compile the function as an ordinary function  </a:t>
            </a:r>
          </a:p>
        </p:txBody>
      </p:sp>
      <p:sp>
        <p:nvSpPr>
          <p:cNvPr id="44035" name="WordArt 3"/>
          <p:cNvSpPr>
            <a:spLocks noChangeArrowheads="1" noChangeShapeType="1" noTextEdit="1"/>
          </p:cNvSpPr>
          <p:nvPr/>
        </p:nvSpPr>
        <p:spPr bwMode="auto">
          <a:xfrm>
            <a:off x="2590800" y="228600"/>
            <a:ext cx="3200400" cy="914400"/>
          </a:xfrm>
          <a:prstGeom prst="rect">
            <a:avLst/>
          </a:prstGeom>
        </p:spPr>
        <p:txBody>
          <a:bodyPr wrap="none" fromWordArt="1">
            <a:prstTxWarp prst="textCanUp">
              <a:avLst>
                <a:gd name="adj" fmla="val 85713"/>
              </a:avLst>
            </a:prstTxWarp>
          </a:bodyPr>
          <a:lstStyle/>
          <a:p>
            <a:pPr algn="ctr"/>
            <a:r>
              <a:rPr lang="en-IN"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a:rPr>
              <a:t>Summary</a:t>
            </a:r>
          </a:p>
        </p:txBody>
      </p:sp>
      <p:sp>
        <p:nvSpPr>
          <p:cNvPr id="44036" name="Rectangle 4"/>
          <p:cNvSpPr>
            <a:spLocks noChangeArrowheads="1"/>
          </p:cNvSpPr>
          <p:nvPr/>
        </p:nvSpPr>
        <p:spPr bwMode="auto">
          <a:xfrm>
            <a:off x="304800" y="1295400"/>
            <a:ext cx="8763000" cy="3124200"/>
          </a:xfrm>
          <a:prstGeom prst="rect">
            <a:avLst/>
          </a:prstGeom>
          <a:noFill/>
          <a:ln w="57150" cmpd="thickThin">
            <a:solidFill>
              <a:srgbClr val="990033"/>
            </a:solidFill>
            <a:miter lim="800000"/>
            <a:headEnd/>
            <a:tailEnd/>
          </a:ln>
        </p:spPr>
        <p:txBody>
          <a:bodyPr wrap="none" anchor="ctr"/>
          <a:lstStyle/>
          <a:p>
            <a:pPr algn="ctr" eaLnBrk="0" hangingPunct="0"/>
            <a:endParaRPr lang="en-US">
              <a:solidFill>
                <a:srgbClr val="000066"/>
              </a:solidFill>
              <a:latin typeface="Verdana" pitchFamily="34" charset="0"/>
            </a:endParaRPr>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WordArt 2"/>
          <p:cNvSpPr>
            <a:spLocks noChangeArrowheads="1" noChangeShapeType="1" noTextEdit="1"/>
          </p:cNvSpPr>
          <p:nvPr/>
        </p:nvSpPr>
        <p:spPr bwMode="auto">
          <a:xfrm>
            <a:off x="1219200" y="3276600"/>
            <a:ext cx="7086600" cy="914400"/>
          </a:xfrm>
          <a:prstGeom prst="rect">
            <a:avLst/>
          </a:prstGeom>
        </p:spPr>
        <p:txBody>
          <a:bodyPr wrap="none" fromWordArt="1">
            <a:prstTxWarp prst="textChevron">
              <a:avLst>
                <a:gd name="adj" fmla="val 25000"/>
              </a:avLst>
            </a:prstTxWarp>
          </a:bodyPr>
          <a:lstStyle/>
          <a:p>
            <a:pPr algn="ctr"/>
            <a:r>
              <a:rPr lang="en-IN" sz="3600" kern="10">
                <a:ln w="12700">
                  <a:solidFill>
                    <a:srgbClr val="B2B2B2"/>
                  </a:solidFill>
                  <a:round/>
                  <a:headEnd/>
                  <a:tailEnd/>
                </a:ln>
                <a:solidFill>
                  <a:srgbClr val="FF0000"/>
                </a:solidFill>
                <a:effectLst>
                  <a:outerShdw dist="35921" dir="2700000" sy="50000" rotWithShape="0">
                    <a:srgbClr val="875B0D">
                      <a:alpha val="70000"/>
                    </a:srgbClr>
                  </a:outerShdw>
                </a:effectLst>
                <a:latin typeface="Arial Black"/>
              </a:rPr>
              <a:t>Class And Object</a:t>
            </a:r>
          </a:p>
        </p:txBody>
      </p:sp>
      <p:sp>
        <p:nvSpPr>
          <p:cNvPr id="2051" name="WordArt 3"/>
          <p:cNvSpPr>
            <a:spLocks noChangeArrowheads="1" noChangeShapeType="1" noTextEdit="1"/>
          </p:cNvSpPr>
          <p:nvPr/>
        </p:nvSpPr>
        <p:spPr bwMode="auto">
          <a:xfrm>
            <a:off x="3124200" y="1066800"/>
            <a:ext cx="2895600" cy="647700"/>
          </a:xfrm>
          <a:prstGeom prst="rect">
            <a:avLst/>
          </a:prstGeom>
        </p:spPr>
        <p:txBody>
          <a:bodyPr wrap="none" fromWordArt="1">
            <a:prstTxWarp prst="textPlain">
              <a:avLst>
                <a:gd name="adj" fmla="val 50000"/>
              </a:avLst>
            </a:prstTxWarp>
          </a:bodyPr>
          <a:lstStyle/>
          <a:p>
            <a:pPr algn="ctr"/>
            <a:r>
              <a:rPr lang="en-IN" sz="3600" kern="10">
                <a:ln w="9525">
                  <a:solidFill>
                    <a:srgbClr val="000000"/>
                  </a:solidFill>
                  <a:round/>
                  <a:headEnd/>
                  <a:tailEnd/>
                </a:ln>
                <a:solidFill>
                  <a:srgbClr val="A50021"/>
                </a:solidFill>
                <a:latin typeface="Arial Black"/>
              </a:rPr>
              <a:t>CHAPTER 4</a:t>
            </a:r>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
          <p:cNvSpPr txBox="1">
            <a:spLocks noChangeArrowheads="1"/>
          </p:cNvSpPr>
          <p:nvPr/>
        </p:nvSpPr>
        <p:spPr bwMode="auto">
          <a:xfrm>
            <a:off x="1876425" y="609600"/>
            <a:ext cx="5376863" cy="823913"/>
          </a:xfrm>
          <a:prstGeom prst="rect">
            <a:avLst/>
          </a:prstGeom>
          <a:solidFill>
            <a:srgbClr val="FF0000"/>
          </a:solidFill>
          <a:ln w="9525">
            <a:noFill/>
            <a:miter lim="800000"/>
            <a:headEnd/>
            <a:tailEnd/>
          </a:ln>
          <a:effectLst/>
        </p:spPr>
        <p:txBody>
          <a:bodyPr wrap="none">
            <a:spAutoFit/>
          </a:bodyPr>
          <a:lstStyle/>
          <a:p>
            <a:pPr>
              <a:defRPr/>
            </a:pPr>
            <a:r>
              <a:rPr lang="en-US" sz="4800" b="1">
                <a:solidFill>
                  <a:srgbClr val="66FFFF"/>
                </a:solidFill>
                <a:effectLst>
                  <a:outerShdw blurRad="38100" dist="38100" dir="2700000" algn="tl">
                    <a:srgbClr val="000000"/>
                  </a:outerShdw>
                </a:effectLst>
                <a:latin typeface="Arial Unicode MS" pitchFamily="34" charset="-128"/>
                <a:cs typeface="Times New Roman" pitchFamily="18" charset="0"/>
              </a:rPr>
              <a:t>Session Objectives</a:t>
            </a:r>
          </a:p>
        </p:txBody>
      </p:sp>
      <p:sp>
        <p:nvSpPr>
          <p:cNvPr id="5123" name="Text Box 3"/>
          <p:cNvSpPr txBox="1">
            <a:spLocks noChangeArrowheads="1"/>
          </p:cNvSpPr>
          <p:nvPr/>
        </p:nvSpPr>
        <p:spPr bwMode="auto">
          <a:xfrm>
            <a:off x="885825" y="1905000"/>
            <a:ext cx="4052888" cy="519113"/>
          </a:xfrm>
          <a:prstGeom prst="rect">
            <a:avLst/>
          </a:prstGeom>
          <a:noFill/>
          <a:ln w="9525">
            <a:noFill/>
            <a:miter lim="800000"/>
            <a:headEnd/>
            <a:tailEnd/>
          </a:ln>
        </p:spPr>
        <p:txBody>
          <a:bodyPr wrap="none">
            <a:spAutoFit/>
          </a:bodyPr>
          <a:lstStyle/>
          <a:p>
            <a:pPr>
              <a:buFontTx/>
              <a:buBlip>
                <a:blip r:embed="rId2"/>
              </a:buBlip>
            </a:pPr>
            <a:r>
              <a:rPr lang="en-US" sz="2800">
                <a:solidFill>
                  <a:schemeClr val="tx2"/>
                </a:solidFill>
                <a:latin typeface="Times New Roman" pitchFamily="18" charset="0"/>
                <a:cs typeface="Times New Roman" pitchFamily="18" charset="0"/>
              </a:rPr>
              <a:t> </a:t>
            </a:r>
            <a:r>
              <a:rPr lang="en-US" sz="2800" b="1">
                <a:solidFill>
                  <a:schemeClr val="tx2"/>
                </a:solidFill>
                <a:latin typeface="Times New Roman" pitchFamily="18" charset="0"/>
                <a:cs typeface="Times New Roman" pitchFamily="18" charset="0"/>
              </a:rPr>
              <a:t>Define Class &amp; Objects</a:t>
            </a:r>
          </a:p>
        </p:txBody>
      </p:sp>
      <p:sp>
        <p:nvSpPr>
          <p:cNvPr id="5124" name="Text Box 4"/>
          <p:cNvSpPr txBox="1">
            <a:spLocks noChangeArrowheads="1"/>
          </p:cNvSpPr>
          <p:nvPr/>
        </p:nvSpPr>
        <p:spPr bwMode="auto">
          <a:xfrm>
            <a:off x="885825" y="2667000"/>
            <a:ext cx="5302250" cy="519113"/>
          </a:xfrm>
          <a:prstGeom prst="rect">
            <a:avLst/>
          </a:prstGeom>
          <a:noFill/>
          <a:ln w="9525">
            <a:noFill/>
            <a:miter lim="800000"/>
            <a:headEnd/>
            <a:tailEnd/>
          </a:ln>
        </p:spPr>
        <p:txBody>
          <a:bodyPr wrap="none">
            <a:spAutoFit/>
          </a:bodyPr>
          <a:lstStyle/>
          <a:p>
            <a:pPr>
              <a:buFontTx/>
              <a:buBlip>
                <a:blip r:embed="rId2"/>
              </a:buBlip>
            </a:pPr>
            <a:r>
              <a:rPr lang="en-US" sz="2800">
                <a:solidFill>
                  <a:schemeClr val="tx2"/>
                </a:solidFill>
                <a:latin typeface="Times New Roman" pitchFamily="18" charset="0"/>
                <a:cs typeface="Times New Roman" pitchFamily="18" charset="0"/>
              </a:rPr>
              <a:t> </a:t>
            </a:r>
            <a:r>
              <a:rPr lang="en-US" sz="2800" b="1">
                <a:solidFill>
                  <a:schemeClr val="tx2"/>
                </a:solidFill>
                <a:latin typeface="Times New Roman" pitchFamily="18" charset="0"/>
                <a:cs typeface="Times New Roman" pitchFamily="18" charset="0"/>
              </a:rPr>
              <a:t>Private ,Public Access Specifier</a:t>
            </a:r>
          </a:p>
        </p:txBody>
      </p:sp>
      <p:sp>
        <p:nvSpPr>
          <p:cNvPr id="5125" name="Text Box 5"/>
          <p:cNvSpPr txBox="1">
            <a:spLocks noChangeArrowheads="1"/>
          </p:cNvSpPr>
          <p:nvPr/>
        </p:nvSpPr>
        <p:spPr bwMode="auto">
          <a:xfrm>
            <a:off x="962025" y="3581400"/>
            <a:ext cx="4121150" cy="519113"/>
          </a:xfrm>
          <a:prstGeom prst="rect">
            <a:avLst/>
          </a:prstGeom>
          <a:noFill/>
          <a:ln w="9525">
            <a:noFill/>
            <a:miter lim="800000"/>
            <a:headEnd/>
            <a:tailEnd/>
          </a:ln>
        </p:spPr>
        <p:txBody>
          <a:bodyPr wrap="none">
            <a:spAutoFit/>
          </a:bodyPr>
          <a:lstStyle/>
          <a:p>
            <a:pPr>
              <a:buFontTx/>
              <a:buBlip>
                <a:blip r:embed="rId2"/>
              </a:buBlip>
            </a:pPr>
            <a:r>
              <a:rPr lang="en-US" sz="2800">
                <a:solidFill>
                  <a:schemeClr val="tx2"/>
                </a:solidFill>
                <a:latin typeface="Times New Roman" pitchFamily="18" charset="0"/>
                <a:cs typeface="Times New Roman" pitchFamily="18" charset="0"/>
              </a:rPr>
              <a:t> </a:t>
            </a:r>
            <a:r>
              <a:rPr lang="en-US" sz="2800" b="1">
                <a:solidFill>
                  <a:schemeClr val="tx2"/>
                </a:solidFill>
                <a:latin typeface="Times New Roman" pitchFamily="18" charset="0"/>
                <a:cs typeface="Times New Roman" pitchFamily="18" charset="0"/>
              </a:rPr>
              <a:t>How to Create a Object</a:t>
            </a:r>
          </a:p>
        </p:txBody>
      </p:sp>
      <p:sp>
        <p:nvSpPr>
          <p:cNvPr id="5126" name="Text Box 6"/>
          <p:cNvSpPr txBox="1">
            <a:spLocks noChangeArrowheads="1"/>
          </p:cNvSpPr>
          <p:nvPr/>
        </p:nvSpPr>
        <p:spPr bwMode="auto">
          <a:xfrm>
            <a:off x="962025" y="4267200"/>
            <a:ext cx="5614988" cy="519113"/>
          </a:xfrm>
          <a:prstGeom prst="rect">
            <a:avLst/>
          </a:prstGeom>
          <a:noFill/>
          <a:ln w="9525">
            <a:noFill/>
            <a:miter lim="800000"/>
            <a:headEnd/>
            <a:tailEnd/>
          </a:ln>
        </p:spPr>
        <p:txBody>
          <a:bodyPr wrap="none">
            <a:spAutoFit/>
          </a:bodyPr>
          <a:lstStyle/>
          <a:p>
            <a:pPr>
              <a:buFontTx/>
              <a:buBlip>
                <a:blip r:embed="rId2"/>
              </a:buBlip>
            </a:pPr>
            <a:r>
              <a:rPr lang="en-US" sz="2800">
                <a:solidFill>
                  <a:schemeClr val="tx2"/>
                </a:solidFill>
                <a:latin typeface="Times New Roman" pitchFamily="18" charset="0"/>
                <a:cs typeface="Times New Roman" pitchFamily="18" charset="0"/>
              </a:rPr>
              <a:t> </a:t>
            </a:r>
            <a:r>
              <a:rPr lang="en-US" sz="2800" b="1">
                <a:solidFill>
                  <a:schemeClr val="tx2"/>
                </a:solidFill>
                <a:latin typeface="Times New Roman" pitchFamily="18" charset="0"/>
                <a:cs typeface="Times New Roman" pitchFamily="18" charset="0"/>
              </a:rPr>
              <a:t>How to call the member Function</a:t>
            </a:r>
          </a:p>
        </p:txBody>
      </p:sp>
      <p:sp>
        <p:nvSpPr>
          <p:cNvPr id="5127" name="Text Box 7"/>
          <p:cNvSpPr txBox="1">
            <a:spLocks noChangeArrowheads="1"/>
          </p:cNvSpPr>
          <p:nvPr/>
        </p:nvSpPr>
        <p:spPr bwMode="auto">
          <a:xfrm>
            <a:off x="981075" y="4953000"/>
            <a:ext cx="4635500" cy="519113"/>
          </a:xfrm>
          <a:prstGeom prst="rect">
            <a:avLst/>
          </a:prstGeom>
          <a:noFill/>
          <a:ln w="9525">
            <a:noFill/>
            <a:miter lim="800000"/>
            <a:headEnd/>
            <a:tailEnd/>
          </a:ln>
        </p:spPr>
        <p:txBody>
          <a:bodyPr wrap="none">
            <a:spAutoFit/>
          </a:bodyPr>
          <a:lstStyle/>
          <a:p>
            <a:pPr>
              <a:buFontTx/>
              <a:buBlip>
                <a:blip r:embed="rId2"/>
              </a:buBlip>
            </a:pPr>
            <a:r>
              <a:rPr lang="en-US" sz="2800">
                <a:solidFill>
                  <a:schemeClr val="tx2"/>
                </a:solidFill>
                <a:latin typeface="Times New Roman" pitchFamily="18" charset="0"/>
                <a:cs typeface="Times New Roman" pitchFamily="18" charset="0"/>
              </a:rPr>
              <a:t> </a:t>
            </a:r>
            <a:r>
              <a:rPr lang="en-US" sz="2800" b="1">
                <a:solidFill>
                  <a:schemeClr val="tx2"/>
                </a:solidFill>
                <a:latin typeface="Times New Roman" pitchFamily="18" charset="0"/>
                <a:cs typeface="Times New Roman" pitchFamily="18" charset="0"/>
              </a:rPr>
              <a:t>Scope Resolution Operator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88" fill="hold" grpId="0" nodeType="afterEffect">
                                  <p:stCondLst>
                                    <p:cond delay="0"/>
                                  </p:stCondLst>
                                  <p:childTnLst>
                                    <p:set>
                                      <p:cBhvr>
                                        <p:cTn id="6" dur="1" fill="hold">
                                          <p:stCondLst>
                                            <p:cond delay="0"/>
                                          </p:stCondLst>
                                        </p:cTn>
                                        <p:tgtEl>
                                          <p:spTgt spid="5123"/>
                                        </p:tgtEl>
                                        <p:attrNameLst>
                                          <p:attrName>style.visibility</p:attrName>
                                        </p:attrNameLst>
                                      </p:cBhvr>
                                      <p:to>
                                        <p:strVal val="visible"/>
                                      </p:to>
                                    </p:set>
                                    <p:anim calcmode="lin" valueType="num">
                                      <p:cBhvr>
                                        <p:cTn id="7" dur="500" fill="hold"/>
                                        <p:tgtEl>
                                          <p:spTgt spid="5123"/>
                                        </p:tgtEl>
                                        <p:attrNameLst>
                                          <p:attrName>ppt_w</p:attrName>
                                        </p:attrNameLst>
                                      </p:cBhvr>
                                      <p:tavLst>
                                        <p:tav tm="0">
                                          <p:val>
                                            <p:strVal val="4/3*#ppt_w"/>
                                          </p:val>
                                        </p:tav>
                                        <p:tav tm="100000">
                                          <p:val>
                                            <p:strVal val="#ppt_w"/>
                                          </p:val>
                                        </p:tav>
                                      </p:tavLst>
                                    </p:anim>
                                    <p:anim calcmode="lin" valueType="num">
                                      <p:cBhvr>
                                        <p:cTn id="8" dur="500" fill="hold"/>
                                        <p:tgtEl>
                                          <p:spTgt spid="5123"/>
                                        </p:tgtEl>
                                        <p:attrNameLst>
                                          <p:attrName>ppt_h</p:attrName>
                                        </p:attrNameLst>
                                      </p:cBhvr>
                                      <p:tavLst>
                                        <p:tav tm="0">
                                          <p:val>
                                            <p:strVal val="4/3*#ppt_h"/>
                                          </p:val>
                                        </p:tav>
                                        <p:tav tm="100000">
                                          <p:val>
                                            <p:strVal val="#ppt_h"/>
                                          </p:val>
                                        </p:tav>
                                      </p:tavLst>
                                    </p:anim>
                                  </p:childTnLst>
                                </p:cTn>
                              </p:par>
                            </p:childTnLst>
                          </p:cTn>
                        </p:par>
                        <p:par>
                          <p:cTn id="9" fill="hold">
                            <p:stCondLst>
                              <p:cond delay="500"/>
                            </p:stCondLst>
                            <p:childTnLst>
                              <p:par>
                                <p:cTn id="10" presetID="23" presetClass="entr" presetSubtype="288" fill="hold" grpId="0" nodeType="afterEffect">
                                  <p:stCondLst>
                                    <p:cond delay="0"/>
                                  </p:stCondLst>
                                  <p:childTnLst>
                                    <p:set>
                                      <p:cBhvr>
                                        <p:cTn id="11" dur="1" fill="hold">
                                          <p:stCondLst>
                                            <p:cond delay="0"/>
                                          </p:stCondLst>
                                        </p:cTn>
                                        <p:tgtEl>
                                          <p:spTgt spid="5124"/>
                                        </p:tgtEl>
                                        <p:attrNameLst>
                                          <p:attrName>style.visibility</p:attrName>
                                        </p:attrNameLst>
                                      </p:cBhvr>
                                      <p:to>
                                        <p:strVal val="visible"/>
                                      </p:to>
                                    </p:set>
                                    <p:anim calcmode="lin" valueType="num">
                                      <p:cBhvr>
                                        <p:cTn id="12" dur="500" fill="hold"/>
                                        <p:tgtEl>
                                          <p:spTgt spid="5124"/>
                                        </p:tgtEl>
                                        <p:attrNameLst>
                                          <p:attrName>ppt_w</p:attrName>
                                        </p:attrNameLst>
                                      </p:cBhvr>
                                      <p:tavLst>
                                        <p:tav tm="0">
                                          <p:val>
                                            <p:strVal val="4/3*#ppt_w"/>
                                          </p:val>
                                        </p:tav>
                                        <p:tav tm="100000">
                                          <p:val>
                                            <p:strVal val="#ppt_w"/>
                                          </p:val>
                                        </p:tav>
                                      </p:tavLst>
                                    </p:anim>
                                    <p:anim calcmode="lin" valueType="num">
                                      <p:cBhvr>
                                        <p:cTn id="13" dur="500" fill="hold"/>
                                        <p:tgtEl>
                                          <p:spTgt spid="5124"/>
                                        </p:tgtEl>
                                        <p:attrNameLst>
                                          <p:attrName>ppt_h</p:attrName>
                                        </p:attrNameLst>
                                      </p:cBhvr>
                                      <p:tavLst>
                                        <p:tav tm="0">
                                          <p:val>
                                            <p:strVal val="4/3*#ppt_h"/>
                                          </p:val>
                                        </p:tav>
                                        <p:tav tm="100000">
                                          <p:val>
                                            <p:strVal val="#ppt_h"/>
                                          </p:val>
                                        </p:tav>
                                      </p:tavLst>
                                    </p:anim>
                                  </p:childTnLst>
                                </p:cTn>
                              </p:par>
                            </p:childTnLst>
                          </p:cTn>
                        </p:par>
                        <p:par>
                          <p:cTn id="14" fill="hold">
                            <p:stCondLst>
                              <p:cond delay="1000"/>
                            </p:stCondLst>
                            <p:childTnLst>
                              <p:par>
                                <p:cTn id="15" presetID="23" presetClass="entr" presetSubtype="288" fill="hold" grpId="0" nodeType="afterEffect">
                                  <p:stCondLst>
                                    <p:cond delay="0"/>
                                  </p:stCondLst>
                                  <p:childTnLst>
                                    <p:set>
                                      <p:cBhvr>
                                        <p:cTn id="16" dur="1" fill="hold">
                                          <p:stCondLst>
                                            <p:cond delay="0"/>
                                          </p:stCondLst>
                                        </p:cTn>
                                        <p:tgtEl>
                                          <p:spTgt spid="5125"/>
                                        </p:tgtEl>
                                        <p:attrNameLst>
                                          <p:attrName>style.visibility</p:attrName>
                                        </p:attrNameLst>
                                      </p:cBhvr>
                                      <p:to>
                                        <p:strVal val="visible"/>
                                      </p:to>
                                    </p:set>
                                    <p:anim calcmode="lin" valueType="num">
                                      <p:cBhvr>
                                        <p:cTn id="17" dur="500" fill="hold"/>
                                        <p:tgtEl>
                                          <p:spTgt spid="5125"/>
                                        </p:tgtEl>
                                        <p:attrNameLst>
                                          <p:attrName>ppt_w</p:attrName>
                                        </p:attrNameLst>
                                      </p:cBhvr>
                                      <p:tavLst>
                                        <p:tav tm="0">
                                          <p:val>
                                            <p:strVal val="4/3*#ppt_w"/>
                                          </p:val>
                                        </p:tav>
                                        <p:tav tm="100000">
                                          <p:val>
                                            <p:strVal val="#ppt_w"/>
                                          </p:val>
                                        </p:tav>
                                      </p:tavLst>
                                    </p:anim>
                                    <p:anim calcmode="lin" valueType="num">
                                      <p:cBhvr>
                                        <p:cTn id="18" dur="500" fill="hold"/>
                                        <p:tgtEl>
                                          <p:spTgt spid="5125"/>
                                        </p:tgtEl>
                                        <p:attrNameLst>
                                          <p:attrName>ppt_h</p:attrName>
                                        </p:attrNameLst>
                                      </p:cBhvr>
                                      <p:tavLst>
                                        <p:tav tm="0">
                                          <p:val>
                                            <p:strVal val="4/3*#ppt_h"/>
                                          </p:val>
                                        </p:tav>
                                        <p:tav tm="100000">
                                          <p:val>
                                            <p:strVal val="#ppt_h"/>
                                          </p:val>
                                        </p:tav>
                                      </p:tavLst>
                                    </p:anim>
                                  </p:childTnLst>
                                </p:cTn>
                              </p:par>
                            </p:childTnLst>
                          </p:cTn>
                        </p:par>
                        <p:par>
                          <p:cTn id="19" fill="hold">
                            <p:stCondLst>
                              <p:cond delay="1500"/>
                            </p:stCondLst>
                            <p:childTnLst>
                              <p:par>
                                <p:cTn id="20" presetID="23" presetClass="entr" presetSubtype="288" fill="hold" grpId="0" nodeType="afterEffect">
                                  <p:stCondLst>
                                    <p:cond delay="0"/>
                                  </p:stCondLst>
                                  <p:childTnLst>
                                    <p:set>
                                      <p:cBhvr>
                                        <p:cTn id="21" dur="1" fill="hold">
                                          <p:stCondLst>
                                            <p:cond delay="0"/>
                                          </p:stCondLst>
                                        </p:cTn>
                                        <p:tgtEl>
                                          <p:spTgt spid="5126"/>
                                        </p:tgtEl>
                                        <p:attrNameLst>
                                          <p:attrName>style.visibility</p:attrName>
                                        </p:attrNameLst>
                                      </p:cBhvr>
                                      <p:to>
                                        <p:strVal val="visible"/>
                                      </p:to>
                                    </p:set>
                                    <p:anim calcmode="lin" valueType="num">
                                      <p:cBhvr>
                                        <p:cTn id="22" dur="500" fill="hold"/>
                                        <p:tgtEl>
                                          <p:spTgt spid="5126"/>
                                        </p:tgtEl>
                                        <p:attrNameLst>
                                          <p:attrName>ppt_w</p:attrName>
                                        </p:attrNameLst>
                                      </p:cBhvr>
                                      <p:tavLst>
                                        <p:tav tm="0">
                                          <p:val>
                                            <p:strVal val="4/3*#ppt_w"/>
                                          </p:val>
                                        </p:tav>
                                        <p:tav tm="100000">
                                          <p:val>
                                            <p:strVal val="#ppt_w"/>
                                          </p:val>
                                        </p:tav>
                                      </p:tavLst>
                                    </p:anim>
                                    <p:anim calcmode="lin" valueType="num">
                                      <p:cBhvr>
                                        <p:cTn id="23" dur="500" fill="hold"/>
                                        <p:tgtEl>
                                          <p:spTgt spid="5126"/>
                                        </p:tgtEl>
                                        <p:attrNameLst>
                                          <p:attrName>ppt_h</p:attrName>
                                        </p:attrNameLst>
                                      </p:cBhvr>
                                      <p:tavLst>
                                        <p:tav tm="0">
                                          <p:val>
                                            <p:strVal val="4/3*#ppt_h"/>
                                          </p:val>
                                        </p:tav>
                                        <p:tav tm="100000">
                                          <p:val>
                                            <p:strVal val="#ppt_h"/>
                                          </p:val>
                                        </p:tav>
                                      </p:tavLst>
                                    </p:anim>
                                  </p:childTnLst>
                                </p:cTn>
                              </p:par>
                            </p:childTnLst>
                          </p:cTn>
                        </p:par>
                        <p:par>
                          <p:cTn id="24" fill="hold">
                            <p:stCondLst>
                              <p:cond delay="2000"/>
                            </p:stCondLst>
                            <p:childTnLst>
                              <p:par>
                                <p:cTn id="25" presetID="23" presetClass="entr" presetSubtype="288" fill="hold" grpId="0" nodeType="afterEffect">
                                  <p:stCondLst>
                                    <p:cond delay="0"/>
                                  </p:stCondLst>
                                  <p:childTnLst>
                                    <p:set>
                                      <p:cBhvr>
                                        <p:cTn id="26" dur="1" fill="hold">
                                          <p:stCondLst>
                                            <p:cond delay="0"/>
                                          </p:stCondLst>
                                        </p:cTn>
                                        <p:tgtEl>
                                          <p:spTgt spid="5127"/>
                                        </p:tgtEl>
                                        <p:attrNameLst>
                                          <p:attrName>style.visibility</p:attrName>
                                        </p:attrNameLst>
                                      </p:cBhvr>
                                      <p:to>
                                        <p:strVal val="visible"/>
                                      </p:to>
                                    </p:set>
                                    <p:anim calcmode="lin" valueType="num">
                                      <p:cBhvr>
                                        <p:cTn id="27" dur="500" fill="hold"/>
                                        <p:tgtEl>
                                          <p:spTgt spid="5127"/>
                                        </p:tgtEl>
                                        <p:attrNameLst>
                                          <p:attrName>ppt_w</p:attrName>
                                        </p:attrNameLst>
                                      </p:cBhvr>
                                      <p:tavLst>
                                        <p:tav tm="0">
                                          <p:val>
                                            <p:strVal val="4/3*#ppt_w"/>
                                          </p:val>
                                        </p:tav>
                                        <p:tav tm="100000">
                                          <p:val>
                                            <p:strVal val="#ppt_w"/>
                                          </p:val>
                                        </p:tav>
                                      </p:tavLst>
                                    </p:anim>
                                    <p:anim calcmode="lin" valueType="num">
                                      <p:cBhvr>
                                        <p:cTn id="28" dur="500" fill="hold"/>
                                        <p:tgtEl>
                                          <p:spTgt spid="5127"/>
                                        </p:tgtEl>
                                        <p:attrNameLst>
                                          <p:attrName>ppt_h</p:attrName>
                                        </p:attrNameLst>
                                      </p:cBhvr>
                                      <p:tavLst>
                                        <p:tav tm="0">
                                          <p:val>
                                            <p:strVal val="4/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autoUpdateAnimBg="0"/>
      <p:bldP spid="5124" grpId="0" autoUpdateAnimBg="0"/>
      <p:bldP spid="5125" grpId="0" autoUpdateAnimBg="0"/>
      <p:bldP spid="5126" grpId="0" autoUpdateAnimBg="0"/>
      <p:bldP spid="5127" grpId="0" autoUpdateAnimBg="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AutoShape 2"/>
          <p:cNvSpPr>
            <a:spLocks noChangeArrowheads="1"/>
          </p:cNvSpPr>
          <p:nvPr/>
        </p:nvSpPr>
        <p:spPr bwMode="auto">
          <a:xfrm>
            <a:off x="838200" y="762000"/>
            <a:ext cx="7086600" cy="3962400"/>
          </a:xfrm>
          <a:prstGeom prst="foldedCorner">
            <a:avLst>
              <a:gd name="adj" fmla="val 12500"/>
            </a:avLst>
          </a:prstGeom>
          <a:noFill/>
          <a:ln w="38100">
            <a:solidFill>
              <a:schemeClr val="tx1"/>
            </a:solidFill>
            <a:round/>
            <a:headEnd/>
            <a:tailEnd/>
          </a:ln>
        </p:spPr>
        <p:txBody>
          <a:bodyPr wrap="none" anchor="ctr"/>
          <a:lstStyle/>
          <a:p>
            <a:endParaRPr lang="en-US"/>
          </a:p>
        </p:txBody>
      </p:sp>
      <p:sp>
        <p:nvSpPr>
          <p:cNvPr id="4099" name="Rectangle 3"/>
          <p:cNvSpPr>
            <a:spLocks noChangeArrowheads="1"/>
          </p:cNvSpPr>
          <p:nvPr/>
        </p:nvSpPr>
        <p:spPr bwMode="auto">
          <a:xfrm>
            <a:off x="1066800" y="762000"/>
            <a:ext cx="6629400" cy="3908425"/>
          </a:xfrm>
          <a:prstGeom prst="rect">
            <a:avLst/>
          </a:prstGeom>
          <a:noFill/>
          <a:ln w="9525">
            <a:noFill/>
            <a:miter lim="800000"/>
            <a:headEnd/>
            <a:tailEnd/>
          </a:ln>
        </p:spPr>
        <p:txBody>
          <a:bodyPr>
            <a:spAutoFit/>
          </a:bodyPr>
          <a:lstStyle/>
          <a:p>
            <a:pPr eaLnBrk="0" hangingPunct="0"/>
            <a:r>
              <a:rPr lang="en-US" sz="3200" b="1" u="sng">
                <a:solidFill>
                  <a:srgbClr val="990000"/>
                </a:solidFill>
                <a:latin typeface="Times New Roman" pitchFamily="18" charset="0"/>
              </a:rPr>
              <a:t>SYNTAX :</a:t>
            </a:r>
          </a:p>
          <a:p>
            <a:pPr eaLnBrk="0" hangingPunct="0"/>
            <a:r>
              <a:rPr lang="en-US" sz="2400" b="1">
                <a:solidFill>
                  <a:srgbClr val="990000"/>
                </a:solidFill>
                <a:latin typeface="Times New Roman" pitchFamily="18" charset="0"/>
              </a:rPr>
              <a:t>class  &lt;classname&gt;</a:t>
            </a:r>
          </a:p>
          <a:p>
            <a:pPr eaLnBrk="0" hangingPunct="0"/>
            <a:r>
              <a:rPr lang="en-US" sz="2400" b="1">
                <a:solidFill>
                  <a:srgbClr val="990000"/>
                </a:solidFill>
                <a:latin typeface="Times New Roman" pitchFamily="18" charset="0"/>
              </a:rPr>
              <a:t>{</a:t>
            </a:r>
          </a:p>
          <a:p>
            <a:pPr eaLnBrk="0" hangingPunct="0"/>
            <a:r>
              <a:rPr lang="en-US" sz="2400" b="1">
                <a:solidFill>
                  <a:srgbClr val="990000"/>
                </a:solidFill>
                <a:latin typeface="Times New Roman" pitchFamily="18" charset="0"/>
              </a:rPr>
              <a:t>private :</a:t>
            </a:r>
          </a:p>
          <a:p>
            <a:pPr eaLnBrk="0" hangingPunct="0"/>
            <a:r>
              <a:rPr lang="en-US" sz="2400" b="1">
                <a:solidFill>
                  <a:srgbClr val="990000"/>
                </a:solidFill>
                <a:latin typeface="Times New Roman" pitchFamily="18" charset="0"/>
              </a:rPr>
              <a:t>     datatype member1;</a:t>
            </a:r>
          </a:p>
          <a:p>
            <a:pPr eaLnBrk="0" hangingPunct="0"/>
            <a:r>
              <a:rPr lang="en-US" sz="2400" b="1">
                <a:solidFill>
                  <a:srgbClr val="990000"/>
                </a:solidFill>
                <a:latin typeface="Times New Roman" pitchFamily="18" charset="0"/>
              </a:rPr>
              <a:t>     datatype member2;</a:t>
            </a:r>
          </a:p>
          <a:p>
            <a:pPr eaLnBrk="0" hangingPunct="0"/>
            <a:r>
              <a:rPr lang="en-US" sz="2400" b="1">
                <a:solidFill>
                  <a:srgbClr val="990000"/>
                </a:solidFill>
                <a:latin typeface="Times New Roman" pitchFamily="18" charset="0"/>
              </a:rPr>
              <a:t>public :</a:t>
            </a:r>
          </a:p>
          <a:p>
            <a:pPr eaLnBrk="0" hangingPunct="0"/>
            <a:r>
              <a:rPr lang="en-US" sz="2400" b="1">
                <a:solidFill>
                  <a:srgbClr val="990000"/>
                </a:solidFill>
                <a:latin typeface="Times New Roman" pitchFamily="18" charset="0"/>
              </a:rPr>
              <a:t>      &lt;retu_type&gt; func_name1(arguments);</a:t>
            </a:r>
          </a:p>
          <a:p>
            <a:pPr eaLnBrk="0" hangingPunct="0"/>
            <a:r>
              <a:rPr lang="en-US" sz="2400" b="1">
                <a:solidFill>
                  <a:srgbClr val="990000"/>
                </a:solidFill>
                <a:latin typeface="Times New Roman" pitchFamily="18" charset="0"/>
              </a:rPr>
              <a:t>      &lt;retu_type&gt; func_name2(arguments);</a:t>
            </a:r>
          </a:p>
          <a:p>
            <a:pPr eaLnBrk="0" hangingPunct="0"/>
            <a:r>
              <a:rPr lang="en-US" sz="2400" b="1">
                <a:solidFill>
                  <a:srgbClr val="990000"/>
                </a:solidFill>
                <a:latin typeface="Times New Roman" pitchFamily="18" charset="0"/>
              </a:rPr>
              <a:t>};</a:t>
            </a:r>
          </a:p>
        </p:txBody>
      </p:sp>
      <p:sp>
        <p:nvSpPr>
          <p:cNvPr id="4100" name="Text Box 4"/>
          <p:cNvSpPr txBox="1">
            <a:spLocks noChangeArrowheads="1"/>
          </p:cNvSpPr>
          <p:nvPr/>
        </p:nvSpPr>
        <p:spPr bwMode="auto">
          <a:xfrm>
            <a:off x="533400" y="76200"/>
            <a:ext cx="7010400" cy="579438"/>
          </a:xfrm>
          <a:prstGeom prst="rect">
            <a:avLst/>
          </a:prstGeom>
          <a:noFill/>
          <a:ln w="9525">
            <a:noFill/>
            <a:miter lim="800000"/>
            <a:headEnd/>
            <a:tailEnd/>
          </a:ln>
        </p:spPr>
        <p:txBody>
          <a:bodyPr>
            <a:spAutoFit/>
          </a:bodyPr>
          <a:lstStyle/>
          <a:p>
            <a:pPr algn="ctr" eaLnBrk="0" hangingPunct="0">
              <a:spcBef>
                <a:spcPct val="50000"/>
              </a:spcBef>
            </a:pPr>
            <a:r>
              <a:rPr lang="en-US" sz="3200" b="1">
                <a:solidFill>
                  <a:srgbClr val="990000"/>
                </a:solidFill>
                <a:latin typeface="Verdana" pitchFamily="34" charset="0"/>
              </a:rPr>
              <a:t>TO CREATE A NEW CLASS</a:t>
            </a:r>
          </a:p>
        </p:txBody>
      </p:sp>
      <p:sp>
        <p:nvSpPr>
          <p:cNvPr id="4101" name="Rectangle 5"/>
          <p:cNvSpPr>
            <a:spLocks noChangeArrowheads="1"/>
          </p:cNvSpPr>
          <p:nvPr/>
        </p:nvSpPr>
        <p:spPr bwMode="auto">
          <a:xfrm>
            <a:off x="642938" y="4800600"/>
            <a:ext cx="8304212" cy="1816100"/>
          </a:xfrm>
          <a:prstGeom prst="rect">
            <a:avLst/>
          </a:prstGeom>
          <a:noFill/>
          <a:ln w="9525">
            <a:solidFill>
              <a:srgbClr val="6600CC"/>
            </a:solidFill>
            <a:miter lim="800000"/>
            <a:headEnd/>
            <a:tailEnd/>
          </a:ln>
        </p:spPr>
        <p:txBody>
          <a:bodyPr wrap="none">
            <a:spAutoFit/>
          </a:bodyPr>
          <a:lstStyle/>
          <a:p>
            <a:pPr eaLnBrk="0" hangingPunct="0"/>
            <a:r>
              <a:rPr lang="en-US" sz="2400" b="1" i="1" u="sng">
                <a:solidFill>
                  <a:srgbClr val="990000"/>
                </a:solidFill>
                <a:latin typeface="Verdana" pitchFamily="34" charset="0"/>
              </a:rPr>
              <a:t>create an object from the main()function</a:t>
            </a:r>
          </a:p>
          <a:p>
            <a:pPr eaLnBrk="0" hangingPunct="0"/>
            <a:r>
              <a:rPr lang="en-US" sz="2400" b="1">
                <a:solidFill>
                  <a:srgbClr val="990000"/>
                </a:solidFill>
                <a:latin typeface="Verdana" pitchFamily="34" charset="0"/>
              </a:rPr>
              <a:t>Syntax:</a:t>
            </a:r>
          </a:p>
          <a:p>
            <a:pPr eaLnBrk="0" hangingPunct="0"/>
            <a:r>
              <a:rPr lang="en-US">
                <a:solidFill>
                  <a:srgbClr val="990000"/>
                </a:solidFill>
                <a:latin typeface="Verdana" pitchFamily="34" charset="0"/>
              </a:rPr>
              <a:t>        </a:t>
            </a:r>
            <a:r>
              <a:rPr lang="en-US" sz="3200" b="1">
                <a:solidFill>
                  <a:srgbClr val="990000"/>
                </a:solidFill>
                <a:latin typeface="Times New Roman" pitchFamily="18" charset="0"/>
              </a:rPr>
              <a:t>classname &lt;objectname1, objectname2,..&gt;;</a:t>
            </a:r>
          </a:p>
          <a:p>
            <a:pPr eaLnBrk="0" hangingPunct="0"/>
            <a:endParaRPr lang="en-US" sz="3200" b="1">
              <a:solidFill>
                <a:srgbClr val="990000"/>
              </a:solidFill>
              <a:latin typeface="Times New Roman" pitchFamily="18" charset="0"/>
            </a:endParaRPr>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ChangeArrowheads="1"/>
          </p:cNvSpPr>
          <p:nvPr/>
        </p:nvSpPr>
        <p:spPr bwMode="auto">
          <a:xfrm>
            <a:off x="1524000" y="344488"/>
            <a:ext cx="6858000" cy="6361112"/>
          </a:xfrm>
          <a:prstGeom prst="rect">
            <a:avLst/>
          </a:prstGeom>
          <a:noFill/>
          <a:ln w="9525">
            <a:noFill/>
            <a:miter lim="800000"/>
            <a:headEnd/>
            <a:tailEnd/>
          </a:ln>
        </p:spPr>
        <p:txBody>
          <a:bodyPr>
            <a:spAutoFit/>
          </a:bodyPr>
          <a:lstStyle/>
          <a:p>
            <a:pPr eaLnBrk="0" hangingPunct="0"/>
            <a:r>
              <a:rPr lang="en-US" sz="2800" b="1" u="sng">
                <a:solidFill>
                  <a:srgbClr val="990000"/>
                </a:solidFill>
                <a:latin typeface="Times New Roman" pitchFamily="18" charset="0"/>
              </a:rPr>
              <a:t>For Example :</a:t>
            </a:r>
          </a:p>
          <a:p>
            <a:pPr eaLnBrk="0" hangingPunct="0"/>
            <a:r>
              <a:rPr lang="en-US" sz="2400" b="1">
                <a:solidFill>
                  <a:srgbClr val="990000"/>
                </a:solidFill>
                <a:latin typeface="Times New Roman" pitchFamily="18" charset="0"/>
              </a:rPr>
              <a:t>class emp</a:t>
            </a:r>
          </a:p>
          <a:p>
            <a:pPr eaLnBrk="0" hangingPunct="0"/>
            <a:r>
              <a:rPr lang="en-US" sz="2400" b="1">
                <a:solidFill>
                  <a:srgbClr val="990000"/>
                </a:solidFill>
                <a:latin typeface="Times New Roman" pitchFamily="18" charset="0"/>
              </a:rPr>
              <a:t>{</a:t>
            </a:r>
          </a:p>
          <a:p>
            <a:pPr eaLnBrk="0" hangingPunct="0"/>
            <a:r>
              <a:rPr lang="en-US" sz="2400" b="1">
                <a:solidFill>
                  <a:srgbClr val="990000"/>
                </a:solidFill>
                <a:latin typeface="Times New Roman" pitchFamily="18" charset="0"/>
              </a:rPr>
              <a:t>private:</a:t>
            </a:r>
          </a:p>
          <a:p>
            <a:pPr eaLnBrk="0" hangingPunct="0"/>
            <a:r>
              <a:rPr lang="en-US" sz="2400" b="1">
                <a:solidFill>
                  <a:srgbClr val="990000"/>
                </a:solidFill>
                <a:latin typeface="Times New Roman" pitchFamily="18" charset="0"/>
              </a:rPr>
              <a:t>char name[25];                 //Member Data</a:t>
            </a:r>
          </a:p>
          <a:p>
            <a:pPr eaLnBrk="0" hangingPunct="0"/>
            <a:r>
              <a:rPr lang="en-US" sz="2400" b="1">
                <a:solidFill>
                  <a:srgbClr val="990000"/>
                </a:solidFill>
                <a:latin typeface="Times New Roman" pitchFamily="18" charset="0"/>
              </a:rPr>
              <a:t>int empno;</a:t>
            </a:r>
          </a:p>
          <a:p>
            <a:pPr eaLnBrk="0" hangingPunct="0"/>
            <a:r>
              <a:rPr lang="en-US" sz="2400" b="1">
                <a:solidFill>
                  <a:srgbClr val="990000"/>
                </a:solidFill>
                <a:latin typeface="Times New Roman" pitchFamily="18" charset="0"/>
              </a:rPr>
              <a:t>float salary;</a:t>
            </a:r>
          </a:p>
          <a:p>
            <a:pPr eaLnBrk="0" hangingPunct="0"/>
            <a:r>
              <a:rPr lang="en-US" sz="2400" b="1">
                <a:solidFill>
                  <a:srgbClr val="990000"/>
                </a:solidFill>
                <a:latin typeface="Times New Roman" pitchFamily="18" charset="0"/>
              </a:rPr>
              <a:t>public:</a:t>
            </a:r>
          </a:p>
          <a:p>
            <a:pPr eaLnBrk="0" hangingPunct="0"/>
            <a:r>
              <a:rPr lang="en-US" sz="2400" b="1">
                <a:solidFill>
                  <a:srgbClr val="990000"/>
                </a:solidFill>
                <a:latin typeface="Times New Roman" pitchFamily="18" charset="0"/>
              </a:rPr>
              <a:t>void get_data()                // Member Function</a:t>
            </a:r>
          </a:p>
          <a:p>
            <a:pPr eaLnBrk="0" hangingPunct="0"/>
            <a:r>
              <a:rPr lang="en-US" sz="2400" b="1">
                <a:solidFill>
                  <a:srgbClr val="990000"/>
                </a:solidFill>
                <a:latin typeface="Times New Roman" pitchFamily="18" charset="0"/>
              </a:rPr>
              <a:t>{</a:t>
            </a:r>
          </a:p>
          <a:p>
            <a:pPr eaLnBrk="0" hangingPunct="0"/>
            <a:r>
              <a:rPr lang="en-US" sz="2400" b="1">
                <a:solidFill>
                  <a:srgbClr val="990000"/>
                </a:solidFill>
                <a:latin typeface="Times New Roman" pitchFamily="18" charset="0"/>
              </a:rPr>
              <a:t>---------</a:t>
            </a:r>
          </a:p>
          <a:p>
            <a:pPr eaLnBrk="0" hangingPunct="0"/>
            <a:r>
              <a:rPr lang="en-US" sz="2400" b="1">
                <a:solidFill>
                  <a:srgbClr val="990000"/>
                </a:solidFill>
                <a:latin typeface="Times New Roman" pitchFamily="18" charset="0"/>
              </a:rPr>
              <a:t>}</a:t>
            </a:r>
          </a:p>
          <a:p>
            <a:pPr eaLnBrk="0" hangingPunct="0"/>
            <a:r>
              <a:rPr lang="en-US" sz="2400" b="1">
                <a:solidFill>
                  <a:srgbClr val="990000"/>
                </a:solidFill>
                <a:latin typeface="Times New Roman" pitchFamily="18" charset="0"/>
              </a:rPr>
              <a:t>void show_details()</a:t>
            </a:r>
          </a:p>
          <a:p>
            <a:pPr eaLnBrk="0" hangingPunct="0"/>
            <a:r>
              <a:rPr lang="en-US" sz="2400" b="1">
                <a:solidFill>
                  <a:srgbClr val="990000"/>
                </a:solidFill>
                <a:latin typeface="Times New Roman" pitchFamily="18" charset="0"/>
              </a:rPr>
              <a:t>{</a:t>
            </a:r>
          </a:p>
          <a:p>
            <a:pPr eaLnBrk="0" hangingPunct="0"/>
            <a:r>
              <a:rPr lang="en-US" sz="2400" b="1">
                <a:solidFill>
                  <a:srgbClr val="990000"/>
                </a:solidFill>
                <a:latin typeface="Times New Roman" pitchFamily="18" charset="0"/>
              </a:rPr>
              <a:t>-------------</a:t>
            </a:r>
          </a:p>
          <a:p>
            <a:pPr eaLnBrk="0" hangingPunct="0"/>
            <a:r>
              <a:rPr lang="en-US" sz="2400" b="1">
                <a:solidFill>
                  <a:srgbClr val="990000"/>
                </a:solidFill>
                <a:latin typeface="Times New Roman" pitchFamily="18" charset="0"/>
              </a:rPr>
              <a:t>------------</a:t>
            </a:r>
          </a:p>
          <a:p>
            <a:pPr eaLnBrk="0" hangingPunct="0"/>
            <a:r>
              <a:rPr lang="en-US" sz="2400" b="1">
                <a:solidFill>
                  <a:srgbClr val="990000"/>
                </a:solidFill>
                <a:latin typeface="Times New Roman" pitchFamily="18" charset="0"/>
              </a:rPr>
              <a:t>};</a:t>
            </a:r>
          </a:p>
        </p:txBody>
      </p:sp>
      <p:sp>
        <p:nvSpPr>
          <p:cNvPr id="5123" name="AutoShape 3"/>
          <p:cNvSpPr>
            <a:spLocks noChangeArrowheads="1"/>
          </p:cNvSpPr>
          <p:nvPr/>
        </p:nvSpPr>
        <p:spPr bwMode="auto">
          <a:xfrm>
            <a:off x="533400" y="152400"/>
            <a:ext cx="7010400" cy="6477000"/>
          </a:xfrm>
          <a:prstGeom prst="flowChartPunchedCard">
            <a:avLst/>
          </a:prstGeom>
          <a:noFill/>
          <a:ln w="9525">
            <a:solidFill>
              <a:srgbClr val="800000"/>
            </a:solidFill>
            <a:miter lim="800000"/>
            <a:headEnd/>
            <a:tailEnd/>
          </a:ln>
        </p:spPr>
        <p:txBody>
          <a:bodyPr wrap="none" anchor="ctr"/>
          <a:lstStyle/>
          <a:p>
            <a:endParaRPr lang="en-US"/>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WordArt 2"/>
          <p:cNvSpPr>
            <a:spLocks noChangeArrowheads="1" noChangeShapeType="1" noTextEdit="1"/>
          </p:cNvSpPr>
          <p:nvPr/>
        </p:nvSpPr>
        <p:spPr bwMode="auto">
          <a:xfrm>
            <a:off x="762000" y="990600"/>
            <a:ext cx="7467600" cy="1219200"/>
          </a:xfrm>
          <a:prstGeom prst="rect">
            <a:avLst/>
          </a:prstGeom>
        </p:spPr>
        <p:txBody>
          <a:bodyPr wrap="none" fromWordArt="1">
            <a:prstTxWarp prst="textWave1">
              <a:avLst>
                <a:gd name="adj1" fmla="val 13005"/>
                <a:gd name="adj2" fmla="val 0"/>
              </a:avLst>
            </a:prstTxWarp>
          </a:bodyPr>
          <a:lstStyle/>
          <a:p>
            <a:pPr algn="ctr"/>
            <a:r>
              <a:rPr lang="en-IN" sz="3600" b="1" kern="10">
                <a:ln w="9525">
                  <a:solidFill>
                    <a:srgbClr val="000000"/>
                  </a:solidFill>
                  <a:round/>
                  <a:headEnd/>
                  <a:tailEnd/>
                </a:ln>
                <a:gradFill rotWithShape="1">
                  <a:gsLst>
                    <a:gs pos="0">
                      <a:srgbClr val="FFF200"/>
                    </a:gs>
                    <a:gs pos="45000">
                      <a:srgbClr val="FF7A00"/>
                    </a:gs>
                    <a:gs pos="70000">
                      <a:srgbClr val="FF0300"/>
                    </a:gs>
                    <a:gs pos="100000">
                      <a:srgbClr val="4D0808"/>
                    </a:gs>
                  </a:gsLst>
                  <a:lin ang="5400000" scaled="1"/>
                </a:gradFill>
                <a:latin typeface="Arial Black"/>
              </a:rPr>
              <a:t>How to call the function from main()</a:t>
            </a:r>
          </a:p>
        </p:txBody>
      </p:sp>
      <p:grpSp>
        <p:nvGrpSpPr>
          <p:cNvPr id="2" name="Group 3"/>
          <p:cNvGrpSpPr>
            <a:grpSpLocks/>
          </p:cNvGrpSpPr>
          <p:nvPr/>
        </p:nvGrpSpPr>
        <p:grpSpPr bwMode="auto">
          <a:xfrm>
            <a:off x="533400" y="3138488"/>
            <a:ext cx="7696200" cy="990600"/>
            <a:chOff x="336" y="1977"/>
            <a:chExt cx="4848" cy="624"/>
          </a:xfrm>
        </p:grpSpPr>
        <p:sp>
          <p:nvSpPr>
            <p:cNvPr id="6148" name="AutoShape 4"/>
            <p:cNvSpPr>
              <a:spLocks noChangeArrowheads="1"/>
            </p:cNvSpPr>
            <p:nvPr/>
          </p:nvSpPr>
          <p:spPr bwMode="auto">
            <a:xfrm>
              <a:off x="336" y="1977"/>
              <a:ext cx="4848" cy="624"/>
            </a:xfrm>
            <a:prstGeom prst="bevel">
              <a:avLst>
                <a:gd name="adj" fmla="val 12500"/>
              </a:avLst>
            </a:prstGeom>
            <a:noFill/>
            <a:ln w="57150">
              <a:solidFill>
                <a:srgbClr val="800000"/>
              </a:solidFill>
              <a:miter lim="800000"/>
              <a:headEnd/>
              <a:tailEnd/>
            </a:ln>
            <a:effectLst>
              <a:prstShdw prst="shdw16">
                <a:srgbClr val="CC99FF">
                  <a:alpha val="50000"/>
                </a:srgbClr>
              </a:prstShdw>
            </a:effectLst>
          </p:spPr>
          <p:txBody>
            <a:bodyPr wrap="none" anchor="ctr"/>
            <a:lstStyle/>
            <a:p>
              <a:endParaRPr lang="en-US"/>
            </a:p>
          </p:txBody>
        </p:sp>
        <p:sp>
          <p:nvSpPr>
            <p:cNvPr id="8197" name="Rectangle 5"/>
            <p:cNvSpPr>
              <a:spLocks noChangeArrowheads="1"/>
            </p:cNvSpPr>
            <p:nvPr/>
          </p:nvSpPr>
          <p:spPr bwMode="auto">
            <a:xfrm>
              <a:off x="432" y="2064"/>
              <a:ext cx="4556" cy="404"/>
            </a:xfrm>
            <a:prstGeom prst="rect">
              <a:avLst/>
            </a:prstGeom>
            <a:noFill/>
            <a:ln w="9525">
              <a:noFill/>
              <a:miter lim="800000"/>
              <a:headEnd/>
              <a:tailEnd/>
            </a:ln>
            <a:effectLst>
              <a:outerShdw dist="35921" dir="2700000" algn="ctr" rotWithShape="0">
                <a:srgbClr val="CC99FF"/>
              </a:outerShdw>
            </a:effectLst>
          </p:spPr>
          <p:txBody>
            <a:bodyPr wrap="none">
              <a:spAutoFit/>
            </a:bodyPr>
            <a:lstStyle/>
            <a:p>
              <a:pPr eaLnBrk="0" hangingPunct="0">
                <a:defRPr/>
              </a:pPr>
              <a:r>
                <a:rPr lang="en-US" sz="3600" b="1">
                  <a:solidFill>
                    <a:srgbClr val="990000"/>
                  </a:solidFill>
                  <a:latin typeface="Times New Roman" pitchFamily="18" charset="0"/>
                </a:rPr>
                <a:t>objectname.func_name(arguments</a:t>
              </a:r>
              <a:r>
                <a:rPr lang="en-US" sz="3600">
                  <a:solidFill>
                    <a:srgbClr val="990000"/>
                  </a:solidFill>
                  <a:latin typeface="Times New Roman" pitchFamily="18" charset="0"/>
                </a:rPr>
                <a:t>);</a:t>
              </a:r>
            </a:p>
          </p:txBody>
        </p:sp>
      </p:gr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Footer Placeholder 2"/>
          <p:cNvSpPr>
            <a:spLocks noGrp="1"/>
          </p:cNvSpPr>
          <p:nvPr>
            <p:ph type="ftr" sz="quarter" idx="11"/>
          </p:nvPr>
        </p:nvSpPr>
        <p:spPr>
          <a:noFill/>
        </p:spPr>
        <p:txBody>
          <a:bodyPr/>
          <a:lstStyle/>
          <a:p>
            <a:r>
              <a:rPr lang="en-US" smtClean="0">
                <a:latin typeface="Arial" pitchFamily="34" charset="0"/>
              </a:rPr>
              <a:t>CSC COMP Kodungaiyu</a:t>
            </a:r>
          </a:p>
        </p:txBody>
      </p:sp>
      <p:sp>
        <p:nvSpPr>
          <p:cNvPr id="9218" name="Text Box 2"/>
          <p:cNvSpPr txBox="1">
            <a:spLocks noChangeArrowheads="1"/>
          </p:cNvSpPr>
          <p:nvPr/>
        </p:nvSpPr>
        <p:spPr bwMode="auto">
          <a:xfrm>
            <a:off x="990600" y="0"/>
            <a:ext cx="7391400" cy="6832600"/>
          </a:xfrm>
          <a:prstGeom prst="rect">
            <a:avLst/>
          </a:prstGeom>
          <a:solidFill>
            <a:srgbClr val="990033"/>
          </a:solidFill>
          <a:ln w="9525">
            <a:noFill/>
            <a:miter lim="800000"/>
            <a:headEnd/>
            <a:tailEnd/>
          </a:ln>
        </p:spPr>
        <p:txBody>
          <a:bodyPr lIns="91437" tIns="45719" rIns="91437" bIns="45719">
            <a:spAutoFit/>
          </a:bodyPr>
          <a:lstStyle/>
          <a:p>
            <a:pPr>
              <a:spcBef>
                <a:spcPct val="50000"/>
              </a:spcBef>
            </a:pPr>
            <a:r>
              <a:rPr lang="en-US" sz="2400" b="1">
                <a:solidFill>
                  <a:srgbClr val="66FF33"/>
                </a:solidFill>
                <a:ea typeface="MS Mincho" pitchFamily="49" charset="-128"/>
              </a:rPr>
              <a:t>Write a Program to calculate the area of a circle  using class &amp; Object</a:t>
            </a:r>
          </a:p>
          <a:p>
            <a:pPr>
              <a:spcBef>
                <a:spcPct val="50000"/>
              </a:spcBef>
            </a:pPr>
            <a:r>
              <a:rPr lang="en-US" sz="2000" b="1">
                <a:solidFill>
                  <a:schemeClr val="bg1"/>
                </a:solidFill>
                <a:latin typeface="Tahoma" pitchFamily="34" charset="0"/>
                <a:ea typeface="MS Mincho" pitchFamily="49" charset="-128"/>
              </a:rPr>
              <a:t>#include&lt;iostream.h&gt;</a:t>
            </a:r>
            <a:endParaRPr lang="en-US" sz="2000" b="1">
              <a:solidFill>
                <a:schemeClr val="bg1"/>
              </a:solidFill>
              <a:latin typeface="Tahoma" pitchFamily="34" charset="0"/>
              <a:cs typeface="Times New Roman" pitchFamily="18" charset="0"/>
            </a:endParaRPr>
          </a:p>
          <a:p>
            <a:pPr>
              <a:spcBef>
                <a:spcPct val="50000"/>
              </a:spcBef>
            </a:pPr>
            <a:r>
              <a:rPr lang="en-US" sz="2000" b="1">
                <a:solidFill>
                  <a:schemeClr val="bg1"/>
                </a:solidFill>
                <a:latin typeface="Tahoma" pitchFamily="34" charset="0"/>
                <a:ea typeface="MS Mincho" pitchFamily="49" charset="-128"/>
              </a:rPr>
              <a:t>#include&lt;conio.h&gt;</a:t>
            </a:r>
            <a:endParaRPr lang="en-US" sz="2000" b="1">
              <a:solidFill>
                <a:schemeClr val="bg1"/>
              </a:solidFill>
              <a:latin typeface="Tahoma" pitchFamily="34" charset="0"/>
              <a:cs typeface="Times New Roman" pitchFamily="18" charset="0"/>
            </a:endParaRPr>
          </a:p>
          <a:p>
            <a:pPr>
              <a:spcBef>
                <a:spcPct val="50000"/>
              </a:spcBef>
            </a:pPr>
            <a:r>
              <a:rPr lang="en-US" sz="2000" b="1">
                <a:solidFill>
                  <a:schemeClr val="bg1"/>
                </a:solidFill>
                <a:latin typeface="Tahoma" pitchFamily="34" charset="0"/>
                <a:ea typeface="MS Mincho" pitchFamily="49" charset="-128"/>
              </a:rPr>
              <a:t>class circle</a:t>
            </a:r>
          </a:p>
          <a:p>
            <a:pPr>
              <a:spcBef>
                <a:spcPct val="50000"/>
              </a:spcBef>
            </a:pPr>
            <a:r>
              <a:rPr lang="en-US" sz="2000" b="1">
                <a:solidFill>
                  <a:schemeClr val="bg1"/>
                </a:solidFill>
                <a:latin typeface="Tahoma" pitchFamily="34" charset="0"/>
                <a:ea typeface="MS Mincho" pitchFamily="49" charset="-128"/>
              </a:rPr>
              <a:t>{</a:t>
            </a:r>
            <a:endParaRPr lang="en-US" sz="2000" b="1">
              <a:solidFill>
                <a:schemeClr val="bg1"/>
              </a:solidFill>
              <a:latin typeface="Tahoma" pitchFamily="34" charset="0"/>
              <a:cs typeface="Times New Roman" pitchFamily="18" charset="0"/>
            </a:endParaRPr>
          </a:p>
          <a:p>
            <a:pPr>
              <a:spcBef>
                <a:spcPct val="50000"/>
              </a:spcBef>
            </a:pPr>
            <a:r>
              <a:rPr lang="en-US" sz="2000" b="1">
                <a:solidFill>
                  <a:schemeClr val="bg1"/>
                </a:solidFill>
                <a:latin typeface="Tahoma" pitchFamily="34" charset="0"/>
                <a:ea typeface="MS Mincho" pitchFamily="49" charset="-128"/>
              </a:rPr>
              <a:t>private:</a:t>
            </a:r>
            <a:endParaRPr lang="en-US" sz="2000" b="1">
              <a:solidFill>
                <a:schemeClr val="bg1"/>
              </a:solidFill>
              <a:latin typeface="Tahoma" pitchFamily="34" charset="0"/>
              <a:cs typeface="Times New Roman" pitchFamily="18" charset="0"/>
            </a:endParaRPr>
          </a:p>
          <a:p>
            <a:pPr>
              <a:spcBef>
                <a:spcPct val="50000"/>
              </a:spcBef>
            </a:pPr>
            <a:r>
              <a:rPr lang="en-US" sz="2000" b="1">
                <a:solidFill>
                  <a:schemeClr val="bg1"/>
                </a:solidFill>
                <a:latin typeface="Tahoma" pitchFamily="34" charset="0"/>
                <a:ea typeface="MS Mincho" pitchFamily="49" charset="-128"/>
              </a:rPr>
              <a:t>	int radius;</a:t>
            </a:r>
            <a:endParaRPr lang="en-US" sz="2000" b="1">
              <a:solidFill>
                <a:schemeClr val="bg1"/>
              </a:solidFill>
              <a:latin typeface="Tahoma" pitchFamily="34" charset="0"/>
              <a:cs typeface="Times New Roman" pitchFamily="18" charset="0"/>
            </a:endParaRPr>
          </a:p>
          <a:p>
            <a:pPr>
              <a:spcBef>
                <a:spcPct val="50000"/>
              </a:spcBef>
            </a:pPr>
            <a:r>
              <a:rPr lang="en-US" sz="2000" b="1">
                <a:solidFill>
                  <a:schemeClr val="bg1"/>
                </a:solidFill>
                <a:latin typeface="Tahoma" pitchFamily="34" charset="0"/>
                <a:ea typeface="MS Mincho" pitchFamily="49" charset="-128"/>
              </a:rPr>
              <a:t>	float area;</a:t>
            </a:r>
            <a:endParaRPr lang="en-US" sz="2000" b="1">
              <a:solidFill>
                <a:schemeClr val="bg1"/>
              </a:solidFill>
              <a:latin typeface="Tahoma" pitchFamily="34" charset="0"/>
              <a:cs typeface="Times New Roman" pitchFamily="18" charset="0"/>
            </a:endParaRPr>
          </a:p>
          <a:p>
            <a:pPr>
              <a:spcBef>
                <a:spcPct val="50000"/>
              </a:spcBef>
            </a:pPr>
            <a:r>
              <a:rPr lang="en-US" sz="2000" b="1">
                <a:solidFill>
                  <a:schemeClr val="bg1"/>
                </a:solidFill>
                <a:latin typeface="Tahoma" pitchFamily="34" charset="0"/>
                <a:ea typeface="MS Mincho" pitchFamily="49" charset="-128"/>
              </a:rPr>
              <a:t>public:</a:t>
            </a:r>
            <a:endParaRPr lang="en-US" sz="2000" b="1">
              <a:solidFill>
                <a:schemeClr val="bg1"/>
              </a:solidFill>
              <a:latin typeface="Tahoma" pitchFamily="34" charset="0"/>
              <a:cs typeface="Times New Roman" pitchFamily="18" charset="0"/>
            </a:endParaRPr>
          </a:p>
          <a:p>
            <a:pPr>
              <a:spcBef>
                <a:spcPct val="50000"/>
              </a:spcBef>
            </a:pPr>
            <a:r>
              <a:rPr lang="en-US" sz="2000" b="1">
                <a:solidFill>
                  <a:schemeClr val="bg1"/>
                </a:solidFill>
                <a:latin typeface="Tahoma" pitchFamily="34" charset="0"/>
                <a:ea typeface="MS Mincho" pitchFamily="49" charset="-128"/>
              </a:rPr>
              <a:t>	void getdata()</a:t>
            </a:r>
          </a:p>
          <a:p>
            <a:pPr>
              <a:spcBef>
                <a:spcPct val="50000"/>
              </a:spcBef>
            </a:pPr>
            <a:r>
              <a:rPr lang="en-US" sz="2000" b="1">
                <a:solidFill>
                  <a:schemeClr val="bg1"/>
                </a:solidFill>
                <a:latin typeface="Tahoma" pitchFamily="34" charset="0"/>
                <a:ea typeface="MS Mincho" pitchFamily="49" charset="-128"/>
              </a:rPr>
              <a:t>	{</a:t>
            </a:r>
            <a:endParaRPr lang="en-US" sz="2000" b="1">
              <a:solidFill>
                <a:schemeClr val="bg1"/>
              </a:solidFill>
              <a:latin typeface="Tahoma" pitchFamily="34" charset="0"/>
              <a:cs typeface="Times New Roman" pitchFamily="18" charset="0"/>
            </a:endParaRPr>
          </a:p>
          <a:p>
            <a:pPr>
              <a:spcBef>
                <a:spcPct val="50000"/>
              </a:spcBef>
            </a:pPr>
            <a:r>
              <a:rPr lang="en-US" sz="2000" b="1">
                <a:solidFill>
                  <a:schemeClr val="bg1"/>
                </a:solidFill>
                <a:latin typeface="Tahoma" pitchFamily="34" charset="0"/>
                <a:ea typeface="MS Mincho" pitchFamily="49" charset="-128"/>
              </a:rPr>
              <a:t>	cout&lt;&lt;"Enter the radius"&lt;&lt;endl;</a:t>
            </a:r>
            <a:endParaRPr lang="en-US" sz="2000" b="1">
              <a:solidFill>
                <a:schemeClr val="bg1"/>
              </a:solidFill>
              <a:latin typeface="Tahoma" pitchFamily="34" charset="0"/>
              <a:cs typeface="Times New Roman" pitchFamily="18" charset="0"/>
            </a:endParaRPr>
          </a:p>
          <a:p>
            <a:pPr>
              <a:spcBef>
                <a:spcPct val="50000"/>
              </a:spcBef>
            </a:pPr>
            <a:r>
              <a:rPr lang="en-US" sz="2000" b="1">
                <a:solidFill>
                  <a:schemeClr val="bg1"/>
                </a:solidFill>
                <a:latin typeface="Tahoma" pitchFamily="34" charset="0"/>
                <a:ea typeface="MS Mincho" pitchFamily="49" charset="-128"/>
              </a:rPr>
              <a:t>	cin&gt;&gt;radius;</a:t>
            </a:r>
            <a:endParaRPr lang="en-US" sz="2000" b="1">
              <a:solidFill>
                <a:schemeClr val="bg1"/>
              </a:solidFill>
              <a:latin typeface="Tahoma" pitchFamily="34" charset="0"/>
              <a:cs typeface="Times New Roman" pitchFamily="18" charset="0"/>
            </a:endParaRPr>
          </a:p>
          <a:p>
            <a:pPr>
              <a:spcBef>
                <a:spcPct val="50000"/>
              </a:spcBef>
            </a:pPr>
            <a:r>
              <a:rPr lang="en-US" sz="2000" b="1">
                <a:solidFill>
                  <a:schemeClr val="bg1"/>
                </a:solidFill>
                <a:latin typeface="Tahoma" pitchFamily="34" charset="0"/>
                <a:ea typeface="MS Mincho" pitchFamily="49" charset="-128"/>
              </a:rPr>
              <a:t>	}</a:t>
            </a:r>
            <a:r>
              <a:rPr lang="en-US" sz="2000">
                <a:solidFill>
                  <a:schemeClr val="bg1"/>
                </a:solidFill>
                <a:latin typeface="Tahoma" pitchFamily="34" charset="0"/>
                <a:ea typeface="MS Mincho" pitchFamily="49" charset="-128"/>
              </a:rPr>
              <a:t>	</a:t>
            </a:r>
            <a:endParaRPr lang="en-US" sz="2000">
              <a:solidFill>
                <a:schemeClr val="bg1"/>
              </a:solidFill>
              <a:latin typeface="Tahom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9218"/>
                                        </p:tgtEl>
                                        <p:attrNameLst>
                                          <p:attrName>style.visibility</p:attrName>
                                        </p:attrNameLst>
                                      </p:cBhvr>
                                      <p:to>
                                        <p:strVal val="visible"/>
                                      </p:to>
                                    </p:set>
                                    <p:anim calcmode="lin" valueType="num">
                                      <p:cBhvr additive="base">
                                        <p:cTn id="7" dur="500" fill="hold"/>
                                        <p:tgtEl>
                                          <p:spTgt spid="9218"/>
                                        </p:tgtEl>
                                        <p:attrNameLst>
                                          <p:attrName>ppt_x</p:attrName>
                                        </p:attrNameLst>
                                      </p:cBhvr>
                                      <p:tavLst>
                                        <p:tav tm="0">
                                          <p:val>
                                            <p:strVal val="0-#ppt_w/2"/>
                                          </p:val>
                                        </p:tav>
                                        <p:tav tm="100000">
                                          <p:val>
                                            <p:strVal val="#ppt_x"/>
                                          </p:val>
                                        </p:tav>
                                      </p:tavLst>
                                    </p:anim>
                                    <p:anim calcmode="lin" valueType="num">
                                      <p:cBhvr additive="base">
                                        <p:cTn id="8" dur="500" fill="hold"/>
                                        <p:tgtEl>
                                          <p:spTgt spid="92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animBg="1" autoUpdateAnimBg="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1981200" y="228600"/>
            <a:ext cx="7315200" cy="5324475"/>
          </a:xfrm>
          <a:prstGeom prst="rect">
            <a:avLst/>
          </a:prstGeom>
          <a:solidFill>
            <a:srgbClr val="990033"/>
          </a:solidFill>
          <a:ln w="9525">
            <a:noFill/>
            <a:miter lim="800000"/>
            <a:headEnd/>
            <a:tailEnd/>
          </a:ln>
        </p:spPr>
        <p:txBody>
          <a:bodyPr lIns="91437" tIns="45719" rIns="91437" bIns="45719">
            <a:spAutoFit/>
          </a:bodyPr>
          <a:lstStyle/>
          <a:p>
            <a:pPr eaLnBrk="0" hangingPunct="0"/>
            <a:r>
              <a:rPr lang="en-US" sz="2000" b="1">
                <a:solidFill>
                  <a:schemeClr val="bg1"/>
                </a:solidFill>
                <a:latin typeface="Tahoma" pitchFamily="34" charset="0"/>
              </a:rPr>
              <a:t>void calculate()</a:t>
            </a:r>
          </a:p>
          <a:p>
            <a:pPr eaLnBrk="0" hangingPunct="0"/>
            <a:r>
              <a:rPr lang="en-US" sz="2000" b="1">
                <a:solidFill>
                  <a:schemeClr val="bg1"/>
                </a:solidFill>
                <a:latin typeface="Tahoma" pitchFamily="34" charset="0"/>
              </a:rPr>
              <a:t>{</a:t>
            </a:r>
          </a:p>
          <a:p>
            <a:pPr eaLnBrk="0" hangingPunct="0"/>
            <a:r>
              <a:rPr lang="en-US" sz="2000" b="1">
                <a:solidFill>
                  <a:schemeClr val="bg1"/>
                </a:solidFill>
                <a:latin typeface="Tahoma" pitchFamily="34" charset="0"/>
              </a:rPr>
              <a:t>area=3.14*radius*radius;</a:t>
            </a:r>
          </a:p>
          <a:p>
            <a:pPr eaLnBrk="0" hangingPunct="0"/>
            <a:r>
              <a:rPr lang="en-US" sz="2000" b="1">
                <a:solidFill>
                  <a:schemeClr val="bg1"/>
                </a:solidFill>
                <a:latin typeface="Tahoma" pitchFamily="34" charset="0"/>
              </a:rPr>
              <a:t>}</a:t>
            </a:r>
          </a:p>
          <a:p>
            <a:pPr eaLnBrk="0" hangingPunct="0"/>
            <a:r>
              <a:rPr lang="en-US" sz="2000" b="1">
                <a:solidFill>
                  <a:schemeClr val="bg1"/>
                </a:solidFill>
                <a:latin typeface="Tahoma" pitchFamily="34" charset="0"/>
              </a:rPr>
              <a:t>void showdata()</a:t>
            </a:r>
          </a:p>
          <a:p>
            <a:pPr eaLnBrk="0" hangingPunct="0"/>
            <a:r>
              <a:rPr lang="en-US" sz="2000" b="1">
                <a:solidFill>
                  <a:schemeClr val="bg1"/>
                </a:solidFill>
                <a:latin typeface="Tahoma" pitchFamily="34" charset="0"/>
              </a:rPr>
              <a:t>{</a:t>
            </a:r>
          </a:p>
          <a:p>
            <a:pPr eaLnBrk="0" hangingPunct="0"/>
            <a:r>
              <a:rPr lang="en-US" sz="2000" b="1">
                <a:solidFill>
                  <a:schemeClr val="bg1"/>
                </a:solidFill>
                <a:latin typeface="Tahoma" pitchFamily="34" charset="0"/>
              </a:rPr>
              <a:t>cout&lt;&lt;"The area of the circle is "&lt;&lt;area&lt;&lt;endl;	</a:t>
            </a:r>
          </a:p>
          <a:p>
            <a:pPr eaLnBrk="0" hangingPunct="0"/>
            <a:r>
              <a:rPr lang="en-US" sz="2000" b="1">
                <a:solidFill>
                  <a:schemeClr val="bg1"/>
                </a:solidFill>
                <a:latin typeface="Tahoma" pitchFamily="34" charset="0"/>
              </a:rPr>
              <a:t>}</a:t>
            </a:r>
          </a:p>
          <a:p>
            <a:pPr eaLnBrk="0" hangingPunct="0"/>
            <a:r>
              <a:rPr lang="en-US" sz="2000" b="1">
                <a:solidFill>
                  <a:schemeClr val="bg1"/>
                </a:solidFill>
                <a:latin typeface="Tahoma" pitchFamily="34" charset="0"/>
              </a:rPr>
              <a:t>};</a:t>
            </a:r>
          </a:p>
          <a:p>
            <a:pPr eaLnBrk="0" hangingPunct="0"/>
            <a:r>
              <a:rPr lang="en-US" sz="2000" b="1">
                <a:solidFill>
                  <a:schemeClr val="bg1"/>
                </a:solidFill>
                <a:latin typeface="Tahoma" pitchFamily="34" charset="0"/>
              </a:rPr>
              <a:t>void main()</a:t>
            </a:r>
          </a:p>
          <a:p>
            <a:pPr eaLnBrk="0" hangingPunct="0"/>
            <a:r>
              <a:rPr lang="en-US" sz="2000" b="1">
                <a:solidFill>
                  <a:schemeClr val="bg1"/>
                </a:solidFill>
                <a:latin typeface="Tahoma" pitchFamily="34" charset="0"/>
              </a:rPr>
              <a:t>{</a:t>
            </a:r>
          </a:p>
          <a:p>
            <a:pPr eaLnBrk="0" hangingPunct="0"/>
            <a:r>
              <a:rPr lang="en-US" sz="2000" b="1">
                <a:solidFill>
                  <a:schemeClr val="bg1"/>
                </a:solidFill>
                <a:latin typeface="Tahoma" pitchFamily="34" charset="0"/>
              </a:rPr>
              <a:t>circle r;</a:t>
            </a:r>
          </a:p>
          <a:p>
            <a:pPr eaLnBrk="0" hangingPunct="0"/>
            <a:r>
              <a:rPr lang="en-US" sz="2000" b="1">
                <a:solidFill>
                  <a:schemeClr val="bg1"/>
                </a:solidFill>
                <a:latin typeface="Tahoma" pitchFamily="34" charset="0"/>
              </a:rPr>
              <a:t>r.getdata();</a:t>
            </a:r>
          </a:p>
          <a:p>
            <a:pPr eaLnBrk="0" hangingPunct="0"/>
            <a:r>
              <a:rPr lang="en-US" sz="2000" b="1">
                <a:solidFill>
                  <a:schemeClr val="bg1"/>
                </a:solidFill>
                <a:latin typeface="Tahoma" pitchFamily="34" charset="0"/>
              </a:rPr>
              <a:t>r.calculate();</a:t>
            </a:r>
          </a:p>
          <a:p>
            <a:pPr eaLnBrk="0" hangingPunct="0"/>
            <a:r>
              <a:rPr lang="en-US" sz="2000" b="1">
                <a:solidFill>
                  <a:schemeClr val="bg1"/>
                </a:solidFill>
                <a:latin typeface="Tahoma" pitchFamily="34" charset="0"/>
              </a:rPr>
              <a:t>r.showdata();</a:t>
            </a:r>
          </a:p>
          <a:p>
            <a:pPr eaLnBrk="0" hangingPunct="0"/>
            <a:r>
              <a:rPr lang="en-US" sz="2000" b="1">
                <a:solidFill>
                  <a:schemeClr val="bg1"/>
                </a:solidFill>
                <a:latin typeface="Tahoma" pitchFamily="34" charset="0"/>
              </a:rPr>
              <a:t>getch();</a:t>
            </a:r>
          </a:p>
          <a:p>
            <a:pPr eaLnBrk="0" hangingPunct="0"/>
            <a:r>
              <a:rPr lang="en-US" sz="2000" b="1">
                <a:solidFill>
                  <a:schemeClr val="bg1"/>
                </a:solidFill>
                <a:latin typeface="Tahoma" pitchFamily="34" charset="0"/>
              </a:rPr>
              <a:t>}</a:t>
            </a:r>
            <a:endParaRPr lang="en-US" sz="2000" b="1">
              <a:solidFill>
                <a:schemeClr val="bg1"/>
              </a:solidFill>
              <a:latin typeface="Times New Roman" pitchFamily="18" charset="0"/>
            </a:endParaRPr>
          </a:p>
        </p:txBody>
      </p:sp>
      <p:sp>
        <p:nvSpPr>
          <p:cNvPr id="8195" name="AutoShape 3"/>
          <p:cNvSpPr>
            <a:spLocks/>
          </p:cNvSpPr>
          <p:nvPr/>
        </p:nvSpPr>
        <p:spPr bwMode="auto">
          <a:xfrm>
            <a:off x="4343400" y="5867400"/>
            <a:ext cx="3581400" cy="609600"/>
          </a:xfrm>
          <a:prstGeom prst="borderCallout1">
            <a:avLst>
              <a:gd name="adj1" fmla="val 18750"/>
              <a:gd name="adj2" fmla="val -2130"/>
              <a:gd name="adj3" fmla="val -9375"/>
              <a:gd name="adj4" fmla="val -38875"/>
            </a:avLst>
          </a:prstGeom>
          <a:solidFill>
            <a:srgbClr val="990033"/>
          </a:solidFill>
          <a:ln w="9525">
            <a:solidFill>
              <a:schemeClr val="tx1"/>
            </a:solidFill>
            <a:miter lim="800000"/>
            <a:headEnd/>
            <a:tailEnd/>
          </a:ln>
        </p:spPr>
        <p:txBody>
          <a:bodyPr/>
          <a:lstStyle/>
          <a:p>
            <a:pPr eaLnBrk="0" hangingPunct="0"/>
            <a:r>
              <a:rPr lang="en-US" sz="1600" b="1">
                <a:solidFill>
                  <a:schemeClr val="bg1"/>
                </a:solidFill>
                <a:latin typeface="Tahoma" pitchFamily="34" charset="0"/>
              </a:rPr>
              <a:t>Enter the  Radius : 2</a:t>
            </a:r>
          </a:p>
          <a:p>
            <a:pPr eaLnBrk="0" hangingPunct="0"/>
            <a:r>
              <a:rPr lang="en-US" sz="1600" b="1">
                <a:solidFill>
                  <a:schemeClr val="bg1"/>
                </a:solidFill>
                <a:latin typeface="Tahoma" pitchFamily="34" charset="0"/>
              </a:rPr>
              <a:t>The area of the circle is </a:t>
            </a:r>
          </a:p>
        </p:txBody>
      </p:sp>
      <p:sp>
        <p:nvSpPr>
          <p:cNvPr id="8196" name="WordArt 4"/>
          <p:cNvSpPr>
            <a:spLocks noChangeArrowheads="1" noChangeShapeType="1" noTextEdit="1"/>
          </p:cNvSpPr>
          <p:nvPr/>
        </p:nvSpPr>
        <p:spPr bwMode="auto">
          <a:xfrm>
            <a:off x="1600200" y="5638800"/>
            <a:ext cx="1362075" cy="381000"/>
          </a:xfrm>
          <a:prstGeom prst="rect">
            <a:avLst/>
          </a:prstGeom>
        </p:spPr>
        <p:txBody>
          <a:bodyPr wrap="none" fromWordArt="1">
            <a:prstTxWarp prst="textPlain">
              <a:avLst>
                <a:gd name="adj" fmla="val 50000"/>
              </a:avLst>
            </a:prstTxWarp>
          </a:bodyPr>
          <a:lstStyle/>
          <a:p>
            <a:pPr algn="ctr"/>
            <a:r>
              <a:rPr lang="en-IN" sz="3600" b="1" kern="10">
                <a:ln w="9525">
                  <a:noFill/>
                  <a:round/>
                  <a:headEnd/>
                  <a:tailEnd/>
                </a:ln>
                <a:solidFill>
                  <a:srgbClr val="990033"/>
                </a:solidFill>
                <a:effectLst>
                  <a:outerShdw dist="35921" dir="2700000" algn="ctr" rotWithShape="0">
                    <a:srgbClr val="C0C0C0">
                      <a:alpha val="79999"/>
                    </a:srgbClr>
                  </a:outerShdw>
                </a:effectLst>
                <a:latin typeface="Impact"/>
              </a:rPr>
              <a:t>RESULT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0242"/>
                                        </p:tgtEl>
                                        <p:attrNameLst>
                                          <p:attrName>style.visibility</p:attrName>
                                        </p:attrNameLst>
                                      </p:cBhvr>
                                      <p:to>
                                        <p:strVal val="visible"/>
                                      </p:to>
                                    </p:set>
                                    <p:anim calcmode="lin" valueType="num">
                                      <p:cBhvr additive="base">
                                        <p:cTn id="7" dur="500" fill="hold"/>
                                        <p:tgtEl>
                                          <p:spTgt spid="10242"/>
                                        </p:tgtEl>
                                        <p:attrNameLst>
                                          <p:attrName>ppt_x</p:attrName>
                                        </p:attrNameLst>
                                      </p:cBhvr>
                                      <p:tavLst>
                                        <p:tav tm="0">
                                          <p:val>
                                            <p:strVal val="0-#ppt_w/2"/>
                                          </p:val>
                                        </p:tav>
                                        <p:tav tm="100000">
                                          <p:val>
                                            <p:strVal val="#ppt_x"/>
                                          </p:val>
                                        </p:tav>
                                      </p:tavLst>
                                    </p:anim>
                                    <p:anim calcmode="lin" valueType="num">
                                      <p:cBhvr additive="base">
                                        <p:cTn id="8" dur="500" fill="hold"/>
                                        <p:tgtEl>
                                          <p:spTgt spid="1024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2" grpId="0" animBg="1" autoUpdateAnimBg="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ChangeArrowheads="1"/>
          </p:cNvSpPr>
          <p:nvPr/>
        </p:nvSpPr>
        <p:spPr bwMode="auto">
          <a:xfrm>
            <a:off x="304800" y="833438"/>
            <a:ext cx="4038600" cy="5795962"/>
          </a:xfrm>
          <a:prstGeom prst="rect">
            <a:avLst/>
          </a:prstGeom>
          <a:noFill/>
          <a:ln w="9525">
            <a:solidFill>
              <a:srgbClr val="FF66CC"/>
            </a:solidFill>
            <a:miter lim="800000"/>
            <a:headEnd/>
            <a:tailEnd/>
          </a:ln>
        </p:spPr>
        <p:txBody>
          <a:bodyPr>
            <a:spAutoFit/>
          </a:bodyPr>
          <a:lstStyle/>
          <a:p>
            <a:pPr eaLnBrk="0" hangingPunct="0"/>
            <a:r>
              <a:rPr lang="en-US" sz="2200" b="1">
                <a:solidFill>
                  <a:srgbClr val="000066"/>
                </a:solidFill>
                <a:latin typeface="Times New Roman" pitchFamily="18" charset="0"/>
              </a:rPr>
              <a:t>#include&lt;iostream.h&gt;</a:t>
            </a:r>
          </a:p>
          <a:p>
            <a:pPr eaLnBrk="0" hangingPunct="0"/>
            <a:r>
              <a:rPr lang="en-US" sz="2200" b="1">
                <a:solidFill>
                  <a:srgbClr val="000066"/>
                </a:solidFill>
                <a:latin typeface="Times New Roman" pitchFamily="18" charset="0"/>
              </a:rPr>
              <a:t>#include&lt;conio.h&gt;</a:t>
            </a:r>
          </a:p>
          <a:p>
            <a:pPr eaLnBrk="0" hangingPunct="0"/>
            <a:r>
              <a:rPr lang="en-US" sz="2200" b="1">
                <a:solidFill>
                  <a:srgbClr val="000066"/>
                </a:solidFill>
                <a:latin typeface="Times New Roman" pitchFamily="18" charset="0"/>
              </a:rPr>
              <a:t>class smallobj</a:t>
            </a:r>
          </a:p>
          <a:p>
            <a:pPr eaLnBrk="0" hangingPunct="0"/>
            <a:r>
              <a:rPr lang="en-US" sz="2200" b="1">
                <a:solidFill>
                  <a:srgbClr val="000066"/>
                </a:solidFill>
                <a:latin typeface="Times New Roman" pitchFamily="18" charset="0"/>
              </a:rPr>
              <a:t>{</a:t>
            </a:r>
          </a:p>
          <a:p>
            <a:pPr eaLnBrk="0" hangingPunct="0"/>
            <a:r>
              <a:rPr lang="en-US" sz="2200" b="1">
                <a:solidFill>
                  <a:srgbClr val="000066"/>
                </a:solidFill>
                <a:latin typeface="Times New Roman" pitchFamily="18" charset="0"/>
              </a:rPr>
              <a:t>private :</a:t>
            </a:r>
          </a:p>
          <a:p>
            <a:pPr eaLnBrk="0" hangingPunct="0"/>
            <a:r>
              <a:rPr lang="en-US" sz="2200" b="1">
                <a:solidFill>
                  <a:srgbClr val="000066"/>
                </a:solidFill>
                <a:latin typeface="Times New Roman" pitchFamily="18" charset="0"/>
              </a:rPr>
              <a:t> int s;</a:t>
            </a:r>
          </a:p>
          <a:p>
            <a:pPr eaLnBrk="0" hangingPunct="0"/>
            <a:r>
              <a:rPr lang="en-US" sz="2200" b="1">
                <a:solidFill>
                  <a:srgbClr val="000066"/>
                </a:solidFill>
                <a:latin typeface="Times New Roman" pitchFamily="18" charset="0"/>
              </a:rPr>
              <a:t> public :</a:t>
            </a:r>
          </a:p>
          <a:p>
            <a:pPr eaLnBrk="0" hangingPunct="0"/>
            <a:r>
              <a:rPr lang="en-US" sz="2200" b="1">
                <a:solidFill>
                  <a:srgbClr val="000066"/>
                </a:solidFill>
                <a:latin typeface="Times New Roman" pitchFamily="18" charset="0"/>
              </a:rPr>
              <a:t> void setdata(int d)</a:t>
            </a:r>
          </a:p>
          <a:p>
            <a:pPr eaLnBrk="0" hangingPunct="0"/>
            <a:r>
              <a:rPr lang="en-US" sz="2200" b="1">
                <a:solidFill>
                  <a:srgbClr val="000066"/>
                </a:solidFill>
                <a:latin typeface="Times New Roman" pitchFamily="18" charset="0"/>
              </a:rPr>
              <a:t> {</a:t>
            </a:r>
          </a:p>
          <a:p>
            <a:pPr eaLnBrk="0" hangingPunct="0"/>
            <a:r>
              <a:rPr lang="en-US" sz="2200" b="1">
                <a:solidFill>
                  <a:srgbClr val="000066"/>
                </a:solidFill>
                <a:latin typeface="Times New Roman" pitchFamily="18" charset="0"/>
              </a:rPr>
              <a:t> s=d;</a:t>
            </a:r>
          </a:p>
          <a:p>
            <a:pPr eaLnBrk="0" hangingPunct="0"/>
            <a:r>
              <a:rPr lang="en-US" sz="2200" b="1">
                <a:solidFill>
                  <a:srgbClr val="000066"/>
                </a:solidFill>
                <a:latin typeface="Times New Roman" pitchFamily="18" charset="0"/>
              </a:rPr>
              <a:t> }</a:t>
            </a:r>
          </a:p>
          <a:p>
            <a:pPr eaLnBrk="0" hangingPunct="0"/>
            <a:r>
              <a:rPr lang="en-US" sz="2200" b="1">
                <a:solidFill>
                  <a:srgbClr val="000066"/>
                </a:solidFill>
                <a:latin typeface="Times New Roman" pitchFamily="18" charset="0"/>
              </a:rPr>
              <a:t> void showdata()</a:t>
            </a:r>
          </a:p>
          <a:p>
            <a:pPr eaLnBrk="0" hangingPunct="0"/>
            <a:r>
              <a:rPr lang="en-US" sz="2200" b="1">
                <a:solidFill>
                  <a:srgbClr val="000066"/>
                </a:solidFill>
                <a:latin typeface="Times New Roman" pitchFamily="18" charset="0"/>
              </a:rPr>
              <a:t> {</a:t>
            </a:r>
          </a:p>
          <a:p>
            <a:pPr eaLnBrk="0" hangingPunct="0"/>
            <a:r>
              <a:rPr lang="en-US" sz="2200" b="1">
                <a:solidFill>
                  <a:srgbClr val="000066"/>
                </a:solidFill>
                <a:latin typeface="Times New Roman" pitchFamily="18" charset="0"/>
              </a:rPr>
              <a:t> cout&lt;&lt;endl&lt;&lt;"the Data is "&lt;&lt;s;</a:t>
            </a:r>
          </a:p>
          <a:p>
            <a:pPr eaLnBrk="0" hangingPunct="0"/>
            <a:r>
              <a:rPr lang="en-US" sz="2200" b="1">
                <a:solidFill>
                  <a:srgbClr val="000066"/>
                </a:solidFill>
                <a:latin typeface="Times New Roman" pitchFamily="18" charset="0"/>
              </a:rPr>
              <a:t> }</a:t>
            </a:r>
          </a:p>
          <a:p>
            <a:pPr eaLnBrk="0" hangingPunct="0"/>
            <a:r>
              <a:rPr lang="en-US" sz="2200" b="1">
                <a:solidFill>
                  <a:srgbClr val="000066"/>
                </a:solidFill>
                <a:latin typeface="Times New Roman" pitchFamily="18" charset="0"/>
              </a:rPr>
              <a:t> };</a:t>
            </a:r>
            <a:r>
              <a:rPr lang="en-US" sz="2000" b="1">
                <a:solidFill>
                  <a:srgbClr val="000066"/>
                </a:solidFill>
                <a:latin typeface="Times New Roman" pitchFamily="18" charset="0"/>
              </a:rPr>
              <a:t> </a:t>
            </a:r>
          </a:p>
        </p:txBody>
      </p:sp>
      <p:sp>
        <p:nvSpPr>
          <p:cNvPr id="9219" name="Rectangle 3"/>
          <p:cNvSpPr>
            <a:spLocks noChangeArrowheads="1"/>
          </p:cNvSpPr>
          <p:nvPr/>
        </p:nvSpPr>
        <p:spPr bwMode="auto">
          <a:xfrm>
            <a:off x="4343400" y="819150"/>
            <a:ext cx="3200400" cy="3752850"/>
          </a:xfrm>
          <a:prstGeom prst="rect">
            <a:avLst/>
          </a:prstGeom>
          <a:noFill/>
          <a:ln w="9525">
            <a:solidFill>
              <a:srgbClr val="FF66CC"/>
            </a:solidFill>
            <a:miter lim="800000"/>
            <a:headEnd/>
            <a:tailEnd/>
          </a:ln>
        </p:spPr>
        <p:txBody>
          <a:bodyPr>
            <a:spAutoFit/>
          </a:bodyPr>
          <a:lstStyle/>
          <a:p>
            <a:pPr eaLnBrk="0" hangingPunct="0"/>
            <a:r>
              <a:rPr lang="en-US" sz="2400" b="1">
                <a:solidFill>
                  <a:srgbClr val="000066"/>
                </a:solidFill>
                <a:latin typeface="Times New Roman" pitchFamily="18" charset="0"/>
              </a:rPr>
              <a:t>void main()</a:t>
            </a:r>
          </a:p>
          <a:p>
            <a:pPr eaLnBrk="0" hangingPunct="0"/>
            <a:r>
              <a:rPr lang="en-US" sz="2400" b="1">
                <a:solidFill>
                  <a:srgbClr val="000066"/>
                </a:solidFill>
                <a:latin typeface="Times New Roman" pitchFamily="18" charset="0"/>
              </a:rPr>
              <a:t> {</a:t>
            </a:r>
          </a:p>
          <a:p>
            <a:pPr eaLnBrk="0" hangingPunct="0"/>
            <a:r>
              <a:rPr lang="en-US" sz="2400" b="1">
                <a:solidFill>
                  <a:srgbClr val="000066"/>
                </a:solidFill>
                <a:latin typeface="Times New Roman" pitchFamily="18" charset="0"/>
              </a:rPr>
              <a:t> smallobj a1,a2;</a:t>
            </a:r>
          </a:p>
          <a:p>
            <a:pPr eaLnBrk="0" hangingPunct="0"/>
            <a:r>
              <a:rPr lang="en-US" sz="2400" b="1">
                <a:solidFill>
                  <a:srgbClr val="000066"/>
                </a:solidFill>
                <a:latin typeface="Times New Roman" pitchFamily="18" charset="0"/>
              </a:rPr>
              <a:t> clrscr();</a:t>
            </a:r>
          </a:p>
          <a:p>
            <a:pPr eaLnBrk="0" hangingPunct="0"/>
            <a:r>
              <a:rPr lang="en-US" sz="2400" b="1">
                <a:solidFill>
                  <a:srgbClr val="000066"/>
                </a:solidFill>
                <a:latin typeface="Times New Roman" pitchFamily="18" charset="0"/>
              </a:rPr>
              <a:t> a1.setdata(2500);</a:t>
            </a:r>
          </a:p>
          <a:p>
            <a:pPr eaLnBrk="0" hangingPunct="0"/>
            <a:r>
              <a:rPr lang="en-US" sz="2400" b="1">
                <a:solidFill>
                  <a:srgbClr val="000066"/>
                </a:solidFill>
                <a:latin typeface="Times New Roman" pitchFamily="18" charset="0"/>
              </a:rPr>
              <a:t>a2.setdata(4000);</a:t>
            </a:r>
          </a:p>
          <a:p>
            <a:pPr eaLnBrk="0" hangingPunct="0"/>
            <a:r>
              <a:rPr lang="en-US" sz="2400" b="1">
                <a:solidFill>
                  <a:srgbClr val="000066"/>
                </a:solidFill>
                <a:latin typeface="Times New Roman" pitchFamily="18" charset="0"/>
              </a:rPr>
              <a:t> a1.showdata();</a:t>
            </a:r>
          </a:p>
          <a:p>
            <a:pPr eaLnBrk="0" hangingPunct="0"/>
            <a:r>
              <a:rPr lang="en-US" sz="2400" b="1">
                <a:solidFill>
                  <a:srgbClr val="000066"/>
                </a:solidFill>
                <a:latin typeface="Times New Roman" pitchFamily="18" charset="0"/>
              </a:rPr>
              <a:t> a2.showdata();</a:t>
            </a:r>
          </a:p>
          <a:p>
            <a:pPr eaLnBrk="0" hangingPunct="0"/>
            <a:r>
              <a:rPr lang="en-US" sz="2400" b="1">
                <a:solidFill>
                  <a:srgbClr val="000066"/>
                </a:solidFill>
                <a:latin typeface="Times New Roman" pitchFamily="18" charset="0"/>
              </a:rPr>
              <a:t> getch();</a:t>
            </a:r>
          </a:p>
          <a:p>
            <a:pPr eaLnBrk="0" hangingPunct="0"/>
            <a:r>
              <a:rPr lang="en-US" sz="2400" b="1">
                <a:solidFill>
                  <a:srgbClr val="000066"/>
                </a:solidFill>
                <a:latin typeface="Times New Roman" pitchFamily="18" charset="0"/>
              </a:rPr>
              <a:t> }</a:t>
            </a:r>
          </a:p>
        </p:txBody>
      </p:sp>
      <p:sp>
        <p:nvSpPr>
          <p:cNvPr id="9220" name="WordArt 4"/>
          <p:cNvSpPr>
            <a:spLocks noChangeArrowheads="1" noChangeShapeType="1" noTextEdit="1"/>
          </p:cNvSpPr>
          <p:nvPr/>
        </p:nvSpPr>
        <p:spPr bwMode="auto">
          <a:xfrm>
            <a:off x="1676400" y="114300"/>
            <a:ext cx="5486400" cy="647700"/>
          </a:xfrm>
          <a:prstGeom prst="rect">
            <a:avLst/>
          </a:prstGeom>
        </p:spPr>
        <p:txBody>
          <a:bodyPr wrap="none" fromWordArt="1">
            <a:prstTxWarp prst="textFadeUp">
              <a:avLst>
                <a:gd name="adj" fmla="val 9991"/>
              </a:avLst>
            </a:prstTxWarp>
          </a:bodyPr>
          <a:lstStyle/>
          <a:p>
            <a:pPr algn="ctr"/>
            <a:r>
              <a:rPr lang="en-IN" sz="3600" b="1" kern="10">
                <a:ln w="12700">
                  <a:solidFill>
                    <a:srgbClr val="B2B2B2"/>
                  </a:solidFill>
                  <a:round/>
                  <a:headEnd/>
                  <a:tailEnd/>
                </a:ln>
                <a:solidFill>
                  <a:srgbClr val="0033CC"/>
                </a:solidFill>
                <a:effectLst>
                  <a:outerShdw dist="35921" dir="2700000" sy="50000" rotWithShape="0">
                    <a:srgbClr val="875B0D">
                      <a:alpha val="70000"/>
                    </a:srgbClr>
                  </a:outerShdw>
                </a:effectLst>
                <a:latin typeface="Arial Black"/>
              </a:rPr>
              <a:t>Class Objects</a:t>
            </a:r>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ChangeArrowheads="1"/>
          </p:cNvSpPr>
          <p:nvPr/>
        </p:nvSpPr>
        <p:spPr bwMode="auto">
          <a:xfrm>
            <a:off x="0" y="76200"/>
            <a:ext cx="4572000" cy="6562725"/>
          </a:xfrm>
          <a:prstGeom prst="rect">
            <a:avLst/>
          </a:prstGeom>
          <a:noFill/>
          <a:ln w="9525">
            <a:solidFill>
              <a:srgbClr val="CC0066"/>
            </a:solidFill>
            <a:miter lim="800000"/>
            <a:headEnd/>
            <a:tailEnd/>
          </a:ln>
        </p:spPr>
        <p:txBody>
          <a:bodyPr>
            <a:spAutoFit/>
          </a:bodyPr>
          <a:lstStyle/>
          <a:p>
            <a:pPr eaLnBrk="0" hangingPunct="0"/>
            <a:r>
              <a:rPr lang="en-US" sz="2400" b="1" u="sng">
                <a:solidFill>
                  <a:srgbClr val="000066"/>
                </a:solidFill>
                <a:latin typeface="Verdana" pitchFamily="34" charset="0"/>
              </a:rPr>
              <a:t>Class &amp; Objects Example</a:t>
            </a:r>
          </a:p>
          <a:p>
            <a:pPr eaLnBrk="0" hangingPunct="0"/>
            <a:r>
              <a:rPr lang="en-US" sz="2000" b="1">
                <a:solidFill>
                  <a:srgbClr val="000066"/>
                </a:solidFill>
                <a:latin typeface="Times New Roman" pitchFamily="18" charset="0"/>
              </a:rPr>
              <a:t>#include&lt;iostream.h&gt;</a:t>
            </a:r>
          </a:p>
          <a:p>
            <a:pPr eaLnBrk="0" hangingPunct="0"/>
            <a:r>
              <a:rPr lang="en-US" sz="2000" b="1">
                <a:solidFill>
                  <a:srgbClr val="000066"/>
                </a:solidFill>
                <a:latin typeface="Times New Roman" pitchFamily="18" charset="0"/>
              </a:rPr>
              <a:t>#include&lt;conio.h&gt;</a:t>
            </a:r>
          </a:p>
          <a:p>
            <a:pPr eaLnBrk="0" hangingPunct="0"/>
            <a:r>
              <a:rPr lang="en-US" sz="2000" b="1">
                <a:solidFill>
                  <a:srgbClr val="000066"/>
                </a:solidFill>
                <a:latin typeface="Times New Roman" pitchFamily="18" charset="0"/>
              </a:rPr>
              <a:t>class distance</a:t>
            </a:r>
          </a:p>
          <a:p>
            <a:pPr eaLnBrk="0" hangingPunct="0"/>
            <a:r>
              <a:rPr lang="en-US" sz="2000" b="1">
                <a:solidFill>
                  <a:srgbClr val="000066"/>
                </a:solidFill>
                <a:latin typeface="Times New Roman" pitchFamily="18" charset="0"/>
              </a:rPr>
              <a:t>{</a:t>
            </a:r>
          </a:p>
          <a:p>
            <a:pPr eaLnBrk="0" hangingPunct="0"/>
            <a:r>
              <a:rPr lang="en-US" sz="2000" b="1">
                <a:solidFill>
                  <a:srgbClr val="000066"/>
                </a:solidFill>
                <a:latin typeface="Times New Roman" pitchFamily="18" charset="0"/>
              </a:rPr>
              <a:t>private:</a:t>
            </a:r>
          </a:p>
          <a:p>
            <a:pPr eaLnBrk="0" hangingPunct="0"/>
            <a:r>
              <a:rPr lang="en-US" sz="2000" b="1">
                <a:solidFill>
                  <a:srgbClr val="000066"/>
                </a:solidFill>
                <a:latin typeface="Times New Roman" pitchFamily="18" charset="0"/>
              </a:rPr>
              <a:t> int feet;</a:t>
            </a:r>
          </a:p>
          <a:p>
            <a:pPr eaLnBrk="0" hangingPunct="0"/>
            <a:r>
              <a:rPr lang="en-US" sz="2000" b="1">
                <a:solidFill>
                  <a:srgbClr val="000066"/>
                </a:solidFill>
                <a:latin typeface="Times New Roman" pitchFamily="18" charset="0"/>
              </a:rPr>
              <a:t> float inches;</a:t>
            </a:r>
          </a:p>
          <a:p>
            <a:pPr eaLnBrk="0" hangingPunct="0"/>
            <a:r>
              <a:rPr lang="en-US" sz="2000" b="1">
                <a:solidFill>
                  <a:srgbClr val="000066"/>
                </a:solidFill>
                <a:latin typeface="Times New Roman" pitchFamily="18" charset="0"/>
              </a:rPr>
              <a:t>public :</a:t>
            </a:r>
          </a:p>
          <a:p>
            <a:pPr eaLnBrk="0" hangingPunct="0"/>
            <a:r>
              <a:rPr lang="en-US" sz="2000" b="1">
                <a:solidFill>
                  <a:srgbClr val="000066"/>
                </a:solidFill>
                <a:latin typeface="Times New Roman" pitchFamily="18" charset="0"/>
              </a:rPr>
              <a:t>void setdist(int ft,float in)</a:t>
            </a:r>
          </a:p>
          <a:p>
            <a:pPr eaLnBrk="0" hangingPunct="0"/>
            <a:r>
              <a:rPr lang="en-US" sz="2000" b="1">
                <a:solidFill>
                  <a:srgbClr val="000066"/>
                </a:solidFill>
                <a:latin typeface="Times New Roman" pitchFamily="18" charset="0"/>
              </a:rPr>
              <a:t>{</a:t>
            </a:r>
          </a:p>
          <a:p>
            <a:pPr eaLnBrk="0" hangingPunct="0"/>
            <a:r>
              <a:rPr lang="en-US" sz="2000" b="1">
                <a:solidFill>
                  <a:srgbClr val="000066"/>
                </a:solidFill>
                <a:latin typeface="Times New Roman" pitchFamily="18" charset="0"/>
              </a:rPr>
              <a:t>feet=ft;</a:t>
            </a:r>
          </a:p>
          <a:p>
            <a:pPr eaLnBrk="0" hangingPunct="0"/>
            <a:r>
              <a:rPr lang="en-US" sz="2000" b="1">
                <a:solidFill>
                  <a:srgbClr val="000066"/>
                </a:solidFill>
                <a:latin typeface="Times New Roman" pitchFamily="18" charset="0"/>
              </a:rPr>
              <a:t>inches=in;</a:t>
            </a:r>
          </a:p>
          <a:p>
            <a:pPr eaLnBrk="0" hangingPunct="0"/>
            <a:r>
              <a:rPr lang="en-US" sz="2000" b="1">
                <a:solidFill>
                  <a:srgbClr val="000066"/>
                </a:solidFill>
                <a:latin typeface="Times New Roman" pitchFamily="18" charset="0"/>
              </a:rPr>
              <a:t>}</a:t>
            </a:r>
          </a:p>
          <a:p>
            <a:pPr eaLnBrk="0" hangingPunct="0"/>
            <a:endParaRPr lang="en-US" sz="2000" b="1">
              <a:solidFill>
                <a:srgbClr val="000066"/>
              </a:solidFill>
              <a:latin typeface="Times New Roman" pitchFamily="18" charset="0"/>
            </a:endParaRPr>
          </a:p>
          <a:p>
            <a:pPr eaLnBrk="0" hangingPunct="0"/>
            <a:r>
              <a:rPr lang="en-US" sz="2000" b="1">
                <a:solidFill>
                  <a:srgbClr val="000066"/>
                </a:solidFill>
                <a:latin typeface="Times New Roman" pitchFamily="18" charset="0"/>
              </a:rPr>
              <a:t>void getdist()</a:t>
            </a:r>
          </a:p>
          <a:p>
            <a:pPr eaLnBrk="0" hangingPunct="0"/>
            <a:r>
              <a:rPr lang="en-US" sz="2000" b="1">
                <a:solidFill>
                  <a:srgbClr val="000066"/>
                </a:solidFill>
                <a:latin typeface="Times New Roman" pitchFamily="18" charset="0"/>
              </a:rPr>
              <a:t>{</a:t>
            </a:r>
          </a:p>
          <a:p>
            <a:pPr eaLnBrk="0" hangingPunct="0"/>
            <a:r>
              <a:rPr lang="en-US" sz="2000" b="1">
                <a:solidFill>
                  <a:srgbClr val="000066"/>
                </a:solidFill>
                <a:latin typeface="Times New Roman" pitchFamily="18" charset="0"/>
              </a:rPr>
              <a:t>cout&lt;&lt;endl&lt;&lt;"Enter Feet and Inches Value:";</a:t>
            </a:r>
          </a:p>
          <a:p>
            <a:pPr eaLnBrk="0" hangingPunct="0"/>
            <a:r>
              <a:rPr lang="en-US" sz="2000" b="1">
                <a:solidFill>
                  <a:srgbClr val="000066"/>
                </a:solidFill>
                <a:latin typeface="Times New Roman" pitchFamily="18" charset="0"/>
              </a:rPr>
              <a:t>cin&gt;&gt;feet&gt;&gt;inches;</a:t>
            </a:r>
          </a:p>
          <a:p>
            <a:pPr eaLnBrk="0" hangingPunct="0"/>
            <a:r>
              <a:rPr lang="en-US" sz="2000" b="1">
                <a:solidFill>
                  <a:srgbClr val="000066"/>
                </a:solidFill>
                <a:latin typeface="Times New Roman" pitchFamily="18" charset="0"/>
              </a:rPr>
              <a:t>}</a:t>
            </a:r>
          </a:p>
        </p:txBody>
      </p:sp>
      <p:sp>
        <p:nvSpPr>
          <p:cNvPr id="10243" name="Rectangle 3"/>
          <p:cNvSpPr>
            <a:spLocks noChangeArrowheads="1"/>
          </p:cNvSpPr>
          <p:nvPr/>
        </p:nvSpPr>
        <p:spPr bwMode="auto">
          <a:xfrm>
            <a:off x="4572000" y="50800"/>
            <a:ext cx="4572000" cy="4978400"/>
          </a:xfrm>
          <a:prstGeom prst="rect">
            <a:avLst/>
          </a:prstGeom>
          <a:noFill/>
          <a:ln w="9525">
            <a:solidFill>
              <a:srgbClr val="CC0066"/>
            </a:solidFill>
            <a:miter lim="800000"/>
            <a:headEnd/>
            <a:tailEnd/>
          </a:ln>
        </p:spPr>
        <p:txBody>
          <a:bodyPr>
            <a:spAutoFit/>
          </a:bodyPr>
          <a:lstStyle/>
          <a:p>
            <a:pPr eaLnBrk="0" hangingPunct="0"/>
            <a:r>
              <a:rPr lang="en-US" sz="2000" b="1">
                <a:solidFill>
                  <a:srgbClr val="000066"/>
                </a:solidFill>
                <a:latin typeface="Times New Roman" pitchFamily="18" charset="0"/>
              </a:rPr>
              <a:t>void showdist()</a:t>
            </a:r>
          </a:p>
          <a:p>
            <a:pPr eaLnBrk="0" hangingPunct="0"/>
            <a:r>
              <a:rPr lang="en-US" sz="2000" b="1">
                <a:solidFill>
                  <a:srgbClr val="000066"/>
                </a:solidFill>
                <a:latin typeface="Times New Roman" pitchFamily="18" charset="0"/>
              </a:rPr>
              <a:t>{</a:t>
            </a:r>
          </a:p>
          <a:p>
            <a:pPr eaLnBrk="0" hangingPunct="0"/>
            <a:r>
              <a:rPr lang="en-US" sz="2000" b="1">
                <a:solidFill>
                  <a:srgbClr val="000066"/>
                </a:solidFill>
                <a:latin typeface="Times New Roman" pitchFamily="18" charset="0"/>
              </a:rPr>
              <a:t>cout&lt;&lt;endl&lt;&lt;feet&lt;&lt;endl&lt;&lt;inches;</a:t>
            </a:r>
          </a:p>
          <a:p>
            <a:pPr eaLnBrk="0" hangingPunct="0"/>
            <a:r>
              <a:rPr lang="en-US" sz="2000" b="1">
                <a:solidFill>
                  <a:srgbClr val="000066"/>
                </a:solidFill>
                <a:latin typeface="Times New Roman" pitchFamily="18" charset="0"/>
              </a:rPr>
              <a:t>}</a:t>
            </a:r>
          </a:p>
          <a:p>
            <a:pPr eaLnBrk="0" hangingPunct="0"/>
            <a:r>
              <a:rPr lang="en-US" sz="2000" b="1">
                <a:solidFill>
                  <a:srgbClr val="000066"/>
                </a:solidFill>
                <a:latin typeface="Times New Roman" pitchFamily="18" charset="0"/>
              </a:rPr>
              <a:t>};</a:t>
            </a:r>
          </a:p>
          <a:p>
            <a:pPr eaLnBrk="0" hangingPunct="0"/>
            <a:endParaRPr lang="en-US" sz="2000" b="1">
              <a:solidFill>
                <a:srgbClr val="000066"/>
              </a:solidFill>
              <a:latin typeface="Times New Roman" pitchFamily="18" charset="0"/>
            </a:endParaRPr>
          </a:p>
          <a:p>
            <a:pPr eaLnBrk="0" hangingPunct="0"/>
            <a:r>
              <a:rPr lang="en-US" sz="2000" b="1">
                <a:solidFill>
                  <a:srgbClr val="000066"/>
                </a:solidFill>
                <a:latin typeface="Times New Roman" pitchFamily="18" charset="0"/>
              </a:rPr>
              <a:t>void main()</a:t>
            </a:r>
          </a:p>
          <a:p>
            <a:pPr eaLnBrk="0" hangingPunct="0"/>
            <a:r>
              <a:rPr lang="en-US" sz="2000" b="1">
                <a:solidFill>
                  <a:srgbClr val="000066"/>
                </a:solidFill>
                <a:latin typeface="Times New Roman" pitchFamily="18" charset="0"/>
              </a:rPr>
              <a:t> {</a:t>
            </a:r>
          </a:p>
          <a:p>
            <a:pPr eaLnBrk="0" hangingPunct="0"/>
            <a:r>
              <a:rPr lang="en-US" sz="2000" b="1">
                <a:solidFill>
                  <a:srgbClr val="000066"/>
                </a:solidFill>
                <a:latin typeface="Times New Roman" pitchFamily="18" charset="0"/>
              </a:rPr>
              <a:t> distance dist1,dist2;</a:t>
            </a:r>
          </a:p>
          <a:p>
            <a:pPr eaLnBrk="0" hangingPunct="0"/>
            <a:r>
              <a:rPr lang="en-US" sz="2000" b="1">
                <a:solidFill>
                  <a:srgbClr val="000066"/>
                </a:solidFill>
                <a:latin typeface="Times New Roman" pitchFamily="18" charset="0"/>
              </a:rPr>
              <a:t> clrscr();</a:t>
            </a:r>
          </a:p>
          <a:p>
            <a:pPr eaLnBrk="0" hangingPunct="0"/>
            <a:r>
              <a:rPr lang="en-US" sz="2000" b="1">
                <a:solidFill>
                  <a:srgbClr val="000066"/>
                </a:solidFill>
                <a:latin typeface="Times New Roman" pitchFamily="18" charset="0"/>
              </a:rPr>
              <a:t> dist1.setdist(11,6.25);</a:t>
            </a:r>
          </a:p>
          <a:p>
            <a:pPr eaLnBrk="0" hangingPunct="0"/>
            <a:r>
              <a:rPr lang="en-US" sz="2000" b="1">
                <a:solidFill>
                  <a:srgbClr val="000066"/>
                </a:solidFill>
                <a:latin typeface="Times New Roman" pitchFamily="18" charset="0"/>
              </a:rPr>
              <a:t> dist2.getdist();</a:t>
            </a:r>
          </a:p>
          <a:p>
            <a:pPr eaLnBrk="0" hangingPunct="0"/>
            <a:r>
              <a:rPr lang="en-US" sz="2000" b="1">
                <a:solidFill>
                  <a:srgbClr val="000066"/>
                </a:solidFill>
                <a:latin typeface="Times New Roman" pitchFamily="18" charset="0"/>
              </a:rPr>
              <a:t> dist1.showdist();</a:t>
            </a:r>
          </a:p>
          <a:p>
            <a:pPr eaLnBrk="0" hangingPunct="0"/>
            <a:r>
              <a:rPr lang="en-US" sz="2000" b="1">
                <a:solidFill>
                  <a:srgbClr val="000066"/>
                </a:solidFill>
                <a:latin typeface="Times New Roman" pitchFamily="18" charset="0"/>
              </a:rPr>
              <a:t> dist2.showdist();</a:t>
            </a:r>
          </a:p>
          <a:p>
            <a:pPr eaLnBrk="0" hangingPunct="0"/>
            <a:r>
              <a:rPr lang="en-US" sz="2000" b="1">
                <a:solidFill>
                  <a:srgbClr val="000066"/>
                </a:solidFill>
                <a:latin typeface="Times New Roman" pitchFamily="18" charset="0"/>
              </a:rPr>
              <a:t> getch();</a:t>
            </a:r>
          </a:p>
          <a:p>
            <a:pPr eaLnBrk="0" hangingPunct="0"/>
            <a:r>
              <a:rPr lang="en-US" sz="2000" b="1">
                <a:solidFill>
                  <a:srgbClr val="000066"/>
                </a:solidFill>
                <a:latin typeface="Times New Roman" pitchFamily="18" charset="0"/>
              </a:rPr>
              <a:t> }</a:t>
            </a:r>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ChangeArrowheads="1"/>
          </p:cNvSpPr>
          <p:nvPr/>
        </p:nvSpPr>
        <p:spPr bwMode="auto">
          <a:xfrm>
            <a:off x="76200" y="914400"/>
            <a:ext cx="4038600" cy="5873750"/>
          </a:xfrm>
          <a:prstGeom prst="rect">
            <a:avLst/>
          </a:prstGeom>
          <a:noFill/>
          <a:ln w="9525">
            <a:solidFill>
              <a:srgbClr val="FF66CC"/>
            </a:solidFill>
            <a:miter lim="800000"/>
            <a:headEnd/>
            <a:tailEnd/>
          </a:ln>
        </p:spPr>
        <p:txBody>
          <a:bodyPr>
            <a:spAutoFit/>
          </a:bodyPr>
          <a:lstStyle/>
          <a:p>
            <a:pPr eaLnBrk="0" hangingPunct="0"/>
            <a:r>
              <a:rPr lang="en-US" sz="2100" b="1">
                <a:solidFill>
                  <a:srgbClr val="000066"/>
                </a:solidFill>
              </a:rPr>
              <a:t>#include&lt;iostream.h&gt;</a:t>
            </a:r>
          </a:p>
          <a:p>
            <a:pPr eaLnBrk="0" hangingPunct="0"/>
            <a:r>
              <a:rPr lang="en-US" sz="2100" b="1">
                <a:solidFill>
                  <a:srgbClr val="000066"/>
                </a:solidFill>
              </a:rPr>
              <a:t>#include&lt;conio.h&gt;</a:t>
            </a:r>
          </a:p>
          <a:p>
            <a:pPr eaLnBrk="0" hangingPunct="0"/>
            <a:r>
              <a:rPr lang="en-US" sz="2100" b="1">
                <a:solidFill>
                  <a:srgbClr val="000066"/>
                </a:solidFill>
              </a:rPr>
              <a:t>const int MAX=100;</a:t>
            </a:r>
          </a:p>
          <a:p>
            <a:pPr eaLnBrk="0" hangingPunct="0"/>
            <a:r>
              <a:rPr lang="en-US" sz="2100" b="1">
                <a:solidFill>
                  <a:srgbClr val="000066"/>
                </a:solidFill>
              </a:rPr>
              <a:t>class stack</a:t>
            </a:r>
          </a:p>
          <a:p>
            <a:pPr eaLnBrk="0" hangingPunct="0"/>
            <a:r>
              <a:rPr lang="en-US" sz="2100" b="1">
                <a:solidFill>
                  <a:srgbClr val="000066"/>
                </a:solidFill>
              </a:rPr>
              <a:t>{</a:t>
            </a:r>
          </a:p>
          <a:p>
            <a:pPr eaLnBrk="0" hangingPunct="0"/>
            <a:r>
              <a:rPr lang="en-US" sz="2100" b="1">
                <a:solidFill>
                  <a:srgbClr val="000066"/>
                </a:solidFill>
              </a:rPr>
              <a:t>private:</a:t>
            </a:r>
          </a:p>
          <a:p>
            <a:pPr eaLnBrk="0" hangingPunct="0"/>
            <a:r>
              <a:rPr lang="en-US" sz="2100" b="1">
                <a:solidFill>
                  <a:srgbClr val="000066"/>
                </a:solidFill>
              </a:rPr>
              <a:t>     int st[MAX];</a:t>
            </a:r>
          </a:p>
          <a:p>
            <a:pPr eaLnBrk="0" hangingPunct="0"/>
            <a:r>
              <a:rPr lang="en-US" sz="2100" b="1">
                <a:solidFill>
                  <a:srgbClr val="000066"/>
                </a:solidFill>
              </a:rPr>
              <a:t>     int top;</a:t>
            </a:r>
          </a:p>
          <a:p>
            <a:pPr eaLnBrk="0" hangingPunct="0"/>
            <a:r>
              <a:rPr lang="en-US" sz="2100" b="1">
                <a:solidFill>
                  <a:srgbClr val="000066"/>
                </a:solidFill>
              </a:rPr>
              <a:t>public :</a:t>
            </a:r>
          </a:p>
          <a:p>
            <a:pPr eaLnBrk="0" hangingPunct="0"/>
            <a:r>
              <a:rPr lang="en-US" sz="2100" b="1">
                <a:solidFill>
                  <a:srgbClr val="000066"/>
                </a:solidFill>
              </a:rPr>
              <a:t>     stack()     {</a:t>
            </a:r>
          </a:p>
          <a:p>
            <a:pPr eaLnBrk="0" hangingPunct="0"/>
            <a:r>
              <a:rPr lang="en-US" sz="2100" b="1">
                <a:solidFill>
                  <a:srgbClr val="000066"/>
                </a:solidFill>
              </a:rPr>
              <a:t>     top=0;     }</a:t>
            </a:r>
          </a:p>
          <a:p>
            <a:pPr eaLnBrk="0" hangingPunct="0"/>
            <a:r>
              <a:rPr lang="en-US" sz="2100" b="1">
                <a:solidFill>
                  <a:srgbClr val="000066"/>
                </a:solidFill>
              </a:rPr>
              <a:t>void push(int v)     {</a:t>
            </a:r>
          </a:p>
          <a:p>
            <a:pPr eaLnBrk="0" hangingPunct="0"/>
            <a:r>
              <a:rPr lang="en-US" sz="2100" b="1">
                <a:solidFill>
                  <a:srgbClr val="000066"/>
                </a:solidFill>
              </a:rPr>
              <a:t>     st [++top]=v;     }</a:t>
            </a:r>
          </a:p>
          <a:p>
            <a:pPr eaLnBrk="0" hangingPunct="0"/>
            <a:r>
              <a:rPr lang="en-US" sz="2100" b="1">
                <a:solidFill>
                  <a:srgbClr val="000066"/>
                </a:solidFill>
              </a:rPr>
              <a:t>int pop()</a:t>
            </a:r>
          </a:p>
          <a:p>
            <a:pPr eaLnBrk="0" hangingPunct="0"/>
            <a:r>
              <a:rPr lang="en-US" sz="2100" b="1">
                <a:solidFill>
                  <a:srgbClr val="000066"/>
                </a:solidFill>
              </a:rPr>
              <a:t>     {</a:t>
            </a:r>
          </a:p>
          <a:p>
            <a:pPr eaLnBrk="0" hangingPunct="0"/>
            <a:r>
              <a:rPr lang="en-US" sz="2100" b="1">
                <a:solidFill>
                  <a:srgbClr val="000066"/>
                </a:solidFill>
              </a:rPr>
              <a:t>     return st[top--];</a:t>
            </a:r>
          </a:p>
          <a:p>
            <a:pPr eaLnBrk="0" hangingPunct="0"/>
            <a:r>
              <a:rPr lang="en-US" sz="2100" b="1">
                <a:solidFill>
                  <a:srgbClr val="000066"/>
                </a:solidFill>
              </a:rPr>
              <a:t>     }</a:t>
            </a:r>
          </a:p>
          <a:p>
            <a:pPr eaLnBrk="0" hangingPunct="0"/>
            <a:r>
              <a:rPr lang="en-US" sz="2100" b="1">
                <a:solidFill>
                  <a:srgbClr val="000066"/>
                </a:solidFill>
              </a:rPr>
              <a:t>};</a:t>
            </a:r>
            <a:endParaRPr lang="en-US" sz="2400" b="1">
              <a:solidFill>
                <a:srgbClr val="000066"/>
              </a:solidFill>
            </a:endParaRPr>
          </a:p>
        </p:txBody>
      </p:sp>
      <p:sp>
        <p:nvSpPr>
          <p:cNvPr id="11267" name="WordArt 3"/>
          <p:cNvSpPr>
            <a:spLocks noChangeArrowheads="1" noChangeShapeType="1" noTextEdit="1"/>
          </p:cNvSpPr>
          <p:nvPr/>
        </p:nvSpPr>
        <p:spPr bwMode="auto">
          <a:xfrm>
            <a:off x="609600" y="190500"/>
            <a:ext cx="8001000" cy="571500"/>
          </a:xfrm>
          <a:prstGeom prst="rect">
            <a:avLst/>
          </a:prstGeom>
        </p:spPr>
        <p:txBody>
          <a:bodyPr wrap="none" fromWordArt="1">
            <a:prstTxWarp prst="textPlain">
              <a:avLst>
                <a:gd name="adj" fmla="val 50000"/>
              </a:avLst>
            </a:prstTxWarp>
          </a:bodyPr>
          <a:lstStyle/>
          <a:p>
            <a:pPr algn="ctr"/>
            <a:r>
              <a:rPr lang="en-IN" sz="3600" b="1" i="1" kern="10">
                <a:ln w="9525">
                  <a:solidFill>
                    <a:srgbClr val="000000"/>
                  </a:solidFill>
                  <a:round/>
                  <a:headEnd/>
                  <a:tailEnd/>
                </a:ln>
                <a:solidFill>
                  <a:srgbClr val="0033CC"/>
                </a:solidFill>
                <a:latin typeface="Arial Black"/>
              </a:rPr>
              <a:t>ARRAY AS  CLASS MEMBER DATA</a:t>
            </a:r>
          </a:p>
        </p:txBody>
      </p:sp>
      <p:sp>
        <p:nvSpPr>
          <p:cNvPr id="11268" name="Rectangle 4"/>
          <p:cNvSpPr>
            <a:spLocks noChangeArrowheads="1"/>
          </p:cNvSpPr>
          <p:nvPr/>
        </p:nvSpPr>
        <p:spPr bwMode="auto">
          <a:xfrm>
            <a:off x="4171950" y="914400"/>
            <a:ext cx="4953000" cy="5553075"/>
          </a:xfrm>
          <a:prstGeom prst="rect">
            <a:avLst/>
          </a:prstGeom>
          <a:noFill/>
          <a:ln w="9525">
            <a:solidFill>
              <a:srgbClr val="FF66CC"/>
            </a:solidFill>
            <a:miter lim="800000"/>
            <a:headEnd/>
            <a:tailEnd/>
          </a:ln>
        </p:spPr>
        <p:txBody>
          <a:bodyPr>
            <a:spAutoFit/>
          </a:bodyPr>
          <a:lstStyle/>
          <a:p>
            <a:pPr eaLnBrk="0" hangingPunct="0"/>
            <a:r>
              <a:rPr lang="en-US" b="1">
                <a:solidFill>
                  <a:srgbClr val="000066"/>
                </a:solidFill>
                <a:latin typeface="Verdana" pitchFamily="34" charset="0"/>
              </a:rPr>
              <a:t>v</a:t>
            </a:r>
            <a:r>
              <a:rPr lang="en-US" sz="2100" b="1">
                <a:solidFill>
                  <a:srgbClr val="000066"/>
                </a:solidFill>
              </a:rPr>
              <a:t>oid main()</a:t>
            </a:r>
          </a:p>
          <a:p>
            <a:pPr eaLnBrk="0" hangingPunct="0"/>
            <a:r>
              <a:rPr lang="en-US" sz="2100" b="1">
                <a:solidFill>
                  <a:srgbClr val="000066"/>
                </a:solidFill>
              </a:rPr>
              <a:t>{</a:t>
            </a:r>
          </a:p>
          <a:p>
            <a:pPr eaLnBrk="0" hangingPunct="0"/>
            <a:r>
              <a:rPr lang="en-US" sz="2100" b="1">
                <a:solidFill>
                  <a:srgbClr val="000066"/>
                </a:solidFill>
              </a:rPr>
              <a:t>stack s1;</a:t>
            </a:r>
          </a:p>
          <a:p>
            <a:pPr eaLnBrk="0" hangingPunct="0"/>
            <a:r>
              <a:rPr lang="en-US" sz="2100" b="1">
                <a:solidFill>
                  <a:srgbClr val="000066"/>
                </a:solidFill>
              </a:rPr>
              <a:t>s1.push(11);</a:t>
            </a:r>
          </a:p>
          <a:p>
            <a:pPr eaLnBrk="0" hangingPunct="0"/>
            <a:r>
              <a:rPr lang="en-US" sz="2100" b="1">
                <a:solidFill>
                  <a:srgbClr val="000066"/>
                </a:solidFill>
              </a:rPr>
              <a:t>s1.push(22);</a:t>
            </a:r>
          </a:p>
          <a:p>
            <a:pPr eaLnBrk="0" hangingPunct="0"/>
            <a:r>
              <a:rPr lang="en-US" sz="2100" b="1">
                <a:solidFill>
                  <a:srgbClr val="000066"/>
                </a:solidFill>
              </a:rPr>
              <a:t>cout&lt;&lt;" Ist Data :"&lt;&lt;s1.pop(); cout&lt;&lt;" IInd Data :"&lt;&lt;s1.pop();</a:t>
            </a:r>
          </a:p>
          <a:p>
            <a:pPr eaLnBrk="0" hangingPunct="0"/>
            <a:r>
              <a:rPr lang="en-US" sz="2100" b="1">
                <a:solidFill>
                  <a:srgbClr val="000066"/>
                </a:solidFill>
              </a:rPr>
              <a:t>s1.push(33);</a:t>
            </a:r>
          </a:p>
          <a:p>
            <a:pPr eaLnBrk="0" hangingPunct="0"/>
            <a:r>
              <a:rPr lang="en-US" sz="2100" b="1">
                <a:solidFill>
                  <a:srgbClr val="000066"/>
                </a:solidFill>
              </a:rPr>
              <a:t>s1.push(44);</a:t>
            </a:r>
          </a:p>
          <a:p>
            <a:pPr eaLnBrk="0" hangingPunct="0"/>
            <a:r>
              <a:rPr lang="en-US" sz="2100" b="1">
                <a:solidFill>
                  <a:srgbClr val="000066"/>
                </a:solidFill>
              </a:rPr>
              <a:t>s1.push(55);</a:t>
            </a:r>
          </a:p>
          <a:p>
            <a:pPr eaLnBrk="0" hangingPunct="0"/>
            <a:r>
              <a:rPr lang="en-US" sz="2100" b="1">
                <a:solidFill>
                  <a:srgbClr val="000066"/>
                </a:solidFill>
              </a:rPr>
              <a:t>s1.push(66);</a:t>
            </a:r>
          </a:p>
          <a:p>
            <a:pPr eaLnBrk="0" hangingPunct="0"/>
            <a:r>
              <a:rPr lang="en-US" sz="2100" b="1">
                <a:solidFill>
                  <a:srgbClr val="000066"/>
                </a:solidFill>
              </a:rPr>
              <a:t>cout&lt;&lt;" III Data :"&lt;&lt;s1.pop()&lt;&lt;endl;</a:t>
            </a:r>
          </a:p>
          <a:p>
            <a:pPr eaLnBrk="0" hangingPunct="0"/>
            <a:r>
              <a:rPr lang="en-US" sz="2100" b="1">
                <a:solidFill>
                  <a:srgbClr val="000066"/>
                </a:solidFill>
              </a:rPr>
              <a:t>cout&lt;&lt;" IV Data :"&lt;&lt;s1.pop()&lt;&lt;endl;</a:t>
            </a:r>
          </a:p>
          <a:p>
            <a:pPr eaLnBrk="0" hangingPunct="0"/>
            <a:r>
              <a:rPr lang="en-US" sz="2100" b="1">
                <a:solidFill>
                  <a:srgbClr val="000066"/>
                </a:solidFill>
              </a:rPr>
              <a:t>cout&lt;&lt;" V Data :"&lt;&lt;s1.pop()&lt;&lt;endl;</a:t>
            </a:r>
          </a:p>
          <a:p>
            <a:pPr eaLnBrk="0" hangingPunct="0"/>
            <a:r>
              <a:rPr lang="en-US" sz="2100" b="1">
                <a:solidFill>
                  <a:srgbClr val="000066"/>
                </a:solidFill>
              </a:rPr>
              <a:t>cout&lt;&lt;" VI Data :"&lt;&lt;s1.pop()&lt;&lt;endl;</a:t>
            </a:r>
          </a:p>
          <a:p>
            <a:pPr eaLnBrk="0" hangingPunct="0"/>
            <a:r>
              <a:rPr lang="en-US" sz="2100" b="1">
                <a:solidFill>
                  <a:srgbClr val="000066"/>
                </a:solidFill>
              </a:rPr>
              <a:t>getch();</a:t>
            </a:r>
          </a:p>
          <a:p>
            <a:pPr eaLnBrk="0" hangingPunct="0"/>
            <a:r>
              <a:rPr lang="en-US" sz="2100" b="1">
                <a:solidFill>
                  <a:srgbClr val="000066"/>
                </a:solidFill>
              </a:rPr>
              <a:t>}</a:t>
            </a:r>
          </a:p>
        </p:txBody>
      </p:sp>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ChangeArrowheads="1"/>
          </p:cNvSpPr>
          <p:nvPr/>
        </p:nvSpPr>
        <p:spPr bwMode="auto">
          <a:xfrm>
            <a:off x="0" y="0"/>
            <a:ext cx="4572000" cy="6929438"/>
          </a:xfrm>
          <a:prstGeom prst="rect">
            <a:avLst/>
          </a:prstGeom>
          <a:noFill/>
          <a:ln w="9525">
            <a:solidFill>
              <a:srgbClr val="FF66CC"/>
            </a:solidFill>
            <a:miter lim="800000"/>
            <a:headEnd/>
            <a:tailEnd/>
          </a:ln>
        </p:spPr>
        <p:txBody>
          <a:bodyPr>
            <a:spAutoFit/>
          </a:bodyPr>
          <a:lstStyle/>
          <a:p>
            <a:pPr eaLnBrk="0" hangingPunct="0"/>
            <a:r>
              <a:rPr lang="en-US" sz="2800" b="1" u="sng">
                <a:solidFill>
                  <a:srgbClr val="000099"/>
                </a:solidFill>
              </a:rPr>
              <a:t>ARRAY OF OBJECTS  I</a:t>
            </a:r>
          </a:p>
          <a:p>
            <a:pPr eaLnBrk="0" hangingPunct="0"/>
            <a:r>
              <a:rPr lang="en-US" sz="2000" b="1">
                <a:solidFill>
                  <a:srgbClr val="000099"/>
                </a:solidFill>
              </a:rPr>
              <a:t>#include&lt;iostream.h&gt;</a:t>
            </a:r>
          </a:p>
          <a:p>
            <a:pPr eaLnBrk="0" hangingPunct="0"/>
            <a:r>
              <a:rPr lang="en-US" sz="2000" b="1">
                <a:solidFill>
                  <a:srgbClr val="000099"/>
                </a:solidFill>
              </a:rPr>
              <a:t>const int MAX=100;</a:t>
            </a:r>
          </a:p>
          <a:p>
            <a:pPr eaLnBrk="0" hangingPunct="0"/>
            <a:r>
              <a:rPr lang="en-US" sz="2000" b="1">
                <a:solidFill>
                  <a:srgbClr val="000099"/>
                </a:solidFill>
              </a:rPr>
              <a:t>class Distance</a:t>
            </a:r>
          </a:p>
          <a:p>
            <a:pPr eaLnBrk="0" hangingPunct="0"/>
            <a:r>
              <a:rPr lang="en-US" sz="2000" b="1">
                <a:solidFill>
                  <a:srgbClr val="000099"/>
                </a:solidFill>
              </a:rPr>
              <a:t>{</a:t>
            </a:r>
          </a:p>
          <a:p>
            <a:pPr eaLnBrk="0" hangingPunct="0"/>
            <a:r>
              <a:rPr lang="en-US" sz="2000" b="1">
                <a:solidFill>
                  <a:srgbClr val="000099"/>
                </a:solidFill>
              </a:rPr>
              <a:t>private:</a:t>
            </a:r>
          </a:p>
          <a:p>
            <a:pPr eaLnBrk="0" hangingPunct="0"/>
            <a:r>
              <a:rPr lang="en-US" sz="2000" b="1">
                <a:solidFill>
                  <a:srgbClr val="000099"/>
                </a:solidFill>
              </a:rPr>
              <a:t>	 int feet;</a:t>
            </a:r>
          </a:p>
          <a:p>
            <a:pPr eaLnBrk="0" hangingPunct="0"/>
            <a:r>
              <a:rPr lang="en-US" sz="2000" b="1">
                <a:solidFill>
                  <a:srgbClr val="000099"/>
                </a:solidFill>
              </a:rPr>
              <a:t>	float inches;</a:t>
            </a:r>
          </a:p>
          <a:p>
            <a:pPr eaLnBrk="0" hangingPunct="0"/>
            <a:r>
              <a:rPr lang="en-US" sz="2000" b="1">
                <a:solidFill>
                  <a:srgbClr val="000099"/>
                </a:solidFill>
              </a:rPr>
              <a:t>public :</a:t>
            </a:r>
          </a:p>
          <a:p>
            <a:pPr eaLnBrk="0" hangingPunct="0"/>
            <a:r>
              <a:rPr lang="en-US" sz="2000" b="1">
                <a:solidFill>
                  <a:srgbClr val="000099"/>
                </a:solidFill>
              </a:rPr>
              <a:t>	void get()</a:t>
            </a:r>
          </a:p>
          <a:p>
            <a:pPr eaLnBrk="0" hangingPunct="0"/>
            <a:r>
              <a:rPr lang="en-US" sz="2000" b="1">
                <a:solidFill>
                  <a:srgbClr val="000099"/>
                </a:solidFill>
              </a:rPr>
              <a:t>        {</a:t>
            </a:r>
          </a:p>
          <a:p>
            <a:pPr eaLnBrk="0" hangingPunct="0"/>
            <a:r>
              <a:rPr lang="en-US" sz="2000" b="1">
                <a:solidFill>
                  <a:srgbClr val="000099"/>
                </a:solidFill>
              </a:rPr>
              <a:t>        cout&lt;&lt;"\n Enter Feet Value :";</a:t>
            </a:r>
          </a:p>
          <a:p>
            <a:pPr eaLnBrk="0" hangingPunct="0"/>
            <a:r>
              <a:rPr lang="en-US" sz="2000" b="1">
                <a:solidFill>
                  <a:srgbClr val="000099"/>
                </a:solidFill>
              </a:rPr>
              <a:t>        cin&gt;&gt;feet;</a:t>
            </a:r>
          </a:p>
          <a:p>
            <a:pPr eaLnBrk="0" hangingPunct="0"/>
            <a:r>
              <a:rPr lang="en-US" sz="2000" b="1">
                <a:solidFill>
                  <a:srgbClr val="000099"/>
                </a:solidFill>
              </a:rPr>
              <a:t>        cout&lt;&lt;"\n Enter Inche Value :";</a:t>
            </a:r>
          </a:p>
          <a:p>
            <a:pPr eaLnBrk="0" hangingPunct="0"/>
            <a:r>
              <a:rPr lang="en-US" sz="2000" b="1">
                <a:solidFill>
                  <a:srgbClr val="000099"/>
                </a:solidFill>
              </a:rPr>
              <a:t>        cin&gt;&gt;inches;</a:t>
            </a:r>
          </a:p>
          <a:p>
            <a:pPr eaLnBrk="0" hangingPunct="0"/>
            <a:r>
              <a:rPr lang="en-US" sz="2000" b="1">
                <a:solidFill>
                  <a:srgbClr val="000099"/>
                </a:solidFill>
              </a:rPr>
              <a:t>        }</a:t>
            </a:r>
          </a:p>
          <a:p>
            <a:pPr eaLnBrk="0" hangingPunct="0"/>
            <a:r>
              <a:rPr lang="en-US" sz="2000" b="1">
                <a:solidFill>
                  <a:srgbClr val="000099"/>
                </a:solidFill>
              </a:rPr>
              <a:t>        void show()</a:t>
            </a:r>
          </a:p>
          <a:p>
            <a:pPr eaLnBrk="0" hangingPunct="0"/>
            <a:r>
              <a:rPr lang="en-US" sz="2000" b="1">
                <a:solidFill>
                  <a:srgbClr val="000099"/>
                </a:solidFill>
              </a:rPr>
              <a:t>        {</a:t>
            </a:r>
          </a:p>
          <a:p>
            <a:pPr eaLnBrk="0" hangingPunct="0"/>
            <a:r>
              <a:rPr lang="en-US" sz="2000" b="1">
                <a:solidFill>
                  <a:srgbClr val="000099"/>
                </a:solidFill>
              </a:rPr>
              <a:t>        cout&lt;&lt;feet&lt;&lt;"\t"&lt;&lt;inches&lt;&lt;endl;</a:t>
            </a:r>
          </a:p>
          <a:p>
            <a:pPr eaLnBrk="0" hangingPunct="0"/>
            <a:r>
              <a:rPr lang="en-US" sz="2000" b="1">
                <a:solidFill>
                  <a:srgbClr val="000099"/>
                </a:solidFill>
              </a:rPr>
              <a:t>        }</a:t>
            </a:r>
          </a:p>
          <a:p>
            <a:pPr eaLnBrk="0" hangingPunct="0"/>
            <a:r>
              <a:rPr lang="en-US" sz="2000" b="1">
                <a:solidFill>
                  <a:srgbClr val="000099"/>
                </a:solidFill>
              </a:rPr>
              <a:t>};</a:t>
            </a:r>
          </a:p>
        </p:txBody>
      </p:sp>
      <p:sp>
        <p:nvSpPr>
          <p:cNvPr id="12291" name="Rectangle 3"/>
          <p:cNvSpPr>
            <a:spLocks noChangeArrowheads="1"/>
          </p:cNvSpPr>
          <p:nvPr/>
        </p:nvSpPr>
        <p:spPr bwMode="auto">
          <a:xfrm>
            <a:off x="4572000" y="0"/>
            <a:ext cx="4572000" cy="6502400"/>
          </a:xfrm>
          <a:prstGeom prst="rect">
            <a:avLst/>
          </a:prstGeom>
          <a:noFill/>
          <a:ln w="9525">
            <a:solidFill>
              <a:srgbClr val="FF66CC"/>
            </a:solidFill>
            <a:miter lim="800000"/>
            <a:headEnd/>
            <a:tailEnd/>
          </a:ln>
        </p:spPr>
        <p:txBody>
          <a:bodyPr>
            <a:spAutoFit/>
          </a:bodyPr>
          <a:lstStyle/>
          <a:p>
            <a:pPr eaLnBrk="0" hangingPunct="0"/>
            <a:r>
              <a:rPr lang="en-US" sz="2000" b="1">
                <a:solidFill>
                  <a:srgbClr val="000099"/>
                </a:solidFill>
              </a:rPr>
              <a:t>void main()</a:t>
            </a:r>
          </a:p>
          <a:p>
            <a:pPr eaLnBrk="0" hangingPunct="0"/>
            <a:r>
              <a:rPr lang="en-US" sz="2000" b="1">
                <a:solidFill>
                  <a:srgbClr val="000099"/>
                </a:solidFill>
              </a:rPr>
              <a:t>{</a:t>
            </a:r>
          </a:p>
          <a:p>
            <a:pPr eaLnBrk="0" hangingPunct="0"/>
            <a:r>
              <a:rPr lang="en-US" sz="2000" b="1">
                <a:solidFill>
                  <a:srgbClr val="000099"/>
                </a:solidFill>
              </a:rPr>
              <a:t>Distance dist[MAX];</a:t>
            </a:r>
          </a:p>
          <a:p>
            <a:pPr eaLnBrk="0" hangingPunct="0"/>
            <a:r>
              <a:rPr lang="en-US" sz="2000" b="1">
                <a:solidFill>
                  <a:srgbClr val="000099"/>
                </a:solidFill>
              </a:rPr>
              <a:t>int n=0;</a:t>
            </a:r>
          </a:p>
          <a:p>
            <a:pPr eaLnBrk="0" hangingPunct="0"/>
            <a:r>
              <a:rPr lang="en-US" sz="2000" b="1">
                <a:solidFill>
                  <a:srgbClr val="000099"/>
                </a:solidFill>
              </a:rPr>
              <a:t>char ans;</a:t>
            </a:r>
          </a:p>
          <a:p>
            <a:pPr eaLnBrk="0" hangingPunct="0"/>
            <a:r>
              <a:rPr lang="en-US" sz="2000" b="1">
                <a:solidFill>
                  <a:srgbClr val="000099"/>
                </a:solidFill>
              </a:rPr>
              <a:t>cout&lt;&lt;endl;</a:t>
            </a:r>
          </a:p>
          <a:p>
            <a:pPr eaLnBrk="0" hangingPunct="0"/>
            <a:r>
              <a:rPr lang="en-US" sz="2000" b="1">
                <a:solidFill>
                  <a:srgbClr val="000099"/>
                </a:solidFill>
              </a:rPr>
              <a:t>do</a:t>
            </a:r>
          </a:p>
          <a:p>
            <a:pPr eaLnBrk="0" hangingPunct="0"/>
            <a:r>
              <a:rPr lang="en-US" sz="2000" b="1">
                <a:solidFill>
                  <a:srgbClr val="000099"/>
                </a:solidFill>
              </a:rPr>
              <a:t>{</a:t>
            </a:r>
          </a:p>
          <a:p>
            <a:pPr eaLnBrk="0" hangingPunct="0"/>
            <a:r>
              <a:rPr lang="en-US" sz="2000" b="1">
                <a:solidFill>
                  <a:srgbClr val="000099"/>
                </a:solidFill>
              </a:rPr>
              <a:t>cout&lt;&lt;"\n Enter Distance  "&lt;&lt;n+1;</a:t>
            </a:r>
          </a:p>
          <a:p>
            <a:pPr eaLnBrk="0" hangingPunct="0"/>
            <a:r>
              <a:rPr lang="en-US" sz="2000" b="1">
                <a:solidFill>
                  <a:srgbClr val="000099"/>
                </a:solidFill>
              </a:rPr>
              <a:t>dist[n++].get();</a:t>
            </a:r>
          </a:p>
          <a:p>
            <a:pPr eaLnBrk="0" hangingPunct="0"/>
            <a:r>
              <a:rPr lang="en-US" sz="2000" b="1">
                <a:solidFill>
                  <a:srgbClr val="000099"/>
                </a:solidFill>
              </a:rPr>
              <a:t>cout&lt;&lt;"\n Another Data [y/n]?";</a:t>
            </a:r>
          </a:p>
          <a:p>
            <a:pPr eaLnBrk="0" hangingPunct="0"/>
            <a:r>
              <a:rPr lang="en-US" sz="2000" b="1">
                <a:solidFill>
                  <a:srgbClr val="000099"/>
                </a:solidFill>
              </a:rPr>
              <a:t>cin&gt;&gt;ans;</a:t>
            </a:r>
          </a:p>
          <a:p>
            <a:pPr eaLnBrk="0" hangingPunct="0"/>
            <a:r>
              <a:rPr lang="en-US" sz="2000" b="1">
                <a:solidFill>
                  <a:srgbClr val="000099"/>
                </a:solidFill>
              </a:rPr>
              <a:t>}while(ans != 'n');</a:t>
            </a:r>
          </a:p>
          <a:p>
            <a:pPr eaLnBrk="0" hangingPunct="0"/>
            <a:endParaRPr lang="en-US" sz="2000" b="1">
              <a:solidFill>
                <a:srgbClr val="000099"/>
              </a:solidFill>
            </a:endParaRPr>
          </a:p>
          <a:p>
            <a:pPr eaLnBrk="0" hangingPunct="0"/>
            <a:r>
              <a:rPr lang="en-US" sz="2000" b="1">
                <a:solidFill>
                  <a:srgbClr val="000099"/>
                </a:solidFill>
              </a:rPr>
              <a:t>for(int j=0;j&lt;n;j++)</a:t>
            </a:r>
          </a:p>
          <a:p>
            <a:pPr eaLnBrk="0" hangingPunct="0"/>
            <a:r>
              <a:rPr lang="en-US" sz="2000" b="1">
                <a:solidFill>
                  <a:srgbClr val="000099"/>
                </a:solidFill>
              </a:rPr>
              <a:t>{</a:t>
            </a:r>
          </a:p>
          <a:p>
            <a:pPr eaLnBrk="0" hangingPunct="0"/>
            <a:r>
              <a:rPr lang="en-US" sz="2000" b="1">
                <a:solidFill>
                  <a:srgbClr val="000099"/>
                </a:solidFill>
              </a:rPr>
              <a:t>cout&lt;&lt;"Distance Number "&lt;&lt;j+1&lt;&lt;" Is  ";</a:t>
            </a:r>
          </a:p>
          <a:p>
            <a:pPr eaLnBrk="0" hangingPunct="0"/>
            <a:r>
              <a:rPr lang="en-US" sz="2000" b="1">
                <a:solidFill>
                  <a:srgbClr val="000099"/>
                </a:solidFill>
              </a:rPr>
              <a:t>dist[j].show();</a:t>
            </a:r>
          </a:p>
          <a:p>
            <a:pPr eaLnBrk="0" hangingPunct="0"/>
            <a:r>
              <a:rPr lang="en-US" sz="2000" b="1">
                <a:solidFill>
                  <a:srgbClr val="000099"/>
                </a:solidFill>
              </a:rPr>
              <a:t>}</a:t>
            </a:r>
          </a:p>
          <a:p>
            <a:pPr eaLnBrk="0" hangingPunct="0"/>
            <a:r>
              <a:rPr lang="en-US" sz="2000" b="1">
                <a:solidFill>
                  <a:srgbClr val="000099"/>
                </a:solidFill>
              </a:rPr>
              <a:t>}</a:t>
            </a:r>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Footer Placeholder 2"/>
          <p:cNvSpPr>
            <a:spLocks noGrp="1"/>
          </p:cNvSpPr>
          <p:nvPr>
            <p:ph type="ftr" sz="quarter" idx="11"/>
          </p:nvPr>
        </p:nvSpPr>
        <p:spPr>
          <a:noFill/>
        </p:spPr>
        <p:txBody>
          <a:bodyPr/>
          <a:lstStyle/>
          <a:p>
            <a:r>
              <a:rPr lang="en-US" smtClean="0">
                <a:latin typeface="Arial" pitchFamily="34" charset="0"/>
              </a:rPr>
              <a:t>CSC COMPUTER EDUCATION, Kodungaiyur,Ch-118</a:t>
            </a:r>
          </a:p>
        </p:txBody>
      </p:sp>
      <p:sp>
        <p:nvSpPr>
          <p:cNvPr id="15362" name="Rectangle 2"/>
          <p:cNvSpPr>
            <a:spLocks noRot="1" noChangeArrowheads="1"/>
          </p:cNvSpPr>
          <p:nvPr/>
        </p:nvSpPr>
        <p:spPr bwMode="auto">
          <a:xfrm>
            <a:off x="762000" y="0"/>
            <a:ext cx="8081963" cy="762000"/>
          </a:xfrm>
          <a:prstGeom prst="rect">
            <a:avLst/>
          </a:prstGeom>
          <a:noFill/>
          <a:ln w="9525">
            <a:noFill/>
            <a:miter lim="800000"/>
            <a:headEnd/>
            <a:tailEnd/>
          </a:ln>
        </p:spPr>
        <p:txBody>
          <a:bodyPr lIns="98225" tIns="49112" rIns="98225" bIns="49112" anchor="ctr"/>
          <a:lstStyle/>
          <a:p>
            <a:pPr algn="ctr"/>
            <a:r>
              <a:rPr lang="en-US" sz="4300" b="1">
                <a:solidFill>
                  <a:srgbClr val="663300"/>
                </a:solidFill>
              </a:rPr>
              <a:t>ARRAY OF OBJECTS  II</a:t>
            </a:r>
          </a:p>
        </p:txBody>
      </p:sp>
      <p:sp>
        <p:nvSpPr>
          <p:cNvPr id="15363" name="Text Box 3" descr="Walnut"/>
          <p:cNvSpPr txBox="1">
            <a:spLocks noChangeArrowheads="1"/>
          </p:cNvSpPr>
          <p:nvPr/>
        </p:nvSpPr>
        <p:spPr bwMode="auto">
          <a:xfrm>
            <a:off x="228600" y="838200"/>
            <a:ext cx="3657600" cy="5751513"/>
          </a:xfrm>
          <a:prstGeom prst="rect">
            <a:avLst/>
          </a:prstGeom>
          <a:blipFill dpi="0" rotWithShape="1">
            <a:blip r:embed="rId2"/>
            <a:srcRect/>
            <a:tile tx="0" ty="0" sx="100000" sy="100000" flip="none" algn="tl"/>
          </a:blipFill>
          <a:ln w="9525">
            <a:noFill/>
            <a:miter lim="800000"/>
            <a:headEnd/>
            <a:tailEnd/>
          </a:ln>
        </p:spPr>
        <p:txBody>
          <a:bodyPr lIns="91437" tIns="45719" rIns="91437" bIns="45719">
            <a:spAutoFit/>
          </a:bodyPr>
          <a:lstStyle/>
          <a:p>
            <a:pPr>
              <a:spcBef>
                <a:spcPct val="50000"/>
              </a:spcBef>
            </a:pPr>
            <a:r>
              <a:rPr lang="en-US" sz="2400" b="1">
                <a:solidFill>
                  <a:schemeClr val="bg1"/>
                </a:solidFill>
                <a:latin typeface="Times New Roman" pitchFamily="18" charset="0"/>
              </a:rPr>
              <a:t>#include&lt;iostream.h&gt;</a:t>
            </a:r>
          </a:p>
          <a:p>
            <a:pPr>
              <a:spcBef>
                <a:spcPct val="50000"/>
              </a:spcBef>
            </a:pPr>
            <a:r>
              <a:rPr lang="en-US" sz="2400" b="1">
                <a:solidFill>
                  <a:schemeClr val="bg1"/>
                </a:solidFill>
                <a:latin typeface="Times New Roman" pitchFamily="18" charset="0"/>
              </a:rPr>
              <a:t>#include&lt;conio.h&gt;</a:t>
            </a:r>
          </a:p>
          <a:p>
            <a:pPr>
              <a:spcBef>
                <a:spcPct val="50000"/>
              </a:spcBef>
            </a:pPr>
            <a:r>
              <a:rPr lang="en-US" sz="2400" b="1">
                <a:solidFill>
                  <a:schemeClr val="bg1"/>
                </a:solidFill>
                <a:latin typeface="Times New Roman" pitchFamily="18" charset="0"/>
              </a:rPr>
              <a:t>class circle {</a:t>
            </a:r>
          </a:p>
          <a:p>
            <a:pPr>
              <a:spcBef>
                <a:spcPct val="50000"/>
              </a:spcBef>
            </a:pPr>
            <a:r>
              <a:rPr lang="en-US" sz="2400" b="1">
                <a:solidFill>
                  <a:schemeClr val="bg1"/>
                </a:solidFill>
                <a:latin typeface="Times New Roman" pitchFamily="18" charset="0"/>
              </a:rPr>
              <a:t>private:</a:t>
            </a:r>
          </a:p>
          <a:p>
            <a:pPr>
              <a:spcBef>
                <a:spcPct val="50000"/>
              </a:spcBef>
            </a:pPr>
            <a:r>
              <a:rPr lang="en-US" sz="2400" b="1">
                <a:solidFill>
                  <a:schemeClr val="bg1"/>
                </a:solidFill>
                <a:latin typeface="Times New Roman" pitchFamily="18" charset="0"/>
              </a:rPr>
              <a:t>int area, radius;</a:t>
            </a:r>
          </a:p>
          <a:p>
            <a:pPr>
              <a:spcBef>
                <a:spcPct val="50000"/>
              </a:spcBef>
            </a:pPr>
            <a:r>
              <a:rPr lang="en-US" sz="2400" b="1">
                <a:solidFill>
                  <a:schemeClr val="bg1"/>
                </a:solidFill>
                <a:latin typeface="Times New Roman" pitchFamily="18" charset="0"/>
              </a:rPr>
              <a:t>public:</a:t>
            </a:r>
          </a:p>
          <a:p>
            <a:pPr>
              <a:spcBef>
                <a:spcPct val="50000"/>
              </a:spcBef>
            </a:pPr>
            <a:r>
              <a:rPr lang="en-US" sz="2400" b="1">
                <a:solidFill>
                  <a:schemeClr val="bg1"/>
                </a:solidFill>
                <a:latin typeface="Times New Roman" pitchFamily="18" charset="0"/>
              </a:rPr>
              <a:t>void getdata() {</a:t>
            </a:r>
          </a:p>
          <a:p>
            <a:pPr>
              <a:spcBef>
                <a:spcPct val="50000"/>
              </a:spcBef>
            </a:pPr>
            <a:r>
              <a:rPr lang="en-US" sz="2400" b="1">
                <a:solidFill>
                  <a:schemeClr val="bg1"/>
                </a:solidFill>
                <a:latin typeface="Times New Roman" pitchFamily="18" charset="0"/>
              </a:rPr>
              <a:t>cout&lt;&lt;"Enter the radius value"&lt;&lt;endl;</a:t>
            </a:r>
          </a:p>
          <a:p>
            <a:pPr>
              <a:spcBef>
                <a:spcPct val="50000"/>
              </a:spcBef>
            </a:pPr>
            <a:r>
              <a:rPr lang="en-US" sz="2400" b="1">
                <a:solidFill>
                  <a:schemeClr val="bg1"/>
                </a:solidFill>
                <a:latin typeface="Times New Roman" pitchFamily="18" charset="0"/>
              </a:rPr>
              <a:t>cin&gt;&gt;radius;</a:t>
            </a:r>
          </a:p>
          <a:p>
            <a:pPr>
              <a:spcBef>
                <a:spcPct val="50000"/>
              </a:spcBef>
              <a:spcAft>
                <a:spcPct val="80000"/>
              </a:spcAft>
            </a:pPr>
            <a:r>
              <a:rPr lang="en-US" sz="2400" b="1">
                <a:solidFill>
                  <a:schemeClr val="bg1"/>
                </a:solidFill>
                <a:latin typeface="Times New Roman" pitchFamily="18" charset="0"/>
              </a:rPr>
              <a:t>}</a:t>
            </a:r>
          </a:p>
        </p:txBody>
      </p:sp>
      <p:sp>
        <p:nvSpPr>
          <p:cNvPr id="15364" name="Text Box 4" descr="Walnut"/>
          <p:cNvSpPr txBox="1">
            <a:spLocks noChangeArrowheads="1"/>
          </p:cNvSpPr>
          <p:nvPr/>
        </p:nvSpPr>
        <p:spPr bwMode="auto">
          <a:xfrm>
            <a:off x="4114800" y="762000"/>
            <a:ext cx="4953000" cy="5934075"/>
          </a:xfrm>
          <a:prstGeom prst="rect">
            <a:avLst/>
          </a:prstGeom>
          <a:blipFill dpi="0" rotWithShape="1">
            <a:blip r:embed="rId2"/>
            <a:srcRect/>
            <a:tile tx="0" ty="0" sx="100000" sy="100000" flip="none" algn="tl"/>
          </a:blipFill>
          <a:ln w="9525">
            <a:noFill/>
            <a:miter lim="800000"/>
            <a:headEnd/>
            <a:tailEnd/>
          </a:ln>
        </p:spPr>
        <p:txBody>
          <a:bodyPr lIns="91437" tIns="45719" rIns="91437" bIns="45719">
            <a:spAutoFit/>
          </a:bodyPr>
          <a:lstStyle/>
          <a:p>
            <a:pPr eaLnBrk="0" hangingPunct="0"/>
            <a:r>
              <a:rPr lang="en-US" sz="2400" b="1">
                <a:solidFill>
                  <a:schemeClr val="bg1"/>
                </a:solidFill>
                <a:latin typeface="Times New Roman" pitchFamily="18" charset="0"/>
              </a:rPr>
              <a:t>void calculate() {</a:t>
            </a:r>
          </a:p>
          <a:p>
            <a:pPr eaLnBrk="0" hangingPunct="0"/>
            <a:r>
              <a:rPr lang="en-US" sz="2400" b="1">
                <a:solidFill>
                  <a:schemeClr val="bg1"/>
                </a:solidFill>
                <a:latin typeface="Times New Roman" pitchFamily="18" charset="0"/>
              </a:rPr>
              <a:t>area=3.14*radius*radius;</a:t>
            </a:r>
          </a:p>
          <a:p>
            <a:pPr eaLnBrk="0" hangingPunct="0"/>
            <a:r>
              <a:rPr lang="en-US" sz="2400" b="1">
                <a:solidFill>
                  <a:schemeClr val="bg1"/>
                </a:solidFill>
                <a:latin typeface="Times New Roman" pitchFamily="18" charset="0"/>
              </a:rPr>
              <a:t>}</a:t>
            </a:r>
          </a:p>
          <a:p>
            <a:pPr eaLnBrk="0" hangingPunct="0"/>
            <a:r>
              <a:rPr lang="en-US" sz="2400" b="1">
                <a:solidFill>
                  <a:schemeClr val="bg1"/>
                </a:solidFill>
                <a:latin typeface="Times New Roman" pitchFamily="18" charset="0"/>
              </a:rPr>
              <a:t>void show() {</a:t>
            </a:r>
          </a:p>
          <a:p>
            <a:pPr eaLnBrk="0" hangingPunct="0"/>
            <a:r>
              <a:rPr lang="en-US" sz="2400" b="1">
                <a:solidFill>
                  <a:schemeClr val="bg1"/>
                </a:solidFill>
                <a:latin typeface="Times New Roman" pitchFamily="18" charset="0"/>
              </a:rPr>
              <a:t>cout&lt;&lt;"the area is "&lt;&lt;area&lt;&lt;endl;</a:t>
            </a:r>
          </a:p>
          <a:p>
            <a:pPr eaLnBrk="0" hangingPunct="0"/>
            <a:r>
              <a:rPr lang="en-US" sz="2400" b="1">
                <a:solidFill>
                  <a:schemeClr val="bg1"/>
                </a:solidFill>
                <a:latin typeface="Times New Roman" pitchFamily="18" charset="0"/>
              </a:rPr>
              <a:t>}</a:t>
            </a:r>
          </a:p>
          <a:p>
            <a:pPr eaLnBrk="0" hangingPunct="0"/>
            <a:r>
              <a:rPr lang="en-US" sz="2400" b="1">
                <a:solidFill>
                  <a:schemeClr val="bg1"/>
                </a:solidFill>
                <a:latin typeface="Times New Roman" pitchFamily="18" charset="0"/>
              </a:rPr>
              <a:t>};</a:t>
            </a:r>
          </a:p>
          <a:p>
            <a:pPr eaLnBrk="0" hangingPunct="0"/>
            <a:r>
              <a:rPr lang="en-US" sz="2400" b="1">
                <a:solidFill>
                  <a:schemeClr val="bg1"/>
                </a:solidFill>
                <a:latin typeface="Times New Roman" pitchFamily="18" charset="0"/>
              </a:rPr>
              <a:t>void main() {</a:t>
            </a:r>
          </a:p>
          <a:p>
            <a:pPr eaLnBrk="0" hangingPunct="0"/>
            <a:r>
              <a:rPr lang="en-US" sz="2400" b="1">
                <a:solidFill>
                  <a:schemeClr val="bg1"/>
                </a:solidFill>
                <a:latin typeface="Times New Roman" pitchFamily="18" charset="0"/>
              </a:rPr>
              <a:t>int i;</a:t>
            </a:r>
          </a:p>
          <a:p>
            <a:pPr eaLnBrk="0" hangingPunct="0"/>
            <a:r>
              <a:rPr lang="en-US" sz="2400" b="1">
                <a:solidFill>
                  <a:schemeClr val="bg1"/>
                </a:solidFill>
                <a:latin typeface="Times New Roman" pitchFamily="18" charset="0"/>
              </a:rPr>
              <a:t>circle e[5];</a:t>
            </a:r>
          </a:p>
          <a:p>
            <a:pPr eaLnBrk="0" hangingPunct="0"/>
            <a:r>
              <a:rPr lang="en-US" sz="2400" b="1">
                <a:solidFill>
                  <a:schemeClr val="bg1"/>
                </a:solidFill>
                <a:latin typeface="Times New Roman" pitchFamily="18" charset="0"/>
              </a:rPr>
              <a:t>for(i=0;i&lt;5;i++) </a:t>
            </a:r>
          </a:p>
          <a:p>
            <a:pPr eaLnBrk="0" hangingPunct="0"/>
            <a:r>
              <a:rPr lang="en-US" sz="2400" b="1">
                <a:solidFill>
                  <a:schemeClr val="bg1"/>
                </a:solidFill>
                <a:latin typeface="Times New Roman" pitchFamily="18" charset="0"/>
              </a:rPr>
              <a:t>{</a:t>
            </a:r>
          </a:p>
          <a:p>
            <a:pPr eaLnBrk="0" hangingPunct="0"/>
            <a:r>
              <a:rPr lang="en-US" sz="2400" b="1">
                <a:solidFill>
                  <a:schemeClr val="bg1"/>
                </a:solidFill>
                <a:latin typeface="Times New Roman" pitchFamily="18" charset="0"/>
              </a:rPr>
              <a:t>e[i].getdata();</a:t>
            </a:r>
          </a:p>
          <a:p>
            <a:pPr eaLnBrk="0" hangingPunct="0"/>
            <a:r>
              <a:rPr lang="en-US" sz="2400" b="1">
                <a:solidFill>
                  <a:schemeClr val="bg1"/>
                </a:solidFill>
                <a:latin typeface="Times New Roman" pitchFamily="18" charset="0"/>
              </a:rPr>
              <a:t>e[i].calculate();</a:t>
            </a:r>
          </a:p>
          <a:p>
            <a:pPr eaLnBrk="0" hangingPunct="0"/>
            <a:r>
              <a:rPr lang="en-US" sz="2400" b="1">
                <a:solidFill>
                  <a:schemeClr val="bg1"/>
                </a:solidFill>
                <a:latin typeface="Times New Roman" pitchFamily="18" charset="0"/>
              </a:rPr>
              <a:t>e[i].show(); }</a:t>
            </a:r>
          </a:p>
          <a:p>
            <a:pPr eaLnBrk="0" hangingPunct="0"/>
            <a:r>
              <a:rPr lang="en-US" sz="2400" b="1">
                <a:solidFill>
                  <a:schemeClr val="bg1"/>
                </a:solidFill>
                <a:latin typeface="Times New Roman" pitchFamily="18" charset="0"/>
              </a:rPr>
              <a:t> getch();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5362"/>
                                        </p:tgtEl>
                                        <p:attrNameLst>
                                          <p:attrName>style.visibility</p:attrName>
                                        </p:attrNameLst>
                                      </p:cBhvr>
                                      <p:to>
                                        <p:strVal val="visible"/>
                                      </p:to>
                                    </p:set>
                                    <p:anim calcmode="lin" valueType="num">
                                      <p:cBhvr additive="base">
                                        <p:cTn id="7" dur="500" fill="hold"/>
                                        <p:tgtEl>
                                          <p:spTgt spid="15362"/>
                                        </p:tgtEl>
                                        <p:attrNameLst>
                                          <p:attrName>ppt_x</p:attrName>
                                        </p:attrNameLst>
                                      </p:cBhvr>
                                      <p:tavLst>
                                        <p:tav tm="0">
                                          <p:val>
                                            <p:strVal val="0-#ppt_w/2"/>
                                          </p:val>
                                        </p:tav>
                                        <p:tav tm="100000">
                                          <p:val>
                                            <p:strVal val="#ppt_x"/>
                                          </p:val>
                                        </p:tav>
                                      </p:tavLst>
                                    </p:anim>
                                    <p:anim calcmode="lin" valueType="num">
                                      <p:cBhvr additive="base">
                                        <p:cTn id="8" dur="500" fill="hold"/>
                                        <p:tgtEl>
                                          <p:spTgt spid="1536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5363"/>
                                        </p:tgtEl>
                                        <p:attrNameLst>
                                          <p:attrName>style.visibility</p:attrName>
                                        </p:attrNameLst>
                                      </p:cBhvr>
                                      <p:to>
                                        <p:strVal val="visible"/>
                                      </p:to>
                                    </p:set>
                                    <p:anim calcmode="lin" valueType="num">
                                      <p:cBhvr additive="base">
                                        <p:cTn id="11" dur="500" fill="hold"/>
                                        <p:tgtEl>
                                          <p:spTgt spid="15363"/>
                                        </p:tgtEl>
                                        <p:attrNameLst>
                                          <p:attrName>ppt_x</p:attrName>
                                        </p:attrNameLst>
                                      </p:cBhvr>
                                      <p:tavLst>
                                        <p:tav tm="0">
                                          <p:val>
                                            <p:strVal val="0-#ppt_w/2"/>
                                          </p:val>
                                        </p:tav>
                                        <p:tav tm="100000">
                                          <p:val>
                                            <p:strVal val="#ppt_x"/>
                                          </p:val>
                                        </p:tav>
                                      </p:tavLst>
                                    </p:anim>
                                    <p:anim calcmode="lin" valueType="num">
                                      <p:cBhvr additive="base">
                                        <p:cTn id="12" dur="500" fill="hold"/>
                                        <p:tgtEl>
                                          <p:spTgt spid="15363"/>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5364"/>
                                        </p:tgtEl>
                                        <p:attrNameLst>
                                          <p:attrName>style.visibility</p:attrName>
                                        </p:attrNameLst>
                                      </p:cBhvr>
                                      <p:to>
                                        <p:strVal val="visible"/>
                                      </p:to>
                                    </p:set>
                                    <p:anim calcmode="lin" valueType="num">
                                      <p:cBhvr additive="base">
                                        <p:cTn id="15" dur="500" fill="hold"/>
                                        <p:tgtEl>
                                          <p:spTgt spid="15364"/>
                                        </p:tgtEl>
                                        <p:attrNameLst>
                                          <p:attrName>ppt_x</p:attrName>
                                        </p:attrNameLst>
                                      </p:cBhvr>
                                      <p:tavLst>
                                        <p:tav tm="0">
                                          <p:val>
                                            <p:strVal val="0-#ppt_w/2"/>
                                          </p:val>
                                        </p:tav>
                                        <p:tav tm="100000">
                                          <p:val>
                                            <p:strVal val="#ppt_x"/>
                                          </p:val>
                                        </p:tav>
                                      </p:tavLst>
                                    </p:anim>
                                    <p:anim calcmode="lin" valueType="num">
                                      <p:cBhvr additive="base">
                                        <p:cTn id="16" dur="500" fill="hold"/>
                                        <p:tgtEl>
                                          <p:spTgt spid="1536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autoUpdateAnimBg="0"/>
      <p:bldP spid="15363" grpId="0" animBg="1" autoUpdateAnimBg="0"/>
      <p:bldP spid="15364" grpId="0" animBg="1" autoUpdateAnimBg="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2" descr="Walnut"/>
          <p:cNvSpPr txBox="1">
            <a:spLocks noChangeArrowheads="1"/>
          </p:cNvSpPr>
          <p:nvPr/>
        </p:nvSpPr>
        <p:spPr bwMode="auto">
          <a:xfrm>
            <a:off x="2514600" y="457200"/>
            <a:ext cx="3657600" cy="5935663"/>
          </a:xfrm>
          <a:prstGeom prst="rect">
            <a:avLst/>
          </a:prstGeom>
          <a:blipFill dpi="0" rotWithShape="1">
            <a:blip r:embed="rId2"/>
            <a:srcRect/>
            <a:tile tx="0" ty="0" sx="100000" sy="100000" flip="none" algn="tl"/>
          </a:blipFill>
          <a:ln w="9525">
            <a:noFill/>
            <a:miter lim="800000"/>
            <a:headEnd/>
            <a:tailEnd/>
          </a:ln>
        </p:spPr>
        <p:txBody>
          <a:bodyPr lIns="91437" tIns="45719" rIns="91437" bIns="45719">
            <a:spAutoFit/>
          </a:bodyPr>
          <a:lstStyle/>
          <a:p>
            <a:pPr algn="ctr">
              <a:spcBef>
                <a:spcPct val="50000"/>
              </a:spcBef>
            </a:pPr>
            <a:r>
              <a:rPr lang="en-US" sz="3600" b="1" u="sng">
                <a:solidFill>
                  <a:schemeClr val="bg1"/>
                </a:solidFill>
                <a:latin typeface="Tahoma" pitchFamily="34" charset="0"/>
              </a:rPr>
              <a:t>Output</a:t>
            </a:r>
            <a:endParaRPr lang="en-US" sz="4800" b="1" u="sng">
              <a:solidFill>
                <a:schemeClr val="bg1"/>
              </a:solidFill>
              <a:latin typeface="Times New Roman" pitchFamily="18" charset="0"/>
            </a:endParaRPr>
          </a:p>
          <a:p>
            <a:pPr>
              <a:spcBef>
                <a:spcPct val="50000"/>
              </a:spcBef>
            </a:pPr>
            <a:r>
              <a:rPr lang="en-US" sz="2400" b="1">
                <a:solidFill>
                  <a:schemeClr val="bg1"/>
                </a:solidFill>
                <a:latin typeface="Times New Roman" pitchFamily="18" charset="0"/>
              </a:rPr>
              <a:t>Enter the radius value  1</a:t>
            </a:r>
          </a:p>
          <a:p>
            <a:pPr>
              <a:spcBef>
                <a:spcPct val="50000"/>
              </a:spcBef>
            </a:pPr>
            <a:r>
              <a:rPr lang="en-US" sz="2400" b="1">
                <a:solidFill>
                  <a:schemeClr val="bg1"/>
                </a:solidFill>
                <a:latin typeface="Times New Roman" pitchFamily="18" charset="0"/>
              </a:rPr>
              <a:t>The area is 3</a:t>
            </a:r>
          </a:p>
          <a:p>
            <a:pPr>
              <a:spcBef>
                <a:spcPct val="50000"/>
              </a:spcBef>
            </a:pPr>
            <a:r>
              <a:rPr lang="en-US" sz="2400" b="1">
                <a:solidFill>
                  <a:schemeClr val="bg1"/>
                </a:solidFill>
                <a:latin typeface="Times New Roman" pitchFamily="18" charset="0"/>
              </a:rPr>
              <a:t>Enter the radius value 2</a:t>
            </a:r>
          </a:p>
          <a:p>
            <a:pPr>
              <a:spcBef>
                <a:spcPct val="50000"/>
              </a:spcBef>
            </a:pPr>
            <a:r>
              <a:rPr lang="en-US" sz="2400" b="1">
                <a:solidFill>
                  <a:schemeClr val="bg1"/>
                </a:solidFill>
                <a:latin typeface="Times New Roman" pitchFamily="18" charset="0"/>
              </a:rPr>
              <a:t>The area is 12</a:t>
            </a:r>
          </a:p>
          <a:p>
            <a:pPr>
              <a:spcBef>
                <a:spcPct val="50000"/>
              </a:spcBef>
            </a:pPr>
            <a:r>
              <a:rPr lang="en-US" sz="2400" b="1">
                <a:solidFill>
                  <a:schemeClr val="bg1"/>
                </a:solidFill>
                <a:latin typeface="Times New Roman" pitchFamily="18" charset="0"/>
              </a:rPr>
              <a:t>Enter the radius value 3</a:t>
            </a:r>
          </a:p>
          <a:p>
            <a:pPr>
              <a:spcBef>
                <a:spcPct val="50000"/>
              </a:spcBef>
            </a:pPr>
            <a:r>
              <a:rPr lang="en-US" sz="2400" b="1">
                <a:solidFill>
                  <a:schemeClr val="bg1"/>
                </a:solidFill>
                <a:latin typeface="Times New Roman" pitchFamily="18" charset="0"/>
              </a:rPr>
              <a:t>The area is 28</a:t>
            </a:r>
          </a:p>
          <a:p>
            <a:pPr>
              <a:spcBef>
                <a:spcPct val="50000"/>
              </a:spcBef>
            </a:pPr>
            <a:r>
              <a:rPr lang="en-US" sz="2400" b="1">
                <a:solidFill>
                  <a:schemeClr val="bg1"/>
                </a:solidFill>
                <a:latin typeface="Times New Roman" pitchFamily="18" charset="0"/>
              </a:rPr>
              <a:t>Enter the radius value 4</a:t>
            </a:r>
          </a:p>
          <a:p>
            <a:pPr>
              <a:spcBef>
                <a:spcPct val="50000"/>
              </a:spcBef>
            </a:pPr>
            <a:r>
              <a:rPr lang="en-US" sz="2400" b="1">
                <a:solidFill>
                  <a:schemeClr val="bg1"/>
                </a:solidFill>
                <a:latin typeface="Times New Roman" pitchFamily="18" charset="0"/>
              </a:rPr>
              <a:t>The area is 50</a:t>
            </a:r>
          </a:p>
          <a:p>
            <a:pPr>
              <a:spcBef>
                <a:spcPct val="50000"/>
              </a:spcBef>
            </a:pPr>
            <a:r>
              <a:rPr lang="en-US" sz="2400" b="1">
                <a:solidFill>
                  <a:schemeClr val="bg1"/>
                </a:solidFill>
                <a:latin typeface="Times New Roman" pitchFamily="18" charset="0"/>
              </a:rPr>
              <a:t>Enter the radius value 4</a:t>
            </a:r>
          </a:p>
          <a:p>
            <a:pPr eaLnBrk="0" hangingPunct="0"/>
            <a:r>
              <a:rPr lang="en-US" sz="2400" b="1">
                <a:solidFill>
                  <a:schemeClr val="bg1"/>
                </a:solidFill>
                <a:latin typeface="Times New Roman" pitchFamily="18" charset="0"/>
              </a:rPr>
              <a:t>The area is 50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6386"/>
                                        </p:tgtEl>
                                        <p:attrNameLst>
                                          <p:attrName>style.visibility</p:attrName>
                                        </p:attrNameLst>
                                      </p:cBhvr>
                                      <p:to>
                                        <p:strVal val="visible"/>
                                      </p:to>
                                    </p:set>
                                    <p:anim calcmode="lin" valueType="num">
                                      <p:cBhvr additive="base">
                                        <p:cTn id="7" dur="500" fill="hold"/>
                                        <p:tgtEl>
                                          <p:spTgt spid="16386"/>
                                        </p:tgtEl>
                                        <p:attrNameLst>
                                          <p:attrName>ppt_x</p:attrName>
                                        </p:attrNameLst>
                                      </p:cBhvr>
                                      <p:tavLst>
                                        <p:tav tm="0">
                                          <p:val>
                                            <p:strVal val="0-#ppt_w/2"/>
                                          </p:val>
                                        </p:tav>
                                        <p:tav tm="100000">
                                          <p:val>
                                            <p:strVal val="#ppt_x"/>
                                          </p:val>
                                        </p:tav>
                                      </p:tavLst>
                                    </p:anim>
                                    <p:anim calcmode="lin" valueType="num">
                                      <p:cBhvr additive="base">
                                        <p:cTn id="8" dur="500" fill="hold"/>
                                        <p:tgtEl>
                                          <p:spTgt spid="1638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6" grpId="0" animBg="1" autoUpdateAnimBg="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2"/>
          <p:cNvSpPr txBox="1">
            <a:spLocks noChangeArrowheads="1"/>
          </p:cNvSpPr>
          <p:nvPr/>
        </p:nvSpPr>
        <p:spPr bwMode="auto">
          <a:xfrm>
            <a:off x="76200" y="76200"/>
            <a:ext cx="4191000" cy="6653213"/>
          </a:xfrm>
          <a:prstGeom prst="rect">
            <a:avLst/>
          </a:prstGeom>
          <a:noFill/>
          <a:ln w="9525">
            <a:solidFill>
              <a:srgbClr val="0000FF"/>
            </a:solidFill>
            <a:miter lim="800000"/>
            <a:headEnd/>
            <a:tailEnd/>
          </a:ln>
        </p:spPr>
        <p:txBody>
          <a:bodyPr lIns="91437" tIns="45719" rIns="91437" bIns="45719">
            <a:spAutoFit/>
          </a:bodyPr>
          <a:lstStyle/>
          <a:p>
            <a:pPr algn="ctr"/>
            <a:r>
              <a:rPr lang="en-US" sz="2200" b="1" u="sng">
                <a:solidFill>
                  <a:srgbClr val="000066"/>
                </a:solidFill>
                <a:latin typeface="Times New Roman" pitchFamily="18" charset="0"/>
              </a:rPr>
              <a:t>Scope Resolution Operator (::)</a:t>
            </a:r>
          </a:p>
          <a:p>
            <a:pPr algn="just"/>
            <a:r>
              <a:rPr lang="en-US" sz="2200" b="1">
                <a:solidFill>
                  <a:srgbClr val="000066"/>
                </a:solidFill>
                <a:latin typeface="Times New Roman" pitchFamily="18" charset="0"/>
              </a:rPr>
              <a:t>	The member function of A program are defined outside the boundary of the class using the scope resolution operator(::)</a:t>
            </a:r>
          </a:p>
          <a:p>
            <a:pPr algn="just"/>
            <a:r>
              <a:rPr lang="en-US" sz="2000" b="1">
                <a:solidFill>
                  <a:srgbClr val="000066"/>
                </a:solidFill>
                <a:latin typeface="Times New Roman" pitchFamily="18" charset="0"/>
              </a:rPr>
              <a:t>#include&lt;iostream.h&gt;</a:t>
            </a:r>
          </a:p>
          <a:p>
            <a:r>
              <a:rPr lang="en-US" sz="2000" b="1">
                <a:solidFill>
                  <a:srgbClr val="000066"/>
                </a:solidFill>
                <a:latin typeface="Times New Roman" pitchFamily="18" charset="0"/>
              </a:rPr>
              <a:t>class circle {</a:t>
            </a:r>
          </a:p>
          <a:p>
            <a:r>
              <a:rPr lang="en-US" sz="2000" b="1">
                <a:solidFill>
                  <a:srgbClr val="000066"/>
                </a:solidFill>
                <a:latin typeface="Times New Roman" pitchFamily="18" charset="0"/>
              </a:rPr>
              <a:t>private:</a:t>
            </a:r>
          </a:p>
          <a:p>
            <a:r>
              <a:rPr lang="en-US" sz="2000" b="1">
                <a:solidFill>
                  <a:srgbClr val="000066"/>
                </a:solidFill>
                <a:latin typeface="Times New Roman" pitchFamily="18" charset="0"/>
              </a:rPr>
              <a:t>	int radius;</a:t>
            </a:r>
          </a:p>
          <a:p>
            <a:r>
              <a:rPr lang="en-US" sz="2000" b="1">
                <a:solidFill>
                  <a:srgbClr val="000066"/>
                </a:solidFill>
                <a:latin typeface="Times New Roman" pitchFamily="18" charset="0"/>
              </a:rPr>
              <a:t>	float area;</a:t>
            </a:r>
          </a:p>
          <a:p>
            <a:pPr eaLnBrk="0" hangingPunct="0"/>
            <a:r>
              <a:rPr lang="en-US" sz="2000" b="1">
                <a:solidFill>
                  <a:srgbClr val="000066"/>
                </a:solidFill>
                <a:latin typeface="Times New Roman" pitchFamily="18" charset="0"/>
              </a:rPr>
              <a:t>public: </a:t>
            </a:r>
          </a:p>
          <a:p>
            <a:pPr eaLnBrk="0" hangingPunct="0"/>
            <a:r>
              <a:rPr lang="en-US" sz="2000" b="1">
                <a:solidFill>
                  <a:srgbClr val="000066"/>
                </a:solidFill>
                <a:latin typeface="Times New Roman" pitchFamily="18" charset="0"/>
              </a:rPr>
              <a:t>	void getdata(); </a:t>
            </a:r>
          </a:p>
          <a:p>
            <a:pPr eaLnBrk="0" hangingPunct="0"/>
            <a:r>
              <a:rPr lang="en-US" sz="2000" b="1">
                <a:solidFill>
                  <a:srgbClr val="000066"/>
                </a:solidFill>
                <a:latin typeface="Times New Roman" pitchFamily="18" charset="0"/>
              </a:rPr>
              <a:t>	void get(int r);</a:t>
            </a:r>
          </a:p>
          <a:p>
            <a:pPr eaLnBrk="0" hangingPunct="0"/>
            <a:r>
              <a:rPr lang="en-US" sz="2000" b="1">
                <a:solidFill>
                  <a:srgbClr val="000066"/>
                </a:solidFill>
                <a:latin typeface="Times New Roman" pitchFamily="18" charset="0"/>
              </a:rPr>
              <a:t>	void calculate();</a:t>
            </a:r>
          </a:p>
          <a:p>
            <a:pPr eaLnBrk="0" hangingPunct="0"/>
            <a:r>
              <a:rPr lang="en-US" sz="2000" b="1">
                <a:solidFill>
                  <a:srgbClr val="000066"/>
                </a:solidFill>
                <a:latin typeface="Times New Roman" pitchFamily="18" charset="0"/>
              </a:rPr>
              <a:t>	void show(); </a:t>
            </a:r>
          </a:p>
          <a:p>
            <a:pPr eaLnBrk="0" hangingPunct="0"/>
            <a:r>
              <a:rPr lang="en-US" sz="2000" b="1">
                <a:solidFill>
                  <a:srgbClr val="000066"/>
                </a:solidFill>
                <a:latin typeface="Times New Roman" pitchFamily="18" charset="0"/>
              </a:rPr>
              <a:t>};</a:t>
            </a:r>
          </a:p>
          <a:p>
            <a:pPr eaLnBrk="0" hangingPunct="0"/>
            <a:r>
              <a:rPr lang="en-US" sz="2000" b="1">
                <a:solidFill>
                  <a:srgbClr val="000066"/>
                </a:solidFill>
                <a:latin typeface="Times New Roman" pitchFamily="18" charset="0"/>
              </a:rPr>
              <a:t>void circle::getdata(){</a:t>
            </a:r>
          </a:p>
          <a:p>
            <a:pPr eaLnBrk="0" hangingPunct="0"/>
            <a:r>
              <a:rPr lang="en-US" sz="2000" b="1">
                <a:solidFill>
                  <a:srgbClr val="000066"/>
                </a:solidFill>
                <a:latin typeface="Times New Roman" pitchFamily="18" charset="0"/>
              </a:rPr>
              <a:t>cout&lt;&lt;"RADIUS"&lt;&lt;endl;</a:t>
            </a:r>
          </a:p>
          <a:p>
            <a:pPr eaLnBrk="0" hangingPunct="0"/>
            <a:r>
              <a:rPr lang="en-US" sz="2000" b="1">
                <a:solidFill>
                  <a:srgbClr val="000066"/>
                </a:solidFill>
                <a:latin typeface="Times New Roman" pitchFamily="18" charset="0"/>
              </a:rPr>
              <a:t>cin&gt;&gt;radius; }</a:t>
            </a:r>
          </a:p>
          <a:p>
            <a:pPr eaLnBrk="0" hangingPunct="0"/>
            <a:r>
              <a:rPr lang="en-US" sz="2000" b="1">
                <a:solidFill>
                  <a:srgbClr val="000066"/>
                </a:solidFill>
                <a:latin typeface="Times New Roman" pitchFamily="18" charset="0"/>
              </a:rPr>
              <a:t>void circle::get(int r) {</a:t>
            </a:r>
          </a:p>
          <a:p>
            <a:pPr eaLnBrk="0" hangingPunct="0"/>
            <a:r>
              <a:rPr lang="en-US" sz="2000" b="1">
                <a:solidFill>
                  <a:srgbClr val="000066"/>
                </a:solidFill>
                <a:latin typeface="Times New Roman" pitchFamily="18" charset="0"/>
              </a:rPr>
              <a:t>radius=r; }</a:t>
            </a:r>
          </a:p>
        </p:txBody>
      </p:sp>
      <p:sp>
        <p:nvSpPr>
          <p:cNvPr id="17411" name="Text Box 3"/>
          <p:cNvSpPr txBox="1">
            <a:spLocks noChangeArrowheads="1"/>
          </p:cNvSpPr>
          <p:nvPr/>
        </p:nvSpPr>
        <p:spPr bwMode="auto">
          <a:xfrm>
            <a:off x="4343400" y="0"/>
            <a:ext cx="4572000" cy="6697663"/>
          </a:xfrm>
          <a:prstGeom prst="rect">
            <a:avLst/>
          </a:prstGeom>
          <a:noFill/>
          <a:ln w="9525">
            <a:solidFill>
              <a:srgbClr val="0000FF"/>
            </a:solidFill>
            <a:miter lim="800000"/>
            <a:headEnd/>
            <a:tailEnd/>
          </a:ln>
        </p:spPr>
        <p:txBody>
          <a:bodyPr lIns="91437" tIns="45719" rIns="91437" bIns="45719">
            <a:spAutoFit/>
          </a:bodyPr>
          <a:lstStyle/>
          <a:p>
            <a:pPr eaLnBrk="0" hangingPunct="0">
              <a:lnSpc>
                <a:spcPct val="105000"/>
              </a:lnSpc>
            </a:pPr>
            <a:r>
              <a:rPr lang="en-US" sz="2000" b="1">
                <a:solidFill>
                  <a:srgbClr val="000066"/>
                </a:solidFill>
                <a:latin typeface="Times New Roman" pitchFamily="18" charset="0"/>
              </a:rPr>
              <a:t>void circle::calculate()</a:t>
            </a:r>
          </a:p>
          <a:p>
            <a:pPr eaLnBrk="0" hangingPunct="0">
              <a:lnSpc>
                <a:spcPct val="105000"/>
              </a:lnSpc>
            </a:pPr>
            <a:r>
              <a:rPr lang="en-US" sz="2000" b="1">
                <a:solidFill>
                  <a:srgbClr val="000066"/>
                </a:solidFill>
                <a:latin typeface="Times New Roman" pitchFamily="18" charset="0"/>
              </a:rPr>
              <a:t> {</a:t>
            </a:r>
          </a:p>
          <a:p>
            <a:pPr eaLnBrk="0" hangingPunct="0">
              <a:lnSpc>
                <a:spcPct val="105000"/>
              </a:lnSpc>
            </a:pPr>
            <a:r>
              <a:rPr lang="en-US" sz="2000" b="1">
                <a:solidFill>
                  <a:srgbClr val="000066"/>
                </a:solidFill>
                <a:latin typeface="Times New Roman" pitchFamily="18" charset="0"/>
              </a:rPr>
              <a:t>area=3.14*radius*radius;  </a:t>
            </a:r>
          </a:p>
          <a:p>
            <a:pPr eaLnBrk="0" hangingPunct="0">
              <a:lnSpc>
                <a:spcPct val="105000"/>
              </a:lnSpc>
            </a:pPr>
            <a:r>
              <a:rPr lang="en-US" sz="2000" b="1">
                <a:solidFill>
                  <a:srgbClr val="000066"/>
                </a:solidFill>
                <a:latin typeface="Times New Roman" pitchFamily="18" charset="0"/>
              </a:rPr>
              <a:t>}</a:t>
            </a:r>
          </a:p>
          <a:p>
            <a:pPr eaLnBrk="0" hangingPunct="0">
              <a:lnSpc>
                <a:spcPct val="105000"/>
              </a:lnSpc>
            </a:pPr>
            <a:r>
              <a:rPr lang="en-US" sz="2000" b="1">
                <a:solidFill>
                  <a:srgbClr val="000066"/>
                </a:solidFill>
                <a:latin typeface="Times New Roman" pitchFamily="18" charset="0"/>
              </a:rPr>
              <a:t>void circle::show()  </a:t>
            </a:r>
          </a:p>
          <a:p>
            <a:pPr eaLnBrk="0" hangingPunct="0">
              <a:lnSpc>
                <a:spcPct val="105000"/>
              </a:lnSpc>
            </a:pPr>
            <a:r>
              <a:rPr lang="en-US" sz="2000" b="1">
                <a:solidFill>
                  <a:srgbClr val="000066"/>
                </a:solidFill>
                <a:latin typeface="Times New Roman" pitchFamily="18" charset="0"/>
              </a:rPr>
              <a:t>{</a:t>
            </a:r>
          </a:p>
          <a:p>
            <a:pPr eaLnBrk="0" hangingPunct="0">
              <a:lnSpc>
                <a:spcPct val="105000"/>
              </a:lnSpc>
            </a:pPr>
            <a:r>
              <a:rPr lang="en-US" sz="2000" b="1">
                <a:solidFill>
                  <a:srgbClr val="000066"/>
                </a:solidFill>
                <a:latin typeface="Times New Roman" pitchFamily="18" charset="0"/>
              </a:rPr>
              <a:t>cout&lt;&lt;"Area"&lt;&lt;area;  </a:t>
            </a:r>
          </a:p>
          <a:p>
            <a:pPr eaLnBrk="0" hangingPunct="0">
              <a:lnSpc>
                <a:spcPct val="105000"/>
              </a:lnSpc>
            </a:pPr>
            <a:r>
              <a:rPr lang="en-US" sz="2000" b="1">
                <a:solidFill>
                  <a:srgbClr val="000066"/>
                </a:solidFill>
                <a:latin typeface="Times New Roman" pitchFamily="18" charset="0"/>
              </a:rPr>
              <a:t>}</a:t>
            </a:r>
          </a:p>
          <a:p>
            <a:pPr eaLnBrk="0" hangingPunct="0">
              <a:lnSpc>
                <a:spcPct val="105000"/>
              </a:lnSpc>
            </a:pPr>
            <a:r>
              <a:rPr lang="en-US" sz="2000" b="1">
                <a:solidFill>
                  <a:srgbClr val="000066"/>
                </a:solidFill>
                <a:latin typeface="Times New Roman" pitchFamily="18" charset="0"/>
              </a:rPr>
              <a:t>void main()  {</a:t>
            </a:r>
          </a:p>
          <a:p>
            <a:pPr eaLnBrk="0" hangingPunct="0">
              <a:lnSpc>
                <a:spcPct val="105000"/>
              </a:lnSpc>
            </a:pPr>
            <a:r>
              <a:rPr lang="en-US" sz="2000" b="1">
                <a:solidFill>
                  <a:srgbClr val="000066"/>
                </a:solidFill>
                <a:latin typeface="Times New Roman" pitchFamily="18" charset="0"/>
              </a:rPr>
              <a:t>circle r;</a:t>
            </a:r>
          </a:p>
          <a:p>
            <a:pPr eaLnBrk="0" hangingPunct="0">
              <a:lnSpc>
                <a:spcPct val="105000"/>
              </a:lnSpc>
            </a:pPr>
            <a:r>
              <a:rPr lang="en-US" sz="2000" b="1">
                <a:solidFill>
                  <a:srgbClr val="000066"/>
                </a:solidFill>
                <a:latin typeface="Times New Roman" pitchFamily="18" charset="0"/>
              </a:rPr>
              <a:t>r.getdata(); </a:t>
            </a:r>
          </a:p>
          <a:p>
            <a:pPr eaLnBrk="0" hangingPunct="0">
              <a:lnSpc>
                <a:spcPct val="105000"/>
              </a:lnSpc>
            </a:pPr>
            <a:r>
              <a:rPr lang="en-US" sz="2000" b="1">
                <a:solidFill>
                  <a:srgbClr val="000066"/>
                </a:solidFill>
                <a:latin typeface="Times New Roman" pitchFamily="18" charset="0"/>
              </a:rPr>
              <a:t>r.calculate();</a:t>
            </a:r>
          </a:p>
          <a:p>
            <a:pPr eaLnBrk="0" hangingPunct="0">
              <a:lnSpc>
                <a:spcPct val="105000"/>
              </a:lnSpc>
            </a:pPr>
            <a:r>
              <a:rPr lang="en-US" sz="2000" b="1">
                <a:solidFill>
                  <a:srgbClr val="000066"/>
                </a:solidFill>
                <a:latin typeface="Times New Roman" pitchFamily="18" charset="0"/>
              </a:rPr>
              <a:t>r.show(); </a:t>
            </a:r>
          </a:p>
          <a:p>
            <a:pPr eaLnBrk="0" hangingPunct="0">
              <a:lnSpc>
                <a:spcPct val="105000"/>
              </a:lnSpc>
            </a:pPr>
            <a:r>
              <a:rPr lang="en-US" sz="2000" b="1">
                <a:solidFill>
                  <a:srgbClr val="000066"/>
                </a:solidFill>
                <a:latin typeface="Times New Roman" pitchFamily="18" charset="0"/>
              </a:rPr>
              <a:t>r.get(100);</a:t>
            </a:r>
          </a:p>
          <a:p>
            <a:pPr eaLnBrk="0" hangingPunct="0">
              <a:lnSpc>
                <a:spcPct val="105000"/>
              </a:lnSpc>
            </a:pPr>
            <a:r>
              <a:rPr lang="en-US" sz="2000" b="1">
                <a:solidFill>
                  <a:srgbClr val="000066"/>
                </a:solidFill>
                <a:latin typeface="Times New Roman" pitchFamily="18" charset="0"/>
              </a:rPr>
              <a:t>r.calculate(); </a:t>
            </a:r>
          </a:p>
          <a:p>
            <a:pPr eaLnBrk="0" hangingPunct="0">
              <a:lnSpc>
                <a:spcPct val="105000"/>
              </a:lnSpc>
            </a:pPr>
            <a:r>
              <a:rPr lang="en-US" sz="2000" b="1">
                <a:solidFill>
                  <a:srgbClr val="000066"/>
                </a:solidFill>
                <a:latin typeface="Times New Roman" pitchFamily="18" charset="0"/>
              </a:rPr>
              <a:t>r.show(); </a:t>
            </a:r>
          </a:p>
          <a:p>
            <a:pPr eaLnBrk="0" hangingPunct="0">
              <a:lnSpc>
                <a:spcPct val="105000"/>
              </a:lnSpc>
            </a:pPr>
            <a:r>
              <a:rPr lang="en-US" sz="2000" b="1">
                <a:solidFill>
                  <a:srgbClr val="000066"/>
                </a:solidFill>
                <a:latin typeface="Times New Roman" pitchFamily="18" charset="0"/>
              </a:rPr>
              <a:t>}</a:t>
            </a:r>
          </a:p>
          <a:p>
            <a:pPr eaLnBrk="0" hangingPunct="0">
              <a:lnSpc>
                <a:spcPct val="105000"/>
              </a:lnSpc>
              <a:spcAft>
                <a:spcPct val="50000"/>
              </a:spcAft>
            </a:pPr>
            <a:r>
              <a:rPr lang="en-US" sz="2000" b="1" u="sng">
                <a:solidFill>
                  <a:srgbClr val="000066"/>
                </a:solidFill>
                <a:latin typeface="Times New Roman" pitchFamily="18" charset="0"/>
              </a:rPr>
              <a:t>RESULT :</a:t>
            </a:r>
          </a:p>
          <a:p>
            <a:pPr eaLnBrk="0" hangingPunct="0">
              <a:lnSpc>
                <a:spcPct val="105000"/>
              </a:lnSpc>
            </a:pPr>
            <a:r>
              <a:rPr lang="en-US" sz="1400" b="1">
                <a:solidFill>
                  <a:srgbClr val="000066"/>
                </a:solidFill>
                <a:latin typeface="Tahoma" pitchFamily="34" charset="0"/>
              </a:rPr>
              <a:t>ENTER THE RADIUS	:  5                                                                               </a:t>
            </a:r>
          </a:p>
          <a:p>
            <a:pPr eaLnBrk="0" hangingPunct="0">
              <a:lnSpc>
                <a:spcPct val="105000"/>
              </a:lnSpc>
            </a:pPr>
            <a:r>
              <a:rPr lang="en-US" sz="1400" b="1">
                <a:solidFill>
                  <a:srgbClr val="000066"/>
                </a:solidFill>
                <a:latin typeface="Tahoma" pitchFamily="34" charset="0"/>
              </a:rPr>
              <a:t>Area FOR      5=78.5                                                  </a:t>
            </a:r>
          </a:p>
          <a:p>
            <a:pPr eaLnBrk="0" hangingPunct="0">
              <a:lnSpc>
                <a:spcPct val="105000"/>
              </a:lnSpc>
            </a:pPr>
            <a:r>
              <a:rPr lang="en-US" sz="1400" b="1">
                <a:solidFill>
                  <a:srgbClr val="000066"/>
                </a:solidFill>
                <a:latin typeface="Tahoma" pitchFamily="34" charset="0"/>
              </a:rPr>
              <a:t>Area FOR      100=31400 </a:t>
            </a:r>
            <a:endParaRPr lang="en-US" sz="1600" b="1">
              <a:solidFill>
                <a:srgbClr val="000066"/>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7410"/>
                                        </p:tgtEl>
                                        <p:attrNameLst>
                                          <p:attrName>style.visibility</p:attrName>
                                        </p:attrNameLst>
                                      </p:cBhvr>
                                      <p:to>
                                        <p:strVal val="visible"/>
                                      </p:to>
                                    </p:set>
                                    <p:anim calcmode="lin" valueType="num">
                                      <p:cBhvr additive="base">
                                        <p:cTn id="7" dur="500" fill="hold"/>
                                        <p:tgtEl>
                                          <p:spTgt spid="17410"/>
                                        </p:tgtEl>
                                        <p:attrNameLst>
                                          <p:attrName>ppt_x</p:attrName>
                                        </p:attrNameLst>
                                      </p:cBhvr>
                                      <p:tavLst>
                                        <p:tav tm="0">
                                          <p:val>
                                            <p:strVal val="0-#ppt_w/2"/>
                                          </p:val>
                                        </p:tav>
                                        <p:tav tm="100000">
                                          <p:val>
                                            <p:strVal val="#ppt_x"/>
                                          </p:val>
                                        </p:tav>
                                      </p:tavLst>
                                    </p:anim>
                                    <p:anim calcmode="lin" valueType="num">
                                      <p:cBhvr additive="base">
                                        <p:cTn id="8" dur="500" fill="hold"/>
                                        <p:tgtEl>
                                          <p:spTgt spid="17410"/>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7411"/>
                                        </p:tgtEl>
                                        <p:attrNameLst>
                                          <p:attrName>style.visibility</p:attrName>
                                        </p:attrNameLst>
                                      </p:cBhvr>
                                      <p:to>
                                        <p:strVal val="visible"/>
                                      </p:to>
                                    </p:set>
                                    <p:anim calcmode="lin" valueType="num">
                                      <p:cBhvr additive="base">
                                        <p:cTn id="11" dur="500" fill="hold"/>
                                        <p:tgtEl>
                                          <p:spTgt spid="17411"/>
                                        </p:tgtEl>
                                        <p:attrNameLst>
                                          <p:attrName>ppt_x</p:attrName>
                                        </p:attrNameLst>
                                      </p:cBhvr>
                                      <p:tavLst>
                                        <p:tav tm="0">
                                          <p:val>
                                            <p:strVal val="0-#ppt_w/2"/>
                                          </p:val>
                                        </p:tav>
                                        <p:tav tm="100000">
                                          <p:val>
                                            <p:strVal val="#ppt_x"/>
                                          </p:val>
                                        </p:tav>
                                      </p:tavLst>
                                    </p:anim>
                                    <p:anim calcmode="lin" valueType="num">
                                      <p:cBhvr additive="base">
                                        <p:cTn id="12" dur="500" fill="hold"/>
                                        <p:tgtEl>
                                          <p:spTgt spid="174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animBg="1" autoUpdateAnimBg="0"/>
      <p:bldP spid="17411" grpId="0" animBg="1" autoUpdateAnimBg="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0" y="0"/>
            <a:ext cx="4572000" cy="5524500"/>
          </a:xfrm>
          <a:prstGeom prst="rect">
            <a:avLst/>
          </a:prstGeom>
          <a:noFill/>
          <a:ln w="9525">
            <a:solidFill>
              <a:srgbClr val="FF66CC"/>
            </a:solidFill>
            <a:miter lim="800000"/>
            <a:headEnd/>
            <a:tailEnd/>
          </a:ln>
        </p:spPr>
        <p:txBody>
          <a:bodyPr>
            <a:spAutoFit/>
          </a:bodyPr>
          <a:lstStyle/>
          <a:p>
            <a:pPr eaLnBrk="0" hangingPunct="0"/>
            <a:r>
              <a:rPr lang="en-US" sz="2400" b="1" i="1">
                <a:solidFill>
                  <a:srgbClr val="000066"/>
                </a:solidFill>
                <a:latin typeface="Times New Roman" pitchFamily="18" charset="0"/>
              </a:rPr>
              <a:t>Returning Values from class's  Memeber Function to main() function </a:t>
            </a:r>
          </a:p>
          <a:p>
            <a:pPr eaLnBrk="0" hangingPunct="0"/>
            <a:endParaRPr lang="en-US" sz="2400" b="1" i="1">
              <a:solidFill>
                <a:srgbClr val="000066"/>
              </a:solidFill>
              <a:latin typeface="Times New Roman" pitchFamily="18" charset="0"/>
            </a:endParaRPr>
          </a:p>
          <a:p>
            <a:pPr eaLnBrk="0" hangingPunct="0"/>
            <a:r>
              <a:rPr lang="en-US" sz="2000" b="1">
                <a:solidFill>
                  <a:srgbClr val="000066"/>
                </a:solidFill>
              </a:rPr>
              <a:t>#include&lt;iostream.h&gt;</a:t>
            </a:r>
          </a:p>
          <a:p>
            <a:pPr eaLnBrk="0" hangingPunct="0"/>
            <a:r>
              <a:rPr lang="en-US" sz="2000" b="1">
                <a:solidFill>
                  <a:srgbClr val="000066"/>
                </a:solidFill>
              </a:rPr>
              <a:t>#include&lt;conio.h&gt;</a:t>
            </a:r>
          </a:p>
          <a:p>
            <a:pPr eaLnBrk="0" hangingPunct="0"/>
            <a:r>
              <a:rPr lang="en-US" sz="2000" b="1">
                <a:solidFill>
                  <a:srgbClr val="000066"/>
                </a:solidFill>
              </a:rPr>
              <a:t>class rectangle</a:t>
            </a:r>
          </a:p>
          <a:p>
            <a:pPr eaLnBrk="0" hangingPunct="0"/>
            <a:r>
              <a:rPr lang="en-US" sz="2000" b="1">
                <a:solidFill>
                  <a:srgbClr val="000066"/>
                </a:solidFill>
              </a:rPr>
              <a:t>{</a:t>
            </a:r>
          </a:p>
          <a:p>
            <a:pPr eaLnBrk="0" hangingPunct="0"/>
            <a:r>
              <a:rPr lang="en-US" sz="2000" b="1">
                <a:solidFill>
                  <a:srgbClr val="000066"/>
                </a:solidFill>
              </a:rPr>
              <a:t>private :</a:t>
            </a:r>
          </a:p>
          <a:p>
            <a:pPr eaLnBrk="0" hangingPunct="0"/>
            <a:r>
              <a:rPr lang="en-US" sz="2000" b="1">
                <a:solidFill>
                  <a:srgbClr val="000066"/>
                </a:solidFill>
              </a:rPr>
              <a:t>	int length,breadth,area;</a:t>
            </a:r>
          </a:p>
          <a:p>
            <a:pPr eaLnBrk="0" hangingPunct="0"/>
            <a:r>
              <a:rPr lang="en-US" sz="2000" b="1">
                <a:solidFill>
                  <a:srgbClr val="000066"/>
                </a:solidFill>
              </a:rPr>
              <a:t>public :</a:t>
            </a:r>
          </a:p>
          <a:p>
            <a:pPr eaLnBrk="0" hangingPunct="0"/>
            <a:r>
              <a:rPr lang="en-US" sz="2000" b="1">
                <a:solidFill>
                  <a:srgbClr val="000066"/>
                </a:solidFill>
              </a:rPr>
              <a:t>	void setdata(int a,int b)</a:t>
            </a:r>
          </a:p>
          <a:p>
            <a:pPr eaLnBrk="0" hangingPunct="0"/>
            <a:r>
              <a:rPr lang="en-US" sz="2000" b="1">
                <a:solidFill>
                  <a:srgbClr val="000066"/>
                </a:solidFill>
              </a:rPr>
              <a:t>	{</a:t>
            </a:r>
          </a:p>
          <a:p>
            <a:pPr eaLnBrk="0" hangingPunct="0"/>
            <a:r>
              <a:rPr lang="en-US" sz="2000" b="1">
                <a:solidFill>
                  <a:srgbClr val="000066"/>
                </a:solidFill>
              </a:rPr>
              <a:t>                    length=a;</a:t>
            </a:r>
          </a:p>
          <a:p>
            <a:pPr eaLnBrk="0" hangingPunct="0"/>
            <a:r>
              <a:rPr lang="en-US" sz="2000" b="1">
                <a:solidFill>
                  <a:srgbClr val="000066"/>
                </a:solidFill>
              </a:rPr>
              <a:t>                    breadth=b;</a:t>
            </a:r>
          </a:p>
          <a:p>
            <a:pPr eaLnBrk="0" hangingPunct="0"/>
            <a:r>
              <a:rPr lang="en-US" sz="2000" b="1">
                <a:solidFill>
                  <a:srgbClr val="000066"/>
                </a:solidFill>
              </a:rPr>
              <a:t>	}</a:t>
            </a:r>
          </a:p>
          <a:p>
            <a:pPr eaLnBrk="0" hangingPunct="0"/>
            <a:r>
              <a:rPr lang="en-US" sz="2000" b="1">
                <a:solidFill>
                  <a:srgbClr val="000066"/>
                </a:solidFill>
              </a:rPr>
              <a:t>        </a:t>
            </a:r>
          </a:p>
        </p:txBody>
      </p:sp>
      <p:sp>
        <p:nvSpPr>
          <p:cNvPr id="16387" name="Rectangle 3"/>
          <p:cNvSpPr>
            <a:spLocks noChangeArrowheads="1"/>
          </p:cNvSpPr>
          <p:nvPr/>
        </p:nvSpPr>
        <p:spPr bwMode="auto">
          <a:xfrm>
            <a:off x="4572000" y="0"/>
            <a:ext cx="4572000" cy="4673600"/>
          </a:xfrm>
          <a:prstGeom prst="rect">
            <a:avLst/>
          </a:prstGeom>
          <a:noFill/>
          <a:ln w="9525">
            <a:solidFill>
              <a:srgbClr val="FF66CC"/>
            </a:solidFill>
            <a:miter lim="800000"/>
            <a:headEnd/>
            <a:tailEnd/>
          </a:ln>
        </p:spPr>
        <p:txBody>
          <a:bodyPr>
            <a:spAutoFit/>
          </a:bodyPr>
          <a:lstStyle/>
          <a:p>
            <a:pPr eaLnBrk="0" hangingPunct="0"/>
            <a:r>
              <a:rPr lang="en-US" sz="2000" b="1">
                <a:solidFill>
                  <a:srgbClr val="000099"/>
                </a:solidFill>
              </a:rPr>
              <a:t>int calculate()</a:t>
            </a:r>
          </a:p>
          <a:p>
            <a:pPr eaLnBrk="0" hangingPunct="0"/>
            <a:r>
              <a:rPr lang="en-US" sz="2000" b="1">
                <a:solidFill>
                  <a:srgbClr val="000099"/>
                </a:solidFill>
              </a:rPr>
              <a:t>	{</a:t>
            </a:r>
          </a:p>
          <a:p>
            <a:pPr eaLnBrk="0" hangingPunct="0"/>
            <a:r>
              <a:rPr lang="en-US" sz="2000" b="1">
                <a:solidFill>
                  <a:srgbClr val="000099"/>
                </a:solidFill>
              </a:rPr>
              <a:t>        return length*breadth;</a:t>
            </a:r>
          </a:p>
          <a:p>
            <a:pPr eaLnBrk="0" hangingPunct="0"/>
            <a:r>
              <a:rPr lang="en-US" sz="2000" b="1">
                <a:solidFill>
                  <a:srgbClr val="000099"/>
                </a:solidFill>
              </a:rPr>
              <a:t>	}</a:t>
            </a:r>
          </a:p>
          <a:p>
            <a:pPr eaLnBrk="0" hangingPunct="0"/>
            <a:r>
              <a:rPr lang="en-US" sz="2000" b="1">
                <a:solidFill>
                  <a:srgbClr val="000099"/>
                </a:solidFill>
              </a:rPr>
              <a:t>};</a:t>
            </a:r>
          </a:p>
          <a:p>
            <a:pPr eaLnBrk="0" hangingPunct="0"/>
            <a:r>
              <a:rPr lang="en-US" sz="2000" b="1">
                <a:solidFill>
                  <a:srgbClr val="000099"/>
                </a:solidFill>
              </a:rPr>
              <a:t>void main()</a:t>
            </a:r>
          </a:p>
          <a:p>
            <a:pPr eaLnBrk="0" hangingPunct="0"/>
            <a:r>
              <a:rPr lang="en-US" sz="2000" b="1">
                <a:solidFill>
                  <a:srgbClr val="000099"/>
                </a:solidFill>
              </a:rPr>
              <a:t>{</a:t>
            </a:r>
          </a:p>
          <a:p>
            <a:pPr eaLnBrk="0" hangingPunct="0"/>
            <a:r>
              <a:rPr lang="en-US" sz="2000" b="1">
                <a:solidFill>
                  <a:srgbClr val="000099"/>
                </a:solidFill>
              </a:rPr>
              <a:t>rectangle r;</a:t>
            </a:r>
          </a:p>
          <a:p>
            <a:pPr eaLnBrk="0" hangingPunct="0"/>
            <a:r>
              <a:rPr lang="en-US" sz="2000" b="1">
                <a:solidFill>
                  <a:srgbClr val="000099"/>
                </a:solidFill>
              </a:rPr>
              <a:t>int area;</a:t>
            </a:r>
          </a:p>
          <a:p>
            <a:pPr eaLnBrk="0" hangingPunct="0"/>
            <a:r>
              <a:rPr lang="en-US" sz="2000" b="1">
                <a:solidFill>
                  <a:srgbClr val="000099"/>
                </a:solidFill>
              </a:rPr>
              <a:t>clrscr();</a:t>
            </a:r>
          </a:p>
          <a:p>
            <a:pPr eaLnBrk="0" hangingPunct="0"/>
            <a:r>
              <a:rPr lang="en-US" sz="2000" b="1">
                <a:solidFill>
                  <a:srgbClr val="000099"/>
                </a:solidFill>
              </a:rPr>
              <a:t>r.setdata(5,8);</a:t>
            </a:r>
          </a:p>
          <a:p>
            <a:pPr eaLnBrk="0" hangingPunct="0"/>
            <a:r>
              <a:rPr lang="en-US" sz="2000" b="1">
                <a:solidFill>
                  <a:srgbClr val="000099"/>
                </a:solidFill>
              </a:rPr>
              <a:t>area=r.calculate();</a:t>
            </a:r>
          </a:p>
          <a:p>
            <a:pPr eaLnBrk="0" hangingPunct="0"/>
            <a:r>
              <a:rPr lang="en-US" sz="2000" b="1">
                <a:solidFill>
                  <a:srgbClr val="000099"/>
                </a:solidFill>
              </a:rPr>
              <a:t>cout&lt;&lt;endl&lt;&lt;" Area is :"&lt;&lt;area;</a:t>
            </a:r>
          </a:p>
          <a:p>
            <a:pPr eaLnBrk="0" hangingPunct="0"/>
            <a:r>
              <a:rPr lang="en-US" sz="2000" b="1">
                <a:solidFill>
                  <a:srgbClr val="000099"/>
                </a:solidFill>
              </a:rPr>
              <a:t>getch();</a:t>
            </a:r>
          </a:p>
          <a:p>
            <a:pPr eaLnBrk="0" hangingPunct="0"/>
            <a:r>
              <a:rPr lang="en-US" sz="2000" b="1">
                <a:solidFill>
                  <a:srgbClr val="000099"/>
                </a:solidFill>
              </a:rPr>
              <a:t>}</a:t>
            </a:r>
          </a:p>
        </p:txBody>
      </p:sp>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2"/>
          <p:cNvSpPr txBox="1">
            <a:spLocks noChangeArrowheads="1"/>
          </p:cNvSpPr>
          <p:nvPr/>
        </p:nvSpPr>
        <p:spPr bwMode="auto">
          <a:xfrm>
            <a:off x="457200" y="1447800"/>
            <a:ext cx="8534400" cy="4144963"/>
          </a:xfrm>
          <a:prstGeom prst="rect">
            <a:avLst/>
          </a:prstGeom>
          <a:noFill/>
          <a:ln w="9525">
            <a:noFill/>
            <a:miter lim="800000"/>
            <a:headEnd/>
            <a:tailEnd/>
          </a:ln>
        </p:spPr>
        <p:txBody>
          <a:bodyPr>
            <a:spAutoFit/>
          </a:bodyPr>
          <a:lstStyle/>
          <a:p>
            <a:pPr algn="just">
              <a:lnSpc>
                <a:spcPct val="160000"/>
              </a:lnSpc>
              <a:spcBef>
                <a:spcPct val="50000"/>
              </a:spcBef>
              <a:buFontTx/>
              <a:buBlip>
                <a:blip r:embed="rId2"/>
              </a:buBlip>
            </a:pPr>
            <a:r>
              <a:rPr lang="en-US" sz="2400" b="1">
                <a:solidFill>
                  <a:srgbClr val="800000"/>
                </a:solidFill>
                <a:latin typeface="Times New Roman" pitchFamily="18" charset="0"/>
                <a:cs typeface="Times New Roman" pitchFamily="18" charset="0"/>
              </a:rPr>
              <a:t> Each class specification starts with the keyword “class”</a:t>
            </a:r>
          </a:p>
          <a:p>
            <a:pPr algn="just">
              <a:lnSpc>
                <a:spcPct val="160000"/>
              </a:lnSpc>
              <a:spcBef>
                <a:spcPct val="50000"/>
              </a:spcBef>
              <a:buFontTx/>
              <a:buBlip>
                <a:blip r:embed="rId2"/>
              </a:buBlip>
            </a:pPr>
            <a:r>
              <a:rPr lang="en-US" sz="2400" b="1">
                <a:solidFill>
                  <a:srgbClr val="800000"/>
                </a:solidFill>
                <a:latin typeface="Times New Roman" pitchFamily="18" charset="0"/>
              </a:rPr>
              <a:t>  The Class Specification must always end with a semicolon (;)</a:t>
            </a:r>
          </a:p>
          <a:p>
            <a:pPr algn="just">
              <a:lnSpc>
                <a:spcPct val="160000"/>
              </a:lnSpc>
              <a:spcBef>
                <a:spcPct val="50000"/>
              </a:spcBef>
              <a:buFontTx/>
              <a:buBlip>
                <a:blip r:embed="rId2"/>
              </a:buBlip>
            </a:pPr>
            <a:r>
              <a:rPr lang="en-US" sz="2400" b="1" i="1">
                <a:solidFill>
                  <a:srgbClr val="800000"/>
                </a:solidFill>
                <a:latin typeface="Times New Roman" pitchFamily="18" charset="0"/>
              </a:rPr>
              <a:t>  Data abstraction</a:t>
            </a:r>
            <a:r>
              <a:rPr lang="en-US" sz="2400" b="1">
                <a:solidFill>
                  <a:srgbClr val="800000"/>
                </a:solidFill>
                <a:latin typeface="Times New Roman" pitchFamily="18" charset="0"/>
              </a:rPr>
              <a:t> is the ability to create user-defined data types for modeling real world objects using built-in data types.</a:t>
            </a:r>
          </a:p>
          <a:p>
            <a:pPr algn="just">
              <a:lnSpc>
                <a:spcPct val="160000"/>
              </a:lnSpc>
              <a:spcBef>
                <a:spcPct val="50000"/>
              </a:spcBef>
              <a:buFontTx/>
              <a:buBlip>
                <a:blip r:embed="rId2"/>
              </a:buBlip>
            </a:pPr>
            <a:r>
              <a:rPr lang="en-US" sz="2400" b="1">
                <a:solidFill>
                  <a:srgbClr val="800000"/>
                </a:solidFill>
                <a:latin typeface="Times New Roman" pitchFamily="18" charset="0"/>
              </a:rPr>
              <a:t>  Classes are used for data abstraction by hiding the implementation of a type in the “private” part.</a:t>
            </a:r>
            <a:endParaRPr lang="en-US" sz="2400" b="1">
              <a:solidFill>
                <a:srgbClr val="800000"/>
              </a:solidFill>
              <a:latin typeface="Times New Roman" pitchFamily="18" charset="0"/>
              <a:cs typeface="Times New Roman" pitchFamily="18" charset="0"/>
            </a:endParaRPr>
          </a:p>
        </p:txBody>
      </p:sp>
      <p:sp>
        <p:nvSpPr>
          <p:cNvPr id="17411" name="WordArt 3"/>
          <p:cNvSpPr>
            <a:spLocks noChangeArrowheads="1" noChangeShapeType="1" noTextEdit="1"/>
          </p:cNvSpPr>
          <p:nvPr/>
        </p:nvSpPr>
        <p:spPr bwMode="auto">
          <a:xfrm>
            <a:off x="2590800" y="228600"/>
            <a:ext cx="3200400" cy="914400"/>
          </a:xfrm>
          <a:prstGeom prst="rect">
            <a:avLst/>
          </a:prstGeom>
        </p:spPr>
        <p:txBody>
          <a:bodyPr wrap="none" fromWordArt="1">
            <a:prstTxWarp prst="textCanUp">
              <a:avLst>
                <a:gd name="adj" fmla="val 85713"/>
              </a:avLst>
            </a:prstTxWarp>
          </a:bodyPr>
          <a:lstStyle/>
          <a:p>
            <a:pPr algn="ctr"/>
            <a:r>
              <a:rPr lang="en-IN"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a:rPr>
              <a:t>Summary</a:t>
            </a:r>
          </a:p>
        </p:txBody>
      </p:sp>
      <p:sp>
        <p:nvSpPr>
          <p:cNvPr id="17412" name="Rectangle 4"/>
          <p:cNvSpPr>
            <a:spLocks noChangeArrowheads="1"/>
          </p:cNvSpPr>
          <p:nvPr/>
        </p:nvSpPr>
        <p:spPr bwMode="auto">
          <a:xfrm>
            <a:off x="304800" y="1295400"/>
            <a:ext cx="8763000" cy="5257800"/>
          </a:xfrm>
          <a:prstGeom prst="rect">
            <a:avLst/>
          </a:prstGeom>
          <a:noFill/>
          <a:ln w="57150" cmpd="thickThin">
            <a:solidFill>
              <a:srgbClr val="990033"/>
            </a:solidFill>
            <a:miter lim="800000"/>
            <a:headEnd/>
            <a:tailEnd/>
          </a:ln>
        </p:spPr>
        <p:txBody>
          <a:bodyPr wrap="none" anchor="ctr"/>
          <a:lstStyle/>
          <a:p>
            <a:pPr algn="ctr" eaLnBrk="0" hangingPunct="0"/>
            <a:endParaRPr lang="en-US">
              <a:solidFill>
                <a:srgbClr val="800000"/>
              </a:solidFill>
              <a:latin typeface="Verdana" pitchFamily="34" charset="0"/>
            </a:endParaRPr>
          </a:p>
        </p:txBody>
      </p:sp>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ChangeArrowheads="1"/>
          </p:cNvSpPr>
          <p:nvPr/>
        </p:nvSpPr>
        <p:spPr bwMode="auto">
          <a:xfrm>
            <a:off x="3200400" y="685800"/>
            <a:ext cx="2743200" cy="533400"/>
          </a:xfrm>
          <a:prstGeom prst="rect">
            <a:avLst/>
          </a:prstGeom>
          <a:solidFill>
            <a:schemeClr val="accent1"/>
          </a:solidFill>
          <a:ln w="57150" cmpd="thickThin">
            <a:solidFill>
              <a:schemeClr val="tx1"/>
            </a:solidFill>
            <a:miter lim="800000"/>
            <a:headEnd/>
            <a:tailEnd/>
          </a:ln>
        </p:spPr>
        <p:txBody>
          <a:bodyPr wrap="none" anchor="ctr"/>
          <a:lstStyle/>
          <a:p>
            <a:endParaRPr lang="en-US"/>
          </a:p>
        </p:txBody>
      </p:sp>
      <p:sp>
        <p:nvSpPr>
          <p:cNvPr id="18435" name="Rectangle 3"/>
          <p:cNvSpPr>
            <a:spLocks noChangeArrowheads="1"/>
          </p:cNvSpPr>
          <p:nvPr/>
        </p:nvSpPr>
        <p:spPr bwMode="auto">
          <a:xfrm>
            <a:off x="3365500" y="609600"/>
            <a:ext cx="2501900" cy="533400"/>
          </a:xfrm>
          <a:prstGeom prst="rect">
            <a:avLst/>
          </a:prstGeom>
          <a:solidFill>
            <a:schemeClr val="accent1"/>
          </a:solidFill>
          <a:ln w="57150" cmpd="thickThin">
            <a:solidFill>
              <a:schemeClr val="tx1"/>
            </a:solidFill>
            <a:miter lim="800000"/>
            <a:headEnd/>
            <a:tailEnd/>
          </a:ln>
        </p:spPr>
        <p:txBody>
          <a:bodyPr wrap="none" anchor="ctr"/>
          <a:lstStyle/>
          <a:p>
            <a:endParaRPr lang="en-US"/>
          </a:p>
        </p:txBody>
      </p:sp>
      <p:sp>
        <p:nvSpPr>
          <p:cNvPr id="20484" name="Rectangle 4"/>
          <p:cNvSpPr>
            <a:spLocks noChangeArrowheads="1"/>
          </p:cNvSpPr>
          <p:nvPr/>
        </p:nvSpPr>
        <p:spPr bwMode="auto">
          <a:xfrm>
            <a:off x="304800" y="584200"/>
            <a:ext cx="8610600" cy="4216400"/>
          </a:xfrm>
          <a:prstGeom prst="rect">
            <a:avLst/>
          </a:prstGeom>
          <a:noFill/>
          <a:ln w="9525" algn="ctr">
            <a:noFill/>
            <a:miter lim="800000"/>
            <a:headEnd/>
            <a:tailEnd/>
          </a:ln>
        </p:spPr>
        <p:txBody>
          <a:bodyPr anchor="ctr">
            <a:spAutoFit/>
          </a:bodyPr>
          <a:lstStyle/>
          <a:p>
            <a:pPr marL="342900" indent="-342900" algn="ctr">
              <a:tabLst>
                <a:tab pos="457200" algn="l"/>
              </a:tabLst>
            </a:pPr>
            <a:r>
              <a:rPr lang="en-US" sz="3200" b="1">
                <a:solidFill>
                  <a:srgbClr val="000000"/>
                </a:solidFill>
                <a:latin typeface="Times New Roman" pitchFamily="18" charset="0"/>
              </a:rPr>
              <a:t>EXERCISES</a:t>
            </a:r>
          </a:p>
          <a:p>
            <a:pPr marL="342900" indent="-342900">
              <a:tabLst>
                <a:tab pos="457200" algn="l"/>
              </a:tabLst>
            </a:pPr>
            <a:endParaRPr lang="en-US" sz="3200" b="1">
              <a:solidFill>
                <a:srgbClr val="000000"/>
              </a:solidFill>
              <a:latin typeface="Times New Roman" pitchFamily="18" charset="0"/>
            </a:endParaRPr>
          </a:p>
          <a:p>
            <a:pPr marL="342900" indent="-342900" algn="just">
              <a:lnSpc>
                <a:spcPct val="235000"/>
              </a:lnSpc>
              <a:buFont typeface="Wingdings" pitchFamily="2" charset="2"/>
              <a:buAutoNum type="arabicPeriod"/>
              <a:tabLst>
                <a:tab pos="457200" algn="l"/>
              </a:tabLst>
            </a:pPr>
            <a:r>
              <a:rPr lang="en-US" sz="2200" b="1">
                <a:solidFill>
                  <a:srgbClr val="000066"/>
                </a:solidFill>
              </a:rPr>
              <a:t>Describe the  use of Array of Objects?</a:t>
            </a:r>
          </a:p>
          <a:p>
            <a:pPr marL="342900" indent="-342900" algn="just">
              <a:lnSpc>
                <a:spcPct val="235000"/>
              </a:lnSpc>
              <a:buFont typeface="Wingdings" pitchFamily="2" charset="2"/>
              <a:buAutoNum type="arabicPeriod"/>
              <a:tabLst>
                <a:tab pos="457200" algn="l"/>
              </a:tabLst>
            </a:pPr>
            <a:r>
              <a:rPr lang="en-US" sz="2200" b="1">
                <a:solidFill>
                  <a:srgbClr val="000066"/>
                </a:solidFill>
              </a:rPr>
              <a:t>List the various applications of Scope Resloution Operator?</a:t>
            </a:r>
          </a:p>
          <a:p>
            <a:pPr marL="342900" indent="-342900" algn="just">
              <a:lnSpc>
                <a:spcPct val="235000"/>
              </a:lnSpc>
              <a:buFont typeface="Wingdings" pitchFamily="2" charset="2"/>
              <a:buAutoNum type="arabicPeriod"/>
              <a:tabLst>
                <a:tab pos="457200" algn="l"/>
              </a:tabLst>
            </a:pPr>
            <a:r>
              <a:rPr lang="en-US" sz="2200" b="1">
                <a:solidFill>
                  <a:srgbClr val="000066"/>
                </a:solidFill>
              </a:rPr>
              <a:t>Explain briefly Classes &amp; Objects?</a:t>
            </a:r>
          </a:p>
          <a:p>
            <a:pPr marL="342900" indent="-342900" algn="just">
              <a:lnSpc>
                <a:spcPct val="235000"/>
              </a:lnSpc>
              <a:buFont typeface="Wingdings" pitchFamily="2" charset="2"/>
              <a:buAutoNum type="arabicPeriod"/>
              <a:tabLst>
                <a:tab pos="457200" algn="l"/>
              </a:tabLst>
            </a:pPr>
            <a:r>
              <a:rPr lang="en-US" sz="2200" b="1">
                <a:solidFill>
                  <a:srgbClr val="000066"/>
                </a:solidFill>
              </a:rPr>
              <a:t>Describe the Array as Class member Data?</a:t>
            </a:r>
          </a:p>
        </p:txBody>
      </p:sp>
      <p:sp>
        <p:nvSpPr>
          <p:cNvPr id="18437" name="AutoShape 5"/>
          <p:cNvSpPr>
            <a:spLocks noChangeArrowheads="1"/>
          </p:cNvSpPr>
          <p:nvPr/>
        </p:nvSpPr>
        <p:spPr bwMode="auto">
          <a:xfrm>
            <a:off x="228600" y="533400"/>
            <a:ext cx="8534400" cy="4648200"/>
          </a:xfrm>
          <a:prstGeom prst="roundRect">
            <a:avLst>
              <a:gd name="adj" fmla="val 16667"/>
            </a:avLst>
          </a:prstGeom>
          <a:noFill/>
          <a:ln w="57150" cmpd="thickThin">
            <a:solidFill>
              <a:srgbClr val="990033"/>
            </a:solidFill>
            <a:round/>
            <a:headEnd/>
            <a:tailEnd/>
          </a:ln>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6" fill="hold" grpId="0" nodeType="withEffect">
                                  <p:stCondLst>
                                    <p:cond delay="0"/>
                                  </p:stCondLst>
                                  <p:childTnLst>
                                    <p:set>
                                      <p:cBhvr>
                                        <p:cTn id="6" dur="1" fill="hold">
                                          <p:stCondLst>
                                            <p:cond delay="0"/>
                                          </p:stCondLst>
                                        </p:cTn>
                                        <p:tgtEl>
                                          <p:spTgt spid="20484"/>
                                        </p:tgtEl>
                                        <p:attrNameLst>
                                          <p:attrName>style.visibility</p:attrName>
                                        </p:attrNameLst>
                                      </p:cBhvr>
                                      <p:to>
                                        <p:strVal val="visible"/>
                                      </p:to>
                                    </p:set>
                                    <p:anim calcmode="lin" valueType="num">
                                      <p:cBhvr>
                                        <p:cTn id="7" dur="500" fill="hold"/>
                                        <p:tgtEl>
                                          <p:spTgt spid="20484"/>
                                        </p:tgtEl>
                                        <p:attrNameLst>
                                          <p:attrName>ppt_w</p:attrName>
                                        </p:attrNameLst>
                                      </p:cBhvr>
                                      <p:tavLst>
                                        <p:tav tm="0">
                                          <p:val>
                                            <p:strVal val="(6*min(max(#ppt_w*#ppt_h,.3),1)-7.4)/-.7*#ppt_w"/>
                                          </p:val>
                                        </p:tav>
                                        <p:tav tm="100000">
                                          <p:val>
                                            <p:strVal val="#ppt_w"/>
                                          </p:val>
                                        </p:tav>
                                      </p:tavLst>
                                    </p:anim>
                                    <p:anim calcmode="lin" valueType="num">
                                      <p:cBhvr>
                                        <p:cTn id="8" dur="500" fill="hold"/>
                                        <p:tgtEl>
                                          <p:spTgt spid="20484"/>
                                        </p:tgtEl>
                                        <p:attrNameLst>
                                          <p:attrName>ppt_h</p:attrName>
                                        </p:attrNameLst>
                                      </p:cBhvr>
                                      <p:tavLst>
                                        <p:tav tm="0">
                                          <p:val>
                                            <p:strVal val="(6*min(max(#ppt_w*#ppt_h,.3),1)-7.4)/-.7*#ppt_h"/>
                                          </p:val>
                                        </p:tav>
                                        <p:tav tm="100000">
                                          <p:val>
                                            <p:strVal val="#ppt_h"/>
                                          </p:val>
                                        </p:tav>
                                      </p:tavLst>
                                    </p:anim>
                                    <p:anim calcmode="lin" valueType="num">
                                      <p:cBhvr>
                                        <p:cTn id="9" dur="500" fill="hold"/>
                                        <p:tgtEl>
                                          <p:spTgt spid="20484"/>
                                        </p:tgtEl>
                                        <p:attrNameLst>
                                          <p:attrName>ppt_x</p:attrName>
                                        </p:attrNameLst>
                                      </p:cBhvr>
                                      <p:tavLst>
                                        <p:tav tm="0">
                                          <p:val>
                                            <p:fltVal val="0.5"/>
                                          </p:val>
                                        </p:tav>
                                        <p:tav tm="100000">
                                          <p:val>
                                            <p:strVal val="#ppt_x"/>
                                          </p:val>
                                        </p:tav>
                                      </p:tavLst>
                                    </p:anim>
                                    <p:anim calcmode="lin" valueType="num">
                                      <p:cBhvr>
                                        <p:cTn id="10" dur="500" fill="hold"/>
                                        <p:tgtEl>
                                          <p:spTgt spid="20484"/>
                                        </p:tgtEl>
                                        <p:attrNameLst>
                                          <p:attrName>ppt_y</p:attrName>
                                        </p:attrNameLst>
                                      </p:cBhvr>
                                      <p:tavLst>
                                        <p:tav tm="0">
                                          <p:val>
                                            <p:strVal val="1+(6*min(max(#ppt_w*#ppt_h,.3),1)-7.4)/-.7*#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4"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WordArt 2"/>
          <p:cNvSpPr>
            <a:spLocks noChangeArrowheads="1" noChangeShapeType="1" noTextEdit="1"/>
          </p:cNvSpPr>
          <p:nvPr/>
        </p:nvSpPr>
        <p:spPr bwMode="auto">
          <a:xfrm>
            <a:off x="1219200" y="3276600"/>
            <a:ext cx="7086600" cy="914400"/>
          </a:xfrm>
          <a:prstGeom prst="rect">
            <a:avLst/>
          </a:prstGeom>
        </p:spPr>
        <p:txBody>
          <a:bodyPr wrap="none" fromWordArt="1">
            <a:prstTxWarp prst="textChevron">
              <a:avLst>
                <a:gd name="adj" fmla="val 25000"/>
              </a:avLst>
            </a:prstTxWarp>
          </a:bodyPr>
          <a:lstStyle/>
          <a:p>
            <a:pPr algn="ctr"/>
            <a:r>
              <a:rPr lang="en-IN" sz="3600" kern="10">
                <a:ln w="12700">
                  <a:solidFill>
                    <a:srgbClr val="B2B2B2"/>
                  </a:solidFill>
                  <a:round/>
                  <a:headEnd/>
                  <a:tailEnd/>
                </a:ln>
                <a:solidFill>
                  <a:srgbClr val="FF0000"/>
                </a:solidFill>
                <a:effectLst>
                  <a:outerShdw dist="35921" dir="2700000" sy="50000" rotWithShape="0">
                    <a:srgbClr val="875B0D">
                      <a:alpha val="70000"/>
                    </a:srgbClr>
                  </a:outerShdw>
                </a:effectLst>
                <a:latin typeface="Arial Black"/>
              </a:rPr>
              <a:t>Overloading</a:t>
            </a:r>
          </a:p>
        </p:txBody>
      </p:sp>
      <p:sp>
        <p:nvSpPr>
          <p:cNvPr id="2051" name="WordArt 3"/>
          <p:cNvSpPr>
            <a:spLocks noChangeArrowheads="1" noChangeShapeType="1" noTextEdit="1"/>
          </p:cNvSpPr>
          <p:nvPr/>
        </p:nvSpPr>
        <p:spPr bwMode="auto">
          <a:xfrm>
            <a:off x="3124200" y="1066800"/>
            <a:ext cx="2895600" cy="647700"/>
          </a:xfrm>
          <a:prstGeom prst="rect">
            <a:avLst/>
          </a:prstGeom>
        </p:spPr>
        <p:txBody>
          <a:bodyPr wrap="none" fromWordArt="1">
            <a:prstTxWarp prst="textPlain">
              <a:avLst>
                <a:gd name="adj" fmla="val 50000"/>
              </a:avLst>
            </a:prstTxWarp>
          </a:bodyPr>
          <a:lstStyle/>
          <a:p>
            <a:pPr algn="ctr"/>
            <a:r>
              <a:rPr lang="en-IN" sz="3600" kern="10">
                <a:ln w="9525">
                  <a:solidFill>
                    <a:srgbClr val="000000"/>
                  </a:solidFill>
                  <a:round/>
                  <a:headEnd/>
                  <a:tailEnd/>
                </a:ln>
                <a:solidFill>
                  <a:srgbClr val="A50021"/>
                </a:solidFill>
                <a:latin typeface="Arial Black"/>
              </a:rPr>
              <a:t>CHAPTER 5</a:t>
            </a:r>
          </a:p>
        </p:txBody>
      </p:sp>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2"/>
          <p:cNvSpPr txBox="1">
            <a:spLocks noChangeArrowheads="1"/>
          </p:cNvSpPr>
          <p:nvPr/>
        </p:nvSpPr>
        <p:spPr bwMode="auto">
          <a:xfrm>
            <a:off x="1876425" y="852488"/>
            <a:ext cx="5376863" cy="823912"/>
          </a:xfrm>
          <a:prstGeom prst="rect">
            <a:avLst/>
          </a:prstGeom>
          <a:ln>
            <a:headEnd/>
            <a:tailEnd/>
          </a:ln>
        </p:spPr>
        <p:style>
          <a:lnRef idx="1">
            <a:schemeClr val="accent4"/>
          </a:lnRef>
          <a:fillRef idx="3">
            <a:schemeClr val="accent4"/>
          </a:fillRef>
          <a:effectRef idx="2">
            <a:schemeClr val="accent4"/>
          </a:effectRef>
          <a:fontRef idx="minor">
            <a:schemeClr val="lt1"/>
          </a:fontRef>
        </p:style>
        <p:txBody>
          <a:bodyPr wrap="none">
            <a:spAutoFit/>
          </a:bodyPr>
          <a:lstStyle/>
          <a:p>
            <a:pPr>
              <a:defRPr/>
            </a:pPr>
            <a:r>
              <a:rPr lang="en-US" sz="4800" b="1" dirty="0">
                <a:solidFill>
                  <a:srgbClr val="66FFFF"/>
                </a:solidFill>
                <a:effectLst>
                  <a:outerShdw blurRad="38100" dist="38100" dir="2700000" algn="tl">
                    <a:srgbClr val="000000"/>
                  </a:outerShdw>
                </a:effectLst>
                <a:latin typeface="Arial Unicode MS" pitchFamily="34" charset="-128"/>
                <a:cs typeface="Times New Roman" pitchFamily="18" charset="0"/>
              </a:rPr>
              <a:t>Session Objectives</a:t>
            </a:r>
          </a:p>
        </p:txBody>
      </p:sp>
      <p:sp>
        <p:nvSpPr>
          <p:cNvPr id="20483" name="Text Box 3"/>
          <p:cNvSpPr txBox="1">
            <a:spLocks noChangeArrowheads="1"/>
          </p:cNvSpPr>
          <p:nvPr/>
        </p:nvSpPr>
        <p:spPr bwMode="auto">
          <a:xfrm>
            <a:off x="885825" y="2147888"/>
            <a:ext cx="3697288" cy="519112"/>
          </a:xfrm>
          <a:prstGeom prst="rect">
            <a:avLst/>
          </a:prstGeom>
          <a:noFill/>
          <a:ln w="9525">
            <a:noFill/>
            <a:miter lim="800000"/>
            <a:headEnd/>
            <a:tailEnd/>
          </a:ln>
        </p:spPr>
        <p:txBody>
          <a:bodyPr wrap="none">
            <a:spAutoFit/>
          </a:bodyPr>
          <a:lstStyle/>
          <a:p>
            <a:pPr>
              <a:buFontTx/>
              <a:buBlip>
                <a:blip r:embed="rId2"/>
              </a:buBlip>
            </a:pPr>
            <a:r>
              <a:rPr lang="en-US" sz="2800" b="1">
                <a:solidFill>
                  <a:schemeClr val="tx2"/>
                </a:solidFill>
                <a:latin typeface="Times New Roman" pitchFamily="18" charset="0"/>
                <a:cs typeface="Times New Roman" pitchFamily="18" charset="0"/>
              </a:rPr>
              <a:t> Explain Overloading</a:t>
            </a:r>
          </a:p>
        </p:txBody>
      </p:sp>
      <p:sp>
        <p:nvSpPr>
          <p:cNvPr id="20484" name="Text Box 4"/>
          <p:cNvSpPr txBox="1">
            <a:spLocks noChangeArrowheads="1"/>
          </p:cNvSpPr>
          <p:nvPr/>
        </p:nvSpPr>
        <p:spPr bwMode="auto">
          <a:xfrm>
            <a:off x="885825" y="2909888"/>
            <a:ext cx="6542088" cy="519112"/>
          </a:xfrm>
          <a:prstGeom prst="rect">
            <a:avLst/>
          </a:prstGeom>
          <a:noFill/>
          <a:ln w="9525">
            <a:noFill/>
            <a:miter lim="800000"/>
            <a:headEnd/>
            <a:tailEnd/>
          </a:ln>
        </p:spPr>
        <p:txBody>
          <a:bodyPr wrap="none">
            <a:spAutoFit/>
          </a:bodyPr>
          <a:lstStyle/>
          <a:p>
            <a:pPr>
              <a:buFontTx/>
              <a:buBlip>
                <a:blip r:embed="rId2"/>
              </a:buBlip>
            </a:pPr>
            <a:r>
              <a:rPr lang="en-US" sz="2800">
                <a:solidFill>
                  <a:schemeClr val="tx2"/>
                </a:solidFill>
                <a:latin typeface="Times New Roman" pitchFamily="18" charset="0"/>
                <a:cs typeface="Times New Roman" pitchFamily="18" charset="0"/>
              </a:rPr>
              <a:t> </a:t>
            </a:r>
            <a:r>
              <a:rPr lang="en-US" sz="2800" b="1">
                <a:solidFill>
                  <a:schemeClr val="tx2"/>
                </a:solidFill>
                <a:latin typeface="Times New Roman" pitchFamily="18" charset="0"/>
                <a:cs typeface="Times New Roman" pitchFamily="18" charset="0"/>
              </a:rPr>
              <a:t>Explain Member Function Overloading</a:t>
            </a:r>
          </a:p>
        </p:txBody>
      </p:sp>
      <p:sp>
        <p:nvSpPr>
          <p:cNvPr id="20485" name="Text Box 5"/>
          <p:cNvSpPr txBox="1">
            <a:spLocks noChangeArrowheads="1"/>
          </p:cNvSpPr>
          <p:nvPr/>
        </p:nvSpPr>
        <p:spPr bwMode="auto">
          <a:xfrm>
            <a:off x="962025" y="3824288"/>
            <a:ext cx="8056563" cy="519112"/>
          </a:xfrm>
          <a:prstGeom prst="rect">
            <a:avLst/>
          </a:prstGeom>
          <a:noFill/>
          <a:ln w="9525">
            <a:noFill/>
            <a:miter lim="800000"/>
            <a:headEnd/>
            <a:tailEnd/>
          </a:ln>
        </p:spPr>
        <p:txBody>
          <a:bodyPr wrap="none">
            <a:spAutoFit/>
          </a:bodyPr>
          <a:lstStyle/>
          <a:p>
            <a:pPr>
              <a:buFontTx/>
              <a:buBlip>
                <a:blip r:embed="rId2"/>
              </a:buBlip>
            </a:pPr>
            <a:r>
              <a:rPr lang="en-US" sz="2800" b="1">
                <a:solidFill>
                  <a:schemeClr val="tx2"/>
                </a:solidFill>
                <a:latin typeface="Times New Roman" pitchFamily="18" charset="0"/>
                <a:cs typeface="Times New Roman" pitchFamily="18" charset="0"/>
              </a:rPr>
              <a:t> member Function Overloading with default Args.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88" fill="hold" grpId="0" nodeType="afterEffect">
                                  <p:stCondLst>
                                    <p:cond delay="0"/>
                                  </p:stCondLst>
                                  <p:childTnLst>
                                    <p:set>
                                      <p:cBhvr>
                                        <p:cTn id="6" dur="1" fill="hold">
                                          <p:stCondLst>
                                            <p:cond delay="0"/>
                                          </p:stCondLst>
                                        </p:cTn>
                                        <p:tgtEl>
                                          <p:spTgt spid="20483"/>
                                        </p:tgtEl>
                                        <p:attrNameLst>
                                          <p:attrName>style.visibility</p:attrName>
                                        </p:attrNameLst>
                                      </p:cBhvr>
                                      <p:to>
                                        <p:strVal val="visible"/>
                                      </p:to>
                                    </p:set>
                                    <p:anim calcmode="lin" valueType="num">
                                      <p:cBhvr>
                                        <p:cTn id="7" dur="500" fill="hold"/>
                                        <p:tgtEl>
                                          <p:spTgt spid="20483"/>
                                        </p:tgtEl>
                                        <p:attrNameLst>
                                          <p:attrName>ppt_w</p:attrName>
                                        </p:attrNameLst>
                                      </p:cBhvr>
                                      <p:tavLst>
                                        <p:tav tm="0">
                                          <p:val>
                                            <p:strVal val="4/3*#ppt_w"/>
                                          </p:val>
                                        </p:tav>
                                        <p:tav tm="100000">
                                          <p:val>
                                            <p:strVal val="#ppt_w"/>
                                          </p:val>
                                        </p:tav>
                                      </p:tavLst>
                                    </p:anim>
                                    <p:anim calcmode="lin" valueType="num">
                                      <p:cBhvr>
                                        <p:cTn id="8" dur="500" fill="hold"/>
                                        <p:tgtEl>
                                          <p:spTgt spid="20483"/>
                                        </p:tgtEl>
                                        <p:attrNameLst>
                                          <p:attrName>ppt_h</p:attrName>
                                        </p:attrNameLst>
                                      </p:cBhvr>
                                      <p:tavLst>
                                        <p:tav tm="0">
                                          <p:val>
                                            <p:strVal val="4/3*#ppt_h"/>
                                          </p:val>
                                        </p:tav>
                                        <p:tav tm="100000">
                                          <p:val>
                                            <p:strVal val="#ppt_h"/>
                                          </p:val>
                                        </p:tav>
                                      </p:tavLst>
                                    </p:anim>
                                  </p:childTnLst>
                                </p:cTn>
                              </p:par>
                            </p:childTnLst>
                          </p:cTn>
                        </p:par>
                        <p:par>
                          <p:cTn id="9" fill="hold">
                            <p:stCondLst>
                              <p:cond delay="500"/>
                            </p:stCondLst>
                            <p:childTnLst>
                              <p:par>
                                <p:cTn id="10" presetID="23" presetClass="entr" presetSubtype="288" fill="hold" grpId="0" nodeType="afterEffect">
                                  <p:stCondLst>
                                    <p:cond delay="0"/>
                                  </p:stCondLst>
                                  <p:childTnLst>
                                    <p:set>
                                      <p:cBhvr>
                                        <p:cTn id="11" dur="1" fill="hold">
                                          <p:stCondLst>
                                            <p:cond delay="0"/>
                                          </p:stCondLst>
                                        </p:cTn>
                                        <p:tgtEl>
                                          <p:spTgt spid="20484"/>
                                        </p:tgtEl>
                                        <p:attrNameLst>
                                          <p:attrName>style.visibility</p:attrName>
                                        </p:attrNameLst>
                                      </p:cBhvr>
                                      <p:to>
                                        <p:strVal val="visible"/>
                                      </p:to>
                                    </p:set>
                                    <p:anim calcmode="lin" valueType="num">
                                      <p:cBhvr>
                                        <p:cTn id="12" dur="500" fill="hold"/>
                                        <p:tgtEl>
                                          <p:spTgt spid="20484"/>
                                        </p:tgtEl>
                                        <p:attrNameLst>
                                          <p:attrName>ppt_w</p:attrName>
                                        </p:attrNameLst>
                                      </p:cBhvr>
                                      <p:tavLst>
                                        <p:tav tm="0">
                                          <p:val>
                                            <p:strVal val="4/3*#ppt_w"/>
                                          </p:val>
                                        </p:tav>
                                        <p:tav tm="100000">
                                          <p:val>
                                            <p:strVal val="#ppt_w"/>
                                          </p:val>
                                        </p:tav>
                                      </p:tavLst>
                                    </p:anim>
                                    <p:anim calcmode="lin" valueType="num">
                                      <p:cBhvr>
                                        <p:cTn id="13" dur="500" fill="hold"/>
                                        <p:tgtEl>
                                          <p:spTgt spid="20484"/>
                                        </p:tgtEl>
                                        <p:attrNameLst>
                                          <p:attrName>ppt_h</p:attrName>
                                        </p:attrNameLst>
                                      </p:cBhvr>
                                      <p:tavLst>
                                        <p:tav tm="0">
                                          <p:val>
                                            <p:strVal val="4/3*#ppt_h"/>
                                          </p:val>
                                        </p:tav>
                                        <p:tav tm="100000">
                                          <p:val>
                                            <p:strVal val="#ppt_h"/>
                                          </p:val>
                                        </p:tav>
                                      </p:tavLst>
                                    </p:anim>
                                  </p:childTnLst>
                                </p:cTn>
                              </p:par>
                            </p:childTnLst>
                          </p:cTn>
                        </p:par>
                        <p:par>
                          <p:cTn id="14" fill="hold">
                            <p:stCondLst>
                              <p:cond delay="1000"/>
                            </p:stCondLst>
                            <p:childTnLst>
                              <p:par>
                                <p:cTn id="15" presetID="23" presetClass="entr" presetSubtype="288" fill="hold" grpId="0" nodeType="afterEffect">
                                  <p:stCondLst>
                                    <p:cond delay="0"/>
                                  </p:stCondLst>
                                  <p:childTnLst>
                                    <p:set>
                                      <p:cBhvr>
                                        <p:cTn id="16" dur="1" fill="hold">
                                          <p:stCondLst>
                                            <p:cond delay="0"/>
                                          </p:stCondLst>
                                        </p:cTn>
                                        <p:tgtEl>
                                          <p:spTgt spid="20485"/>
                                        </p:tgtEl>
                                        <p:attrNameLst>
                                          <p:attrName>style.visibility</p:attrName>
                                        </p:attrNameLst>
                                      </p:cBhvr>
                                      <p:to>
                                        <p:strVal val="visible"/>
                                      </p:to>
                                    </p:set>
                                    <p:anim calcmode="lin" valueType="num">
                                      <p:cBhvr>
                                        <p:cTn id="17" dur="500" fill="hold"/>
                                        <p:tgtEl>
                                          <p:spTgt spid="20485"/>
                                        </p:tgtEl>
                                        <p:attrNameLst>
                                          <p:attrName>ppt_w</p:attrName>
                                        </p:attrNameLst>
                                      </p:cBhvr>
                                      <p:tavLst>
                                        <p:tav tm="0">
                                          <p:val>
                                            <p:strVal val="4/3*#ppt_w"/>
                                          </p:val>
                                        </p:tav>
                                        <p:tav tm="100000">
                                          <p:val>
                                            <p:strVal val="#ppt_w"/>
                                          </p:val>
                                        </p:tav>
                                      </p:tavLst>
                                    </p:anim>
                                    <p:anim calcmode="lin" valueType="num">
                                      <p:cBhvr>
                                        <p:cTn id="18" dur="500" fill="hold"/>
                                        <p:tgtEl>
                                          <p:spTgt spid="20485"/>
                                        </p:tgtEl>
                                        <p:attrNameLst>
                                          <p:attrName>ppt_h</p:attrName>
                                        </p:attrNameLst>
                                      </p:cBhvr>
                                      <p:tavLst>
                                        <p:tav tm="0">
                                          <p:val>
                                            <p:strVal val="4/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autoUpdateAnimBg="0"/>
      <p:bldP spid="20484" grpId="0" autoUpdateAnimBg="0"/>
      <p:bldP spid="20485" grpId="0" autoUpdateAnimBg="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Oval 2"/>
          <p:cNvSpPr>
            <a:spLocks noChangeArrowheads="1"/>
          </p:cNvSpPr>
          <p:nvPr/>
        </p:nvSpPr>
        <p:spPr bwMode="auto">
          <a:xfrm>
            <a:off x="2743200" y="381000"/>
            <a:ext cx="4267200" cy="990600"/>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4099" name="Rectangle 3"/>
          <p:cNvSpPr>
            <a:spLocks noGrp="1" noChangeArrowheads="1"/>
          </p:cNvSpPr>
          <p:nvPr>
            <p:ph type="title"/>
          </p:nvPr>
        </p:nvSpPr>
        <p:spPr>
          <a:xfrm>
            <a:off x="457200" y="582613"/>
            <a:ext cx="8229600" cy="569912"/>
          </a:xfrm>
        </p:spPr>
        <p:txBody>
          <a:bodyPr>
            <a:normAutofit fontScale="90000"/>
          </a:bodyPr>
          <a:lstStyle/>
          <a:p>
            <a:pPr eaLnBrk="1" hangingPunct="1"/>
            <a:r>
              <a:rPr lang="en-US" sz="4000" smtClean="0"/>
              <a:t>   </a:t>
            </a:r>
            <a:r>
              <a:rPr lang="en-US" sz="4000" b="1" smtClean="0">
                <a:solidFill>
                  <a:srgbClr val="990000"/>
                </a:solidFill>
              </a:rPr>
              <a:t>Overloading</a:t>
            </a:r>
          </a:p>
        </p:txBody>
      </p:sp>
      <p:sp>
        <p:nvSpPr>
          <p:cNvPr id="4100" name="Rectangle 4"/>
          <p:cNvSpPr>
            <a:spLocks noGrp="1" noChangeArrowheads="1"/>
          </p:cNvSpPr>
          <p:nvPr>
            <p:ph type="body" idx="1"/>
          </p:nvPr>
        </p:nvSpPr>
        <p:spPr>
          <a:xfrm>
            <a:off x="304800" y="1524000"/>
            <a:ext cx="8458200" cy="5257800"/>
          </a:xfrm>
          <a:ln>
            <a:solidFill>
              <a:srgbClr val="990033"/>
            </a:solidFill>
          </a:ln>
        </p:spPr>
        <p:txBody>
          <a:bodyPr/>
          <a:lstStyle/>
          <a:p>
            <a:pPr algn="just" eaLnBrk="1" hangingPunct="1">
              <a:lnSpc>
                <a:spcPct val="140000"/>
              </a:lnSpc>
            </a:pPr>
            <a:r>
              <a:rPr lang="en-US" sz="2800" b="1" smtClean="0">
                <a:solidFill>
                  <a:srgbClr val="990000"/>
                </a:solidFill>
                <a:latin typeface="Times New Roman" pitchFamily="18" charset="0"/>
              </a:rPr>
              <a:t>Another powerful and useful concept of object oriented programming is overloading</a:t>
            </a:r>
          </a:p>
          <a:p>
            <a:pPr algn="just" eaLnBrk="1" hangingPunct="1">
              <a:lnSpc>
                <a:spcPct val="140000"/>
              </a:lnSpc>
            </a:pPr>
            <a:r>
              <a:rPr lang="en-US" sz="2800" b="1" smtClean="0">
                <a:solidFill>
                  <a:srgbClr val="990000"/>
                </a:solidFill>
                <a:latin typeface="Times New Roman" pitchFamily="18" charset="0"/>
              </a:rPr>
              <a:t>which allows operation with the same name but different semantics and different ways of implementation to be invoked for object of differnt types.</a:t>
            </a:r>
          </a:p>
          <a:p>
            <a:pPr algn="just" eaLnBrk="1" hangingPunct="1">
              <a:lnSpc>
                <a:spcPct val="140000"/>
              </a:lnSpc>
            </a:pPr>
            <a:r>
              <a:rPr lang="en-US" sz="2800" b="1" smtClean="0">
                <a:solidFill>
                  <a:srgbClr val="990000"/>
                </a:solidFill>
                <a:latin typeface="Times New Roman" pitchFamily="18" charset="0"/>
              </a:rPr>
              <a:t>For instance,binary operation can be overloaded for complex number arrays,set or list</a:t>
            </a:r>
          </a:p>
        </p:txBody>
      </p:sp>
    </p:spTree>
  </p:cSld>
  <p:clrMapOvr>
    <a:masterClrMapping/>
  </p:clrMapOvr>
  <p:transition/>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Oval 2"/>
          <p:cNvSpPr>
            <a:spLocks noChangeArrowheads="1"/>
          </p:cNvSpPr>
          <p:nvPr/>
        </p:nvSpPr>
        <p:spPr bwMode="auto">
          <a:xfrm>
            <a:off x="685800" y="152400"/>
            <a:ext cx="7696200" cy="990600"/>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5123" name="Rectangle 3"/>
          <p:cNvSpPr>
            <a:spLocks noGrp="1" noChangeArrowheads="1"/>
          </p:cNvSpPr>
          <p:nvPr>
            <p:ph type="title"/>
          </p:nvPr>
        </p:nvSpPr>
        <p:spPr>
          <a:xfrm>
            <a:off x="457200" y="384175"/>
            <a:ext cx="8229600" cy="569913"/>
          </a:xfrm>
        </p:spPr>
        <p:txBody>
          <a:bodyPr>
            <a:normAutofit fontScale="90000"/>
          </a:bodyPr>
          <a:lstStyle/>
          <a:p>
            <a:pPr eaLnBrk="1" hangingPunct="1"/>
            <a:r>
              <a:rPr lang="en-US" sz="4000" smtClean="0"/>
              <a:t>   </a:t>
            </a:r>
            <a:r>
              <a:rPr lang="en-US" sz="4000" b="1" smtClean="0">
                <a:solidFill>
                  <a:srgbClr val="990000"/>
                </a:solidFill>
              </a:rPr>
              <a:t>Function Overloading</a:t>
            </a:r>
          </a:p>
        </p:txBody>
      </p:sp>
      <p:sp>
        <p:nvSpPr>
          <p:cNvPr id="5124" name="Rectangle 4"/>
          <p:cNvSpPr>
            <a:spLocks noGrp="1" noChangeArrowheads="1"/>
          </p:cNvSpPr>
          <p:nvPr>
            <p:ph type="body" idx="1"/>
          </p:nvPr>
        </p:nvSpPr>
        <p:spPr>
          <a:xfrm>
            <a:off x="152400" y="1295400"/>
            <a:ext cx="8686800" cy="2133600"/>
          </a:xfrm>
        </p:spPr>
        <p:txBody>
          <a:bodyPr/>
          <a:lstStyle/>
          <a:p>
            <a:pPr algn="just" eaLnBrk="1" hangingPunct="1">
              <a:lnSpc>
                <a:spcPct val="125000"/>
              </a:lnSpc>
            </a:pPr>
            <a:r>
              <a:rPr lang="en-US" sz="2400" b="1" smtClean="0">
                <a:solidFill>
                  <a:srgbClr val="990000"/>
                </a:solidFill>
              </a:rPr>
              <a:t>                   </a:t>
            </a:r>
            <a:r>
              <a:rPr lang="en-US" sz="2400" b="1" smtClean="0">
                <a:solidFill>
                  <a:srgbClr val="990000"/>
                </a:solidFill>
                <a:latin typeface="Times New Roman" pitchFamily="18" charset="0"/>
              </a:rPr>
              <a:t>C++ enable two or more functions with the same name but with different types of arguments  or different number of arguments. It is also called as “Function Polymorphism”</a:t>
            </a:r>
          </a:p>
        </p:txBody>
      </p:sp>
      <p:sp>
        <p:nvSpPr>
          <p:cNvPr id="5125" name="WordArt 5"/>
          <p:cNvSpPr>
            <a:spLocks noChangeArrowheads="1" noChangeShapeType="1" noTextEdit="1"/>
          </p:cNvSpPr>
          <p:nvPr/>
        </p:nvSpPr>
        <p:spPr bwMode="auto">
          <a:xfrm>
            <a:off x="3429000" y="3276600"/>
            <a:ext cx="1905000" cy="571500"/>
          </a:xfrm>
          <a:prstGeom prst="rect">
            <a:avLst/>
          </a:prstGeom>
        </p:spPr>
        <p:txBody>
          <a:bodyPr wrap="none" fromWordArt="1">
            <a:prstTxWarp prst="textPlain">
              <a:avLst>
                <a:gd name="adj" fmla="val 50000"/>
              </a:avLst>
            </a:prstTxWarp>
          </a:bodyPr>
          <a:lstStyle/>
          <a:p>
            <a:pPr algn="ctr"/>
            <a:r>
              <a:rPr lang="en-IN" sz="3600" kern="10">
                <a:ln w="9525">
                  <a:noFill/>
                  <a:round/>
                  <a:headEnd/>
                  <a:tailEnd/>
                </a:ln>
                <a:solidFill>
                  <a:srgbClr val="FF0066"/>
                </a:solidFill>
                <a:effectLst>
                  <a:outerShdw dist="35921" dir="2700000" algn="ctr" rotWithShape="0">
                    <a:srgbClr val="C0C0C0">
                      <a:alpha val="79999"/>
                    </a:srgbClr>
                  </a:outerShdw>
                </a:effectLst>
                <a:latin typeface="Impact"/>
              </a:rPr>
              <a:t>Types</a:t>
            </a:r>
          </a:p>
        </p:txBody>
      </p:sp>
      <p:sp>
        <p:nvSpPr>
          <p:cNvPr id="5126" name="WordArt 6"/>
          <p:cNvSpPr>
            <a:spLocks noChangeArrowheads="1" noChangeShapeType="1" noTextEdit="1"/>
          </p:cNvSpPr>
          <p:nvPr/>
        </p:nvSpPr>
        <p:spPr bwMode="auto">
          <a:xfrm>
            <a:off x="609600" y="4076700"/>
            <a:ext cx="8077200" cy="571500"/>
          </a:xfrm>
          <a:prstGeom prst="rect">
            <a:avLst/>
          </a:prstGeom>
        </p:spPr>
        <p:txBody>
          <a:bodyPr wrap="none" fromWordArt="1">
            <a:prstTxWarp prst="textPlain">
              <a:avLst>
                <a:gd name="adj" fmla="val 50000"/>
              </a:avLst>
            </a:prstTxWarp>
          </a:bodyPr>
          <a:lstStyle/>
          <a:p>
            <a:pPr algn="ctr"/>
            <a:r>
              <a:rPr lang="en-IN" sz="3600" b="1" kern="10">
                <a:ln w="9525">
                  <a:noFill/>
                  <a:round/>
                  <a:headEnd/>
                  <a:tailEnd/>
                </a:ln>
                <a:solidFill>
                  <a:srgbClr val="0033CC"/>
                </a:solidFill>
                <a:effectLst>
                  <a:outerShdw dist="35921" dir="2700000" algn="ctr" rotWithShape="0">
                    <a:srgbClr val="C0C0C0">
                      <a:alpha val="79999"/>
                    </a:srgbClr>
                  </a:outerShdw>
                </a:effectLst>
                <a:latin typeface="Times New Roman"/>
                <a:cs typeface="Times New Roman"/>
              </a:rPr>
              <a:t>Overloading  with different types of arguments</a:t>
            </a:r>
          </a:p>
        </p:txBody>
      </p:sp>
      <p:sp>
        <p:nvSpPr>
          <p:cNvPr id="5127" name="WordArt 7"/>
          <p:cNvSpPr>
            <a:spLocks noChangeArrowheads="1" noChangeShapeType="1" noTextEdit="1"/>
          </p:cNvSpPr>
          <p:nvPr/>
        </p:nvSpPr>
        <p:spPr bwMode="auto">
          <a:xfrm>
            <a:off x="609600" y="4914900"/>
            <a:ext cx="8077200" cy="571500"/>
          </a:xfrm>
          <a:prstGeom prst="rect">
            <a:avLst/>
          </a:prstGeom>
        </p:spPr>
        <p:txBody>
          <a:bodyPr wrap="none" fromWordArt="1">
            <a:prstTxWarp prst="textPlain">
              <a:avLst>
                <a:gd name="adj" fmla="val 50000"/>
              </a:avLst>
            </a:prstTxWarp>
          </a:bodyPr>
          <a:lstStyle/>
          <a:p>
            <a:pPr algn="ctr"/>
            <a:r>
              <a:rPr lang="en-IN" sz="3600" b="1" kern="10">
                <a:ln w="9525">
                  <a:noFill/>
                  <a:round/>
                  <a:headEnd/>
                  <a:tailEnd/>
                </a:ln>
                <a:solidFill>
                  <a:srgbClr val="0033CC"/>
                </a:solidFill>
                <a:effectLst>
                  <a:outerShdw dist="35921" dir="2700000" algn="ctr" rotWithShape="0">
                    <a:srgbClr val="C0C0C0">
                      <a:alpha val="79999"/>
                    </a:srgbClr>
                  </a:outerShdw>
                </a:effectLst>
                <a:latin typeface="Times New Roman"/>
                <a:cs typeface="Times New Roman"/>
              </a:rPr>
              <a:t>Overloading  with different number of arguments</a:t>
            </a:r>
          </a:p>
        </p:txBody>
      </p:sp>
    </p:spTree>
  </p:cSld>
  <p:clrMapOvr>
    <a:masterClrMapping/>
  </p:clrMapOvr>
  <p:transition/>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WordArt 2"/>
          <p:cNvSpPr>
            <a:spLocks noChangeArrowheads="1" noChangeShapeType="1" noTextEdit="1"/>
          </p:cNvSpPr>
          <p:nvPr/>
        </p:nvSpPr>
        <p:spPr bwMode="auto">
          <a:xfrm rot="-1281770">
            <a:off x="685800" y="2057400"/>
            <a:ext cx="8077200" cy="1676400"/>
          </a:xfrm>
          <a:prstGeom prst="rect">
            <a:avLst/>
          </a:prstGeom>
        </p:spPr>
        <p:txBody>
          <a:bodyPr wrap="none" fromWordArt="1">
            <a:prstTxWarp prst="textSlantUp">
              <a:avLst>
                <a:gd name="adj" fmla="val 55556"/>
              </a:avLst>
            </a:prstTxWarp>
          </a:bodyPr>
          <a:lstStyle/>
          <a:p>
            <a:pPr algn="ctr"/>
            <a:r>
              <a:rPr lang="en-IN"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1260000" scaled="1"/>
                </a:gradFill>
                <a:effectLst>
                  <a:outerShdw dist="35921" dir="2700000" sy="50000" kx="2115830" algn="bl" rotWithShape="0">
                    <a:srgbClr val="C0C0C0">
                      <a:alpha val="79999"/>
                    </a:srgbClr>
                  </a:outerShdw>
                </a:effectLst>
                <a:latin typeface="Arial Black"/>
              </a:rPr>
              <a:t>Overloading  with different types of arguments</a:t>
            </a:r>
          </a:p>
        </p:txBody>
      </p:sp>
      <p:sp>
        <p:nvSpPr>
          <p:cNvPr id="6147" name="Text Box 3"/>
          <p:cNvSpPr txBox="1">
            <a:spLocks noChangeArrowheads="1"/>
          </p:cNvSpPr>
          <p:nvPr/>
        </p:nvSpPr>
        <p:spPr bwMode="auto">
          <a:xfrm>
            <a:off x="609600" y="4953000"/>
            <a:ext cx="8001000" cy="822325"/>
          </a:xfrm>
          <a:prstGeom prst="rect">
            <a:avLst/>
          </a:prstGeom>
          <a:noFill/>
          <a:ln w="9525">
            <a:noFill/>
            <a:miter lim="800000"/>
            <a:headEnd/>
            <a:tailEnd/>
          </a:ln>
        </p:spPr>
        <p:txBody>
          <a:bodyPr>
            <a:spAutoFit/>
          </a:bodyPr>
          <a:lstStyle/>
          <a:p>
            <a:pPr algn="just" eaLnBrk="0" hangingPunct="0">
              <a:spcBef>
                <a:spcPct val="50000"/>
              </a:spcBef>
            </a:pPr>
            <a:r>
              <a:rPr lang="en-US" sz="2400" b="1">
                <a:solidFill>
                  <a:srgbClr val="800000"/>
                </a:solidFill>
                <a:latin typeface="Bookman Old Style" pitchFamily="18" charset="0"/>
              </a:rPr>
              <a:t>             Two or more functions with the same name but with different types of arguments</a:t>
            </a:r>
          </a:p>
        </p:txBody>
      </p:sp>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ChangeArrowheads="1"/>
          </p:cNvSpPr>
          <p:nvPr/>
        </p:nvSpPr>
        <p:spPr bwMode="auto">
          <a:xfrm>
            <a:off x="457200" y="631825"/>
            <a:ext cx="4572000" cy="5773738"/>
          </a:xfrm>
          <a:prstGeom prst="rect">
            <a:avLst/>
          </a:prstGeom>
          <a:noFill/>
          <a:ln w="9525">
            <a:solidFill>
              <a:srgbClr val="990033"/>
            </a:solidFill>
            <a:miter lim="800000"/>
            <a:headEnd/>
            <a:tailEnd/>
          </a:ln>
        </p:spPr>
        <p:txBody>
          <a:bodyPr>
            <a:spAutoFit/>
          </a:bodyPr>
          <a:lstStyle/>
          <a:p>
            <a:pPr eaLnBrk="0" hangingPunct="0"/>
            <a:r>
              <a:rPr lang="en-US" sz="3200" b="1">
                <a:solidFill>
                  <a:srgbClr val="000066"/>
                </a:solidFill>
                <a:latin typeface="Times New Roman" pitchFamily="18" charset="0"/>
              </a:rPr>
              <a:t>MEMBER FUNCTION OVERLOADING</a:t>
            </a:r>
          </a:p>
          <a:p>
            <a:pPr eaLnBrk="0" hangingPunct="0"/>
            <a:r>
              <a:rPr lang="en-US" sz="2800" b="1">
                <a:solidFill>
                  <a:srgbClr val="000066"/>
                </a:solidFill>
                <a:latin typeface="Times New Roman" pitchFamily="18" charset="0"/>
              </a:rPr>
              <a:t>#include&lt;iostream.h&gt;</a:t>
            </a:r>
          </a:p>
          <a:p>
            <a:pPr eaLnBrk="0" hangingPunct="0"/>
            <a:r>
              <a:rPr lang="en-US" sz="2800" b="1">
                <a:solidFill>
                  <a:srgbClr val="000066"/>
                </a:solidFill>
                <a:latin typeface="Times New Roman" pitchFamily="18" charset="0"/>
              </a:rPr>
              <a:t>#include&lt;conio.h&gt;</a:t>
            </a:r>
          </a:p>
          <a:p>
            <a:pPr eaLnBrk="0" hangingPunct="0"/>
            <a:r>
              <a:rPr lang="en-US" sz="2800" b="1">
                <a:solidFill>
                  <a:srgbClr val="000066"/>
                </a:solidFill>
                <a:latin typeface="Times New Roman" pitchFamily="18" charset="0"/>
              </a:rPr>
              <a:t>void display(char,int);</a:t>
            </a:r>
          </a:p>
          <a:p>
            <a:pPr eaLnBrk="0" hangingPunct="0"/>
            <a:r>
              <a:rPr lang="en-US" sz="2800" b="1">
                <a:solidFill>
                  <a:srgbClr val="000066"/>
                </a:solidFill>
                <a:latin typeface="Times New Roman" pitchFamily="18" charset="0"/>
              </a:rPr>
              <a:t>void display(int,int);</a:t>
            </a:r>
          </a:p>
          <a:p>
            <a:pPr eaLnBrk="0" hangingPunct="0"/>
            <a:r>
              <a:rPr lang="en-US" sz="2800" b="1">
                <a:solidFill>
                  <a:srgbClr val="000066"/>
                </a:solidFill>
                <a:latin typeface="Times New Roman" pitchFamily="18" charset="0"/>
              </a:rPr>
              <a:t>void main()</a:t>
            </a:r>
          </a:p>
          <a:p>
            <a:pPr eaLnBrk="0" hangingPunct="0"/>
            <a:r>
              <a:rPr lang="en-US" sz="2800" b="1">
                <a:solidFill>
                  <a:srgbClr val="000066"/>
                </a:solidFill>
                <a:latin typeface="Times New Roman" pitchFamily="18" charset="0"/>
              </a:rPr>
              <a:t>{</a:t>
            </a:r>
          </a:p>
          <a:p>
            <a:pPr eaLnBrk="0" hangingPunct="0"/>
            <a:r>
              <a:rPr lang="en-US" sz="2800" b="1">
                <a:solidFill>
                  <a:srgbClr val="000066"/>
                </a:solidFill>
                <a:latin typeface="Times New Roman" pitchFamily="18" charset="0"/>
              </a:rPr>
              <a:t>clrscr();</a:t>
            </a:r>
          </a:p>
          <a:p>
            <a:pPr eaLnBrk="0" hangingPunct="0"/>
            <a:r>
              <a:rPr lang="en-US" sz="2800" b="1">
                <a:solidFill>
                  <a:srgbClr val="000066"/>
                </a:solidFill>
                <a:latin typeface="Times New Roman" pitchFamily="18" charset="0"/>
              </a:rPr>
              <a:t>display('*',10);</a:t>
            </a:r>
          </a:p>
          <a:p>
            <a:pPr eaLnBrk="0" hangingPunct="0"/>
            <a:r>
              <a:rPr lang="en-US" sz="2800" b="1">
                <a:solidFill>
                  <a:srgbClr val="000066"/>
                </a:solidFill>
                <a:latin typeface="Times New Roman" pitchFamily="18" charset="0"/>
              </a:rPr>
              <a:t>display(10,5);</a:t>
            </a:r>
          </a:p>
          <a:p>
            <a:pPr eaLnBrk="0" hangingPunct="0"/>
            <a:r>
              <a:rPr lang="en-US" sz="2800" b="1">
                <a:solidFill>
                  <a:srgbClr val="000066"/>
                </a:solidFill>
                <a:latin typeface="Times New Roman" pitchFamily="18" charset="0"/>
              </a:rPr>
              <a:t>getch();</a:t>
            </a:r>
          </a:p>
          <a:p>
            <a:pPr eaLnBrk="0" hangingPunct="0"/>
            <a:r>
              <a:rPr lang="en-US" sz="2800" b="1">
                <a:solidFill>
                  <a:srgbClr val="000066"/>
                </a:solidFill>
                <a:latin typeface="Times New Roman" pitchFamily="18" charset="0"/>
              </a:rPr>
              <a:t>}</a:t>
            </a:r>
          </a:p>
        </p:txBody>
      </p:sp>
      <p:sp>
        <p:nvSpPr>
          <p:cNvPr id="7171" name="Rectangle 3"/>
          <p:cNvSpPr>
            <a:spLocks noChangeArrowheads="1"/>
          </p:cNvSpPr>
          <p:nvPr/>
        </p:nvSpPr>
        <p:spPr bwMode="auto">
          <a:xfrm>
            <a:off x="5029200" y="838200"/>
            <a:ext cx="3886200" cy="4864100"/>
          </a:xfrm>
          <a:prstGeom prst="rect">
            <a:avLst/>
          </a:prstGeom>
          <a:noFill/>
          <a:ln w="9525">
            <a:solidFill>
              <a:srgbClr val="990033"/>
            </a:solidFill>
            <a:miter lim="800000"/>
            <a:headEnd/>
            <a:tailEnd/>
          </a:ln>
        </p:spPr>
        <p:txBody>
          <a:bodyPr>
            <a:spAutoFit/>
          </a:bodyPr>
          <a:lstStyle/>
          <a:p>
            <a:pPr eaLnBrk="0" hangingPunct="0"/>
            <a:r>
              <a:rPr lang="en-US" sz="2600" b="1">
                <a:solidFill>
                  <a:srgbClr val="000066"/>
                </a:solidFill>
                <a:latin typeface="Times New Roman" pitchFamily="18" charset="0"/>
              </a:rPr>
              <a:t>void display(char c, int n)</a:t>
            </a:r>
          </a:p>
          <a:p>
            <a:pPr eaLnBrk="0" hangingPunct="0"/>
            <a:r>
              <a:rPr lang="en-US" sz="2600" b="1">
                <a:solidFill>
                  <a:srgbClr val="000066"/>
                </a:solidFill>
                <a:latin typeface="Times New Roman" pitchFamily="18" charset="0"/>
              </a:rPr>
              <a:t>{</a:t>
            </a:r>
          </a:p>
          <a:p>
            <a:pPr eaLnBrk="0" hangingPunct="0"/>
            <a:r>
              <a:rPr lang="en-US" sz="2600" b="1">
                <a:solidFill>
                  <a:srgbClr val="000066"/>
                </a:solidFill>
                <a:latin typeface="Times New Roman" pitchFamily="18" charset="0"/>
              </a:rPr>
              <a:t>for (;n&gt;0;n--)</a:t>
            </a:r>
          </a:p>
          <a:p>
            <a:pPr eaLnBrk="0" hangingPunct="0"/>
            <a:r>
              <a:rPr lang="en-US" sz="2600" b="1">
                <a:solidFill>
                  <a:srgbClr val="000066"/>
                </a:solidFill>
                <a:latin typeface="Times New Roman" pitchFamily="18" charset="0"/>
              </a:rPr>
              <a:t>cout&lt;&lt;c&lt;&lt;" ";</a:t>
            </a:r>
          </a:p>
          <a:p>
            <a:pPr eaLnBrk="0" hangingPunct="0"/>
            <a:r>
              <a:rPr lang="en-US" sz="2600" b="1">
                <a:solidFill>
                  <a:srgbClr val="000066"/>
                </a:solidFill>
                <a:latin typeface="Times New Roman" pitchFamily="18" charset="0"/>
              </a:rPr>
              <a:t>cout&lt;&lt;endl;</a:t>
            </a:r>
          </a:p>
          <a:p>
            <a:pPr eaLnBrk="0" hangingPunct="0"/>
            <a:r>
              <a:rPr lang="en-US" sz="2600" b="1">
                <a:solidFill>
                  <a:srgbClr val="000066"/>
                </a:solidFill>
                <a:latin typeface="Times New Roman" pitchFamily="18" charset="0"/>
              </a:rPr>
              <a:t>}</a:t>
            </a:r>
          </a:p>
          <a:p>
            <a:pPr eaLnBrk="0" hangingPunct="0"/>
            <a:r>
              <a:rPr lang="en-US" sz="2600" b="1">
                <a:solidFill>
                  <a:srgbClr val="000066"/>
                </a:solidFill>
                <a:latin typeface="Times New Roman" pitchFamily="18" charset="0"/>
              </a:rPr>
              <a:t>void display(int a, int b)</a:t>
            </a:r>
          </a:p>
          <a:p>
            <a:pPr eaLnBrk="0" hangingPunct="0"/>
            <a:r>
              <a:rPr lang="en-US" sz="2600" b="1">
                <a:solidFill>
                  <a:srgbClr val="000066"/>
                </a:solidFill>
                <a:latin typeface="Times New Roman" pitchFamily="18" charset="0"/>
              </a:rPr>
              <a:t>{</a:t>
            </a:r>
          </a:p>
          <a:p>
            <a:pPr eaLnBrk="0" hangingPunct="0"/>
            <a:r>
              <a:rPr lang="en-US" sz="2600" b="1">
                <a:solidFill>
                  <a:srgbClr val="000066"/>
                </a:solidFill>
                <a:latin typeface="Times New Roman" pitchFamily="18" charset="0"/>
              </a:rPr>
              <a:t>for (;b&gt;0;b--)</a:t>
            </a:r>
          </a:p>
          <a:p>
            <a:pPr eaLnBrk="0" hangingPunct="0"/>
            <a:r>
              <a:rPr lang="en-US" sz="2600" b="1">
                <a:solidFill>
                  <a:srgbClr val="000066"/>
                </a:solidFill>
                <a:latin typeface="Times New Roman" pitchFamily="18" charset="0"/>
              </a:rPr>
              <a:t>cout&lt;&lt;a&lt;&lt;" ";</a:t>
            </a:r>
          </a:p>
          <a:p>
            <a:pPr eaLnBrk="0" hangingPunct="0"/>
            <a:r>
              <a:rPr lang="en-US" sz="2600" b="1">
                <a:solidFill>
                  <a:srgbClr val="000066"/>
                </a:solidFill>
                <a:latin typeface="Times New Roman" pitchFamily="18" charset="0"/>
              </a:rPr>
              <a:t>cout&lt;&lt;endl;</a:t>
            </a:r>
          </a:p>
          <a:p>
            <a:pPr eaLnBrk="0" hangingPunct="0"/>
            <a:r>
              <a:rPr lang="en-US" sz="2600" b="1">
                <a:solidFill>
                  <a:srgbClr val="000066"/>
                </a:solidFill>
                <a:latin typeface="Times New Roman" pitchFamily="18" charset="0"/>
              </a:rPr>
              <a:t>}</a:t>
            </a:r>
          </a:p>
        </p:txBody>
      </p:sp>
      <p:sp>
        <p:nvSpPr>
          <p:cNvPr id="7172" name="Text Box 4"/>
          <p:cNvSpPr txBox="1">
            <a:spLocks noChangeArrowheads="1"/>
          </p:cNvSpPr>
          <p:nvPr/>
        </p:nvSpPr>
        <p:spPr bwMode="auto">
          <a:xfrm>
            <a:off x="6172200" y="5902325"/>
            <a:ext cx="2743200" cy="955675"/>
          </a:xfrm>
          <a:prstGeom prst="rect">
            <a:avLst/>
          </a:prstGeom>
          <a:noFill/>
          <a:ln w="9525">
            <a:solidFill>
              <a:srgbClr val="800000"/>
            </a:solidFill>
            <a:miter lim="800000"/>
            <a:headEnd/>
            <a:tailEnd/>
          </a:ln>
        </p:spPr>
        <p:txBody>
          <a:bodyPr>
            <a:spAutoFit/>
          </a:bodyPr>
          <a:lstStyle/>
          <a:p>
            <a:pPr eaLnBrk="0" hangingPunct="0"/>
            <a:r>
              <a:rPr lang="en-US" sz="2800" b="1">
                <a:solidFill>
                  <a:srgbClr val="000066"/>
                </a:solidFill>
                <a:latin typeface="Times New Roman" pitchFamily="18" charset="0"/>
              </a:rPr>
              <a:t>* * * * * * * * *</a:t>
            </a:r>
          </a:p>
          <a:p>
            <a:pPr eaLnBrk="0" hangingPunct="0"/>
            <a:r>
              <a:rPr lang="en-US" sz="2800" b="1">
                <a:solidFill>
                  <a:srgbClr val="000066"/>
                </a:solidFill>
                <a:latin typeface="Times New Roman" pitchFamily="18" charset="0"/>
              </a:rPr>
              <a:t>10 10 10 10 10</a:t>
            </a:r>
          </a:p>
        </p:txBody>
      </p:sp>
      <p:sp>
        <p:nvSpPr>
          <p:cNvPr id="7173" name="WordArt 5"/>
          <p:cNvSpPr>
            <a:spLocks noChangeArrowheads="1" noChangeShapeType="1" noTextEdit="1"/>
          </p:cNvSpPr>
          <p:nvPr/>
        </p:nvSpPr>
        <p:spPr bwMode="auto">
          <a:xfrm>
            <a:off x="4381500" y="5938838"/>
            <a:ext cx="1676400" cy="773112"/>
          </a:xfrm>
          <a:prstGeom prst="rect">
            <a:avLst/>
          </a:prstGeom>
        </p:spPr>
        <p:txBody>
          <a:bodyPr wrap="none" fromWordArt="1">
            <a:prstTxWarp prst="textCascadeUp">
              <a:avLst>
                <a:gd name="adj" fmla="val 44444"/>
              </a:avLst>
            </a:prstTxWarp>
            <a:scene3d>
              <a:camera prst="legacyPerspectiveFront">
                <a:rot lat="20519979" lon="1080000" rev="0"/>
              </a:camera>
              <a:lightRig rig="legacyHarsh2" dir="b"/>
            </a:scene3d>
            <a:sp3d extrusionH="430200" prstMaterial="legacyMatte">
              <a:extrusionClr>
                <a:srgbClr val="FF6600"/>
              </a:extrusionClr>
            </a:sp3d>
          </a:bodyPr>
          <a:lstStyle/>
          <a:p>
            <a:pPr algn="ctr"/>
            <a:r>
              <a:rPr lang="en-IN" sz="3200" b="1" kern="10">
                <a:ln w="9525">
                  <a:round/>
                  <a:headEnd/>
                  <a:tailEnd/>
                </a:ln>
                <a:gradFill rotWithShape="1">
                  <a:gsLst>
                    <a:gs pos="0">
                      <a:srgbClr val="FFE701"/>
                    </a:gs>
                    <a:gs pos="100000">
                      <a:srgbClr val="FE3E02"/>
                    </a:gs>
                  </a:gsLst>
                  <a:lin ang="5400000" scaled="1"/>
                </a:gradFill>
                <a:latin typeface="Impact"/>
              </a:rPr>
              <a:t>RESULT</a:t>
            </a:r>
          </a:p>
        </p:txBody>
      </p:sp>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WordArt 2"/>
          <p:cNvSpPr>
            <a:spLocks noChangeArrowheads="1" noChangeShapeType="1" noTextEdit="1"/>
          </p:cNvSpPr>
          <p:nvPr/>
        </p:nvSpPr>
        <p:spPr bwMode="auto">
          <a:xfrm rot="-1131190">
            <a:off x="406400" y="2732088"/>
            <a:ext cx="8077200" cy="849312"/>
          </a:xfrm>
          <a:prstGeom prst="rect">
            <a:avLst/>
          </a:prstGeom>
        </p:spPr>
        <p:txBody>
          <a:bodyPr wrap="none" fromWordArt="1">
            <a:prstTxWarp prst="textPlain">
              <a:avLst>
                <a:gd name="adj" fmla="val 50000"/>
              </a:avLst>
            </a:prstTxWarp>
          </a:bodyPr>
          <a:lstStyle/>
          <a:p>
            <a:pPr algn="ctr"/>
            <a:r>
              <a:rPr lang="en-IN"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1080000" scaled="1"/>
                </a:gradFill>
                <a:effectLst>
                  <a:outerShdw dist="35921" dir="2700000" sy="50000" kx="2115830" algn="bl" rotWithShape="0">
                    <a:srgbClr val="C0C0C0">
                      <a:alpha val="79999"/>
                    </a:srgbClr>
                  </a:outerShdw>
                </a:effectLst>
                <a:latin typeface="Arial Black"/>
              </a:rPr>
              <a:t>Overloading  with different Number of arguments</a:t>
            </a:r>
          </a:p>
        </p:txBody>
      </p:sp>
      <p:sp>
        <p:nvSpPr>
          <p:cNvPr id="8195" name="Text Box 3"/>
          <p:cNvSpPr txBox="1">
            <a:spLocks noChangeArrowheads="1"/>
          </p:cNvSpPr>
          <p:nvPr/>
        </p:nvSpPr>
        <p:spPr bwMode="auto">
          <a:xfrm>
            <a:off x="609600" y="4953000"/>
            <a:ext cx="8001000" cy="822325"/>
          </a:xfrm>
          <a:prstGeom prst="rect">
            <a:avLst/>
          </a:prstGeom>
          <a:noFill/>
          <a:ln w="9525">
            <a:noFill/>
            <a:miter lim="800000"/>
            <a:headEnd/>
            <a:tailEnd/>
          </a:ln>
        </p:spPr>
        <p:txBody>
          <a:bodyPr>
            <a:spAutoFit/>
          </a:bodyPr>
          <a:lstStyle/>
          <a:p>
            <a:pPr algn="just" eaLnBrk="0" hangingPunct="0">
              <a:spcBef>
                <a:spcPct val="50000"/>
              </a:spcBef>
            </a:pPr>
            <a:r>
              <a:rPr lang="en-US" sz="2400" b="1">
                <a:solidFill>
                  <a:srgbClr val="800000"/>
                </a:solidFill>
                <a:latin typeface="Bookman Old Style" pitchFamily="18" charset="0"/>
              </a:rPr>
              <a:t>             Two or more functions with the same name but with different Number of arguments</a:t>
            </a:r>
          </a:p>
        </p:txBody>
      </p:sp>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ChangeArrowheads="1"/>
          </p:cNvSpPr>
          <p:nvPr/>
        </p:nvSpPr>
        <p:spPr bwMode="auto">
          <a:xfrm>
            <a:off x="0" y="0"/>
            <a:ext cx="4572000" cy="6802438"/>
          </a:xfrm>
          <a:prstGeom prst="rect">
            <a:avLst/>
          </a:prstGeom>
          <a:noFill/>
          <a:ln w="9525">
            <a:solidFill>
              <a:srgbClr val="800000"/>
            </a:solidFill>
            <a:miter lim="800000"/>
            <a:headEnd/>
            <a:tailEnd/>
          </a:ln>
        </p:spPr>
        <p:txBody>
          <a:bodyPr>
            <a:spAutoFit/>
          </a:bodyPr>
          <a:lstStyle/>
          <a:p>
            <a:pPr eaLnBrk="0" hangingPunct="0"/>
            <a:r>
              <a:rPr lang="en-US" sz="2400" b="1">
                <a:solidFill>
                  <a:srgbClr val="000066"/>
                </a:solidFill>
                <a:latin typeface="Times New Roman" pitchFamily="18" charset="0"/>
              </a:rPr>
              <a:t>// Write a C++ program to find the area of the rectangle using Member Function Overloading</a:t>
            </a:r>
          </a:p>
          <a:p>
            <a:pPr eaLnBrk="0" hangingPunct="0"/>
            <a:r>
              <a:rPr lang="en-US" sz="2400" b="1">
                <a:solidFill>
                  <a:srgbClr val="000066"/>
                </a:solidFill>
                <a:latin typeface="Times New Roman" pitchFamily="18" charset="0"/>
              </a:rPr>
              <a:t>#include&lt;iostream.h&gt;</a:t>
            </a:r>
          </a:p>
          <a:p>
            <a:pPr eaLnBrk="0" hangingPunct="0"/>
            <a:r>
              <a:rPr lang="en-US" sz="2400" b="1">
                <a:solidFill>
                  <a:srgbClr val="000066"/>
                </a:solidFill>
                <a:latin typeface="Times New Roman" pitchFamily="18" charset="0"/>
              </a:rPr>
              <a:t>class rectangle</a:t>
            </a:r>
          </a:p>
          <a:p>
            <a:pPr eaLnBrk="0" hangingPunct="0"/>
            <a:r>
              <a:rPr lang="en-US" sz="2400" b="1">
                <a:solidFill>
                  <a:srgbClr val="000066"/>
                </a:solidFill>
                <a:latin typeface="Times New Roman" pitchFamily="18" charset="0"/>
              </a:rPr>
              <a:t>{</a:t>
            </a:r>
          </a:p>
          <a:p>
            <a:pPr eaLnBrk="0" hangingPunct="0"/>
            <a:r>
              <a:rPr lang="en-US" sz="2400" b="1">
                <a:solidFill>
                  <a:srgbClr val="000066"/>
                </a:solidFill>
                <a:latin typeface="Times New Roman" pitchFamily="18" charset="0"/>
              </a:rPr>
              <a:t>private :</a:t>
            </a:r>
          </a:p>
          <a:p>
            <a:pPr eaLnBrk="0" hangingPunct="0"/>
            <a:r>
              <a:rPr lang="en-US" sz="2400" b="1">
                <a:solidFill>
                  <a:srgbClr val="000066"/>
                </a:solidFill>
                <a:latin typeface="Times New Roman" pitchFamily="18" charset="0"/>
              </a:rPr>
              <a:t>     int length,breadth,area;</a:t>
            </a:r>
          </a:p>
          <a:p>
            <a:pPr eaLnBrk="0" hangingPunct="0"/>
            <a:r>
              <a:rPr lang="en-US" sz="2400" b="1">
                <a:solidFill>
                  <a:srgbClr val="000066"/>
                </a:solidFill>
                <a:latin typeface="Times New Roman" pitchFamily="18" charset="0"/>
              </a:rPr>
              <a:t>public :</a:t>
            </a:r>
          </a:p>
          <a:p>
            <a:pPr eaLnBrk="0" hangingPunct="0"/>
            <a:r>
              <a:rPr lang="en-US" sz="2400" b="1">
                <a:solidFill>
                  <a:srgbClr val="000066"/>
                </a:solidFill>
                <a:latin typeface="Times New Roman" pitchFamily="18" charset="0"/>
              </a:rPr>
              <a:t>     void getdata()   {</a:t>
            </a:r>
          </a:p>
          <a:p>
            <a:pPr eaLnBrk="0" hangingPunct="0"/>
            <a:r>
              <a:rPr lang="en-US" sz="2000" b="1">
                <a:solidFill>
                  <a:srgbClr val="000066"/>
                </a:solidFill>
                <a:latin typeface="Times New Roman" pitchFamily="18" charset="0"/>
              </a:rPr>
              <a:t>  cout&lt;&lt;"Enter Length Value :";</a:t>
            </a:r>
          </a:p>
          <a:p>
            <a:pPr eaLnBrk="0" hangingPunct="0"/>
            <a:r>
              <a:rPr lang="en-US" sz="2000" b="1">
                <a:solidFill>
                  <a:srgbClr val="000066"/>
                </a:solidFill>
                <a:latin typeface="Times New Roman" pitchFamily="18" charset="0"/>
              </a:rPr>
              <a:t>   cin&gt;&gt;length;</a:t>
            </a:r>
          </a:p>
          <a:p>
            <a:pPr eaLnBrk="0" hangingPunct="0"/>
            <a:r>
              <a:rPr lang="en-US" sz="2000" b="1">
                <a:solidFill>
                  <a:srgbClr val="000066"/>
                </a:solidFill>
                <a:latin typeface="Times New Roman" pitchFamily="18" charset="0"/>
              </a:rPr>
              <a:t>   cout&lt;&lt;"Enter breadth Value :”;</a:t>
            </a:r>
          </a:p>
          <a:p>
            <a:pPr eaLnBrk="0" hangingPunct="0"/>
            <a:r>
              <a:rPr lang="en-US" sz="2000" b="1">
                <a:solidFill>
                  <a:srgbClr val="000066"/>
                </a:solidFill>
                <a:latin typeface="Times New Roman" pitchFamily="18" charset="0"/>
              </a:rPr>
              <a:t>   cin&gt;&gt;breadth;</a:t>
            </a:r>
          </a:p>
          <a:p>
            <a:pPr eaLnBrk="0" hangingPunct="0"/>
            <a:r>
              <a:rPr lang="en-US" sz="2000" b="1">
                <a:solidFill>
                  <a:srgbClr val="000066"/>
                </a:solidFill>
                <a:latin typeface="Times New Roman" pitchFamily="18" charset="0"/>
              </a:rPr>
              <a:t>   area=length*breadth;</a:t>
            </a:r>
            <a:r>
              <a:rPr lang="en-US" sz="2400" b="1">
                <a:solidFill>
                  <a:srgbClr val="000066"/>
                </a:solidFill>
                <a:latin typeface="Times New Roman" pitchFamily="18" charset="0"/>
              </a:rPr>
              <a:t>   }</a:t>
            </a:r>
          </a:p>
          <a:p>
            <a:pPr eaLnBrk="0" hangingPunct="0"/>
            <a:r>
              <a:rPr lang="en-US" sz="2400" b="1">
                <a:solidFill>
                  <a:srgbClr val="000066"/>
                </a:solidFill>
                <a:latin typeface="Times New Roman" pitchFamily="18" charset="0"/>
              </a:rPr>
              <a:t>void getdata(int a)</a:t>
            </a:r>
          </a:p>
          <a:p>
            <a:pPr eaLnBrk="0" hangingPunct="0"/>
            <a:r>
              <a:rPr lang="en-US" sz="2400" b="1">
                <a:solidFill>
                  <a:srgbClr val="000066"/>
                </a:solidFill>
                <a:latin typeface="Times New Roman" pitchFamily="18" charset="0"/>
              </a:rPr>
              <a:t>{</a:t>
            </a:r>
          </a:p>
          <a:p>
            <a:pPr eaLnBrk="0" hangingPunct="0"/>
            <a:r>
              <a:rPr lang="en-US" sz="2400" b="1">
                <a:solidFill>
                  <a:srgbClr val="000066"/>
                </a:solidFill>
                <a:latin typeface="Times New Roman" pitchFamily="18" charset="0"/>
              </a:rPr>
              <a:t>length=a;</a:t>
            </a:r>
          </a:p>
          <a:p>
            <a:pPr eaLnBrk="0" hangingPunct="0"/>
            <a:r>
              <a:rPr lang="en-US" sz="2000" b="1">
                <a:solidFill>
                  <a:srgbClr val="000066"/>
                </a:solidFill>
                <a:latin typeface="Times New Roman" pitchFamily="18" charset="0"/>
              </a:rPr>
              <a:t>cout&lt;&lt;"Enter breadth Value :"&lt;&lt;endl;</a:t>
            </a:r>
            <a:endParaRPr lang="en-US" sz="2400" b="1">
              <a:solidFill>
                <a:srgbClr val="000066"/>
              </a:solidFill>
              <a:latin typeface="Times New Roman" pitchFamily="18" charset="0"/>
            </a:endParaRPr>
          </a:p>
        </p:txBody>
      </p:sp>
      <p:sp>
        <p:nvSpPr>
          <p:cNvPr id="9219" name="Rectangle 3"/>
          <p:cNvSpPr>
            <a:spLocks noChangeArrowheads="1"/>
          </p:cNvSpPr>
          <p:nvPr/>
        </p:nvSpPr>
        <p:spPr bwMode="auto">
          <a:xfrm>
            <a:off x="4572000" y="0"/>
            <a:ext cx="4572000" cy="6858000"/>
          </a:xfrm>
          <a:prstGeom prst="rect">
            <a:avLst/>
          </a:prstGeom>
          <a:noFill/>
          <a:ln w="9525">
            <a:solidFill>
              <a:srgbClr val="800000"/>
            </a:solidFill>
            <a:miter lim="800000"/>
            <a:headEnd/>
            <a:tailEnd/>
          </a:ln>
        </p:spPr>
        <p:txBody>
          <a:bodyPr>
            <a:spAutoFit/>
          </a:bodyPr>
          <a:lstStyle/>
          <a:p>
            <a:pPr eaLnBrk="0" hangingPunct="0"/>
            <a:r>
              <a:rPr lang="en-US" sz="2000" b="1">
                <a:solidFill>
                  <a:srgbClr val="000066"/>
                </a:solidFill>
                <a:latin typeface="Times New Roman" pitchFamily="18" charset="0"/>
              </a:rPr>
              <a:t>cin&gt;&gt;breadth;</a:t>
            </a:r>
          </a:p>
          <a:p>
            <a:pPr eaLnBrk="0" hangingPunct="0"/>
            <a:r>
              <a:rPr lang="en-US" sz="2000" b="1">
                <a:solidFill>
                  <a:srgbClr val="000066"/>
                </a:solidFill>
                <a:latin typeface="Times New Roman" pitchFamily="18" charset="0"/>
              </a:rPr>
              <a:t>area=length*breadth;</a:t>
            </a:r>
          </a:p>
          <a:p>
            <a:pPr eaLnBrk="0" hangingPunct="0"/>
            <a:r>
              <a:rPr lang="en-US" sz="2400" b="1">
                <a:solidFill>
                  <a:srgbClr val="000066"/>
                </a:solidFill>
                <a:latin typeface="Times New Roman" pitchFamily="18" charset="0"/>
              </a:rPr>
              <a:t>}</a:t>
            </a:r>
          </a:p>
          <a:p>
            <a:pPr eaLnBrk="0" hangingPunct="0"/>
            <a:r>
              <a:rPr lang="en-US" sz="2400" b="1">
                <a:solidFill>
                  <a:srgbClr val="000066"/>
                </a:solidFill>
                <a:latin typeface="Times New Roman" pitchFamily="18" charset="0"/>
              </a:rPr>
              <a:t>void showdata(){</a:t>
            </a:r>
          </a:p>
          <a:p>
            <a:pPr eaLnBrk="0" hangingPunct="0"/>
            <a:r>
              <a:rPr lang="en-US" sz="2400" b="1">
                <a:solidFill>
                  <a:srgbClr val="000066"/>
                </a:solidFill>
                <a:latin typeface="Times New Roman" pitchFamily="18" charset="0"/>
              </a:rPr>
              <a:t>cout&lt;&lt;"Length is:"&lt;&lt;length;</a:t>
            </a:r>
          </a:p>
          <a:p>
            <a:pPr eaLnBrk="0" hangingPunct="0"/>
            <a:r>
              <a:rPr lang="en-US" sz="2400" b="1">
                <a:solidFill>
                  <a:srgbClr val="000066"/>
                </a:solidFill>
                <a:latin typeface="Times New Roman" pitchFamily="18" charset="0"/>
              </a:rPr>
              <a:t>cout&lt;&lt;"Breadth is :"&lt;&lt;breadth;</a:t>
            </a:r>
          </a:p>
          <a:p>
            <a:pPr eaLnBrk="0" hangingPunct="0"/>
            <a:r>
              <a:rPr lang="en-US" sz="2400" b="1">
                <a:solidFill>
                  <a:srgbClr val="000066"/>
                </a:solidFill>
                <a:latin typeface="Times New Roman" pitchFamily="18" charset="0"/>
              </a:rPr>
              <a:t>cout&lt;&lt;"The Area is :"&lt;&lt;area;</a:t>
            </a:r>
          </a:p>
          <a:p>
            <a:pPr eaLnBrk="0" hangingPunct="0"/>
            <a:r>
              <a:rPr lang="en-US" sz="2400" b="1">
                <a:solidFill>
                  <a:srgbClr val="000066"/>
                </a:solidFill>
                <a:latin typeface="Times New Roman" pitchFamily="18" charset="0"/>
              </a:rPr>
              <a:t>}</a:t>
            </a:r>
          </a:p>
          <a:p>
            <a:pPr eaLnBrk="0" hangingPunct="0"/>
            <a:r>
              <a:rPr lang="en-US" sz="2400" b="1">
                <a:solidFill>
                  <a:srgbClr val="000066"/>
                </a:solidFill>
                <a:latin typeface="Times New Roman" pitchFamily="18" charset="0"/>
              </a:rPr>
              <a:t>};</a:t>
            </a:r>
          </a:p>
          <a:p>
            <a:pPr eaLnBrk="0" hangingPunct="0"/>
            <a:r>
              <a:rPr lang="en-US" sz="2400" b="1">
                <a:solidFill>
                  <a:srgbClr val="000066"/>
                </a:solidFill>
                <a:latin typeface="Times New Roman" pitchFamily="18" charset="0"/>
              </a:rPr>
              <a:t>void main()</a:t>
            </a:r>
          </a:p>
          <a:p>
            <a:pPr eaLnBrk="0" hangingPunct="0"/>
            <a:r>
              <a:rPr lang="en-US" sz="2400" b="1">
                <a:solidFill>
                  <a:srgbClr val="000066"/>
                </a:solidFill>
                <a:latin typeface="Times New Roman" pitchFamily="18" charset="0"/>
              </a:rPr>
              <a:t>{</a:t>
            </a:r>
          </a:p>
          <a:p>
            <a:pPr eaLnBrk="0" hangingPunct="0"/>
            <a:r>
              <a:rPr lang="en-US" sz="2400" b="1">
                <a:solidFill>
                  <a:srgbClr val="000066"/>
                </a:solidFill>
                <a:latin typeface="Times New Roman" pitchFamily="18" charset="0"/>
              </a:rPr>
              <a:t>rectangle r1,r2;</a:t>
            </a:r>
          </a:p>
          <a:p>
            <a:pPr eaLnBrk="0" hangingPunct="0"/>
            <a:r>
              <a:rPr lang="en-US" sz="2400" b="1">
                <a:solidFill>
                  <a:srgbClr val="000066"/>
                </a:solidFill>
                <a:latin typeface="Times New Roman" pitchFamily="18" charset="0"/>
              </a:rPr>
              <a:t>cout&lt;&lt;"Enter the detail "&lt;&lt;endl;</a:t>
            </a:r>
          </a:p>
          <a:p>
            <a:pPr eaLnBrk="0" hangingPunct="0"/>
            <a:r>
              <a:rPr lang="en-US" sz="2400" b="1">
                <a:solidFill>
                  <a:srgbClr val="000066"/>
                </a:solidFill>
                <a:latin typeface="Times New Roman" pitchFamily="18" charset="0"/>
              </a:rPr>
              <a:t>r1.getdata();</a:t>
            </a:r>
          </a:p>
          <a:p>
            <a:pPr eaLnBrk="0" hangingPunct="0"/>
            <a:r>
              <a:rPr lang="en-US" sz="2400" b="1">
                <a:solidFill>
                  <a:srgbClr val="000066"/>
                </a:solidFill>
                <a:latin typeface="Times New Roman" pitchFamily="18" charset="0"/>
              </a:rPr>
              <a:t>r1.showdata();</a:t>
            </a:r>
          </a:p>
          <a:p>
            <a:pPr eaLnBrk="0" hangingPunct="0"/>
            <a:r>
              <a:rPr lang="en-US" sz="2400" b="1">
                <a:solidFill>
                  <a:srgbClr val="000066"/>
                </a:solidFill>
                <a:latin typeface="Times New Roman" pitchFamily="18" charset="0"/>
              </a:rPr>
              <a:t>cout&lt;&lt;"Enter the detail"&lt;&lt;endl;</a:t>
            </a:r>
          </a:p>
          <a:p>
            <a:pPr eaLnBrk="0" hangingPunct="0"/>
            <a:r>
              <a:rPr lang="en-US" sz="2400" b="1">
                <a:solidFill>
                  <a:srgbClr val="000066"/>
                </a:solidFill>
                <a:latin typeface="Times New Roman" pitchFamily="18" charset="0"/>
              </a:rPr>
              <a:t>r2.getdata(5);</a:t>
            </a:r>
          </a:p>
          <a:p>
            <a:pPr eaLnBrk="0" hangingPunct="0"/>
            <a:r>
              <a:rPr lang="en-US" sz="2400" b="1">
                <a:solidFill>
                  <a:srgbClr val="000066"/>
                </a:solidFill>
                <a:latin typeface="Times New Roman" pitchFamily="18" charset="0"/>
              </a:rPr>
              <a:t>r2.showdata();}</a:t>
            </a:r>
          </a:p>
        </p:txBody>
      </p:sp>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WordArt 2"/>
          <p:cNvSpPr>
            <a:spLocks noChangeArrowheads="1" noChangeShapeType="1" noTextEdit="1"/>
          </p:cNvSpPr>
          <p:nvPr/>
        </p:nvSpPr>
        <p:spPr bwMode="auto">
          <a:xfrm rot="-819313">
            <a:off x="36513" y="2157413"/>
            <a:ext cx="8763000" cy="1358900"/>
          </a:xfrm>
          <a:prstGeom prst="rect">
            <a:avLst/>
          </a:prstGeom>
        </p:spPr>
        <p:txBody>
          <a:bodyPr wrap="none" fromWordArt="1">
            <a:prstTxWarp prst="textSlantUp">
              <a:avLst>
                <a:gd name="adj" fmla="val 49843"/>
              </a:avLst>
            </a:prstTxWarp>
          </a:bodyPr>
          <a:lstStyle/>
          <a:p>
            <a:pPr algn="ctr"/>
            <a:r>
              <a:rPr lang="en-IN"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1560000" scaled="1"/>
                </a:gradFill>
                <a:effectLst>
                  <a:outerShdw dist="35921" dir="2700000" sy="50000" kx="2115830" algn="bl" rotWithShape="0">
                    <a:srgbClr val="C0C0C0">
                      <a:alpha val="79999"/>
                    </a:srgbClr>
                  </a:outerShdw>
                </a:effectLst>
                <a:latin typeface="Arial Black"/>
              </a:rPr>
              <a:t>Overloading  with different Sequence of arguments</a:t>
            </a:r>
          </a:p>
        </p:txBody>
      </p:sp>
      <p:sp>
        <p:nvSpPr>
          <p:cNvPr id="10243" name="Text Box 3"/>
          <p:cNvSpPr txBox="1">
            <a:spLocks noChangeArrowheads="1"/>
          </p:cNvSpPr>
          <p:nvPr/>
        </p:nvSpPr>
        <p:spPr bwMode="auto">
          <a:xfrm>
            <a:off x="609600" y="4953000"/>
            <a:ext cx="8001000" cy="822325"/>
          </a:xfrm>
          <a:prstGeom prst="rect">
            <a:avLst/>
          </a:prstGeom>
          <a:noFill/>
          <a:ln w="9525">
            <a:noFill/>
            <a:miter lim="800000"/>
            <a:headEnd/>
            <a:tailEnd/>
          </a:ln>
        </p:spPr>
        <p:txBody>
          <a:bodyPr>
            <a:spAutoFit/>
          </a:bodyPr>
          <a:lstStyle/>
          <a:p>
            <a:pPr algn="just" eaLnBrk="0" hangingPunct="0">
              <a:spcBef>
                <a:spcPct val="50000"/>
              </a:spcBef>
            </a:pPr>
            <a:r>
              <a:rPr lang="en-US" sz="2400" b="1">
                <a:solidFill>
                  <a:srgbClr val="800000"/>
                </a:solidFill>
                <a:latin typeface="Bookman Old Style" pitchFamily="18" charset="0"/>
              </a:rPr>
              <a:t>             Two or more functions with the same name but with different Sequence of arguments</a:t>
            </a:r>
          </a:p>
        </p:txBody>
      </p:sp>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ChangeArrowheads="1"/>
          </p:cNvSpPr>
          <p:nvPr/>
        </p:nvSpPr>
        <p:spPr bwMode="auto">
          <a:xfrm>
            <a:off x="0" y="0"/>
            <a:ext cx="4572000" cy="6800850"/>
          </a:xfrm>
          <a:prstGeom prst="rect">
            <a:avLst/>
          </a:prstGeom>
          <a:noFill/>
          <a:ln w="9525">
            <a:solidFill>
              <a:srgbClr val="CC0066"/>
            </a:solidFill>
            <a:miter lim="800000"/>
            <a:headEnd/>
            <a:tailEnd/>
          </a:ln>
        </p:spPr>
        <p:txBody>
          <a:bodyPr>
            <a:spAutoFit/>
          </a:bodyPr>
          <a:lstStyle/>
          <a:p>
            <a:pPr eaLnBrk="0" hangingPunct="0"/>
            <a:r>
              <a:rPr lang="en-US" sz="2200" b="1">
                <a:solidFill>
                  <a:srgbClr val="000066"/>
                </a:solidFill>
                <a:latin typeface="Times New Roman" pitchFamily="18" charset="0"/>
              </a:rPr>
              <a:t>#include&lt;iostream.h&gt;</a:t>
            </a:r>
          </a:p>
          <a:p>
            <a:pPr eaLnBrk="0" hangingPunct="0"/>
            <a:r>
              <a:rPr lang="en-US" sz="2200" b="1">
                <a:solidFill>
                  <a:srgbClr val="000066"/>
                </a:solidFill>
                <a:latin typeface="Times New Roman" pitchFamily="18" charset="0"/>
              </a:rPr>
              <a:t>#include&lt;conio.h&gt;</a:t>
            </a:r>
          </a:p>
          <a:p>
            <a:pPr eaLnBrk="0" hangingPunct="0"/>
            <a:r>
              <a:rPr lang="en-US" sz="2200" b="1">
                <a:solidFill>
                  <a:srgbClr val="000066"/>
                </a:solidFill>
                <a:latin typeface="Times New Roman" pitchFamily="18" charset="0"/>
              </a:rPr>
              <a:t>void line();</a:t>
            </a:r>
          </a:p>
          <a:p>
            <a:pPr eaLnBrk="0" hangingPunct="0"/>
            <a:r>
              <a:rPr lang="en-US" sz="2200" b="1">
                <a:solidFill>
                  <a:srgbClr val="000066"/>
                </a:solidFill>
                <a:latin typeface="Times New Roman" pitchFamily="18" charset="0"/>
              </a:rPr>
              <a:t>void line(char);</a:t>
            </a:r>
          </a:p>
          <a:p>
            <a:pPr eaLnBrk="0" hangingPunct="0"/>
            <a:r>
              <a:rPr lang="en-US" sz="2200" b="1">
                <a:solidFill>
                  <a:srgbClr val="000066"/>
                </a:solidFill>
                <a:latin typeface="Times New Roman" pitchFamily="18" charset="0"/>
              </a:rPr>
              <a:t>void line(char,int);</a:t>
            </a:r>
          </a:p>
          <a:p>
            <a:pPr eaLnBrk="0" hangingPunct="0"/>
            <a:r>
              <a:rPr lang="en-US" sz="2200" b="1">
                <a:solidFill>
                  <a:srgbClr val="000066"/>
                </a:solidFill>
                <a:latin typeface="Times New Roman" pitchFamily="18" charset="0"/>
              </a:rPr>
              <a:t>void main()</a:t>
            </a:r>
          </a:p>
          <a:p>
            <a:pPr eaLnBrk="0" hangingPunct="0"/>
            <a:r>
              <a:rPr lang="en-US" sz="2200" b="1">
                <a:solidFill>
                  <a:srgbClr val="000066"/>
                </a:solidFill>
                <a:latin typeface="Times New Roman" pitchFamily="18" charset="0"/>
              </a:rPr>
              <a:t>{</a:t>
            </a:r>
          </a:p>
          <a:p>
            <a:pPr eaLnBrk="0" hangingPunct="0"/>
            <a:r>
              <a:rPr lang="en-US" sz="2200" b="1">
                <a:solidFill>
                  <a:srgbClr val="000066"/>
                </a:solidFill>
                <a:latin typeface="Times New Roman" pitchFamily="18" charset="0"/>
              </a:rPr>
              <a:t>int no_of_time;</a:t>
            </a:r>
          </a:p>
          <a:p>
            <a:pPr eaLnBrk="0" hangingPunct="0"/>
            <a:r>
              <a:rPr lang="en-US" sz="2200" b="1">
                <a:solidFill>
                  <a:srgbClr val="000066"/>
                </a:solidFill>
                <a:latin typeface="Times New Roman" pitchFamily="18" charset="0"/>
              </a:rPr>
              <a:t>char c;</a:t>
            </a:r>
          </a:p>
          <a:p>
            <a:pPr eaLnBrk="0" hangingPunct="0"/>
            <a:r>
              <a:rPr lang="en-US" sz="2200" b="1">
                <a:solidFill>
                  <a:srgbClr val="000066"/>
                </a:solidFill>
                <a:latin typeface="Times New Roman" pitchFamily="18" charset="0"/>
              </a:rPr>
              <a:t>clrscr();</a:t>
            </a:r>
          </a:p>
          <a:p>
            <a:pPr eaLnBrk="0" hangingPunct="0"/>
            <a:r>
              <a:rPr lang="en-US" sz="2200" b="1">
                <a:solidFill>
                  <a:srgbClr val="000066"/>
                </a:solidFill>
                <a:latin typeface="Times New Roman" pitchFamily="18" charset="0"/>
              </a:rPr>
              <a:t>cout&lt;&lt;"\n Enter the no of times:";</a:t>
            </a:r>
          </a:p>
          <a:p>
            <a:pPr eaLnBrk="0" hangingPunct="0"/>
            <a:r>
              <a:rPr lang="en-US" sz="2200" b="1">
                <a:solidFill>
                  <a:srgbClr val="000066"/>
                </a:solidFill>
                <a:latin typeface="Times New Roman" pitchFamily="18" charset="0"/>
              </a:rPr>
              <a:t>cin&gt;&gt;no_of_time;</a:t>
            </a:r>
          </a:p>
          <a:p>
            <a:pPr eaLnBrk="0" hangingPunct="0"/>
            <a:r>
              <a:rPr lang="en-US" sz="2200" b="1">
                <a:solidFill>
                  <a:srgbClr val="000066"/>
                </a:solidFill>
                <a:latin typeface="Times New Roman" pitchFamily="18" charset="0"/>
              </a:rPr>
              <a:t>cout&lt;&lt;"\n Enter the character:";</a:t>
            </a:r>
          </a:p>
          <a:p>
            <a:pPr eaLnBrk="0" hangingPunct="0"/>
            <a:r>
              <a:rPr lang="en-US" sz="2200" b="1">
                <a:solidFill>
                  <a:srgbClr val="000066"/>
                </a:solidFill>
                <a:latin typeface="Times New Roman" pitchFamily="18" charset="0"/>
              </a:rPr>
              <a:t>cin&gt;&gt;c;</a:t>
            </a:r>
          </a:p>
          <a:p>
            <a:pPr eaLnBrk="0" hangingPunct="0"/>
            <a:r>
              <a:rPr lang="en-US" sz="2200" b="1">
                <a:solidFill>
                  <a:srgbClr val="000066"/>
                </a:solidFill>
                <a:latin typeface="Times New Roman" pitchFamily="18" charset="0"/>
              </a:rPr>
              <a:t>line();</a:t>
            </a:r>
          </a:p>
          <a:p>
            <a:pPr eaLnBrk="0" hangingPunct="0"/>
            <a:r>
              <a:rPr lang="en-US" sz="2200" b="1">
                <a:solidFill>
                  <a:srgbClr val="000066"/>
                </a:solidFill>
                <a:latin typeface="Times New Roman" pitchFamily="18" charset="0"/>
              </a:rPr>
              <a:t>line(c);</a:t>
            </a:r>
          </a:p>
          <a:p>
            <a:pPr eaLnBrk="0" hangingPunct="0"/>
            <a:r>
              <a:rPr lang="en-US" sz="2200" b="1">
                <a:solidFill>
                  <a:srgbClr val="000066"/>
                </a:solidFill>
                <a:latin typeface="Times New Roman" pitchFamily="18" charset="0"/>
              </a:rPr>
              <a:t>line(c,no_of_time);</a:t>
            </a:r>
          </a:p>
          <a:p>
            <a:pPr eaLnBrk="0" hangingPunct="0"/>
            <a:r>
              <a:rPr lang="en-US" sz="2200" b="1">
                <a:solidFill>
                  <a:srgbClr val="000066"/>
                </a:solidFill>
                <a:latin typeface="Times New Roman" pitchFamily="18" charset="0"/>
              </a:rPr>
              <a:t>getch();</a:t>
            </a:r>
          </a:p>
          <a:p>
            <a:pPr eaLnBrk="0" hangingPunct="0"/>
            <a:r>
              <a:rPr lang="en-US" sz="2200" b="1">
                <a:solidFill>
                  <a:srgbClr val="000066"/>
                </a:solidFill>
                <a:latin typeface="Times New Roman" pitchFamily="18" charset="0"/>
              </a:rPr>
              <a:t>}</a:t>
            </a:r>
          </a:p>
          <a:p>
            <a:pPr eaLnBrk="0" hangingPunct="0"/>
            <a:endParaRPr lang="en-US" sz="2200" b="1">
              <a:solidFill>
                <a:srgbClr val="000066"/>
              </a:solidFill>
              <a:latin typeface="Times New Roman" pitchFamily="18" charset="0"/>
            </a:endParaRPr>
          </a:p>
        </p:txBody>
      </p:sp>
      <p:sp>
        <p:nvSpPr>
          <p:cNvPr id="11267" name="Rectangle 3"/>
          <p:cNvSpPr>
            <a:spLocks noChangeArrowheads="1"/>
          </p:cNvSpPr>
          <p:nvPr/>
        </p:nvSpPr>
        <p:spPr bwMode="auto">
          <a:xfrm>
            <a:off x="4572000" y="304800"/>
            <a:ext cx="4572000" cy="7110413"/>
          </a:xfrm>
          <a:prstGeom prst="rect">
            <a:avLst/>
          </a:prstGeom>
          <a:noFill/>
          <a:ln w="9525">
            <a:solidFill>
              <a:srgbClr val="CC0066"/>
            </a:solidFill>
            <a:miter lim="800000"/>
            <a:headEnd/>
            <a:tailEnd/>
          </a:ln>
        </p:spPr>
        <p:txBody>
          <a:bodyPr>
            <a:spAutoFit/>
          </a:bodyPr>
          <a:lstStyle/>
          <a:p>
            <a:pPr eaLnBrk="0" hangingPunct="0"/>
            <a:r>
              <a:rPr lang="en-US" sz="2400" b="1">
                <a:solidFill>
                  <a:srgbClr val="000066"/>
                </a:solidFill>
                <a:latin typeface="Times New Roman" pitchFamily="18" charset="0"/>
              </a:rPr>
              <a:t>void line()</a:t>
            </a:r>
          </a:p>
          <a:p>
            <a:pPr eaLnBrk="0" hangingPunct="0"/>
            <a:r>
              <a:rPr lang="en-US" sz="2400" b="1">
                <a:solidFill>
                  <a:srgbClr val="000066"/>
                </a:solidFill>
                <a:latin typeface="Times New Roman" pitchFamily="18" charset="0"/>
              </a:rPr>
              <a:t>{</a:t>
            </a:r>
          </a:p>
          <a:p>
            <a:pPr eaLnBrk="0" hangingPunct="0"/>
            <a:r>
              <a:rPr lang="en-US" sz="2400" b="1">
                <a:solidFill>
                  <a:srgbClr val="000066"/>
                </a:solidFill>
                <a:latin typeface="Times New Roman" pitchFamily="18" charset="0"/>
              </a:rPr>
              <a:t>for(int i=0;i&lt;15;i++)</a:t>
            </a:r>
          </a:p>
          <a:p>
            <a:pPr eaLnBrk="0" hangingPunct="0"/>
            <a:r>
              <a:rPr lang="en-US" sz="2400" b="1">
                <a:solidFill>
                  <a:srgbClr val="000066"/>
                </a:solidFill>
                <a:latin typeface="Times New Roman" pitchFamily="18" charset="0"/>
              </a:rPr>
              <a:t>{</a:t>
            </a:r>
          </a:p>
          <a:p>
            <a:pPr eaLnBrk="0" hangingPunct="0"/>
            <a:r>
              <a:rPr lang="en-US" sz="2400" b="1">
                <a:solidFill>
                  <a:srgbClr val="000066"/>
                </a:solidFill>
                <a:latin typeface="Times New Roman" pitchFamily="18" charset="0"/>
              </a:rPr>
              <a:t>cout&lt;&lt;"&amp;";</a:t>
            </a:r>
          </a:p>
          <a:p>
            <a:pPr eaLnBrk="0" hangingPunct="0"/>
            <a:r>
              <a:rPr lang="en-US" sz="2400" b="1">
                <a:solidFill>
                  <a:srgbClr val="000066"/>
                </a:solidFill>
                <a:latin typeface="Times New Roman" pitchFamily="18" charset="0"/>
              </a:rPr>
              <a:t>}</a:t>
            </a:r>
          </a:p>
          <a:p>
            <a:pPr eaLnBrk="0" hangingPunct="0"/>
            <a:r>
              <a:rPr lang="en-US" sz="2400" b="1">
                <a:solidFill>
                  <a:srgbClr val="000066"/>
                </a:solidFill>
                <a:latin typeface="Times New Roman" pitchFamily="18" charset="0"/>
              </a:rPr>
              <a:t>cout&lt;&lt;"\n";</a:t>
            </a:r>
          </a:p>
          <a:p>
            <a:pPr eaLnBrk="0" hangingPunct="0"/>
            <a:r>
              <a:rPr lang="en-US" sz="2400" b="1">
                <a:solidFill>
                  <a:srgbClr val="000066"/>
                </a:solidFill>
                <a:latin typeface="Times New Roman" pitchFamily="18" charset="0"/>
              </a:rPr>
              <a:t>}</a:t>
            </a:r>
          </a:p>
          <a:p>
            <a:pPr eaLnBrk="0" hangingPunct="0"/>
            <a:endParaRPr lang="en-US" sz="2400" b="1">
              <a:solidFill>
                <a:srgbClr val="000066"/>
              </a:solidFill>
              <a:latin typeface="Times New Roman" pitchFamily="18" charset="0"/>
            </a:endParaRPr>
          </a:p>
          <a:p>
            <a:pPr eaLnBrk="0" hangingPunct="0"/>
            <a:endParaRPr lang="en-US" sz="2400" b="1">
              <a:solidFill>
                <a:srgbClr val="000066"/>
              </a:solidFill>
              <a:latin typeface="Times New Roman" pitchFamily="18" charset="0"/>
            </a:endParaRPr>
          </a:p>
          <a:p>
            <a:pPr eaLnBrk="0" hangingPunct="0"/>
            <a:endParaRPr lang="en-US" sz="2400" b="1">
              <a:solidFill>
                <a:srgbClr val="000066"/>
              </a:solidFill>
              <a:latin typeface="Times New Roman" pitchFamily="18" charset="0"/>
            </a:endParaRPr>
          </a:p>
          <a:p>
            <a:pPr eaLnBrk="0" hangingPunct="0"/>
            <a:endParaRPr lang="en-US" sz="2400" b="1">
              <a:solidFill>
                <a:srgbClr val="000066"/>
              </a:solidFill>
              <a:latin typeface="Times New Roman" pitchFamily="18" charset="0"/>
            </a:endParaRPr>
          </a:p>
          <a:p>
            <a:pPr eaLnBrk="0" hangingPunct="0"/>
            <a:endParaRPr lang="en-US" sz="2400" b="1">
              <a:solidFill>
                <a:srgbClr val="000066"/>
              </a:solidFill>
              <a:latin typeface="Times New Roman" pitchFamily="18" charset="0"/>
            </a:endParaRPr>
          </a:p>
          <a:p>
            <a:pPr eaLnBrk="0" hangingPunct="0"/>
            <a:endParaRPr lang="en-US" sz="2400" b="1">
              <a:solidFill>
                <a:srgbClr val="000066"/>
              </a:solidFill>
              <a:latin typeface="Times New Roman" pitchFamily="18" charset="0"/>
            </a:endParaRPr>
          </a:p>
          <a:p>
            <a:pPr eaLnBrk="0" hangingPunct="0"/>
            <a:endParaRPr lang="en-US" sz="2400" b="1">
              <a:solidFill>
                <a:srgbClr val="000066"/>
              </a:solidFill>
              <a:latin typeface="Times New Roman" pitchFamily="18" charset="0"/>
            </a:endParaRPr>
          </a:p>
          <a:p>
            <a:pPr eaLnBrk="0" hangingPunct="0"/>
            <a:endParaRPr lang="en-US" sz="2400" b="1">
              <a:solidFill>
                <a:srgbClr val="000066"/>
              </a:solidFill>
              <a:latin typeface="Times New Roman" pitchFamily="18" charset="0"/>
            </a:endParaRPr>
          </a:p>
          <a:p>
            <a:pPr eaLnBrk="0" hangingPunct="0"/>
            <a:endParaRPr lang="en-US" sz="2400" b="1">
              <a:solidFill>
                <a:srgbClr val="000066"/>
              </a:solidFill>
              <a:latin typeface="Times New Roman" pitchFamily="18" charset="0"/>
            </a:endParaRPr>
          </a:p>
          <a:p>
            <a:pPr eaLnBrk="0" hangingPunct="0"/>
            <a:endParaRPr lang="en-US" sz="2400" b="1">
              <a:solidFill>
                <a:srgbClr val="000066"/>
              </a:solidFill>
              <a:latin typeface="Times New Roman" pitchFamily="18" charset="0"/>
            </a:endParaRPr>
          </a:p>
          <a:p>
            <a:pPr eaLnBrk="0" hangingPunct="0"/>
            <a:endParaRPr lang="en-US" sz="2400" b="1">
              <a:solidFill>
                <a:srgbClr val="000066"/>
              </a:solidFill>
              <a:latin typeface="Times New Roman" pitchFamily="18" charset="0"/>
            </a:endParaRPr>
          </a:p>
        </p:txBody>
      </p:sp>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685800" y="685800"/>
            <a:ext cx="7848600" cy="1206500"/>
          </a:xfrm>
          <a:gradFill rotWithShape="1">
            <a:gsLst>
              <a:gs pos="0">
                <a:srgbClr val="8488C4"/>
              </a:gs>
              <a:gs pos="53000">
                <a:srgbClr val="D4DEFF"/>
              </a:gs>
              <a:gs pos="83000">
                <a:srgbClr val="D4DEFF"/>
              </a:gs>
              <a:gs pos="100000">
                <a:srgbClr val="96AB94"/>
              </a:gs>
            </a:gsLst>
            <a:path path="shape">
              <a:fillToRect l="50000" t="50000" r="50000" b="50000"/>
            </a:path>
          </a:gradFill>
        </p:spPr>
        <p:txBody>
          <a:bodyPr/>
          <a:lstStyle/>
          <a:p>
            <a:pPr eaLnBrk="1" hangingPunct="1"/>
            <a:r>
              <a:rPr lang="en-US" sz="3500" b="1" smtClean="0">
                <a:solidFill>
                  <a:srgbClr val="800000"/>
                </a:solidFill>
              </a:rPr>
              <a:t>Member Function Overloading with Default  Arguments</a:t>
            </a:r>
            <a:endParaRPr lang="en-US" sz="3200" smtClean="0">
              <a:solidFill>
                <a:srgbClr val="800000"/>
              </a:solidFill>
            </a:endParaRPr>
          </a:p>
        </p:txBody>
      </p:sp>
      <p:sp>
        <p:nvSpPr>
          <p:cNvPr id="12291" name="Rectangle 3"/>
          <p:cNvSpPr>
            <a:spLocks noGrp="1" noChangeArrowheads="1"/>
          </p:cNvSpPr>
          <p:nvPr>
            <p:ph type="body" idx="1"/>
          </p:nvPr>
        </p:nvSpPr>
        <p:spPr>
          <a:xfrm>
            <a:off x="685800" y="2286000"/>
            <a:ext cx="7770813" cy="4097338"/>
          </a:xfrm>
          <a:gradFill rotWithShape="1">
            <a:gsLst>
              <a:gs pos="0">
                <a:srgbClr val="8488C4"/>
              </a:gs>
              <a:gs pos="53000">
                <a:srgbClr val="D4DEFF"/>
              </a:gs>
              <a:gs pos="83000">
                <a:srgbClr val="D4DEFF"/>
              </a:gs>
              <a:gs pos="100000">
                <a:srgbClr val="96AB94"/>
              </a:gs>
            </a:gsLst>
            <a:path path="shape">
              <a:fillToRect l="50000" t="50000" r="50000" b="50000"/>
            </a:path>
          </a:gradFill>
        </p:spPr>
        <p:txBody>
          <a:bodyPr/>
          <a:lstStyle/>
          <a:p>
            <a:pPr algn="just" eaLnBrk="1" hangingPunct="1">
              <a:lnSpc>
                <a:spcPct val="150000"/>
              </a:lnSpc>
              <a:buClr>
                <a:schemeClr val="tx1"/>
              </a:buClr>
              <a:buFontTx/>
              <a:buBlip>
                <a:blip r:embed="rId2"/>
              </a:buBlip>
            </a:pPr>
            <a:r>
              <a:rPr lang="en-US" sz="2400" b="1" smtClean="0">
                <a:solidFill>
                  <a:srgbClr val="800000"/>
                </a:solidFill>
                <a:latin typeface="Times New Roman" pitchFamily="18" charset="0"/>
              </a:rPr>
              <a:t>           </a:t>
            </a:r>
            <a:r>
              <a:rPr lang="en-US" sz="2800" b="1" smtClean="0">
                <a:solidFill>
                  <a:srgbClr val="800000"/>
                </a:solidFill>
                <a:latin typeface="Times New Roman" pitchFamily="18" charset="0"/>
              </a:rPr>
              <a:t>The default values are given in the function prototype declaration .whenever a call is made to the function without specifying on arguments the program will automatically Assign values to the parameter  from the default function prototype declaration</a:t>
            </a:r>
          </a:p>
        </p:txBody>
      </p:sp>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2"/>
          <p:cNvSpPr txBox="1">
            <a:spLocks noChangeArrowheads="1"/>
          </p:cNvSpPr>
          <p:nvPr/>
        </p:nvSpPr>
        <p:spPr bwMode="auto">
          <a:xfrm>
            <a:off x="0" y="0"/>
            <a:ext cx="9144000" cy="7102475"/>
          </a:xfrm>
          <a:prstGeom prst="rect">
            <a:avLst/>
          </a:prstGeom>
          <a:noFill/>
          <a:ln w="9525">
            <a:solidFill>
              <a:srgbClr val="FF3300"/>
            </a:solidFill>
            <a:miter lim="800000"/>
            <a:headEnd/>
            <a:tailEnd/>
          </a:ln>
        </p:spPr>
        <p:txBody>
          <a:bodyPr lIns="85119" tIns="42560" rIns="85119" bIns="42560">
            <a:spAutoFit/>
          </a:bodyPr>
          <a:lstStyle/>
          <a:p>
            <a:pPr defTabSz="850900"/>
            <a:r>
              <a:rPr lang="en-US" sz="2400" b="1">
                <a:solidFill>
                  <a:srgbClr val="000066"/>
                </a:solidFill>
                <a:latin typeface="Times New Roman" pitchFamily="18" charset="0"/>
              </a:rPr>
              <a:t>Member function Overloading with default arguments</a:t>
            </a:r>
          </a:p>
          <a:p>
            <a:pPr defTabSz="850900"/>
            <a:r>
              <a:rPr lang="en-US" sz="2400" b="1">
                <a:solidFill>
                  <a:srgbClr val="000066"/>
                </a:solidFill>
                <a:latin typeface="Times New Roman" pitchFamily="18" charset="0"/>
              </a:rPr>
              <a:t>#include&lt;iostream.h&gt;</a:t>
            </a:r>
          </a:p>
          <a:p>
            <a:pPr defTabSz="850900"/>
            <a:r>
              <a:rPr lang="en-US" sz="2400" b="1">
                <a:solidFill>
                  <a:srgbClr val="000066"/>
                </a:solidFill>
                <a:latin typeface="Times New Roman" pitchFamily="18" charset="0"/>
              </a:rPr>
              <a:t>#include&lt;conio.h&gt;</a:t>
            </a:r>
          </a:p>
          <a:p>
            <a:pPr defTabSz="850900"/>
            <a:r>
              <a:rPr lang="en-US" sz="2400" b="1">
                <a:solidFill>
                  <a:srgbClr val="000066"/>
                </a:solidFill>
                <a:latin typeface="Times New Roman" pitchFamily="18" charset="0"/>
              </a:rPr>
              <a:t>int sum(int x=10,int y=20,int z=30);</a:t>
            </a:r>
          </a:p>
          <a:p>
            <a:pPr defTabSz="850900"/>
            <a:r>
              <a:rPr lang="en-US" sz="2400" b="1">
                <a:solidFill>
                  <a:srgbClr val="000066"/>
                </a:solidFill>
                <a:latin typeface="Times New Roman" pitchFamily="18" charset="0"/>
              </a:rPr>
              <a:t>void main()</a:t>
            </a:r>
          </a:p>
          <a:p>
            <a:pPr defTabSz="850900"/>
            <a:r>
              <a:rPr lang="en-US" sz="2400" b="1">
                <a:solidFill>
                  <a:srgbClr val="000066"/>
                </a:solidFill>
                <a:latin typeface="Times New Roman" pitchFamily="18" charset="0"/>
              </a:rPr>
              <a:t>{</a:t>
            </a:r>
          </a:p>
          <a:p>
            <a:pPr defTabSz="850900"/>
            <a:r>
              <a:rPr lang="en-US" sz="2400" b="1">
                <a:solidFill>
                  <a:srgbClr val="000066"/>
                </a:solidFill>
                <a:latin typeface="Times New Roman" pitchFamily="18" charset="0"/>
              </a:rPr>
              <a:t>clrscr();</a:t>
            </a:r>
          </a:p>
          <a:p>
            <a:pPr defTabSz="850900"/>
            <a:r>
              <a:rPr lang="en-US" sz="2400" b="1">
                <a:solidFill>
                  <a:srgbClr val="000066"/>
                </a:solidFill>
                <a:latin typeface="Times New Roman" pitchFamily="18" charset="0"/>
              </a:rPr>
              <a:t>cout&lt;&lt;"sum()="&lt;&lt;sum()&lt;&lt;endl;</a:t>
            </a:r>
          </a:p>
          <a:p>
            <a:pPr defTabSz="850900"/>
            <a:r>
              <a:rPr lang="en-US" sz="2400" b="1">
                <a:solidFill>
                  <a:srgbClr val="000066"/>
                </a:solidFill>
                <a:latin typeface="Times New Roman" pitchFamily="18" charset="0"/>
              </a:rPr>
              <a:t>cout&lt;&lt;"sum(15)"&lt;&lt;sum(15)&lt;&lt;endl;</a:t>
            </a:r>
          </a:p>
          <a:p>
            <a:pPr defTabSz="850900"/>
            <a:r>
              <a:rPr lang="en-US" sz="2400" b="1">
                <a:solidFill>
                  <a:srgbClr val="000066"/>
                </a:solidFill>
                <a:latin typeface="Times New Roman" pitchFamily="18" charset="0"/>
              </a:rPr>
              <a:t>cout&lt;&lt;"sum(15,25)"&lt;&lt;sum(15,25)&lt;&lt;endl;</a:t>
            </a:r>
          </a:p>
          <a:p>
            <a:pPr defTabSz="850900"/>
            <a:r>
              <a:rPr lang="en-US" sz="2400" b="1">
                <a:solidFill>
                  <a:srgbClr val="000066"/>
                </a:solidFill>
                <a:latin typeface="Times New Roman" pitchFamily="18" charset="0"/>
              </a:rPr>
              <a:t>cout&lt;&lt;"sum(15,25,35)"&lt;&lt;sum(15,25,35)&lt;&lt;endl;</a:t>
            </a:r>
          </a:p>
          <a:p>
            <a:pPr defTabSz="850900"/>
            <a:r>
              <a:rPr lang="en-US" sz="2400" b="1">
                <a:solidFill>
                  <a:srgbClr val="000066"/>
                </a:solidFill>
                <a:latin typeface="Times New Roman" pitchFamily="18" charset="0"/>
              </a:rPr>
              <a:t>getch();</a:t>
            </a:r>
          </a:p>
          <a:p>
            <a:pPr defTabSz="850900"/>
            <a:r>
              <a:rPr lang="en-US" sz="2400" b="1">
                <a:solidFill>
                  <a:srgbClr val="000066"/>
                </a:solidFill>
                <a:latin typeface="Times New Roman" pitchFamily="18" charset="0"/>
              </a:rPr>
              <a:t>}</a:t>
            </a:r>
          </a:p>
          <a:p>
            <a:pPr defTabSz="850900"/>
            <a:r>
              <a:rPr lang="en-US" sz="2400" b="1">
                <a:solidFill>
                  <a:srgbClr val="000066"/>
                </a:solidFill>
                <a:latin typeface="Times New Roman" pitchFamily="18" charset="0"/>
              </a:rPr>
              <a:t>int sum(int x,int y,int z) </a:t>
            </a:r>
          </a:p>
          <a:p>
            <a:pPr defTabSz="850900"/>
            <a:r>
              <a:rPr lang="en-US" sz="2400" b="1">
                <a:solidFill>
                  <a:srgbClr val="000066"/>
                </a:solidFill>
                <a:latin typeface="Times New Roman" pitchFamily="18" charset="0"/>
              </a:rPr>
              <a:t>{</a:t>
            </a:r>
          </a:p>
          <a:p>
            <a:pPr defTabSz="850900"/>
            <a:r>
              <a:rPr lang="en-US" sz="2400" b="1">
                <a:solidFill>
                  <a:srgbClr val="000066"/>
                </a:solidFill>
                <a:latin typeface="Times New Roman" pitchFamily="18" charset="0"/>
              </a:rPr>
              <a:t>return(x+y+z); </a:t>
            </a:r>
          </a:p>
          <a:p>
            <a:pPr defTabSz="850900"/>
            <a:r>
              <a:rPr lang="en-US" sz="2400" b="1">
                <a:solidFill>
                  <a:srgbClr val="000066"/>
                </a:solidFill>
                <a:latin typeface="Times New Roman" pitchFamily="18" charset="0"/>
              </a:rPr>
              <a:t>}</a:t>
            </a:r>
          </a:p>
          <a:p>
            <a:pPr defTabSz="850900"/>
            <a:endParaRPr lang="en-US" sz="2400" b="1">
              <a:solidFill>
                <a:srgbClr val="000066"/>
              </a:solidFill>
              <a:latin typeface="Times New Roman" pitchFamily="18" charset="0"/>
            </a:endParaRPr>
          </a:p>
          <a:p>
            <a:pPr defTabSz="850900"/>
            <a:r>
              <a:rPr lang="en-US" sz="2400" b="1">
                <a:solidFill>
                  <a:srgbClr val="000066"/>
                </a:solidFill>
                <a:latin typeface="Times New Roman"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0"/>
                                  </p:stCondLst>
                                  <p:childTnLst>
                                    <p:set>
                                      <p:cBhvr>
                                        <p:cTn id="6" dur="1" fill="hold">
                                          <p:stCondLst>
                                            <p:cond delay="0"/>
                                          </p:stCondLst>
                                        </p:cTn>
                                        <p:tgtEl>
                                          <p:spTgt spid="30722"/>
                                        </p:tgtEl>
                                        <p:attrNameLst>
                                          <p:attrName>style.visibility</p:attrName>
                                        </p:attrNameLst>
                                      </p:cBhvr>
                                      <p:to>
                                        <p:strVal val="visible"/>
                                      </p:to>
                                    </p:set>
                                    <p:anim calcmode="lin" valueType="num">
                                      <p:cBhvr>
                                        <p:cTn id="7" dur="500" fill="hold"/>
                                        <p:tgtEl>
                                          <p:spTgt spid="30722"/>
                                        </p:tgtEl>
                                        <p:attrNameLst>
                                          <p:attrName>ppt_w</p:attrName>
                                        </p:attrNameLst>
                                      </p:cBhvr>
                                      <p:tavLst>
                                        <p:tav tm="0">
                                          <p:val>
                                            <p:fltVal val="0"/>
                                          </p:val>
                                        </p:tav>
                                        <p:tav tm="100000">
                                          <p:val>
                                            <p:strVal val="#ppt_w"/>
                                          </p:val>
                                        </p:tav>
                                      </p:tavLst>
                                    </p:anim>
                                    <p:anim calcmode="lin" valueType="num">
                                      <p:cBhvr>
                                        <p:cTn id="8" dur="500" fill="hold"/>
                                        <p:tgtEl>
                                          <p:spTgt spid="3072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animBg="1"/>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normAutofit fontScale="90000"/>
          </a:bodyPr>
          <a:lstStyle/>
          <a:p>
            <a:pPr eaLnBrk="1" hangingPunct="1"/>
            <a:r>
              <a:rPr lang="en-US" smtClean="0">
                <a:solidFill>
                  <a:srgbClr val="000099"/>
                </a:solidFill>
              </a:rPr>
              <a:t>Difference between Overloading and Overriding</a:t>
            </a:r>
          </a:p>
        </p:txBody>
      </p:sp>
      <p:sp>
        <p:nvSpPr>
          <p:cNvPr id="14339" name="Rectangle 3"/>
          <p:cNvSpPr>
            <a:spLocks noChangeArrowheads="1"/>
          </p:cNvSpPr>
          <p:nvPr/>
        </p:nvSpPr>
        <p:spPr bwMode="auto">
          <a:xfrm>
            <a:off x="457200" y="2514600"/>
            <a:ext cx="2819400" cy="762000"/>
          </a:xfrm>
          <a:prstGeom prst="rect">
            <a:avLst/>
          </a:prstGeom>
          <a:gradFill rotWithShape="0">
            <a:gsLst>
              <a:gs pos="0">
                <a:srgbClr val="CCCCFF"/>
              </a:gs>
              <a:gs pos="100000">
                <a:srgbClr val="5E5E76"/>
              </a:gs>
            </a:gsLst>
            <a:lin ang="2700000" scaled="1"/>
          </a:gradFill>
          <a:ln w="9525">
            <a:solidFill>
              <a:schemeClr val="tx1"/>
            </a:solidFill>
            <a:miter lim="800000"/>
            <a:headEnd/>
            <a:tailEnd/>
          </a:ln>
        </p:spPr>
        <p:txBody>
          <a:bodyPr wrap="none" anchor="ctr"/>
          <a:lstStyle/>
          <a:p>
            <a:pPr algn="ctr"/>
            <a:r>
              <a:rPr lang="en-US" sz="2400" b="1">
                <a:solidFill>
                  <a:srgbClr val="000099"/>
                </a:solidFill>
                <a:latin typeface="Times New Roman" pitchFamily="18" charset="0"/>
              </a:rPr>
              <a:t>Overloading </a:t>
            </a:r>
          </a:p>
        </p:txBody>
      </p:sp>
      <p:sp>
        <p:nvSpPr>
          <p:cNvPr id="14340" name="AutoShape 4"/>
          <p:cNvSpPr>
            <a:spLocks noChangeArrowheads="1"/>
          </p:cNvSpPr>
          <p:nvPr/>
        </p:nvSpPr>
        <p:spPr bwMode="auto">
          <a:xfrm>
            <a:off x="762000" y="5181600"/>
            <a:ext cx="2590800" cy="1066800"/>
          </a:xfrm>
          <a:prstGeom prst="cloudCallout">
            <a:avLst>
              <a:gd name="adj1" fmla="val 73144"/>
              <a:gd name="adj2" fmla="val 32500"/>
            </a:avLst>
          </a:prstGeom>
          <a:gradFill rotWithShape="0">
            <a:gsLst>
              <a:gs pos="0">
                <a:srgbClr val="FFCC99"/>
              </a:gs>
              <a:gs pos="100000">
                <a:srgbClr val="765E47"/>
              </a:gs>
            </a:gsLst>
            <a:lin ang="2700000" scaled="1"/>
          </a:gradFill>
          <a:ln w="9525">
            <a:solidFill>
              <a:schemeClr val="tx1"/>
            </a:solidFill>
            <a:round/>
            <a:headEnd/>
            <a:tailEnd/>
          </a:ln>
        </p:spPr>
        <p:txBody>
          <a:bodyPr wrap="none" anchor="ctr"/>
          <a:lstStyle/>
          <a:p>
            <a:pPr algn="ctr"/>
            <a:r>
              <a:rPr lang="en-US" sz="2400" b="1">
                <a:solidFill>
                  <a:srgbClr val="000099"/>
                </a:solidFill>
                <a:latin typeface="Times New Roman" pitchFamily="18" charset="0"/>
              </a:rPr>
              <a:t>Overriding</a:t>
            </a:r>
          </a:p>
        </p:txBody>
      </p:sp>
      <p:sp>
        <p:nvSpPr>
          <p:cNvPr id="31749" name="Text Box 5"/>
          <p:cNvSpPr txBox="1">
            <a:spLocks noChangeArrowheads="1"/>
          </p:cNvSpPr>
          <p:nvPr/>
        </p:nvSpPr>
        <p:spPr bwMode="auto">
          <a:xfrm>
            <a:off x="4038600" y="1828800"/>
            <a:ext cx="4724400" cy="822325"/>
          </a:xfrm>
          <a:prstGeom prst="rect">
            <a:avLst/>
          </a:prstGeom>
          <a:solidFill>
            <a:srgbClr val="E9E9FF"/>
          </a:solidFill>
          <a:ln w="9525">
            <a:noFill/>
            <a:miter lim="800000"/>
            <a:headEnd/>
            <a:tailEnd/>
          </a:ln>
        </p:spPr>
        <p:txBody>
          <a:bodyPr>
            <a:spAutoFit/>
          </a:bodyPr>
          <a:lstStyle/>
          <a:p>
            <a:pPr>
              <a:spcBef>
                <a:spcPct val="50000"/>
              </a:spcBef>
            </a:pPr>
            <a:r>
              <a:rPr lang="en-US" sz="2400" b="1">
                <a:solidFill>
                  <a:srgbClr val="000099"/>
                </a:solidFill>
                <a:latin typeface="Times New Roman" pitchFamily="18" charset="0"/>
              </a:rPr>
              <a:t>Allows a function to be given more than one definition</a:t>
            </a:r>
          </a:p>
        </p:txBody>
      </p:sp>
      <p:sp>
        <p:nvSpPr>
          <p:cNvPr id="31750" name="Text Box 6"/>
          <p:cNvSpPr txBox="1">
            <a:spLocks noChangeArrowheads="1"/>
          </p:cNvSpPr>
          <p:nvPr/>
        </p:nvSpPr>
        <p:spPr bwMode="auto">
          <a:xfrm>
            <a:off x="4000500" y="2952750"/>
            <a:ext cx="4876800" cy="1552575"/>
          </a:xfrm>
          <a:prstGeom prst="rect">
            <a:avLst/>
          </a:prstGeom>
          <a:solidFill>
            <a:srgbClr val="E9E9FF"/>
          </a:solidFill>
          <a:ln w="9525">
            <a:noFill/>
            <a:miter lim="800000"/>
            <a:headEnd/>
            <a:tailEnd/>
          </a:ln>
        </p:spPr>
        <p:txBody>
          <a:bodyPr>
            <a:spAutoFit/>
          </a:bodyPr>
          <a:lstStyle/>
          <a:p>
            <a:pPr algn="just">
              <a:spcBef>
                <a:spcPct val="50000"/>
              </a:spcBef>
            </a:pPr>
            <a:r>
              <a:rPr lang="en-US" sz="2400" b="1">
                <a:solidFill>
                  <a:srgbClr val="000099"/>
                </a:solidFill>
                <a:latin typeface="Times New Roman" pitchFamily="18" charset="0"/>
              </a:rPr>
              <a:t>The types of arguments or number of arguments which the function takes determines which definition will be used</a:t>
            </a:r>
          </a:p>
        </p:txBody>
      </p:sp>
      <p:sp>
        <p:nvSpPr>
          <p:cNvPr id="31751" name="Text Box 7"/>
          <p:cNvSpPr txBox="1">
            <a:spLocks noChangeArrowheads="1"/>
          </p:cNvSpPr>
          <p:nvPr/>
        </p:nvSpPr>
        <p:spPr bwMode="auto">
          <a:xfrm>
            <a:off x="4038600" y="4953000"/>
            <a:ext cx="4876800" cy="1570038"/>
          </a:xfrm>
          <a:prstGeom prst="rect">
            <a:avLst/>
          </a:prstGeom>
          <a:solidFill>
            <a:srgbClr val="FFE5BF"/>
          </a:solidFill>
          <a:ln w="9525">
            <a:noFill/>
            <a:miter lim="800000"/>
            <a:headEnd/>
            <a:tailEnd/>
          </a:ln>
        </p:spPr>
        <p:txBody>
          <a:bodyPr>
            <a:spAutoFit/>
          </a:bodyPr>
          <a:lstStyle/>
          <a:p>
            <a:pPr algn="just">
              <a:spcBef>
                <a:spcPct val="50000"/>
              </a:spcBef>
            </a:pPr>
            <a:r>
              <a:rPr lang="en-US" sz="2400" b="1">
                <a:solidFill>
                  <a:srgbClr val="000099"/>
                </a:solidFill>
                <a:latin typeface="Times New Roman" pitchFamily="18" charset="0"/>
              </a:rPr>
              <a:t>It is the ability to change the definition of the base class function by writing a code for them in the derived class of an inheritance</a:t>
            </a:r>
          </a:p>
        </p:txBody>
      </p:sp>
      <p:sp>
        <p:nvSpPr>
          <p:cNvPr id="14344" name="Line 8"/>
          <p:cNvSpPr>
            <a:spLocks noChangeShapeType="1"/>
          </p:cNvSpPr>
          <p:nvPr/>
        </p:nvSpPr>
        <p:spPr bwMode="auto">
          <a:xfrm flipV="1">
            <a:off x="3276600" y="2286000"/>
            <a:ext cx="762000" cy="228600"/>
          </a:xfrm>
          <a:prstGeom prst="line">
            <a:avLst/>
          </a:prstGeom>
          <a:noFill/>
          <a:ln w="38100">
            <a:solidFill>
              <a:schemeClr val="tx1"/>
            </a:solidFill>
            <a:miter lim="800000"/>
            <a:headEnd/>
            <a:tailEnd type="triangle" w="med" len="med"/>
          </a:ln>
        </p:spPr>
        <p:txBody>
          <a:bodyPr wrap="none"/>
          <a:lstStyle/>
          <a:p>
            <a:endParaRPr lang="en-IN"/>
          </a:p>
        </p:txBody>
      </p:sp>
      <p:sp>
        <p:nvSpPr>
          <p:cNvPr id="14345" name="Line 9"/>
          <p:cNvSpPr>
            <a:spLocks noChangeShapeType="1"/>
          </p:cNvSpPr>
          <p:nvPr/>
        </p:nvSpPr>
        <p:spPr bwMode="auto">
          <a:xfrm>
            <a:off x="3276600" y="3276600"/>
            <a:ext cx="685800" cy="228600"/>
          </a:xfrm>
          <a:prstGeom prst="line">
            <a:avLst/>
          </a:prstGeom>
          <a:noFill/>
          <a:ln w="38100">
            <a:solidFill>
              <a:schemeClr val="tx1"/>
            </a:solidFill>
            <a:miter lim="800000"/>
            <a:headEnd/>
            <a:tailEnd type="triangle" w="med" len="med"/>
          </a:ln>
        </p:spPr>
        <p:txBody>
          <a:bodyPr wrap="none"/>
          <a:lstStyle/>
          <a:p>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31749"/>
                                        </p:tgtEl>
                                        <p:attrNameLst>
                                          <p:attrName>style.visibility</p:attrName>
                                        </p:attrNameLst>
                                      </p:cBhvr>
                                      <p:to>
                                        <p:strVal val="visible"/>
                                      </p:to>
                                    </p:set>
                                    <p:anim calcmode="lin" valueType="num">
                                      <p:cBhvr additive="base">
                                        <p:cTn id="7" dur="500" fill="hold"/>
                                        <p:tgtEl>
                                          <p:spTgt spid="31749"/>
                                        </p:tgtEl>
                                        <p:attrNameLst>
                                          <p:attrName>ppt_x</p:attrName>
                                        </p:attrNameLst>
                                      </p:cBhvr>
                                      <p:tavLst>
                                        <p:tav tm="0">
                                          <p:val>
                                            <p:strVal val="#ppt_x"/>
                                          </p:val>
                                        </p:tav>
                                        <p:tav tm="100000">
                                          <p:val>
                                            <p:strVal val="#ppt_x"/>
                                          </p:val>
                                        </p:tav>
                                      </p:tavLst>
                                    </p:anim>
                                    <p:anim calcmode="lin" valueType="num">
                                      <p:cBhvr additive="base">
                                        <p:cTn id="8" dur="500" fill="hold"/>
                                        <p:tgtEl>
                                          <p:spTgt spid="31749"/>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31750"/>
                                        </p:tgtEl>
                                        <p:attrNameLst>
                                          <p:attrName>style.visibility</p:attrName>
                                        </p:attrNameLst>
                                      </p:cBhvr>
                                      <p:to>
                                        <p:strVal val="visible"/>
                                      </p:to>
                                    </p:set>
                                    <p:anim calcmode="lin" valueType="num">
                                      <p:cBhvr additive="base">
                                        <p:cTn id="13" dur="500" fill="hold"/>
                                        <p:tgtEl>
                                          <p:spTgt spid="31750"/>
                                        </p:tgtEl>
                                        <p:attrNameLst>
                                          <p:attrName>ppt_x</p:attrName>
                                        </p:attrNameLst>
                                      </p:cBhvr>
                                      <p:tavLst>
                                        <p:tav tm="0">
                                          <p:val>
                                            <p:strVal val="1+#ppt_w/2"/>
                                          </p:val>
                                        </p:tav>
                                        <p:tav tm="100000">
                                          <p:val>
                                            <p:strVal val="#ppt_x"/>
                                          </p:val>
                                        </p:tav>
                                      </p:tavLst>
                                    </p:anim>
                                    <p:anim calcmode="lin" valueType="num">
                                      <p:cBhvr additive="base">
                                        <p:cTn id="14" dur="500" fill="hold"/>
                                        <p:tgtEl>
                                          <p:spTgt spid="3175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1751"/>
                                        </p:tgtEl>
                                        <p:attrNameLst>
                                          <p:attrName>style.visibility</p:attrName>
                                        </p:attrNameLst>
                                      </p:cBhvr>
                                      <p:to>
                                        <p:strVal val="visible"/>
                                      </p:to>
                                    </p:set>
                                    <p:anim calcmode="lin" valueType="num">
                                      <p:cBhvr additive="base">
                                        <p:cTn id="19" dur="500" fill="hold"/>
                                        <p:tgtEl>
                                          <p:spTgt spid="31751"/>
                                        </p:tgtEl>
                                        <p:attrNameLst>
                                          <p:attrName>ppt_x</p:attrName>
                                        </p:attrNameLst>
                                      </p:cBhvr>
                                      <p:tavLst>
                                        <p:tav tm="0">
                                          <p:val>
                                            <p:strVal val="#ppt_x"/>
                                          </p:val>
                                        </p:tav>
                                        <p:tav tm="100000">
                                          <p:val>
                                            <p:strVal val="#ppt_x"/>
                                          </p:val>
                                        </p:tav>
                                      </p:tavLst>
                                    </p:anim>
                                    <p:anim calcmode="lin" valueType="num">
                                      <p:cBhvr additive="base">
                                        <p:cTn id="20" dur="500" fill="hold"/>
                                        <p:tgtEl>
                                          <p:spTgt spid="317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9" grpId="0" animBg="1" autoUpdateAnimBg="0"/>
      <p:bldP spid="31750" grpId="0" animBg="1" autoUpdateAnimBg="0"/>
      <p:bldP spid="31751" grpId="0" animBg="1" autoUpdateAnimBg="0"/>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2"/>
          <p:cNvSpPr txBox="1">
            <a:spLocks noChangeArrowheads="1"/>
          </p:cNvSpPr>
          <p:nvPr/>
        </p:nvSpPr>
        <p:spPr bwMode="auto">
          <a:xfrm>
            <a:off x="457200" y="1447800"/>
            <a:ext cx="8534400" cy="2428875"/>
          </a:xfrm>
          <a:prstGeom prst="rect">
            <a:avLst/>
          </a:prstGeom>
          <a:noFill/>
          <a:ln w="9525">
            <a:noFill/>
            <a:miter lim="800000"/>
            <a:headEnd/>
            <a:tailEnd/>
          </a:ln>
        </p:spPr>
        <p:txBody>
          <a:bodyPr>
            <a:spAutoFit/>
          </a:bodyPr>
          <a:lstStyle/>
          <a:p>
            <a:pPr algn="just">
              <a:lnSpc>
                <a:spcPct val="160000"/>
              </a:lnSpc>
              <a:spcBef>
                <a:spcPct val="50000"/>
              </a:spcBef>
              <a:buFontTx/>
              <a:buBlip>
                <a:blip r:embed="rId3"/>
              </a:buBlip>
            </a:pPr>
            <a:r>
              <a:rPr lang="en-US" sz="2400" b="1">
                <a:solidFill>
                  <a:srgbClr val="800000"/>
                </a:solidFill>
                <a:latin typeface="Times New Roman" pitchFamily="18" charset="0"/>
                <a:cs typeface="Times New Roman" pitchFamily="18" charset="0"/>
              </a:rPr>
              <a:t> </a:t>
            </a:r>
            <a:r>
              <a:rPr lang="en-US" sz="2400" b="1">
                <a:solidFill>
                  <a:srgbClr val="660033"/>
                </a:solidFill>
                <a:latin typeface="Times New Roman" pitchFamily="18" charset="0"/>
              </a:rPr>
              <a:t>Function Overloading is the ability  to write more than one  function with the same name with different number ,type and sequence of arguments. It is also referred as “Function polymorphism”</a:t>
            </a:r>
            <a:endParaRPr lang="en-US" sz="2400" b="1">
              <a:solidFill>
                <a:srgbClr val="800000"/>
              </a:solidFill>
              <a:latin typeface="Times New Roman" pitchFamily="18" charset="0"/>
            </a:endParaRPr>
          </a:p>
        </p:txBody>
      </p:sp>
      <p:sp>
        <p:nvSpPr>
          <p:cNvPr id="15363" name="WordArt 3"/>
          <p:cNvSpPr>
            <a:spLocks noChangeArrowheads="1" noChangeShapeType="1" noTextEdit="1"/>
          </p:cNvSpPr>
          <p:nvPr/>
        </p:nvSpPr>
        <p:spPr bwMode="auto">
          <a:xfrm>
            <a:off x="2590800" y="228600"/>
            <a:ext cx="3200400" cy="914400"/>
          </a:xfrm>
          <a:prstGeom prst="rect">
            <a:avLst/>
          </a:prstGeom>
        </p:spPr>
        <p:txBody>
          <a:bodyPr wrap="none" fromWordArt="1">
            <a:prstTxWarp prst="textCanUp">
              <a:avLst>
                <a:gd name="adj" fmla="val 85713"/>
              </a:avLst>
            </a:prstTxWarp>
          </a:bodyPr>
          <a:lstStyle/>
          <a:p>
            <a:pPr algn="ctr"/>
            <a:r>
              <a:rPr lang="en-IN"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a:rPr>
              <a:t>Summary</a:t>
            </a:r>
          </a:p>
        </p:txBody>
      </p:sp>
      <p:sp>
        <p:nvSpPr>
          <p:cNvPr id="15364" name="Rectangle 4"/>
          <p:cNvSpPr>
            <a:spLocks noChangeArrowheads="1"/>
          </p:cNvSpPr>
          <p:nvPr/>
        </p:nvSpPr>
        <p:spPr bwMode="auto">
          <a:xfrm>
            <a:off x="304800" y="1295400"/>
            <a:ext cx="8763000" cy="2590800"/>
          </a:xfrm>
          <a:prstGeom prst="rect">
            <a:avLst/>
          </a:prstGeom>
          <a:noFill/>
          <a:ln w="57150" cmpd="thickThin">
            <a:solidFill>
              <a:srgbClr val="990033"/>
            </a:solidFill>
            <a:miter lim="800000"/>
            <a:headEnd/>
            <a:tailEnd/>
          </a:ln>
        </p:spPr>
        <p:txBody>
          <a:bodyPr wrap="none" anchor="ctr"/>
          <a:lstStyle/>
          <a:p>
            <a:pPr algn="ctr" eaLnBrk="0" hangingPunct="0"/>
            <a:endParaRPr lang="en-US">
              <a:solidFill>
                <a:srgbClr val="800000"/>
              </a:solidFill>
              <a:latin typeface="Verdana" pitchFamily="34" charset="0"/>
            </a:endParaRPr>
          </a:p>
        </p:txBody>
      </p:sp>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WordArt 2"/>
          <p:cNvSpPr>
            <a:spLocks noChangeArrowheads="1" noChangeShapeType="1" noTextEdit="1"/>
          </p:cNvSpPr>
          <p:nvPr/>
        </p:nvSpPr>
        <p:spPr bwMode="auto">
          <a:xfrm>
            <a:off x="1219200" y="3276600"/>
            <a:ext cx="7086600" cy="914400"/>
          </a:xfrm>
          <a:prstGeom prst="rect">
            <a:avLst/>
          </a:prstGeom>
        </p:spPr>
        <p:txBody>
          <a:bodyPr wrap="none" fromWordArt="1">
            <a:prstTxWarp prst="textChevron">
              <a:avLst>
                <a:gd name="adj" fmla="val 25000"/>
              </a:avLst>
            </a:prstTxWarp>
          </a:bodyPr>
          <a:lstStyle/>
          <a:p>
            <a:pPr algn="ctr"/>
            <a:r>
              <a:rPr lang="en-IN" sz="3600" kern="10">
                <a:ln w="12700">
                  <a:solidFill>
                    <a:srgbClr val="B2B2B2"/>
                  </a:solidFill>
                  <a:round/>
                  <a:headEnd/>
                  <a:tailEnd/>
                </a:ln>
                <a:solidFill>
                  <a:srgbClr val="FF0000"/>
                </a:solidFill>
                <a:effectLst>
                  <a:outerShdw dist="35921" dir="2700000" sy="50000" rotWithShape="0">
                    <a:srgbClr val="875B0D">
                      <a:alpha val="70000"/>
                    </a:srgbClr>
                  </a:outerShdw>
                </a:effectLst>
                <a:latin typeface="Arial Black"/>
              </a:rPr>
              <a:t>Friend Function</a:t>
            </a:r>
          </a:p>
        </p:txBody>
      </p:sp>
      <p:sp>
        <p:nvSpPr>
          <p:cNvPr id="2051" name="WordArt 3"/>
          <p:cNvSpPr>
            <a:spLocks noChangeArrowheads="1" noChangeShapeType="1" noTextEdit="1"/>
          </p:cNvSpPr>
          <p:nvPr/>
        </p:nvSpPr>
        <p:spPr bwMode="auto">
          <a:xfrm>
            <a:off x="3124200" y="1066800"/>
            <a:ext cx="2895600" cy="647700"/>
          </a:xfrm>
          <a:prstGeom prst="rect">
            <a:avLst/>
          </a:prstGeom>
        </p:spPr>
        <p:txBody>
          <a:bodyPr wrap="none" fromWordArt="1">
            <a:prstTxWarp prst="textPlain">
              <a:avLst>
                <a:gd name="adj" fmla="val 50000"/>
              </a:avLst>
            </a:prstTxWarp>
          </a:bodyPr>
          <a:lstStyle/>
          <a:p>
            <a:pPr algn="ctr"/>
            <a:r>
              <a:rPr lang="en-IN" sz="3600" kern="10">
                <a:ln w="9525">
                  <a:solidFill>
                    <a:srgbClr val="000000"/>
                  </a:solidFill>
                  <a:round/>
                  <a:headEnd/>
                  <a:tailEnd/>
                </a:ln>
                <a:solidFill>
                  <a:srgbClr val="A50021"/>
                </a:solidFill>
                <a:latin typeface="Arial Black"/>
              </a:rPr>
              <a:t>CHAPTER 6</a:t>
            </a:r>
          </a:p>
        </p:txBody>
      </p:sp>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
          <p:cNvSpPr txBox="1">
            <a:spLocks noChangeArrowheads="1"/>
          </p:cNvSpPr>
          <p:nvPr/>
        </p:nvSpPr>
        <p:spPr bwMode="auto">
          <a:xfrm>
            <a:off x="1876425" y="776288"/>
            <a:ext cx="5376863" cy="823912"/>
          </a:xfrm>
          <a:prstGeom prst="rect">
            <a:avLst/>
          </a:prstGeom>
          <a:solidFill>
            <a:srgbClr val="FF0000"/>
          </a:solidFill>
          <a:ln w="9525">
            <a:noFill/>
            <a:miter lim="800000"/>
            <a:headEnd/>
            <a:tailEnd/>
          </a:ln>
          <a:effectLst/>
        </p:spPr>
        <p:txBody>
          <a:bodyPr wrap="none">
            <a:spAutoFit/>
          </a:bodyPr>
          <a:lstStyle/>
          <a:p>
            <a:pPr>
              <a:defRPr/>
            </a:pPr>
            <a:r>
              <a:rPr lang="en-US" sz="4800" b="1">
                <a:solidFill>
                  <a:srgbClr val="66FFFF"/>
                </a:solidFill>
                <a:effectLst>
                  <a:outerShdw blurRad="38100" dist="38100" dir="2700000" algn="tl">
                    <a:srgbClr val="000000"/>
                  </a:outerShdw>
                </a:effectLst>
                <a:latin typeface="Arial Unicode MS" pitchFamily="34" charset="-128"/>
                <a:cs typeface="Times New Roman" pitchFamily="18" charset="0"/>
              </a:rPr>
              <a:t>Session Objectives</a:t>
            </a:r>
          </a:p>
        </p:txBody>
      </p:sp>
      <p:sp>
        <p:nvSpPr>
          <p:cNvPr id="5123" name="Text Box 3"/>
          <p:cNvSpPr txBox="1">
            <a:spLocks noChangeArrowheads="1"/>
          </p:cNvSpPr>
          <p:nvPr/>
        </p:nvSpPr>
        <p:spPr bwMode="auto">
          <a:xfrm>
            <a:off x="885825" y="2071688"/>
            <a:ext cx="4587875" cy="519112"/>
          </a:xfrm>
          <a:prstGeom prst="rect">
            <a:avLst/>
          </a:prstGeom>
          <a:noFill/>
          <a:ln w="9525">
            <a:noFill/>
            <a:miter lim="800000"/>
            <a:headEnd/>
            <a:tailEnd/>
          </a:ln>
        </p:spPr>
        <p:txBody>
          <a:bodyPr wrap="none">
            <a:spAutoFit/>
          </a:bodyPr>
          <a:lstStyle/>
          <a:p>
            <a:pPr>
              <a:buFontTx/>
              <a:buBlip>
                <a:blip r:embed="rId2"/>
              </a:buBlip>
            </a:pPr>
            <a:r>
              <a:rPr lang="en-US" sz="2800">
                <a:solidFill>
                  <a:srgbClr val="CC3300"/>
                </a:solidFill>
                <a:latin typeface="Times New Roman" pitchFamily="18" charset="0"/>
                <a:cs typeface="Times New Roman" pitchFamily="18" charset="0"/>
              </a:rPr>
              <a:t> </a:t>
            </a:r>
            <a:r>
              <a:rPr lang="en-US" sz="2800" b="1">
                <a:solidFill>
                  <a:srgbClr val="CC3300"/>
                </a:solidFill>
                <a:latin typeface="Times New Roman" pitchFamily="18" charset="0"/>
                <a:cs typeface="Times New Roman" pitchFamily="18" charset="0"/>
              </a:rPr>
              <a:t>Define Static data member</a:t>
            </a:r>
          </a:p>
        </p:txBody>
      </p:sp>
      <p:sp>
        <p:nvSpPr>
          <p:cNvPr id="5124" name="Text Box 4"/>
          <p:cNvSpPr txBox="1">
            <a:spLocks noChangeArrowheads="1"/>
          </p:cNvSpPr>
          <p:nvPr/>
        </p:nvSpPr>
        <p:spPr bwMode="auto">
          <a:xfrm>
            <a:off x="885825" y="2833688"/>
            <a:ext cx="5694363" cy="519112"/>
          </a:xfrm>
          <a:prstGeom prst="rect">
            <a:avLst/>
          </a:prstGeom>
          <a:noFill/>
          <a:ln w="9525">
            <a:noFill/>
            <a:miter lim="800000"/>
            <a:headEnd/>
            <a:tailEnd/>
          </a:ln>
        </p:spPr>
        <p:txBody>
          <a:bodyPr wrap="none">
            <a:spAutoFit/>
          </a:bodyPr>
          <a:lstStyle/>
          <a:p>
            <a:pPr>
              <a:buFontTx/>
              <a:buBlip>
                <a:blip r:embed="rId2"/>
              </a:buBlip>
            </a:pPr>
            <a:r>
              <a:rPr lang="en-US" sz="2800">
                <a:solidFill>
                  <a:srgbClr val="CC3300"/>
                </a:solidFill>
                <a:latin typeface="Times New Roman" pitchFamily="18" charset="0"/>
                <a:cs typeface="Times New Roman" pitchFamily="18" charset="0"/>
              </a:rPr>
              <a:t> </a:t>
            </a:r>
            <a:r>
              <a:rPr lang="en-US" sz="2800" b="1">
                <a:solidFill>
                  <a:srgbClr val="CC3300"/>
                </a:solidFill>
                <a:latin typeface="Times New Roman" pitchFamily="18" charset="0"/>
                <a:cs typeface="Times New Roman" pitchFamily="18" charset="0"/>
              </a:rPr>
              <a:t>Static member functions in a class</a:t>
            </a:r>
          </a:p>
        </p:txBody>
      </p:sp>
      <p:sp>
        <p:nvSpPr>
          <p:cNvPr id="5125" name="Text Box 5"/>
          <p:cNvSpPr txBox="1">
            <a:spLocks noChangeArrowheads="1"/>
          </p:cNvSpPr>
          <p:nvPr/>
        </p:nvSpPr>
        <p:spPr bwMode="auto">
          <a:xfrm>
            <a:off x="962025" y="3748088"/>
            <a:ext cx="5064125" cy="519112"/>
          </a:xfrm>
          <a:prstGeom prst="rect">
            <a:avLst/>
          </a:prstGeom>
          <a:noFill/>
          <a:ln w="9525">
            <a:noFill/>
            <a:miter lim="800000"/>
            <a:headEnd/>
            <a:tailEnd/>
          </a:ln>
        </p:spPr>
        <p:txBody>
          <a:bodyPr wrap="none">
            <a:spAutoFit/>
          </a:bodyPr>
          <a:lstStyle/>
          <a:p>
            <a:pPr>
              <a:buFontTx/>
              <a:buBlip>
                <a:blip r:embed="rId2"/>
              </a:buBlip>
            </a:pPr>
            <a:r>
              <a:rPr lang="en-US" sz="2800">
                <a:solidFill>
                  <a:srgbClr val="CC3300"/>
                </a:solidFill>
                <a:latin typeface="Times New Roman" pitchFamily="18" charset="0"/>
                <a:cs typeface="Times New Roman" pitchFamily="18" charset="0"/>
              </a:rPr>
              <a:t> </a:t>
            </a:r>
            <a:r>
              <a:rPr lang="en-US" sz="2800" b="1">
                <a:solidFill>
                  <a:srgbClr val="CC3300"/>
                </a:solidFill>
                <a:latin typeface="Times New Roman" pitchFamily="18" charset="0"/>
                <a:cs typeface="Times New Roman" pitchFamily="18" charset="0"/>
              </a:rPr>
              <a:t>Object as Function Argument</a:t>
            </a:r>
          </a:p>
        </p:txBody>
      </p:sp>
      <p:sp>
        <p:nvSpPr>
          <p:cNvPr id="5126" name="Text Box 6"/>
          <p:cNvSpPr txBox="1">
            <a:spLocks noChangeArrowheads="1"/>
          </p:cNvSpPr>
          <p:nvPr/>
        </p:nvSpPr>
        <p:spPr bwMode="auto">
          <a:xfrm>
            <a:off x="962025" y="4433888"/>
            <a:ext cx="3008313" cy="519112"/>
          </a:xfrm>
          <a:prstGeom prst="rect">
            <a:avLst/>
          </a:prstGeom>
          <a:noFill/>
          <a:ln w="9525">
            <a:noFill/>
            <a:miter lim="800000"/>
            <a:headEnd/>
            <a:tailEnd/>
          </a:ln>
        </p:spPr>
        <p:txBody>
          <a:bodyPr wrap="none">
            <a:spAutoFit/>
          </a:bodyPr>
          <a:lstStyle/>
          <a:p>
            <a:pPr>
              <a:buFontTx/>
              <a:buBlip>
                <a:blip r:embed="rId2"/>
              </a:buBlip>
            </a:pPr>
            <a:r>
              <a:rPr lang="en-US" sz="2800">
                <a:solidFill>
                  <a:srgbClr val="CC3300"/>
                </a:solidFill>
                <a:latin typeface="Times New Roman" pitchFamily="18" charset="0"/>
                <a:cs typeface="Times New Roman" pitchFamily="18" charset="0"/>
              </a:rPr>
              <a:t> </a:t>
            </a:r>
            <a:r>
              <a:rPr lang="en-US" sz="2800" b="1">
                <a:solidFill>
                  <a:srgbClr val="CC3300"/>
                </a:solidFill>
                <a:latin typeface="Times New Roman" pitchFamily="18" charset="0"/>
                <a:cs typeface="Times New Roman" pitchFamily="18" charset="0"/>
              </a:rPr>
              <a:t>Friend Function</a:t>
            </a:r>
          </a:p>
        </p:txBody>
      </p:sp>
      <p:sp>
        <p:nvSpPr>
          <p:cNvPr id="5127" name="Text Box 7"/>
          <p:cNvSpPr txBox="1">
            <a:spLocks noChangeArrowheads="1"/>
          </p:cNvSpPr>
          <p:nvPr/>
        </p:nvSpPr>
        <p:spPr bwMode="auto">
          <a:xfrm>
            <a:off x="1066800" y="5119688"/>
            <a:ext cx="2452688" cy="519112"/>
          </a:xfrm>
          <a:prstGeom prst="rect">
            <a:avLst/>
          </a:prstGeom>
          <a:noFill/>
          <a:ln w="9525">
            <a:noFill/>
            <a:miter lim="800000"/>
            <a:headEnd/>
            <a:tailEnd/>
          </a:ln>
        </p:spPr>
        <p:txBody>
          <a:bodyPr wrap="none">
            <a:spAutoFit/>
          </a:bodyPr>
          <a:lstStyle/>
          <a:p>
            <a:pPr>
              <a:buFontTx/>
              <a:buBlip>
                <a:blip r:embed="rId2"/>
              </a:buBlip>
            </a:pPr>
            <a:r>
              <a:rPr lang="en-US" sz="2800">
                <a:solidFill>
                  <a:srgbClr val="CC3300"/>
                </a:solidFill>
                <a:latin typeface="Times New Roman" pitchFamily="18" charset="0"/>
                <a:cs typeface="Times New Roman" pitchFamily="18" charset="0"/>
              </a:rPr>
              <a:t> </a:t>
            </a:r>
            <a:r>
              <a:rPr lang="en-US" sz="2800" b="1">
                <a:solidFill>
                  <a:srgbClr val="CC3300"/>
                </a:solidFill>
                <a:latin typeface="Times New Roman" pitchFamily="18" charset="0"/>
                <a:cs typeface="Times New Roman" pitchFamily="18" charset="0"/>
              </a:rPr>
              <a:t>Friend Class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88" fill="hold" grpId="0" nodeType="afterEffect">
                                  <p:stCondLst>
                                    <p:cond delay="0"/>
                                  </p:stCondLst>
                                  <p:childTnLst>
                                    <p:set>
                                      <p:cBhvr>
                                        <p:cTn id="6" dur="1" fill="hold">
                                          <p:stCondLst>
                                            <p:cond delay="0"/>
                                          </p:stCondLst>
                                        </p:cTn>
                                        <p:tgtEl>
                                          <p:spTgt spid="5123"/>
                                        </p:tgtEl>
                                        <p:attrNameLst>
                                          <p:attrName>style.visibility</p:attrName>
                                        </p:attrNameLst>
                                      </p:cBhvr>
                                      <p:to>
                                        <p:strVal val="visible"/>
                                      </p:to>
                                    </p:set>
                                    <p:anim calcmode="lin" valueType="num">
                                      <p:cBhvr>
                                        <p:cTn id="7" dur="500" fill="hold"/>
                                        <p:tgtEl>
                                          <p:spTgt spid="5123"/>
                                        </p:tgtEl>
                                        <p:attrNameLst>
                                          <p:attrName>ppt_w</p:attrName>
                                        </p:attrNameLst>
                                      </p:cBhvr>
                                      <p:tavLst>
                                        <p:tav tm="0">
                                          <p:val>
                                            <p:strVal val="4/3*#ppt_w"/>
                                          </p:val>
                                        </p:tav>
                                        <p:tav tm="100000">
                                          <p:val>
                                            <p:strVal val="#ppt_w"/>
                                          </p:val>
                                        </p:tav>
                                      </p:tavLst>
                                    </p:anim>
                                    <p:anim calcmode="lin" valueType="num">
                                      <p:cBhvr>
                                        <p:cTn id="8" dur="500" fill="hold"/>
                                        <p:tgtEl>
                                          <p:spTgt spid="5123"/>
                                        </p:tgtEl>
                                        <p:attrNameLst>
                                          <p:attrName>ppt_h</p:attrName>
                                        </p:attrNameLst>
                                      </p:cBhvr>
                                      <p:tavLst>
                                        <p:tav tm="0">
                                          <p:val>
                                            <p:strVal val="4/3*#ppt_h"/>
                                          </p:val>
                                        </p:tav>
                                        <p:tav tm="100000">
                                          <p:val>
                                            <p:strVal val="#ppt_h"/>
                                          </p:val>
                                        </p:tav>
                                      </p:tavLst>
                                    </p:anim>
                                  </p:childTnLst>
                                </p:cTn>
                              </p:par>
                            </p:childTnLst>
                          </p:cTn>
                        </p:par>
                        <p:par>
                          <p:cTn id="9" fill="hold">
                            <p:stCondLst>
                              <p:cond delay="500"/>
                            </p:stCondLst>
                            <p:childTnLst>
                              <p:par>
                                <p:cTn id="10" presetID="23" presetClass="entr" presetSubtype="288" fill="hold" grpId="0" nodeType="afterEffect">
                                  <p:stCondLst>
                                    <p:cond delay="0"/>
                                  </p:stCondLst>
                                  <p:childTnLst>
                                    <p:set>
                                      <p:cBhvr>
                                        <p:cTn id="11" dur="1" fill="hold">
                                          <p:stCondLst>
                                            <p:cond delay="0"/>
                                          </p:stCondLst>
                                        </p:cTn>
                                        <p:tgtEl>
                                          <p:spTgt spid="5124"/>
                                        </p:tgtEl>
                                        <p:attrNameLst>
                                          <p:attrName>style.visibility</p:attrName>
                                        </p:attrNameLst>
                                      </p:cBhvr>
                                      <p:to>
                                        <p:strVal val="visible"/>
                                      </p:to>
                                    </p:set>
                                    <p:anim calcmode="lin" valueType="num">
                                      <p:cBhvr>
                                        <p:cTn id="12" dur="500" fill="hold"/>
                                        <p:tgtEl>
                                          <p:spTgt spid="5124"/>
                                        </p:tgtEl>
                                        <p:attrNameLst>
                                          <p:attrName>ppt_w</p:attrName>
                                        </p:attrNameLst>
                                      </p:cBhvr>
                                      <p:tavLst>
                                        <p:tav tm="0">
                                          <p:val>
                                            <p:strVal val="4/3*#ppt_w"/>
                                          </p:val>
                                        </p:tav>
                                        <p:tav tm="100000">
                                          <p:val>
                                            <p:strVal val="#ppt_w"/>
                                          </p:val>
                                        </p:tav>
                                      </p:tavLst>
                                    </p:anim>
                                    <p:anim calcmode="lin" valueType="num">
                                      <p:cBhvr>
                                        <p:cTn id="13" dur="500" fill="hold"/>
                                        <p:tgtEl>
                                          <p:spTgt spid="5124"/>
                                        </p:tgtEl>
                                        <p:attrNameLst>
                                          <p:attrName>ppt_h</p:attrName>
                                        </p:attrNameLst>
                                      </p:cBhvr>
                                      <p:tavLst>
                                        <p:tav tm="0">
                                          <p:val>
                                            <p:strVal val="4/3*#ppt_h"/>
                                          </p:val>
                                        </p:tav>
                                        <p:tav tm="100000">
                                          <p:val>
                                            <p:strVal val="#ppt_h"/>
                                          </p:val>
                                        </p:tav>
                                      </p:tavLst>
                                    </p:anim>
                                  </p:childTnLst>
                                </p:cTn>
                              </p:par>
                            </p:childTnLst>
                          </p:cTn>
                        </p:par>
                        <p:par>
                          <p:cTn id="14" fill="hold">
                            <p:stCondLst>
                              <p:cond delay="1000"/>
                            </p:stCondLst>
                            <p:childTnLst>
                              <p:par>
                                <p:cTn id="15" presetID="23" presetClass="entr" presetSubtype="288" fill="hold" grpId="0" nodeType="afterEffect">
                                  <p:stCondLst>
                                    <p:cond delay="0"/>
                                  </p:stCondLst>
                                  <p:childTnLst>
                                    <p:set>
                                      <p:cBhvr>
                                        <p:cTn id="16" dur="1" fill="hold">
                                          <p:stCondLst>
                                            <p:cond delay="0"/>
                                          </p:stCondLst>
                                        </p:cTn>
                                        <p:tgtEl>
                                          <p:spTgt spid="5125"/>
                                        </p:tgtEl>
                                        <p:attrNameLst>
                                          <p:attrName>style.visibility</p:attrName>
                                        </p:attrNameLst>
                                      </p:cBhvr>
                                      <p:to>
                                        <p:strVal val="visible"/>
                                      </p:to>
                                    </p:set>
                                    <p:anim calcmode="lin" valueType="num">
                                      <p:cBhvr>
                                        <p:cTn id="17" dur="500" fill="hold"/>
                                        <p:tgtEl>
                                          <p:spTgt spid="5125"/>
                                        </p:tgtEl>
                                        <p:attrNameLst>
                                          <p:attrName>ppt_w</p:attrName>
                                        </p:attrNameLst>
                                      </p:cBhvr>
                                      <p:tavLst>
                                        <p:tav tm="0">
                                          <p:val>
                                            <p:strVal val="4/3*#ppt_w"/>
                                          </p:val>
                                        </p:tav>
                                        <p:tav tm="100000">
                                          <p:val>
                                            <p:strVal val="#ppt_w"/>
                                          </p:val>
                                        </p:tav>
                                      </p:tavLst>
                                    </p:anim>
                                    <p:anim calcmode="lin" valueType="num">
                                      <p:cBhvr>
                                        <p:cTn id="18" dur="500" fill="hold"/>
                                        <p:tgtEl>
                                          <p:spTgt spid="5125"/>
                                        </p:tgtEl>
                                        <p:attrNameLst>
                                          <p:attrName>ppt_h</p:attrName>
                                        </p:attrNameLst>
                                      </p:cBhvr>
                                      <p:tavLst>
                                        <p:tav tm="0">
                                          <p:val>
                                            <p:strVal val="4/3*#ppt_h"/>
                                          </p:val>
                                        </p:tav>
                                        <p:tav tm="100000">
                                          <p:val>
                                            <p:strVal val="#ppt_h"/>
                                          </p:val>
                                        </p:tav>
                                      </p:tavLst>
                                    </p:anim>
                                  </p:childTnLst>
                                </p:cTn>
                              </p:par>
                            </p:childTnLst>
                          </p:cTn>
                        </p:par>
                        <p:par>
                          <p:cTn id="19" fill="hold">
                            <p:stCondLst>
                              <p:cond delay="1500"/>
                            </p:stCondLst>
                            <p:childTnLst>
                              <p:par>
                                <p:cTn id="20" presetID="23" presetClass="entr" presetSubtype="288" fill="hold" grpId="0" nodeType="afterEffect">
                                  <p:stCondLst>
                                    <p:cond delay="0"/>
                                  </p:stCondLst>
                                  <p:childTnLst>
                                    <p:set>
                                      <p:cBhvr>
                                        <p:cTn id="21" dur="1" fill="hold">
                                          <p:stCondLst>
                                            <p:cond delay="0"/>
                                          </p:stCondLst>
                                        </p:cTn>
                                        <p:tgtEl>
                                          <p:spTgt spid="5126"/>
                                        </p:tgtEl>
                                        <p:attrNameLst>
                                          <p:attrName>style.visibility</p:attrName>
                                        </p:attrNameLst>
                                      </p:cBhvr>
                                      <p:to>
                                        <p:strVal val="visible"/>
                                      </p:to>
                                    </p:set>
                                    <p:anim calcmode="lin" valueType="num">
                                      <p:cBhvr>
                                        <p:cTn id="22" dur="500" fill="hold"/>
                                        <p:tgtEl>
                                          <p:spTgt spid="5126"/>
                                        </p:tgtEl>
                                        <p:attrNameLst>
                                          <p:attrName>ppt_w</p:attrName>
                                        </p:attrNameLst>
                                      </p:cBhvr>
                                      <p:tavLst>
                                        <p:tav tm="0">
                                          <p:val>
                                            <p:strVal val="4/3*#ppt_w"/>
                                          </p:val>
                                        </p:tav>
                                        <p:tav tm="100000">
                                          <p:val>
                                            <p:strVal val="#ppt_w"/>
                                          </p:val>
                                        </p:tav>
                                      </p:tavLst>
                                    </p:anim>
                                    <p:anim calcmode="lin" valueType="num">
                                      <p:cBhvr>
                                        <p:cTn id="23" dur="500" fill="hold"/>
                                        <p:tgtEl>
                                          <p:spTgt spid="5126"/>
                                        </p:tgtEl>
                                        <p:attrNameLst>
                                          <p:attrName>ppt_h</p:attrName>
                                        </p:attrNameLst>
                                      </p:cBhvr>
                                      <p:tavLst>
                                        <p:tav tm="0">
                                          <p:val>
                                            <p:strVal val="4/3*#ppt_h"/>
                                          </p:val>
                                        </p:tav>
                                        <p:tav tm="100000">
                                          <p:val>
                                            <p:strVal val="#ppt_h"/>
                                          </p:val>
                                        </p:tav>
                                      </p:tavLst>
                                    </p:anim>
                                  </p:childTnLst>
                                </p:cTn>
                              </p:par>
                            </p:childTnLst>
                          </p:cTn>
                        </p:par>
                        <p:par>
                          <p:cTn id="24" fill="hold">
                            <p:stCondLst>
                              <p:cond delay="2000"/>
                            </p:stCondLst>
                            <p:childTnLst>
                              <p:par>
                                <p:cTn id="25" presetID="23" presetClass="entr" presetSubtype="288" fill="hold" grpId="0" nodeType="afterEffect">
                                  <p:stCondLst>
                                    <p:cond delay="0"/>
                                  </p:stCondLst>
                                  <p:childTnLst>
                                    <p:set>
                                      <p:cBhvr>
                                        <p:cTn id="26" dur="1" fill="hold">
                                          <p:stCondLst>
                                            <p:cond delay="0"/>
                                          </p:stCondLst>
                                        </p:cTn>
                                        <p:tgtEl>
                                          <p:spTgt spid="5127"/>
                                        </p:tgtEl>
                                        <p:attrNameLst>
                                          <p:attrName>style.visibility</p:attrName>
                                        </p:attrNameLst>
                                      </p:cBhvr>
                                      <p:to>
                                        <p:strVal val="visible"/>
                                      </p:to>
                                    </p:set>
                                    <p:anim calcmode="lin" valueType="num">
                                      <p:cBhvr>
                                        <p:cTn id="27" dur="500" fill="hold"/>
                                        <p:tgtEl>
                                          <p:spTgt spid="5127"/>
                                        </p:tgtEl>
                                        <p:attrNameLst>
                                          <p:attrName>ppt_w</p:attrName>
                                        </p:attrNameLst>
                                      </p:cBhvr>
                                      <p:tavLst>
                                        <p:tav tm="0">
                                          <p:val>
                                            <p:strVal val="4/3*#ppt_w"/>
                                          </p:val>
                                        </p:tav>
                                        <p:tav tm="100000">
                                          <p:val>
                                            <p:strVal val="#ppt_w"/>
                                          </p:val>
                                        </p:tav>
                                      </p:tavLst>
                                    </p:anim>
                                    <p:anim calcmode="lin" valueType="num">
                                      <p:cBhvr>
                                        <p:cTn id="28" dur="500" fill="hold"/>
                                        <p:tgtEl>
                                          <p:spTgt spid="5127"/>
                                        </p:tgtEl>
                                        <p:attrNameLst>
                                          <p:attrName>ppt_h</p:attrName>
                                        </p:attrNameLst>
                                      </p:cBhvr>
                                      <p:tavLst>
                                        <p:tav tm="0">
                                          <p:val>
                                            <p:strVal val="4/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autoUpdateAnimBg="0"/>
      <p:bldP spid="5124" grpId="0" autoUpdateAnimBg="0"/>
      <p:bldP spid="5125" grpId="0" autoUpdateAnimBg="0"/>
      <p:bldP spid="5126" grpId="0" autoUpdateAnimBg="0"/>
      <p:bldP spid="5127" grpId="0" autoUpdateAnimBg="0"/>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ChangeArrowheads="1"/>
          </p:cNvSpPr>
          <p:nvPr/>
        </p:nvSpPr>
        <p:spPr bwMode="auto">
          <a:xfrm>
            <a:off x="304800" y="222250"/>
            <a:ext cx="8610600" cy="6200775"/>
          </a:xfrm>
          <a:prstGeom prst="rect">
            <a:avLst/>
          </a:prstGeom>
          <a:noFill/>
          <a:ln w="9525">
            <a:solidFill>
              <a:srgbClr val="00FFFF"/>
            </a:solidFill>
            <a:miter lim="800000"/>
            <a:headEnd/>
            <a:tailEnd/>
          </a:ln>
        </p:spPr>
        <p:txBody>
          <a:bodyPr>
            <a:spAutoFit/>
          </a:bodyPr>
          <a:lstStyle/>
          <a:p>
            <a:pPr algn="ctr" eaLnBrk="0" hangingPunct="0"/>
            <a:r>
              <a:rPr lang="en-US" sz="4400" b="1" u="sng">
                <a:solidFill>
                  <a:srgbClr val="000066"/>
                </a:solidFill>
                <a:latin typeface="Bookman Old Style" pitchFamily="18" charset="0"/>
              </a:rPr>
              <a:t>FRIEND FUNCTIONS</a:t>
            </a:r>
          </a:p>
          <a:p>
            <a:pPr algn="just" eaLnBrk="0" hangingPunct="0"/>
            <a:endParaRPr lang="en-US" sz="2400" b="1">
              <a:solidFill>
                <a:srgbClr val="000066"/>
              </a:solidFill>
              <a:latin typeface="Bookman Old Style" pitchFamily="18" charset="0"/>
            </a:endParaRPr>
          </a:p>
          <a:p>
            <a:pPr algn="just" eaLnBrk="0" hangingPunct="0">
              <a:lnSpc>
                <a:spcPct val="110000"/>
              </a:lnSpc>
              <a:spcBef>
                <a:spcPct val="15000"/>
              </a:spcBef>
              <a:spcAft>
                <a:spcPct val="25000"/>
              </a:spcAft>
            </a:pPr>
            <a:r>
              <a:rPr lang="en-US" sz="2400" b="1">
                <a:solidFill>
                  <a:srgbClr val="000066"/>
                </a:solidFill>
                <a:latin typeface="Times New Roman" pitchFamily="18" charset="0"/>
              </a:rPr>
              <a:t>Why it is used?   -  The concept behind the encapsulation and data hiding restrict the non-member function from accessing the private members of the class.</a:t>
            </a:r>
          </a:p>
          <a:p>
            <a:pPr algn="just" eaLnBrk="0" hangingPunct="0">
              <a:lnSpc>
                <a:spcPct val="110000"/>
              </a:lnSpc>
              <a:spcBef>
                <a:spcPct val="15000"/>
              </a:spcBef>
              <a:spcAft>
                <a:spcPct val="25000"/>
              </a:spcAft>
            </a:pPr>
            <a:endParaRPr lang="en-US" sz="2400" b="1">
              <a:solidFill>
                <a:srgbClr val="000066"/>
              </a:solidFill>
              <a:latin typeface="Times New Roman" pitchFamily="18" charset="0"/>
            </a:endParaRPr>
          </a:p>
          <a:p>
            <a:pPr algn="just" eaLnBrk="0" hangingPunct="0">
              <a:lnSpc>
                <a:spcPct val="110000"/>
              </a:lnSpc>
              <a:spcBef>
                <a:spcPct val="15000"/>
              </a:spcBef>
              <a:spcAft>
                <a:spcPct val="25000"/>
              </a:spcAft>
            </a:pPr>
            <a:r>
              <a:rPr lang="en-US" sz="2400" b="1">
                <a:solidFill>
                  <a:srgbClr val="000066"/>
                </a:solidFill>
                <a:latin typeface="Times New Roman" pitchFamily="18" charset="0"/>
              </a:rPr>
              <a:t>	The best way to access a private data member by a non-member function is to change a private data member to a public. but it violates the whole concept of data hiding and encapsulation.</a:t>
            </a:r>
          </a:p>
          <a:p>
            <a:pPr algn="just" eaLnBrk="0" hangingPunct="0">
              <a:lnSpc>
                <a:spcPct val="110000"/>
              </a:lnSpc>
              <a:spcBef>
                <a:spcPct val="15000"/>
              </a:spcBef>
              <a:spcAft>
                <a:spcPct val="25000"/>
              </a:spcAft>
            </a:pPr>
            <a:endParaRPr lang="en-US" sz="2400" b="1">
              <a:solidFill>
                <a:srgbClr val="000066"/>
              </a:solidFill>
              <a:latin typeface="Times New Roman" pitchFamily="18" charset="0"/>
            </a:endParaRPr>
          </a:p>
          <a:p>
            <a:pPr algn="just" eaLnBrk="0" hangingPunct="0">
              <a:lnSpc>
                <a:spcPct val="110000"/>
              </a:lnSpc>
              <a:spcBef>
                <a:spcPct val="15000"/>
              </a:spcBef>
              <a:spcAft>
                <a:spcPct val="25000"/>
              </a:spcAft>
            </a:pPr>
            <a:r>
              <a:rPr lang="en-US" sz="2400" b="1">
                <a:solidFill>
                  <a:srgbClr val="000066"/>
                </a:solidFill>
                <a:latin typeface="Times New Roman" pitchFamily="18" charset="0"/>
              </a:rPr>
              <a:t>	To solve this problem friend functions are used when we can access the private or protected members.</a:t>
            </a:r>
          </a:p>
        </p:txBody>
      </p:sp>
    </p:spTree>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ChangeArrowheads="1"/>
          </p:cNvSpPr>
          <p:nvPr/>
        </p:nvSpPr>
        <p:spPr bwMode="auto">
          <a:xfrm>
            <a:off x="914400" y="2590800"/>
            <a:ext cx="7391400" cy="609600"/>
          </a:xfrm>
          <a:prstGeom prst="rect">
            <a:avLst/>
          </a:prstGeom>
          <a:solidFill>
            <a:schemeClr val="bg1"/>
          </a:solidFill>
          <a:ln w="9525">
            <a:solidFill>
              <a:schemeClr val="tx1"/>
            </a:solidFill>
            <a:miter lim="800000"/>
            <a:headEnd/>
            <a:tailEnd/>
          </a:ln>
        </p:spPr>
        <p:txBody>
          <a:bodyPr wrap="none" anchor="ctr"/>
          <a:lstStyle/>
          <a:p>
            <a:endParaRPr lang="en-IN"/>
          </a:p>
        </p:txBody>
      </p:sp>
      <p:sp>
        <p:nvSpPr>
          <p:cNvPr id="5123" name="Rectangle 3"/>
          <p:cNvSpPr>
            <a:spLocks noChangeArrowheads="1"/>
          </p:cNvSpPr>
          <p:nvPr/>
        </p:nvSpPr>
        <p:spPr bwMode="auto">
          <a:xfrm>
            <a:off x="152400" y="76200"/>
            <a:ext cx="8839200" cy="3451225"/>
          </a:xfrm>
          <a:prstGeom prst="rect">
            <a:avLst/>
          </a:prstGeom>
          <a:noFill/>
          <a:ln w="9525">
            <a:solidFill>
              <a:schemeClr val="tx2"/>
            </a:solidFill>
            <a:miter lim="800000"/>
            <a:headEnd/>
            <a:tailEnd/>
          </a:ln>
        </p:spPr>
        <p:txBody>
          <a:bodyPr>
            <a:spAutoFit/>
          </a:bodyPr>
          <a:lstStyle/>
          <a:p>
            <a:pPr algn="just" eaLnBrk="0" hangingPunct="0"/>
            <a:r>
              <a:rPr lang="en-US" b="1">
                <a:solidFill>
                  <a:srgbClr val="660033"/>
                </a:solidFill>
                <a:latin typeface="Verdana" pitchFamily="34" charset="0"/>
              </a:rPr>
              <a:t>	</a:t>
            </a:r>
            <a:r>
              <a:rPr lang="en-US" sz="2400" b="1">
                <a:solidFill>
                  <a:srgbClr val="660033"/>
                </a:solidFill>
                <a:latin typeface="Bookman Old Style" pitchFamily="18" charset="0"/>
              </a:rPr>
              <a:t>Friend informs the compiler that the function is not a member func.Of the class.</a:t>
            </a:r>
          </a:p>
          <a:p>
            <a:pPr algn="just" eaLnBrk="0" hangingPunct="0"/>
            <a:endParaRPr lang="en-US" sz="2400" b="1">
              <a:solidFill>
                <a:srgbClr val="660033"/>
              </a:solidFill>
              <a:latin typeface="Bookman Old Style" pitchFamily="18" charset="0"/>
            </a:endParaRPr>
          </a:p>
          <a:p>
            <a:pPr algn="just" eaLnBrk="0" hangingPunct="0"/>
            <a:r>
              <a:rPr lang="en-US" sz="2400" b="1" i="1" u="sng">
                <a:solidFill>
                  <a:srgbClr val="FF5050"/>
                </a:solidFill>
                <a:latin typeface="Bookman Old Style" pitchFamily="18" charset="0"/>
              </a:rPr>
              <a:t>Note :</a:t>
            </a:r>
            <a:r>
              <a:rPr lang="en-US" sz="2400" b="1">
                <a:solidFill>
                  <a:srgbClr val="660033"/>
                </a:solidFill>
                <a:latin typeface="Bookman Old Style" pitchFamily="18" charset="0"/>
              </a:rPr>
              <a:t> friend is not used when the class is defined outside the class</a:t>
            </a:r>
          </a:p>
          <a:p>
            <a:pPr algn="just" eaLnBrk="0" hangingPunct="0"/>
            <a:endParaRPr lang="en-US" sz="2400" b="1">
              <a:solidFill>
                <a:srgbClr val="660033"/>
              </a:solidFill>
              <a:latin typeface="Bookman Old Style" pitchFamily="18" charset="0"/>
            </a:endParaRPr>
          </a:p>
          <a:p>
            <a:pPr algn="just" eaLnBrk="0" hangingPunct="0"/>
            <a:r>
              <a:rPr lang="en-US" sz="2400" b="1">
                <a:solidFill>
                  <a:srgbClr val="FF5050"/>
                </a:solidFill>
                <a:latin typeface="Bookman Old Style" pitchFamily="18" charset="0"/>
              </a:rPr>
              <a:t>Syntax :</a:t>
            </a:r>
          </a:p>
          <a:p>
            <a:pPr algn="just" eaLnBrk="0" hangingPunct="0"/>
            <a:r>
              <a:rPr lang="en-US" sz="2400" b="1">
                <a:solidFill>
                  <a:srgbClr val="660033"/>
                </a:solidFill>
                <a:latin typeface="Bookman Old Style" pitchFamily="18" charset="0"/>
              </a:rPr>
              <a:t>        </a:t>
            </a:r>
            <a:r>
              <a:rPr lang="en-US" sz="2600" b="1">
                <a:solidFill>
                  <a:srgbClr val="660033"/>
                </a:solidFill>
                <a:latin typeface="Bookman Old Style" pitchFamily="18" charset="0"/>
              </a:rPr>
              <a:t>friend&lt;ret.Type&gt; func_name(arguments);</a:t>
            </a:r>
          </a:p>
          <a:p>
            <a:pPr algn="just" eaLnBrk="0" hangingPunct="0"/>
            <a:endParaRPr lang="en-US" sz="2600" b="1">
              <a:solidFill>
                <a:srgbClr val="660033"/>
              </a:solidFill>
              <a:latin typeface="Bookman Old Style" pitchFamily="18" charset="0"/>
            </a:endParaRPr>
          </a:p>
        </p:txBody>
      </p:sp>
      <p:graphicFrame>
        <p:nvGraphicFramePr>
          <p:cNvPr id="7172" name="Group 4"/>
          <p:cNvGraphicFramePr>
            <a:graphicFrameLocks noGrp="1"/>
          </p:cNvGraphicFramePr>
          <p:nvPr/>
        </p:nvGraphicFramePr>
        <p:xfrm>
          <a:off x="76200" y="3581400"/>
          <a:ext cx="8991600" cy="2819400"/>
        </p:xfrm>
        <a:graphic>
          <a:graphicData uri="http://schemas.openxmlformats.org/drawingml/2006/table">
            <a:tbl>
              <a:tblPr/>
              <a:tblGrid>
                <a:gridCol w="5081588"/>
                <a:gridCol w="3910012"/>
              </a:tblGrid>
              <a:tr h="533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smtClean="0">
                          <a:ln>
                            <a:noFill/>
                          </a:ln>
                          <a:solidFill>
                            <a:srgbClr val="000066"/>
                          </a:solidFill>
                          <a:effectLst/>
                          <a:latin typeface="Times New Roman" pitchFamily="18" charset="0"/>
                        </a:rPr>
                        <a:t>Member Function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smtClean="0">
                          <a:ln>
                            <a:noFill/>
                          </a:ln>
                          <a:solidFill>
                            <a:srgbClr val="000066"/>
                          </a:solidFill>
                          <a:effectLst/>
                          <a:latin typeface="Times New Roman" pitchFamily="18" charset="0"/>
                        </a:rPr>
                        <a:t>Friend Function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914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smtClean="0">
                          <a:ln>
                            <a:noFill/>
                          </a:ln>
                          <a:solidFill>
                            <a:srgbClr val="000066"/>
                          </a:solidFill>
                          <a:effectLst/>
                          <a:latin typeface="Times New Roman" pitchFamily="18" charset="0"/>
                        </a:rPr>
                        <a:t>It is a part of class definition and is invoked by a particular object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smtClean="0">
                          <a:ln>
                            <a:noFill/>
                          </a:ln>
                          <a:solidFill>
                            <a:srgbClr val="000066"/>
                          </a:solidFill>
                          <a:effectLst/>
                          <a:latin typeface="Times New Roman" pitchFamily="18" charset="0"/>
                        </a:rPr>
                        <a:t>It is not a part of a class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3716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smtClean="0">
                          <a:ln>
                            <a:noFill/>
                          </a:ln>
                          <a:solidFill>
                            <a:srgbClr val="000066"/>
                          </a:solidFill>
                          <a:effectLst/>
                          <a:latin typeface="Times New Roman" pitchFamily="18" charset="0"/>
                        </a:rPr>
                        <a:t>It can access the data depending upon whether the function is private or protected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smtClean="0">
                          <a:ln>
                            <a:noFill/>
                          </a:ln>
                          <a:solidFill>
                            <a:srgbClr val="000066"/>
                          </a:solidFill>
                          <a:effectLst/>
                          <a:latin typeface="Times New Roman" pitchFamily="18" charset="0"/>
                        </a:rPr>
                        <a:t>It can access any data irrespective of the private or public or protected access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ChangeArrowheads="1"/>
          </p:cNvSpPr>
          <p:nvPr/>
        </p:nvSpPr>
        <p:spPr bwMode="auto">
          <a:xfrm>
            <a:off x="1066800" y="19050"/>
            <a:ext cx="4572000" cy="5588000"/>
          </a:xfrm>
          <a:prstGeom prst="rect">
            <a:avLst/>
          </a:prstGeom>
          <a:noFill/>
          <a:ln w="9525">
            <a:solidFill>
              <a:schemeClr val="tx2"/>
            </a:solidFill>
            <a:miter lim="800000"/>
            <a:headEnd/>
            <a:tailEnd/>
          </a:ln>
        </p:spPr>
        <p:txBody>
          <a:bodyPr>
            <a:spAutoFit/>
          </a:bodyPr>
          <a:lstStyle/>
          <a:p>
            <a:pPr eaLnBrk="0" hangingPunct="0"/>
            <a:r>
              <a:rPr lang="en-US" sz="2000" b="1">
                <a:solidFill>
                  <a:srgbClr val="000066"/>
                </a:solidFill>
              </a:rPr>
              <a:t>#include&lt;iostream.h&gt;</a:t>
            </a:r>
          </a:p>
          <a:p>
            <a:pPr eaLnBrk="0" hangingPunct="0"/>
            <a:r>
              <a:rPr lang="en-US" sz="2000" b="1">
                <a:solidFill>
                  <a:srgbClr val="000066"/>
                </a:solidFill>
              </a:rPr>
              <a:t>class book</a:t>
            </a:r>
          </a:p>
          <a:p>
            <a:pPr eaLnBrk="0" hangingPunct="0"/>
            <a:r>
              <a:rPr lang="en-US" sz="2000" b="1">
                <a:solidFill>
                  <a:srgbClr val="000066"/>
                </a:solidFill>
              </a:rPr>
              <a:t>{</a:t>
            </a:r>
          </a:p>
          <a:p>
            <a:pPr eaLnBrk="0" hangingPunct="0"/>
            <a:r>
              <a:rPr lang="en-US" sz="2000" b="1">
                <a:solidFill>
                  <a:srgbClr val="000066"/>
                </a:solidFill>
              </a:rPr>
              <a:t>private :</a:t>
            </a:r>
          </a:p>
          <a:p>
            <a:pPr eaLnBrk="0" hangingPunct="0"/>
            <a:r>
              <a:rPr lang="en-US" sz="2000" b="1">
                <a:solidFill>
                  <a:srgbClr val="000066"/>
                </a:solidFill>
              </a:rPr>
              <a:t>	int bno;</a:t>
            </a:r>
          </a:p>
          <a:p>
            <a:pPr eaLnBrk="0" hangingPunct="0"/>
            <a:r>
              <a:rPr lang="en-US" sz="2000" b="1">
                <a:solidFill>
                  <a:srgbClr val="000066"/>
                </a:solidFill>
              </a:rPr>
              <a:t>        char bname[20];</a:t>
            </a:r>
          </a:p>
          <a:p>
            <a:pPr eaLnBrk="0" hangingPunct="0"/>
            <a:r>
              <a:rPr lang="en-US" sz="2000" b="1">
                <a:solidFill>
                  <a:srgbClr val="000066"/>
                </a:solidFill>
              </a:rPr>
              <a:t>public:</a:t>
            </a:r>
          </a:p>
          <a:p>
            <a:pPr eaLnBrk="0" hangingPunct="0"/>
            <a:r>
              <a:rPr lang="en-US" sz="2000" b="1">
                <a:solidFill>
                  <a:srgbClr val="000066"/>
                </a:solidFill>
              </a:rPr>
              <a:t>        void getdata();</a:t>
            </a:r>
          </a:p>
          <a:p>
            <a:pPr eaLnBrk="0" hangingPunct="0"/>
            <a:r>
              <a:rPr lang="en-US" sz="2000" b="1">
                <a:solidFill>
                  <a:srgbClr val="000066"/>
                </a:solidFill>
              </a:rPr>
              <a:t>        friend void show(book);</a:t>
            </a:r>
          </a:p>
          <a:p>
            <a:pPr eaLnBrk="0" hangingPunct="0"/>
            <a:r>
              <a:rPr lang="en-US" sz="2000" b="1">
                <a:solidFill>
                  <a:srgbClr val="000066"/>
                </a:solidFill>
              </a:rPr>
              <a:t>};</a:t>
            </a:r>
          </a:p>
          <a:p>
            <a:pPr eaLnBrk="0" hangingPunct="0"/>
            <a:r>
              <a:rPr lang="en-US" sz="2000" b="1">
                <a:solidFill>
                  <a:srgbClr val="000066"/>
                </a:solidFill>
              </a:rPr>
              <a:t>void book::getdata()</a:t>
            </a:r>
          </a:p>
          <a:p>
            <a:pPr eaLnBrk="0" hangingPunct="0"/>
            <a:r>
              <a:rPr lang="en-US" sz="2000" b="1">
                <a:solidFill>
                  <a:srgbClr val="000066"/>
                </a:solidFill>
              </a:rPr>
              <a:t>{</a:t>
            </a:r>
          </a:p>
          <a:p>
            <a:pPr eaLnBrk="0" hangingPunct="0"/>
            <a:r>
              <a:rPr lang="en-US" sz="2000" b="1">
                <a:solidFill>
                  <a:srgbClr val="000066"/>
                </a:solidFill>
              </a:rPr>
              <a:t>cin&gt;&gt;bno&gt;&gt;bname;</a:t>
            </a:r>
          </a:p>
          <a:p>
            <a:pPr eaLnBrk="0" hangingPunct="0"/>
            <a:r>
              <a:rPr lang="en-US" sz="2000" b="1">
                <a:solidFill>
                  <a:srgbClr val="000066"/>
                </a:solidFill>
              </a:rPr>
              <a:t>}</a:t>
            </a:r>
          </a:p>
          <a:p>
            <a:pPr eaLnBrk="0" hangingPunct="0"/>
            <a:r>
              <a:rPr lang="en-US" sz="2000" b="1">
                <a:solidFill>
                  <a:srgbClr val="000066"/>
                </a:solidFill>
              </a:rPr>
              <a:t>void show(book bk)</a:t>
            </a:r>
          </a:p>
          <a:p>
            <a:pPr eaLnBrk="0" hangingPunct="0"/>
            <a:r>
              <a:rPr lang="en-US" sz="2000" b="1">
                <a:solidFill>
                  <a:srgbClr val="000066"/>
                </a:solidFill>
              </a:rPr>
              <a:t>{</a:t>
            </a:r>
          </a:p>
          <a:p>
            <a:pPr eaLnBrk="0" hangingPunct="0"/>
            <a:r>
              <a:rPr lang="en-US" sz="2000" b="1">
                <a:solidFill>
                  <a:srgbClr val="000066"/>
                </a:solidFill>
              </a:rPr>
              <a:t>cout&lt;&lt;bk.bno&lt;&lt;bk.bname;</a:t>
            </a:r>
          </a:p>
          <a:p>
            <a:pPr eaLnBrk="0" hangingPunct="0"/>
            <a:r>
              <a:rPr lang="en-US" sz="2000" b="1">
                <a:solidFill>
                  <a:srgbClr val="000066"/>
                </a:solidFill>
              </a:rPr>
              <a:t>}</a:t>
            </a:r>
          </a:p>
        </p:txBody>
      </p:sp>
      <p:sp>
        <p:nvSpPr>
          <p:cNvPr id="6147" name="Rectangle 3"/>
          <p:cNvSpPr>
            <a:spLocks noChangeArrowheads="1"/>
          </p:cNvSpPr>
          <p:nvPr/>
        </p:nvSpPr>
        <p:spPr bwMode="auto">
          <a:xfrm>
            <a:off x="5715000" y="0"/>
            <a:ext cx="3124200" cy="2540000"/>
          </a:xfrm>
          <a:prstGeom prst="rect">
            <a:avLst/>
          </a:prstGeom>
          <a:noFill/>
          <a:ln w="9525">
            <a:solidFill>
              <a:schemeClr val="tx2"/>
            </a:solidFill>
            <a:miter lim="800000"/>
            <a:headEnd/>
            <a:tailEnd/>
          </a:ln>
        </p:spPr>
        <p:txBody>
          <a:bodyPr>
            <a:spAutoFit/>
          </a:bodyPr>
          <a:lstStyle/>
          <a:p>
            <a:pPr eaLnBrk="0" hangingPunct="0"/>
            <a:r>
              <a:rPr lang="en-US" sz="2000" b="1">
                <a:solidFill>
                  <a:srgbClr val="990033"/>
                </a:solidFill>
              </a:rPr>
              <a:t>void main()</a:t>
            </a:r>
          </a:p>
          <a:p>
            <a:pPr eaLnBrk="0" hangingPunct="0"/>
            <a:r>
              <a:rPr lang="en-US" sz="2000" b="1">
                <a:solidFill>
                  <a:srgbClr val="990033"/>
                </a:solidFill>
              </a:rPr>
              <a:t>{</a:t>
            </a:r>
          </a:p>
          <a:p>
            <a:pPr eaLnBrk="0" hangingPunct="0"/>
            <a:r>
              <a:rPr lang="en-US" sz="2000" b="1">
                <a:solidFill>
                  <a:srgbClr val="990033"/>
                </a:solidFill>
              </a:rPr>
              <a:t>book b;</a:t>
            </a:r>
          </a:p>
          <a:p>
            <a:pPr eaLnBrk="0" hangingPunct="0"/>
            <a:r>
              <a:rPr lang="en-US" sz="2000" b="1">
                <a:solidFill>
                  <a:srgbClr val="990033"/>
                </a:solidFill>
              </a:rPr>
              <a:t>clrscr();</a:t>
            </a:r>
          </a:p>
          <a:p>
            <a:pPr eaLnBrk="0" hangingPunct="0"/>
            <a:r>
              <a:rPr lang="en-US" sz="2000" b="1">
                <a:solidFill>
                  <a:srgbClr val="990033"/>
                </a:solidFill>
              </a:rPr>
              <a:t>b.getdata();</a:t>
            </a:r>
          </a:p>
          <a:p>
            <a:pPr eaLnBrk="0" hangingPunct="0"/>
            <a:r>
              <a:rPr lang="en-US" sz="2000" b="1">
                <a:solidFill>
                  <a:srgbClr val="990033"/>
                </a:solidFill>
              </a:rPr>
              <a:t>show(b);</a:t>
            </a:r>
          </a:p>
          <a:p>
            <a:pPr eaLnBrk="0" hangingPunct="0"/>
            <a:r>
              <a:rPr lang="en-US" sz="2000" b="1">
                <a:solidFill>
                  <a:srgbClr val="990033"/>
                </a:solidFill>
              </a:rPr>
              <a:t>getch();</a:t>
            </a:r>
          </a:p>
          <a:p>
            <a:pPr eaLnBrk="0" hangingPunct="0"/>
            <a:r>
              <a:rPr lang="en-US" sz="2000" b="1">
                <a:solidFill>
                  <a:srgbClr val="990033"/>
                </a:solidFill>
              </a:rPr>
              <a:t>}</a:t>
            </a:r>
          </a:p>
        </p:txBody>
      </p:sp>
    </p:spTree>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ChangeArrowheads="1"/>
          </p:cNvSpPr>
          <p:nvPr/>
        </p:nvSpPr>
        <p:spPr bwMode="auto">
          <a:xfrm>
            <a:off x="-19050" y="19050"/>
            <a:ext cx="9163050" cy="6618288"/>
          </a:xfrm>
          <a:prstGeom prst="rect">
            <a:avLst/>
          </a:prstGeom>
          <a:noFill/>
          <a:ln w="9525">
            <a:solidFill>
              <a:srgbClr val="990033"/>
            </a:solidFill>
            <a:miter lim="800000"/>
            <a:headEnd/>
            <a:tailEnd/>
          </a:ln>
        </p:spPr>
        <p:txBody>
          <a:bodyPr>
            <a:spAutoFit/>
          </a:bodyPr>
          <a:lstStyle/>
          <a:p>
            <a:pPr algn="just" eaLnBrk="0" hangingPunct="0"/>
            <a:r>
              <a:rPr lang="en-US" sz="2800" b="1" u="sng">
                <a:solidFill>
                  <a:srgbClr val="000066"/>
                </a:solidFill>
              </a:rPr>
              <a:t>FRIEND FUNCTIONS</a:t>
            </a:r>
          </a:p>
          <a:p>
            <a:pPr algn="just" eaLnBrk="0" hangingPunct="0"/>
            <a:r>
              <a:rPr lang="en-US" sz="2800" b="1">
                <a:solidFill>
                  <a:srgbClr val="000066"/>
                </a:solidFill>
                <a:latin typeface="Times New Roman" pitchFamily="18" charset="0"/>
              </a:rPr>
              <a:t>	To access the private member of the class inside the friend function the object of the class   should be passed as an argument to the function</a:t>
            </a:r>
          </a:p>
          <a:p>
            <a:pPr algn="just" eaLnBrk="0" hangingPunct="0"/>
            <a:endParaRPr lang="en-US" sz="2800" b="1">
              <a:solidFill>
                <a:srgbClr val="000066"/>
              </a:solidFill>
              <a:latin typeface="Times New Roman" pitchFamily="18" charset="0"/>
            </a:endParaRPr>
          </a:p>
          <a:p>
            <a:pPr eaLnBrk="0" hangingPunct="0"/>
            <a:r>
              <a:rPr lang="en-US" sz="2400" b="1">
                <a:solidFill>
                  <a:srgbClr val="000066"/>
                </a:solidFill>
                <a:latin typeface="Times New Roman" pitchFamily="18" charset="0"/>
              </a:rPr>
              <a:t>#include&lt;iostream.h&gt;</a:t>
            </a:r>
          </a:p>
          <a:p>
            <a:pPr eaLnBrk="0" hangingPunct="0"/>
            <a:r>
              <a:rPr lang="en-US" sz="2400" b="1">
                <a:solidFill>
                  <a:srgbClr val="000066"/>
                </a:solidFill>
                <a:latin typeface="Times New Roman" pitchFamily="18" charset="0"/>
              </a:rPr>
              <a:t>class second;</a:t>
            </a:r>
          </a:p>
          <a:p>
            <a:pPr eaLnBrk="0" hangingPunct="0"/>
            <a:r>
              <a:rPr lang="en-US" sz="2400" b="1">
                <a:solidFill>
                  <a:srgbClr val="000066"/>
                </a:solidFill>
                <a:latin typeface="Times New Roman" pitchFamily="18" charset="0"/>
              </a:rPr>
              <a:t>class first</a:t>
            </a:r>
          </a:p>
          <a:p>
            <a:pPr eaLnBrk="0" hangingPunct="0"/>
            <a:r>
              <a:rPr lang="en-US" sz="2400" b="1">
                <a:solidFill>
                  <a:srgbClr val="000066"/>
                </a:solidFill>
                <a:latin typeface="Times New Roman" pitchFamily="18" charset="0"/>
              </a:rPr>
              <a:t>{</a:t>
            </a:r>
          </a:p>
          <a:p>
            <a:pPr eaLnBrk="0" hangingPunct="0"/>
            <a:r>
              <a:rPr lang="en-US" sz="2400" b="1">
                <a:solidFill>
                  <a:srgbClr val="000066"/>
                </a:solidFill>
                <a:latin typeface="Times New Roman" pitchFamily="18" charset="0"/>
              </a:rPr>
              <a:t>private :</a:t>
            </a:r>
          </a:p>
          <a:p>
            <a:pPr eaLnBrk="0" hangingPunct="0"/>
            <a:r>
              <a:rPr lang="en-US" sz="2400" b="1">
                <a:solidFill>
                  <a:srgbClr val="000066"/>
                </a:solidFill>
                <a:latin typeface="Times New Roman" pitchFamily="18" charset="0"/>
              </a:rPr>
              <a:t>	int no;</a:t>
            </a:r>
          </a:p>
          <a:p>
            <a:pPr eaLnBrk="0" hangingPunct="0"/>
            <a:r>
              <a:rPr lang="en-US" sz="2400" b="1">
                <a:solidFill>
                  <a:srgbClr val="000066"/>
                </a:solidFill>
                <a:latin typeface="Times New Roman" pitchFamily="18" charset="0"/>
              </a:rPr>
              <a:t>public:</a:t>
            </a:r>
          </a:p>
          <a:p>
            <a:pPr eaLnBrk="0" hangingPunct="0"/>
            <a:r>
              <a:rPr lang="en-US" sz="2400" b="1">
                <a:solidFill>
                  <a:srgbClr val="000066"/>
                </a:solidFill>
                <a:latin typeface="Times New Roman" pitchFamily="18" charset="0"/>
              </a:rPr>
              <a:t>	first(int n);</a:t>
            </a:r>
          </a:p>
          <a:p>
            <a:pPr eaLnBrk="0" hangingPunct="0"/>
            <a:r>
              <a:rPr lang="en-US" sz="2400" b="1">
                <a:solidFill>
                  <a:srgbClr val="000066"/>
                </a:solidFill>
                <a:latin typeface="Times New Roman" pitchFamily="18" charset="0"/>
              </a:rPr>
              <a:t>        friend int add(first,second);</a:t>
            </a:r>
          </a:p>
          <a:p>
            <a:pPr eaLnBrk="0" hangingPunct="0"/>
            <a:r>
              <a:rPr lang="en-US" sz="2400" b="1">
                <a:solidFill>
                  <a:srgbClr val="000066"/>
                </a:solidFill>
                <a:latin typeface="Times New Roman" pitchFamily="18" charset="0"/>
              </a:rPr>
              <a:t>};</a:t>
            </a:r>
          </a:p>
          <a:p>
            <a:pPr eaLnBrk="0" hangingPunct="0"/>
            <a:r>
              <a:rPr lang="en-US" sz="2400" b="1">
                <a:solidFill>
                  <a:srgbClr val="000066"/>
                </a:solidFill>
                <a:latin typeface="Times New Roman" pitchFamily="18" charset="0"/>
              </a:rPr>
              <a:t>class second</a:t>
            </a:r>
          </a:p>
          <a:p>
            <a:pPr eaLnBrk="0" hangingPunct="0"/>
            <a:r>
              <a:rPr lang="en-US" sz="2400" b="1">
                <a:solidFill>
                  <a:srgbClr val="000066"/>
                </a:solidFill>
                <a:latin typeface="Times New Roman" pitchFamily="18" charset="0"/>
              </a:rPr>
              <a:t>{</a:t>
            </a:r>
          </a:p>
        </p:txBody>
      </p:sp>
    </p:spTree>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ChangeArrowheads="1"/>
          </p:cNvSpPr>
          <p:nvPr/>
        </p:nvSpPr>
        <p:spPr bwMode="auto">
          <a:xfrm>
            <a:off x="57150" y="19050"/>
            <a:ext cx="3962400" cy="6370638"/>
          </a:xfrm>
          <a:prstGeom prst="rect">
            <a:avLst/>
          </a:prstGeom>
          <a:noFill/>
          <a:ln w="9525">
            <a:solidFill>
              <a:schemeClr val="tx2"/>
            </a:solidFill>
            <a:miter lim="800000"/>
            <a:headEnd/>
            <a:tailEnd/>
          </a:ln>
        </p:spPr>
        <p:txBody>
          <a:bodyPr>
            <a:spAutoFit/>
          </a:bodyPr>
          <a:lstStyle/>
          <a:p>
            <a:pPr eaLnBrk="0" hangingPunct="0"/>
            <a:r>
              <a:rPr lang="en-US" sz="2400" b="1">
                <a:solidFill>
                  <a:srgbClr val="000066"/>
                </a:solidFill>
                <a:latin typeface="Times New Roman" pitchFamily="18" charset="0"/>
              </a:rPr>
              <a:t>private :</a:t>
            </a:r>
          </a:p>
          <a:p>
            <a:pPr eaLnBrk="0" hangingPunct="0"/>
            <a:r>
              <a:rPr lang="en-US" sz="2400" b="1">
                <a:solidFill>
                  <a:srgbClr val="000066"/>
                </a:solidFill>
                <a:latin typeface="Times New Roman" pitchFamily="18" charset="0"/>
              </a:rPr>
              <a:t>	int n1;</a:t>
            </a:r>
          </a:p>
          <a:p>
            <a:pPr eaLnBrk="0" hangingPunct="0"/>
            <a:r>
              <a:rPr lang="en-US" sz="2400" b="1">
                <a:solidFill>
                  <a:srgbClr val="000066"/>
                </a:solidFill>
                <a:latin typeface="Times New Roman" pitchFamily="18" charset="0"/>
              </a:rPr>
              <a:t>public:</a:t>
            </a:r>
          </a:p>
          <a:p>
            <a:pPr eaLnBrk="0" hangingPunct="0"/>
            <a:r>
              <a:rPr lang="en-US" sz="2400" b="1">
                <a:solidFill>
                  <a:srgbClr val="000066"/>
                </a:solidFill>
                <a:latin typeface="Times New Roman" pitchFamily="18" charset="0"/>
              </a:rPr>
              <a:t>	second(int n);</a:t>
            </a:r>
          </a:p>
          <a:p>
            <a:pPr eaLnBrk="0" hangingPunct="0"/>
            <a:r>
              <a:rPr lang="en-US" sz="2400" b="1">
                <a:solidFill>
                  <a:srgbClr val="000066"/>
                </a:solidFill>
                <a:latin typeface="Times New Roman" pitchFamily="18" charset="0"/>
              </a:rPr>
              <a:t>        friend int add(first,second);</a:t>
            </a:r>
          </a:p>
          <a:p>
            <a:pPr eaLnBrk="0" hangingPunct="0"/>
            <a:r>
              <a:rPr lang="en-US" sz="2400" b="1">
                <a:solidFill>
                  <a:srgbClr val="000066"/>
                </a:solidFill>
                <a:latin typeface="Times New Roman" pitchFamily="18" charset="0"/>
              </a:rPr>
              <a:t>};</a:t>
            </a:r>
          </a:p>
          <a:p>
            <a:pPr eaLnBrk="0" hangingPunct="0"/>
            <a:endParaRPr lang="en-US" sz="2400" b="1">
              <a:solidFill>
                <a:srgbClr val="000066"/>
              </a:solidFill>
              <a:latin typeface="Times New Roman" pitchFamily="18" charset="0"/>
            </a:endParaRPr>
          </a:p>
          <a:p>
            <a:pPr eaLnBrk="0" hangingPunct="0"/>
            <a:r>
              <a:rPr lang="en-US" sz="2400" b="1">
                <a:solidFill>
                  <a:srgbClr val="000066"/>
                </a:solidFill>
                <a:latin typeface="Times New Roman" pitchFamily="18" charset="0"/>
              </a:rPr>
              <a:t>first ::first(int n)</a:t>
            </a:r>
          </a:p>
          <a:p>
            <a:pPr eaLnBrk="0" hangingPunct="0"/>
            <a:r>
              <a:rPr lang="en-US" sz="2400" b="1">
                <a:solidFill>
                  <a:srgbClr val="000066"/>
                </a:solidFill>
                <a:latin typeface="Times New Roman" pitchFamily="18" charset="0"/>
              </a:rPr>
              <a:t> {</a:t>
            </a:r>
          </a:p>
          <a:p>
            <a:pPr eaLnBrk="0" hangingPunct="0"/>
            <a:r>
              <a:rPr lang="en-US" sz="2400" b="1">
                <a:solidFill>
                  <a:srgbClr val="000066"/>
                </a:solidFill>
                <a:latin typeface="Times New Roman" pitchFamily="18" charset="0"/>
              </a:rPr>
              <a:t> no=n;</a:t>
            </a:r>
          </a:p>
          <a:p>
            <a:pPr eaLnBrk="0" hangingPunct="0"/>
            <a:r>
              <a:rPr lang="en-US" sz="2400" b="1">
                <a:solidFill>
                  <a:srgbClr val="000066"/>
                </a:solidFill>
                <a:latin typeface="Times New Roman" pitchFamily="18" charset="0"/>
              </a:rPr>
              <a:t>  }</a:t>
            </a:r>
          </a:p>
          <a:p>
            <a:pPr eaLnBrk="0" hangingPunct="0"/>
            <a:r>
              <a:rPr lang="en-US" sz="2400" b="1">
                <a:solidFill>
                  <a:srgbClr val="000066"/>
                </a:solidFill>
                <a:latin typeface="Times New Roman" pitchFamily="18" charset="0"/>
              </a:rPr>
              <a:t>second ::second(int n)</a:t>
            </a:r>
          </a:p>
          <a:p>
            <a:pPr eaLnBrk="0" hangingPunct="0"/>
            <a:r>
              <a:rPr lang="en-US" sz="2400" b="1">
                <a:solidFill>
                  <a:srgbClr val="000066"/>
                </a:solidFill>
                <a:latin typeface="Times New Roman" pitchFamily="18" charset="0"/>
              </a:rPr>
              <a:t>{</a:t>
            </a:r>
          </a:p>
          <a:p>
            <a:pPr eaLnBrk="0" hangingPunct="0"/>
            <a:r>
              <a:rPr lang="en-US" sz="2400" b="1">
                <a:solidFill>
                  <a:srgbClr val="000066"/>
                </a:solidFill>
                <a:latin typeface="Times New Roman" pitchFamily="18" charset="0"/>
              </a:rPr>
              <a:t>n1=n;</a:t>
            </a:r>
          </a:p>
          <a:p>
            <a:pPr eaLnBrk="0" hangingPunct="0"/>
            <a:r>
              <a:rPr lang="en-US" sz="2400" b="1">
                <a:solidFill>
                  <a:srgbClr val="000066"/>
                </a:solidFill>
                <a:latin typeface="Times New Roman" pitchFamily="18" charset="0"/>
              </a:rPr>
              <a:t>}</a:t>
            </a:r>
          </a:p>
          <a:p>
            <a:pPr eaLnBrk="0" hangingPunct="0"/>
            <a:endParaRPr lang="en-US" sz="2400" b="1">
              <a:solidFill>
                <a:srgbClr val="000066"/>
              </a:solidFill>
              <a:latin typeface="Times New Roman" pitchFamily="18" charset="0"/>
            </a:endParaRPr>
          </a:p>
        </p:txBody>
      </p:sp>
      <p:sp>
        <p:nvSpPr>
          <p:cNvPr id="8195" name="Rectangle 3"/>
          <p:cNvSpPr>
            <a:spLocks noChangeArrowheads="1"/>
          </p:cNvSpPr>
          <p:nvPr/>
        </p:nvSpPr>
        <p:spPr bwMode="auto">
          <a:xfrm>
            <a:off x="4000500" y="19050"/>
            <a:ext cx="5200650" cy="4848225"/>
          </a:xfrm>
          <a:prstGeom prst="rect">
            <a:avLst/>
          </a:prstGeom>
          <a:noFill/>
          <a:ln w="9525">
            <a:solidFill>
              <a:schemeClr val="tx2"/>
            </a:solidFill>
            <a:miter lim="800000"/>
            <a:headEnd/>
            <a:tailEnd/>
          </a:ln>
        </p:spPr>
        <p:txBody>
          <a:bodyPr>
            <a:spAutoFit/>
          </a:bodyPr>
          <a:lstStyle/>
          <a:p>
            <a:pPr eaLnBrk="0" hangingPunct="0"/>
            <a:r>
              <a:rPr lang="en-US" sz="2400" b="1">
                <a:solidFill>
                  <a:srgbClr val="000066"/>
                </a:solidFill>
                <a:latin typeface="Times New Roman" pitchFamily="18" charset="0"/>
              </a:rPr>
              <a:t>int add(first f,second s)</a:t>
            </a:r>
          </a:p>
          <a:p>
            <a:pPr eaLnBrk="0" hangingPunct="0"/>
            <a:r>
              <a:rPr lang="en-US" sz="2400" b="1">
                <a:solidFill>
                  <a:srgbClr val="000066"/>
                </a:solidFill>
                <a:latin typeface="Times New Roman" pitchFamily="18" charset="0"/>
              </a:rPr>
              <a:t>{</a:t>
            </a:r>
          </a:p>
          <a:p>
            <a:pPr eaLnBrk="0" hangingPunct="0"/>
            <a:r>
              <a:rPr lang="en-US" sz="2400" b="1">
                <a:solidFill>
                  <a:srgbClr val="000066"/>
                </a:solidFill>
                <a:latin typeface="Times New Roman" pitchFamily="18" charset="0"/>
              </a:rPr>
              <a:t>cout&lt;&lt;"First class="&lt;&lt;f.no&lt;&lt;endl;</a:t>
            </a:r>
          </a:p>
          <a:p>
            <a:pPr eaLnBrk="0" hangingPunct="0"/>
            <a:r>
              <a:rPr lang="en-US" sz="2400" b="1">
                <a:solidFill>
                  <a:srgbClr val="000066"/>
                </a:solidFill>
                <a:latin typeface="Times New Roman" pitchFamily="18" charset="0"/>
              </a:rPr>
              <a:t>cout&lt;&lt;"Second class=“ &lt;&lt;s.n1;</a:t>
            </a:r>
          </a:p>
          <a:p>
            <a:pPr eaLnBrk="0" hangingPunct="0"/>
            <a:r>
              <a:rPr lang="en-US" sz="2400" b="1">
                <a:solidFill>
                  <a:srgbClr val="000066"/>
                </a:solidFill>
                <a:latin typeface="Times New Roman" pitchFamily="18" charset="0"/>
              </a:rPr>
              <a:t>return f.no+s.n1;</a:t>
            </a:r>
          </a:p>
          <a:p>
            <a:pPr eaLnBrk="0" hangingPunct="0"/>
            <a:r>
              <a:rPr lang="en-US" sz="2400" b="1">
                <a:solidFill>
                  <a:srgbClr val="000066"/>
                </a:solidFill>
                <a:latin typeface="Times New Roman" pitchFamily="18" charset="0"/>
              </a:rPr>
              <a:t>}</a:t>
            </a:r>
          </a:p>
          <a:p>
            <a:pPr eaLnBrk="0" hangingPunct="0"/>
            <a:r>
              <a:rPr lang="en-US" sz="2400" b="1">
                <a:solidFill>
                  <a:srgbClr val="000066"/>
                </a:solidFill>
                <a:latin typeface="Times New Roman" pitchFamily="18" charset="0"/>
              </a:rPr>
              <a:t>void main()</a:t>
            </a:r>
          </a:p>
          <a:p>
            <a:pPr eaLnBrk="0" hangingPunct="0"/>
            <a:r>
              <a:rPr lang="en-US" sz="2400" b="1">
                <a:solidFill>
                  <a:srgbClr val="000066"/>
                </a:solidFill>
                <a:latin typeface="Times New Roman" pitchFamily="18" charset="0"/>
              </a:rPr>
              <a:t>{</a:t>
            </a:r>
          </a:p>
          <a:p>
            <a:pPr eaLnBrk="0" hangingPunct="0"/>
            <a:r>
              <a:rPr lang="en-US" sz="2400" b="1">
                <a:solidFill>
                  <a:srgbClr val="000066"/>
                </a:solidFill>
                <a:latin typeface="Times New Roman" pitchFamily="18" charset="0"/>
              </a:rPr>
              <a:t>first f(10);</a:t>
            </a:r>
          </a:p>
          <a:p>
            <a:pPr eaLnBrk="0" hangingPunct="0"/>
            <a:r>
              <a:rPr lang="en-US" sz="2400" b="1">
                <a:solidFill>
                  <a:srgbClr val="000066"/>
                </a:solidFill>
                <a:latin typeface="Times New Roman" pitchFamily="18" charset="0"/>
              </a:rPr>
              <a:t>second s(20);</a:t>
            </a:r>
          </a:p>
          <a:p>
            <a:pPr eaLnBrk="0" hangingPunct="0"/>
            <a:r>
              <a:rPr lang="en-US" sz="2400" b="1">
                <a:solidFill>
                  <a:srgbClr val="000066"/>
                </a:solidFill>
                <a:latin typeface="Times New Roman" pitchFamily="18" charset="0"/>
              </a:rPr>
              <a:t>clrscr();</a:t>
            </a:r>
          </a:p>
          <a:p>
            <a:pPr eaLnBrk="0" hangingPunct="0"/>
            <a:r>
              <a:rPr lang="en-US" sz="2400" b="1">
                <a:solidFill>
                  <a:srgbClr val="000066"/>
                </a:solidFill>
                <a:latin typeface="Times New Roman" pitchFamily="18" charset="0"/>
              </a:rPr>
              <a:t>cout&lt;&lt;"\n The Result is "&lt;&lt;add(f,s);</a:t>
            </a:r>
          </a:p>
          <a:p>
            <a:pPr eaLnBrk="0" hangingPunct="0"/>
            <a:r>
              <a:rPr lang="en-US" sz="2400" b="1">
                <a:solidFill>
                  <a:srgbClr val="000066"/>
                </a:solidFill>
                <a:latin typeface="Times New Roman" pitchFamily="18" charset="0"/>
              </a:rPr>
              <a:t>}</a:t>
            </a:r>
          </a:p>
        </p:txBody>
      </p:sp>
    </p:spTree>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ChangeArrowheads="1"/>
          </p:cNvSpPr>
          <p:nvPr/>
        </p:nvSpPr>
        <p:spPr bwMode="auto">
          <a:xfrm>
            <a:off x="0" y="0"/>
            <a:ext cx="9144000" cy="6253163"/>
          </a:xfrm>
          <a:prstGeom prst="rect">
            <a:avLst/>
          </a:prstGeom>
          <a:noFill/>
          <a:ln w="9525">
            <a:solidFill>
              <a:srgbClr val="CC0066"/>
            </a:solidFill>
            <a:miter lim="800000"/>
            <a:headEnd/>
            <a:tailEnd/>
          </a:ln>
        </p:spPr>
        <p:txBody>
          <a:bodyPr>
            <a:spAutoFit/>
          </a:bodyPr>
          <a:lstStyle/>
          <a:p>
            <a:pPr algn="just" eaLnBrk="0" hangingPunct="0"/>
            <a:r>
              <a:rPr lang="en-US" sz="2800" b="1">
                <a:solidFill>
                  <a:srgbClr val="000066"/>
                </a:solidFill>
              </a:rPr>
              <a:t>FRIEND CLASS</a:t>
            </a:r>
          </a:p>
          <a:p>
            <a:pPr algn="just" eaLnBrk="0" hangingPunct="0"/>
            <a:r>
              <a:rPr lang="en-US" sz="2800" b="1">
                <a:solidFill>
                  <a:srgbClr val="000066"/>
                </a:solidFill>
              </a:rPr>
              <a:t>	</a:t>
            </a:r>
            <a:r>
              <a:rPr lang="en-US" sz="2800" b="1">
                <a:solidFill>
                  <a:srgbClr val="000066"/>
                </a:solidFill>
                <a:latin typeface="Times New Roman" pitchFamily="18" charset="0"/>
              </a:rPr>
              <a:t>The private members of one class can be accessed from the member functions Of another class by making them as friends</a:t>
            </a:r>
          </a:p>
          <a:p>
            <a:pPr algn="just" eaLnBrk="0" hangingPunct="0"/>
            <a:endParaRPr lang="en-US" sz="2800" b="1">
              <a:solidFill>
                <a:srgbClr val="000066"/>
              </a:solidFill>
              <a:latin typeface="Times New Roman" pitchFamily="18" charset="0"/>
            </a:endParaRPr>
          </a:p>
          <a:p>
            <a:pPr eaLnBrk="0" hangingPunct="0"/>
            <a:r>
              <a:rPr lang="en-US" sz="2400" b="1">
                <a:solidFill>
                  <a:srgbClr val="000066"/>
                </a:solidFill>
              </a:rPr>
              <a:t>#include&lt;iostream.h&gt;</a:t>
            </a:r>
          </a:p>
          <a:p>
            <a:pPr eaLnBrk="0" hangingPunct="0"/>
            <a:r>
              <a:rPr lang="en-US" sz="2400" b="1">
                <a:solidFill>
                  <a:srgbClr val="000066"/>
                </a:solidFill>
              </a:rPr>
              <a:t>#include&lt;conio.h&gt;</a:t>
            </a:r>
          </a:p>
          <a:p>
            <a:pPr eaLnBrk="0" hangingPunct="0"/>
            <a:r>
              <a:rPr lang="en-US" sz="2400" b="1">
                <a:solidFill>
                  <a:srgbClr val="000066"/>
                </a:solidFill>
              </a:rPr>
              <a:t>class second;</a:t>
            </a:r>
          </a:p>
          <a:p>
            <a:pPr eaLnBrk="0" hangingPunct="0"/>
            <a:r>
              <a:rPr lang="en-US" sz="2400" b="1">
                <a:solidFill>
                  <a:srgbClr val="000066"/>
                </a:solidFill>
              </a:rPr>
              <a:t>class first</a:t>
            </a:r>
          </a:p>
          <a:p>
            <a:pPr eaLnBrk="0" hangingPunct="0"/>
            <a:r>
              <a:rPr lang="en-US" sz="2400" b="1">
                <a:solidFill>
                  <a:srgbClr val="000066"/>
                </a:solidFill>
              </a:rPr>
              <a:t>{</a:t>
            </a:r>
          </a:p>
          <a:p>
            <a:pPr eaLnBrk="0" hangingPunct="0"/>
            <a:r>
              <a:rPr lang="en-US" sz="2400" b="1">
                <a:solidFill>
                  <a:srgbClr val="000066"/>
                </a:solidFill>
              </a:rPr>
              <a:t>private :</a:t>
            </a:r>
          </a:p>
          <a:p>
            <a:pPr eaLnBrk="0" hangingPunct="0"/>
            <a:r>
              <a:rPr lang="en-US" sz="2400" b="1">
                <a:solidFill>
                  <a:srgbClr val="000066"/>
                </a:solidFill>
              </a:rPr>
              <a:t>	int no;</a:t>
            </a:r>
          </a:p>
          <a:p>
            <a:pPr eaLnBrk="0" hangingPunct="0"/>
            <a:r>
              <a:rPr lang="en-US" sz="2400" b="1">
                <a:solidFill>
                  <a:srgbClr val="000066"/>
                </a:solidFill>
              </a:rPr>
              <a:t>public:</a:t>
            </a:r>
          </a:p>
          <a:p>
            <a:pPr eaLnBrk="0" hangingPunct="0"/>
            <a:r>
              <a:rPr lang="en-US" sz="2400" b="1">
                <a:solidFill>
                  <a:srgbClr val="000066"/>
                </a:solidFill>
              </a:rPr>
              <a:t>	friend class second;</a:t>
            </a:r>
          </a:p>
          <a:p>
            <a:pPr eaLnBrk="0" hangingPunct="0"/>
            <a:r>
              <a:rPr lang="en-US" sz="2400" b="1">
                <a:solidFill>
                  <a:srgbClr val="000066"/>
                </a:solidFill>
              </a:rPr>
              <a:t>	first(int n)</a:t>
            </a:r>
          </a:p>
          <a:p>
            <a:pPr eaLnBrk="0" hangingPunct="0"/>
            <a:r>
              <a:rPr lang="en-US" sz="2400" b="1">
                <a:solidFill>
                  <a:srgbClr val="000066"/>
                </a:solidFill>
              </a:rPr>
              <a:t>	{	</a:t>
            </a:r>
          </a:p>
        </p:txBody>
      </p:sp>
    </p:spTree>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ChangeArrowheads="1"/>
          </p:cNvSpPr>
          <p:nvPr/>
        </p:nvSpPr>
        <p:spPr bwMode="auto">
          <a:xfrm>
            <a:off x="228600" y="228600"/>
            <a:ext cx="4572000" cy="6370638"/>
          </a:xfrm>
          <a:prstGeom prst="rect">
            <a:avLst/>
          </a:prstGeom>
          <a:noFill/>
          <a:ln w="9525">
            <a:solidFill>
              <a:schemeClr val="tx2"/>
            </a:solidFill>
            <a:miter lim="800000"/>
            <a:headEnd/>
            <a:tailEnd/>
          </a:ln>
        </p:spPr>
        <p:txBody>
          <a:bodyPr>
            <a:spAutoFit/>
          </a:bodyPr>
          <a:lstStyle/>
          <a:p>
            <a:pPr eaLnBrk="0" hangingPunct="0"/>
            <a:r>
              <a:rPr lang="en-US" sz="2400" b="1">
                <a:solidFill>
                  <a:srgbClr val="000066"/>
                </a:solidFill>
              </a:rPr>
              <a:t>no=n;</a:t>
            </a:r>
          </a:p>
          <a:p>
            <a:pPr eaLnBrk="0" hangingPunct="0"/>
            <a:r>
              <a:rPr lang="en-US" sz="2400" b="1">
                <a:solidFill>
                  <a:srgbClr val="000066"/>
                </a:solidFill>
              </a:rPr>
              <a:t>}};</a:t>
            </a:r>
          </a:p>
          <a:p>
            <a:pPr eaLnBrk="0" hangingPunct="0"/>
            <a:r>
              <a:rPr lang="en-US" sz="2400" b="1">
                <a:solidFill>
                  <a:srgbClr val="000066"/>
                </a:solidFill>
              </a:rPr>
              <a:t>class second</a:t>
            </a:r>
          </a:p>
          <a:p>
            <a:pPr eaLnBrk="0" hangingPunct="0"/>
            <a:r>
              <a:rPr lang="en-US" sz="2400" b="1">
                <a:solidFill>
                  <a:srgbClr val="000066"/>
                </a:solidFill>
              </a:rPr>
              <a:t>{</a:t>
            </a:r>
          </a:p>
          <a:p>
            <a:pPr eaLnBrk="0" hangingPunct="0"/>
            <a:r>
              <a:rPr lang="en-US" sz="2400" b="1">
                <a:solidFill>
                  <a:srgbClr val="000066"/>
                </a:solidFill>
              </a:rPr>
              <a:t>public:</a:t>
            </a:r>
          </a:p>
          <a:p>
            <a:pPr eaLnBrk="0" hangingPunct="0"/>
            <a:r>
              <a:rPr lang="en-US" sz="2400" b="1">
                <a:solidFill>
                  <a:srgbClr val="000066"/>
                </a:solidFill>
              </a:rPr>
              <a:t>	void show(first f)</a:t>
            </a:r>
          </a:p>
          <a:p>
            <a:pPr eaLnBrk="0" hangingPunct="0"/>
            <a:r>
              <a:rPr lang="en-US" sz="2400" b="1">
                <a:solidFill>
                  <a:srgbClr val="000066"/>
                </a:solidFill>
              </a:rPr>
              <a:t>	{</a:t>
            </a:r>
          </a:p>
          <a:p>
            <a:pPr eaLnBrk="0" hangingPunct="0"/>
            <a:r>
              <a:rPr lang="en-US" sz="2400" b="1">
                <a:solidFill>
                  <a:srgbClr val="000066"/>
                </a:solidFill>
              </a:rPr>
              <a:t>	cout&lt;&lt;f.no;</a:t>
            </a:r>
          </a:p>
          <a:p>
            <a:pPr eaLnBrk="0" hangingPunct="0"/>
            <a:r>
              <a:rPr lang="en-US" sz="2400" b="1">
                <a:solidFill>
                  <a:srgbClr val="000066"/>
                </a:solidFill>
              </a:rPr>
              <a:t>	}</a:t>
            </a:r>
          </a:p>
          <a:p>
            <a:pPr eaLnBrk="0" hangingPunct="0"/>
            <a:r>
              <a:rPr lang="en-US" sz="2400" b="1">
                <a:solidFill>
                  <a:srgbClr val="000066"/>
                </a:solidFill>
              </a:rPr>
              <a:t>};</a:t>
            </a:r>
          </a:p>
          <a:p>
            <a:pPr eaLnBrk="0" hangingPunct="0"/>
            <a:r>
              <a:rPr lang="en-US" sz="2400" b="1">
                <a:solidFill>
                  <a:srgbClr val="000066"/>
                </a:solidFill>
              </a:rPr>
              <a:t>void main()</a:t>
            </a:r>
          </a:p>
          <a:p>
            <a:pPr eaLnBrk="0" hangingPunct="0"/>
            <a:r>
              <a:rPr lang="en-US" sz="2400" b="1">
                <a:solidFill>
                  <a:srgbClr val="000066"/>
                </a:solidFill>
              </a:rPr>
              <a:t>{</a:t>
            </a:r>
          </a:p>
          <a:p>
            <a:pPr eaLnBrk="0" hangingPunct="0"/>
            <a:r>
              <a:rPr lang="en-US" sz="2400" b="1">
                <a:solidFill>
                  <a:srgbClr val="000066"/>
                </a:solidFill>
              </a:rPr>
              <a:t>first f(10);</a:t>
            </a:r>
          </a:p>
          <a:p>
            <a:pPr eaLnBrk="0" hangingPunct="0"/>
            <a:r>
              <a:rPr lang="en-US" sz="2400" b="1">
                <a:solidFill>
                  <a:srgbClr val="000066"/>
                </a:solidFill>
              </a:rPr>
              <a:t>second s;</a:t>
            </a:r>
          </a:p>
          <a:p>
            <a:pPr eaLnBrk="0" hangingPunct="0"/>
            <a:r>
              <a:rPr lang="en-US" sz="2400" b="1">
                <a:solidFill>
                  <a:srgbClr val="000066"/>
                </a:solidFill>
              </a:rPr>
              <a:t>s.show(f);</a:t>
            </a:r>
          </a:p>
          <a:p>
            <a:pPr eaLnBrk="0" hangingPunct="0"/>
            <a:r>
              <a:rPr lang="en-US" sz="2400" b="1">
                <a:solidFill>
                  <a:srgbClr val="000066"/>
                </a:solidFill>
              </a:rPr>
              <a:t>getch();</a:t>
            </a:r>
          </a:p>
          <a:p>
            <a:pPr eaLnBrk="0" hangingPunct="0"/>
            <a:r>
              <a:rPr lang="en-US" sz="2400" b="1">
                <a:solidFill>
                  <a:srgbClr val="000066"/>
                </a:solidFill>
              </a:rPr>
              <a:t>}</a:t>
            </a:r>
          </a:p>
        </p:txBody>
      </p:sp>
    </p:spTree>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2"/>
          <p:cNvSpPr txBox="1">
            <a:spLocks noChangeArrowheads="1"/>
          </p:cNvSpPr>
          <p:nvPr/>
        </p:nvSpPr>
        <p:spPr bwMode="auto">
          <a:xfrm>
            <a:off x="457200" y="1447800"/>
            <a:ext cx="8534400" cy="3290888"/>
          </a:xfrm>
          <a:prstGeom prst="rect">
            <a:avLst/>
          </a:prstGeom>
          <a:noFill/>
          <a:ln w="9525">
            <a:noFill/>
            <a:miter lim="800000"/>
            <a:headEnd/>
            <a:tailEnd/>
          </a:ln>
        </p:spPr>
        <p:txBody>
          <a:bodyPr>
            <a:spAutoFit/>
          </a:bodyPr>
          <a:lstStyle/>
          <a:p>
            <a:pPr algn="just" eaLnBrk="0" hangingPunct="0">
              <a:lnSpc>
                <a:spcPct val="175000"/>
              </a:lnSpc>
              <a:buFont typeface="Wingdings" pitchFamily="2" charset="2"/>
              <a:buChar char="Ü"/>
            </a:pPr>
            <a:r>
              <a:rPr lang="en-US" sz="2400" b="1">
                <a:solidFill>
                  <a:srgbClr val="800000"/>
                </a:solidFill>
                <a:latin typeface="Times New Roman" pitchFamily="18" charset="0"/>
                <a:cs typeface="Times New Roman" pitchFamily="18" charset="0"/>
              </a:rPr>
              <a:t>  </a:t>
            </a:r>
            <a:r>
              <a:rPr lang="en-US" sz="2400" b="1">
                <a:solidFill>
                  <a:srgbClr val="660033"/>
                </a:solidFill>
                <a:latin typeface="Times New Roman" pitchFamily="18" charset="0"/>
              </a:rPr>
              <a:t>The friend function acts as a bridge between two objects of different classes  which can access even the private members of the class</a:t>
            </a:r>
          </a:p>
          <a:p>
            <a:pPr algn="just" eaLnBrk="0" hangingPunct="0">
              <a:lnSpc>
                <a:spcPct val="175000"/>
              </a:lnSpc>
              <a:buFont typeface="Wingdings" pitchFamily="2" charset="2"/>
              <a:buChar char="Ü"/>
            </a:pPr>
            <a:r>
              <a:rPr lang="en-US" sz="2400" b="1">
                <a:solidFill>
                  <a:srgbClr val="660033"/>
                </a:solidFill>
                <a:latin typeface="Times New Roman" pitchFamily="18" charset="0"/>
              </a:rPr>
              <a:t> A friend class is a class whose members functions are all  friend functions of another class</a:t>
            </a:r>
          </a:p>
        </p:txBody>
      </p:sp>
      <p:sp>
        <p:nvSpPr>
          <p:cNvPr id="11267" name="WordArt 3"/>
          <p:cNvSpPr>
            <a:spLocks noChangeArrowheads="1" noChangeShapeType="1" noTextEdit="1"/>
          </p:cNvSpPr>
          <p:nvPr/>
        </p:nvSpPr>
        <p:spPr bwMode="auto">
          <a:xfrm>
            <a:off x="2590800" y="228600"/>
            <a:ext cx="3200400" cy="914400"/>
          </a:xfrm>
          <a:prstGeom prst="rect">
            <a:avLst/>
          </a:prstGeom>
        </p:spPr>
        <p:txBody>
          <a:bodyPr wrap="none" fromWordArt="1">
            <a:prstTxWarp prst="textCanUp">
              <a:avLst>
                <a:gd name="adj" fmla="val 85713"/>
              </a:avLst>
            </a:prstTxWarp>
          </a:bodyPr>
          <a:lstStyle/>
          <a:p>
            <a:pPr algn="ctr"/>
            <a:r>
              <a:rPr lang="en-IN"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a:rPr>
              <a:t>Summary</a:t>
            </a:r>
          </a:p>
        </p:txBody>
      </p:sp>
      <p:sp>
        <p:nvSpPr>
          <p:cNvPr id="11268" name="Rectangle 4"/>
          <p:cNvSpPr>
            <a:spLocks noChangeArrowheads="1"/>
          </p:cNvSpPr>
          <p:nvPr/>
        </p:nvSpPr>
        <p:spPr bwMode="auto">
          <a:xfrm>
            <a:off x="304800" y="1295400"/>
            <a:ext cx="8763000" cy="3657600"/>
          </a:xfrm>
          <a:prstGeom prst="rect">
            <a:avLst/>
          </a:prstGeom>
          <a:noFill/>
          <a:ln w="57150" cmpd="thickThin">
            <a:solidFill>
              <a:srgbClr val="990033"/>
            </a:solidFill>
            <a:miter lim="800000"/>
            <a:headEnd/>
            <a:tailEnd/>
          </a:ln>
        </p:spPr>
        <p:txBody>
          <a:bodyPr wrap="none" anchor="ctr"/>
          <a:lstStyle/>
          <a:p>
            <a:pPr algn="ctr" eaLnBrk="0" hangingPunct="0"/>
            <a:endParaRPr lang="en-US">
              <a:solidFill>
                <a:srgbClr val="800000"/>
              </a:solidFill>
              <a:latin typeface="Verdana" pitchFamily="34" charset="0"/>
            </a:endParaRPr>
          </a:p>
        </p:txBody>
      </p:sp>
    </p:spTree>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1981200" y="609600"/>
            <a:ext cx="4724400" cy="609600"/>
            <a:chOff x="2016" y="384"/>
            <a:chExt cx="1728" cy="384"/>
          </a:xfrm>
        </p:grpSpPr>
        <p:sp>
          <p:nvSpPr>
            <p:cNvPr id="12294" name="Rectangle 3"/>
            <p:cNvSpPr>
              <a:spLocks noChangeArrowheads="1"/>
            </p:cNvSpPr>
            <p:nvPr/>
          </p:nvSpPr>
          <p:spPr bwMode="auto">
            <a:xfrm>
              <a:off x="2016" y="432"/>
              <a:ext cx="1728" cy="336"/>
            </a:xfrm>
            <a:prstGeom prst="rect">
              <a:avLst/>
            </a:prstGeom>
            <a:solidFill>
              <a:schemeClr val="accent1"/>
            </a:solidFill>
            <a:ln w="57150" cmpd="thickThin">
              <a:solidFill>
                <a:schemeClr val="tx1"/>
              </a:solidFill>
              <a:miter lim="800000"/>
              <a:headEnd/>
              <a:tailEnd/>
            </a:ln>
          </p:spPr>
          <p:txBody>
            <a:bodyPr wrap="none" anchor="ctr"/>
            <a:lstStyle/>
            <a:p>
              <a:endParaRPr lang="en-IN"/>
            </a:p>
          </p:txBody>
        </p:sp>
        <p:sp>
          <p:nvSpPr>
            <p:cNvPr id="12295" name="Rectangle 4"/>
            <p:cNvSpPr>
              <a:spLocks noChangeArrowheads="1"/>
            </p:cNvSpPr>
            <p:nvPr/>
          </p:nvSpPr>
          <p:spPr bwMode="auto">
            <a:xfrm>
              <a:off x="2120" y="384"/>
              <a:ext cx="1576" cy="336"/>
            </a:xfrm>
            <a:prstGeom prst="rect">
              <a:avLst/>
            </a:prstGeom>
            <a:solidFill>
              <a:schemeClr val="accent1"/>
            </a:solidFill>
            <a:ln w="57150" cmpd="thickThin">
              <a:solidFill>
                <a:schemeClr val="tx1"/>
              </a:solidFill>
              <a:miter lim="800000"/>
              <a:headEnd/>
              <a:tailEnd/>
            </a:ln>
          </p:spPr>
          <p:txBody>
            <a:bodyPr wrap="none" anchor="ctr"/>
            <a:lstStyle/>
            <a:p>
              <a:endParaRPr lang="en-IN"/>
            </a:p>
          </p:txBody>
        </p:sp>
      </p:grpSp>
      <p:sp>
        <p:nvSpPr>
          <p:cNvPr id="14341" name="Rectangle 5"/>
          <p:cNvSpPr>
            <a:spLocks noChangeArrowheads="1"/>
          </p:cNvSpPr>
          <p:nvPr/>
        </p:nvSpPr>
        <p:spPr bwMode="auto">
          <a:xfrm>
            <a:off x="1981200" y="609600"/>
            <a:ext cx="4800600" cy="579438"/>
          </a:xfrm>
          <a:prstGeom prst="rect">
            <a:avLst/>
          </a:prstGeom>
          <a:noFill/>
          <a:ln w="9525" algn="ctr">
            <a:noFill/>
            <a:miter lim="800000"/>
            <a:headEnd/>
            <a:tailEnd/>
          </a:ln>
        </p:spPr>
        <p:txBody>
          <a:bodyPr anchor="ctr">
            <a:spAutoFit/>
          </a:bodyPr>
          <a:lstStyle/>
          <a:p>
            <a:pPr marL="342900" indent="-342900" algn="ctr">
              <a:tabLst>
                <a:tab pos="457200" algn="l"/>
                <a:tab pos="3541713" algn="l"/>
              </a:tabLst>
            </a:pPr>
            <a:r>
              <a:rPr lang="en-US" sz="3200" b="1">
                <a:solidFill>
                  <a:srgbClr val="000000"/>
                </a:solidFill>
                <a:latin typeface="Times New Roman" pitchFamily="18" charset="0"/>
              </a:rPr>
              <a:t>EXERCISES</a:t>
            </a:r>
          </a:p>
        </p:txBody>
      </p:sp>
      <p:sp>
        <p:nvSpPr>
          <p:cNvPr id="12292" name="AutoShape 6"/>
          <p:cNvSpPr>
            <a:spLocks noChangeArrowheads="1"/>
          </p:cNvSpPr>
          <p:nvPr/>
        </p:nvSpPr>
        <p:spPr bwMode="auto">
          <a:xfrm>
            <a:off x="228600" y="533400"/>
            <a:ext cx="8534400" cy="3886200"/>
          </a:xfrm>
          <a:prstGeom prst="roundRect">
            <a:avLst>
              <a:gd name="adj" fmla="val 16667"/>
            </a:avLst>
          </a:prstGeom>
          <a:noFill/>
          <a:ln w="57150" cmpd="thickThin">
            <a:solidFill>
              <a:srgbClr val="990033"/>
            </a:solidFill>
            <a:round/>
            <a:headEnd/>
            <a:tailEnd/>
          </a:ln>
        </p:spPr>
        <p:txBody>
          <a:bodyPr wrap="none" anchor="ctr"/>
          <a:lstStyle/>
          <a:p>
            <a:endParaRPr lang="en-IN"/>
          </a:p>
        </p:txBody>
      </p:sp>
      <p:sp>
        <p:nvSpPr>
          <p:cNvPr id="12293" name="Text Box 7"/>
          <p:cNvSpPr txBox="1">
            <a:spLocks noChangeArrowheads="1"/>
          </p:cNvSpPr>
          <p:nvPr/>
        </p:nvSpPr>
        <p:spPr bwMode="auto">
          <a:xfrm>
            <a:off x="304800" y="1447800"/>
            <a:ext cx="8229600" cy="2651125"/>
          </a:xfrm>
          <a:prstGeom prst="rect">
            <a:avLst/>
          </a:prstGeom>
          <a:noFill/>
          <a:ln w="9525">
            <a:noFill/>
            <a:miter lim="800000"/>
            <a:headEnd/>
            <a:tailEnd/>
          </a:ln>
        </p:spPr>
        <p:txBody>
          <a:bodyPr>
            <a:spAutoFit/>
          </a:bodyPr>
          <a:lstStyle/>
          <a:p>
            <a:pPr algn="just" eaLnBrk="0" hangingPunct="0">
              <a:lnSpc>
                <a:spcPct val="175000"/>
              </a:lnSpc>
              <a:buFont typeface="Wingdings" pitchFamily="2" charset="2"/>
              <a:buChar char="Ü"/>
            </a:pPr>
            <a:r>
              <a:rPr lang="en-US" sz="2400" b="1">
                <a:solidFill>
                  <a:srgbClr val="800000"/>
                </a:solidFill>
                <a:latin typeface="Times New Roman" pitchFamily="18" charset="0"/>
                <a:cs typeface="Times New Roman" pitchFamily="18" charset="0"/>
              </a:rPr>
              <a:t>  </a:t>
            </a:r>
            <a:r>
              <a:rPr lang="en-US" sz="2400" b="1">
                <a:solidFill>
                  <a:srgbClr val="660033"/>
                </a:solidFill>
                <a:latin typeface="Times New Roman" pitchFamily="18" charset="0"/>
              </a:rPr>
              <a:t>Define “friend “ keyword &amp; its use?</a:t>
            </a:r>
          </a:p>
          <a:p>
            <a:pPr algn="just" eaLnBrk="0" hangingPunct="0">
              <a:lnSpc>
                <a:spcPct val="175000"/>
              </a:lnSpc>
              <a:buFont typeface="Wingdings" pitchFamily="2" charset="2"/>
              <a:buChar char="Ü"/>
            </a:pPr>
            <a:r>
              <a:rPr lang="en-US" sz="2400" b="1">
                <a:solidFill>
                  <a:srgbClr val="660033"/>
                </a:solidFill>
                <a:latin typeface="Times New Roman" pitchFamily="18" charset="0"/>
              </a:rPr>
              <a:t> Difference between friend function and member functions?</a:t>
            </a:r>
          </a:p>
          <a:p>
            <a:pPr algn="just" eaLnBrk="0" hangingPunct="0">
              <a:lnSpc>
                <a:spcPct val="175000"/>
              </a:lnSpc>
              <a:buFont typeface="Wingdings" pitchFamily="2" charset="2"/>
              <a:buChar char="Ü"/>
            </a:pPr>
            <a:r>
              <a:rPr lang="en-US" sz="2400" b="1">
                <a:solidFill>
                  <a:srgbClr val="660033"/>
                </a:solidFill>
                <a:latin typeface="Times New Roman" pitchFamily="18" charset="0"/>
              </a:rPr>
              <a:t> Explain the use of friend function?</a:t>
            </a:r>
          </a:p>
          <a:p>
            <a:pPr algn="just" eaLnBrk="0" hangingPunct="0">
              <a:lnSpc>
                <a:spcPct val="175000"/>
              </a:lnSpc>
              <a:buFont typeface="Wingdings" pitchFamily="2" charset="2"/>
              <a:buChar char="Ü"/>
            </a:pPr>
            <a:r>
              <a:rPr lang="en-US" sz="2400" b="1">
                <a:solidFill>
                  <a:srgbClr val="660033"/>
                </a:solidFill>
                <a:latin typeface="Times New Roman" pitchFamily="18" charset="0"/>
              </a:rPr>
              <a:t> Discuss about friend class?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6" fill="hold" grpId="0" nodeType="withEffect">
                                  <p:stCondLst>
                                    <p:cond delay="0"/>
                                  </p:stCondLst>
                                  <p:childTnLst>
                                    <p:set>
                                      <p:cBhvr>
                                        <p:cTn id="6" dur="1" fill="hold">
                                          <p:stCondLst>
                                            <p:cond delay="0"/>
                                          </p:stCondLst>
                                        </p:cTn>
                                        <p:tgtEl>
                                          <p:spTgt spid="14341"/>
                                        </p:tgtEl>
                                        <p:attrNameLst>
                                          <p:attrName>style.visibility</p:attrName>
                                        </p:attrNameLst>
                                      </p:cBhvr>
                                      <p:to>
                                        <p:strVal val="visible"/>
                                      </p:to>
                                    </p:set>
                                    <p:anim calcmode="lin" valueType="num">
                                      <p:cBhvr>
                                        <p:cTn id="7" dur="500" fill="hold"/>
                                        <p:tgtEl>
                                          <p:spTgt spid="14341"/>
                                        </p:tgtEl>
                                        <p:attrNameLst>
                                          <p:attrName>ppt_w</p:attrName>
                                        </p:attrNameLst>
                                      </p:cBhvr>
                                      <p:tavLst>
                                        <p:tav tm="0">
                                          <p:val>
                                            <p:strVal val="(6*min(max(#ppt_w*#ppt_h,.3),1)-7.4)/-.7*#ppt_w"/>
                                          </p:val>
                                        </p:tav>
                                        <p:tav tm="100000">
                                          <p:val>
                                            <p:strVal val="#ppt_w"/>
                                          </p:val>
                                        </p:tav>
                                      </p:tavLst>
                                    </p:anim>
                                    <p:anim calcmode="lin" valueType="num">
                                      <p:cBhvr>
                                        <p:cTn id="8" dur="500" fill="hold"/>
                                        <p:tgtEl>
                                          <p:spTgt spid="14341"/>
                                        </p:tgtEl>
                                        <p:attrNameLst>
                                          <p:attrName>ppt_h</p:attrName>
                                        </p:attrNameLst>
                                      </p:cBhvr>
                                      <p:tavLst>
                                        <p:tav tm="0">
                                          <p:val>
                                            <p:strVal val="(6*min(max(#ppt_w*#ppt_h,.3),1)-7.4)/-.7*#ppt_h"/>
                                          </p:val>
                                        </p:tav>
                                        <p:tav tm="100000">
                                          <p:val>
                                            <p:strVal val="#ppt_h"/>
                                          </p:val>
                                        </p:tav>
                                      </p:tavLst>
                                    </p:anim>
                                    <p:anim calcmode="lin" valueType="num">
                                      <p:cBhvr>
                                        <p:cTn id="9" dur="500" fill="hold"/>
                                        <p:tgtEl>
                                          <p:spTgt spid="14341"/>
                                        </p:tgtEl>
                                        <p:attrNameLst>
                                          <p:attrName>ppt_x</p:attrName>
                                        </p:attrNameLst>
                                      </p:cBhvr>
                                      <p:tavLst>
                                        <p:tav tm="0">
                                          <p:val>
                                            <p:fltVal val="0.5"/>
                                          </p:val>
                                        </p:tav>
                                        <p:tav tm="100000">
                                          <p:val>
                                            <p:strVal val="#ppt_x"/>
                                          </p:val>
                                        </p:tav>
                                      </p:tavLst>
                                    </p:anim>
                                    <p:anim calcmode="lin" valueType="num">
                                      <p:cBhvr>
                                        <p:cTn id="10" dur="500" fill="hold"/>
                                        <p:tgtEl>
                                          <p:spTgt spid="14341"/>
                                        </p:tgtEl>
                                        <p:attrNameLst>
                                          <p:attrName>ppt_y</p:attrName>
                                        </p:attrNameLst>
                                      </p:cBhvr>
                                      <p:tavLst>
                                        <p:tav tm="0">
                                          <p:val>
                                            <p:strVal val="1+(6*min(max(#ppt_w*#ppt_h,.3),1)-7.4)/-.7*#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1" grpId="0"/>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WordArt 2"/>
          <p:cNvSpPr>
            <a:spLocks noChangeArrowheads="1" noChangeShapeType="1" noTextEdit="1"/>
          </p:cNvSpPr>
          <p:nvPr/>
        </p:nvSpPr>
        <p:spPr bwMode="auto">
          <a:xfrm>
            <a:off x="1219200" y="3276600"/>
            <a:ext cx="7086600" cy="914400"/>
          </a:xfrm>
          <a:prstGeom prst="rect">
            <a:avLst/>
          </a:prstGeom>
        </p:spPr>
        <p:txBody>
          <a:bodyPr wrap="none" fromWordArt="1">
            <a:prstTxWarp prst="textChevron">
              <a:avLst>
                <a:gd name="adj" fmla="val 25000"/>
              </a:avLst>
            </a:prstTxWarp>
          </a:bodyPr>
          <a:lstStyle/>
          <a:p>
            <a:pPr algn="ctr"/>
            <a:r>
              <a:rPr lang="en-IN" sz="3600" kern="10">
                <a:ln w="12700">
                  <a:solidFill>
                    <a:srgbClr val="B2B2B2"/>
                  </a:solidFill>
                  <a:round/>
                  <a:headEnd/>
                  <a:tailEnd/>
                </a:ln>
                <a:solidFill>
                  <a:srgbClr val="FF0000"/>
                </a:solidFill>
                <a:effectLst>
                  <a:outerShdw dist="35921" dir="2700000" sy="50000" rotWithShape="0">
                    <a:srgbClr val="875B0D">
                      <a:alpha val="70000"/>
                    </a:srgbClr>
                  </a:outerShdw>
                </a:effectLst>
                <a:latin typeface="Arial Black"/>
              </a:rPr>
              <a:t>Constructor </a:t>
            </a:r>
          </a:p>
        </p:txBody>
      </p:sp>
      <p:sp>
        <p:nvSpPr>
          <p:cNvPr id="2051" name="WordArt 3"/>
          <p:cNvSpPr>
            <a:spLocks noChangeArrowheads="1" noChangeShapeType="1" noTextEdit="1"/>
          </p:cNvSpPr>
          <p:nvPr/>
        </p:nvSpPr>
        <p:spPr bwMode="auto">
          <a:xfrm>
            <a:off x="2286000" y="914400"/>
            <a:ext cx="2895600" cy="647700"/>
          </a:xfrm>
          <a:prstGeom prst="rect">
            <a:avLst/>
          </a:prstGeom>
        </p:spPr>
        <p:txBody>
          <a:bodyPr wrap="none" fromWordArt="1">
            <a:prstTxWarp prst="textPlain">
              <a:avLst>
                <a:gd name="adj" fmla="val 50000"/>
              </a:avLst>
            </a:prstTxWarp>
          </a:bodyPr>
          <a:lstStyle/>
          <a:p>
            <a:pPr algn="ctr"/>
            <a:r>
              <a:rPr lang="en-IN" sz="3600" kern="10">
                <a:ln w="9525">
                  <a:solidFill>
                    <a:srgbClr val="000000"/>
                  </a:solidFill>
                  <a:round/>
                  <a:headEnd/>
                  <a:tailEnd/>
                </a:ln>
                <a:solidFill>
                  <a:srgbClr val="A50021"/>
                </a:solidFill>
                <a:latin typeface="Arial Black"/>
              </a:rPr>
              <a:t>CHAPTER 7</a:t>
            </a:r>
          </a:p>
        </p:txBody>
      </p:sp>
    </p:spTree>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
          <p:cNvSpPr txBox="1">
            <a:spLocks noChangeArrowheads="1"/>
          </p:cNvSpPr>
          <p:nvPr/>
        </p:nvSpPr>
        <p:spPr bwMode="auto">
          <a:xfrm>
            <a:off x="1876425" y="609600"/>
            <a:ext cx="5376863" cy="823913"/>
          </a:xfrm>
          <a:prstGeom prst="rect">
            <a:avLst/>
          </a:prstGeom>
          <a:solidFill>
            <a:srgbClr val="FF0000"/>
          </a:solidFill>
          <a:ln w="9525">
            <a:noFill/>
            <a:miter lim="800000"/>
            <a:headEnd/>
            <a:tailEnd/>
          </a:ln>
          <a:effectLst/>
        </p:spPr>
        <p:txBody>
          <a:bodyPr wrap="none">
            <a:spAutoFit/>
          </a:bodyPr>
          <a:lstStyle/>
          <a:p>
            <a:pPr>
              <a:defRPr/>
            </a:pPr>
            <a:r>
              <a:rPr lang="en-US" sz="4800" b="1">
                <a:solidFill>
                  <a:srgbClr val="66FFFF"/>
                </a:solidFill>
                <a:effectLst>
                  <a:outerShdw blurRad="38100" dist="38100" dir="2700000" algn="tl">
                    <a:srgbClr val="000000"/>
                  </a:outerShdw>
                </a:effectLst>
                <a:latin typeface="Arial Unicode MS" pitchFamily="34" charset="-128"/>
                <a:cs typeface="Times New Roman" pitchFamily="18" charset="0"/>
              </a:rPr>
              <a:t>Session Objectives</a:t>
            </a:r>
          </a:p>
        </p:txBody>
      </p:sp>
      <p:sp>
        <p:nvSpPr>
          <p:cNvPr id="5123" name="Text Box 3"/>
          <p:cNvSpPr txBox="1">
            <a:spLocks noChangeArrowheads="1"/>
          </p:cNvSpPr>
          <p:nvPr/>
        </p:nvSpPr>
        <p:spPr bwMode="auto">
          <a:xfrm>
            <a:off x="885825" y="1905000"/>
            <a:ext cx="3460750" cy="519113"/>
          </a:xfrm>
          <a:prstGeom prst="rect">
            <a:avLst/>
          </a:prstGeom>
          <a:noFill/>
          <a:ln w="9525">
            <a:noFill/>
            <a:miter lim="800000"/>
            <a:headEnd/>
            <a:tailEnd/>
          </a:ln>
        </p:spPr>
        <p:txBody>
          <a:bodyPr wrap="none">
            <a:spAutoFit/>
          </a:bodyPr>
          <a:lstStyle/>
          <a:p>
            <a:pPr>
              <a:buFontTx/>
              <a:buBlip>
                <a:blip r:embed="rId2"/>
              </a:buBlip>
            </a:pPr>
            <a:r>
              <a:rPr lang="en-US" sz="2800" b="1">
                <a:solidFill>
                  <a:srgbClr val="CC3300"/>
                </a:solidFill>
                <a:latin typeface="Times New Roman" pitchFamily="18" charset="0"/>
                <a:cs typeface="Times New Roman" pitchFamily="18" charset="0"/>
              </a:rPr>
              <a:t> Define Constructor</a:t>
            </a:r>
          </a:p>
        </p:txBody>
      </p:sp>
      <p:sp>
        <p:nvSpPr>
          <p:cNvPr id="5124" name="Text Box 4"/>
          <p:cNvSpPr txBox="1">
            <a:spLocks noChangeArrowheads="1"/>
          </p:cNvSpPr>
          <p:nvPr/>
        </p:nvSpPr>
        <p:spPr bwMode="auto">
          <a:xfrm>
            <a:off x="885825" y="2667000"/>
            <a:ext cx="4683125" cy="519113"/>
          </a:xfrm>
          <a:prstGeom prst="rect">
            <a:avLst/>
          </a:prstGeom>
          <a:noFill/>
          <a:ln w="9525">
            <a:noFill/>
            <a:miter lim="800000"/>
            <a:headEnd/>
            <a:tailEnd/>
          </a:ln>
        </p:spPr>
        <p:txBody>
          <a:bodyPr wrap="none">
            <a:spAutoFit/>
          </a:bodyPr>
          <a:lstStyle/>
          <a:p>
            <a:pPr>
              <a:buFontTx/>
              <a:buBlip>
                <a:blip r:embed="rId2"/>
              </a:buBlip>
            </a:pPr>
            <a:r>
              <a:rPr lang="en-US" sz="2800" b="1">
                <a:solidFill>
                  <a:srgbClr val="CC3300"/>
                </a:solidFill>
                <a:latin typeface="Times New Roman" pitchFamily="18" charset="0"/>
                <a:cs typeface="Times New Roman" pitchFamily="18" charset="0"/>
              </a:rPr>
              <a:t> parameterized Constructor</a:t>
            </a:r>
          </a:p>
        </p:txBody>
      </p:sp>
      <p:sp>
        <p:nvSpPr>
          <p:cNvPr id="5125" name="Text Box 5"/>
          <p:cNvSpPr txBox="1">
            <a:spLocks noChangeArrowheads="1"/>
          </p:cNvSpPr>
          <p:nvPr/>
        </p:nvSpPr>
        <p:spPr bwMode="auto">
          <a:xfrm>
            <a:off x="962025" y="3581400"/>
            <a:ext cx="6013450" cy="519113"/>
          </a:xfrm>
          <a:prstGeom prst="rect">
            <a:avLst/>
          </a:prstGeom>
          <a:noFill/>
          <a:ln w="9525">
            <a:noFill/>
            <a:miter lim="800000"/>
            <a:headEnd/>
            <a:tailEnd/>
          </a:ln>
        </p:spPr>
        <p:txBody>
          <a:bodyPr wrap="none">
            <a:spAutoFit/>
          </a:bodyPr>
          <a:lstStyle/>
          <a:p>
            <a:pPr>
              <a:buFontTx/>
              <a:buBlip>
                <a:blip r:embed="rId2"/>
              </a:buBlip>
            </a:pPr>
            <a:r>
              <a:rPr lang="en-US" sz="2800" b="1">
                <a:solidFill>
                  <a:srgbClr val="CC3300"/>
                </a:solidFill>
                <a:latin typeface="Times New Roman" pitchFamily="18" charset="0"/>
                <a:cs typeface="Times New Roman" pitchFamily="18" charset="0"/>
              </a:rPr>
              <a:t> Constructor with default arguments</a:t>
            </a:r>
          </a:p>
        </p:txBody>
      </p:sp>
      <p:sp>
        <p:nvSpPr>
          <p:cNvPr id="5126" name="Text Box 6"/>
          <p:cNvSpPr txBox="1">
            <a:spLocks noChangeArrowheads="1"/>
          </p:cNvSpPr>
          <p:nvPr/>
        </p:nvSpPr>
        <p:spPr bwMode="auto">
          <a:xfrm>
            <a:off x="962025" y="4267200"/>
            <a:ext cx="4270375" cy="519113"/>
          </a:xfrm>
          <a:prstGeom prst="rect">
            <a:avLst/>
          </a:prstGeom>
          <a:noFill/>
          <a:ln w="9525">
            <a:noFill/>
            <a:miter lim="800000"/>
            <a:headEnd/>
            <a:tailEnd/>
          </a:ln>
        </p:spPr>
        <p:txBody>
          <a:bodyPr wrap="none">
            <a:spAutoFit/>
          </a:bodyPr>
          <a:lstStyle/>
          <a:p>
            <a:pPr>
              <a:buFontTx/>
              <a:buBlip>
                <a:blip r:embed="rId2"/>
              </a:buBlip>
            </a:pPr>
            <a:r>
              <a:rPr lang="en-US" sz="2800" b="1">
                <a:solidFill>
                  <a:srgbClr val="CC3300"/>
                </a:solidFill>
                <a:latin typeface="Times New Roman" pitchFamily="18" charset="0"/>
                <a:cs typeface="Times New Roman" pitchFamily="18" charset="0"/>
              </a:rPr>
              <a:t> Constructor overloading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88" fill="hold" grpId="0" nodeType="afterEffect">
                                  <p:stCondLst>
                                    <p:cond delay="0"/>
                                  </p:stCondLst>
                                  <p:childTnLst>
                                    <p:set>
                                      <p:cBhvr>
                                        <p:cTn id="6" dur="1" fill="hold">
                                          <p:stCondLst>
                                            <p:cond delay="0"/>
                                          </p:stCondLst>
                                        </p:cTn>
                                        <p:tgtEl>
                                          <p:spTgt spid="5123"/>
                                        </p:tgtEl>
                                        <p:attrNameLst>
                                          <p:attrName>style.visibility</p:attrName>
                                        </p:attrNameLst>
                                      </p:cBhvr>
                                      <p:to>
                                        <p:strVal val="visible"/>
                                      </p:to>
                                    </p:set>
                                    <p:anim calcmode="lin" valueType="num">
                                      <p:cBhvr>
                                        <p:cTn id="7" dur="500" fill="hold"/>
                                        <p:tgtEl>
                                          <p:spTgt spid="5123"/>
                                        </p:tgtEl>
                                        <p:attrNameLst>
                                          <p:attrName>ppt_w</p:attrName>
                                        </p:attrNameLst>
                                      </p:cBhvr>
                                      <p:tavLst>
                                        <p:tav tm="0">
                                          <p:val>
                                            <p:strVal val="4/3*#ppt_w"/>
                                          </p:val>
                                        </p:tav>
                                        <p:tav tm="100000">
                                          <p:val>
                                            <p:strVal val="#ppt_w"/>
                                          </p:val>
                                        </p:tav>
                                      </p:tavLst>
                                    </p:anim>
                                    <p:anim calcmode="lin" valueType="num">
                                      <p:cBhvr>
                                        <p:cTn id="8" dur="500" fill="hold"/>
                                        <p:tgtEl>
                                          <p:spTgt spid="5123"/>
                                        </p:tgtEl>
                                        <p:attrNameLst>
                                          <p:attrName>ppt_h</p:attrName>
                                        </p:attrNameLst>
                                      </p:cBhvr>
                                      <p:tavLst>
                                        <p:tav tm="0">
                                          <p:val>
                                            <p:strVal val="4/3*#ppt_h"/>
                                          </p:val>
                                        </p:tav>
                                        <p:tav tm="100000">
                                          <p:val>
                                            <p:strVal val="#ppt_h"/>
                                          </p:val>
                                        </p:tav>
                                      </p:tavLst>
                                    </p:anim>
                                  </p:childTnLst>
                                </p:cTn>
                              </p:par>
                            </p:childTnLst>
                          </p:cTn>
                        </p:par>
                        <p:par>
                          <p:cTn id="9" fill="hold">
                            <p:stCondLst>
                              <p:cond delay="500"/>
                            </p:stCondLst>
                            <p:childTnLst>
                              <p:par>
                                <p:cTn id="10" presetID="23" presetClass="entr" presetSubtype="288" fill="hold" grpId="0" nodeType="afterEffect">
                                  <p:stCondLst>
                                    <p:cond delay="0"/>
                                  </p:stCondLst>
                                  <p:childTnLst>
                                    <p:set>
                                      <p:cBhvr>
                                        <p:cTn id="11" dur="1" fill="hold">
                                          <p:stCondLst>
                                            <p:cond delay="0"/>
                                          </p:stCondLst>
                                        </p:cTn>
                                        <p:tgtEl>
                                          <p:spTgt spid="5124"/>
                                        </p:tgtEl>
                                        <p:attrNameLst>
                                          <p:attrName>style.visibility</p:attrName>
                                        </p:attrNameLst>
                                      </p:cBhvr>
                                      <p:to>
                                        <p:strVal val="visible"/>
                                      </p:to>
                                    </p:set>
                                    <p:anim calcmode="lin" valueType="num">
                                      <p:cBhvr>
                                        <p:cTn id="12" dur="500" fill="hold"/>
                                        <p:tgtEl>
                                          <p:spTgt spid="5124"/>
                                        </p:tgtEl>
                                        <p:attrNameLst>
                                          <p:attrName>ppt_w</p:attrName>
                                        </p:attrNameLst>
                                      </p:cBhvr>
                                      <p:tavLst>
                                        <p:tav tm="0">
                                          <p:val>
                                            <p:strVal val="4/3*#ppt_w"/>
                                          </p:val>
                                        </p:tav>
                                        <p:tav tm="100000">
                                          <p:val>
                                            <p:strVal val="#ppt_w"/>
                                          </p:val>
                                        </p:tav>
                                      </p:tavLst>
                                    </p:anim>
                                    <p:anim calcmode="lin" valueType="num">
                                      <p:cBhvr>
                                        <p:cTn id="13" dur="500" fill="hold"/>
                                        <p:tgtEl>
                                          <p:spTgt spid="5124"/>
                                        </p:tgtEl>
                                        <p:attrNameLst>
                                          <p:attrName>ppt_h</p:attrName>
                                        </p:attrNameLst>
                                      </p:cBhvr>
                                      <p:tavLst>
                                        <p:tav tm="0">
                                          <p:val>
                                            <p:strVal val="4/3*#ppt_h"/>
                                          </p:val>
                                        </p:tav>
                                        <p:tav tm="100000">
                                          <p:val>
                                            <p:strVal val="#ppt_h"/>
                                          </p:val>
                                        </p:tav>
                                      </p:tavLst>
                                    </p:anim>
                                  </p:childTnLst>
                                </p:cTn>
                              </p:par>
                            </p:childTnLst>
                          </p:cTn>
                        </p:par>
                        <p:par>
                          <p:cTn id="14" fill="hold">
                            <p:stCondLst>
                              <p:cond delay="1000"/>
                            </p:stCondLst>
                            <p:childTnLst>
                              <p:par>
                                <p:cTn id="15" presetID="23" presetClass="entr" presetSubtype="288" fill="hold" grpId="0" nodeType="afterEffect">
                                  <p:stCondLst>
                                    <p:cond delay="0"/>
                                  </p:stCondLst>
                                  <p:childTnLst>
                                    <p:set>
                                      <p:cBhvr>
                                        <p:cTn id="16" dur="1" fill="hold">
                                          <p:stCondLst>
                                            <p:cond delay="0"/>
                                          </p:stCondLst>
                                        </p:cTn>
                                        <p:tgtEl>
                                          <p:spTgt spid="5125"/>
                                        </p:tgtEl>
                                        <p:attrNameLst>
                                          <p:attrName>style.visibility</p:attrName>
                                        </p:attrNameLst>
                                      </p:cBhvr>
                                      <p:to>
                                        <p:strVal val="visible"/>
                                      </p:to>
                                    </p:set>
                                    <p:anim calcmode="lin" valueType="num">
                                      <p:cBhvr>
                                        <p:cTn id="17" dur="500" fill="hold"/>
                                        <p:tgtEl>
                                          <p:spTgt spid="5125"/>
                                        </p:tgtEl>
                                        <p:attrNameLst>
                                          <p:attrName>ppt_w</p:attrName>
                                        </p:attrNameLst>
                                      </p:cBhvr>
                                      <p:tavLst>
                                        <p:tav tm="0">
                                          <p:val>
                                            <p:strVal val="4/3*#ppt_w"/>
                                          </p:val>
                                        </p:tav>
                                        <p:tav tm="100000">
                                          <p:val>
                                            <p:strVal val="#ppt_w"/>
                                          </p:val>
                                        </p:tav>
                                      </p:tavLst>
                                    </p:anim>
                                    <p:anim calcmode="lin" valueType="num">
                                      <p:cBhvr>
                                        <p:cTn id="18" dur="500" fill="hold"/>
                                        <p:tgtEl>
                                          <p:spTgt spid="5125"/>
                                        </p:tgtEl>
                                        <p:attrNameLst>
                                          <p:attrName>ppt_h</p:attrName>
                                        </p:attrNameLst>
                                      </p:cBhvr>
                                      <p:tavLst>
                                        <p:tav tm="0">
                                          <p:val>
                                            <p:strVal val="4/3*#ppt_h"/>
                                          </p:val>
                                        </p:tav>
                                        <p:tav tm="100000">
                                          <p:val>
                                            <p:strVal val="#ppt_h"/>
                                          </p:val>
                                        </p:tav>
                                      </p:tavLst>
                                    </p:anim>
                                  </p:childTnLst>
                                </p:cTn>
                              </p:par>
                            </p:childTnLst>
                          </p:cTn>
                        </p:par>
                        <p:par>
                          <p:cTn id="19" fill="hold">
                            <p:stCondLst>
                              <p:cond delay="1500"/>
                            </p:stCondLst>
                            <p:childTnLst>
                              <p:par>
                                <p:cTn id="20" presetID="23" presetClass="entr" presetSubtype="288" fill="hold" grpId="0" nodeType="afterEffect">
                                  <p:stCondLst>
                                    <p:cond delay="0"/>
                                  </p:stCondLst>
                                  <p:childTnLst>
                                    <p:set>
                                      <p:cBhvr>
                                        <p:cTn id="21" dur="1" fill="hold">
                                          <p:stCondLst>
                                            <p:cond delay="0"/>
                                          </p:stCondLst>
                                        </p:cTn>
                                        <p:tgtEl>
                                          <p:spTgt spid="5126"/>
                                        </p:tgtEl>
                                        <p:attrNameLst>
                                          <p:attrName>style.visibility</p:attrName>
                                        </p:attrNameLst>
                                      </p:cBhvr>
                                      <p:to>
                                        <p:strVal val="visible"/>
                                      </p:to>
                                    </p:set>
                                    <p:anim calcmode="lin" valueType="num">
                                      <p:cBhvr>
                                        <p:cTn id="22" dur="500" fill="hold"/>
                                        <p:tgtEl>
                                          <p:spTgt spid="5126"/>
                                        </p:tgtEl>
                                        <p:attrNameLst>
                                          <p:attrName>ppt_w</p:attrName>
                                        </p:attrNameLst>
                                      </p:cBhvr>
                                      <p:tavLst>
                                        <p:tav tm="0">
                                          <p:val>
                                            <p:strVal val="4/3*#ppt_w"/>
                                          </p:val>
                                        </p:tav>
                                        <p:tav tm="100000">
                                          <p:val>
                                            <p:strVal val="#ppt_w"/>
                                          </p:val>
                                        </p:tav>
                                      </p:tavLst>
                                    </p:anim>
                                    <p:anim calcmode="lin" valueType="num">
                                      <p:cBhvr>
                                        <p:cTn id="23" dur="500" fill="hold"/>
                                        <p:tgtEl>
                                          <p:spTgt spid="5126"/>
                                        </p:tgtEl>
                                        <p:attrNameLst>
                                          <p:attrName>ppt_h</p:attrName>
                                        </p:attrNameLst>
                                      </p:cBhvr>
                                      <p:tavLst>
                                        <p:tav tm="0">
                                          <p:val>
                                            <p:strVal val="4/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autoUpdateAnimBg="0"/>
      <p:bldP spid="5124" grpId="0" autoUpdateAnimBg="0"/>
      <p:bldP spid="5125" grpId="0" autoUpdateAnimBg="0"/>
      <p:bldP spid="5126" grpId="0" autoUpdateAnimBg="0"/>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WordArt 2" descr="Brown marble"/>
          <p:cNvSpPr>
            <a:spLocks noChangeArrowheads="1" noChangeShapeType="1" noTextEdit="1"/>
          </p:cNvSpPr>
          <p:nvPr/>
        </p:nvSpPr>
        <p:spPr bwMode="auto">
          <a:xfrm>
            <a:off x="2209800" y="533400"/>
            <a:ext cx="5181600" cy="685800"/>
          </a:xfrm>
          <a:prstGeom prst="rect">
            <a:avLst/>
          </a:prstGeom>
        </p:spPr>
        <p:txBody>
          <a:bodyPr wrap="none" fromWordArt="1">
            <a:prstTxWarp prst="textFadeUp">
              <a:avLst>
                <a:gd name="adj" fmla="val 9991"/>
              </a:avLst>
            </a:prstTxWarp>
          </a:bodyPr>
          <a:lstStyle/>
          <a:p>
            <a:pPr algn="ctr"/>
            <a:r>
              <a:rPr lang="en-IN" sz="3600" b="1" kern="10">
                <a:ln w="12700">
                  <a:solidFill>
                    <a:srgbClr val="B2B2B2"/>
                  </a:solidFill>
                  <a:round/>
                  <a:headEnd/>
                  <a:tailEnd/>
                </a:ln>
                <a:blipFill dpi="0" rotWithShape="0">
                  <a:blip r:embed="rId2"/>
                  <a:srcRect/>
                  <a:tile tx="0" ty="0" sx="100000" sy="100000" flip="none" algn="tl"/>
                </a:blipFill>
                <a:effectLst>
                  <a:outerShdw dist="35921" dir="2700000" sy="50000" rotWithShape="0">
                    <a:srgbClr val="875B0D">
                      <a:alpha val="70000"/>
                    </a:srgbClr>
                  </a:outerShdw>
                </a:effectLst>
                <a:latin typeface="Arial Black"/>
              </a:rPr>
              <a:t>Constructors</a:t>
            </a:r>
          </a:p>
        </p:txBody>
      </p:sp>
      <p:sp>
        <p:nvSpPr>
          <p:cNvPr id="6147" name="Rectangle 3" descr="Brown marble"/>
          <p:cNvSpPr>
            <a:spLocks noChangeArrowheads="1"/>
          </p:cNvSpPr>
          <p:nvPr/>
        </p:nvSpPr>
        <p:spPr bwMode="auto">
          <a:xfrm>
            <a:off x="1219200" y="3733800"/>
            <a:ext cx="7391400" cy="2466975"/>
          </a:xfrm>
          <a:prstGeom prst="rect">
            <a:avLst/>
          </a:prstGeom>
          <a:blipFill dpi="0" rotWithShape="1">
            <a:blip r:embed="rId2"/>
            <a:srcRect/>
            <a:tile tx="0" ty="0" sx="100000" sy="100000" flip="none" algn="tl"/>
          </a:blipFill>
          <a:ln w="9525">
            <a:noFill/>
            <a:miter lim="800000"/>
            <a:headEnd/>
            <a:tailEnd/>
          </a:ln>
        </p:spPr>
        <p:txBody>
          <a:bodyPr>
            <a:spAutoFit/>
          </a:bodyPr>
          <a:lstStyle/>
          <a:p>
            <a:pPr algn="ctr" eaLnBrk="0" hangingPunct="0"/>
            <a:r>
              <a:rPr lang="en-US" sz="3600" b="1" u="sng">
                <a:solidFill>
                  <a:schemeClr val="bg1"/>
                </a:solidFill>
                <a:latin typeface="Times New Roman" pitchFamily="18" charset="0"/>
              </a:rPr>
              <a:t>Syntax </a:t>
            </a:r>
          </a:p>
          <a:p>
            <a:pPr eaLnBrk="0" hangingPunct="0"/>
            <a:r>
              <a:rPr lang="en-US" sz="2400" b="1">
                <a:solidFill>
                  <a:schemeClr val="bg1"/>
                </a:solidFill>
                <a:latin typeface="Times New Roman" pitchFamily="18" charset="0"/>
              </a:rPr>
              <a:t>Classname(&lt;argument&gt;)</a:t>
            </a:r>
          </a:p>
          <a:p>
            <a:pPr eaLnBrk="0" hangingPunct="0"/>
            <a:r>
              <a:rPr lang="en-US" sz="2400" b="1">
                <a:solidFill>
                  <a:schemeClr val="bg1"/>
                </a:solidFill>
                <a:latin typeface="Times New Roman" pitchFamily="18" charset="0"/>
              </a:rPr>
              <a:t>{</a:t>
            </a:r>
          </a:p>
          <a:p>
            <a:pPr eaLnBrk="0" hangingPunct="0"/>
            <a:r>
              <a:rPr lang="en-US" sz="2400" b="1">
                <a:solidFill>
                  <a:schemeClr val="bg1"/>
                </a:solidFill>
                <a:latin typeface="Times New Roman" pitchFamily="18" charset="0"/>
              </a:rPr>
              <a:t>Statements;</a:t>
            </a:r>
          </a:p>
          <a:p>
            <a:pPr eaLnBrk="0" hangingPunct="0"/>
            <a:r>
              <a:rPr lang="en-US" sz="2400" b="1">
                <a:solidFill>
                  <a:schemeClr val="bg1"/>
                </a:solidFill>
                <a:latin typeface="Times New Roman" pitchFamily="18" charset="0"/>
              </a:rPr>
              <a:t>}</a:t>
            </a:r>
          </a:p>
          <a:p>
            <a:pPr eaLnBrk="0" hangingPunct="0"/>
            <a:r>
              <a:rPr lang="en-US" sz="2400" b="1" i="1" u="sng">
                <a:solidFill>
                  <a:schemeClr val="bg1"/>
                </a:solidFill>
                <a:latin typeface="Times New Roman" pitchFamily="18" charset="0"/>
              </a:rPr>
              <a:t>Note :</a:t>
            </a:r>
            <a:r>
              <a:rPr lang="en-US" sz="2400" b="1">
                <a:solidFill>
                  <a:schemeClr val="bg1"/>
                </a:solidFill>
                <a:latin typeface="Times New Roman" pitchFamily="18" charset="0"/>
              </a:rPr>
              <a:t> Argument is optional </a:t>
            </a:r>
          </a:p>
        </p:txBody>
      </p:sp>
      <p:sp>
        <p:nvSpPr>
          <p:cNvPr id="6148" name="AutoShape 4" descr="Brown marble"/>
          <p:cNvSpPr>
            <a:spLocks/>
          </p:cNvSpPr>
          <p:nvPr/>
        </p:nvSpPr>
        <p:spPr bwMode="auto">
          <a:xfrm>
            <a:off x="1193800" y="1828800"/>
            <a:ext cx="7416800" cy="1905000"/>
          </a:xfrm>
          <a:prstGeom prst="accentBorderCallout1">
            <a:avLst>
              <a:gd name="adj1" fmla="val 6000"/>
              <a:gd name="adj2" fmla="val -1028"/>
              <a:gd name="adj3" fmla="val -25750"/>
              <a:gd name="adj4" fmla="val -1028"/>
            </a:avLst>
          </a:prstGeom>
          <a:blipFill dpi="0" rotWithShape="1">
            <a:blip r:embed="rId2"/>
            <a:srcRect/>
            <a:tile tx="0" ty="0" sx="100000" sy="100000" flip="none" algn="tl"/>
          </a:blipFill>
          <a:ln w="9525">
            <a:solidFill>
              <a:schemeClr val="tx1"/>
            </a:solidFill>
            <a:miter lim="800000"/>
            <a:headEnd/>
            <a:tailEnd/>
          </a:ln>
        </p:spPr>
        <p:txBody>
          <a:bodyPr/>
          <a:lstStyle/>
          <a:p>
            <a:pPr algn="just">
              <a:spcBef>
                <a:spcPct val="50000"/>
              </a:spcBef>
            </a:pPr>
            <a:r>
              <a:rPr lang="en-US" sz="2400" b="1">
                <a:solidFill>
                  <a:srgbClr val="FF0066"/>
                </a:solidFill>
                <a:latin typeface="Times New Roman" pitchFamily="18" charset="0"/>
              </a:rPr>
              <a:t>	</a:t>
            </a:r>
            <a:r>
              <a:rPr lang="en-US" sz="2400" b="1">
                <a:solidFill>
                  <a:schemeClr val="bg1"/>
                </a:solidFill>
                <a:latin typeface="Times New Roman" pitchFamily="18" charset="0"/>
              </a:rPr>
              <a:t>Constructor is a non-static </a:t>
            </a:r>
            <a:r>
              <a:rPr lang="en-US" sz="2800" b="1">
                <a:solidFill>
                  <a:schemeClr val="bg1"/>
                </a:solidFill>
                <a:latin typeface="Times New Roman" pitchFamily="18" charset="0"/>
              </a:rPr>
              <a:t>special member function</a:t>
            </a:r>
            <a:r>
              <a:rPr lang="en-US" sz="2400" b="1">
                <a:solidFill>
                  <a:schemeClr val="bg1"/>
                </a:solidFill>
                <a:latin typeface="Times New Roman" pitchFamily="18" charset="0"/>
              </a:rPr>
              <a:t> which that is automatically called when an   object is created</a:t>
            </a:r>
          </a:p>
          <a:p>
            <a:pPr algn="just">
              <a:spcBef>
                <a:spcPct val="50000"/>
              </a:spcBef>
            </a:pPr>
            <a:r>
              <a:rPr lang="en-US" sz="2400" b="1">
                <a:solidFill>
                  <a:schemeClr val="bg1"/>
                </a:solidFill>
                <a:latin typeface="Times New Roman" pitchFamily="18" charset="0"/>
              </a:rPr>
              <a:t>	It can be used to initialize the class members</a:t>
            </a:r>
            <a:endParaRPr lang="en-US" sz="2000">
              <a:solidFill>
                <a:schemeClr val="bg1"/>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withEffect">
                                  <p:stCondLst>
                                    <p:cond delay="0"/>
                                  </p:stCondLst>
                                  <p:childTnLst>
                                    <p:set>
                                      <p:cBhvr>
                                        <p:cTn id="6" dur="1" fill="hold">
                                          <p:stCondLst>
                                            <p:cond delay="0"/>
                                          </p:stCondLst>
                                        </p:cTn>
                                        <p:tgtEl>
                                          <p:spTgt spid="6148"/>
                                        </p:tgtEl>
                                        <p:attrNameLst>
                                          <p:attrName>style.visibility</p:attrName>
                                        </p:attrNameLst>
                                      </p:cBhvr>
                                      <p:to>
                                        <p:strVal val="visible"/>
                                      </p:to>
                                    </p:set>
                                    <p:animEffect transition="in" filter="strips(downLeft)">
                                      <p:cBhvr>
                                        <p:cTn id="7" dur="500"/>
                                        <p:tgtEl>
                                          <p:spTgt spid="6148"/>
                                        </p:tgtEl>
                                      </p:cBhvr>
                                    </p:animEffect>
                                  </p:childTnLst>
                                </p:cTn>
                              </p:par>
                              <p:par>
                                <p:cTn id="8" presetID="18" presetClass="entr" presetSubtype="12" fill="hold" grpId="0" nodeType="withEffect">
                                  <p:stCondLst>
                                    <p:cond delay="0"/>
                                  </p:stCondLst>
                                  <p:childTnLst>
                                    <p:set>
                                      <p:cBhvr>
                                        <p:cTn id="9" dur="1" fill="hold">
                                          <p:stCondLst>
                                            <p:cond delay="0"/>
                                          </p:stCondLst>
                                        </p:cTn>
                                        <p:tgtEl>
                                          <p:spTgt spid="6147"/>
                                        </p:tgtEl>
                                        <p:attrNameLst>
                                          <p:attrName>style.visibility</p:attrName>
                                        </p:attrNameLst>
                                      </p:cBhvr>
                                      <p:to>
                                        <p:strVal val="visible"/>
                                      </p:to>
                                    </p:set>
                                    <p:animEffect transition="in" filter="strips(downLeft)">
                                      <p:cBhvr>
                                        <p:cTn id="10" dur="500"/>
                                        <p:tgtEl>
                                          <p:spTgt spid="61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animBg="1"/>
      <p:bldP spid="6148" grpId="0" animBg="1"/>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descr="Brown marble"/>
          <p:cNvSpPr txBox="1">
            <a:spLocks noChangeArrowheads="1"/>
          </p:cNvSpPr>
          <p:nvPr/>
        </p:nvSpPr>
        <p:spPr bwMode="auto">
          <a:xfrm>
            <a:off x="0" y="0"/>
            <a:ext cx="9144000" cy="6494463"/>
          </a:xfrm>
          <a:prstGeom prst="rect">
            <a:avLst/>
          </a:prstGeom>
          <a:blipFill dpi="0" rotWithShape="1">
            <a:blip r:embed="rId2"/>
            <a:srcRect/>
            <a:tile tx="0" ty="0" sx="100000" sy="100000" flip="none" algn="tl"/>
          </a:blipFill>
          <a:ln w="9525">
            <a:noFill/>
            <a:miter lim="800000"/>
            <a:headEnd/>
            <a:tailEnd/>
          </a:ln>
        </p:spPr>
        <p:txBody>
          <a:bodyPr lIns="91437" tIns="45719" rIns="91437" bIns="45719">
            <a:spAutoFit/>
          </a:bodyPr>
          <a:lstStyle/>
          <a:p>
            <a:pPr indent="566738" algn="just">
              <a:spcBef>
                <a:spcPct val="50000"/>
              </a:spcBef>
              <a:buFont typeface="Wingdings" pitchFamily="2" charset="2"/>
              <a:buNone/>
            </a:pPr>
            <a:r>
              <a:rPr lang="en-US" sz="3200" b="1" u="sng">
                <a:solidFill>
                  <a:schemeClr val="bg1"/>
                </a:solidFill>
                <a:latin typeface="Times New Roman" pitchFamily="18" charset="0"/>
              </a:rPr>
              <a:t>RULES</a:t>
            </a:r>
          </a:p>
          <a:p>
            <a:pPr indent="566738" algn="just">
              <a:spcBef>
                <a:spcPct val="50000"/>
              </a:spcBef>
              <a:buFont typeface="Wingdings" pitchFamily="2" charset="2"/>
              <a:buChar char="ü"/>
            </a:pPr>
            <a:r>
              <a:rPr lang="en-US" sz="2400" b="1">
                <a:solidFill>
                  <a:schemeClr val="bg1"/>
                </a:solidFill>
                <a:latin typeface="Times New Roman" pitchFamily="18" charset="0"/>
              </a:rPr>
              <a:t>Classname and constructor name must be same</a:t>
            </a:r>
          </a:p>
          <a:p>
            <a:pPr indent="566738" eaLnBrk="0" hangingPunct="0">
              <a:spcBef>
                <a:spcPct val="50000"/>
              </a:spcBef>
              <a:buFont typeface="Wingdings" pitchFamily="2" charset="2"/>
              <a:buChar char="ü"/>
            </a:pPr>
            <a:r>
              <a:rPr lang="en-US" sz="2400" b="1">
                <a:solidFill>
                  <a:schemeClr val="bg1"/>
                </a:solidFill>
                <a:latin typeface="Times New Roman" pitchFamily="18" charset="0"/>
              </a:rPr>
              <a:t> It should be declared inside public</a:t>
            </a:r>
          </a:p>
          <a:p>
            <a:pPr indent="566738" eaLnBrk="0" hangingPunct="0">
              <a:spcBef>
                <a:spcPct val="50000"/>
              </a:spcBef>
              <a:buFont typeface="Wingdings" pitchFamily="2" charset="2"/>
              <a:buChar char="ü"/>
            </a:pPr>
            <a:r>
              <a:rPr lang="en-US" sz="2400" b="1">
                <a:solidFill>
                  <a:schemeClr val="bg1"/>
                </a:solidFill>
                <a:latin typeface="Times New Roman" pitchFamily="18" charset="0"/>
              </a:rPr>
              <a:t> It has no return type</a:t>
            </a:r>
          </a:p>
          <a:p>
            <a:pPr indent="566738" eaLnBrk="0" hangingPunct="0">
              <a:spcBef>
                <a:spcPct val="50000"/>
              </a:spcBef>
              <a:buFont typeface="Wingdings" pitchFamily="2" charset="2"/>
              <a:buChar char="ü"/>
            </a:pPr>
            <a:r>
              <a:rPr lang="en-US" sz="2400" b="1">
                <a:solidFill>
                  <a:schemeClr val="bg1"/>
                </a:solidFill>
                <a:latin typeface="Times New Roman" pitchFamily="18" charset="0"/>
              </a:rPr>
              <a:t> It may have arguments (optional)</a:t>
            </a:r>
          </a:p>
          <a:p>
            <a:pPr indent="566738" eaLnBrk="0" hangingPunct="0">
              <a:spcBef>
                <a:spcPct val="50000"/>
              </a:spcBef>
              <a:buFont typeface="Wingdings" pitchFamily="2" charset="2"/>
              <a:buChar char="ü"/>
            </a:pPr>
            <a:r>
              <a:rPr lang="en-US" sz="2400" b="1">
                <a:solidFill>
                  <a:schemeClr val="bg1"/>
                </a:solidFill>
                <a:latin typeface="Times New Roman" pitchFamily="18" charset="0"/>
              </a:rPr>
              <a:t>If it does not have any argument, it is called default constructor</a:t>
            </a:r>
          </a:p>
          <a:p>
            <a:pPr indent="566738" eaLnBrk="0" hangingPunct="0">
              <a:spcBef>
                <a:spcPct val="50000"/>
              </a:spcBef>
              <a:buFont typeface="Wingdings" pitchFamily="2" charset="2"/>
              <a:buChar char="ü"/>
            </a:pPr>
            <a:r>
              <a:rPr lang="en-US" sz="2400" b="1">
                <a:solidFill>
                  <a:schemeClr val="bg1"/>
                </a:solidFill>
                <a:latin typeface="Times New Roman" pitchFamily="18" charset="0"/>
              </a:rPr>
              <a:t>If it has arguments, it is called parameterized constructor</a:t>
            </a:r>
          </a:p>
          <a:p>
            <a:pPr indent="566738" eaLnBrk="0" hangingPunct="0">
              <a:spcBef>
                <a:spcPct val="50000"/>
              </a:spcBef>
              <a:buFont typeface="Wingdings" pitchFamily="2" charset="2"/>
              <a:buChar char="ü"/>
            </a:pPr>
            <a:r>
              <a:rPr lang="en-US" sz="2400" b="1">
                <a:solidFill>
                  <a:schemeClr val="bg1"/>
                </a:solidFill>
                <a:latin typeface="Times New Roman" pitchFamily="18" charset="0"/>
              </a:rPr>
              <a:t>So a program can have any number of constructor</a:t>
            </a:r>
          </a:p>
          <a:p>
            <a:pPr indent="566738" eaLnBrk="0" hangingPunct="0">
              <a:spcBef>
                <a:spcPct val="50000"/>
              </a:spcBef>
              <a:buFont typeface="Wingdings" pitchFamily="2" charset="2"/>
              <a:buChar char="ü"/>
            </a:pPr>
            <a:r>
              <a:rPr lang="en-US" sz="2400" b="1">
                <a:solidFill>
                  <a:schemeClr val="bg1"/>
                </a:solidFill>
                <a:latin typeface="Times New Roman" pitchFamily="18" charset="0"/>
              </a:rPr>
              <a:t>It cannot be Virtual</a:t>
            </a:r>
          </a:p>
          <a:p>
            <a:pPr indent="566738" eaLnBrk="0" hangingPunct="0">
              <a:spcBef>
                <a:spcPct val="50000"/>
              </a:spcBef>
              <a:buFont typeface="Wingdings" pitchFamily="2" charset="2"/>
              <a:buChar char="ü"/>
            </a:pPr>
            <a:r>
              <a:rPr lang="en-US" sz="2400" b="1">
                <a:solidFill>
                  <a:schemeClr val="bg1"/>
                </a:solidFill>
                <a:latin typeface="Times New Roman" pitchFamily="18" charset="0"/>
              </a:rPr>
              <a:t>It cannot refer to their address</a:t>
            </a:r>
          </a:p>
          <a:p>
            <a:pPr indent="566738" eaLnBrk="0" hangingPunct="0">
              <a:spcBef>
                <a:spcPct val="50000"/>
              </a:spcBef>
              <a:buFont typeface="Wingdings" pitchFamily="2" charset="2"/>
              <a:buChar char="ü"/>
            </a:pPr>
            <a:r>
              <a:rPr lang="en-US" sz="2400" b="1">
                <a:solidFill>
                  <a:schemeClr val="bg1"/>
                </a:solidFill>
                <a:latin typeface="Times New Roman" pitchFamily="18" charset="0"/>
              </a:rPr>
              <a:t>Cannot be inherited through derived class  by calling the base class constructor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170"/>
                                        </p:tgtEl>
                                        <p:attrNameLst>
                                          <p:attrName>style.visibility</p:attrName>
                                        </p:attrNameLst>
                                      </p:cBhvr>
                                      <p:to>
                                        <p:strVal val="visible"/>
                                      </p:to>
                                    </p:set>
                                    <p:anim calcmode="lin" valueType="num">
                                      <p:cBhvr additive="base">
                                        <p:cTn id="7" dur="500" fill="hold"/>
                                        <p:tgtEl>
                                          <p:spTgt spid="7170"/>
                                        </p:tgtEl>
                                        <p:attrNameLst>
                                          <p:attrName>ppt_x</p:attrName>
                                        </p:attrNameLst>
                                      </p:cBhvr>
                                      <p:tavLst>
                                        <p:tav tm="0">
                                          <p:val>
                                            <p:strVal val="0-#ppt_w/2"/>
                                          </p:val>
                                        </p:tav>
                                        <p:tav tm="100000">
                                          <p:val>
                                            <p:strVal val="#ppt_x"/>
                                          </p:val>
                                        </p:tav>
                                      </p:tavLst>
                                    </p:anim>
                                    <p:anim calcmode="lin" valueType="num">
                                      <p:cBhvr additive="base">
                                        <p:cTn id="8" dur="500" fill="hold"/>
                                        <p:tgtEl>
                                          <p:spTgt spid="717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animBg="1" autoUpdateAnimBg="0"/>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WordArt 2"/>
          <p:cNvSpPr>
            <a:spLocks noChangeArrowheads="1" noChangeShapeType="1" noTextEdit="1"/>
          </p:cNvSpPr>
          <p:nvPr/>
        </p:nvSpPr>
        <p:spPr bwMode="auto">
          <a:xfrm>
            <a:off x="1828800" y="152400"/>
            <a:ext cx="5086350" cy="647700"/>
          </a:xfrm>
          <a:prstGeom prst="rect">
            <a:avLst/>
          </a:prstGeom>
        </p:spPr>
        <p:txBody>
          <a:bodyPr wrap="none" fromWordArt="1">
            <a:prstTxWarp prst="textPlain">
              <a:avLst>
                <a:gd name="adj" fmla="val 50000"/>
              </a:avLst>
            </a:prstTxWarp>
          </a:bodyPr>
          <a:lstStyle/>
          <a:p>
            <a:pPr algn="ctr"/>
            <a:r>
              <a:rPr lang="en-IN" sz="3600" b="1"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a:rPr>
              <a:t>Default Constructor</a:t>
            </a:r>
          </a:p>
        </p:txBody>
      </p:sp>
      <p:sp>
        <p:nvSpPr>
          <p:cNvPr id="6147" name="Text Box 3"/>
          <p:cNvSpPr txBox="1">
            <a:spLocks noChangeArrowheads="1"/>
          </p:cNvSpPr>
          <p:nvPr/>
        </p:nvSpPr>
        <p:spPr bwMode="auto">
          <a:xfrm>
            <a:off x="228600" y="1066800"/>
            <a:ext cx="8534400" cy="1219200"/>
          </a:xfrm>
          <a:prstGeom prst="rect">
            <a:avLst/>
          </a:prstGeom>
          <a:noFill/>
          <a:ln w="9525">
            <a:noFill/>
            <a:miter lim="800000"/>
            <a:headEnd/>
            <a:tailEnd/>
          </a:ln>
        </p:spPr>
        <p:txBody>
          <a:bodyPr>
            <a:spAutoFit/>
          </a:bodyPr>
          <a:lstStyle/>
          <a:p>
            <a:pPr algn="just" eaLnBrk="0" hangingPunct="0">
              <a:spcBef>
                <a:spcPct val="50000"/>
              </a:spcBef>
            </a:pPr>
            <a:r>
              <a:rPr lang="en-US" sz="2400" b="1">
                <a:solidFill>
                  <a:srgbClr val="800000"/>
                </a:solidFill>
              </a:rPr>
              <a:t>	</a:t>
            </a:r>
            <a:r>
              <a:rPr lang="en-US" sz="2000" b="1">
                <a:solidFill>
                  <a:srgbClr val="800000"/>
                </a:solidFill>
              </a:rPr>
              <a:t>If a constructor takes no Arguments it is called No argument constructor or Default constructor</a:t>
            </a:r>
          </a:p>
          <a:p>
            <a:pPr algn="just" eaLnBrk="0" hangingPunct="0">
              <a:spcBef>
                <a:spcPct val="50000"/>
              </a:spcBef>
            </a:pPr>
            <a:r>
              <a:rPr lang="en-US" sz="2000" b="1">
                <a:solidFill>
                  <a:srgbClr val="800000"/>
                </a:solidFill>
              </a:rPr>
              <a:t>	This constructor has public access within the class .</a:t>
            </a:r>
          </a:p>
        </p:txBody>
      </p:sp>
      <p:sp>
        <p:nvSpPr>
          <p:cNvPr id="6148" name="Text Box 4"/>
          <p:cNvSpPr txBox="1">
            <a:spLocks noChangeArrowheads="1"/>
          </p:cNvSpPr>
          <p:nvPr/>
        </p:nvSpPr>
        <p:spPr bwMode="auto">
          <a:xfrm>
            <a:off x="685800" y="2438400"/>
            <a:ext cx="7848600" cy="4181475"/>
          </a:xfrm>
          <a:prstGeom prst="rect">
            <a:avLst/>
          </a:prstGeom>
          <a:noFill/>
          <a:ln w="9525">
            <a:solidFill>
              <a:srgbClr val="CC0066"/>
            </a:solidFill>
            <a:miter lim="800000"/>
            <a:headEnd/>
            <a:tailEnd/>
          </a:ln>
        </p:spPr>
        <p:txBody>
          <a:bodyPr>
            <a:spAutoFit/>
          </a:bodyPr>
          <a:lstStyle/>
          <a:p>
            <a:pPr eaLnBrk="0" hangingPunct="0">
              <a:spcBef>
                <a:spcPct val="50000"/>
              </a:spcBef>
            </a:pPr>
            <a:r>
              <a:rPr lang="en-US" sz="2400" b="1" i="1" u="sng">
                <a:solidFill>
                  <a:srgbClr val="800000"/>
                </a:solidFill>
                <a:latin typeface="Verdana" pitchFamily="34" charset="0"/>
              </a:rPr>
              <a:t>For example:</a:t>
            </a:r>
          </a:p>
          <a:p>
            <a:pPr eaLnBrk="0" hangingPunct="0">
              <a:spcBef>
                <a:spcPct val="50000"/>
              </a:spcBef>
            </a:pPr>
            <a:r>
              <a:rPr lang="en-US" b="1">
                <a:solidFill>
                  <a:srgbClr val="800000"/>
                </a:solidFill>
                <a:latin typeface="Verdana" pitchFamily="34" charset="0"/>
              </a:rPr>
              <a:t>class emp</a:t>
            </a:r>
          </a:p>
          <a:p>
            <a:pPr eaLnBrk="0" hangingPunct="0">
              <a:spcBef>
                <a:spcPct val="50000"/>
              </a:spcBef>
            </a:pPr>
            <a:r>
              <a:rPr lang="en-US" b="1">
                <a:solidFill>
                  <a:srgbClr val="800000"/>
                </a:solidFill>
                <a:latin typeface="Verdana" pitchFamily="34" charset="0"/>
              </a:rPr>
              <a:t>{</a:t>
            </a:r>
          </a:p>
          <a:p>
            <a:pPr eaLnBrk="0" hangingPunct="0">
              <a:spcBef>
                <a:spcPct val="50000"/>
              </a:spcBef>
            </a:pPr>
            <a:r>
              <a:rPr lang="en-US" b="1">
                <a:solidFill>
                  <a:srgbClr val="800000"/>
                </a:solidFill>
                <a:latin typeface="Verdana" pitchFamily="34" charset="0"/>
              </a:rPr>
              <a:t>private :</a:t>
            </a:r>
          </a:p>
          <a:p>
            <a:pPr eaLnBrk="0" hangingPunct="0">
              <a:spcBef>
                <a:spcPct val="50000"/>
              </a:spcBef>
            </a:pPr>
            <a:r>
              <a:rPr lang="en-US" b="1">
                <a:solidFill>
                  <a:srgbClr val="800000"/>
                </a:solidFill>
                <a:latin typeface="Verdana" pitchFamily="34" charset="0"/>
              </a:rPr>
              <a:t>	int empno;</a:t>
            </a:r>
          </a:p>
          <a:p>
            <a:pPr eaLnBrk="0" hangingPunct="0">
              <a:spcBef>
                <a:spcPct val="50000"/>
              </a:spcBef>
            </a:pPr>
            <a:r>
              <a:rPr lang="en-US" b="1">
                <a:solidFill>
                  <a:srgbClr val="800000"/>
                </a:solidFill>
                <a:latin typeface="Verdana" pitchFamily="34" charset="0"/>
              </a:rPr>
              <a:t>public :</a:t>
            </a:r>
          </a:p>
          <a:p>
            <a:pPr eaLnBrk="0" hangingPunct="0">
              <a:spcBef>
                <a:spcPct val="50000"/>
              </a:spcBef>
            </a:pPr>
            <a:r>
              <a:rPr lang="en-US" b="1">
                <a:solidFill>
                  <a:srgbClr val="800000"/>
                </a:solidFill>
                <a:latin typeface="Verdana" pitchFamily="34" charset="0"/>
              </a:rPr>
              <a:t>	emp()         //Default constructor</a:t>
            </a:r>
          </a:p>
          <a:p>
            <a:pPr eaLnBrk="0" hangingPunct="0">
              <a:spcBef>
                <a:spcPct val="50000"/>
              </a:spcBef>
            </a:pPr>
            <a:r>
              <a:rPr lang="en-US" b="1">
                <a:solidFill>
                  <a:srgbClr val="800000"/>
                </a:solidFill>
                <a:latin typeface="Verdana" pitchFamily="34" charset="0"/>
              </a:rPr>
              <a:t>	{</a:t>
            </a:r>
          </a:p>
          <a:p>
            <a:pPr eaLnBrk="0" hangingPunct="0">
              <a:spcBef>
                <a:spcPct val="50000"/>
              </a:spcBef>
            </a:pPr>
            <a:r>
              <a:rPr lang="en-US" b="1">
                <a:solidFill>
                  <a:srgbClr val="800000"/>
                </a:solidFill>
                <a:latin typeface="Verdana" pitchFamily="34" charset="0"/>
              </a:rPr>
              <a:t>	empno=101;</a:t>
            </a:r>
          </a:p>
          <a:p>
            <a:pPr eaLnBrk="0" hangingPunct="0">
              <a:spcBef>
                <a:spcPct val="50000"/>
              </a:spcBef>
            </a:pPr>
            <a:r>
              <a:rPr lang="en-US" b="1">
                <a:solidFill>
                  <a:srgbClr val="800000"/>
                </a:solidFill>
                <a:latin typeface="Verdana" pitchFamily="34" charset="0"/>
              </a:rPr>
              <a:t>	}</a:t>
            </a:r>
          </a:p>
        </p:txBody>
      </p:sp>
    </p:spTree>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ChangeArrowheads="1"/>
          </p:cNvSpPr>
          <p:nvPr/>
        </p:nvSpPr>
        <p:spPr bwMode="auto">
          <a:xfrm>
            <a:off x="457200" y="2590800"/>
            <a:ext cx="1371600" cy="685800"/>
          </a:xfrm>
          <a:prstGeom prst="rect">
            <a:avLst/>
          </a:prstGeom>
          <a:gradFill rotWithShape="0">
            <a:gsLst>
              <a:gs pos="0">
                <a:srgbClr val="FF99CC"/>
              </a:gs>
              <a:gs pos="100000">
                <a:srgbClr val="76475E"/>
              </a:gs>
            </a:gsLst>
            <a:lin ang="2700000" scaled="1"/>
          </a:gradFill>
          <a:ln w="9525">
            <a:solidFill>
              <a:schemeClr val="tx1"/>
            </a:solidFill>
            <a:miter lim="800000"/>
            <a:headEnd/>
            <a:tailEnd/>
          </a:ln>
        </p:spPr>
        <p:txBody>
          <a:bodyPr wrap="none" anchor="ctr"/>
          <a:lstStyle/>
          <a:p>
            <a:endParaRPr lang="en-US"/>
          </a:p>
        </p:txBody>
      </p:sp>
      <p:sp>
        <p:nvSpPr>
          <p:cNvPr id="7171" name="Rectangle 3"/>
          <p:cNvSpPr>
            <a:spLocks noChangeArrowheads="1"/>
          </p:cNvSpPr>
          <p:nvPr/>
        </p:nvSpPr>
        <p:spPr bwMode="auto">
          <a:xfrm>
            <a:off x="3124200" y="2590800"/>
            <a:ext cx="2286000" cy="685800"/>
          </a:xfrm>
          <a:prstGeom prst="rect">
            <a:avLst/>
          </a:prstGeom>
          <a:gradFill rotWithShape="0">
            <a:gsLst>
              <a:gs pos="0">
                <a:srgbClr val="FF99CC"/>
              </a:gs>
              <a:gs pos="100000">
                <a:srgbClr val="76475E"/>
              </a:gs>
            </a:gsLst>
            <a:lin ang="2700000" scaled="1"/>
          </a:gradFill>
          <a:ln w="9525">
            <a:solidFill>
              <a:schemeClr val="tx1"/>
            </a:solidFill>
            <a:miter lim="800000"/>
            <a:headEnd/>
            <a:tailEnd/>
          </a:ln>
        </p:spPr>
        <p:txBody>
          <a:bodyPr wrap="none" anchor="ctr"/>
          <a:lstStyle/>
          <a:p>
            <a:endParaRPr lang="en-US"/>
          </a:p>
        </p:txBody>
      </p:sp>
      <p:sp>
        <p:nvSpPr>
          <p:cNvPr id="7172" name="Text Box 4"/>
          <p:cNvSpPr txBox="1">
            <a:spLocks noChangeArrowheads="1"/>
          </p:cNvSpPr>
          <p:nvPr/>
        </p:nvSpPr>
        <p:spPr bwMode="auto">
          <a:xfrm>
            <a:off x="609600" y="2743200"/>
            <a:ext cx="1219200" cy="457200"/>
          </a:xfrm>
          <a:prstGeom prst="rect">
            <a:avLst/>
          </a:prstGeom>
          <a:noFill/>
          <a:ln w="9525">
            <a:noFill/>
            <a:miter lim="800000"/>
            <a:headEnd/>
            <a:tailEnd/>
          </a:ln>
        </p:spPr>
        <p:txBody>
          <a:bodyPr>
            <a:spAutoFit/>
          </a:bodyPr>
          <a:lstStyle/>
          <a:p>
            <a:pPr>
              <a:spcBef>
                <a:spcPct val="50000"/>
              </a:spcBef>
            </a:pPr>
            <a:r>
              <a:rPr lang="en-US" sz="2400" b="1">
                <a:solidFill>
                  <a:srgbClr val="000099"/>
                </a:solidFill>
                <a:latin typeface="Times New Roman" pitchFamily="18" charset="0"/>
              </a:rPr>
              <a:t>C++</a:t>
            </a:r>
          </a:p>
        </p:txBody>
      </p:sp>
      <p:sp>
        <p:nvSpPr>
          <p:cNvPr id="7173" name="Text Box 5"/>
          <p:cNvSpPr txBox="1">
            <a:spLocks noChangeArrowheads="1"/>
          </p:cNvSpPr>
          <p:nvPr/>
        </p:nvSpPr>
        <p:spPr bwMode="auto">
          <a:xfrm>
            <a:off x="3200400" y="2514600"/>
            <a:ext cx="2286000" cy="822325"/>
          </a:xfrm>
          <a:prstGeom prst="rect">
            <a:avLst/>
          </a:prstGeom>
          <a:noFill/>
          <a:ln w="9525">
            <a:noFill/>
            <a:miter lim="800000"/>
            <a:headEnd/>
            <a:tailEnd/>
          </a:ln>
        </p:spPr>
        <p:txBody>
          <a:bodyPr>
            <a:spAutoFit/>
          </a:bodyPr>
          <a:lstStyle/>
          <a:p>
            <a:pPr>
              <a:spcBef>
                <a:spcPct val="50000"/>
              </a:spcBef>
            </a:pPr>
            <a:r>
              <a:rPr lang="en-US" sz="2400" b="1">
                <a:solidFill>
                  <a:srgbClr val="000099"/>
                </a:solidFill>
                <a:latin typeface="Times New Roman" pitchFamily="18" charset="0"/>
              </a:rPr>
              <a:t>Constructor for the class</a:t>
            </a:r>
          </a:p>
        </p:txBody>
      </p:sp>
      <p:sp>
        <p:nvSpPr>
          <p:cNvPr id="7174" name="AutoShape 6"/>
          <p:cNvSpPr>
            <a:spLocks noChangeArrowheads="1"/>
          </p:cNvSpPr>
          <p:nvPr/>
        </p:nvSpPr>
        <p:spPr bwMode="auto">
          <a:xfrm>
            <a:off x="6858000" y="2286000"/>
            <a:ext cx="1371600" cy="1219200"/>
          </a:xfrm>
          <a:prstGeom prst="cube">
            <a:avLst>
              <a:gd name="adj" fmla="val 25000"/>
            </a:avLst>
          </a:prstGeom>
          <a:gradFill rotWithShape="0">
            <a:gsLst>
              <a:gs pos="0">
                <a:srgbClr val="00FFFF"/>
              </a:gs>
              <a:gs pos="100000">
                <a:srgbClr val="007676"/>
              </a:gs>
            </a:gsLst>
            <a:lin ang="2700000" scaled="1"/>
          </a:gradFill>
          <a:ln w="9525">
            <a:solidFill>
              <a:schemeClr val="tx1"/>
            </a:solidFill>
            <a:miter lim="800000"/>
            <a:headEnd/>
            <a:tailEnd/>
          </a:ln>
        </p:spPr>
        <p:txBody>
          <a:bodyPr wrap="none" anchor="ctr"/>
          <a:lstStyle/>
          <a:p>
            <a:endParaRPr lang="en-US"/>
          </a:p>
        </p:txBody>
      </p:sp>
      <p:sp>
        <p:nvSpPr>
          <p:cNvPr id="7175" name="Text Box 7"/>
          <p:cNvSpPr txBox="1">
            <a:spLocks noChangeArrowheads="1"/>
          </p:cNvSpPr>
          <p:nvPr/>
        </p:nvSpPr>
        <p:spPr bwMode="auto">
          <a:xfrm>
            <a:off x="6934200" y="2819400"/>
            <a:ext cx="1066800" cy="457200"/>
          </a:xfrm>
          <a:prstGeom prst="rect">
            <a:avLst/>
          </a:prstGeom>
          <a:noFill/>
          <a:ln w="9525">
            <a:noFill/>
            <a:miter lim="800000"/>
            <a:headEnd/>
            <a:tailEnd/>
          </a:ln>
        </p:spPr>
        <p:txBody>
          <a:bodyPr>
            <a:spAutoFit/>
          </a:bodyPr>
          <a:lstStyle/>
          <a:p>
            <a:pPr>
              <a:spcBef>
                <a:spcPct val="50000"/>
              </a:spcBef>
            </a:pPr>
            <a:r>
              <a:rPr lang="en-US" sz="2400" b="1">
                <a:solidFill>
                  <a:srgbClr val="000099"/>
                </a:solidFill>
                <a:latin typeface="Times New Roman" pitchFamily="18" charset="0"/>
              </a:rPr>
              <a:t>Object</a:t>
            </a:r>
          </a:p>
        </p:txBody>
      </p:sp>
      <p:sp>
        <p:nvSpPr>
          <p:cNvPr id="7176" name="AutoShape 8"/>
          <p:cNvSpPr>
            <a:spLocks noChangeArrowheads="1"/>
          </p:cNvSpPr>
          <p:nvPr/>
        </p:nvSpPr>
        <p:spPr bwMode="auto">
          <a:xfrm>
            <a:off x="2057400" y="2819400"/>
            <a:ext cx="762000" cy="304800"/>
          </a:xfrm>
          <a:prstGeom prst="rightArrow">
            <a:avLst>
              <a:gd name="adj1" fmla="val 50000"/>
              <a:gd name="adj2" fmla="val 62500"/>
            </a:avLst>
          </a:prstGeom>
          <a:solidFill>
            <a:srgbClr val="FFCC99"/>
          </a:solidFill>
          <a:ln w="9525">
            <a:solidFill>
              <a:schemeClr val="tx1"/>
            </a:solidFill>
            <a:miter lim="800000"/>
            <a:headEnd/>
            <a:tailEnd/>
          </a:ln>
        </p:spPr>
        <p:txBody>
          <a:bodyPr wrap="none" anchor="ctr"/>
          <a:lstStyle/>
          <a:p>
            <a:endParaRPr lang="en-US"/>
          </a:p>
        </p:txBody>
      </p:sp>
      <p:sp>
        <p:nvSpPr>
          <p:cNvPr id="7177" name="AutoShape 9"/>
          <p:cNvSpPr>
            <a:spLocks noChangeArrowheads="1"/>
          </p:cNvSpPr>
          <p:nvPr/>
        </p:nvSpPr>
        <p:spPr bwMode="auto">
          <a:xfrm>
            <a:off x="5715000" y="2819400"/>
            <a:ext cx="762000" cy="304800"/>
          </a:xfrm>
          <a:prstGeom prst="rightArrow">
            <a:avLst>
              <a:gd name="adj1" fmla="val 50000"/>
              <a:gd name="adj2" fmla="val 62500"/>
            </a:avLst>
          </a:prstGeom>
          <a:solidFill>
            <a:srgbClr val="FFCC99"/>
          </a:solidFill>
          <a:ln w="9525">
            <a:solidFill>
              <a:schemeClr val="tx1"/>
            </a:solidFill>
            <a:miter lim="800000"/>
            <a:headEnd/>
            <a:tailEnd/>
          </a:ln>
        </p:spPr>
        <p:txBody>
          <a:bodyPr wrap="none" anchor="ctr"/>
          <a:lstStyle/>
          <a:p>
            <a:endParaRPr lang="en-US"/>
          </a:p>
        </p:txBody>
      </p:sp>
      <p:sp>
        <p:nvSpPr>
          <p:cNvPr id="7178" name="WordArt 10"/>
          <p:cNvSpPr>
            <a:spLocks noChangeArrowheads="1" noChangeShapeType="1" noTextEdit="1"/>
          </p:cNvSpPr>
          <p:nvPr/>
        </p:nvSpPr>
        <p:spPr bwMode="auto">
          <a:xfrm>
            <a:off x="1828800" y="762000"/>
            <a:ext cx="5086350" cy="647700"/>
          </a:xfrm>
          <a:prstGeom prst="rect">
            <a:avLst/>
          </a:prstGeom>
        </p:spPr>
        <p:txBody>
          <a:bodyPr wrap="none" fromWordArt="1">
            <a:prstTxWarp prst="textPlain">
              <a:avLst>
                <a:gd name="adj" fmla="val 50000"/>
              </a:avLst>
            </a:prstTxWarp>
          </a:bodyPr>
          <a:lstStyle/>
          <a:p>
            <a:pPr algn="ctr"/>
            <a:r>
              <a:rPr lang="en-IN" sz="3600" b="1"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a:rPr>
              <a:t>Default Constructor</a:t>
            </a:r>
          </a:p>
        </p:txBody>
      </p:sp>
    </p:spTree>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AutoShape 2"/>
          <p:cNvSpPr>
            <a:spLocks noChangeArrowheads="1"/>
          </p:cNvSpPr>
          <p:nvPr/>
        </p:nvSpPr>
        <p:spPr bwMode="auto">
          <a:xfrm>
            <a:off x="914400" y="228600"/>
            <a:ext cx="7391400" cy="990600"/>
          </a:xfrm>
          <a:prstGeom prst="foldedCorner">
            <a:avLst>
              <a:gd name="adj" fmla="val 13588"/>
            </a:avLst>
          </a:prstGeom>
          <a:noFill/>
          <a:ln w="28575">
            <a:solidFill>
              <a:srgbClr val="800000"/>
            </a:solidFill>
            <a:round/>
            <a:headEnd/>
            <a:tailEnd/>
          </a:ln>
        </p:spPr>
        <p:txBody>
          <a:bodyPr wrap="none" anchor="ctr"/>
          <a:lstStyle/>
          <a:p>
            <a:endParaRPr lang="en-US"/>
          </a:p>
        </p:txBody>
      </p:sp>
      <p:sp>
        <p:nvSpPr>
          <p:cNvPr id="10243" name="Rectangle 3"/>
          <p:cNvSpPr>
            <a:spLocks noRot="1" noChangeArrowheads="1"/>
          </p:cNvSpPr>
          <p:nvPr/>
        </p:nvSpPr>
        <p:spPr bwMode="auto">
          <a:xfrm>
            <a:off x="533400" y="152400"/>
            <a:ext cx="8081963" cy="1066800"/>
          </a:xfrm>
          <a:prstGeom prst="rect">
            <a:avLst/>
          </a:prstGeom>
          <a:noFill/>
          <a:ln w="9525">
            <a:noFill/>
            <a:miter lim="800000"/>
            <a:headEnd/>
            <a:tailEnd/>
          </a:ln>
        </p:spPr>
        <p:txBody>
          <a:bodyPr lIns="98225" tIns="49112" rIns="98225" bIns="49112" anchor="ctr"/>
          <a:lstStyle/>
          <a:p>
            <a:pPr algn="ctr"/>
            <a:r>
              <a:rPr lang="en-US" sz="3900" b="1">
                <a:solidFill>
                  <a:srgbClr val="800000"/>
                </a:solidFill>
              </a:rPr>
              <a:t>DEFAULT CONSTRUCTOR</a:t>
            </a:r>
            <a:endParaRPr lang="en-US" sz="4000">
              <a:solidFill>
                <a:srgbClr val="800000"/>
              </a:solidFill>
            </a:endParaRPr>
          </a:p>
        </p:txBody>
      </p:sp>
      <p:sp>
        <p:nvSpPr>
          <p:cNvPr id="10244" name="Text Box 4"/>
          <p:cNvSpPr txBox="1">
            <a:spLocks noChangeArrowheads="1"/>
          </p:cNvSpPr>
          <p:nvPr/>
        </p:nvSpPr>
        <p:spPr bwMode="auto">
          <a:xfrm>
            <a:off x="152400" y="1371600"/>
            <a:ext cx="4038600" cy="5214938"/>
          </a:xfrm>
          <a:prstGeom prst="rect">
            <a:avLst/>
          </a:prstGeom>
          <a:noFill/>
          <a:ln w="9525">
            <a:solidFill>
              <a:srgbClr val="0000FF"/>
            </a:solidFill>
            <a:miter lim="800000"/>
            <a:headEnd/>
            <a:tailEnd/>
          </a:ln>
        </p:spPr>
        <p:txBody>
          <a:bodyPr lIns="91437" tIns="45719" rIns="91437" bIns="45719">
            <a:spAutoFit/>
          </a:bodyPr>
          <a:lstStyle/>
          <a:p>
            <a:pPr>
              <a:spcBef>
                <a:spcPct val="50000"/>
              </a:spcBef>
            </a:pPr>
            <a:r>
              <a:rPr lang="en-US" sz="2400" b="1">
                <a:solidFill>
                  <a:srgbClr val="800000"/>
                </a:solidFill>
                <a:latin typeface="Times New Roman" pitchFamily="18" charset="0"/>
                <a:ea typeface="MS Mincho" pitchFamily="49" charset="-128"/>
              </a:rPr>
              <a:t>#include&lt;iostream.h&gt;</a:t>
            </a:r>
            <a:endParaRPr lang="en-US" sz="2400" b="1">
              <a:solidFill>
                <a:srgbClr val="800000"/>
              </a:solidFill>
              <a:latin typeface="Times New Roman" pitchFamily="18" charset="0"/>
              <a:cs typeface="Times New Roman" pitchFamily="18" charset="0"/>
            </a:endParaRPr>
          </a:p>
          <a:p>
            <a:pPr>
              <a:spcBef>
                <a:spcPct val="50000"/>
              </a:spcBef>
            </a:pPr>
            <a:r>
              <a:rPr lang="en-US" sz="2400" b="1">
                <a:solidFill>
                  <a:srgbClr val="800000"/>
                </a:solidFill>
                <a:latin typeface="Times New Roman" pitchFamily="18" charset="0"/>
                <a:ea typeface="MS Mincho" pitchFamily="49" charset="-128"/>
              </a:rPr>
              <a:t>#include&lt;conio.h&gt;</a:t>
            </a:r>
            <a:endParaRPr lang="en-US" sz="2400" b="1">
              <a:solidFill>
                <a:srgbClr val="800000"/>
              </a:solidFill>
              <a:latin typeface="Times New Roman" pitchFamily="18" charset="0"/>
              <a:cs typeface="Times New Roman" pitchFamily="18" charset="0"/>
            </a:endParaRPr>
          </a:p>
          <a:p>
            <a:r>
              <a:rPr lang="en-US" sz="2400" b="1">
                <a:solidFill>
                  <a:srgbClr val="800000"/>
                </a:solidFill>
                <a:latin typeface="Times New Roman" pitchFamily="18" charset="0"/>
                <a:ea typeface="MS Mincho" pitchFamily="49" charset="-128"/>
              </a:rPr>
              <a:t>class exam {</a:t>
            </a:r>
            <a:endParaRPr lang="en-US" sz="2400" b="1">
              <a:solidFill>
                <a:srgbClr val="800000"/>
              </a:solidFill>
              <a:latin typeface="Times New Roman" pitchFamily="18" charset="0"/>
              <a:cs typeface="Times New Roman" pitchFamily="18" charset="0"/>
            </a:endParaRPr>
          </a:p>
          <a:p>
            <a:r>
              <a:rPr lang="en-US" sz="2400" b="1">
                <a:solidFill>
                  <a:srgbClr val="800000"/>
                </a:solidFill>
                <a:latin typeface="Times New Roman" pitchFamily="18" charset="0"/>
                <a:ea typeface="MS Mincho" pitchFamily="49" charset="-128"/>
              </a:rPr>
              <a:t>private:</a:t>
            </a:r>
            <a:endParaRPr lang="en-US" sz="2400" b="1">
              <a:solidFill>
                <a:srgbClr val="800000"/>
              </a:solidFill>
              <a:latin typeface="Times New Roman" pitchFamily="18" charset="0"/>
              <a:cs typeface="Times New Roman" pitchFamily="18" charset="0"/>
            </a:endParaRPr>
          </a:p>
          <a:p>
            <a:r>
              <a:rPr lang="en-US" sz="2400" b="1">
                <a:solidFill>
                  <a:srgbClr val="800000"/>
                </a:solidFill>
                <a:latin typeface="Times New Roman" pitchFamily="18" charset="0"/>
                <a:ea typeface="MS Mincho" pitchFamily="49" charset="-128"/>
              </a:rPr>
              <a:t>       int sno,mark1,mark2;</a:t>
            </a:r>
            <a:endParaRPr lang="en-US" sz="2400" b="1">
              <a:solidFill>
                <a:srgbClr val="800000"/>
              </a:solidFill>
              <a:latin typeface="Times New Roman" pitchFamily="18" charset="0"/>
              <a:cs typeface="Times New Roman" pitchFamily="18" charset="0"/>
            </a:endParaRPr>
          </a:p>
          <a:p>
            <a:r>
              <a:rPr lang="en-US" sz="2400" b="1">
                <a:solidFill>
                  <a:srgbClr val="800000"/>
                </a:solidFill>
                <a:latin typeface="Times New Roman" pitchFamily="18" charset="0"/>
                <a:ea typeface="MS Mincho" pitchFamily="49" charset="-128"/>
              </a:rPr>
              <a:t>public:</a:t>
            </a:r>
            <a:endParaRPr lang="en-US" sz="2400" b="1">
              <a:solidFill>
                <a:srgbClr val="800000"/>
              </a:solidFill>
              <a:latin typeface="Times New Roman" pitchFamily="18" charset="0"/>
              <a:cs typeface="Times New Roman" pitchFamily="18" charset="0"/>
            </a:endParaRPr>
          </a:p>
          <a:p>
            <a:r>
              <a:rPr lang="en-US" sz="2400" b="1">
                <a:solidFill>
                  <a:srgbClr val="800000"/>
                </a:solidFill>
                <a:latin typeface="Times New Roman" pitchFamily="18" charset="0"/>
                <a:ea typeface="MS Mincho" pitchFamily="49" charset="-128"/>
              </a:rPr>
              <a:t>     exam( ) {</a:t>
            </a:r>
            <a:endParaRPr lang="en-US" sz="2400" b="1">
              <a:solidFill>
                <a:srgbClr val="800000"/>
              </a:solidFill>
              <a:latin typeface="Times New Roman" pitchFamily="18" charset="0"/>
              <a:cs typeface="Times New Roman" pitchFamily="18" charset="0"/>
            </a:endParaRPr>
          </a:p>
          <a:p>
            <a:r>
              <a:rPr lang="en-US" sz="2400" b="1">
                <a:solidFill>
                  <a:srgbClr val="800000"/>
                </a:solidFill>
                <a:latin typeface="Times New Roman" pitchFamily="18" charset="0"/>
                <a:ea typeface="MS Mincho" pitchFamily="49" charset="-128"/>
              </a:rPr>
              <a:t>  </a:t>
            </a:r>
            <a:r>
              <a:rPr lang="en-US" sz="2200" b="1">
                <a:solidFill>
                  <a:srgbClr val="800000"/>
                </a:solidFill>
                <a:latin typeface="Times New Roman" pitchFamily="18" charset="0"/>
                <a:ea typeface="MS Mincho" pitchFamily="49" charset="-128"/>
              </a:rPr>
              <a:t>sno = mark1 = mark2 =100;</a:t>
            </a:r>
          </a:p>
          <a:p>
            <a:r>
              <a:rPr lang="en-US" sz="2400" b="1">
                <a:solidFill>
                  <a:srgbClr val="800000"/>
                </a:solidFill>
                <a:latin typeface="Times New Roman" pitchFamily="18" charset="0"/>
                <a:ea typeface="MS Mincho" pitchFamily="49" charset="-128"/>
              </a:rPr>
              <a:t>     }</a:t>
            </a:r>
          </a:p>
          <a:p>
            <a:pPr eaLnBrk="0" hangingPunct="0"/>
            <a:r>
              <a:rPr lang="en-US" sz="2400" b="1">
                <a:solidFill>
                  <a:srgbClr val="800000"/>
                </a:solidFill>
                <a:latin typeface="Times New Roman" pitchFamily="18" charset="0"/>
              </a:rPr>
              <a:t>void showdata() </a:t>
            </a:r>
          </a:p>
          <a:p>
            <a:pPr eaLnBrk="0" hangingPunct="0"/>
            <a:r>
              <a:rPr lang="en-US" sz="2400" b="1">
                <a:solidFill>
                  <a:srgbClr val="800000"/>
                </a:solidFill>
                <a:latin typeface="Times New Roman" pitchFamily="18" charset="0"/>
              </a:rPr>
              <a:t>{</a:t>
            </a:r>
          </a:p>
          <a:p>
            <a:pPr eaLnBrk="0" hangingPunct="0"/>
            <a:r>
              <a:rPr lang="en-US" sz="2000" b="1">
                <a:solidFill>
                  <a:srgbClr val="800000"/>
                </a:solidFill>
                <a:latin typeface="Times New Roman" pitchFamily="18" charset="0"/>
              </a:rPr>
              <a:t>cout&lt;&lt;"Sno"&lt;&lt;sno &lt;&lt;"Mark1 “  &lt;&lt;mark1&lt;&lt;"Mark2“&lt;&lt;mark2 ;</a:t>
            </a:r>
          </a:p>
          <a:p>
            <a:pPr eaLnBrk="0" hangingPunct="0"/>
            <a:r>
              <a:rPr lang="en-US" sz="2000" b="1">
                <a:solidFill>
                  <a:srgbClr val="800000"/>
                </a:solidFill>
                <a:latin typeface="Times New Roman" pitchFamily="18" charset="0"/>
              </a:rPr>
              <a:t>}</a:t>
            </a:r>
            <a:endParaRPr lang="en-US" sz="2000" b="1">
              <a:solidFill>
                <a:srgbClr val="800000"/>
              </a:solidFill>
              <a:latin typeface="Times New Roman" pitchFamily="18" charset="0"/>
              <a:cs typeface="Times New Roman" pitchFamily="18" charset="0"/>
            </a:endParaRPr>
          </a:p>
        </p:txBody>
      </p:sp>
      <p:sp>
        <p:nvSpPr>
          <p:cNvPr id="10245" name="Rectangle 5"/>
          <p:cNvSpPr>
            <a:spLocks noChangeArrowheads="1"/>
          </p:cNvSpPr>
          <p:nvPr/>
        </p:nvSpPr>
        <p:spPr bwMode="auto">
          <a:xfrm>
            <a:off x="4295775" y="1295400"/>
            <a:ext cx="4086225" cy="5632450"/>
          </a:xfrm>
          <a:prstGeom prst="rect">
            <a:avLst/>
          </a:prstGeom>
          <a:noFill/>
          <a:ln w="9525">
            <a:solidFill>
              <a:srgbClr val="0000FF"/>
            </a:solidFill>
            <a:miter lim="800000"/>
            <a:headEnd/>
            <a:tailEnd/>
          </a:ln>
        </p:spPr>
        <p:txBody>
          <a:bodyPr>
            <a:spAutoFit/>
          </a:bodyPr>
          <a:lstStyle/>
          <a:p>
            <a:pPr eaLnBrk="0" hangingPunct="0"/>
            <a:r>
              <a:rPr lang="en-US" sz="2400" b="1">
                <a:solidFill>
                  <a:srgbClr val="800000"/>
                </a:solidFill>
                <a:latin typeface="Times New Roman" pitchFamily="18" charset="0"/>
              </a:rPr>
              <a:t>exam(int a,int m1,int m2)         </a:t>
            </a:r>
          </a:p>
          <a:p>
            <a:pPr eaLnBrk="0" hangingPunct="0"/>
            <a:r>
              <a:rPr lang="en-US" sz="2400" b="1">
                <a:solidFill>
                  <a:srgbClr val="800000"/>
                </a:solidFill>
                <a:latin typeface="Times New Roman" pitchFamily="18" charset="0"/>
              </a:rPr>
              <a:t>{</a:t>
            </a:r>
          </a:p>
          <a:p>
            <a:pPr eaLnBrk="0" hangingPunct="0"/>
            <a:r>
              <a:rPr lang="en-US" sz="2400" b="1">
                <a:solidFill>
                  <a:srgbClr val="800000"/>
                </a:solidFill>
                <a:latin typeface="Times New Roman" pitchFamily="18" charset="0"/>
              </a:rPr>
              <a:t>sno=a;</a:t>
            </a:r>
          </a:p>
          <a:p>
            <a:pPr eaLnBrk="0" hangingPunct="0"/>
            <a:r>
              <a:rPr lang="en-US" sz="2400" b="1">
                <a:solidFill>
                  <a:srgbClr val="800000"/>
                </a:solidFill>
                <a:latin typeface="Times New Roman" pitchFamily="18" charset="0"/>
              </a:rPr>
              <a:t>mark1=m1;</a:t>
            </a:r>
          </a:p>
          <a:p>
            <a:pPr eaLnBrk="0" hangingPunct="0"/>
            <a:r>
              <a:rPr lang="en-US" sz="2400" b="1">
                <a:solidFill>
                  <a:srgbClr val="800000"/>
                </a:solidFill>
                <a:latin typeface="Times New Roman" pitchFamily="18" charset="0"/>
              </a:rPr>
              <a:t>mark2=m2;</a:t>
            </a:r>
          </a:p>
          <a:p>
            <a:pPr eaLnBrk="0" hangingPunct="0"/>
            <a:r>
              <a:rPr lang="en-US" sz="2400" b="1">
                <a:solidFill>
                  <a:srgbClr val="800000"/>
                </a:solidFill>
                <a:latin typeface="Times New Roman" pitchFamily="18" charset="0"/>
              </a:rPr>
              <a:t>}};</a:t>
            </a:r>
          </a:p>
          <a:p>
            <a:pPr eaLnBrk="0" hangingPunct="0"/>
            <a:r>
              <a:rPr lang="en-US" sz="2400" b="1">
                <a:solidFill>
                  <a:srgbClr val="990000"/>
                </a:solidFill>
                <a:latin typeface="Times New Roman" pitchFamily="18" charset="0"/>
              </a:rPr>
              <a:t>void main()</a:t>
            </a:r>
          </a:p>
          <a:p>
            <a:pPr eaLnBrk="0" hangingPunct="0"/>
            <a:r>
              <a:rPr lang="en-US" sz="2400" b="1">
                <a:solidFill>
                  <a:srgbClr val="990000"/>
                </a:solidFill>
                <a:latin typeface="Times New Roman" pitchFamily="18" charset="0"/>
              </a:rPr>
              <a:t>{</a:t>
            </a:r>
          </a:p>
          <a:p>
            <a:pPr eaLnBrk="0" hangingPunct="0"/>
            <a:r>
              <a:rPr lang="en-US" sz="2400" b="1">
                <a:solidFill>
                  <a:srgbClr val="990000"/>
                </a:solidFill>
                <a:latin typeface="Times New Roman" pitchFamily="18" charset="0"/>
              </a:rPr>
              <a:t> exam e;</a:t>
            </a:r>
          </a:p>
          <a:p>
            <a:pPr eaLnBrk="0" hangingPunct="0"/>
            <a:r>
              <a:rPr lang="en-US" sz="2400" b="1">
                <a:solidFill>
                  <a:srgbClr val="990000"/>
                </a:solidFill>
                <a:latin typeface="Times New Roman" pitchFamily="18" charset="0"/>
              </a:rPr>
              <a:t>exam e1(10,60,70);</a:t>
            </a:r>
          </a:p>
          <a:p>
            <a:pPr eaLnBrk="0" hangingPunct="0"/>
            <a:r>
              <a:rPr lang="en-US" sz="2400" b="1">
                <a:solidFill>
                  <a:srgbClr val="990000"/>
                </a:solidFill>
                <a:latin typeface="Times New Roman" pitchFamily="18" charset="0"/>
              </a:rPr>
              <a:t>clrscr();</a:t>
            </a:r>
          </a:p>
          <a:p>
            <a:pPr eaLnBrk="0" hangingPunct="0"/>
            <a:r>
              <a:rPr lang="en-US" sz="2400" b="1">
                <a:solidFill>
                  <a:srgbClr val="990000"/>
                </a:solidFill>
                <a:latin typeface="Times New Roman" pitchFamily="18" charset="0"/>
              </a:rPr>
              <a:t>e.showdata();</a:t>
            </a:r>
          </a:p>
          <a:p>
            <a:pPr eaLnBrk="0" hangingPunct="0"/>
            <a:r>
              <a:rPr lang="en-US" sz="2400" b="1">
                <a:solidFill>
                  <a:srgbClr val="990000"/>
                </a:solidFill>
                <a:latin typeface="Times New Roman" pitchFamily="18" charset="0"/>
              </a:rPr>
              <a:t>e1.showdata();</a:t>
            </a:r>
          </a:p>
          <a:p>
            <a:pPr eaLnBrk="0" hangingPunct="0"/>
            <a:r>
              <a:rPr lang="en-US" sz="2400" b="1">
                <a:solidFill>
                  <a:srgbClr val="990000"/>
                </a:solidFill>
                <a:latin typeface="Times New Roman" pitchFamily="18" charset="0"/>
              </a:rPr>
              <a:t>getch();</a:t>
            </a:r>
          </a:p>
          <a:p>
            <a:pPr eaLnBrk="0" hangingPunct="0"/>
            <a:r>
              <a:rPr lang="en-US" sz="2400" b="1">
                <a:solidFill>
                  <a:srgbClr val="990000"/>
                </a:solidFill>
                <a:latin typeface="Times New Roman" pitchFamily="18" charset="0"/>
              </a:rPr>
              <a:t>}</a:t>
            </a:r>
            <a:r>
              <a:rPr lang="en-US" b="1">
                <a:latin typeface="Verdana" pitchFamily="34"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0243"/>
                                        </p:tgtEl>
                                        <p:attrNameLst>
                                          <p:attrName>style.visibility</p:attrName>
                                        </p:attrNameLst>
                                      </p:cBhvr>
                                      <p:to>
                                        <p:strVal val="visible"/>
                                      </p:to>
                                    </p:set>
                                    <p:anim calcmode="lin" valueType="num">
                                      <p:cBhvr additive="base">
                                        <p:cTn id="7" dur="500" fill="hold"/>
                                        <p:tgtEl>
                                          <p:spTgt spid="10243"/>
                                        </p:tgtEl>
                                        <p:attrNameLst>
                                          <p:attrName>ppt_x</p:attrName>
                                        </p:attrNameLst>
                                      </p:cBhvr>
                                      <p:tavLst>
                                        <p:tav tm="0">
                                          <p:val>
                                            <p:strVal val="0-#ppt_w/2"/>
                                          </p:val>
                                        </p:tav>
                                        <p:tav tm="100000">
                                          <p:val>
                                            <p:strVal val="#ppt_x"/>
                                          </p:val>
                                        </p:tav>
                                      </p:tavLst>
                                    </p:anim>
                                    <p:anim calcmode="lin" valueType="num">
                                      <p:cBhvr additive="base">
                                        <p:cTn id="8" dur="500" fill="hold"/>
                                        <p:tgtEl>
                                          <p:spTgt spid="10243"/>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0244"/>
                                        </p:tgtEl>
                                        <p:attrNameLst>
                                          <p:attrName>style.visibility</p:attrName>
                                        </p:attrNameLst>
                                      </p:cBhvr>
                                      <p:to>
                                        <p:strVal val="visible"/>
                                      </p:to>
                                    </p:set>
                                    <p:anim calcmode="lin" valueType="num">
                                      <p:cBhvr additive="base">
                                        <p:cTn id="11" dur="500" fill="hold"/>
                                        <p:tgtEl>
                                          <p:spTgt spid="10244"/>
                                        </p:tgtEl>
                                        <p:attrNameLst>
                                          <p:attrName>ppt_x</p:attrName>
                                        </p:attrNameLst>
                                      </p:cBhvr>
                                      <p:tavLst>
                                        <p:tav tm="0">
                                          <p:val>
                                            <p:strVal val="0-#ppt_w/2"/>
                                          </p:val>
                                        </p:tav>
                                        <p:tav tm="100000">
                                          <p:val>
                                            <p:strVal val="#ppt_x"/>
                                          </p:val>
                                        </p:tav>
                                      </p:tavLst>
                                    </p:anim>
                                    <p:anim calcmode="lin" valueType="num">
                                      <p:cBhvr additive="base">
                                        <p:cTn id="12" dur="500" fill="hold"/>
                                        <p:tgtEl>
                                          <p:spTgt spid="10244"/>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0245"/>
                                        </p:tgtEl>
                                        <p:attrNameLst>
                                          <p:attrName>style.visibility</p:attrName>
                                        </p:attrNameLst>
                                      </p:cBhvr>
                                      <p:to>
                                        <p:strVal val="visible"/>
                                      </p:to>
                                    </p:set>
                                    <p:anim calcmode="lin" valueType="num">
                                      <p:cBhvr additive="base">
                                        <p:cTn id="15" dur="500" fill="hold"/>
                                        <p:tgtEl>
                                          <p:spTgt spid="10245"/>
                                        </p:tgtEl>
                                        <p:attrNameLst>
                                          <p:attrName>ppt_x</p:attrName>
                                        </p:attrNameLst>
                                      </p:cBhvr>
                                      <p:tavLst>
                                        <p:tav tm="0">
                                          <p:val>
                                            <p:strVal val="0-#ppt_w/2"/>
                                          </p:val>
                                        </p:tav>
                                        <p:tav tm="100000">
                                          <p:val>
                                            <p:strVal val="#ppt_x"/>
                                          </p:val>
                                        </p:tav>
                                      </p:tavLst>
                                    </p:anim>
                                    <p:anim calcmode="lin" valueType="num">
                                      <p:cBhvr additive="base">
                                        <p:cTn id="16" dur="500" fill="hold"/>
                                        <p:tgtEl>
                                          <p:spTgt spid="1024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autoUpdateAnimBg="0"/>
      <p:bldP spid="10244" grpId="0" animBg="1" autoUpdateAnimBg="0"/>
      <p:bldP spid="10245" grpId="0" animBg="1"/>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WordArt 2"/>
          <p:cNvSpPr>
            <a:spLocks noChangeArrowheads="1" noChangeShapeType="1" noTextEdit="1"/>
          </p:cNvSpPr>
          <p:nvPr/>
        </p:nvSpPr>
        <p:spPr bwMode="auto">
          <a:xfrm>
            <a:off x="1828800" y="152400"/>
            <a:ext cx="5086350" cy="647700"/>
          </a:xfrm>
          <a:prstGeom prst="rect">
            <a:avLst/>
          </a:prstGeom>
        </p:spPr>
        <p:txBody>
          <a:bodyPr wrap="none" fromWordArt="1">
            <a:prstTxWarp prst="textPlain">
              <a:avLst>
                <a:gd name="adj" fmla="val 50000"/>
              </a:avLst>
            </a:prstTxWarp>
          </a:bodyPr>
          <a:lstStyle/>
          <a:p>
            <a:pPr algn="ctr"/>
            <a:r>
              <a:rPr lang="en-IN" sz="3600" b="1"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a:rPr>
              <a:t>Parameterized Constructor</a:t>
            </a:r>
          </a:p>
        </p:txBody>
      </p:sp>
      <p:sp>
        <p:nvSpPr>
          <p:cNvPr id="9219" name="Text Box 3"/>
          <p:cNvSpPr txBox="1">
            <a:spLocks noChangeArrowheads="1"/>
          </p:cNvSpPr>
          <p:nvPr/>
        </p:nvSpPr>
        <p:spPr bwMode="auto">
          <a:xfrm>
            <a:off x="228600" y="990600"/>
            <a:ext cx="8534400" cy="1371600"/>
          </a:xfrm>
          <a:prstGeom prst="rect">
            <a:avLst/>
          </a:prstGeom>
          <a:noFill/>
          <a:ln w="9525">
            <a:noFill/>
            <a:miter lim="800000"/>
            <a:headEnd/>
            <a:tailEnd/>
          </a:ln>
        </p:spPr>
        <p:txBody>
          <a:bodyPr>
            <a:spAutoFit/>
          </a:bodyPr>
          <a:lstStyle/>
          <a:p>
            <a:pPr algn="just" eaLnBrk="0" hangingPunct="0">
              <a:spcBef>
                <a:spcPct val="50000"/>
              </a:spcBef>
            </a:pPr>
            <a:r>
              <a:rPr lang="en-US" sz="2400" b="1">
                <a:solidFill>
                  <a:srgbClr val="000066"/>
                </a:solidFill>
              </a:rPr>
              <a:t>	</a:t>
            </a:r>
            <a:r>
              <a:rPr lang="en-US" sz="2000" b="1">
                <a:solidFill>
                  <a:srgbClr val="000066"/>
                </a:solidFill>
              </a:rPr>
              <a:t>Used to initialize the data members  of a class with different values when they are created. This is achieved by passing arguments to the constructor functions when the objects are created	</a:t>
            </a:r>
          </a:p>
        </p:txBody>
      </p:sp>
      <p:sp>
        <p:nvSpPr>
          <p:cNvPr id="9220" name="Text Box 4"/>
          <p:cNvSpPr txBox="1">
            <a:spLocks noChangeArrowheads="1"/>
          </p:cNvSpPr>
          <p:nvPr/>
        </p:nvSpPr>
        <p:spPr bwMode="auto">
          <a:xfrm>
            <a:off x="685800" y="2438400"/>
            <a:ext cx="7848600" cy="4181475"/>
          </a:xfrm>
          <a:prstGeom prst="rect">
            <a:avLst/>
          </a:prstGeom>
          <a:noFill/>
          <a:ln w="9525">
            <a:solidFill>
              <a:srgbClr val="CC0066"/>
            </a:solidFill>
            <a:miter lim="800000"/>
            <a:headEnd/>
            <a:tailEnd/>
          </a:ln>
        </p:spPr>
        <p:txBody>
          <a:bodyPr>
            <a:spAutoFit/>
          </a:bodyPr>
          <a:lstStyle/>
          <a:p>
            <a:pPr eaLnBrk="0" hangingPunct="0">
              <a:spcBef>
                <a:spcPct val="50000"/>
              </a:spcBef>
            </a:pPr>
            <a:r>
              <a:rPr lang="en-US" sz="2400" b="1" i="1" u="sng">
                <a:solidFill>
                  <a:srgbClr val="000066"/>
                </a:solidFill>
                <a:latin typeface="Verdana" pitchFamily="34" charset="0"/>
              </a:rPr>
              <a:t>For example:</a:t>
            </a:r>
          </a:p>
          <a:p>
            <a:pPr eaLnBrk="0" hangingPunct="0">
              <a:spcBef>
                <a:spcPct val="50000"/>
              </a:spcBef>
            </a:pPr>
            <a:r>
              <a:rPr lang="en-US" b="1">
                <a:solidFill>
                  <a:srgbClr val="000066"/>
                </a:solidFill>
                <a:latin typeface="Verdana" pitchFamily="34" charset="0"/>
              </a:rPr>
              <a:t>class emp</a:t>
            </a:r>
          </a:p>
          <a:p>
            <a:pPr eaLnBrk="0" hangingPunct="0">
              <a:spcBef>
                <a:spcPct val="50000"/>
              </a:spcBef>
            </a:pPr>
            <a:r>
              <a:rPr lang="en-US" b="1">
                <a:solidFill>
                  <a:srgbClr val="000066"/>
                </a:solidFill>
                <a:latin typeface="Verdana" pitchFamily="34" charset="0"/>
              </a:rPr>
              <a:t>{</a:t>
            </a:r>
          </a:p>
          <a:p>
            <a:pPr eaLnBrk="0" hangingPunct="0">
              <a:spcBef>
                <a:spcPct val="50000"/>
              </a:spcBef>
            </a:pPr>
            <a:r>
              <a:rPr lang="en-US" b="1">
                <a:solidFill>
                  <a:srgbClr val="000066"/>
                </a:solidFill>
                <a:latin typeface="Verdana" pitchFamily="34" charset="0"/>
              </a:rPr>
              <a:t>private :</a:t>
            </a:r>
          </a:p>
          <a:p>
            <a:pPr eaLnBrk="0" hangingPunct="0">
              <a:spcBef>
                <a:spcPct val="50000"/>
              </a:spcBef>
            </a:pPr>
            <a:r>
              <a:rPr lang="en-US" b="1">
                <a:solidFill>
                  <a:srgbClr val="000066"/>
                </a:solidFill>
                <a:latin typeface="Verdana" pitchFamily="34" charset="0"/>
              </a:rPr>
              <a:t>	int empno;</a:t>
            </a:r>
          </a:p>
          <a:p>
            <a:pPr eaLnBrk="0" hangingPunct="0">
              <a:spcBef>
                <a:spcPct val="50000"/>
              </a:spcBef>
            </a:pPr>
            <a:r>
              <a:rPr lang="en-US" b="1">
                <a:solidFill>
                  <a:srgbClr val="000066"/>
                </a:solidFill>
                <a:latin typeface="Verdana" pitchFamily="34" charset="0"/>
              </a:rPr>
              <a:t>public :</a:t>
            </a:r>
          </a:p>
          <a:p>
            <a:pPr eaLnBrk="0" hangingPunct="0">
              <a:spcBef>
                <a:spcPct val="50000"/>
              </a:spcBef>
            </a:pPr>
            <a:r>
              <a:rPr lang="en-US" b="1">
                <a:solidFill>
                  <a:srgbClr val="000066"/>
                </a:solidFill>
                <a:latin typeface="Verdana" pitchFamily="34" charset="0"/>
              </a:rPr>
              <a:t>	emp(int eno)         //Parameterized constructor</a:t>
            </a:r>
          </a:p>
          <a:p>
            <a:pPr eaLnBrk="0" hangingPunct="0">
              <a:spcBef>
                <a:spcPct val="50000"/>
              </a:spcBef>
            </a:pPr>
            <a:r>
              <a:rPr lang="en-US" b="1">
                <a:solidFill>
                  <a:srgbClr val="000066"/>
                </a:solidFill>
                <a:latin typeface="Verdana" pitchFamily="34" charset="0"/>
              </a:rPr>
              <a:t>	{</a:t>
            </a:r>
          </a:p>
          <a:p>
            <a:pPr eaLnBrk="0" hangingPunct="0">
              <a:spcBef>
                <a:spcPct val="50000"/>
              </a:spcBef>
            </a:pPr>
            <a:r>
              <a:rPr lang="en-US" b="1">
                <a:solidFill>
                  <a:srgbClr val="000066"/>
                </a:solidFill>
                <a:latin typeface="Verdana" pitchFamily="34" charset="0"/>
              </a:rPr>
              <a:t>	empno=eno;</a:t>
            </a:r>
          </a:p>
          <a:p>
            <a:pPr eaLnBrk="0" hangingPunct="0">
              <a:spcBef>
                <a:spcPct val="50000"/>
              </a:spcBef>
            </a:pPr>
            <a:r>
              <a:rPr lang="en-US" b="1">
                <a:solidFill>
                  <a:srgbClr val="000066"/>
                </a:solidFill>
                <a:latin typeface="Verdana" pitchFamily="34" charset="0"/>
              </a:rPr>
              <a:t>	}</a:t>
            </a:r>
          </a:p>
        </p:txBody>
      </p:sp>
    </p:spTree>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WordArt 2"/>
          <p:cNvSpPr>
            <a:spLocks noChangeArrowheads="1" noChangeShapeType="1" noTextEdit="1"/>
          </p:cNvSpPr>
          <p:nvPr/>
        </p:nvSpPr>
        <p:spPr bwMode="auto">
          <a:xfrm>
            <a:off x="1828800" y="152400"/>
            <a:ext cx="5086350" cy="647700"/>
          </a:xfrm>
          <a:prstGeom prst="rect">
            <a:avLst/>
          </a:prstGeom>
        </p:spPr>
        <p:txBody>
          <a:bodyPr wrap="none" fromWordArt="1">
            <a:prstTxWarp prst="textPlain">
              <a:avLst>
                <a:gd name="adj" fmla="val 50000"/>
              </a:avLst>
            </a:prstTxWarp>
          </a:bodyPr>
          <a:lstStyle/>
          <a:p>
            <a:pPr algn="ctr"/>
            <a:r>
              <a:rPr lang="en-IN" sz="3600" b="1"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a:rPr>
              <a:t>Overloaded Constructor</a:t>
            </a:r>
          </a:p>
        </p:txBody>
      </p:sp>
      <p:sp>
        <p:nvSpPr>
          <p:cNvPr id="10243" name="Text Box 3"/>
          <p:cNvSpPr txBox="1">
            <a:spLocks noChangeArrowheads="1"/>
          </p:cNvSpPr>
          <p:nvPr/>
        </p:nvSpPr>
        <p:spPr bwMode="auto">
          <a:xfrm>
            <a:off x="228600" y="990600"/>
            <a:ext cx="8534400" cy="762000"/>
          </a:xfrm>
          <a:prstGeom prst="rect">
            <a:avLst/>
          </a:prstGeom>
          <a:noFill/>
          <a:ln w="9525">
            <a:noFill/>
            <a:miter lim="800000"/>
            <a:headEnd/>
            <a:tailEnd/>
          </a:ln>
        </p:spPr>
        <p:txBody>
          <a:bodyPr>
            <a:spAutoFit/>
          </a:bodyPr>
          <a:lstStyle/>
          <a:p>
            <a:pPr algn="just" eaLnBrk="0" hangingPunct="0">
              <a:spcBef>
                <a:spcPct val="50000"/>
              </a:spcBef>
            </a:pPr>
            <a:r>
              <a:rPr lang="en-US" sz="2400" b="1">
                <a:solidFill>
                  <a:srgbClr val="000066"/>
                </a:solidFill>
              </a:rPr>
              <a:t>	</a:t>
            </a:r>
            <a:r>
              <a:rPr lang="en-US" sz="2000" b="1">
                <a:solidFill>
                  <a:srgbClr val="000066"/>
                </a:solidFill>
              </a:rPr>
              <a:t>It is possible to define more than one constructor function in a class. This is known as Constructor Overloading.</a:t>
            </a:r>
          </a:p>
        </p:txBody>
      </p:sp>
      <p:sp>
        <p:nvSpPr>
          <p:cNvPr id="10244" name="Text Box 4"/>
          <p:cNvSpPr txBox="1">
            <a:spLocks noChangeArrowheads="1"/>
          </p:cNvSpPr>
          <p:nvPr/>
        </p:nvSpPr>
        <p:spPr bwMode="auto">
          <a:xfrm>
            <a:off x="685800" y="1905000"/>
            <a:ext cx="7848600" cy="4368800"/>
          </a:xfrm>
          <a:prstGeom prst="rect">
            <a:avLst/>
          </a:prstGeom>
          <a:noFill/>
          <a:ln w="9525">
            <a:solidFill>
              <a:srgbClr val="CC0066"/>
            </a:solidFill>
            <a:miter lim="800000"/>
            <a:headEnd/>
            <a:tailEnd/>
          </a:ln>
        </p:spPr>
        <p:txBody>
          <a:bodyPr>
            <a:spAutoFit/>
          </a:bodyPr>
          <a:lstStyle/>
          <a:p>
            <a:pPr eaLnBrk="0" hangingPunct="0">
              <a:spcBef>
                <a:spcPct val="50000"/>
              </a:spcBef>
            </a:pPr>
            <a:r>
              <a:rPr lang="en-US" sz="2000" b="1">
                <a:solidFill>
                  <a:srgbClr val="000066"/>
                </a:solidFill>
                <a:latin typeface="Times New Roman" pitchFamily="18" charset="0"/>
              </a:rPr>
              <a:t>class emp{</a:t>
            </a:r>
          </a:p>
          <a:p>
            <a:pPr eaLnBrk="0" hangingPunct="0">
              <a:spcBef>
                <a:spcPct val="50000"/>
              </a:spcBef>
            </a:pPr>
            <a:r>
              <a:rPr lang="en-US" sz="2000" b="1">
                <a:solidFill>
                  <a:srgbClr val="000066"/>
                </a:solidFill>
                <a:latin typeface="Times New Roman" pitchFamily="18" charset="0"/>
              </a:rPr>
              <a:t>private :</a:t>
            </a:r>
          </a:p>
          <a:p>
            <a:pPr eaLnBrk="0" hangingPunct="0">
              <a:spcBef>
                <a:spcPct val="50000"/>
              </a:spcBef>
            </a:pPr>
            <a:r>
              <a:rPr lang="en-US" sz="2000" b="1">
                <a:solidFill>
                  <a:srgbClr val="000066"/>
                </a:solidFill>
                <a:latin typeface="Times New Roman" pitchFamily="18" charset="0"/>
              </a:rPr>
              <a:t>	int empno;</a:t>
            </a:r>
          </a:p>
          <a:p>
            <a:pPr eaLnBrk="0" hangingPunct="0">
              <a:spcBef>
                <a:spcPct val="50000"/>
              </a:spcBef>
            </a:pPr>
            <a:r>
              <a:rPr lang="en-US" sz="2000" b="1">
                <a:solidFill>
                  <a:srgbClr val="000066"/>
                </a:solidFill>
                <a:latin typeface="Times New Roman" pitchFamily="18" charset="0"/>
              </a:rPr>
              <a:t>	int x;</a:t>
            </a:r>
          </a:p>
          <a:p>
            <a:pPr eaLnBrk="0" hangingPunct="0">
              <a:spcBef>
                <a:spcPct val="50000"/>
              </a:spcBef>
            </a:pPr>
            <a:r>
              <a:rPr lang="en-US" sz="2000" b="1">
                <a:solidFill>
                  <a:srgbClr val="000066"/>
                </a:solidFill>
                <a:latin typeface="Times New Roman" pitchFamily="18" charset="0"/>
              </a:rPr>
              <a:t>public :</a:t>
            </a:r>
          </a:p>
          <a:p>
            <a:pPr eaLnBrk="0" hangingPunct="0">
              <a:spcBef>
                <a:spcPct val="50000"/>
              </a:spcBef>
            </a:pPr>
            <a:r>
              <a:rPr lang="en-US" sz="2000" b="1">
                <a:solidFill>
                  <a:srgbClr val="000066"/>
                </a:solidFill>
                <a:latin typeface="Times New Roman" pitchFamily="18" charset="0"/>
              </a:rPr>
              <a:t>	emp(int eno) {</a:t>
            </a:r>
          </a:p>
          <a:p>
            <a:pPr eaLnBrk="0" hangingPunct="0">
              <a:spcBef>
                <a:spcPct val="50000"/>
              </a:spcBef>
            </a:pPr>
            <a:r>
              <a:rPr lang="en-US" sz="2000" b="1">
                <a:solidFill>
                  <a:srgbClr val="000066"/>
                </a:solidFill>
                <a:latin typeface="Times New Roman" pitchFamily="18" charset="0"/>
              </a:rPr>
              <a:t>	empno=eno;}</a:t>
            </a:r>
          </a:p>
          <a:p>
            <a:pPr eaLnBrk="0" hangingPunct="0"/>
            <a:r>
              <a:rPr lang="en-US" sz="2000" b="1">
                <a:solidFill>
                  <a:srgbClr val="000066"/>
                </a:solidFill>
                <a:latin typeface="Times New Roman" pitchFamily="18" charset="0"/>
              </a:rPr>
              <a:t>	emp(int no,n) {</a:t>
            </a:r>
          </a:p>
          <a:p>
            <a:pPr eaLnBrk="0" hangingPunct="0"/>
            <a:r>
              <a:rPr lang="en-US" sz="2000" b="1">
                <a:solidFill>
                  <a:srgbClr val="000066"/>
                </a:solidFill>
                <a:latin typeface="Times New Roman" pitchFamily="18" charset="0"/>
              </a:rPr>
              <a:t>	empno=no;</a:t>
            </a:r>
          </a:p>
          <a:p>
            <a:pPr eaLnBrk="0" hangingPunct="0"/>
            <a:r>
              <a:rPr lang="en-US" sz="2000" b="1">
                <a:solidFill>
                  <a:srgbClr val="000066"/>
                </a:solidFill>
                <a:latin typeface="Times New Roman" pitchFamily="18" charset="0"/>
              </a:rPr>
              <a:t>	x=n;</a:t>
            </a:r>
          </a:p>
          <a:p>
            <a:pPr eaLnBrk="0" hangingPunct="0"/>
            <a:r>
              <a:rPr lang="en-US" sz="2000" b="1">
                <a:solidFill>
                  <a:srgbClr val="000066"/>
                </a:solidFill>
                <a:latin typeface="Times New Roman" pitchFamily="18" charset="0"/>
              </a:rPr>
              <a:t>	}</a:t>
            </a:r>
          </a:p>
        </p:txBody>
      </p:sp>
    </p:spTree>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Rot="1" noChangeArrowheads="1"/>
          </p:cNvSpPr>
          <p:nvPr/>
        </p:nvSpPr>
        <p:spPr bwMode="auto">
          <a:xfrm>
            <a:off x="228600" y="152400"/>
            <a:ext cx="8386763" cy="1066800"/>
          </a:xfrm>
          <a:prstGeom prst="rect">
            <a:avLst/>
          </a:prstGeom>
          <a:noFill/>
          <a:ln w="9525">
            <a:noFill/>
            <a:miter lim="800000"/>
            <a:headEnd/>
            <a:tailEnd/>
          </a:ln>
        </p:spPr>
        <p:txBody>
          <a:bodyPr lIns="98225" tIns="49112" rIns="98225" bIns="49112" anchor="ctr"/>
          <a:lstStyle/>
          <a:p>
            <a:pPr algn="ctr"/>
            <a:r>
              <a:rPr lang="en-US" sz="3900" b="1">
                <a:solidFill>
                  <a:srgbClr val="800000"/>
                </a:solidFill>
              </a:rPr>
              <a:t>OVERLOADED CONSTRUCTOR</a:t>
            </a:r>
            <a:endParaRPr lang="en-US" sz="4000">
              <a:solidFill>
                <a:srgbClr val="800000"/>
              </a:solidFill>
            </a:endParaRPr>
          </a:p>
        </p:txBody>
      </p:sp>
      <p:sp>
        <p:nvSpPr>
          <p:cNvPr id="13315" name="Text Box 3"/>
          <p:cNvSpPr txBox="1">
            <a:spLocks noChangeArrowheads="1"/>
          </p:cNvSpPr>
          <p:nvPr/>
        </p:nvSpPr>
        <p:spPr bwMode="auto">
          <a:xfrm>
            <a:off x="152400" y="990600"/>
            <a:ext cx="4724400" cy="5943600"/>
          </a:xfrm>
          <a:prstGeom prst="rect">
            <a:avLst/>
          </a:prstGeom>
          <a:noFill/>
          <a:ln w="9525">
            <a:solidFill>
              <a:srgbClr val="0000FF"/>
            </a:solidFill>
            <a:miter lim="800000"/>
            <a:headEnd/>
            <a:tailEnd/>
          </a:ln>
        </p:spPr>
        <p:txBody>
          <a:bodyPr lIns="91437" tIns="45719" rIns="91437" bIns="45719">
            <a:spAutoFit/>
          </a:bodyPr>
          <a:lstStyle/>
          <a:p>
            <a:pPr eaLnBrk="0" hangingPunct="0"/>
            <a:r>
              <a:rPr lang="en-US" sz="2400" b="1">
                <a:solidFill>
                  <a:srgbClr val="800000"/>
                </a:solidFill>
                <a:latin typeface="Times New Roman" pitchFamily="18" charset="0"/>
              </a:rPr>
              <a:t>#include&lt;iostream.h&gt;</a:t>
            </a:r>
          </a:p>
          <a:p>
            <a:pPr eaLnBrk="0" hangingPunct="0"/>
            <a:r>
              <a:rPr lang="en-US" sz="2400" b="1">
                <a:solidFill>
                  <a:srgbClr val="800000"/>
                </a:solidFill>
                <a:latin typeface="Times New Roman" pitchFamily="18" charset="0"/>
              </a:rPr>
              <a:t>class circle</a:t>
            </a:r>
          </a:p>
          <a:p>
            <a:pPr eaLnBrk="0" hangingPunct="0"/>
            <a:r>
              <a:rPr lang="en-US" sz="2400" b="1">
                <a:solidFill>
                  <a:srgbClr val="800000"/>
                </a:solidFill>
                <a:latin typeface="Times New Roman" pitchFamily="18" charset="0"/>
              </a:rPr>
              <a:t>{</a:t>
            </a:r>
          </a:p>
          <a:p>
            <a:pPr eaLnBrk="0" hangingPunct="0"/>
            <a:r>
              <a:rPr lang="en-US" sz="2400" b="1">
                <a:solidFill>
                  <a:srgbClr val="800000"/>
                </a:solidFill>
                <a:latin typeface="Times New Roman" pitchFamily="18" charset="0"/>
              </a:rPr>
              <a:t>private:</a:t>
            </a:r>
          </a:p>
          <a:p>
            <a:pPr eaLnBrk="0" hangingPunct="0"/>
            <a:r>
              <a:rPr lang="en-US" sz="2400" b="1">
                <a:solidFill>
                  <a:srgbClr val="800000"/>
                </a:solidFill>
                <a:latin typeface="Times New Roman" pitchFamily="18" charset="0"/>
              </a:rPr>
              <a:t>	int radius;</a:t>
            </a:r>
          </a:p>
          <a:p>
            <a:pPr eaLnBrk="0" hangingPunct="0"/>
            <a:r>
              <a:rPr lang="en-US" sz="2400" b="1">
                <a:solidFill>
                  <a:srgbClr val="800000"/>
                </a:solidFill>
                <a:latin typeface="Times New Roman" pitchFamily="18" charset="0"/>
              </a:rPr>
              <a:t>	float area;</a:t>
            </a:r>
          </a:p>
          <a:p>
            <a:pPr eaLnBrk="0" hangingPunct="0"/>
            <a:r>
              <a:rPr lang="en-US" sz="2400" b="1">
                <a:solidFill>
                  <a:srgbClr val="800000"/>
                </a:solidFill>
                <a:latin typeface="Times New Roman" pitchFamily="18" charset="0"/>
              </a:rPr>
              <a:t>	int b,h;</a:t>
            </a:r>
          </a:p>
          <a:p>
            <a:pPr eaLnBrk="0" hangingPunct="0"/>
            <a:r>
              <a:rPr lang="en-US" sz="2400" b="1">
                <a:solidFill>
                  <a:srgbClr val="800000"/>
                </a:solidFill>
                <a:latin typeface="Times New Roman" pitchFamily="18" charset="0"/>
              </a:rPr>
              <a:t>public:</a:t>
            </a:r>
          </a:p>
          <a:p>
            <a:pPr eaLnBrk="0" hangingPunct="0"/>
            <a:r>
              <a:rPr lang="en-US" sz="2400" b="1">
                <a:solidFill>
                  <a:srgbClr val="800000"/>
                </a:solidFill>
                <a:latin typeface="Times New Roman" pitchFamily="18" charset="0"/>
              </a:rPr>
              <a:t>circle(){</a:t>
            </a:r>
          </a:p>
          <a:p>
            <a:pPr eaLnBrk="0" hangingPunct="0"/>
            <a:r>
              <a:rPr lang="en-US" sz="2400" b="1">
                <a:solidFill>
                  <a:srgbClr val="800000"/>
                </a:solidFill>
                <a:latin typeface="Times New Roman" pitchFamily="18" charset="0"/>
              </a:rPr>
              <a:t>cout&lt;&lt;"Enter the radius "&lt;&lt;endl;</a:t>
            </a:r>
          </a:p>
          <a:p>
            <a:pPr eaLnBrk="0" hangingPunct="0"/>
            <a:r>
              <a:rPr lang="en-US" sz="2400" b="1">
                <a:solidFill>
                  <a:srgbClr val="800000"/>
                </a:solidFill>
                <a:latin typeface="Times New Roman" pitchFamily="18" charset="0"/>
              </a:rPr>
              <a:t>cin&gt;&gt;radius;</a:t>
            </a:r>
          </a:p>
          <a:p>
            <a:pPr eaLnBrk="0" hangingPunct="0"/>
            <a:r>
              <a:rPr lang="en-US" sz="2400" b="1">
                <a:solidFill>
                  <a:srgbClr val="800000"/>
                </a:solidFill>
                <a:latin typeface="Times New Roman" pitchFamily="18" charset="0"/>
              </a:rPr>
              <a:t>area=3.14 * radius * radius;</a:t>
            </a:r>
          </a:p>
          <a:p>
            <a:pPr eaLnBrk="0" hangingPunct="0"/>
            <a:r>
              <a:rPr lang="en-US" sz="2400" b="1">
                <a:solidFill>
                  <a:srgbClr val="800000"/>
                </a:solidFill>
                <a:latin typeface="Times New Roman" pitchFamily="18" charset="0"/>
              </a:rPr>
              <a:t>cout&lt;&lt;"area of the circle"&lt;&lt; area;</a:t>
            </a:r>
          </a:p>
          <a:p>
            <a:pPr eaLnBrk="0" hangingPunct="0"/>
            <a:r>
              <a:rPr lang="en-US" sz="2400" b="1">
                <a:solidFill>
                  <a:srgbClr val="800000"/>
                </a:solidFill>
                <a:latin typeface="Times New Roman" pitchFamily="18" charset="0"/>
              </a:rPr>
              <a:t>}</a:t>
            </a:r>
          </a:p>
          <a:p>
            <a:pPr eaLnBrk="0" hangingPunct="0"/>
            <a:r>
              <a:rPr lang="en-US" sz="2400" b="1">
                <a:solidFill>
                  <a:srgbClr val="800000"/>
                </a:solidFill>
                <a:latin typeface="Times New Roman" pitchFamily="18" charset="0"/>
              </a:rPr>
              <a:t>};</a:t>
            </a:r>
          </a:p>
          <a:p>
            <a:pPr eaLnBrk="0" hangingPunct="0"/>
            <a:r>
              <a:rPr lang="en-US" sz="2400" b="1">
                <a:solidFill>
                  <a:srgbClr val="800000"/>
                </a:solidFill>
                <a:latin typeface="Times New Roman" pitchFamily="18" charset="0"/>
              </a:rPr>
              <a:t>circle(int r){</a:t>
            </a:r>
          </a:p>
        </p:txBody>
      </p:sp>
      <p:sp>
        <p:nvSpPr>
          <p:cNvPr id="13316" name="Rectangle 4"/>
          <p:cNvSpPr>
            <a:spLocks noChangeArrowheads="1"/>
          </p:cNvSpPr>
          <p:nvPr/>
        </p:nvSpPr>
        <p:spPr bwMode="auto">
          <a:xfrm>
            <a:off x="4876800" y="914400"/>
            <a:ext cx="4038600" cy="6002338"/>
          </a:xfrm>
          <a:prstGeom prst="rect">
            <a:avLst/>
          </a:prstGeom>
          <a:noFill/>
          <a:ln w="9525">
            <a:solidFill>
              <a:srgbClr val="0000FF"/>
            </a:solidFill>
            <a:miter lim="800000"/>
            <a:headEnd/>
            <a:tailEnd/>
          </a:ln>
        </p:spPr>
        <p:txBody>
          <a:bodyPr>
            <a:spAutoFit/>
          </a:bodyPr>
          <a:lstStyle/>
          <a:p>
            <a:pPr eaLnBrk="0" hangingPunct="0"/>
            <a:r>
              <a:rPr lang="en-US" sz="2400" b="1">
                <a:solidFill>
                  <a:srgbClr val="800000"/>
                </a:solidFill>
                <a:latin typeface="Times New Roman" pitchFamily="18" charset="0"/>
              </a:rPr>
              <a:t>radius=r;</a:t>
            </a:r>
          </a:p>
          <a:p>
            <a:pPr eaLnBrk="0" hangingPunct="0"/>
            <a:r>
              <a:rPr lang="en-US" sz="2400" b="1">
                <a:solidFill>
                  <a:srgbClr val="800000"/>
                </a:solidFill>
                <a:latin typeface="Times New Roman" pitchFamily="18" charset="0"/>
              </a:rPr>
              <a:t>area=3.14 * radius * radius;</a:t>
            </a:r>
          </a:p>
          <a:p>
            <a:pPr eaLnBrk="0" hangingPunct="0"/>
            <a:r>
              <a:rPr lang="en-US" sz="2400" b="1">
                <a:solidFill>
                  <a:srgbClr val="800000"/>
                </a:solidFill>
                <a:latin typeface="Times New Roman" pitchFamily="18" charset="0"/>
              </a:rPr>
              <a:t>cout&lt;&lt; "\narea of the circle is " &lt;&lt; area; }</a:t>
            </a:r>
          </a:p>
          <a:p>
            <a:pPr eaLnBrk="0" hangingPunct="0"/>
            <a:r>
              <a:rPr lang="en-US" sz="2400" b="1">
                <a:solidFill>
                  <a:srgbClr val="800000"/>
                </a:solidFill>
                <a:latin typeface="Times New Roman" pitchFamily="18" charset="0"/>
              </a:rPr>
              <a:t>circle(int x,int y){</a:t>
            </a:r>
          </a:p>
          <a:p>
            <a:pPr eaLnBrk="0" hangingPunct="0"/>
            <a:r>
              <a:rPr lang="en-US" sz="2400" b="1">
                <a:solidFill>
                  <a:srgbClr val="800000"/>
                </a:solidFill>
                <a:latin typeface="Times New Roman" pitchFamily="18" charset="0"/>
              </a:rPr>
              <a:t>b=x;</a:t>
            </a:r>
          </a:p>
          <a:p>
            <a:pPr eaLnBrk="0" hangingPunct="0"/>
            <a:r>
              <a:rPr lang="en-US" sz="2400" b="1">
                <a:solidFill>
                  <a:srgbClr val="800000"/>
                </a:solidFill>
                <a:latin typeface="Times New Roman" pitchFamily="18" charset="0"/>
              </a:rPr>
              <a:t>h=y;</a:t>
            </a:r>
          </a:p>
          <a:p>
            <a:pPr eaLnBrk="0" hangingPunct="0"/>
            <a:r>
              <a:rPr lang="en-US" sz="2400" b="1">
                <a:solidFill>
                  <a:srgbClr val="800000"/>
                </a:solidFill>
                <a:latin typeface="Times New Roman" pitchFamily="18" charset="0"/>
              </a:rPr>
              <a:t>area=0.5*b*h;</a:t>
            </a:r>
          </a:p>
          <a:p>
            <a:pPr eaLnBrk="0" hangingPunct="0"/>
            <a:r>
              <a:rPr lang="en-US" sz="2400" b="1">
                <a:solidFill>
                  <a:srgbClr val="800000"/>
                </a:solidFill>
                <a:latin typeface="Times New Roman" pitchFamily="18" charset="0"/>
              </a:rPr>
              <a:t>cout&lt;&lt; "\n area of the Triangle is " &lt;&lt; area;} </a:t>
            </a:r>
          </a:p>
          <a:p>
            <a:pPr eaLnBrk="0" hangingPunct="0"/>
            <a:r>
              <a:rPr lang="fr-FR" sz="2400" b="1">
                <a:solidFill>
                  <a:srgbClr val="800000"/>
                </a:solidFill>
                <a:latin typeface="Times New Roman" pitchFamily="18" charset="0"/>
              </a:rPr>
              <a:t>void main()</a:t>
            </a:r>
          </a:p>
          <a:p>
            <a:pPr eaLnBrk="0" hangingPunct="0"/>
            <a:r>
              <a:rPr lang="fr-FR" sz="2400" b="1">
                <a:solidFill>
                  <a:srgbClr val="800000"/>
                </a:solidFill>
                <a:latin typeface="Times New Roman" pitchFamily="18" charset="0"/>
              </a:rPr>
              <a:t>{</a:t>
            </a:r>
          </a:p>
          <a:p>
            <a:pPr eaLnBrk="0" hangingPunct="0"/>
            <a:r>
              <a:rPr lang="fr-FR" sz="2400" b="1">
                <a:solidFill>
                  <a:srgbClr val="800000"/>
                </a:solidFill>
                <a:latin typeface="Times New Roman" pitchFamily="18" charset="0"/>
              </a:rPr>
              <a:t>circle c;</a:t>
            </a:r>
          </a:p>
          <a:p>
            <a:pPr eaLnBrk="0" hangingPunct="0"/>
            <a:r>
              <a:rPr lang="fr-FR" sz="2400" b="1">
                <a:solidFill>
                  <a:srgbClr val="800000"/>
                </a:solidFill>
                <a:latin typeface="Times New Roman" pitchFamily="18" charset="0"/>
              </a:rPr>
              <a:t>circle d1(6);</a:t>
            </a:r>
          </a:p>
          <a:p>
            <a:pPr eaLnBrk="0" hangingPunct="0"/>
            <a:r>
              <a:rPr lang="fr-FR" sz="2400" b="1">
                <a:solidFill>
                  <a:srgbClr val="800000"/>
                </a:solidFill>
                <a:latin typeface="Times New Roman" pitchFamily="18" charset="0"/>
              </a:rPr>
              <a:t>circle c1(3,4);</a:t>
            </a:r>
          </a:p>
          <a:p>
            <a:pPr eaLnBrk="0" hangingPunct="0"/>
            <a:r>
              <a:rPr lang="fr-FR" sz="2400" b="1">
                <a:solidFill>
                  <a:srgbClr val="800000"/>
                </a:solidFill>
                <a:latin typeface="Times New Roman" pitchFamily="18" charset="0"/>
              </a:rPr>
              <a:t>}</a:t>
            </a:r>
            <a:endParaRPr lang="en-US" sz="2400" b="1">
              <a:solidFill>
                <a:srgbClr val="800000"/>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3314"/>
                                        </p:tgtEl>
                                        <p:attrNameLst>
                                          <p:attrName>style.visibility</p:attrName>
                                        </p:attrNameLst>
                                      </p:cBhvr>
                                      <p:to>
                                        <p:strVal val="visible"/>
                                      </p:to>
                                    </p:set>
                                    <p:anim calcmode="lin" valueType="num">
                                      <p:cBhvr additive="base">
                                        <p:cTn id="7" dur="500" fill="hold"/>
                                        <p:tgtEl>
                                          <p:spTgt spid="13314"/>
                                        </p:tgtEl>
                                        <p:attrNameLst>
                                          <p:attrName>ppt_x</p:attrName>
                                        </p:attrNameLst>
                                      </p:cBhvr>
                                      <p:tavLst>
                                        <p:tav tm="0">
                                          <p:val>
                                            <p:strVal val="0-#ppt_w/2"/>
                                          </p:val>
                                        </p:tav>
                                        <p:tav tm="100000">
                                          <p:val>
                                            <p:strVal val="#ppt_x"/>
                                          </p:val>
                                        </p:tav>
                                      </p:tavLst>
                                    </p:anim>
                                    <p:anim calcmode="lin" valueType="num">
                                      <p:cBhvr additive="base">
                                        <p:cTn id="8" dur="500" fill="hold"/>
                                        <p:tgtEl>
                                          <p:spTgt spid="13314"/>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3315"/>
                                        </p:tgtEl>
                                        <p:attrNameLst>
                                          <p:attrName>style.visibility</p:attrName>
                                        </p:attrNameLst>
                                      </p:cBhvr>
                                      <p:to>
                                        <p:strVal val="visible"/>
                                      </p:to>
                                    </p:set>
                                    <p:anim calcmode="lin" valueType="num">
                                      <p:cBhvr additive="base">
                                        <p:cTn id="11" dur="500" fill="hold"/>
                                        <p:tgtEl>
                                          <p:spTgt spid="13315"/>
                                        </p:tgtEl>
                                        <p:attrNameLst>
                                          <p:attrName>ppt_x</p:attrName>
                                        </p:attrNameLst>
                                      </p:cBhvr>
                                      <p:tavLst>
                                        <p:tav tm="0">
                                          <p:val>
                                            <p:strVal val="0-#ppt_w/2"/>
                                          </p:val>
                                        </p:tav>
                                        <p:tav tm="100000">
                                          <p:val>
                                            <p:strVal val="#ppt_x"/>
                                          </p:val>
                                        </p:tav>
                                      </p:tavLst>
                                    </p:anim>
                                    <p:anim calcmode="lin" valueType="num">
                                      <p:cBhvr additive="base">
                                        <p:cTn id="12" dur="500" fill="hold"/>
                                        <p:tgtEl>
                                          <p:spTgt spid="13315"/>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3316"/>
                                        </p:tgtEl>
                                        <p:attrNameLst>
                                          <p:attrName>style.visibility</p:attrName>
                                        </p:attrNameLst>
                                      </p:cBhvr>
                                      <p:to>
                                        <p:strVal val="visible"/>
                                      </p:to>
                                    </p:set>
                                    <p:anim calcmode="lin" valueType="num">
                                      <p:cBhvr additive="base">
                                        <p:cTn id="15" dur="500" fill="hold"/>
                                        <p:tgtEl>
                                          <p:spTgt spid="13316"/>
                                        </p:tgtEl>
                                        <p:attrNameLst>
                                          <p:attrName>ppt_x</p:attrName>
                                        </p:attrNameLst>
                                      </p:cBhvr>
                                      <p:tavLst>
                                        <p:tav tm="0">
                                          <p:val>
                                            <p:strVal val="0-#ppt_w/2"/>
                                          </p:val>
                                        </p:tav>
                                        <p:tav tm="100000">
                                          <p:val>
                                            <p:strVal val="#ppt_x"/>
                                          </p:val>
                                        </p:tav>
                                      </p:tavLst>
                                    </p:anim>
                                    <p:anim calcmode="lin" valueType="num">
                                      <p:cBhvr additive="base">
                                        <p:cTn id="16" dur="500" fill="hold"/>
                                        <p:tgtEl>
                                          <p:spTgt spid="133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autoUpdateAnimBg="0"/>
      <p:bldP spid="13315" grpId="0" animBg="1" autoUpdateAnimBg="0"/>
      <p:bldP spid="13316" grpId="0" animBg="1"/>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WordArt 2"/>
          <p:cNvSpPr>
            <a:spLocks noChangeArrowheads="1" noChangeShapeType="1" noTextEdit="1"/>
          </p:cNvSpPr>
          <p:nvPr/>
        </p:nvSpPr>
        <p:spPr bwMode="auto">
          <a:xfrm>
            <a:off x="1219200" y="2743200"/>
            <a:ext cx="7086600" cy="2057400"/>
          </a:xfrm>
          <a:prstGeom prst="rect">
            <a:avLst/>
          </a:prstGeom>
        </p:spPr>
        <p:txBody>
          <a:bodyPr wrap="none" fromWordArt="1">
            <a:prstTxWarp prst="textChevron">
              <a:avLst>
                <a:gd name="adj" fmla="val 25000"/>
              </a:avLst>
            </a:prstTxWarp>
          </a:bodyPr>
          <a:lstStyle/>
          <a:p>
            <a:pPr algn="ctr"/>
            <a:r>
              <a:rPr lang="en-IN" sz="3600" kern="10">
                <a:ln w="12700">
                  <a:solidFill>
                    <a:srgbClr val="B2B2B2"/>
                  </a:solidFill>
                  <a:round/>
                  <a:headEnd/>
                  <a:tailEnd/>
                </a:ln>
                <a:solidFill>
                  <a:srgbClr val="FF0000"/>
                </a:solidFill>
                <a:effectLst>
                  <a:outerShdw dist="35921" dir="2700000" sy="50000" rotWithShape="0">
                    <a:srgbClr val="875B0D">
                      <a:alpha val="70000"/>
                    </a:srgbClr>
                  </a:outerShdw>
                </a:effectLst>
                <a:latin typeface="Arial Black"/>
              </a:rPr>
              <a:t>Copy Constructor </a:t>
            </a:r>
          </a:p>
          <a:p>
            <a:pPr algn="ctr"/>
            <a:r>
              <a:rPr lang="en-IN" sz="3600" kern="10">
                <a:ln w="12700">
                  <a:solidFill>
                    <a:srgbClr val="B2B2B2"/>
                  </a:solidFill>
                  <a:round/>
                  <a:headEnd/>
                  <a:tailEnd/>
                </a:ln>
                <a:solidFill>
                  <a:srgbClr val="FF0000"/>
                </a:solidFill>
                <a:effectLst>
                  <a:outerShdw dist="35921" dir="2700000" sy="50000" rotWithShape="0">
                    <a:srgbClr val="875B0D">
                      <a:alpha val="70000"/>
                    </a:srgbClr>
                  </a:outerShdw>
                </a:effectLst>
                <a:latin typeface="Arial Black"/>
              </a:rPr>
              <a:t>&amp; Destructor</a:t>
            </a:r>
          </a:p>
        </p:txBody>
      </p:sp>
      <p:sp>
        <p:nvSpPr>
          <p:cNvPr id="2051" name="WordArt 3"/>
          <p:cNvSpPr>
            <a:spLocks noChangeArrowheads="1" noChangeShapeType="1" noTextEdit="1"/>
          </p:cNvSpPr>
          <p:nvPr/>
        </p:nvSpPr>
        <p:spPr bwMode="auto">
          <a:xfrm>
            <a:off x="3124200" y="1066800"/>
            <a:ext cx="2895600" cy="647700"/>
          </a:xfrm>
          <a:prstGeom prst="rect">
            <a:avLst/>
          </a:prstGeom>
        </p:spPr>
        <p:txBody>
          <a:bodyPr wrap="none" fromWordArt="1">
            <a:prstTxWarp prst="textPlain">
              <a:avLst>
                <a:gd name="adj" fmla="val 50000"/>
              </a:avLst>
            </a:prstTxWarp>
          </a:bodyPr>
          <a:lstStyle/>
          <a:p>
            <a:pPr algn="ctr"/>
            <a:r>
              <a:rPr lang="en-IN" sz="3600" kern="10">
                <a:ln w="9525">
                  <a:solidFill>
                    <a:srgbClr val="000000"/>
                  </a:solidFill>
                  <a:round/>
                  <a:headEnd/>
                  <a:tailEnd/>
                </a:ln>
                <a:solidFill>
                  <a:srgbClr val="A50021"/>
                </a:solidFill>
                <a:latin typeface="Arial Black"/>
              </a:rPr>
              <a:t>CHAPTER 8</a:t>
            </a:r>
          </a:p>
        </p:txBody>
      </p:sp>
    </p:spTree>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
          <p:cNvSpPr txBox="1">
            <a:spLocks noChangeArrowheads="1"/>
          </p:cNvSpPr>
          <p:nvPr/>
        </p:nvSpPr>
        <p:spPr bwMode="auto">
          <a:xfrm>
            <a:off x="1876425" y="609600"/>
            <a:ext cx="5376863" cy="823913"/>
          </a:xfrm>
          <a:prstGeom prst="rect">
            <a:avLst/>
          </a:prstGeom>
          <a:solidFill>
            <a:srgbClr val="FF0000"/>
          </a:solidFill>
          <a:ln w="9525">
            <a:noFill/>
            <a:miter lim="800000"/>
            <a:headEnd/>
            <a:tailEnd/>
          </a:ln>
          <a:effectLst/>
        </p:spPr>
        <p:txBody>
          <a:bodyPr wrap="none">
            <a:spAutoFit/>
          </a:bodyPr>
          <a:lstStyle/>
          <a:p>
            <a:pPr>
              <a:defRPr/>
            </a:pPr>
            <a:r>
              <a:rPr lang="en-US" sz="4800" b="1">
                <a:solidFill>
                  <a:srgbClr val="66FFFF"/>
                </a:solidFill>
                <a:effectLst>
                  <a:outerShdw blurRad="38100" dist="38100" dir="2700000" algn="tl">
                    <a:srgbClr val="000000"/>
                  </a:outerShdw>
                </a:effectLst>
                <a:latin typeface="Arial Unicode MS" pitchFamily="34" charset="-128"/>
                <a:cs typeface="Times New Roman" pitchFamily="18" charset="0"/>
              </a:rPr>
              <a:t>Session Objectives</a:t>
            </a:r>
          </a:p>
        </p:txBody>
      </p:sp>
      <p:sp>
        <p:nvSpPr>
          <p:cNvPr id="5123" name="Text Box 3"/>
          <p:cNvSpPr txBox="1">
            <a:spLocks noChangeArrowheads="1"/>
          </p:cNvSpPr>
          <p:nvPr/>
        </p:nvSpPr>
        <p:spPr bwMode="auto">
          <a:xfrm>
            <a:off x="885825" y="1905000"/>
            <a:ext cx="4559300" cy="519113"/>
          </a:xfrm>
          <a:prstGeom prst="rect">
            <a:avLst/>
          </a:prstGeom>
          <a:noFill/>
          <a:ln w="9525">
            <a:noFill/>
            <a:miter lim="800000"/>
            <a:headEnd/>
            <a:tailEnd/>
          </a:ln>
        </p:spPr>
        <p:txBody>
          <a:bodyPr wrap="none">
            <a:spAutoFit/>
          </a:bodyPr>
          <a:lstStyle/>
          <a:p>
            <a:pPr>
              <a:buFontTx/>
              <a:buBlip>
                <a:blip r:embed="rId2"/>
              </a:buBlip>
            </a:pPr>
            <a:r>
              <a:rPr lang="en-US" sz="2800" b="1">
                <a:solidFill>
                  <a:srgbClr val="CC3300"/>
                </a:solidFill>
                <a:latin typeface="Times New Roman" pitchFamily="18" charset="0"/>
                <a:cs typeface="Times New Roman" pitchFamily="18" charset="0"/>
              </a:rPr>
              <a:t> Explain Copy Constructor</a:t>
            </a:r>
          </a:p>
        </p:txBody>
      </p:sp>
      <p:sp>
        <p:nvSpPr>
          <p:cNvPr id="5124" name="Text Box 4"/>
          <p:cNvSpPr txBox="1">
            <a:spLocks noChangeArrowheads="1"/>
          </p:cNvSpPr>
          <p:nvPr/>
        </p:nvSpPr>
        <p:spPr bwMode="auto">
          <a:xfrm>
            <a:off x="885825" y="2667000"/>
            <a:ext cx="4211638" cy="519113"/>
          </a:xfrm>
          <a:prstGeom prst="rect">
            <a:avLst/>
          </a:prstGeom>
          <a:noFill/>
          <a:ln w="9525">
            <a:noFill/>
            <a:miter lim="800000"/>
            <a:headEnd/>
            <a:tailEnd/>
          </a:ln>
        </p:spPr>
        <p:txBody>
          <a:bodyPr wrap="none">
            <a:spAutoFit/>
          </a:bodyPr>
          <a:lstStyle/>
          <a:p>
            <a:pPr>
              <a:buFontTx/>
              <a:buBlip>
                <a:blip r:embed="rId2"/>
              </a:buBlip>
            </a:pPr>
            <a:r>
              <a:rPr lang="en-US" sz="2800" b="1">
                <a:solidFill>
                  <a:srgbClr val="CC3300"/>
                </a:solidFill>
                <a:latin typeface="Times New Roman" pitchFamily="18" charset="0"/>
                <a:cs typeface="Times New Roman" pitchFamily="18" charset="0"/>
              </a:rPr>
              <a:t> Conversion Constructor</a:t>
            </a:r>
          </a:p>
        </p:txBody>
      </p:sp>
      <p:sp>
        <p:nvSpPr>
          <p:cNvPr id="5125" name="Text Box 5"/>
          <p:cNvSpPr txBox="1">
            <a:spLocks noChangeArrowheads="1"/>
          </p:cNvSpPr>
          <p:nvPr/>
        </p:nvSpPr>
        <p:spPr bwMode="auto">
          <a:xfrm>
            <a:off x="962025" y="3581400"/>
            <a:ext cx="3440113" cy="519113"/>
          </a:xfrm>
          <a:prstGeom prst="rect">
            <a:avLst/>
          </a:prstGeom>
          <a:noFill/>
          <a:ln w="9525">
            <a:noFill/>
            <a:miter lim="800000"/>
            <a:headEnd/>
            <a:tailEnd/>
          </a:ln>
        </p:spPr>
        <p:txBody>
          <a:bodyPr wrap="none">
            <a:spAutoFit/>
          </a:bodyPr>
          <a:lstStyle/>
          <a:p>
            <a:pPr>
              <a:buFontTx/>
              <a:buBlip>
                <a:blip r:embed="rId2"/>
              </a:buBlip>
            </a:pPr>
            <a:r>
              <a:rPr lang="en-US" sz="2800" b="1">
                <a:solidFill>
                  <a:srgbClr val="CC3300"/>
                </a:solidFill>
                <a:latin typeface="Times New Roman" pitchFamily="18" charset="0"/>
                <a:cs typeface="Times New Roman" pitchFamily="18" charset="0"/>
              </a:rPr>
              <a:t> Explain Destructor</a:t>
            </a:r>
          </a:p>
        </p:txBody>
      </p:sp>
      <p:sp>
        <p:nvSpPr>
          <p:cNvPr id="5126" name="Text Box 6"/>
          <p:cNvSpPr txBox="1">
            <a:spLocks noChangeArrowheads="1"/>
          </p:cNvSpPr>
          <p:nvPr/>
        </p:nvSpPr>
        <p:spPr bwMode="auto">
          <a:xfrm>
            <a:off x="962025" y="4267200"/>
            <a:ext cx="5326063" cy="519113"/>
          </a:xfrm>
          <a:prstGeom prst="rect">
            <a:avLst/>
          </a:prstGeom>
          <a:noFill/>
          <a:ln w="9525">
            <a:noFill/>
            <a:miter lim="800000"/>
            <a:headEnd/>
            <a:tailEnd/>
          </a:ln>
        </p:spPr>
        <p:txBody>
          <a:bodyPr wrap="none">
            <a:spAutoFit/>
          </a:bodyPr>
          <a:lstStyle/>
          <a:p>
            <a:pPr>
              <a:buFontTx/>
              <a:buBlip>
                <a:blip r:embed="rId2"/>
              </a:buBlip>
            </a:pPr>
            <a:r>
              <a:rPr lang="en-US" sz="2800" b="1">
                <a:solidFill>
                  <a:srgbClr val="CC3300"/>
                </a:solidFill>
                <a:latin typeface="Times New Roman" pitchFamily="18" charset="0"/>
                <a:cs typeface="Times New Roman" pitchFamily="18" charset="0"/>
              </a:rPr>
              <a:t> Rules for Framing a Destructor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88" fill="hold" grpId="0" nodeType="afterEffect">
                                  <p:stCondLst>
                                    <p:cond delay="0"/>
                                  </p:stCondLst>
                                  <p:childTnLst>
                                    <p:set>
                                      <p:cBhvr>
                                        <p:cTn id="6" dur="1" fill="hold">
                                          <p:stCondLst>
                                            <p:cond delay="0"/>
                                          </p:stCondLst>
                                        </p:cTn>
                                        <p:tgtEl>
                                          <p:spTgt spid="5123"/>
                                        </p:tgtEl>
                                        <p:attrNameLst>
                                          <p:attrName>style.visibility</p:attrName>
                                        </p:attrNameLst>
                                      </p:cBhvr>
                                      <p:to>
                                        <p:strVal val="visible"/>
                                      </p:to>
                                    </p:set>
                                    <p:anim calcmode="lin" valueType="num">
                                      <p:cBhvr>
                                        <p:cTn id="7" dur="500" fill="hold"/>
                                        <p:tgtEl>
                                          <p:spTgt spid="5123"/>
                                        </p:tgtEl>
                                        <p:attrNameLst>
                                          <p:attrName>ppt_w</p:attrName>
                                        </p:attrNameLst>
                                      </p:cBhvr>
                                      <p:tavLst>
                                        <p:tav tm="0">
                                          <p:val>
                                            <p:strVal val="4/3*#ppt_w"/>
                                          </p:val>
                                        </p:tav>
                                        <p:tav tm="100000">
                                          <p:val>
                                            <p:strVal val="#ppt_w"/>
                                          </p:val>
                                        </p:tav>
                                      </p:tavLst>
                                    </p:anim>
                                    <p:anim calcmode="lin" valueType="num">
                                      <p:cBhvr>
                                        <p:cTn id="8" dur="500" fill="hold"/>
                                        <p:tgtEl>
                                          <p:spTgt spid="5123"/>
                                        </p:tgtEl>
                                        <p:attrNameLst>
                                          <p:attrName>ppt_h</p:attrName>
                                        </p:attrNameLst>
                                      </p:cBhvr>
                                      <p:tavLst>
                                        <p:tav tm="0">
                                          <p:val>
                                            <p:strVal val="4/3*#ppt_h"/>
                                          </p:val>
                                        </p:tav>
                                        <p:tav tm="100000">
                                          <p:val>
                                            <p:strVal val="#ppt_h"/>
                                          </p:val>
                                        </p:tav>
                                      </p:tavLst>
                                    </p:anim>
                                  </p:childTnLst>
                                </p:cTn>
                              </p:par>
                            </p:childTnLst>
                          </p:cTn>
                        </p:par>
                        <p:par>
                          <p:cTn id="9" fill="hold">
                            <p:stCondLst>
                              <p:cond delay="500"/>
                            </p:stCondLst>
                            <p:childTnLst>
                              <p:par>
                                <p:cTn id="10" presetID="23" presetClass="entr" presetSubtype="288" fill="hold" grpId="0" nodeType="afterEffect">
                                  <p:stCondLst>
                                    <p:cond delay="0"/>
                                  </p:stCondLst>
                                  <p:childTnLst>
                                    <p:set>
                                      <p:cBhvr>
                                        <p:cTn id="11" dur="1" fill="hold">
                                          <p:stCondLst>
                                            <p:cond delay="0"/>
                                          </p:stCondLst>
                                        </p:cTn>
                                        <p:tgtEl>
                                          <p:spTgt spid="5124"/>
                                        </p:tgtEl>
                                        <p:attrNameLst>
                                          <p:attrName>style.visibility</p:attrName>
                                        </p:attrNameLst>
                                      </p:cBhvr>
                                      <p:to>
                                        <p:strVal val="visible"/>
                                      </p:to>
                                    </p:set>
                                    <p:anim calcmode="lin" valueType="num">
                                      <p:cBhvr>
                                        <p:cTn id="12" dur="500" fill="hold"/>
                                        <p:tgtEl>
                                          <p:spTgt spid="5124"/>
                                        </p:tgtEl>
                                        <p:attrNameLst>
                                          <p:attrName>ppt_w</p:attrName>
                                        </p:attrNameLst>
                                      </p:cBhvr>
                                      <p:tavLst>
                                        <p:tav tm="0">
                                          <p:val>
                                            <p:strVal val="4/3*#ppt_w"/>
                                          </p:val>
                                        </p:tav>
                                        <p:tav tm="100000">
                                          <p:val>
                                            <p:strVal val="#ppt_w"/>
                                          </p:val>
                                        </p:tav>
                                      </p:tavLst>
                                    </p:anim>
                                    <p:anim calcmode="lin" valueType="num">
                                      <p:cBhvr>
                                        <p:cTn id="13" dur="500" fill="hold"/>
                                        <p:tgtEl>
                                          <p:spTgt spid="5124"/>
                                        </p:tgtEl>
                                        <p:attrNameLst>
                                          <p:attrName>ppt_h</p:attrName>
                                        </p:attrNameLst>
                                      </p:cBhvr>
                                      <p:tavLst>
                                        <p:tav tm="0">
                                          <p:val>
                                            <p:strVal val="4/3*#ppt_h"/>
                                          </p:val>
                                        </p:tav>
                                        <p:tav tm="100000">
                                          <p:val>
                                            <p:strVal val="#ppt_h"/>
                                          </p:val>
                                        </p:tav>
                                      </p:tavLst>
                                    </p:anim>
                                  </p:childTnLst>
                                </p:cTn>
                              </p:par>
                            </p:childTnLst>
                          </p:cTn>
                        </p:par>
                        <p:par>
                          <p:cTn id="14" fill="hold">
                            <p:stCondLst>
                              <p:cond delay="1000"/>
                            </p:stCondLst>
                            <p:childTnLst>
                              <p:par>
                                <p:cTn id="15" presetID="23" presetClass="entr" presetSubtype="288" fill="hold" grpId="0" nodeType="afterEffect">
                                  <p:stCondLst>
                                    <p:cond delay="0"/>
                                  </p:stCondLst>
                                  <p:childTnLst>
                                    <p:set>
                                      <p:cBhvr>
                                        <p:cTn id="16" dur="1" fill="hold">
                                          <p:stCondLst>
                                            <p:cond delay="0"/>
                                          </p:stCondLst>
                                        </p:cTn>
                                        <p:tgtEl>
                                          <p:spTgt spid="5125"/>
                                        </p:tgtEl>
                                        <p:attrNameLst>
                                          <p:attrName>style.visibility</p:attrName>
                                        </p:attrNameLst>
                                      </p:cBhvr>
                                      <p:to>
                                        <p:strVal val="visible"/>
                                      </p:to>
                                    </p:set>
                                    <p:anim calcmode="lin" valueType="num">
                                      <p:cBhvr>
                                        <p:cTn id="17" dur="500" fill="hold"/>
                                        <p:tgtEl>
                                          <p:spTgt spid="5125"/>
                                        </p:tgtEl>
                                        <p:attrNameLst>
                                          <p:attrName>ppt_w</p:attrName>
                                        </p:attrNameLst>
                                      </p:cBhvr>
                                      <p:tavLst>
                                        <p:tav tm="0">
                                          <p:val>
                                            <p:strVal val="4/3*#ppt_w"/>
                                          </p:val>
                                        </p:tav>
                                        <p:tav tm="100000">
                                          <p:val>
                                            <p:strVal val="#ppt_w"/>
                                          </p:val>
                                        </p:tav>
                                      </p:tavLst>
                                    </p:anim>
                                    <p:anim calcmode="lin" valueType="num">
                                      <p:cBhvr>
                                        <p:cTn id="18" dur="500" fill="hold"/>
                                        <p:tgtEl>
                                          <p:spTgt spid="5125"/>
                                        </p:tgtEl>
                                        <p:attrNameLst>
                                          <p:attrName>ppt_h</p:attrName>
                                        </p:attrNameLst>
                                      </p:cBhvr>
                                      <p:tavLst>
                                        <p:tav tm="0">
                                          <p:val>
                                            <p:strVal val="4/3*#ppt_h"/>
                                          </p:val>
                                        </p:tav>
                                        <p:tav tm="100000">
                                          <p:val>
                                            <p:strVal val="#ppt_h"/>
                                          </p:val>
                                        </p:tav>
                                      </p:tavLst>
                                    </p:anim>
                                  </p:childTnLst>
                                </p:cTn>
                              </p:par>
                            </p:childTnLst>
                          </p:cTn>
                        </p:par>
                        <p:par>
                          <p:cTn id="19" fill="hold">
                            <p:stCondLst>
                              <p:cond delay="1500"/>
                            </p:stCondLst>
                            <p:childTnLst>
                              <p:par>
                                <p:cTn id="20" presetID="23" presetClass="entr" presetSubtype="288" fill="hold" grpId="0" nodeType="afterEffect">
                                  <p:stCondLst>
                                    <p:cond delay="0"/>
                                  </p:stCondLst>
                                  <p:childTnLst>
                                    <p:set>
                                      <p:cBhvr>
                                        <p:cTn id="21" dur="1" fill="hold">
                                          <p:stCondLst>
                                            <p:cond delay="0"/>
                                          </p:stCondLst>
                                        </p:cTn>
                                        <p:tgtEl>
                                          <p:spTgt spid="5126"/>
                                        </p:tgtEl>
                                        <p:attrNameLst>
                                          <p:attrName>style.visibility</p:attrName>
                                        </p:attrNameLst>
                                      </p:cBhvr>
                                      <p:to>
                                        <p:strVal val="visible"/>
                                      </p:to>
                                    </p:set>
                                    <p:anim calcmode="lin" valueType="num">
                                      <p:cBhvr>
                                        <p:cTn id="22" dur="500" fill="hold"/>
                                        <p:tgtEl>
                                          <p:spTgt spid="5126"/>
                                        </p:tgtEl>
                                        <p:attrNameLst>
                                          <p:attrName>ppt_w</p:attrName>
                                        </p:attrNameLst>
                                      </p:cBhvr>
                                      <p:tavLst>
                                        <p:tav tm="0">
                                          <p:val>
                                            <p:strVal val="4/3*#ppt_w"/>
                                          </p:val>
                                        </p:tav>
                                        <p:tav tm="100000">
                                          <p:val>
                                            <p:strVal val="#ppt_w"/>
                                          </p:val>
                                        </p:tav>
                                      </p:tavLst>
                                    </p:anim>
                                    <p:anim calcmode="lin" valueType="num">
                                      <p:cBhvr>
                                        <p:cTn id="23" dur="500" fill="hold"/>
                                        <p:tgtEl>
                                          <p:spTgt spid="5126"/>
                                        </p:tgtEl>
                                        <p:attrNameLst>
                                          <p:attrName>ppt_h</p:attrName>
                                        </p:attrNameLst>
                                      </p:cBhvr>
                                      <p:tavLst>
                                        <p:tav tm="0">
                                          <p:val>
                                            <p:strVal val="4/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autoUpdateAnimBg="0"/>
      <p:bldP spid="5124" grpId="0" autoUpdateAnimBg="0"/>
      <p:bldP spid="5125" grpId="0" autoUpdateAnimBg="0"/>
      <p:bldP spid="5126" grpId="0" autoUpdateAnimBg="0"/>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WordArt 2" descr="Narrow vertical"/>
          <p:cNvSpPr>
            <a:spLocks noChangeArrowheads="1" noChangeShapeType="1" noTextEdit="1"/>
          </p:cNvSpPr>
          <p:nvPr/>
        </p:nvSpPr>
        <p:spPr bwMode="auto">
          <a:xfrm>
            <a:off x="1219200" y="381000"/>
            <a:ext cx="6400800" cy="1084263"/>
          </a:xfrm>
          <a:prstGeom prst="rect">
            <a:avLst/>
          </a:prstGeom>
        </p:spPr>
        <p:txBody>
          <a:bodyPr wrap="none" fromWordArt="1">
            <a:prstTxWarp prst="textCurveUp">
              <a:avLst>
                <a:gd name="adj" fmla="val 40356"/>
              </a:avLst>
            </a:prstTxWarp>
          </a:bodyPr>
          <a:lstStyle/>
          <a:p>
            <a:pPr algn="ctr"/>
            <a:r>
              <a:rPr lang="en-IN" sz="3600" b="1" kern="10">
                <a:ln w="12700">
                  <a:solidFill>
                    <a:srgbClr val="000000"/>
                  </a:solidFill>
                  <a:round/>
                  <a:headEnd/>
                  <a:tailEnd/>
                </a:ln>
                <a:pattFill prst="dashHorz">
                  <a:fgClr>
                    <a:srgbClr val="808080"/>
                  </a:fgClr>
                  <a:bgClr>
                    <a:srgbClr val="FFFF00"/>
                  </a:bgClr>
                </a:pattFill>
                <a:effectLst>
                  <a:outerShdw dist="45791" dir="2021404" algn="ctr" rotWithShape="0">
                    <a:srgbClr val="808080">
                      <a:alpha val="79999"/>
                    </a:srgbClr>
                  </a:outerShdw>
                </a:effectLst>
                <a:latin typeface="Arial Black"/>
              </a:rPr>
              <a:t>COPY CONSTRUCTOR</a:t>
            </a:r>
          </a:p>
        </p:txBody>
      </p:sp>
      <p:sp>
        <p:nvSpPr>
          <p:cNvPr id="4099" name="Text Box 3"/>
          <p:cNvSpPr txBox="1">
            <a:spLocks noChangeArrowheads="1"/>
          </p:cNvSpPr>
          <p:nvPr/>
        </p:nvSpPr>
        <p:spPr bwMode="auto">
          <a:xfrm>
            <a:off x="152400" y="1895475"/>
            <a:ext cx="8915400" cy="4802188"/>
          </a:xfrm>
          <a:prstGeom prst="rect">
            <a:avLst/>
          </a:prstGeom>
          <a:noFill/>
          <a:ln w="9525">
            <a:solidFill>
              <a:srgbClr val="CC0066"/>
            </a:solidFill>
            <a:miter lim="800000"/>
            <a:headEnd/>
            <a:tailEnd/>
          </a:ln>
        </p:spPr>
        <p:txBody>
          <a:bodyPr>
            <a:spAutoFit/>
          </a:bodyPr>
          <a:lstStyle/>
          <a:p>
            <a:pPr eaLnBrk="0" hangingPunct="0">
              <a:spcBef>
                <a:spcPct val="50000"/>
              </a:spcBef>
              <a:buFont typeface="Wingdings" pitchFamily="2" charset="2"/>
              <a:buChar char="µ"/>
            </a:pPr>
            <a:r>
              <a:rPr lang="en-US" sz="2400" b="1">
                <a:solidFill>
                  <a:srgbClr val="800000"/>
                </a:solidFill>
                <a:latin typeface="Times New Roman" pitchFamily="18" charset="0"/>
              </a:rPr>
              <a:t>  </a:t>
            </a:r>
            <a:r>
              <a:rPr lang="en-US" sz="2800" b="1">
                <a:solidFill>
                  <a:srgbClr val="800000"/>
                </a:solidFill>
                <a:latin typeface="Times New Roman" pitchFamily="18" charset="0"/>
              </a:rPr>
              <a:t>This constructor function designed to copy objects of the same class type. </a:t>
            </a:r>
          </a:p>
          <a:p>
            <a:pPr eaLnBrk="0" hangingPunct="0">
              <a:spcBef>
                <a:spcPct val="50000"/>
              </a:spcBef>
              <a:buFont typeface="Wingdings" pitchFamily="2" charset="2"/>
              <a:buChar char="µ"/>
            </a:pPr>
            <a:r>
              <a:rPr lang="en-US" sz="2800" b="1">
                <a:solidFill>
                  <a:srgbClr val="800000"/>
                </a:solidFill>
                <a:latin typeface="Times New Roman" pitchFamily="18" charset="0"/>
              </a:rPr>
              <a:t>  It accepts a single argument and returns a copy of an object</a:t>
            </a:r>
          </a:p>
          <a:p>
            <a:pPr eaLnBrk="0" hangingPunct="0">
              <a:spcBef>
                <a:spcPct val="50000"/>
              </a:spcBef>
              <a:buFont typeface="Wingdings" pitchFamily="2" charset="2"/>
              <a:buChar char="µ"/>
            </a:pPr>
            <a:r>
              <a:rPr lang="en-US" sz="2800" b="1">
                <a:solidFill>
                  <a:srgbClr val="800000"/>
                </a:solidFill>
                <a:latin typeface="Times New Roman" pitchFamily="18" charset="0"/>
              </a:rPr>
              <a:t>  It can also be called if you initialize a new object with another object of same type</a:t>
            </a:r>
          </a:p>
          <a:p>
            <a:pPr eaLnBrk="0" hangingPunct="0">
              <a:spcBef>
                <a:spcPct val="50000"/>
              </a:spcBef>
              <a:buFont typeface="Wingdings" pitchFamily="2" charset="2"/>
              <a:buChar char="µ"/>
            </a:pPr>
            <a:r>
              <a:rPr lang="en-US" sz="2800" b="1">
                <a:solidFill>
                  <a:srgbClr val="800000"/>
                </a:solidFill>
                <a:latin typeface="Times New Roman" pitchFamily="18" charset="0"/>
              </a:rPr>
              <a:t>  Arguments cannot be passed by value</a:t>
            </a:r>
          </a:p>
          <a:p>
            <a:pPr eaLnBrk="0" hangingPunct="0">
              <a:spcBef>
                <a:spcPct val="50000"/>
              </a:spcBef>
              <a:buFont typeface="Wingdings" pitchFamily="2" charset="2"/>
              <a:buChar char="µ"/>
            </a:pPr>
            <a:r>
              <a:rPr lang="en-US" sz="2800" b="1">
                <a:solidFill>
                  <a:srgbClr val="800000"/>
                </a:solidFill>
                <a:latin typeface="Times New Roman" pitchFamily="18" charset="0"/>
              </a:rPr>
              <a:t>  provide  way to create a object by making a copy of an existing object</a:t>
            </a:r>
          </a:p>
        </p:txBody>
      </p:sp>
    </p:spTree>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WordArt 2"/>
          <p:cNvSpPr>
            <a:spLocks noChangeArrowheads="1" noChangeShapeType="1" noTextEdit="1"/>
          </p:cNvSpPr>
          <p:nvPr/>
        </p:nvSpPr>
        <p:spPr bwMode="auto">
          <a:xfrm>
            <a:off x="1905000" y="190500"/>
            <a:ext cx="5029200" cy="571500"/>
          </a:xfrm>
          <a:prstGeom prst="rect">
            <a:avLst/>
          </a:prstGeom>
        </p:spPr>
        <p:txBody>
          <a:bodyPr wrap="none" fromWordArt="1">
            <a:prstTxWarp prst="textPlain">
              <a:avLst>
                <a:gd name="adj" fmla="val 50000"/>
              </a:avLst>
            </a:prstTxWarp>
          </a:bodyPr>
          <a:lstStyle/>
          <a:p>
            <a:pPr algn="ctr"/>
            <a:r>
              <a:rPr lang="en-IN" sz="3600" b="1"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a:rPr>
              <a:t>Example</a:t>
            </a:r>
          </a:p>
        </p:txBody>
      </p:sp>
      <p:sp>
        <p:nvSpPr>
          <p:cNvPr id="7171" name="Text Box 3"/>
          <p:cNvSpPr txBox="1">
            <a:spLocks noChangeArrowheads="1"/>
          </p:cNvSpPr>
          <p:nvPr/>
        </p:nvSpPr>
        <p:spPr bwMode="auto">
          <a:xfrm>
            <a:off x="0" y="976313"/>
            <a:ext cx="4114800" cy="5653087"/>
          </a:xfrm>
          <a:prstGeom prst="rect">
            <a:avLst/>
          </a:prstGeom>
          <a:noFill/>
          <a:ln w="9525">
            <a:solidFill>
              <a:srgbClr val="0000FF"/>
            </a:solidFill>
            <a:miter lim="800000"/>
            <a:headEnd/>
            <a:tailEnd/>
          </a:ln>
        </p:spPr>
        <p:txBody>
          <a:bodyPr lIns="91437" tIns="45719" rIns="91437" bIns="45719">
            <a:spAutoFit/>
          </a:bodyPr>
          <a:lstStyle/>
          <a:p>
            <a:pPr eaLnBrk="0" hangingPunct="0"/>
            <a:r>
              <a:rPr lang="en-US" sz="2800" b="1">
                <a:solidFill>
                  <a:srgbClr val="800000"/>
                </a:solidFill>
                <a:latin typeface="Times New Roman" pitchFamily="18" charset="0"/>
              </a:rPr>
              <a:t>#include &lt;iostream.h&gt;</a:t>
            </a:r>
          </a:p>
          <a:p>
            <a:pPr eaLnBrk="0" hangingPunct="0"/>
            <a:r>
              <a:rPr lang="en-US" sz="2800" b="1">
                <a:solidFill>
                  <a:srgbClr val="800000"/>
                </a:solidFill>
                <a:latin typeface="Times New Roman" pitchFamily="18" charset="0"/>
              </a:rPr>
              <a:t>#include &lt;string.h&gt;</a:t>
            </a:r>
          </a:p>
          <a:p>
            <a:pPr eaLnBrk="0" hangingPunct="0"/>
            <a:r>
              <a:rPr lang="en-US" sz="2800" b="1">
                <a:solidFill>
                  <a:srgbClr val="800000"/>
                </a:solidFill>
                <a:latin typeface="Times New Roman" pitchFamily="18" charset="0"/>
              </a:rPr>
              <a:t>#include &lt;conio.h&gt;</a:t>
            </a:r>
          </a:p>
          <a:p>
            <a:pPr eaLnBrk="0" hangingPunct="0"/>
            <a:r>
              <a:rPr lang="en-US" sz="2800" b="1">
                <a:solidFill>
                  <a:srgbClr val="800000"/>
                </a:solidFill>
                <a:latin typeface="Times New Roman" pitchFamily="18" charset="0"/>
              </a:rPr>
              <a:t>class item</a:t>
            </a:r>
          </a:p>
          <a:p>
            <a:pPr eaLnBrk="0" hangingPunct="0"/>
            <a:r>
              <a:rPr lang="en-US" sz="2800" b="1">
                <a:solidFill>
                  <a:srgbClr val="800000"/>
                </a:solidFill>
                <a:latin typeface="Times New Roman" pitchFamily="18" charset="0"/>
              </a:rPr>
              <a:t>{</a:t>
            </a:r>
          </a:p>
          <a:p>
            <a:pPr eaLnBrk="0" hangingPunct="0"/>
            <a:r>
              <a:rPr lang="en-US" sz="2800" b="1">
                <a:solidFill>
                  <a:srgbClr val="800000"/>
                </a:solidFill>
                <a:latin typeface="Times New Roman" pitchFamily="18" charset="0"/>
              </a:rPr>
              <a:t>private :</a:t>
            </a:r>
          </a:p>
          <a:p>
            <a:pPr eaLnBrk="0" hangingPunct="0"/>
            <a:r>
              <a:rPr lang="en-US" sz="2800" b="1">
                <a:solidFill>
                  <a:srgbClr val="800000"/>
                </a:solidFill>
                <a:latin typeface="Times New Roman" pitchFamily="18" charset="0"/>
              </a:rPr>
              <a:t>int itno;</a:t>
            </a:r>
          </a:p>
          <a:p>
            <a:pPr eaLnBrk="0" hangingPunct="0"/>
            <a:r>
              <a:rPr lang="en-US" sz="2800" b="1">
                <a:solidFill>
                  <a:srgbClr val="800000"/>
                </a:solidFill>
                <a:latin typeface="Times New Roman" pitchFamily="18" charset="0"/>
              </a:rPr>
              <a:t>char itname[20];</a:t>
            </a:r>
          </a:p>
          <a:p>
            <a:pPr eaLnBrk="0" hangingPunct="0"/>
            <a:r>
              <a:rPr lang="en-US" sz="2800" b="1">
                <a:solidFill>
                  <a:srgbClr val="800000"/>
                </a:solidFill>
                <a:latin typeface="Times New Roman" pitchFamily="18" charset="0"/>
              </a:rPr>
              <a:t>float price;</a:t>
            </a:r>
          </a:p>
          <a:p>
            <a:pPr eaLnBrk="0" hangingPunct="0"/>
            <a:r>
              <a:rPr lang="en-US" sz="2800" b="1">
                <a:solidFill>
                  <a:srgbClr val="800000"/>
                </a:solidFill>
                <a:latin typeface="Times New Roman" pitchFamily="18" charset="0"/>
              </a:rPr>
              <a:t>public :</a:t>
            </a:r>
          </a:p>
          <a:p>
            <a:pPr eaLnBrk="0" hangingPunct="0"/>
            <a:r>
              <a:rPr lang="en-US" sz="2800" b="1">
                <a:solidFill>
                  <a:srgbClr val="800000"/>
                </a:solidFill>
                <a:latin typeface="Times New Roman" pitchFamily="18" charset="0"/>
              </a:rPr>
              <a:t>item(int a,char *b,float c)</a:t>
            </a:r>
          </a:p>
          <a:p>
            <a:pPr eaLnBrk="0" hangingPunct="0"/>
            <a:r>
              <a:rPr lang="en-US" sz="2800" b="1">
                <a:solidFill>
                  <a:srgbClr val="800000"/>
                </a:solidFill>
                <a:latin typeface="Times New Roman" pitchFamily="18" charset="0"/>
              </a:rPr>
              <a:t>{</a:t>
            </a:r>
          </a:p>
          <a:p>
            <a:pPr eaLnBrk="0" hangingPunct="0"/>
            <a:r>
              <a:rPr lang="en-US" sz="2800" b="1">
                <a:solidFill>
                  <a:srgbClr val="800000"/>
                </a:solidFill>
                <a:latin typeface="Times New Roman" pitchFamily="18" charset="0"/>
              </a:rPr>
              <a:t>itno=a;</a:t>
            </a:r>
          </a:p>
        </p:txBody>
      </p:sp>
      <p:sp>
        <p:nvSpPr>
          <p:cNvPr id="7172" name="Rectangle 4"/>
          <p:cNvSpPr>
            <a:spLocks noChangeArrowheads="1"/>
          </p:cNvSpPr>
          <p:nvPr/>
        </p:nvSpPr>
        <p:spPr bwMode="auto">
          <a:xfrm>
            <a:off x="4191000" y="976313"/>
            <a:ext cx="4876800" cy="5653087"/>
          </a:xfrm>
          <a:prstGeom prst="rect">
            <a:avLst/>
          </a:prstGeom>
          <a:noFill/>
          <a:ln w="9525">
            <a:solidFill>
              <a:srgbClr val="0000FF"/>
            </a:solidFill>
            <a:miter lim="800000"/>
            <a:headEnd/>
            <a:tailEnd/>
          </a:ln>
        </p:spPr>
        <p:txBody>
          <a:bodyPr>
            <a:spAutoFit/>
          </a:bodyPr>
          <a:lstStyle/>
          <a:p>
            <a:pPr eaLnBrk="0" hangingPunct="0"/>
            <a:r>
              <a:rPr lang="en-US" sz="2800" b="1">
                <a:solidFill>
                  <a:srgbClr val="800000"/>
                </a:solidFill>
                <a:latin typeface="Times New Roman" pitchFamily="18" charset="0"/>
              </a:rPr>
              <a:t>strcpy(itname,b);</a:t>
            </a:r>
          </a:p>
          <a:p>
            <a:pPr eaLnBrk="0" hangingPunct="0"/>
            <a:r>
              <a:rPr lang="en-US" sz="2800" b="1">
                <a:solidFill>
                  <a:srgbClr val="800000"/>
                </a:solidFill>
                <a:latin typeface="Times New Roman" pitchFamily="18" charset="0"/>
              </a:rPr>
              <a:t>price=c;</a:t>
            </a:r>
          </a:p>
          <a:p>
            <a:pPr eaLnBrk="0" hangingPunct="0"/>
            <a:r>
              <a:rPr lang="en-US" sz="2800" b="1">
                <a:solidFill>
                  <a:srgbClr val="800000"/>
                </a:solidFill>
                <a:latin typeface="Times New Roman" pitchFamily="18" charset="0"/>
              </a:rPr>
              <a:t>}</a:t>
            </a:r>
          </a:p>
          <a:p>
            <a:pPr eaLnBrk="0" hangingPunct="0"/>
            <a:r>
              <a:rPr lang="en-US" sz="2800" b="1">
                <a:solidFill>
                  <a:srgbClr val="800000"/>
                </a:solidFill>
                <a:latin typeface="Times New Roman" pitchFamily="18" charset="0"/>
              </a:rPr>
              <a:t>item(item &amp;ptr)</a:t>
            </a:r>
          </a:p>
          <a:p>
            <a:pPr eaLnBrk="0" hangingPunct="0"/>
            <a:r>
              <a:rPr lang="en-US" sz="2800" b="1">
                <a:solidFill>
                  <a:srgbClr val="800000"/>
                </a:solidFill>
                <a:latin typeface="Times New Roman" pitchFamily="18" charset="0"/>
              </a:rPr>
              <a:t>{</a:t>
            </a:r>
          </a:p>
          <a:p>
            <a:pPr eaLnBrk="0" hangingPunct="0"/>
            <a:r>
              <a:rPr lang="en-US" sz="2800" b="1">
                <a:solidFill>
                  <a:srgbClr val="800000"/>
                </a:solidFill>
                <a:latin typeface="Times New Roman" pitchFamily="18" charset="0"/>
              </a:rPr>
              <a:t>itno=ptr.itno;</a:t>
            </a:r>
          </a:p>
          <a:p>
            <a:pPr eaLnBrk="0" hangingPunct="0"/>
            <a:r>
              <a:rPr lang="en-US" sz="2800" b="1">
                <a:solidFill>
                  <a:srgbClr val="800000"/>
                </a:solidFill>
                <a:latin typeface="Times New Roman" pitchFamily="18" charset="0"/>
              </a:rPr>
              <a:t>strcpy(itname,ptr.itname);</a:t>
            </a:r>
          </a:p>
          <a:p>
            <a:pPr eaLnBrk="0" hangingPunct="0"/>
            <a:r>
              <a:rPr lang="en-US" sz="2800" b="1">
                <a:solidFill>
                  <a:srgbClr val="800000"/>
                </a:solidFill>
                <a:latin typeface="Times New Roman" pitchFamily="18" charset="0"/>
              </a:rPr>
              <a:t>price=ptr.price;</a:t>
            </a:r>
          </a:p>
          <a:p>
            <a:pPr eaLnBrk="0" hangingPunct="0"/>
            <a:r>
              <a:rPr lang="en-US" sz="2800" b="1">
                <a:solidFill>
                  <a:srgbClr val="800000"/>
                </a:solidFill>
                <a:latin typeface="Times New Roman" pitchFamily="18" charset="0"/>
              </a:rPr>
              <a:t>}</a:t>
            </a:r>
          </a:p>
          <a:p>
            <a:pPr eaLnBrk="0" hangingPunct="0"/>
            <a:r>
              <a:rPr lang="en-US" sz="2800" b="1">
                <a:solidFill>
                  <a:srgbClr val="800000"/>
                </a:solidFill>
                <a:latin typeface="Times New Roman" pitchFamily="18" charset="0"/>
              </a:rPr>
              <a:t>void showitem()</a:t>
            </a:r>
          </a:p>
          <a:p>
            <a:pPr eaLnBrk="0" hangingPunct="0"/>
            <a:r>
              <a:rPr lang="en-US" sz="2800" b="1">
                <a:solidFill>
                  <a:srgbClr val="800000"/>
                </a:solidFill>
                <a:latin typeface="Times New Roman" pitchFamily="18" charset="0"/>
              </a:rPr>
              <a:t>{</a:t>
            </a:r>
          </a:p>
          <a:p>
            <a:pPr eaLnBrk="0" hangingPunct="0"/>
            <a:r>
              <a:rPr lang="en-US" sz="2800" b="1">
                <a:solidFill>
                  <a:srgbClr val="800000"/>
                </a:solidFill>
                <a:latin typeface="Times New Roman" pitchFamily="18" charset="0"/>
              </a:rPr>
              <a:t>cout&lt;&lt;itno&lt;&lt;itname&lt;&lt;price;</a:t>
            </a:r>
          </a:p>
          <a:p>
            <a:pPr eaLnBrk="0" hangingPunct="0"/>
            <a:r>
              <a:rPr lang="en-US" sz="2800" b="1">
                <a:solidFill>
                  <a:srgbClr val="800000"/>
                </a:solidFill>
                <a:latin typeface="Times New Roman"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7171"/>
                                        </p:tgtEl>
                                        <p:attrNameLst>
                                          <p:attrName>style.visibility</p:attrName>
                                        </p:attrNameLst>
                                      </p:cBhvr>
                                      <p:to>
                                        <p:strVal val="visible"/>
                                      </p:to>
                                    </p:set>
                                    <p:anim calcmode="lin" valueType="num">
                                      <p:cBhvr additive="base">
                                        <p:cTn id="7" dur="500" fill="hold"/>
                                        <p:tgtEl>
                                          <p:spTgt spid="7171"/>
                                        </p:tgtEl>
                                        <p:attrNameLst>
                                          <p:attrName>ppt_x</p:attrName>
                                        </p:attrNameLst>
                                      </p:cBhvr>
                                      <p:tavLst>
                                        <p:tav tm="0">
                                          <p:val>
                                            <p:strVal val="0-#ppt_w/2"/>
                                          </p:val>
                                        </p:tav>
                                        <p:tav tm="100000">
                                          <p:val>
                                            <p:strVal val="#ppt_x"/>
                                          </p:val>
                                        </p:tav>
                                      </p:tavLst>
                                    </p:anim>
                                    <p:anim calcmode="lin" valueType="num">
                                      <p:cBhvr additive="base">
                                        <p:cTn id="8" dur="500" fill="hold"/>
                                        <p:tgtEl>
                                          <p:spTgt spid="7171"/>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172"/>
                                        </p:tgtEl>
                                        <p:attrNameLst>
                                          <p:attrName>style.visibility</p:attrName>
                                        </p:attrNameLst>
                                      </p:cBhvr>
                                      <p:to>
                                        <p:strVal val="visible"/>
                                      </p:to>
                                    </p:set>
                                    <p:anim calcmode="lin" valueType="num">
                                      <p:cBhvr additive="base">
                                        <p:cTn id="11" dur="500" fill="hold"/>
                                        <p:tgtEl>
                                          <p:spTgt spid="7172"/>
                                        </p:tgtEl>
                                        <p:attrNameLst>
                                          <p:attrName>ppt_x</p:attrName>
                                        </p:attrNameLst>
                                      </p:cBhvr>
                                      <p:tavLst>
                                        <p:tav tm="0">
                                          <p:val>
                                            <p:strVal val="0-#ppt_w/2"/>
                                          </p:val>
                                        </p:tav>
                                        <p:tav tm="100000">
                                          <p:val>
                                            <p:strVal val="#ppt_x"/>
                                          </p:val>
                                        </p:tav>
                                      </p:tavLst>
                                    </p:anim>
                                    <p:anim calcmode="lin" valueType="num">
                                      <p:cBhvr additive="base">
                                        <p:cTn id="12" dur="500" fill="hold"/>
                                        <p:tgtEl>
                                          <p:spTgt spid="717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animBg="1" autoUpdateAnimBg="0"/>
      <p:bldP spid="7172" grpId="0" animBg="1"/>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p:cNvSpPr txBox="1">
            <a:spLocks noChangeArrowheads="1"/>
          </p:cNvSpPr>
          <p:nvPr/>
        </p:nvSpPr>
        <p:spPr bwMode="auto">
          <a:xfrm>
            <a:off x="990600" y="228600"/>
            <a:ext cx="7162800" cy="4400550"/>
          </a:xfrm>
          <a:prstGeom prst="rect">
            <a:avLst/>
          </a:prstGeom>
          <a:noFill/>
          <a:ln w="9525">
            <a:solidFill>
              <a:srgbClr val="0000FF"/>
            </a:solidFill>
            <a:miter lim="800000"/>
            <a:headEnd/>
            <a:tailEnd/>
          </a:ln>
        </p:spPr>
        <p:txBody>
          <a:bodyPr lIns="91437" tIns="45719" rIns="91437" bIns="45719">
            <a:spAutoFit/>
          </a:bodyPr>
          <a:lstStyle/>
          <a:p>
            <a:pPr eaLnBrk="0" hangingPunct="0"/>
            <a:r>
              <a:rPr lang="en-US" sz="2800" b="1">
                <a:solidFill>
                  <a:srgbClr val="800000"/>
                </a:solidFill>
                <a:latin typeface="Times New Roman" pitchFamily="18" charset="0"/>
              </a:rPr>
              <a:t>void main()</a:t>
            </a:r>
          </a:p>
          <a:p>
            <a:pPr eaLnBrk="0" hangingPunct="0"/>
            <a:r>
              <a:rPr lang="en-US" sz="2800" b="1">
                <a:solidFill>
                  <a:srgbClr val="800000"/>
                </a:solidFill>
                <a:latin typeface="Times New Roman" pitchFamily="18" charset="0"/>
              </a:rPr>
              <a:t>{</a:t>
            </a:r>
          </a:p>
          <a:p>
            <a:pPr eaLnBrk="0" hangingPunct="0"/>
            <a:r>
              <a:rPr lang="en-US" sz="2800" b="1">
                <a:solidFill>
                  <a:srgbClr val="800000"/>
                </a:solidFill>
                <a:latin typeface="Times New Roman" pitchFamily="18" charset="0"/>
              </a:rPr>
              <a:t>clrscr();</a:t>
            </a:r>
          </a:p>
          <a:p>
            <a:pPr eaLnBrk="0" hangingPunct="0"/>
            <a:r>
              <a:rPr lang="en-US" sz="2800" b="1">
                <a:solidFill>
                  <a:srgbClr val="800000"/>
                </a:solidFill>
                <a:latin typeface="Times New Roman" pitchFamily="18" charset="0"/>
              </a:rPr>
              <a:t>item i1(1,"Monitor",3800),i2(i1);</a:t>
            </a:r>
          </a:p>
          <a:p>
            <a:pPr eaLnBrk="0" hangingPunct="0"/>
            <a:r>
              <a:rPr lang="en-US" sz="2800" b="1">
                <a:solidFill>
                  <a:srgbClr val="800000"/>
                </a:solidFill>
                <a:latin typeface="Times New Roman" pitchFamily="18" charset="0"/>
              </a:rPr>
              <a:t>cout&lt;&lt;"First item"&lt;&lt;endl;</a:t>
            </a:r>
          </a:p>
          <a:p>
            <a:pPr eaLnBrk="0" hangingPunct="0"/>
            <a:r>
              <a:rPr lang="en-US" sz="2800" b="1">
                <a:solidFill>
                  <a:srgbClr val="800000"/>
                </a:solidFill>
                <a:latin typeface="Times New Roman" pitchFamily="18" charset="0"/>
              </a:rPr>
              <a:t>i1.showitem();</a:t>
            </a:r>
          </a:p>
          <a:p>
            <a:pPr eaLnBrk="0" hangingPunct="0"/>
            <a:r>
              <a:rPr lang="en-US" sz="2800" b="1">
                <a:solidFill>
                  <a:srgbClr val="800000"/>
                </a:solidFill>
                <a:latin typeface="Times New Roman" pitchFamily="18" charset="0"/>
              </a:rPr>
              <a:t>cout&lt;&lt;"Second item"&lt;&lt;endl;</a:t>
            </a:r>
          </a:p>
          <a:p>
            <a:pPr eaLnBrk="0" hangingPunct="0"/>
            <a:r>
              <a:rPr lang="en-US" sz="2800" b="1">
                <a:solidFill>
                  <a:srgbClr val="800000"/>
                </a:solidFill>
                <a:latin typeface="Times New Roman" pitchFamily="18" charset="0"/>
              </a:rPr>
              <a:t>i2.showitem();</a:t>
            </a:r>
          </a:p>
          <a:p>
            <a:pPr eaLnBrk="0" hangingPunct="0"/>
            <a:r>
              <a:rPr lang="en-US" sz="2800" b="1">
                <a:solidFill>
                  <a:srgbClr val="800000"/>
                </a:solidFill>
                <a:latin typeface="Times New Roman" pitchFamily="18" charset="0"/>
              </a:rPr>
              <a:t>getch();</a:t>
            </a:r>
          </a:p>
          <a:p>
            <a:pPr eaLnBrk="0" hangingPunct="0"/>
            <a:r>
              <a:rPr lang="en-US" sz="2800" b="1">
                <a:solidFill>
                  <a:srgbClr val="800000"/>
                </a:solidFill>
                <a:latin typeface="Times New Roman" pitchFamily="18" charset="0"/>
              </a:rPr>
              <a:t>}</a:t>
            </a:r>
          </a:p>
        </p:txBody>
      </p:sp>
      <p:sp>
        <p:nvSpPr>
          <p:cNvPr id="6147" name="WordArt 3" descr="Denim"/>
          <p:cNvSpPr>
            <a:spLocks noChangeArrowheads="1" noChangeShapeType="1" noTextEdit="1"/>
          </p:cNvSpPr>
          <p:nvPr/>
        </p:nvSpPr>
        <p:spPr bwMode="auto">
          <a:xfrm>
            <a:off x="990600" y="5486400"/>
            <a:ext cx="1905000" cy="762000"/>
          </a:xfrm>
          <a:prstGeom prst="rect">
            <a:avLst/>
          </a:prstGeom>
        </p:spPr>
        <p:txBody>
          <a:bodyPr wrap="none" fromWordArt="1">
            <a:prstTxWarp prst="textDeflate">
              <a:avLst>
                <a:gd name="adj" fmla="val 26227"/>
              </a:avLst>
            </a:prstTxWarp>
          </a:bodyPr>
          <a:lstStyle/>
          <a:p>
            <a:pPr algn="ctr"/>
            <a:r>
              <a:rPr lang="en-IN" sz="3600" b="1" kern="10">
                <a:ln w="9525">
                  <a:solidFill>
                    <a:srgbClr val="000000"/>
                  </a:solidFill>
                  <a:round/>
                  <a:headEnd/>
                  <a:tailEnd/>
                </a:ln>
                <a:blipFill dpi="0" rotWithShape="1">
                  <a:blip r:embed="rId2"/>
                  <a:srcRect/>
                  <a:tile tx="0" ty="0" sx="100000" sy="100000" flip="none" algn="tl"/>
                </a:blipFill>
                <a:latin typeface="Impact"/>
              </a:rPr>
              <a:t>RESULT</a:t>
            </a:r>
          </a:p>
        </p:txBody>
      </p:sp>
      <p:sp>
        <p:nvSpPr>
          <p:cNvPr id="6148" name="Rectangle 4"/>
          <p:cNvSpPr>
            <a:spLocks noChangeArrowheads="1"/>
          </p:cNvSpPr>
          <p:nvPr/>
        </p:nvSpPr>
        <p:spPr bwMode="auto">
          <a:xfrm>
            <a:off x="3394075" y="5546725"/>
            <a:ext cx="3540125" cy="701675"/>
          </a:xfrm>
          <a:prstGeom prst="rect">
            <a:avLst/>
          </a:prstGeom>
          <a:noFill/>
          <a:ln w="9525">
            <a:noFill/>
            <a:miter lim="800000"/>
            <a:headEnd/>
            <a:tailEnd/>
          </a:ln>
        </p:spPr>
        <p:txBody>
          <a:bodyPr wrap="none">
            <a:spAutoFit/>
          </a:bodyPr>
          <a:lstStyle/>
          <a:p>
            <a:pPr eaLnBrk="0" hangingPunct="0"/>
            <a:r>
              <a:rPr lang="en-US" sz="2000" b="1">
                <a:solidFill>
                  <a:srgbClr val="800000"/>
                </a:solidFill>
              </a:rPr>
              <a:t>First item      1 Monitor 3800</a:t>
            </a:r>
          </a:p>
          <a:p>
            <a:pPr eaLnBrk="0" hangingPunct="0"/>
            <a:r>
              <a:rPr lang="en-US" sz="2000" b="1">
                <a:solidFill>
                  <a:srgbClr val="800000"/>
                </a:solidFill>
              </a:rPr>
              <a:t>Second item 1 Monitor 3800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8194"/>
                                        </p:tgtEl>
                                        <p:attrNameLst>
                                          <p:attrName>style.visibility</p:attrName>
                                        </p:attrNameLst>
                                      </p:cBhvr>
                                      <p:to>
                                        <p:strVal val="visible"/>
                                      </p:to>
                                    </p:set>
                                    <p:anim calcmode="lin" valueType="num">
                                      <p:cBhvr additive="base">
                                        <p:cTn id="7" dur="500" fill="hold"/>
                                        <p:tgtEl>
                                          <p:spTgt spid="8194"/>
                                        </p:tgtEl>
                                        <p:attrNameLst>
                                          <p:attrName>ppt_x</p:attrName>
                                        </p:attrNameLst>
                                      </p:cBhvr>
                                      <p:tavLst>
                                        <p:tav tm="0">
                                          <p:val>
                                            <p:strVal val="0-#ppt_w/2"/>
                                          </p:val>
                                        </p:tav>
                                        <p:tav tm="100000">
                                          <p:val>
                                            <p:strVal val="#ppt_x"/>
                                          </p:val>
                                        </p:tav>
                                      </p:tavLst>
                                    </p:anim>
                                    <p:anim calcmode="lin" valueType="num">
                                      <p:cBhvr additive="base">
                                        <p:cTn id="8" dur="500" fill="hold"/>
                                        <p:tgtEl>
                                          <p:spTgt spid="819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animBg="1" autoUpdateAnimBg="0"/>
    </p:bld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descr="Brown marble"/>
          <p:cNvSpPr txBox="1">
            <a:spLocks noChangeArrowheads="1"/>
          </p:cNvSpPr>
          <p:nvPr/>
        </p:nvSpPr>
        <p:spPr bwMode="auto">
          <a:xfrm>
            <a:off x="1143000" y="4038600"/>
            <a:ext cx="7467600" cy="2000250"/>
          </a:xfrm>
          <a:prstGeom prst="rect">
            <a:avLst/>
          </a:prstGeom>
          <a:blipFill dpi="0" rotWithShape="1">
            <a:blip r:embed="rId2"/>
            <a:srcRect/>
            <a:tile tx="0" ty="0" sx="100000" sy="100000" flip="none" algn="tl"/>
          </a:blipFill>
          <a:ln w="9525">
            <a:noFill/>
            <a:miter lim="800000"/>
            <a:headEnd/>
            <a:tailEnd/>
          </a:ln>
        </p:spPr>
        <p:txBody>
          <a:bodyPr lIns="91437" tIns="45719" rIns="91437" bIns="45719">
            <a:spAutoFit/>
          </a:bodyPr>
          <a:lstStyle/>
          <a:p>
            <a:pPr algn="ctr">
              <a:spcBef>
                <a:spcPct val="50000"/>
              </a:spcBef>
            </a:pPr>
            <a:r>
              <a:rPr lang="en-US" sz="4000" b="1" u="sng">
                <a:solidFill>
                  <a:schemeClr val="bg1"/>
                </a:solidFill>
                <a:latin typeface="Times New Roman" pitchFamily="18" charset="0"/>
              </a:rPr>
              <a:t>Need for destructor</a:t>
            </a:r>
          </a:p>
          <a:p>
            <a:pPr>
              <a:spcBef>
                <a:spcPct val="50000"/>
              </a:spcBef>
            </a:pPr>
            <a:r>
              <a:rPr lang="en-US" sz="2400" b="1">
                <a:solidFill>
                  <a:schemeClr val="bg1"/>
                </a:solidFill>
                <a:latin typeface="Times New Roman" pitchFamily="18" charset="0"/>
              </a:rPr>
              <a:t>          The programmer is relieved of the task of clearing the memory space occupied by the data members every time an object goes out of scope.</a:t>
            </a:r>
          </a:p>
        </p:txBody>
      </p:sp>
      <p:sp>
        <p:nvSpPr>
          <p:cNvPr id="7171" name="WordArt 3"/>
          <p:cNvSpPr>
            <a:spLocks noChangeArrowheads="1" noChangeShapeType="1" noTextEdit="1"/>
          </p:cNvSpPr>
          <p:nvPr/>
        </p:nvSpPr>
        <p:spPr bwMode="auto">
          <a:xfrm>
            <a:off x="3124200" y="457200"/>
            <a:ext cx="2743200" cy="609600"/>
          </a:xfrm>
          <a:prstGeom prst="rect">
            <a:avLst/>
          </a:prstGeom>
        </p:spPr>
        <p:txBody>
          <a:bodyPr wrap="none" fromWordArt="1">
            <a:prstTxWarp prst="textPlain">
              <a:avLst>
                <a:gd name="adj" fmla="val 50000"/>
              </a:avLst>
            </a:prstTxWarp>
          </a:bodyPr>
          <a:lstStyle/>
          <a:p>
            <a:pPr algn="ctr"/>
            <a:r>
              <a:rPr lang="en-IN" sz="3600" b="1" i="1" kern="10">
                <a:ln w="9525">
                  <a:solidFill>
                    <a:srgbClr val="000000"/>
                  </a:solidFill>
                  <a:round/>
                  <a:headEnd/>
                  <a:tailEnd/>
                </a:ln>
                <a:solidFill>
                  <a:srgbClr val="FFFFFF"/>
                </a:solidFill>
                <a:effectLst>
                  <a:outerShdw dist="35921" dir="2700000" algn="ctr" rotWithShape="0">
                    <a:srgbClr val="808080">
                      <a:alpha val="79999"/>
                    </a:srgbClr>
                  </a:outerShdw>
                </a:effectLst>
                <a:latin typeface="Arial Black"/>
              </a:rPr>
              <a:t>Destructor</a:t>
            </a:r>
          </a:p>
        </p:txBody>
      </p:sp>
      <p:sp>
        <p:nvSpPr>
          <p:cNvPr id="9220" name="AutoShape 4" descr="Brown marble"/>
          <p:cNvSpPr>
            <a:spLocks/>
          </p:cNvSpPr>
          <p:nvPr/>
        </p:nvSpPr>
        <p:spPr bwMode="auto">
          <a:xfrm>
            <a:off x="1193800" y="1828800"/>
            <a:ext cx="7416800" cy="1905000"/>
          </a:xfrm>
          <a:prstGeom prst="accentBorderCallout1">
            <a:avLst>
              <a:gd name="adj1" fmla="val 6000"/>
              <a:gd name="adj2" fmla="val -1028"/>
              <a:gd name="adj3" fmla="val -25750"/>
              <a:gd name="adj4" fmla="val -1028"/>
            </a:avLst>
          </a:prstGeom>
          <a:blipFill dpi="0" rotWithShape="1">
            <a:blip r:embed="rId2"/>
            <a:srcRect/>
            <a:tile tx="0" ty="0" sx="100000" sy="100000" flip="none" algn="tl"/>
          </a:blipFill>
          <a:ln w="9525">
            <a:solidFill>
              <a:schemeClr val="tx1"/>
            </a:solidFill>
            <a:miter lim="800000"/>
            <a:headEnd/>
            <a:tailEnd/>
          </a:ln>
        </p:spPr>
        <p:txBody>
          <a:bodyPr/>
          <a:lstStyle/>
          <a:p>
            <a:pPr algn="just">
              <a:spcBef>
                <a:spcPct val="50000"/>
              </a:spcBef>
            </a:pPr>
            <a:r>
              <a:rPr lang="en-US" sz="2400" b="1">
                <a:solidFill>
                  <a:srgbClr val="FF0066"/>
                </a:solidFill>
                <a:latin typeface="Times New Roman" pitchFamily="18" charset="0"/>
              </a:rPr>
              <a:t>	</a:t>
            </a:r>
            <a:r>
              <a:rPr lang="en-US" sz="2400" b="1">
                <a:solidFill>
                  <a:schemeClr val="bg1"/>
                </a:solidFill>
                <a:latin typeface="Times New Roman" pitchFamily="18" charset="0"/>
              </a:rPr>
              <a:t>Destructor is a </a:t>
            </a:r>
            <a:r>
              <a:rPr lang="en-US" sz="2800" b="1">
                <a:solidFill>
                  <a:schemeClr val="bg1"/>
                </a:solidFill>
                <a:latin typeface="Times New Roman" pitchFamily="18" charset="0"/>
              </a:rPr>
              <a:t>special member function</a:t>
            </a:r>
            <a:r>
              <a:rPr lang="en-US" sz="2400" b="1">
                <a:solidFill>
                  <a:schemeClr val="bg1"/>
                </a:solidFill>
                <a:latin typeface="Times New Roman" pitchFamily="18" charset="0"/>
              </a:rPr>
              <a:t> that is called automatically when an object is destroyed that has been created by constructor</a:t>
            </a:r>
          </a:p>
          <a:p>
            <a:pPr algn="just">
              <a:spcBef>
                <a:spcPct val="50000"/>
              </a:spcBef>
            </a:pPr>
            <a:r>
              <a:rPr lang="en-US" sz="2400" b="1">
                <a:solidFill>
                  <a:schemeClr val="bg1"/>
                </a:solidFill>
                <a:latin typeface="Times New Roman" pitchFamily="18" charset="0"/>
              </a:rPr>
              <a:t>	It can be used to deallocate the memory space</a:t>
            </a:r>
            <a:endParaRPr lang="en-US" sz="2000">
              <a:solidFill>
                <a:schemeClr val="bg1"/>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9218"/>
                                        </p:tgtEl>
                                        <p:attrNameLst>
                                          <p:attrName>style.visibility</p:attrName>
                                        </p:attrNameLst>
                                      </p:cBhvr>
                                      <p:to>
                                        <p:strVal val="visible"/>
                                      </p:to>
                                    </p:set>
                                    <p:anim calcmode="lin" valueType="num">
                                      <p:cBhvr additive="base">
                                        <p:cTn id="7" dur="500" fill="hold"/>
                                        <p:tgtEl>
                                          <p:spTgt spid="9218"/>
                                        </p:tgtEl>
                                        <p:attrNameLst>
                                          <p:attrName>ppt_x</p:attrName>
                                        </p:attrNameLst>
                                      </p:cBhvr>
                                      <p:tavLst>
                                        <p:tav tm="0">
                                          <p:val>
                                            <p:strVal val="0-#ppt_w/2"/>
                                          </p:val>
                                        </p:tav>
                                        <p:tav tm="100000">
                                          <p:val>
                                            <p:strVal val="#ppt_x"/>
                                          </p:val>
                                        </p:tav>
                                      </p:tavLst>
                                    </p:anim>
                                    <p:anim calcmode="lin" valueType="num">
                                      <p:cBhvr additive="base">
                                        <p:cTn id="8" dur="500" fill="hold"/>
                                        <p:tgtEl>
                                          <p:spTgt spid="9218"/>
                                        </p:tgtEl>
                                        <p:attrNameLst>
                                          <p:attrName>ppt_y</p:attrName>
                                        </p:attrNameLst>
                                      </p:cBhvr>
                                      <p:tavLst>
                                        <p:tav tm="0">
                                          <p:val>
                                            <p:strVal val="#ppt_y"/>
                                          </p:val>
                                        </p:tav>
                                        <p:tav tm="100000">
                                          <p:val>
                                            <p:strVal val="#ppt_y"/>
                                          </p:val>
                                        </p:tav>
                                      </p:tavLst>
                                    </p:anim>
                                  </p:childTnLst>
                                </p:cTn>
                              </p:par>
                              <p:par>
                                <p:cTn id="9" presetID="18" presetClass="entr" presetSubtype="12" fill="hold" grpId="0" nodeType="withEffect">
                                  <p:stCondLst>
                                    <p:cond delay="0"/>
                                  </p:stCondLst>
                                  <p:childTnLst>
                                    <p:set>
                                      <p:cBhvr>
                                        <p:cTn id="10" dur="1" fill="hold">
                                          <p:stCondLst>
                                            <p:cond delay="0"/>
                                          </p:stCondLst>
                                        </p:cTn>
                                        <p:tgtEl>
                                          <p:spTgt spid="9220"/>
                                        </p:tgtEl>
                                        <p:attrNameLst>
                                          <p:attrName>style.visibility</p:attrName>
                                        </p:attrNameLst>
                                      </p:cBhvr>
                                      <p:to>
                                        <p:strVal val="visible"/>
                                      </p:to>
                                    </p:set>
                                    <p:animEffect transition="in" filter="strips(downLeft)">
                                      <p:cBhvr>
                                        <p:cTn id="11" dur="500"/>
                                        <p:tgtEl>
                                          <p:spTgt spid="9220"/>
                                        </p:tgtEl>
                                      </p:cBhvr>
                                    </p:animEffect>
                                  </p:childTnLst>
                                </p:cTn>
                              </p:par>
                              <p:par>
                                <p:cTn id="12" presetID="18" presetClass="entr" presetSubtype="3" fill="hold" grpId="1" nodeType="withEffect">
                                  <p:stCondLst>
                                    <p:cond delay="0"/>
                                  </p:stCondLst>
                                  <p:childTnLst>
                                    <p:set>
                                      <p:cBhvr>
                                        <p:cTn id="13" dur="1" fill="hold">
                                          <p:stCondLst>
                                            <p:cond delay="0"/>
                                          </p:stCondLst>
                                        </p:cTn>
                                        <p:tgtEl>
                                          <p:spTgt spid="9218"/>
                                        </p:tgtEl>
                                        <p:attrNameLst>
                                          <p:attrName>style.visibility</p:attrName>
                                        </p:attrNameLst>
                                      </p:cBhvr>
                                      <p:to>
                                        <p:strVal val="visible"/>
                                      </p:to>
                                    </p:set>
                                    <p:animEffect transition="in" filter="strips(upRight)">
                                      <p:cBhvr>
                                        <p:cTn id="14" dur="500"/>
                                        <p:tgtEl>
                                          <p:spTgt spid="92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animBg="1" autoUpdateAnimBg="0"/>
      <p:bldP spid="9218" grpId="1" animBg="1"/>
      <p:bldP spid="9220" grpId="0" animBg="1"/>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descr="Brown marble"/>
          <p:cNvSpPr txBox="1">
            <a:spLocks noChangeArrowheads="1"/>
          </p:cNvSpPr>
          <p:nvPr/>
        </p:nvSpPr>
        <p:spPr bwMode="auto">
          <a:xfrm>
            <a:off x="685800" y="457200"/>
            <a:ext cx="8229600" cy="3354388"/>
          </a:xfrm>
          <a:prstGeom prst="rect">
            <a:avLst/>
          </a:prstGeom>
          <a:blipFill dpi="0" rotWithShape="1">
            <a:blip r:embed="rId2"/>
            <a:srcRect/>
            <a:tile tx="0" ty="0" sx="100000" sy="100000" flip="none" algn="tl"/>
          </a:blipFill>
          <a:ln w="9525">
            <a:noFill/>
            <a:miter lim="800000"/>
            <a:headEnd/>
            <a:tailEnd/>
          </a:ln>
        </p:spPr>
        <p:txBody>
          <a:bodyPr lIns="91437" tIns="45719" rIns="91437" bIns="45719">
            <a:spAutoFit/>
          </a:bodyPr>
          <a:lstStyle/>
          <a:p>
            <a:pPr indent="58738" algn="just">
              <a:spcBef>
                <a:spcPct val="50000"/>
              </a:spcBef>
            </a:pPr>
            <a:r>
              <a:rPr lang="en-US" sz="3200" b="1" u="sng">
                <a:solidFill>
                  <a:schemeClr val="bg1"/>
                </a:solidFill>
                <a:latin typeface="Times New Roman" pitchFamily="18" charset="0"/>
              </a:rPr>
              <a:t>RULES</a:t>
            </a:r>
          </a:p>
          <a:p>
            <a:pPr indent="58738" algn="just">
              <a:spcBef>
                <a:spcPct val="50000"/>
              </a:spcBef>
              <a:buFont typeface="Wingdings" pitchFamily="2" charset="2"/>
              <a:buChar char="ü"/>
            </a:pPr>
            <a:r>
              <a:rPr lang="en-US" sz="2800" b="1">
                <a:solidFill>
                  <a:schemeClr val="bg1"/>
                </a:solidFill>
                <a:latin typeface="Times New Roman" pitchFamily="18" charset="0"/>
              </a:rPr>
              <a:t>      It should be declared inside public</a:t>
            </a:r>
          </a:p>
          <a:p>
            <a:pPr indent="58738" eaLnBrk="0" hangingPunct="0">
              <a:lnSpc>
                <a:spcPct val="125000"/>
              </a:lnSpc>
              <a:buFont typeface="Wingdings" pitchFamily="2" charset="2"/>
              <a:buChar char="ü"/>
            </a:pPr>
            <a:r>
              <a:rPr lang="en-US" sz="2800" b="1">
                <a:solidFill>
                  <a:schemeClr val="bg1"/>
                </a:solidFill>
                <a:latin typeface="Times New Roman" pitchFamily="18" charset="0"/>
              </a:rPr>
              <a:t>      It has no return types</a:t>
            </a:r>
          </a:p>
          <a:p>
            <a:pPr indent="58738" eaLnBrk="0" hangingPunct="0">
              <a:lnSpc>
                <a:spcPct val="125000"/>
              </a:lnSpc>
              <a:buFont typeface="Wingdings" pitchFamily="2" charset="2"/>
              <a:buChar char="ü"/>
            </a:pPr>
            <a:r>
              <a:rPr lang="en-US" sz="2800" b="1">
                <a:solidFill>
                  <a:schemeClr val="bg1"/>
                </a:solidFill>
                <a:latin typeface="Times New Roman" pitchFamily="18" charset="0"/>
              </a:rPr>
              <a:t>      It has no argument or parameters</a:t>
            </a:r>
          </a:p>
          <a:p>
            <a:pPr indent="58738" eaLnBrk="0" hangingPunct="0">
              <a:lnSpc>
                <a:spcPct val="125000"/>
              </a:lnSpc>
              <a:buFont typeface="Wingdings" pitchFamily="2" charset="2"/>
              <a:buChar char="ü"/>
            </a:pPr>
            <a:r>
              <a:rPr lang="en-US" sz="2800" b="1">
                <a:solidFill>
                  <a:schemeClr val="bg1"/>
                </a:solidFill>
                <a:latin typeface="Times New Roman" pitchFamily="18" charset="0"/>
              </a:rPr>
              <a:t>      Prefixed by tilde(~) symbol</a:t>
            </a:r>
          </a:p>
          <a:p>
            <a:pPr indent="58738" eaLnBrk="0" hangingPunct="0">
              <a:lnSpc>
                <a:spcPct val="125000"/>
              </a:lnSpc>
              <a:buFont typeface="Wingdings" pitchFamily="2" charset="2"/>
              <a:buChar char="ü"/>
            </a:pPr>
            <a:r>
              <a:rPr lang="en-US" sz="2800" b="1">
                <a:solidFill>
                  <a:schemeClr val="bg1"/>
                </a:solidFill>
                <a:latin typeface="Times New Roman" pitchFamily="18" charset="0"/>
              </a:rPr>
              <a:t>      So a program can have only one destructor</a:t>
            </a:r>
          </a:p>
        </p:txBody>
      </p:sp>
      <p:sp>
        <p:nvSpPr>
          <p:cNvPr id="10243" name="Rectangle 3" descr="Brown marble"/>
          <p:cNvSpPr>
            <a:spLocks noChangeArrowheads="1"/>
          </p:cNvSpPr>
          <p:nvPr/>
        </p:nvSpPr>
        <p:spPr bwMode="auto">
          <a:xfrm>
            <a:off x="762000" y="4086225"/>
            <a:ext cx="7924800" cy="2101850"/>
          </a:xfrm>
          <a:prstGeom prst="rect">
            <a:avLst/>
          </a:prstGeom>
          <a:blipFill dpi="0" rotWithShape="1">
            <a:blip r:embed="rId2"/>
            <a:srcRect/>
            <a:tile tx="0" ty="0" sx="100000" sy="100000" flip="none" algn="tl"/>
          </a:blipFill>
          <a:ln w="9525">
            <a:noFill/>
            <a:miter lim="800000"/>
            <a:headEnd/>
            <a:tailEnd/>
          </a:ln>
        </p:spPr>
        <p:txBody>
          <a:bodyPr>
            <a:spAutoFit/>
          </a:bodyPr>
          <a:lstStyle/>
          <a:p>
            <a:pPr algn="ctr" eaLnBrk="0" hangingPunct="0"/>
            <a:r>
              <a:rPr lang="en-US" sz="3600" b="1" u="sng">
                <a:solidFill>
                  <a:schemeClr val="bg1"/>
                </a:solidFill>
                <a:latin typeface="Times New Roman" pitchFamily="18" charset="0"/>
              </a:rPr>
              <a:t>Syntax </a:t>
            </a:r>
          </a:p>
          <a:p>
            <a:pPr eaLnBrk="0" hangingPunct="0"/>
            <a:r>
              <a:rPr lang="en-US" sz="2400" b="1">
                <a:solidFill>
                  <a:schemeClr val="bg1"/>
                </a:solidFill>
                <a:latin typeface="Times New Roman" pitchFamily="18" charset="0"/>
              </a:rPr>
              <a:t>~Classname( )</a:t>
            </a:r>
          </a:p>
          <a:p>
            <a:pPr eaLnBrk="0" hangingPunct="0"/>
            <a:r>
              <a:rPr lang="en-US" sz="2400" b="1">
                <a:solidFill>
                  <a:schemeClr val="bg1"/>
                </a:solidFill>
                <a:latin typeface="Times New Roman" pitchFamily="18" charset="0"/>
              </a:rPr>
              <a:t>{</a:t>
            </a:r>
          </a:p>
          <a:p>
            <a:pPr eaLnBrk="0" hangingPunct="0"/>
            <a:r>
              <a:rPr lang="en-US" sz="2400" b="1">
                <a:solidFill>
                  <a:schemeClr val="bg1"/>
                </a:solidFill>
                <a:latin typeface="Times New Roman" pitchFamily="18" charset="0"/>
              </a:rPr>
              <a:t>Statements;</a:t>
            </a:r>
          </a:p>
          <a:p>
            <a:pPr eaLnBrk="0" hangingPunct="0"/>
            <a:r>
              <a:rPr lang="en-US" sz="2400" b="1">
                <a:solidFill>
                  <a:schemeClr val="bg1"/>
                </a:solidFill>
                <a:latin typeface="Times New Roman"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0242"/>
                                        </p:tgtEl>
                                        <p:attrNameLst>
                                          <p:attrName>style.visibility</p:attrName>
                                        </p:attrNameLst>
                                      </p:cBhvr>
                                      <p:to>
                                        <p:strVal val="visible"/>
                                      </p:to>
                                    </p:set>
                                    <p:anim calcmode="lin" valueType="num">
                                      <p:cBhvr additive="base">
                                        <p:cTn id="7" dur="500" fill="hold"/>
                                        <p:tgtEl>
                                          <p:spTgt spid="10242"/>
                                        </p:tgtEl>
                                        <p:attrNameLst>
                                          <p:attrName>ppt_x</p:attrName>
                                        </p:attrNameLst>
                                      </p:cBhvr>
                                      <p:tavLst>
                                        <p:tav tm="0">
                                          <p:val>
                                            <p:strVal val="0-#ppt_w/2"/>
                                          </p:val>
                                        </p:tav>
                                        <p:tav tm="100000">
                                          <p:val>
                                            <p:strVal val="#ppt_x"/>
                                          </p:val>
                                        </p:tav>
                                      </p:tavLst>
                                    </p:anim>
                                    <p:anim calcmode="lin" valueType="num">
                                      <p:cBhvr additive="base">
                                        <p:cTn id="8" dur="500" fill="hold"/>
                                        <p:tgtEl>
                                          <p:spTgt spid="10242"/>
                                        </p:tgtEl>
                                        <p:attrNameLst>
                                          <p:attrName>ppt_y</p:attrName>
                                        </p:attrNameLst>
                                      </p:cBhvr>
                                      <p:tavLst>
                                        <p:tav tm="0">
                                          <p:val>
                                            <p:strVal val="#ppt_y"/>
                                          </p:val>
                                        </p:tav>
                                        <p:tav tm="100000">
                                          <p:val>
                                            <p:strVal val="#ppt_y"/>
                                          </p:val>
                                        </p:tav>
                                      </p:tavLst>
                                    </p:anim>
                                  </p:childTnLst>
                                </p:cTn>
                              </p:par>
                              <p:par>
                                <p:cTn id="9" presetID="18" presetClass="entr" presetSubtype="12" fill="hold" grpId="0" nodeType="withEffect">
                                  <p:stCondLst>
                                    <p:cond delay="0"/>
                                  </p:stCondLst>
                                  <p:childTnLst>
                                    <p:set>
                                      <p:cBhvr>
                                        <p:cTn id="10" dur="1" fill="hold">
                                          <p:stCondLst>
                                            <p:cond delay="0"/>
                                          </p:stCondLst>
                                        </p:cTn>
                                        <p:tgtEl>
                                          <p:spTgt spid="10243"/>
                                        </p:tgtEl>
                                        <p:attrNameLst>
                                          <p:attrName>style.visibility</p:attrName>
                                        </p:attrNameLst>
                                      </p:cBhvr>
                                      <p:to>
                                        <p:strVal val="visible"/>
                                      </p:to>
                                    </p:set>
                                    <p:animEffect transition="in" filter="strips(downLeft)">
                                      <p:cBhvr>
                                        <p:cTn id="11" dur="500"/>
                                        <p:tgtEl>
                                          <p:spTgt spid="102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2" grpId="0" animBg="1" autoUpdateAnimBg="0"/>
      <p:bldP spid="10243" grpId="0" animBg="1"/>
    </p:bld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ChangeArrowheads="1"/>
          </p:cNvSpPr>
          <p:nvPr/>
        </p:nvSpPr>
        <p:spPr bwMode="auto">
          <a:xfrm>
            <a:off x="4724400" y="3657600"/>
            <a:ext cx="1752600" cy="609600"/>
          </a:xfrm>
          <a:prstGeom prst="rect">
            <a:avLst/>
          </a:prstGeom>
          <a:solidFill>
            <a:srgbClr val="99CCFF"/>
          </a:solidFill>
          <a:ln w="9525">
            <a:solidFill>
              <a:schemeClr val="tx1"/>
            </a:solidFill>
            <a:miter lim="800000"/>
            <a:headEnd/>
            <a:tailEnd/>
          </a:ln>
        </p:spPr>
        <p:txBody>
          <a:bodyPr wrap="none" anchor="ctr"/>
          <a:lstStyle/>
          <a:p>
            <a:endParaRPr lang="en-US"/>
          </a:p>
        </p:txBody>
      </p:sp>
      <p:sp>
        <p:nvSpPr>
          <p:cNvPr id="9219" name="Text Box 3"/>
          <p:cNvSpPr txBox="1">
            <a:spLocks noChangeArrowheads="1"/>
          </p:cNvSpPr>
          <p:nvPr/>
        </p:nvSpPr>
        <p:spPr bwMode="auto">
          <a:xfrm>
            <a:off x="4724400" y="3733800"/>
            <a:ext cx="1600200" cy="457200"/>
          </a:xfrm>
          <a:prstGeom prst="rect">
            <a:avLst/>
          </a:prstGeom>
          <a:noFill/>
          <a:ln w="9525">
            <a:noFill/>
            <a:miter lim="800000"/>
            <a:headEnd/>
            <a:tailEnd/>
          </a:ln>
        </p:spPr>
        <p:txBody>
          <a:bodyPr>
            <a:spAutoFit/>
          </a:bodyPr>
          <a:lstStyle/>
          <a:p>
            <a:pPr>
              <a:spcBef>
                <a:spcPct val="50000"/>
              </a:spcBef>
            </a:pPr>
            <a:r>
              <a:rPr lang="en-US" sz="2400" b="1">
                <a:latin typeface="Times New Roman" pitchFamily="18" charset="0"/>
              </a:rPr>
              <a:t>Destructor</a:t>
            </a:r>
          </a:p>
        </p:txBody>
      </p:sp>
      <p:sp>
        <p:nvSpPr>
          <p:cNvPr id="9220" name="AutoShape 4"/>
          <p:cNvSpPr>
            <a:spLocks noChangeArrowheads="1"/>
          </p:cNvSpPr>
          <p:nvPr/>
        </p:nvSpPr>
        <p:spPr bwMode="auto">
          <a:xfrm>
            <a:off x="1981200" y="1752600"/>
            <a:ext cx="1524000" cy="1447800"/>
          </a:xfrm>
          <a:prstGeom prst="cube">
            <a:avLst>
              <a:gd name="adj" fmla="val 25000"/>
            </a:avLst>
          </a:prstGeom>
          <a:solidFill>
            <a:schemeClr val="accent1"/>
          </a:solidFill>
          <a:ln w="9525">
            <a:solidFill>
              <a:schemeClr val="tx1"/>
            </a:solidFill>
            <a:miter lim="800000"/>
            <a:headEnd/>
            <a:tailEnd/>
          </a:ln>
        </p:spPr>
        <p:txBody>
          <a:bodyPr wrap="none" anchor="ctr"/>
          <a:lstStyle/>
          <a:p>
            <a:pPr algn="ctr"/>
            <a:endParaRPr lang="en-US" sz="2400" b="1">
              <a:latin typeface="Times New Roman" pitchFamily="18" charset="0"/>
            </a:endParaRPr>
          </a:p>
        </p:txBody>
      </p:sp>
      <p:sp>
        <p:nvSpPr>
          <p:cNvPr id="9221" name="Text Box 5"/>
          <p:cNvSpPr txBox="1">
            <a:spLocks noChangeArrowheads="1"/>
          </p:cNvSpPr>
          <p:nvPr/>
        </p:nvSpPr>
        <p:spPr bwMode="auto">
          <a:xfrm>
            <a:off x="1981200" y="2362200"/>
            <a:ext cx="1143000" cy="519113"/>
          </a:xfrm>
          <a:prstGeom prst="rect">
            <a:avLst/>
          </a:prstGeom>
          <a:noFill/>
          <a:ln w="9525">
            <a:noFill/>
            <a:miter lim="800000"/>
            <a:headEnd/>
            <a:tailEnd/>
          </a:ln>
        </p:spPr>
        <p:txBody>
          <a:bodyPr>
            <a:spAutoFit/>
          </a:bodyPr>
          <a:lstStyle/>
          <a:p>
            <a:pPr>
              <a:spcBef>
                <a:spcPct val="50000"/>
              </a:spcBef>
            </a:pPr>
            <a:r>
              <a:rPr lang="en-US" sz="2800" b="1">
                <a:latin typeface="Times New Roman" pitchFamily="18" charset="0"/>
              </a:rPr>
              <a:t>object</a:t>
            </a:r>
          </a:p>
        </p:txBody>
      </p:sp>
      <p:sp>
        <p:nvSpPr>
          <p:cNvPr id="9222" name="Text Box 6"/>
          <p:cNvSpPr txBox="1">
            <a:spLocks noChangeArrowheads="1"/>
          </p:cNvSpPr>
          <p:nvPr/>
        </p:nvSpPr>
        <p:spPr bwMode="auto">
          <a:xfrm>
            <a:off x="3810000" y="1676400"/>
            <a:ext cx="1600200" cy="822325"/>
          </a:xfrm>
          <a:prstGeom prst="rect">
            <a:avLst/>
          </a:prstGeom>
          <a:noFill/>
          <a:ln w="9525">
            <a:noFill/>
            <a:miter lim="800000"/>
            <a:headEnd/>
            <a:tailEnd/>
          </a:ln>
        </p:spPr>
        <p:txBody>
          <a:bodyPr>
            <a:spAutoFit/>
          </a:bodyPr>
          <a:lstStyle/>
          <a:p>
            <a:pPr>
              <a:spcBef>
                <a:spcPct val="50000"/>
              </a:spcBef>
            </a:pPr>
            <a:r>
              <a:rPr lang="en-US" sz="2400" b="1">
                <a:latin typeface="Times New Roman" pitchFamily="18" charset="0"/>
              </a:rPr>
              <a:t>Has to be destroyed</a:t>
            </a:r>
          </a:p>
        </p:txBody>
      </p:sp>
      <p:sp>
        <p:nvSpPr>
          <p:cNvPr id="9223" name="AutoShape 7"/>
          <p:cNvSpPr>
            <a:spLocks noChangeArrowheads="1"/>
          </p:cNvSpPr>
          <p:nvPr/>
        </p:nvSpPr>
        <p:spPr bwMode="auto">
          <a:xfrm>
            <a:off x="3962400" y="2438400"/>
            <a:ext cx="838200" cy="228600"/>
          </a:xfrm>
          <a:prstGeom prst="rightArrow">
            <a:avLst>
              <a:gd name="adj1" fmla="val 50000"/>
              <a:gd name="adj2" fmla="val 91667"/>
            </a:avLst>
          </a:prstGeom>
          <a:solidFill>
            <a:srgbClr val="000080"/>
          </a:solidFill>
          <a:ln w="9525">
            <a:solidFill>
              <a:schemeClr val="tx1"/>
            </a:solidFill>
            <a:miter lim="800000"/>
            <a:headEnd/>
            <a:tailEnd/>
          </a:ln>
        </p:spPr>
        <p:txBody>
          <a:bodyPr wrap="none" anchor="ctr"/>
          <a:lstStyle/>
          <a:p>
            <a:endParaRPr lang="en-US"/>
          </a:p>
        </p:txBody>
      </p:sp>
      <p:sp>
        <p:nvSpPr>
          <p:cNvPr id="9224" name="Rectangle 8"/>
          <p:cNvSpPr>
            <a:spLocks noChangeArrowheads="1"/>
          </p:cNvSpPr>
          <p:nvPr/>
        </p:nvSpPr>
        <p:spPr bwMode="auto">
          <a:xfrm>
            <a:off x="5410200" y="1981200"/>
            <a:ext cx="1600200" cy="8382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9225" name="Text Box 9"/>
          <p:cNvSpPr txBox="1">
            <a:spLocks noChangeArrowheads="1"/>
          </p:cNvSpPr>
          <p:nvPr/>
        </p:nvSpPr>
        <p:spPr bwMode="auto">
          <a:xfrm>
            <a:off x="5486400" y="2133600"/>
            <a:ext cx="1676400" cy="519113"/>
          </a:xfrm>
          <a:prstGeom prst="rect">
            <a:avLst/>
          </a:prstGeom>
          <a:noFill/>
          <a:ln w="9525">
            <a:noFill/>
            <a:miter lim="800000"/>
            <a:headEnd/>
            <a:tailEnd/>
          </a:ln>
        </p:spPr>
        <p:txBody>
          <a:bodyPr>
            <a:spAutoFit/>
          </a:bodyPr>
          <a:lstStyle/>
          <a:p>
            <a:pPr>
              <a:spcBef>
                <a:spcPct val="50000"/>
              </a:spcBef>
            </a:pPr>
            <a:r>
              <a:rPr lang="en-US" sz="2800" b="1">
                <a:latin typeface="Times New Roman" pitchFamily="18" charset="0"/>
              </a:rPr>
              <a:t>compiler</a:t>
            </a:r>
          </a:p>
        </p:txBody>
      </p:sp>
      <p:sp>
        <p:nvSpPr>
          <p:cNvPr id="9226" name="AutoShape 10"/>
          <p:cNvSpPr>
            <a:spLocks noChangeArrowheads="1"/>
          </p:cNvSpPr>
          <p:nvPr/>
        </p:nvSpPr>
        <p:spPr bwMode="auto">
          <a:xfrm rot="8037644">
            <a:off x="5105400" y="3124200"/>
            <a:ext cx="838200" cy="228600"/>
          </a:xfrm>
          <a:prstGeom prst="rightArrow">
            <a:avLst>
              <a:gd name="adj1" fmla="val 50000"/>
              <a:gd name="adj2" fmla="val 91667"/>
            </a:avLst>
          </a:prstGeom>
          <a:solidFill>
            <a:srgbClr val="000080"/>
          </a:solidFill>
          <a:ln w="9525">
            <a:solidFill>
              <a:schemeClr val="tx1"/>
            </a:solidFill>
            <a:miter lim="800000"/>
            <a:headEnd/>
            <a:tailEnd/>
          </a:ln>
        </p:spPr>
        <p:txBody>
          <a:bodyPr wrap="none" anchor="ctr"/>
          <a:lstStyle/>
          <a:p>
            <a:endParaRPr lang="en-US"/>
          </a:p>
        </p:txBody>
      </p:sp>
      <p:sp>
        <p:nvSpPr>
          <p:cNvPr id="9227" name="AutoShape 11"/>
          <p:cNvSpPr>
            <a:spLocks noChangeArrowheads="1"/>
          </p:cNvSpPr>
          <p:nvPr/>
        </p:nvSpPr>
        <p:spPr bwMode="auto">
          <a:xfrm rot="8037644">
            <a:off x="3733800" y="4419600"/>
            <a:ext cx="838200" cy="228600"/>
          </a:xfrm>
          <a:prstGeom prst="rightArrow">
            <a:avLst>
              <a:gd name="adj1" fmla="val 50000"/>
              <a:gd name="adj2" fmla="val 91667"/>
            </a:avLst>
          </a:prstGeom>
          <a:solidFill>
            <a:srgbClr val="000080"/>
          </a:solidFill>
          <a:ln w="9525">
            <a:solidFill>
              <a:schemeClr val="tx1"/>
            </a:solidFill>
            <a:miter lim="800000"/>
            <a:headEnd/>
            <a:tailEnd/>
          </a:ln>
        </p:spPr>
        <p:txBody>
          <a:bodyPr wrap="none" anchor="ctr"/>
          <a:lstStyle/>
          <a:p>
            <a:endParaRPr lang="en-US"/>
          </a:p>
        </p:txBody>
      </p:sp>
      <p:sp>
        <p:nvSpPr>
          <p:cNvPr id="9228" name="Rectangle 12"/>
          <p:cNvSpPr>
            <a:spLocks noChangeArrowheads="1"/>
          </p:cNvSpPr>
          <p:nvPr/>
        </p:nvSpPr>
        <p:spPr bwMode="auto">
          <a:xfrm>
            <a:off x="1981200" y="4953000"/>
            <a:ext cx="1600200" cy="10668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9229" name="Text Box 13"/>
          <p:cNvSpPr txBox="1">
            <a:spLocks noChangeArrowheads="1"/>
          </p:cNvSpPr>
          <p:nvPr/>
        </p:nvSpPr>
        <p:spPr bwMode="auto">
          <a:xfrm>
            <a:off x="2057400" y="5181600"/>
            <a:ext cx="1447800" cy="519113"/>
          </a:xfrm>
          <a:prstGeom prst="rect">
            <a:avLst/>
          </a:prstGeom>
          <a:noFill/>
          <a:ln w="9525">
            <a:noFill/>
            <a:miter lim="800000"/>
            <a:headEnd/>
            <a:tailEnd/>
          </a:ln>
        </p:spPr>
        <p:txBody>
          <a:bodyPr>
            <a:spAutoFit/>
          </a:bodyPr>
          <a:lstStyle/>
          <a:p>
            <a:pPr>
              <a:spcBef>
                <a:spcPct val="50000"/>
              </a:spcBef>
            </a:pPr>
            <a:r>
              <a:rPr lang="en-US" sz="2800" b="1">
                <a:latin typeface="Times New Roman" pitchFamily="18" charset="0"/>
              </a:rPr>
              <a:t>memory</a:t>
            </a:r>
          </a:p>
        </p:txBody>
      </p:sp>
      <p:sp>
        <p:nvSpPr>
          <p:cNvPr id="9230" name="Text Box 14"/>
          <p:cNvSpPr txBox="1">
            <a:spLocks noChangeArrowheads="1"/>
          </p:cNvSpPr>
          <p:nvPr/>
        </p:nvSpPr>
        <p:spPr bwMode="auto">
          <a:xfrm>
            <a:off x="2381250" y="4191000"/>
            <a:ext cx="1905000" cy="457200"/>
          </a:xfrm>
          <a:prstGeom prst="rect">
            <a:avLst/>
          </a:prstGeom>
          <a:noFill/>
          <a:ln w="9525">
            <a:noFill/>
            <a:miter lim="800000"/>
            <a:headEnd/>
            <a:tailEnd/>
          </a:ln>
        </p:spPr>
        <p:txBody>
          <a:bodyPr>
            <a:spAutoFit/>
          </a:bodyPr>
          <a:lstStyle/>
          <a:p>
            <a:pPr>
              <a:spcBef>
                <a:spcPct val="50000"/>
              </a:spcBef>
            </a:pPr>
            <a:r>
              <a:rPr lang="en-US" sz="2400" b="1">
                <a:latin typeface="Times New Roman" pitchFamily="18" charset="0"/>
              </a:rPr>
              <a:t>De-allocates</a:t>
            </a:r>
          </a:p>
        </p:txBody>
      </p:sp>
      <p:sp>
        <p:nvSpPr>
          <p:cNvPr id="9231" name="Text Box 15"/>
          <p:cNvSpPr txBox="1">
            <a:spLocks noChangeArrowheads="1"/>
          </p:cNvSpPr>
          <p:nvPr/>
        </p:nvSpPr>
        <p:spPr bwMode="auto">
          <a:xfrm>
            <a:off x="5657850" y="2990850"/>
            <a:ext cx="990600" cy="457200"/>
          </a:xfrm>
          <a:prstGeom prst="rect">
            <a:avLst/>
          </a:prstGeom>
          <a:noFill/>
          <a:ln w="9525">
            <a:noFill/>
            <a:miter lim="800000"/>
            <a:headEnd/>
            <a:tailEnd/>
          </a:ln>
        </p:spPr>
        <p:txBody>
          <a:bodyPr>
            <a:spAutoFit/>
          </a:bodyPr>
          <a:lstStyle/>
          <a:p>
            <a:pPr>
              <a:spcBef>
                <a:spcPct val="50000"/>
              </a:spcBef>
            </a:pPr>
            <a:r>
              <a:rPr lang="en-US" sz="2400" b="1">
                <a:latin typeface="Times New Roman" pitchFamily="18" charset="0"/>
              </a:rPr>
              <a:t>calls</a:t>
            </a:r>
          </a:p>
        </p:txBody>
      </p:sp>
      <p:sp>
        <p:nvSpPr>
          <p:cNvPr id="9232" name="WordArt 16"/>
          <p:cNvSpPr>
            <a:spLocks noChangeArrowheads="1" noChangeShapeType="1" noTextEdit="1"/>
          </p:cNvSpPr>
          <p:nvPr/>
        </p:nvSpPr>
        <p:spPr bwMode="auto">
          <a:xfrm>
            <a:off x="2362200" y="457200"/>
            <a:ext cx="3505200" cy="609600"/>
          </a:xfrm>
          <a:prstGeom prst="rect">
            <a:avLst/>
          </a:prstGeom>
        </p:spPr>
        <p:txBody>
          <a:bodyPr wrap="none" fromWordArt="1">
            <a:prstTxWarp prst="textPlain">
              <a:avLst>
                <a:gd name="adj" fmla="val 50000"/>
              </a:avLst>
            </a:prstTxWarp>
          </a:bodyPr>
          <a:lstStyle/>
          <a:p>
            <a:pPr algn="ctr"/>
            <a:r>
              <a:rPr lang="en-IN" sz="3600" b="1" i="1" kern="10">
                <a:ln w="9525">
                  <a:solidFill>
                    <a:srgbClr val="000000"/>
                  </a:solidFill>
                  <a:round/>
                  <a:headEnd/>
                  <a:tailEnd/>
                </a:ln>
                <a:solidFill>
                  <a:srgbClr val="99FF66"/>
                </a:solidFill>
                <a:effectLst>
                  <a:outerShdw dist="35921" dir="2700000" algn="ctr" rotWithShape="0">
                    <a:srgbClr val="808080">
                      <a:alpha val="79999"/>
                    </a:srgbClr>
                  </a:outerShdw>
                </a:effectLst>
                <a:latin typeface="Arial Black"/>
              </a:rPr>
              <a:t>Destructor</a:t>
            </a:r>
          </a:p>
        </p:txBody>
      </p:sp>
    </p:spTree>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Rot="1" noChangeArrowheads="1"/>
          </p:cNvSpPr>
          <p:nvPr/>
        </p:nvSpPr>
        <p:spPr bwMode="auto">
          <a:xfrm>
            <a:off x="762000" y="0"/>
            <a:ext cx="8081963" cy="838200"/>
          </a:xfrm>
          <a:prstGeom prst="rect">
            <a:avLst/>
          </a:prstGeom>
          <a:noFill/>
          <a:ln w="9525">
            <a:noFill/>
            <a:miter lim="800000"/>
            <a:headEnd/>
            <a:tailEnd/>
          </a:ln>
        </p:spPr>
        <p:txBody>
          <a:bodyPr lIns="98225" tIns="49112" rIns="98225" bIns="49112" anchor="ctr"/>
          <a:lstStyle/>
          <a:p>
            <a:pPr algn="ctr">
              <a:lnSpc>
                <a:spcPct val="85000"/>
              </a:lnSpc>
            </a:pPr>
            <a:r>
              <a:rPr lang="en-US" sz="3500" b="1">
                <a:solidFill>
                  <a:srgbClr val="990000"/>
                </a:solidFill>
              </a:rPr>
              <a:t>Example for destructor</a:t>
            </a:r>
          </a:p>
        </p:txBody>
      </p:sp>
      <p:sp>
        <p:nvSpPr>
          <p:cNvPr id="12291" name="Text Box 3"/>
          <p:cNvSpPr txBox="1">
            <a:spLocks noChangeArrowheads="1"/>
          </p:cNvSpPr>
          <p:nvPr/>
        </p:nvSpPr>
        <p:spPr bwMode="auto">
          <a:xfrm>
            <a:off x="76200" y="812800"/>
            <a:ext cx="4267200" cy="5940425"/>
          </a:xfrm>
          <a:prstGeom prst="rect">
            <a:avLst/>
          </a:prstGeom>
          <a:noFill/>
          <a:ln w="9525">
            <a:solidFill>
              <a:schemeClr val="tx1"/>
            </a:solidFill>
            <a:miter lim="800000"/>
            <a:headEnd/>
            <a:tailEnd/>
          </a:ln>
        </p:spPr>
        <p:txBody>
          <a:bodyPr lIns="91437" tIns="45719" rIns="91437" bIns="45719">
            <a:spAutoFit/>
          </a:bodyPr>
          <a:lstStyle/>
          <a:p>
            <a:r>
              <a:rPr lang="en-US" sz="2000" b="1">
                <a:solidFill>
                  <a:srgbClr val="990000"/>
                </a:solidFill>
                <a:latin typeface="Times New Roman" pitchFamily="18" charset="0"/>
              </a:rPr>
              <a:t>#include&lt;iostream.h&gt;</a:t>
            </a:r>
          </a:p>
          <a:p>
            <a:r>
              <a:rPr lang="en-US" sz="2000" b="1">
                <a:solidFill>
                  <a:srgbClr val="990000"/>
                </a:solidFill>
                <a:latin typeface="Times New Roman" pitchFamily="18" charset="0"/>
              </a:rPr>
              <a:t>#include&lt;conio.h&gt;</a:t>
            </a:r>
          </a:p>
          <a:p>
            <a:r>
              <a:rPr lang="en-US" sz="2000" b="1">
                <a:solidFill>
                  <a:srgbClr val="990000"/>
                </a:solidFill>
                <a:latin typeface="Times New Roman" pitchFamily="18" charset="0"/>
              </a:rPr>
              <a:t>class exam </a:t>
            </a:r>
          </a:p>
          <a:p>
            <a:r>
              <a:rPr lang="en-US" sz="2000" b="1">
                <a:solidFill>
                  <a:srgbClr val="990000"/>
                </a:solidFill>
                <a:latin typeface="Times New Roman" pitchFamily="18" charset="0"/>
              </a:rPr>
              <a:t>{</a:t>
            </a:r>
          </a:p>
          <a:p>
            <a:r>
              <a:rPr lang="en-US" sz="2000" b="1">
                <a:solidFill>
                  <a:srgbClr val="990000"/>
                </a:solidFill>
                <a:latin typeface="Times New Roman" pitchFamily="18" charset="0"/>
              </a:rPr>
              <a:t>private:</a:t>
            </a:r>
          </a:p>
          <a:p>
            <a:r>
              <a:rPr lang="en-US" sz="2000" b="1">
                <a:solidFill>
                  <a:srgbClr val="990000"/>
                </a:solidFill>
                <a:latin typeface="Times New Roman" pitchFamily="18" charset="0"/>
              </a:rPr>
              <a:t>    int sno,mark1,mark2;</a:t>
            </a:r>
          </a:p>
          <a:p>
            <a:r>
              <a:rPr lang="en-US" sz="2000" b="1">
                <a:solidFill>
                  <a:srgbClr val="990000"/>
                </a:solidFill>
                <a:latin typeface="Times New Roman" pitchFamily="18" charset="0"/>
              </a:rPr>
              <a:t>public:</a:t>
            </a:r>
          </a:p>
          <a:p>
            <a:r>
              <a:rPr lang="en-US" sz="2000" b="1">
                <a:solidFill>
                  <a:srgbClr val="990000"/>
                </a:solidFill>
                <a:latin typeface="Times New Roman" pitchFamily="18" charset="0"/>
              </a:rPr>
              <a:t>exam( ) </a:t>
            </a:r>
            <a:r>
              <a:rPr lang="en-US" sz="2000">
                <a:solidFill>
                  <a:srgbClr val="990000"/>
                </a:solidFill>
                <a:latin typeface="Times New Roman" pitchFamily="18" charset="0"/>
              </a:rPr>
              <a:t>//constructor</a:t>
            </a:r>
          </a:p>
          <a:p>
            <a:r>
              <a:rPr lang="en-US" sz="2000" b="1">
                <a:solidFill>
                  <a:srgbClr val="990000"/>
                </a:solidFill>
                <a:latin typeface="Times New Roman" pitchFamily="18" charset="0"/>
              </a:rPr>
              <a:t>{	</a:t>
            </a:r>
          </a:p>
          <a:p>
            <a:r>
              <a:rPr lang="en-US" sz="2000" b="1">
                <a:solidFill>
                  <a:srgbClr val="990000"/>
                </a:solidFill>
                <a:latin typeface="Times New Roman" pitchFamily="18" charset="0"/>
              </a:rPr>
              <a:t>  sno=mark1=mark2=90;</a:t>
            </a:r>
          </a:p>
          <a:p>
            <a:r>
              <a:rPr lang="en-US" sz="2000" b="1">
                <a:solidFill>
                  <a:srgbClr val="990000"/>
                </a:solidFill>
                <a:latin typeface="Times New Roman" pitchFamily="18" charset="0"/>
              </a:rPr>
              <a:t>}</a:t>
            </a:r>
          </a:p>
          <a:p>
            <a:pPr eaLnBrk="0" hangingPunct="0"/>
            <a:r>
              <a:rPr lang="en-US" sz="2000" b="1">
                <a:solidFill>
                  <a:srgbClr val="990000"/>
                </a:solidFill>
                <a:latin typeface="Times New Roman" pitchFamily="18" charset="0"/>
              </a:rPr>
              <a:t>void showdata()	</a:t>
            </a:r>
          </a:p>
          <a:p>
            <a:pPr eaLnBrk="0" hangingPunct="0"/>
            <a:r>
              <a:rPr lang="en-US" sz="2000" b="1">
                <a:solidFill>
                  <a:srgbClr val="990000"/>
                </a:solidFill>
                <a:latin typeface="Times New Roman" pitchFamily="18" charset="0"/>
              </a:rPr>
              <a:t>{</a:t>
            </a:r>
          </a:p>
          <a:p>
            <a:pPr eaLnBrk="0" hangingPunct="0"/>
            <a:r>
              <a:rPr lang="en-US" sz="2000" b="1">
                <a:solidFill>
                  <a:srgbClr val="990000"/>
                </a:solidFill>
                <a:latin typeface="Times New Roman" pitchFamily="18" charset="0"/>
              </a:rPr>
              <a:t>cout&lt;&lt;sno&lt;&lt;mark1&lt;&lt;mark2;</a:t>
            </a:r>
          </a:p>
          <a:p>
            <a:pPr eaLnBrk="0" hangingPunct="0"/>
            <a:r>
              <a:rPr lang="en-US" sz="2000" b="1">
                <a:solidFill>
                  <a:srgbClr val="990000"/>
                </a:solidFill>
                <a:latin typeface="Times New Roman" pitchFamily="18" charset="0"/>
              </a:rPr>
              <a:t>}</a:t>
            </a:r>
          </a:p>
          <a:p>
            <a:pPr eaLnBrk="0" hangingPunct="0"/>
            <a:r>
              <a:rPr lang="en-US" sz="2000" b="1">
                <a:solidFill>
                  <a:srgbClr val="990000"/>
                </a:solidFill>
                <a:latin typeface="Times New Roman" pitchFamily="18" charset="0"/>
              </a:rPr>
              <a:t>~exam()  //Destructor</a:t>
            </a:r>
          </a:p>
          <a:p>
            <a:pPr eaLnBrk="0" hangingPunct="0"/>
            <a:r>
              <a:rPr lang="en-US" sz="2000" b="1">
                <a:solidFill>
                  <a:srgbClr val="990000"/>
                </a:solidFill>
                <a:latin typeface="Times New Roman" pitchFamily="18" charset="0"/>
              </a:rPr>
              <a:t>{</a:t>
            </a:r>
          </a:p>
          <a:p>
            <a:pPr eaLnBrk="0" hangingPunct="0"/>
            <a:r>
              <a:rPr lang="en-US" sz="2000" b="1">
                <a:solidFill>
                  <a:srgbClr val="990000"/>
                </a:solidFill>
                <a:latin typeface="Times New Roman" pitchFamily="18" charset="0"/>
              </a:rPr>
              <a:t>cout&lt;&lt;"destructor is invoked";</a:t>
            </a:r>
          </a:p>
          <a:p>
            <a:pPr eaLnBrk="0" hangingPunct="0"/>
            <a:r>
              <a:rPr lang="en-US" sz="2000" b="1">
                <a:solidFill>
                  <a:srgbClr val="990000"/>
                </a:solidFill>
                <a:latin typeface="Times New Roman" pitchFamily="18" charset="0"/>
              </a:rPr>
              <a:t>}};</a:t>
            </a:r>
          </a:p>
        </p:txBody>
      </p:sp>
      <p:sp>
        <p:nvSpPr>
          <p:cNvPr id="10244" name="Rectangle 4"/>
          <p:cNvSpPr>
            <a:spLocks noChangeArrowheads="1"/>
          </p:cNvSpPr>
          <p:nvPr/>
        </p:nvSpPr>
        <p:spPr bwMode="auto">
          <a:xfrm>
            <a:off x="4572000" y="1066800"/>
            <a:ext cx="4343400" cy="2678113"/>
          </a:xfrm>
          <a:prstGeom prst="rect">
            <a:avLst/>
          </a:prstGeom>
          <a:noFill/>
          <a:ln w="9525">
            <a:solidFill>
              <a:schemeClr val="tx1"/>
            </a:solidFill>
            <a:miter lim="800000"/>
            <a:headEnd/>
            <a:tailEnd/>
          </a:ln>
        </p:spPr>
        <p:txBody>
          <a:bodyPr>
            <a:spAutoFit/>
          </a:bodyPr>
          <a:lstStyle/>
          <a:p>
            <a:pPr eaLnBrk="0" hangingPunct="0"/>
            <a:r>
              <a:rPr lang="en-US" sz="2400" b="1">
                <a:solidFill>
                  <a:srgbClr val="990000"/>
                </a:solidFill>
                <a:latin typeface="Times New Roman" pitchFamily="18" charset="0"/>
              </a:rPr>
              <a:t>void main(){</a:t>
            </a:r>
          </a:p>
          <a:p>
            <a:pPr eaLnBrk="0" hangingPunct="0"/>
            <a:r>
              <a:rPr lang="en-US" sz="2400" b="1">
                <a:solidFill>
                  <a:srgbClr val="990000"/>
                </a:solidFill>
                <a:latin typeface="Times New Roman" pitchFamily="18" charset="0"/>
              </a:rPr>
              <a:t>exam e1;</a:t>
            </a:r>
          </a:p>
          <a:p>
            <a:pPr eaLnBrk="0" hangingPunct="0"/>
            <a:r>
              <a:rPr lang="en-US" sz="2400" b="1">
                <a:solidFill>
                  <a:srgbClr val="990000"/>
                </a:solidFill>
                <a:latin typeface="Times New Roman" pitchFamily="18" charset="0"/>
              </a:rPr>
              <a:t>clrscr();</a:t>
            </a:r>
          </a:p>
          <a:p>
            <a:pPr eaLnBrk="0" hangingPunct="0"/>
            <a:r>
              <a:rPr lang="en-US" sz="2400" b="1">
                <a:solidFill>
                  <a:srgbClr val="990000"/>
                </a:solidFill>
                <a:latin typeface="Times New Roman" pitchFamily="18" charset="0"/>
              </a:rPr>
              <a:t>e1.showdata();</a:t>
            </a:r>
          </a:p>
          <a:p>
            <a:pPr eaLnBrk="0" hangingPunct="0"/>
            <a:r>
              <a:rPr lang="en-US" sz="2400" b="1">
                <a:solidFill>
                  <a:srgbClr val="990000"/>
                </a:solidFill>
                <a:latin typeface="Times New Roman" pitchFamily="18" charset="0"/>
              </a:rPr>
              <a:t>getch();</a:t>
            </a:r>
          </a:p>
          <a:p>
            <a:pPr eaLnBrk="0" hangingPunct="0"/>
            <a:r>
              <a:rPr lang="en-US" sz="2400" b="1">
                <a:solidFill>
                  <a:srgbClr val="990000"/>
                </a:solidFill>
                <a:latin typeface="Times New Roman" pitchFamily="18" charset="0"/>
              </a:rPr>
              <a:t>}</a:t>
            </a:r>
          </a:p>
          <a:p>
            <a:pPr eaLnBrk="0" hangingPunct="0"/>
            <a:endParaRPr lang="en-US" sz="2400" b="1">
              <a:solidFill>
                <a:srgbClr val="990000"/>
              </a:solidFill>
              <a:latin typeface="Times New Roman" pitchFamily="18" charset="0"/>
            </a:endParaRPr>
          </a:p>
        </p:txBody>
      </p:sp>
      <p:sp>
        <p:nvSpPr>
          <p:cNvPr id="10245" name="WordArt 5"/>
          <p:cNvSpPr>
            <a:spLocks noChangeArrowheads="1" noChangeShapeType="1" noTextEdit="1"/>
          </p:cNvSpPr>
          <p:nvPr/>
        </p:nvSpPr>
        <p:spPr bwMode="auto">
          <a:xfrm>
            <a:off x="5638800" y="4648200"/>
            <a:ext cx="1828800" cy="457200"/>
          </a:xfrm>
          <a:prstGeom prst="rect">
            <a:avLst/>
          </a:prstGeom>
        </p:spPr>
        <p:txBody>
          <a:bodyPr wrap="none" fromWordArt="1">
            <a:prstTxWarp prst="textPlain">
              <a:avLst>
                <a:gd name="adj" fmla="val 50000"/>
              </a:avLst>
            </a:prstTxWarp>
          </a:bodyPr>
          <a:lstStyle/>
          <a:p>
            <a:pPr algn="ctr"/>
            <a:r>
              <a:rPr lang="en-IN" sz="3600" b="1"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a:rPr>
              <a:t>RESULT</a:t>
            </a:r>
          </a:p>
        </p:txBody>
      </p:sp>
      <p:sp>
        <p:nvSpPr>
          <p:cNvPr id="10246" name="Rectangle 6"/>
          <p:cNvSpPr>
            <a:spLocks noChangeArrowheads="1"/>
          </p:cNvSpPr>
          <p:nvPr/>
        </p:nvSpPr>
        <p:spPr bwMode="auto">
          <a:xfrm>
            <a:off x="4495800" y="5181600"/>
            <a:ext cx="4724400" cy="1096963"/>
          </a:xfrm>
          <a:prstGeom prst="rect">
            <a:avLst/>
          </a:prstGeom>
          <a:noFill/>
          <a:ln w="9525">
            <a:noFill/>
            <a:miter lim="800000"/>
            <a:headEnd/>
            <a:tailEnd/>
          </a:ln>
        </p:spPr>
        <p:txBody>
          <a:bodyPr>
            <a:spAutoFit/>
          </a:bodyPr>
          <a:lstStyle/>
          <a:p>
            <a:pPr eaLnBrk="0" hangingPunct="0"/>
            <a:r>
              <a:rPr lang="en-US" sz="2200" b="1">
                <a:solidFill>
                  <a:srgbClr val="990000"/>
                </a:solidFill>
                <a:latin typeface="Times New Roman" pitchFamily="18" charset="0"/>
              </a:rPr>
              <a:t>Sno = 100 Mark1 = 100 Mark2 =100 </a:t>
            </a:r>
          </a:p>
          <a:p>
            <a:pPr eaLnBrk="0" hangingPunct="0"/>
            <a:r>
              <a:rPr lang="en-US" sz="2200" b="1">
                <a:solidFill>
                  <a:srgbClr val="990000"/>
                </a:solidFill>
                <a:latin typeface="Times New Roman" pitchFamily="18" charset="0"/>
              </a:rPr>
              <a:t>Sno = 100 Mark1 = 100 Mark2 =100</a:t>
            </a:r>
            <a:r>
              <a:rPr lang="en-US" sz="2000" b="1">
                <a:solidFill>
                  <a:srgbClr val="990000"/>
                </a:solidFill>
                <a:latin typeface="Times New Roman" pitchFamily="18" charset="0"/>
              </a:rPr>
              <a:t> </a:t>
            </a:r>
          </a:p>
          <a:p>
            <a:pPr eaLnBrk="0" hangingPunct="0"/>
            <a:r>
              <a:rPr lang="en-US" sz="2200" b="1">
                <a:solidFill>
                  <a:srgbClr val="990000"/>
                </a:solidFill>
                <a:latin typeface="Times New Roman" pitchFamily="18" charset="0"/>
              </a:rPr>
              <a:t>destructor is invoked</a:t>
            </a:r>
          </a:p>
        </p:txBody>
      </p:sp>
      <p:sp>
        <p:nvSpPr>
          <p:cNvPr id="10247" name="AutoShape 7"/>
          <p:cNvSpPr>
            <a:spLocks/>
          </p:cNvSpPr>
          <p:nvPr/>
        </p:nvSpPr>
        <p:spPr bwMode="auto">
          <a:xfrm>
            <a:off x="4419600" y="5105400"/>
            <a:ext cx="228600" cy="1371600"/>
          </a:xfrm>
          <a:prstGeom prst="leftBracket">
            <a:avLst>
              <a:gd name="adj" fmla="val 50000"/>
            </a:avLst>
          </a:prstGeom>
          <a:noFill/>
          <a:ln w="9525">
            <a:solidFill>
              <a:schemeClr val="tx1"/>
            </a:solidFill>
            <a:round/>
            <a:headEnd/>
            <a:tailEnd/>
          </a:ln>
        </p:spPr>
        <p:txBody>
          <a:bodyPr wrap="none" anchor="ctr"/>
          <a:lstStyle/>
          <a:p>
            <a:endParaRPr lang="en-US"/>
          </a:p>
        </p:txBody>
      </p:sp>
      <p:sp>
        <p:nvSpPr>
          <p:cNvPr id="10248" name="AutoShape 8"/>
          <p:cNvSpPr>
            <a:spLocks/>
          </p:cNvSpPr>
          <p:nvPr/>
        </p:nvSpPr>
        <p:spPr bwMode="auto">
          <a:xfrm>
            <a:off x="8872538" y="5029200"/>
            <a:ext cx="152400" cy="1371600"/>
          </a:xfrm>
          <a:prstGeom prst="rightBracket">
            <a:avLst>
              <a:gd name="adj" fmla="val 75000"/>
            </a:avLst>
          </a:prstGeom>
          <a:noFill/>
          <a:ln w="9525">
            <a:solidFill>
              <a:schemeClr val="tx1"/>
            </a:solidFill>
            <a:round/>
            <a:headEnd/>
            <a:tailEnd/>
          </a:ln>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2290"/>
                                        </p:tgtEl>
                                        <p:attrNameLst>
                                          <p:attrName>style.visibility</p:attrName>
                                        </p:attrNameLst>
                                      </p:cBhvr>
                                      <p:to>
                                        <p:strVal val="visible"/>
                                      </p:to>
                                    </p:set>
                                    <p:anim calcmode="lin" valueType="num">
                                      <p:cBhvr additive="base">
                                        <p:cTn id="7" dur="500" fill="hold"/>
                                        <p:tgtEl>
                                          <p:spTgt spid="12290"/>
                                        </p:tgtEl>
                                        <p:attrNameLst>
                                          <p:attrName>ppt_x</p:attrName>
                                        </p:attrNameLst>
                                      </p:cBhvr>
                                      <p:tavLst>
                                        <p:tav tm="0">
                                          <p:val>
                                            <p:strVal val="0-#ppt_w/2"/>
                                          </p:val>
                                        </p:tav>
                                        <p:tav tm="100000">
                                          <p:val>
                                            <p:strVal val="#ppt_x"/>
                                          </p:val>
                                        </p:tav>
                                      </p:tavLst>
                                    </p:anim>
                                    <p:anim calcmode="lin" valueType="num">
                                      <p:cBhvr additive="base">
                                        <p:cTn id="8" dur="500" fill="hold"/>
                                        <p:tgtEl>
                                          <p:spTgt spid="12290"/>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2291"/>
                                        </p:tgtEl>
                                        <p:attrNameLst>
                                          <p:attrName>style.visibility</p:attrName>
                                        </p:attrNameLst>
                                      </p:cBhvr>
                                      <p:to>
                                        <p:strVal val="visible"/>
                                      </p:to>
                                    </p:set>
                                    <p:anim calcmode="lin" valueType="num">
                                      <p:cBhvr additive="base">
                                        <p:cTn id="11" dur="500" fill="hold"/>
                                        <p:tgtEl>
                                          <p:spTgt spid="12291"/>
                                        </p:tgtEl>
                                        <p:attrNameLst>
                                          <p:attrName>ppt_x</p:attrName>
                                        </p:attrNameLst>
                                      </p:cBhvr>
                                      <p:tavLst>
                                        <p:tav tm="0">
                                          <p:val>
                                            <p:strVal val="0-#ppt_w/2"/>
                                          </p:val>
                                        </p:tav>
                                        <p:tav tm="100000">
                                          <p:val>
                                            <p:strVal val="#ppt_x"/>
                                          </p:val>
                                        </p:tav>
                                      </p:tavLst>
                                    </p:anim>
                                    <p:anim calcmode="lin" valueType="num">
                                      <p:cBhvr additive="base">
                                        <p:cTn id="12" dur="500" fill="hold"/>
                                        <p:tgtEl>
                                          <p:spTgt spid="1229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autoUpdateAnimBg="0"/>
      <p:bldP spid="12291" grpId="0" animBg="1" autoUpdateAnimBg="0"/>
    </p:bld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2"/>
          <p:cNvSpPr txBox="1">
            <a:spLocks noChangeArrowheads="1"/>
          </p:cNvSpPr>
          <p:nvPr/>
        </p:nvSpPr>
        <p:spPr bwMode="auto">
          <a:xfrm>
            <a:off x="457200" y="1447800"/>
            <a:ext cx="8534400" cy="2898775"/>
          </a:xfrm>
          <a:prstGeom prst="rect">
            <a:avLst/>
          </a:prstGeom>
          <a:noFill/>
          <a:ln w="9525">
            <a:noFill/>
            <a:miter lim="800000"/>
            <a:headEnd/>
            <a:tailEnd/>
          </a:ln>
        </p:spPr>
        <p:txBody>
          <a:bodyPr>
            <a:spAutoFit/>
          </a:bodyPr>
          <a:lstStyle/>
          <a:p>
            <a:pPr algn="just" eaLnBrk="0" hangingPunct="0">
              <a:lnSpc>
                <a:spcPct val="180000"/>
              </a:lnSpc>
              <a:spcBef>
                <a:spcPct val="20000"/>
              </a:spcBef>
              <a:spcAft>
                <a:spcPct val="20000"/>
              </a:spcAft>
            </a:pPr>
            <a:r>
              <a:rPr lang="en-US" sz="2400" b="1">
                <a:solidFill>
                  <a:srgbClr val="800000"/>
                </a:solidFill>
                <a:latin typeface="Times New Roman" pitchFamily="18" charset="0"/>
                <a:cs typeface="Times New Roman" pitchFamily="18" charset="0"/>
              </a:rPr>
              <a:t> </a:t>
            </a:r>
            <a:r>
              <a:rPr lang="en-US" sz="2400" b="1">
                <a:solidFill>
                  <a:srgbClr val="660033"/>
                </a:solidFill>
                <a:latin typeface="Times New Roman" pitchFamily="18" charset="0"/>
              </a:rPr>
              <a:t>A constructor is a special member function which is executed automatically when an object is to be created</a:t>
            </a:r>
          </a:p>
          <a:p>
            <a:pPr algn="just" eaLnBrk="0" hangingPunct="0">
              <a:lnSpc>
                <a:spcPct val="180000"/>
              </a:lnSpc>
              <a:spcBef>
                <a:spcPct val="20000"/>
              </a:spcBef>
              <a:spcAft>
                <a:spcPct val="20000"/>
              </a:spcAft>
            </a:pPr>
            <a:r>
              <a:rPr lang="en-US" sz="2400" b="1">
                <a:solidFill>
                  <a:srgbClr val="660033"/>
                </a:solidFill>
                <a:latin typeface="Times New Roman" pitchFamily="18" charset="0"/>
              </a:rPr>
              <a:t>A Destructor is a special member function which is executed automatically when an object is to be destroyed</a:t>
            </a:r>
          </a:p>
        </p:txBody>
      </p:sp>
      <p:sp>
        <p:nvSpPr>
          <p:cNvPr id="11267" name="WordArt 3"/>
          <p:cNvSpPr>
            <a:spLocks noChangeArrowheads="1" noChangeShapeType="1" noTextEdit="1"/>
          </p:cNvSpPr>
          <p:nvPr/>
        </p:nvSpPr>
        <p:spPr bwMode="auto">
          <a:xfrm>
            <a:off x="2590800" y="228600"/>
            <a:ext cx="3200400" cy="914400"/>
          </a:xfrm>
          <a:prstGeom prst="rect">
            <a:avLst/>
          </a:prstGeom>
        </p:spPr>
        <p:txBody>
          <a:bodyPr wrap="none" fromWordArt="1">
            <a:prstTxWarp prst="textCanUp">
              <a:avLst>
                <a:gd name="adj" fmla="val 85713"/>
              </a:avLst>
            </a:prstTxWarp>
          </a:bodyPr>
          <a:lstStyle/>
          <a:p>
            <a:pPr algn="ctr"/>
            <a:r>
              <a:rPr lang="en-IN"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a:rPr>
              <a:t>Summary</a:t>
            </a:r>
          </a:p>
        </p:txBody>
      </p:sp>
      <p:sp>
        <p:nvSpPr>
          <p:cNvPr id="11268" name="Rectangle 4"/>
          <p:cNvSpPr>
            <a:spLocks noChangeArrowheads="1"/>
          </p:cNvSpPr>
          <p:nvPr/>
        </p:nvSpPr>
        <p:spPr bwMode="auto">
          <a:xfrm>
            <a:off x="304800" y="1295400"/>
            <a:ext cx="8763000" cy="3200400"/>
          </a:xfrm>
          <a:prstGeom prst="rect">
            <a:avLst/>
          </a:prstGeom>
          <a:noFill/>
          <a:ln w="57150" cmpd="thickThin">
            <a:solidFill>
              <a:srgbClr val="990033"/>
            </a:solidFill>
            <a:miter lim="800000"/>
            <a:headEnd/>
            <a:tailEnd/>
          </a:ln>
        </p:spPr>
        <p:txBody>
          <a:bodyPr wrap="none" anchor="ctr"/>
          <a:lstStyle/>
          <a:p>
            <a:pPr algn="ctr" eaLnBrk="0" hangingPunct="0"/>
            <a:endParaRPr lang="en-US">
              <a:solidFill>
                <a:srgbClr val="800000"/>
              </a:solidFill>
              <a:latin typeface="Verdana" pitchFamily="34" charset="0"/>
            </a:endParaRPr>
          </a:p>
        </p:txBody>
      </p:sp>
    </p:spTree>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2209800" y="609600"/>
            <a:ext cx="4648200" cy="609600"/>
            <a:chOff x="2016" y="384"/>
            <a:chExt cx="1728" cy="384"/>
          </a:xfrm>
        </p:grpSpPr>
        <p:sp>
          <p:nvSpPr>
            <p:cNvPr id="12293" name="Rectangle 3"/>
            <p:cNvSpPr>
              <a:spLocks noChangeArrowheads="1"/>
            </p:cNvSpPr>
            <p:nvPr/>
          </p:nvSpPr>
          <p:spPr bwMode="auto">
            <a:xfrm>
              <a:off x="2016" y="432"/>
              <a:ext cx="1728" cy="336"/>
            </a:xfrm>
            <a:prstGeom prst="rect">
              <a:avLst/>
            </a:prstGeom>
            <a:solidFill>
              <a:schemeClr val="accent1"/>
            </a:solidFill>
            <a:ln w="57150" cmpd="thickThin">
              <a:solidFill>
                <a:schemeClr val="tx1"/>
              </a:solidFill>
              <a:miter lim="800000"/>
              <a:headEnd/>
              <a:tailEnd/>
            </a:ln>
          </p:spPr>
          <p:txBody>
            <a:bodyPr wrap="none" anchor="ctr"/>
            <a:lstStyle/>
            <a:p>
              <a:endParaRPr lang="en-US"/>
            </a:p>
          </p:txBody>
        </p:sp>
        <p:sp>
          <p:nvSpPr>
            <p:cNvPr id="12294" name="Rectangle 4"/>
            <p:cNvSpPr>
              <a:spLocks noChangeArrowheads="1"/>
            </p:cNvSpPr>
            <p:nvPr/>
          </p:nvSpPr>
          <p:spPr bwMode="auto">
            <a:xfrm>
              <a:off x="2120" y="384"/>
              <a:ext cx="1576" cy="336"/>
            </a:xfrm>
            <a:prstGeom prst="rect">
              <a:avLst/>
            </a:prstGeom>
            <a:solidFill>
              <a:schemeClr val="accent1"/>
            </a:solidFill>
            <a:ln w="57150" cmpd="thickThin">
              <a:solidFill>
                <a:schemeClr val="tx1"/>
              </a:solidFill>
              <a:miter lim="800000"/>
              <a:headEnd/>
              <a:tailEnd/>
            </a:ln>
          </p:spPr>
          <p:txBody>
            <a:bodyPr wrap="none" anchor="ctr"/>
            <a:lstStyle/>
            <a:p>
              <a:endParaRPr lang="en-US"/>
            </a:p>
          </p:txBody>
        </p:sp>
      </p:grpSp>
      <p:sp>
        <p:nvSpPr>
          <p:cNvPr id="15365" name="Rectangle 5"/>
          <p:cNvSpPr>
            <a:spLocks noChangeArrowheads="1"/>
          </p:cNvSpPr>
          <p:nvPr/>
        </p:nvSpPr>
        <p:spPr bwMode="auto">
          <a:xfrm>
            <a:off x="304800" y="577850"/>
            <a:ext cx="8610600" cy="4146550"/>
          </a:xfrm>
          <a:prstGeom prst="rect">
            <a:avLst/>
          </a:prstGeom>
          <a:noFill/>
          <a:ln w="9525" algn="ctr">
            <a:noFill/>
            <a:miter lim="800000"/>
            <a:headEnd/>
            <a:tailEnd/>
          </a:ln>
        </p:spPr>
        <p:txBody>
          <a:bodyPr anchor="ctr">
            <a:spAutoFit/>
          </a:bodyPr>
          <a:lstStyle/>
          <a:p>
            <a:pPr marL="457200" indent="-457200" algn="ctr">
              <a:tabLst>
                <a:tab pos="457200" algn="l"/>
              </a:tabLst>
            </a:pPr>
            <a:r>
              <a:rPr lang="en-US" sz="3200" b="1">
                <a:solidFill>
                  <a:srgbClr val="000000"/>
                </a:solidFill>
                <a:latin typeface="Times New Roman" pitchFamily="18" charset="0"/>
              </a:rPr>
              <a:t>EXERCISES</a:t>
            </a:r>
          </a:p>
          <a:p>
            <a:pPr marL="457200" indent="-457200" algn="just" eaLnBrk="0" hangingPunct="0">
              <a:lnSpc>
                <a:spcPct val="160000"/>
              </a:lnSpc>
              <a:spcBef>
                <a:spcPct val="15000"/>
              </a:spcBef>
              <a:spcAft>
                <a:spcPct val="25000"/>
              </a:spcAft>
              <a:buFontTx/>
              <a:buAutoNum type="arabicPeriod"/>
              <a:tabLst>
                <a:tab pos="457200" algn="l"/>
              </a:tabLst>
            </a:pPr>
            <a:r>
              <a:rPr lang="en-US" sz="2400" b="1">
                <a:solidFill>
                  <a:srgbClr val="660033"/>
                </a:solidFill>
                <a:latin typeface="Times New Roman" pitchFamily="18" charset="0"/>
              </a:rPr>
              <a:t> Explain the use of constructors in a class?</a:t>
            </a:r>
          </a:p>
          <a:p>
            <a:pPr marL="457200" indent="-457200" algn="just" eaLnBrk="0" hangingPunct="0">
              <a:lnSpc>
                <a:spcPct val="160000"/>
              </a:lnSpc>
              <a:spcBef>
                <a:spcPct val="15000"/>
              </a:spcBef>
              <a:spcAft>
                <a:spcPct val="25000"/>
              </a:spcAft>
              <a:buFontTx/>
              <a:buAutoNum type="arabicPeriod"/>
              <a:tabLst>
                <a:tab pos="457200" algn="l"/>
              </a:tabLst>
            </a:pPr>
            <a:r>
              <a:rPr lang="en-US" sz="2400" b="1">
                <a:solidFill>
                  <a:srgbClr val="660033"/>
                </a:solidFill>
                <a:latin typeface="Times New Roman" pitchFamily="18" charset="0"/>
              </a:rPr>
              <a:t> Explain the use of Destructors in a class?</a:t>
            </a:r>
          </a:p>
          <a:p>
            <a:pPr marL="457200" indent="-457200" algn="just" eaLnBrk="0" hangingPunct="0">
              <a:lnSpc>
                <a:spcPct val="160000"/>
              </a:lnSpc>
              <a:spcBef>
                <a:spcPct val="15000"/>
              </a:spcBef>
              <a:spcAft>
                <a:spcPct val="25000"/>
              </a:spcAft>
              <a:buFontTx/>
              <a:buAutoNum type="arabicPeriod"/>
              <a:tabLst>
                <a:tab pos="457200" algn="l"/>
              </a:tabLst>
            </a:pPr>
            <a:r>
              <a:rPr lang="en-US" sz="2400" b="1">
                <a:solidFill>
                  <a:srgbClr val="660033"/>
                </a:solidFill>
                <a:latin typeface="Times New Roman" pitchFamily="18" charset="0"/>
              </a:rPr>
              <a:t> State the difference between Constructors &amp; Destructors?</a:t>
            </a:r>
          </a:p>
          <a:p>
            <a:pPr marL="457200" indent="-457200" algn="just" eaLnBrk="0" hangingPunct="0">
              <a:lnSpc>
                <a:spcPct val="160000"/>
              </a:lnSpc>
              <a:spcBef>
                <a:spcPct val="15000"/>
              </a:spcBef>
              <a:spcAft>
                <a:spcPct val="25000"/>
              </a:spcAft>
              <a:buFontTx/>
              <a:buAutoNum type="arabicPeriod"/>
              <a:tabLst>
                <a:tab pos="457200" algn="l"/>
              </a:tabLst>
            </a:pPr>
            <a:r>
              <a:rPr lang="en-US" sz="2400" b="1">
                <a:solidFill>
                  <a:srgbClr val="660033"/>
                </a:solidFill>
                <a:latin typeface="Times New Roman" pitchFamily="18" charset="0"/>
              </a:rPr>
              <a:t> Explain Default constructor with Example?</a:t>
            </a:r>
          </a:p>
          <a:p>
            <a:pPr marL="457200" indent="-457200" algn="just" eaLnBrk="0" hangingPunct="0">
              <a:lnSpc>
                <a:spcPct val="160000"/>
              </a:lnSpc>
              <a:spcBef>
                <a:spcPct val="15000"/>
              </a:spcBef>
              <a:spcAft>
                <a:spcPct val="25000"/>
              </a:spcAft>
              <a:buFontTx/>
              <a:buAutoNum type="arabicPeriod"/>
              <a:tabLst>
                <a:tab pos="457200" algn="l"/>
              </a:tabLst>
            </a:pPr>
            <a:r>
              <a:rPr lang="en-US" sz="2400" b="1">
                <a:solidFill>
                  <a:srgbClr val="660033"/>
                </a:solidFill>
                <a:latin typeface="Times New Roman" pitchFamily="18" charset="0"/>
              </a:rPr>
              <a:t> Explain the use of Copy constructor in a class?</a:t>
            </a:r>
            <a:endParaRPr lang="en-US" sz="2400" b="1">
              <a:solidFill>
                <a:srgbClr val="000066"/>
              </a:solidFill>
              <a:latin typeface="Times New Roman" pitchFamily="18" charset="0"/>
            </a:endParaRPr>
          </a:p>
        </p:txBody>
      </p:sp>
      <p:sp>
        <p:nvSpPr>
          <p:cNvPr id="12292" name="AutoShape 6"/>
          <p:cNvSpPr>
            <a:spLocks noChangeArrowheads="1"/>
          </p:cNvSpPr>
          <p:nvPr/>
        </p:nvSpPr>
        <p:spPr bwMode="auto">
          <a:xfrm>
            <a:off x="228600" y="533400"/>
            <a:ext cx="8534400" cy="5029200"/>
          </a:xfrm>
          <a:prstGeom prst="roundRect">
            <a:avLst>
              <a:gd name="adj" fmla="val 16667"/>
            </a:avLst>
          </a:prstGeom>
          <a:noFill/>
          <a:ln w="57150" cmpd="thickThin">
            <a:solidFill>
              <a:srgbClr val="990033"/>
            </a:solidFill>
            <a:round/>
            <a:headEnd/>
            <a:tailEnd/>
          </a:ln>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6" fill="hold" grpId="0" nodeType="withEffect">
                                  <p:stCondLst>
                                    <p:cond delay="0"/>
                                  </p:stCondLst>
                                  <p:childTnLst>
                                    <p:set>
                                      <p:cBhvr>
                                        <p:cTn id="6" dur="1" fill="hold">
                                          <p:stCondLst>
                                            <p:cond delay="0"/>
                                          </p:stCondLst>
                                        </p:cTn>
                                        <p:tgtEl>
                                          <p:spTgt spid="15365"/>
                                        </p:tgtEl>
                                        <p:attrNameLst>
                                          <p:attrName>style.visibility</p:attrName>
                                        </p:attrNameLst>
                                      </p:cBhvr>
                                      <p:to>
                                        <p:strVal val="visible"/>
                                      </p:to>
                                    </p:set>
                                    <p:anim calcmode="lin" valueType="num">
                                      <p:cBhvr>
                                        <p:cTn id="7" dur="500" fill="hold"/>
                                        <p:tgtEl>
                                          <p:spTgt spid="15365"/>
                                        </p:tgtEl>
                                        <p:attrNameLst>
                                          <p:attrName>ppt_w</p:attrName>
                                        </p:attrNameLst>
                                      </p:cBhvr>
                                      <p:tavLst>
                                        <p:tav tm="0">
                                          <p:val>
                                            <p:strVal val="(6*min(max(#ppt_w*#ppt_h,.3),1)-7.4)/-.7*#ppt_w"/>
                                          </p:val>
                                        </p:tav>
                                        <p:tav tm="100000">
                                          <p:val>
                                            <p:strVal val="#ppt_w"/>
                                          </p:val>
                                        </p:tav>
                                      </p:tavLst>
                                    </p:anim>
                                    <p:anim calcmode="lin" valueType="num">
                                      <p:cBhvr>
                                        <p:cTn id="8" dur="500" fill="hold"/>
                                        <p:tgtEl>
                                          <p:spTgt spid="15365"/>
                                        </p:tgtEl>
                                        <p:attrNameLst>
                                          <p:attrName>ppt_h</p:attrName>
                                        </p:attrNameLst>
                                      </p:cBhvr>
                                      <p:tavLst>
                                        <p:tav tm="0">
                                          <p:val>
                                            <p:strVal val="(6*min(max(#ppt_w*#ppt_h,.3),1)-7.4)/-.7*#ppt_h"/>
                                          </p:val>
                                        </p:tav>
                                        <p:tav tm="100000">
                                          <p:val>
                                            <p:strVal val="#ppt_h"/>
                                          </p:val>
                                        </p:tav>
                                      </p:tavLst>
                                    </p:anim>
                                    <p:anim calcmode="lin" valueType="num">
                                      <p:cBhvr>
                                        <p:cTn id="9" dur="500" fill="hold"/>
                                        <p:tgtEl>
                                          <p:spTgt spid="15365"/>
                                        </p:tgtEl>
                                        <p:attrNameLst>
                                          <p:attrName>ppt_x</p:attrName>
                                        </p:attrNameLst>
                                      </p:cBhvr>
                                      <p:tavLst>
                                        <p:tav tm="0">
                                          <p:val>
                                            <p:fltVal val="0.5"/>
                                          </p:val>
                                        </p:tav>
                                        <p:tav tm="100000">
                                          <p:val>
                                            <p:strVal val="#ppt_x"/>
                                          </p:val>
                                        </p:tav>
                                      </p:tavLst>
                                    </p:anim>
                                    <p:anim calcmode="lin" valueType="num">
                                      <p:cBhvr>
                                        <p:cTn id="10" dur="500" fill="hold"/>
                                        <p:tgtEl>
                                          <p:spTgt spid="15365"/>
                                        </p:tgtEl>
                                        <p:attrNameLst>
                                          <p:attrName>ppt_y</p:attrName>
                                        </p:attrNameLst>
                                      </p:cBhvr>
                                      <p:tavLst>
                                        <p:tav tm="0">
                                          <p:val>
                                            <p:strVal val="1+(6*min(max(#ppt_w*#ppt_h,.3),1)-7.4)/-.7*#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5" grpId="0"/>
    </p:bld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WordArt 2"/>
          <p:cNvSpPr>
            <a:spLocks noChangeArrowheads="1" noChangeShapeType="1" noTextEdit="1"/>
          </p:cNvSpPr>
          <p:nvPr/>
        </p:nvSpPr>
        <p:spPr bwMode="auto">
          <a:xfrm>
            <a:off x="1219200" y="3276600"/>
            <a:ext cx="7086600" cy="914400"/>
          </a:xfrm>
          <a:prstGeom prst="rect">
            <a:avLst/>
          </a:prstGeom>
        </p:spPr>
        <p:txBody>
          <a:bodyPr wrap="none" fromWordArt="1">
            <a:prstTxWarp prst="textChevron">
              <a:avLst>
                <a:gd name="adj" fmla="val 25000"/>
              </a:avLst>
            </a:prstTxWarp>
          </a:bodyPr>
          <a:lstStyle/>
          <a:p>
            <a:pPr algn="ctr"/>
            <a:r>
              <a:rPr lang="en-IN" sz="3600" kern="10">
                <a:ln w="12700">
                  <a:solidFill>
                    <a:srgbClr val="B2B2B2"/>
                  </a:solidFill>
                  <a:round/>
                  <a:headEnd/>
                  <a:tailEnd/>
                </a:ln>
                <a:solidFill>
                  <a:srgbClr val="FF0000"/>
                </a:solidFill>
                <a:effectLst>
                  <a:outerShdw dist="35921" dir="2700000" sy="50000" rotWithShape="0">
                    <a:srgbClr val="875B0D">
                      <a:alpha val="70000"/>
                    </a:srgbClr>
                  </a:outerShdw>
                </a:effectLst>
                <a:latin typeface="Arial Black"/>
              </a:rPr>
              <a:t>Operator Overloading</a:t>
            </a:r>
          </a:p>
        </p:txBody>
      </p:sp>
      <p:sp>
        <p:nvSpPr>
          <p:cNvPr id="2051" name="WordArt 3"/>
          <p:cNvSpPr>
            <a:spLocks noChangeArrowheads="1" noChangeShapeType="1" noTextEdit="1"/>
          </p:cNvSpPr>
          <p:nvPr/>
        </p:nvSpPr>
        <p:spPr bwMode="auto">
          <a:xfrm>
            <a:off x="3124200" y="1066800"/>
            <a:ext cx="2895600" cy="647700"/>
          </a:xfrm>
          <a:prstGeom prst="rect">
            <a:avLst/>
          </a:prstGeom>
        </p:spPr>
        <p:txBody>
          <a:bodyPr wrap="none" fromWordArt="1">
            <a:prstTxWarp prst="textPlain">
              <a:avLst>
                <a:gd name="adj" fmla="val 50000"/>
              </a:avLst>
            </a:prstTxWarp>
          </a:bodyPr>
          <a:lstStyle/>
          <a:p>
            <a:pPr algn="ctr"/>
            <a:r>
              <a:rPr lang="en-IN" sz="3600" kern="10">
                <a:ln w="9525">
                  <a:solidFill>
                    <a:srgbClr val="000000"/>
                  </a:solidFill>
                  <a:round/>
                  <a:headEnd/>
                  <a:tailEnd/>
                </a:ln>
                <a:solidFill>
                  <a:srgbClr val="A50021"/>
                </a:solidFill>
                <a:latin typeface="Arial Black"/>
              </a:rPr>
              <a:t>CHAPTER 9</a:t>
            </a:r>
          </a:p>
        </p:txBody>
      </p:sp>
    </p:spTree>
  </p:cSld>
  <p:clrMapOvr>
    <a:masterClrMapping/>
  </p:clrMapOvr>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
          <p:cNvSpPr txBox="1">
            <a:spLocks noChangeArrowheads="1"/>
          </p:cNvSpPr>
          <p:nvPr/>
        </p:nvSpPr>
        <p:spPr bwMode="auto">
          <a:xfrm>
            <a:off x="1876425" y="776288"/>
            <a:ext cx="5376863" cy="823912"/>
          </a:xfrm>
          <a:prstGeom prst="rect">
            <a:avLst/>
          </a:prstGeom>
          <a:solidFill>
            <a:srgbClr val="FF0000"/>
          </a:solidFill>
          <a:ln w="9525">
            <a:noFill/>
            <a:miter lim="800000"/>
            <a:headEnd/>
            <a:tailEnd/>
          </a:ln>
          <a:effectLst/>
        </p:spPr>
        <p:txBody>
          <a:bodyPr wrap="none">
            <a:spAutoFit/>
          </a:bodyPr>
          <a:lstStyle/>
          <a:p>
            <a:pPr>
              <a:defRPr/>
            </a:pPr>
            <a:r>
              <a:rPr lang="en-US" sz="4800" b="1">
                <a:solidFill>
                  <a:srgbClr val="66FFFF"/>
                </a:solidFill>
                <a:effectLst>
                  <a:outerShdw blurRad="38100" dist="38100" dir="2700000" algn="tl">
                    <a:srgbClr val="000000"/>
                  </a:outerShdw>
                </a:effectLst>
                <a:latin typeface="Arial Unicode MS" pitchFamily="34" charset="-128"/>
                <a:cs typeface="Times New Roman" pitchFamily="18" charset="0"/>
              </a:rPr>
              <a:t>Session Objectives</a:t>
            </a:r>
          </a:p>
        </p:txBody>
      </p:sp>
      <p:sp>
        <p:nvSpPr>
          <p:cNvPr id="5123" name="Text Box 3"/>
          <p:cNvSpPr txBox="1">
            <a:spLocks noChangeArrowheads="1"/>
          </p:cNvSpPr>
          <p:nvPr/>
        </p:nvSpPr>
        <p:spPr bwMode="auto">
          <a:xfrm>
            <a:off x="885825" y="2071688"/>
            <a:ext cx="5324475" cy="519112"/>
          </a:xfrm>
          <a:prstGeom prst="rect">
            <a:avLst/>
          </a:prstGeom>
          <a:noFill/>
          <a:ln w="9525">
            <a:noFill/>
            <a:miter lim="800000"/>
            <a:headEnd/>
            <a:tailEnd/>
          </a:ln>
        </p:spPr>
        <p:txBody>
          <a:bodyPr wrap="none">
            <a:spAutoFit/>
          </a:bodyPr>
          <a:lstStyle/>
          <a:p>
            <a:pPr>
              <a:buFontTx/>
              <a:buBlip>
                <a:blip r:embed="rId2"/>
              </a:buBlip>
            </a:pPr>
            <a:r>
              <a:rPr lang="en-US" sz="2800" b="1">
                <a:solidFill>
                  <a:srgbClr val="CC3300"/>
                </a:solidFill>
                <a:latin typeface="Times New Roman" pitchFamily="18" charset="0"/>
                <a:cs typeface="Times New Roman" pitchFamily="18" charset="0"/>
              </a:rPr>
              <a:t>   Discuss Operator Overloading</a:t>
            </a:r>
          </a:p>
        </p:txBody>
      </p:sp>
      <p:sp>
        <p:nvSpPr>
          <p:cNvPr id="5124" name="Text Box 4"/>
          <p:cNvSpPr txBox="1">
            <a:spLocks noChangeArrowheads="1"/>
          </p:cNvSpPr>
          <p:nvPr/>
        </p:nvSpPr>
        <p:spPr bwMode="auto">
          <a:xfrm>
            <a:off x="885825" y="2833688"/>
            <a:ext cx="4970463" cy="519112"/>
          </a:xfrm>
          <a:prstGeom prst="rect">
            <a:avLst/>
          </a:prstGeom>
          <a:noFill/>
          <a:ln w="9525">
            <a:noFill/>
            <a:miter lim="800000"/>
            <a:headEnd/>
            <a:tailEnd/>
          </a:ln>
        </p:spPr>
        <p:txBody>
          <a:bodyPr wrap="none">
            <a:spAutoFit/>
          </a:bodyPr>
          <a:lstStyle/>
          <a:p>
            <a:pPr>
              <a:buFontTx/>
              <a:buBlip>
                <a:blip r:embed="rId2"/>
              </a:buBlip>
            </a:pPr>
            <a:r>
              <a:rPr lang="en-US" sz="2800" b="1">
                <a:solidFill>
                  <a:srgbClr val="CC3300"/>
                </a:solidFill>
                <a:latin typeface="Times New Roman" pitchFamily="18" charset="0"/>
                <a:cs typeface="Times New Roman" pitchFamily="18" charset="0"/>
              </a:rPr>
              <a:t>   Unary operator overloading</a:t>
            </a:r>
          </a:p>
        </p:txBody>
      </p:sp>
      <p:sp>
        <p:nvSpPr>
          <p:cNvPr id="5125" name="Text Box 5"/>
          <p:cNvSpPr txBox="1">
            <a:spLocks noChangeArrowheads="1"/>
          </p:cNvSpPr>
          <p:nvPr/>
        </p:nvSpPr>
        <p:spPr bwMode="auto">
          <a:xfrm>
            <a:off x="962025" y="3748088"/>
            <a:ext cx="4959350" cy="519112"/>
          </a:xfrm>
          <a:prstGeom prst="rect">
            <a:avLst/>
          </a:prstGeom>
          <a:noFill/>
          <a:ln w="9525">
            <a:noFill/>
            <a:miter lim="800000"/>
            <a:headEnd/>
            <a:tailEnd/>
          </a:ln>
        </p:spPr>
        <p:txBody>
          <a:bodyPr wrap="none">
            <a:spAutoFit/>
          </a:bodyPr>
          <a:lstStyle/>
          <a:p>
            <a:pPr>
              <a:buFontTx/>
              <a:buBlip>
                <a:blip r:embed="rId2"/>
              </a:buBlip>
            </a:pPr>
            <a:r>
              <a:rPr lang="en-US" sz="2800" b="1">
                <a:solidFill>
                  <a:srgbClr val="CC3300"/>
                </a:solidFill>
                <a:latin typeface="Times New Roman" pitchFamily="18" charset="0"/>
                <a:cs typeface="Times New Roman" pitchFamily="18" charset="0"/>
              </a:rPr>
              <a:t>  Binary operator overloading</a:t>
            </a:r>
          </a:p>
        </p:txBody>
      </p:sp>
      <p:sp>
        <p:nvSpPr>
          <p:cNvPr id="5126" name="Text Box 6"/>
          <p:cNvSpPr txBox="1">
            <a:spLocks noChangeArrowheads="1"/>
          </p:cNvSpPr>
          <p:nvPr/>
        </p:nvSpPr>
        <p:spPr bwMode="auto">
          <a:xfrm>
            <a:off x="990600" y="4510088"/>
            <a:ext cx="5768975" cy="519112"/>
          </a:xfrm>
          <a:prstGeom prst="rect">
            <a:avLst/>
          </a:prstGeom>
          <a:noFill/>
          <a:ln w="9525">
            <a:noFill/>
            <a:miter lim="800000"/>
            <a:headEnd/>
            <a:tailEnd/>
          </a:ln>
        </p:spPr>
        <p:txBody>
          <a:bodyPr wrap="none">
            <a:spAutoFit/>
          </a:bodyPr>
          <a:lstStyle/>
          <a:p>
            <a:pPr>
              <a:buFontTx/>
              <a:buBlip>
                <a:blip r:embed="rId2"/>
              </a:buBlip>
            </a:pPr>
            <a:r>
              <a:rPr lang="en-US" sz="2800" b="1">
                <a:solidFill>
                  <a:srgbClr val="CC3300"/>
                </a:solidFill>
                <a:latin typeface="Times New Roman" pitchFamily="18" charset="0"/>
                <a:cs typeface="Times New Roman" pitchFamily="18" charset="0"/>
              </a:rPr>
              <a:t>  Overloading Arithmetic Operator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88" fill="hold" grpId="0" nodeType="afterEffect">
                                  <p:stCondLst>
                                    <p:cond delay="0"/>
                                  </p:stCondLst>
                                  <p:childTnLst>
                                    <p:set>
                                      <p:cBhvr>
                                        <p:cTn id="6" dur="1" fill="hold">
                                          <p:stCondLst>
                                            <p:cond delay="0"/>
                                          </p:stCondLst>
                                        </p:cTn>
                                        <p:tgtEl>
                                          <p:spTgt spid="5123"/>
                                        </p:tgtEl>
                                        <p:attrNameLst>
                                          <p:attrName>style.visibility</p:attrName>
                                        </p:attrNameLst>
                                      </p:cBhvr>
                                      <p:to>
                                        <p:strVal val="visible"/>
                                      </p:to>
                                    </p:set>
                                    <p:anim calcmode="lin" valueType="num">
                                      <p:cBhvr>
                                        <p:cTn id="7" dur="500" fill="hold"/>
                                        <p:tgtEl>
                                          <p:spTgt spid="5123"/>
                                        </p:tgtEl>
                                        <p:attrNameLst>
                                          <p:attrName>ppt_w</p:attrName>
                                        </p:attrNameLst>
                                      </p:cBhvr>
                                      <p:tavLst>
                                        <p:tav tm="0">
                                          <p:val>
                                            <p:strVal val="4/3*#ppt_w"/>
                                          </p:val>
                                        </p:tav>
                                        <p:tav tm="100000">
                                          <p:val>
                                            <p:strVal val="#ppt_w"/>
                                          </p:val>
                                        </p:tav>
                                      </p:tavLst>
                                    </p:anim>
                                    <p:anim calcmode="lin" valueType="num">
                                      <p:cBhvr>
                                        <p:cTn id="8" dur="500" fill="hold"/>
                                        <p:tgtEl>
                                          <p:spTgt spid="5123"/>
                                        </p:tgtEl>
                                        <p:attrNameLst>
                                          <p:attrName>ppt_h</p:attrName>
                                        </p:attrNameLst>
                                      </p:cBhvr>
                                      <p:tavLst>
                                        <p:tav tm="0">
                                          <p:val>
                                            <p:strVal val="4/3*#ppt_h"/>
                                          </p:val>
                                        </p:tav>
                                        <p:tav tm="100000">
                                          <p:val>
                                            <p:strVal val="#ppt_h"/>
                                          </p:val>
                                        </p:tav>
                                      </p:tavLst>
                                    </p:anim>
                                  </p:childTnLst>
                                </p:cTn>
                              </p:par>
                            </p:childTnLst>
                          </p:cTn>
                        </p:par>
                        <p:par>
                          <p:cTn id="9" fill="hold">
                            <p:stCondLst>
                              <p:cond delay="500"/>
                            </p:stCondLst>
                            <p:childTnLst>
                              <p:par>
                                <p:cTn id="10" presetID="23" presetClass="entr" presetSubtype="288" fill="hold" grpId="0" nodeType="afterEffect">
                                  <p:stCondLst>
                                    <p:cond delay="0"/>
                                  </p:stCondLst>
                                  <p:childTnLst>
                                    <p:set>
                                      <p:cBhvr>
                                        <p:cTn id="11" dur="1" fill="hold">
                                          <p:stCondLst>
                                            <p:cond delay="0"/>
                                          </p:stCondLst>
                                        </p:cTn>
                                        <p:tgtEl>
                                          <p:spTgt spid="5124"/>
                                        </p:tgtEl>
                                        <p:attrNameLst>
                                          <p:attrName>style.visibility</p:attrName>
                                        </p:attrNameLst>
                                      </p:cBhvr>
                                      <p:to>
                                        <p:strVal val="visible"/>
                                      </p:to>
                                    </p:set>
                                    <p:anim calcmode="lin" valueType="num">
                                      <p:cBhvr>
                                        <p:cTn id="12" dur="500" fill="hold"/>
                                        <p:tgtEl>
                                          <p:spTgt spid="5124"/>
                                        </p:tgtEl>
                                        <p:attrNameLst>
                                          <p:attrName>ppt_w</p:attrName>
                                        </p:attrNameLst>
                                      </p:cBhvr>
                                      <p:tavLst>
                                        <p:tav tm="0">
                                          <p:val>
                                            <p:strVal val="4/3*#ppt_w"/>
                                          </p:val>
                                        </p:tav>
                                        <p:tav tm="100000">
                                          <p:val>
                                            <p:strVal val="#ppt_w"/>
                                          </p:val>
                                        </p:tav>
                                      </p:tavLst>
                                    </p:anim>
                                    <p:anim calcmode="lin" valueType="num">
                                      <p:cBhvr>
                                        <p:cTn id="13" dur="500" fill="hold"/>
                                        <p:tgtEl>
                                          <p:spTgt spid="5124"/>
                                        </p:tgtEl>
                                        <p:attrNameLst>
                                          <p:attrName>ppt_h</p:attrName>
                                        </p:attrNameLst>
                                      </p:cBhvr>
                                      <p:tavLst>
                                        <p:tav tm="0">
                                          <p:val>
                                            <p:strVal val="4/3*#ppt_h"/>
                                          </p:val>
                                        </p:tav>
                                        <p:tav tm="100000">
                                          <p:val>
                                            <p:strVal val="#ppt_h"/>
                                          </p:val>
                                        </p:tav>
                                      </p:tavLst>
                                    </p:anim>
                                  </p:childTnLst>
                                </p:cTn>
                              </p:par>
                            </p:childTnLst>
                          </p:cTn>
                        </p:par>
                        <p:par>
                          <p:cTn id="14" fill="hold">
                            <p:stCondLst>
                              <p:cond delay="1000"/>
                            </p:stCondLst>
                            <p:childTnLst>
                              <p:par>
                                <p:cTn id="15" presetID="23" presetClass="entr" presetSubtype="288" fill="hold" grpId="0" nodeType="afterEffect">
                                  <p:stCondLst>
                                    <p:cond delay="0"/>
                                  </p:stCondLst>
                                  <p:childTnLst>
                                    <p:set>
                                      <p:cBhvr>
                                        <p:cTn id="16" dur="1" fill="hold">
                                          <p:stCondLst>
                                            <p:cond delay="0"/>
                                          </p:stCondLst>
                                        </p:cTn>
                                        <p:tgtEl>
                                          <p:spTgt spid="5125"/>
                                        </p:tgtEl>
                                        <p:attrNameLst>
                                          <p:attrName>style.visibility</p:attrName>
                                        </p:attrNameLst>
                                      </p:cBhvr>
                                      <p:to>
                                        <p:strVal val="visible"/>
                                      </p:to>
                                    </p:set>
                                    <p:anim calcmode="lin" valueType="num">
                                      <p:cBhvr>
                                        <p:cTn id="17" dur="500" fill="hold"/>
                                        <p:tgtEl>
                                          <p:spTgt spid="5125"/>
                                        </p:tgtEl>
                                        <p:attrNameLst>
                                          <p:attrName>ppt_w</p:attrName>
                                        </p:attrNameLst>
                                      </p:cBhvr>
                                      <p:tavLst>
                                        <p:tav tm="0">
                                          <p:val>
                                            <p:strVal val="4/3*#ppt_w"/>
                                          </p:val>
                                        </p:tav>
                                        <p:tav tm="100000">
                                          <p:val>
                                            <p:strVal val="#ppt_w"/>
                                          </p:val>
                                        </p:tav>
                                      </p:tavLst>
                                    </p:anim>
                                    <p:anim calcmode="lin" valueType="num">
                                      <p:cBhvr>
                                        <p:cTn id="18" dur="500" fill="hold"/>
                                        <p:tgtEl>
                                          <p:spTgt spid="5125"/>
                                        </p:tgtEl>
                                        <p:attrNameLst>
                                          <p:attrName>ppt_h</p:attrName>
                                        </p:attrNameLst>
                                      </p:cBhvr>
                                      <p:tavLst>
                                        <p:tav tm="0">
                                          <p:val>
                                            <p:strVal val="4/3*#ppt_h"/>
                                          </p:val>
                                        </p:tav>
                                        <p:tav tm="100000">
                                          <p:val>
                                            <p:strVal val="#ppt_h"/>
                                          </p:val>
                                        </p:tav>
                                      </p:tavLst>
                                    </p:anim>
                                  </p:childTnLst>
                                </p:cTn>
                              </p:par>
                            </p:childTnLst>
                          </p:cTn>
                        </p:par>
                        <p:par>
                          <p:cTn id="19" fill="hold">
                            <p:stCondLst>
                              <p:cond delay="1500"/>
                            </p:stCondLst>
                            <p:childTnLst>
                              <p:par>
                                <p:cTn id="20" presetID="23" presetClass="entr" presetSubtype="288" fill="hold" grpId="0" nodeType="afterEffect">
                                  <p:stCondLst>
                                    <p:cond delay="0"/>
                                  </p:stCondLst>
                                  <p:childTnLst>
                                    <p:set>
                                      <p:cBhvr>
                                        <p:cTn id="21" dur="1" fill="hold">
                                          <p:stCondLst>
                                            <p:cond delay="0"/>
                                          </p:stCondLst>
                                        </p:cTn>
                                        <p:tgtEl>
                                          <p:spTgt spid="5126"/>
                                        </p:tgtEl>
                                        <p:attrNameLst>
                                          <p:attrName>style.visibility</p:attrName>
                                        </p:attrNameLst>
                                      </p:cBhvr>
                                      <p:to>
                                        <p:strVal val="visible"/>
                                      </p:to>
                                    </p:set>
                                    <p:anim calcmode="lin" valueType="num">
                                      <p:cBhvr>
                                        <p:cTn id="22" dur="500" fill="hold"/>
                                        <p:tgtEl>
                                          <p:spTgt spid="5126"/>
                                        </p:tgtEl>
                                        <p:attrNameLst>
                                          <p:attrName>ppt_w</p:attrName>
                                        </p:attrNameLst>
                                      </p:cBhvr>
                                      <p:tavLst>
                                        <p:tav tm="0">
                                          <p:val>
                                            <p:strVal val="4/3*#ppt_w"/>
                                          </p:val>
                                        </p:tav>
                                        <p:tav tm="100000">
                                          <p:val>
                                            <p:strVal val="#ppt_w"/>
                                          </p:val>
                                        </p:tav>
                                      </p:tavLst>
                                    </p:anim>
                                    <p:anim calcmode="lin" valueType="num">
                                      <p:cBhvr>
                                        <p:cTn id="23" dur="500" fill="hold"/>
                                        <p:tgtEl>
                                          <p:spTgt spid="5126"/>
                                        </p:tgtEl>
                                        <p:attrNameLst>
                                          <p:attrName>ppt_h</p:attrName>
                                        </p:attrNameLst>
                                      </p:cBhvr>
                                      <p:tavLst>
                                        <p:tav tm="0">
                                          <p:val>
                                            <p:strVal val="4/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autoUpdateAnimBg="0"/>
      <p:bldP spid="5124" grpId="0" autoUpdateAnimBg="0"/>
      <p:bldP spid="5125" grpId="0" autoUpdateAnimBg="0"/>
      <p:bldP spid="5126" grpId="0" autoUpdateAnimBg="0"/>
    </p:bld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ChangeArrowheads="1"/>
          </p:cNvSpPr>
          <p:nvPr/>
        </p:nvSpPr>
        <p:spPr bwMode="auto">
          <a:xfrm>
            <a:off x="533400" y="4419600"/>
            <a:ext cx="6172200" cy="2438400"/>
          </a:xfrm>
          <a:prstGeom prst="rect">
            <a:avLst/>
          </a:prstGeom>
          <a:solidFill>
            <a:srgbClr val="CC0066"/>
          </a:solidFill>
          <a:ln w="9525">
            <a:solidFill>
              <a:schemeClr val="tx1"/>
            </a:solidFill>
            <a:miter lim="800000"/>
            <a:headEnd/>
            <a:tailEnd/>
          </a:ln>
        </p:spPr>
        <p:txBody>
          <a:bodyPr wrap="none" anchor="ctr"/>
          <a:lstStyle/>
          <a:p>
            <a:endParaRPr lang="en-US"/>
          </a:p>
        </p:txBody>
      </p:sp>
      <p:sp>
        <p:nvSpPr>
          <p:cNvPr id="4099" name="Rectangle 3"/>
          <p:cNvSpPr>
            <a:spLocks noChangeArrowheads="1"/>
          </p:cNvSpPr>
          <p:nvPr/>
        </p:nvSpPr>
        <p:spPr bwMode="auto">
          <a:xfrm>
            <a:off x="609600" y="1371600"/>
            <a:ext cx="8305800" cy="5613400"/>
          </a:xfrm>
          <a:prstGeom prst="rect">
            <a:avLst/>
          </a:prstGeom>
          <a:noFill/>
          <a:ln w="9525">
            <a:noFill/>
            <a:miter lim="800000"/>
            <a:headEnd/>
            <a:tailEnd/>
          </a:ln>
        </p:spPr>
        <p:txBody>
          <a:bodyPr>
            <a:spAutoFit/>
          </a:bodyPr>
          <a:lstStyle/>
          <a:p>
            <a:pPr algn="just" eaLnBrk="0" hangingPunct="0">
              <a:lnSpc>
                <a:spcPct val="115000"/>
              </a:lnSpc>
            </a:pPr>
            <a:r>
              <a:rPr lang="en-US" sz="2400" b="1">
                <a:solidFill>
                  <a:srgbClr val="660033"/>
                </a:solidFill>
                <a:latin typeface="Times New Roman" pitchFamily="18" charset="0"/>
              </a:rPr>
              <a:t>Operator Overloading refers to giving the normal C++ Operators, such as  +,*,&lt;= etc., additional meanings when they are applied to user defined data types.</a:t>
            </a:r>
          </a:p>
          <a:p>
            <a:pPr algn="just" eaLnBrk="0" hangingPunct="0">
              <a:lnSpc>
                <a:spcPct val="115000"/>
              </a:lnSpc>
            </a:pPr>
            <a:r>
              <a:rPr lang="en-US" sz="2400" b="1">
                <a:solidFill>
                  <a:srgbClr val="660033"/>
                </a:solidFill>
                <a:latin typeface="Times New Roman" pitchFamily="18" charset="0"/>
              </a:rPr>
              <a:t>	 simply defined </a:t>
            </a:r>
            <a:r>
              <a:rPr lang="en-US" sz="2400" b="1" u="sng">
                <a:solidFill>
                  <a:srgbClr val="660033"/>
                </a:solidFill>
                <a:latin typeface="Times New Roman" pitchFamily="18" charset="0"/>
              </a:rPr>
              <a:t>as to create new definitions for operators</a:t>
            </a:r>
            <a:r>
              <a:rPr lang="en-US" sz="2400" b="1">
                <a:solidFill>
                  <a:srgbClr val="660033"/>
                </a:solidFill>
                <a:latin typeface="Times New Roman" pitchFamily="18" charset="0"/>
              </a:rPr>
              <a:t>.</a:t>
            </a:r>
          </a:p>
          <a:p>
            <a:pPr algn="just" eaLnBrk="0" hangingPunct="0">
              <a:lnSpc>
                <a:spcPct val="115000"/>
              </a:lnSpc>
            </a:pPr>
            <a:r>
              <a:rPr lang="en-US" sz="2400" b="1">
                <a:solidFill>
                  <a:srgbClr val="660033"/>
                </a:solidFill>
                <a:latin typeface="Times New Roman" pitchFamily="18" charset="0"/>
              </a:rPr>
              <a:t>2. </a:t>
            </a:r>
            <a:r>
              <a:rPr lang="en-US" sz="2400" b="1" u="sng">
                <a:solidFill>
                  <a:srgbClr val="660033"/>
                </a:solidFill>
                <a:latin typeface="Times New Roman" pitchFamily="18" charset="0"/>
              </a:rPr>
              <a:t>Data type conversions</a:t>
            </a:r>
            <a:r>
              <a:rPr lang="en-US" sz="2400" b="1">
                <a:solidFill>
                  <a:srgbClr val="660033"/>
                </a:solidFill>
                <a:latin typeface="Times New Roman" pitchFamily="18" charset="0"/>
              </a:rPr>
              <a:t> is closely connected with operator overloading.</a:t>
            </a:r>
          </a:p>
          <a:p>
            <a:pPr algn="just" eaLnBrk="0" hangingPunct="0">
              <a:lnSpc>
                <a:spcPct val="115000"/>
              </a:lnSpc>
            </a:pPr>
            <a:r>
              <a:rPr lang="en-US" sz="2400" b="1" u="sng">
                <a:solidFill>
                  <a:schemeClr val="bg1"/>
                </a:solidFill>
                <a:latin typeface="Times New Roman" pitchFamily="18" charset="0"/>
              </a:rPr>
              <a:t>Syntax :</a:t>
            </a:r>
          </a:p>
          <a:p>
            <a:pPr algn="just" eaLnBrk="0" hangingPunct="0">
              <a:lnSpc>
                <a:spcPct val="115000"/>
              </a:lnSpc>
            </a:pPr>
            <a:r>
              <a:rPr lang="en-US" sz="2400" b="1">
                <a:solidFill>
                  <a:schemeClr val="bg1"/>
                </a:solidFill>
                <a:latin typeface="Times New Roman" pitchFamily="18" charset="0"/>
              </a:rPr>
              <a:t>&lt;ret.datatype&gt; operator &lt;operator name&gt;()</a:t>
            </a:r>
          </a:p>
          <a:p>
            <a:pPr algn="just" eaLnBrk="0" hangingPunct="0">
              <a:lnSpc>
                <a:spcPct val="115000"/>
              </a:lnSpc>
            </a:pPr>
            <a:r>
              <a:rPr lang="en-US" sz="2400" b="1">
                <a:solidFill>
                  <a:schemeClr val="bg1"/>
                </a:solidFill>
                <a:latin typeface="Times New Roman" pitchFamily="18" charset="0"/>
              </a:rPr>
              <a:t>{</a:t>
            </a:r>
          </a:p>
          <a:p>
            <a:pPr algn="just" eaLnBrk="0" hangingPunct="0">
              <a:lnSpc>
                <a:spcPct val="115000"/>
              </a:lnSpc>
            </a:pPr>
            <a:r>
              <a:rPr lang="en-US" sz="2400" b="1">
                <a:solidFill>
                  <a:schemeClr val="bg1"/>
                </a:solidFill>
                <a:latin typeface="Times New Roman" pitchFamily="18" charset="0"/>
              </a:rPr>
              <a:t>---</a:t>
            </a:r>
          </a:p>
          <a:p>
            <a:pPr algn="just" eaLnBrk="0" hangingPunct="0">
              <a:lnSpc>
                <a:spcPct val="115000"/>
              </a:lnSpc>
            </a:pPr>
            <a:r>
              <a:rPr lang="en-US" sz="2400" b="1">
                <a:solidFill>
                  <a:schemeClr val="bg1"/>
                </a:solidFill>
                <a:latin typeface="Times New Roman" pitchFamily="18" charset="0"/>
              </a:rPr>
              <a:t>---</a:t>
            </a:r>
          </a:p>
          <a:p>
            <a:pPr algn="just" eaLnBrk="0" hangingPunct="0">
              <a:lnSpc>
                <a:spcPct val="115000"/>
              </a:lnSpc>
            </a:pPr>
            <a:r>
              <a:rPr lang="en-US" sz="2400" b="1">
                <a:solidFill>
                  <a:schemeClr val="bg1"/>
                </a:solidFill>
                <a:latin typeface="Times New Roman" pitchFamily="18" charset="0"/>
              </a:rPr>
              <a:t>}</a:t>
            </a:r>
          </a:p>
        </p:txBody>
      </p:sp>
      <p:sp>
        <p:nvSpPr>
          <p:cNvPr id="4100" name="WordArt 4" descr="Walnut"/>
          <p:cNvSpPr>
            <a:spLocks noChangeArrowheads="1" noChangeShapeType="1" noTextEdit="1"/>
          </p:cNvSpPr>
          <p:nvPr/>
        </p:nvSpPr>
        <p:spPr bwMode="auto">
          <a:xfrm>
            <a:off x="1295400" y="381000"/>
            <a:ext cx="7239000" cy="838200"/>
          </a:xfrm>
          <a:prstGeom prst="rect">
            <a:avLst/>
          </a:prstGeom>
        </p:spPr>
        <p:txBody>
          <a:bodyPr wrap="none" fromWordArt="1">
            <a:prstTxWarp prst="textPlain">
              <a:avLst>
                <a:gd name="adj" fmla="val 50000"/>
              </a:avLst>
            </a:prstTxWarp>
          </a:bodyPr>
          <a:lstStyle/>
          <a:p>
            <a:pPr algn="ctr"/>
            <a:r>
              <a:rPr lang="en-IN" sz="4000" b="1" kern="10">
                <a:ln w="9525">
                  <a:solidFill>
                    <a:srgbClr val="008000"/>
                  </a:solidFill>
                  <a:round/>
                  <a:headEnd/>
                  <a:tailEnd/>
                </a:ln>
                <a:gradFill rotWithShape="1">
                  <a:gsLst>
                    <a:gs pos="0">
                      <a:srgbClr val="FFF200"/>
                    </a:gs>
                    <a:gs pos="22501">
                      <a:srgbClr val="FF7A00"/>
                    </a:gs>
                    <a:gs pos="35001">
                      <a:srgbClr val="FF0300"/>
                    </a:gs>
                    <a:gs pos="50000">
                      <a:srgbClr val="4D0808"/>
                    </a:gs>
                    <a:gs pos="64999">
                      <a:srgbClr val="FF0300"/>
                    </a:gs>
                    <a:gs pos="77499">
                      <a:srgbClr val="FF7A00"/>
                    </a:gs>
                    <a:gs pos="100000">
                      <a:srgbClr val="FFF200"/>
                    </a:gs>
                  </a:gsLst>
                  <a:lin ang="18900000" scaled="1"/>
                </a:gradFill>
                <a:effectLst>
                  <a:outerShdw dist="563972" dir="14049741" sx="125000" sy="125000" algn="tl" rotWithShape="0">
                    <a:srgbClr val="C7DFD3">
                      <a:alpha val="79999"/>
                    </a:srgbClr>
                  </a:outerShdw>
                </a:effectLst>
                <a:latin typeface="Arial Black"/>
              </a:rPr>
              <a:t>Operator Overloading</a:t>
            </a:r>
          </a:p>
        </p:txBody>
      </p:sp>
    </p:spTree>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
          <p:cNvSpPr txBox="1">
            <a:spLocks noChangeArrowheads="1"/>
          </p:cNvSpPr>
          <p:nvPr/>
        </p:nvSpPr>
        <p:spPr bwMode="auto">
          <a:xfrm>
            <a:off x="0" y="152400"/>
            <a:ext cx="9144000" cy="6302375"/>
          </a:xfrm>
          <a:prstGeom prst="rect">
            <a:avLst/>
          </a:prstGeom>
          <a:noFill/>
          <a:ln w="9525">
            <a:solidFill>
              <a:srgbClr val="990033"/>
            </a:solidFill>
            <a:miter lim="800000"/>
            <a:headEnd/>
            <a:tailEnd/>
          </a:ln>
        </p:spPr>
        <p:txBody>
          <a:bodyPr>
            <a:spAutoFit/>
          </a:bodyPr>
          <a:lstStyle/>
          <a:p>
            <a:pPr marL="457200" indent="-457200" eaLnBrk="0" hangingPunct="0">
              <a:spcBef>
                <a:spcPct val="50000"/>
              </a:spcBef>
            </a:pPr>
            <a:endParaRPr lang="en-US" sz="2800" b="1" i="1" u="sng">
              <a:solidFill>
                <a:srgbClr val="660033"/>
              </a:solidFill>
              <a:latin typeface="Times New Roman" pitchFamily="18" charset="0"/>
            </a:endParaRPr>
          </a:p>
          <a:p>
            <a:pPr marL="457200" indent="-457200" eaLnBrk="0" hangingPunct="0">
              <a:spcBef>
                <a:spcPct val="50000"/>
              </a:spcBef>
            </a:pPr>
            <a:r>
              <a:rPr lang="en-US" sz="2800" b="1" i="1" u="sng">
                <a:solidFill>
                  <a:srgbClr val="660033"/>
                </a:solidFill>
                <a:latin typeface="Times New Roman" pitchFamily="18" charset="0"/>
              </a:rPr>
              <a:t>The steps involved an operator are :</a:t>
            </a:r>
          </a:p>
          <a:p>
            <a:pPr marL="457200" indent="-457200" algn="just" eaLnBrk="0" hangingPunct="0">
              <a:lnSpc>
                <a:spcPct val="130000"/>
              </a:lnSpc>
              <a:spcBef>
                <a:spcPct val="50000"/>
              </a:spcBef>
              <a:spcAft>
                <a:spcPct val="30000"/>
              </a:spcAft>
              <a:buFontTx/>
              <a:buAutoNum type="arabicPeriod"/>
            </a:pPr>
            <a:r>
              <a:rPr lang="en-US" sz="2800" b="1">
                <a:solidFill>
                  <a:srgbClr val="660033"/>
                </a:solidFill>
                <a:latin typeface="Times New Roman" pitchFamily="18" charset="0"/>
              </a:rPr>
              <a:t>Create a class that defines a data type that is to be used in the overloading operation</a:t>
            </a:r>
          </a:p>
          <a:p>
            <a:pPr marL="457200" indent="-457200" algn="just" eaLnBrk="0" hangingPunct="0">
              <a:lnSpc>
                <a:spcPct val="130000"/>
              </a:lnSpc>
              <a:spcBef>
                <a:spcPct val="50000"/>
              </a:spcBef>
              <a:spcAft>
                <a:spcPct val="30000"/>
              </a:spcAft>
              <a:buFontTx/>
              <a:buAutoNum type="arabicPeriod"/>
            </a:pPr>
            <a:r>
              <a:rPr lang="en-US" sz="2800" b="1">
                <a:solidFill>
                  <a:srgbClr val="660033"/>
                </a:solidFill>
                <a:latin typeface="Times New Roman" pitchFamily="18" charset="0"/>
              </a:rPr>
              <a:t>Declare the operator function as either a member function or a friend function inside the class</a:t>
            </a:r>
          </a:p>
          <a:p>
            <a:pPr marL="457200" indent="-457200" algn="just" eaLnBrk="0" hangingPunct="0">
              <a:lnSpc>
                <a:spcPct val="130000"/>
              </a:lnSpc>
              <a:spcBef>
                <a:spcPct val="50000"/>
              </a:spcBef>
              <a:spcAft>
                <a:spcPct val="30000"/>
              </a:spcAft>
              <a:buFontTx/>
              <a:buAutoNum type="arabicPeriod"/>
            </a:pPr>
            <a:r>
              <a:rPr lang="en-US" sz="2800" b="1">
                <a:solidFill>
                  <a:srgbClr val="660033"/>
                </a:solidFill>
                <a:latin typeface="Times New Roman" pitchFamily="18" charset="0"/>
              </a:rPr>
              <a:t>Define the operator function either inside or outside the class</a:t>
            </a:r>
          </a:p>
          <a:p>
            <a:pPr marL="457200" indent="-457200" algn="just" eaLnBrk="0" hangingPunct="0">
              <a:lnSpc>
                <a:spcPct val="130000"/>
              </a:lnSpc>
              <a:spcBef>
                <a:spcPct val="50000"/>
              </a:spcBef>
              <a:spcAft>
                <a:spcPct val="30000"/>
              </a:spcAft>
              <a:buFontTx/>
              <a:buAutoNum type="arabicPeriod"/>
            </a:pPr>
            <a:r>
              <a:rPr lang="en-US" sz="2800" b="1">
                <a:solidFill>
                  <a:srgbClr val="660033"/>
                </a:solidFill>
                <a:latin typeface="Times New Roman" pitchFamily="18" charset="0"/>
              </a:rPr>
              <a:t>Use the operator in the main() function</a:t>
            </a:r>
          </a:p>
        </p:txBody>
      </p:sp>
    </p:spTree>
  </p:cSld>
  <p:clrMapOvr>
    <a:masterClrMapping/>
  </p:clrMapOvr>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ChangeArrowheads="1"/>
          </p:cNvSpPr>
          <p:nvPr/>
        </p:nvSpPr>
        <p:spPr bwMode="auto">
          <a:xfrm>
            <a:off x="304800" y="228600"/>
            <a:ext cx="8610600" cy="6245225"/>
          </a:xfrm>
          <a:prstGeom prst="rect">
            <a:avLst/>
          </a:prstGeom>
          <a:noFill/>
          <a:ln w="9525">
            <a:solidFill>
              <a:srgbClr val="990033"/>
            </a:solidFill>
            <a:miter lim="800000"/>
            <a:headEnd/>
            <a:tailEnd/>
          </a:ln>
        </p:spPr>
        <p:txBody>
          <a:bodyPr>
            <a:spAutoFit/>
          </a:bodyPr>
          <a:lstStyle/>
          <a:p>
            <a:pPr marL="457200" indent="-457200" algn="just" eaLnBrk="0" hangingPunct="0">
              <a:lnSpc>
                <a:spcPct val="160000"/>
              </a:lnSpc>
            </a:pPr>
            <a:r>
              <a:rPr lang="en-US" sz="2800" b="1">
                <a:solidFill>
                  <a:srgbClr val="660033"/>
                </a:solidFill>
                <a:latin typeface="Times New Roman" pitchFamily="18" charset="0"/>
              </a:rPr>
              <a:t>All the operators can be overloaded using friend function except () []  -&gt; and =. These operators must be defined by using a member function.</a:t>
            </a:r>
          </a:p>
          <a:p>
            <a:pPr marL="457200" indent="-457200" algn="just" eaLnBrk="0" hangingPunct="0">
              <a:lnSpc>
                <a:spcPct val="160000"/>
              </a:lnSpc>
            </a:pPr>
            <a:endParaRPr lang="en-US" sz="2800" b="1">
              <a:solidFill>
                <a:srgbClr val="660033"/>
              </a:solidFill>
              <a:latin typeface="Times New Roman" pitchFamily="18" charset="0"/>
            </a:endParaRPr>
          </a:p>
          <a:p>
            <a:pPr marL="457200" indent="-457200" algn="just" eaLnBrk="0" hangingPunct="0">
              <a:lnSpc>
                <a:spcPct val="160000"/>
              </a:lnSpc>
            </a:pPr>
            <a:r>
              <a:rPr lang="en-US" sz="2800" b="1" i="1" u="sng">
                <a:solidFill>
                  <a:srgbClr val="660033"/>
                </a:solidFill>
                <a:latin typeface="Times New Roman" pitchFamily="18" charset="0"/>
              </a:rPr>
              <a:t>ASSIGNMENT OPERATOR OVERLOADING RULES :</a:t>
            </a:r>
          </a:p>
          <a:p>
            <a:pPr marL="457200" indent="-457200" algn="just" eaLnBrk="0" hangingPunct="0">
              <a:lnSpc>
                <a:spcPct val="160000"/>
              </a:lnSpc>
            </a:pPr>
            <a:r>
              <a:rPr lang="en-US" sz="2800" b="1">
                <a:solidFill>
                  <a:srgbClr val="660033"/>
                </a:solidFill>
                <a:latin typeface="Times New Roman" pitchFamily="18" charset="0"/>
              </a:rPr>
              <a:t>	The operator function for the assignment  operator are inherited by any derived class. Friend functions cannot be used to overload the assignment operator</a:t>
            </a:r>
          </a:p>
        </p:txBody>
      </p:sp>
    </p:spTree>
  </p:cSld>
  <p:clrMapOvr>
    <a:masterClrMapping/>
  </p:clrMapOvr>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ChangeArrowheads="1"/>
          </p:cNvSpPr>
          <p:nvPr/>
        </p:nvSpPr>
        <p:spPr bwMode="auto">
          <a:xfrm>
            <a:off x="76200" y="152400"/>
            <a:ext cx="8991600" cy="6169025"/>
          </a:xfrm>
          <a:prstGeom prst="rect">
            <a:avLst/>
          </a:prstGeom>
          <a:noFill/>
          <a:ln w="9525">
            <a:solidFill>
              <a:srgbClr val="00FFFF"/>
            </a:solidFill>
            <a:miter lim="800000"/>
            <a:headEnd/>
            <a:tailEnd/>
          </a:ln>
        </p:spPr>
        <p:txBody>
          <a:bodyPr>
            <a:spAutoFit/>
          </a:bodyPr>
          <a:lstStyle/>
          <a:p>
            <a:pPr indent="1200150" eaLnBrk="0" hangingPunct="0"/>
            <a:r>
              <a:rPr lang="en-US" sz="2800" b="1" i="1" u="sng">
                <a:solidFill>
                  <a:srgbClr val="800000"/>
                </a:solidFill>
                <a:latin typeface="Bookman Old Style" pitchFamily="18" charset="0"/>
              </a:rPr>
              <a:t>The operators that can be overloaded are </a:t>
            </a:r>
          </a:p>
          <a:p>
            <a:pPr indent="1200150" eaLnBrk="0" hangingPunct="0"/>
            <a:r>
              <a:rPr lang="en-US" sz="3200" b="1">
                <a:solidFill>
                  <a:srgbClr val="800000"/>
                </a:solidFill>
                <a:latin typeface="Bookman Old Style" pitchFamily="18" charset="0"/>
              </a:rPr>
              <a:t>+    -    *       /     %   ^     &amp;   </a:t>
            </a:r>
          </a:p>
          <a:p>
            <a:pPr indent="1200150" eaLnBrk="0" hangingPunct="0"/>
            <a:r>
              <a:rPr lang="en-US" sz="2400" b="1">
                <a:solidFill>
                  <a:srgbClr val="800000"/>
                </a:solidFill>
                <a:latin typeface="Bookman Old Style" pitchFamily="18" charset="0"/>
              </a:rPr>
              <a:t>|</a:t>
            </a:r>
            <a:r>
              <a:rPr lang="en-US" sz="3200" b="1">
                <a:solidFill>
                  <a:srgbClr val="800000"/>
                </a:solidFill>
                <a:latin typeface="Bookman Old Style" pitchFamily="18" charset="0"/>
              </a:rPr>
              <a:t>     _   !=    &lt; &gt;   &lt;=  &gt;=  +=    </a:t>
            </a:r>
          </a:p>
          <a:p>
            <a:pPr indent="1200150" eaLnBrk="0" hangingPunct="0"/>
            <a:r>
              <a:rPr lang="en-US" sz="3200" b="1">
                <a:solidFill>
                  <a:srgbClr val="800000"/>
                </a:solidFill>
                <a:latin typeface="Bookman Old Style" pitchFamily="18" charset="0"/>
              </a:rPr>
              <a:t>-+   *=  !=     ++    --   [ ]    ()    </a:t>
            </a:r>
          </a:p>
          <a:p>
            <a:pPr indent="1200150" eaLnBrk="0" hangingPunct="0"/>
            <a:r>
              <a:rPr lang="en-US" sz="2400" b="1">
                <a:solidFill>
                  <a:srgbClr val="800000"/>
                </a:solidFill>
                <a:latin typeface="Bookman Old Style" pitchFamily="18" charset="0"/>
              </a:rPr>
              <a:t>||     &amp;=  &amp;&amp; </a:t>
            </a:r>
            <a:r>
              <a:rPr lang="en-US" sz="3200" b="1">
                <a:solidFill>
                  <a:srgbClr val="800000"/>
                </a:solidFill>
                <a:latin typeface="Bookman Old Style" pitchFamily="18" charset="0"/>
              </a:rPr>
              <a:t>    -&gt;    ,    </a:t>
            </a:r>
            <a:r>
              <a:rPr lang="en-US" b="1">
                <a:solidFill>
                  <a:srgbClr val="800000"/>
                </a:solidFill>
                <a:latin typeface="Verdana" pitchFamily="34" charset="0"/>
              </a:rPr>
              <a:t>new     delete   </a:t>
            </a:r>
          </a:p>
          <a:p>
            <a:pPr indent="1200150" eaLnBrk="0" hangingPunct="0"/>
            <a:endParaRPr lang="en-US" b="1">
              <a:solidFill>
                <a:srgbClr val="800000"/>
              </a:solidFill>
              <a:latin typeface="Verdana" pitchFamily="34" charset="0"/>
            </a:endParaRPr>
          </a:p>
          <a:p>
            <a:pPr indent="1200150" eaLnBrk="0" hangingPunct="0"/>
            <a:endParaRPr lang="en-US" sz="2800" b="1" i="1" u="sng">
              <a:solidFill>
                <a:srgbClr val="800000"/>
              </a:solidFill>
            </a:endParaRPr>
          </a:p>
          <a:p>
            <a:pPr indent="1200150" eaLnBrk="0" hangingPunct="0"/>
            <a:r>
              <a:rPr lang="en-US" sz="2800" b="1" i="1" u="sng">
                <a:solidFill>
                  <a:srgbClr val="800000"/>
                </a:solidFill>
              </a:rPr>
              <a:t>The operators that cannot be overloaded are</a:t>
            </a:r>
          </a:p>
          <a:p>
            <a:pPr indent="1200150" eaLnBrk="0" hangingPunct="0"/>
            <a:r>
              <a:rPr lang="en-US" sz="2800" b="1">
                <a:solidFill>
                  <a:srgbClr val="800000"/>
                </a:solidFill>
                <a:latin typeface="Bookman Old Style" pitchFamily="18" charset="0"/>
              </a:rPr>
              <a:t>   # </a:t>
            </a:r>
          </a:p>
          <a:p>
            <a:pPr indent="1200150" eaLnBrk="0" hangingPunct="0"/>
            <a:r>
              <a:rPr lang="en-US" sz="2800" b="1">
                <a:solidFill>
                  <a:srgbClr val="800000"/>
                </a:solidFill>
                <a:latin typeface="Bookman Old Style" pitchFamily="18" charset="0"/>
              </a:rPr>
              <a:t>   .(member operator) </a:t>
            </a:r>
          </a:p>
          <a:p>
            <a:pPr indent="1200150" eaLnBrk="0" hangingPunct="0"/>
            <a:r>
              <a:rPr lang="en-US" sz="2800" b="1">
                <a:solidFill>
                  <a:srgbClr val="800000"/>
                </a:solidFill>
                <a:latin typeface="Bookman Old Style" pitchFamily="18" charset="0"/>
              </a:rPr>
              <a:t>   ::</a:t>
            </a:r>
          </a:p>
          <a:p>
            <a:pPr indent="1200150" eaLnBrk="0" hangingPunct="0"/>
            <a:r>
              <a:rPr lang="en-US" sz="2800" b="1">
                <a:solidFill>
                  <a:srgbClr val="800000"/>
                </a:solidFill>
                <a:latin typeface="Bookman Old Style" pitchFamily="18" charset="0"/>
              </a:rPr>
              <a:t>   sizeof  </a:t>
            </a:r>
          </a:p>
          <a:p>
            <a:pPr indent="1200150" eaLnBrk="0" hangingPunct="0"/>
            <a:r>
              <a:rPr lang="en-US" sz="2800" b="1">
                <a:solidFill>
                  <a:srgbClr val="800000"/>
                </a:solidFill>
                <a:latin typeface="Bookman Old Style" pitchFamily="18" charset="0"/>
              </a:rPr>
              <a:t>   ?: </a:t>
            </a:r>
          </a:p>
        </p:txBody>
      </p:sp>
      <p:graphicFrame>
        <p:nvGraphicFramePr>
          <p:cNvPr id="9219" name="Group 3"/>
          <p:cNvGraphicFramePr>
            <a:graphicFrameLocks noGrp="1"/>
          </p:cNvGraphicFramePr>
          <p:nvPr/>
        </p:nvGraphicFramePr>
        <p:xfrm>
          <a:off x="1295400" y="1066800"/>
          <a:ext cx="6172200" cy="2072640"/>
        </p:xfrm>
        <a:graphic>
          <a:graphicData uri="http://schemas.openxmlformats.org/drawingml/2006/table">
            <a:tbl>
              <a:tblPr/>
              <a:tblGrid>
                <a:gridCol w="685800"/>
                <a:gridCol w="762000"/>
                <a:gridCol w="914400"/>
                <a:gridCol w="990600"/>
                <a:gridCol w="838200"/>
                <a:gridCol w="838200"/>
                <a:gridCol w="1143000"/>
              </a:tblGrid>
              <a:tr h="4572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30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27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809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381000" y="1082675"/>
            <a:ext cx="8763000" cy="4098925"/>
            <a:chOff x="240" y="682"/>
            <a:chExt cx="5520" cy="2582"/>
          </a:xfrm>
        </p:grpSpPr>
        <p:sp>
          <p:nvSpPr>
            <p:cNvPr id="8196" name="Text Box 3"/>
            <p:cNvSpPr txBox="1">
              <a:spLocks noChangeArrowheads="1"/>
            </p:cNvSpPr>
            <p:nvPr/>
          </p:nvSpPr>
          <p:spPr bwMode="auto">
            <a:xfrm>
              <a:off x="240" y="682"/>
              <a:ext cx="5376" cy="288"/>
            </a:xfrm>
            <a:prstGeom prst="rect">
              <a:avLst/>
            </a:prstGeom>
            <a:solidFill>
              <a:srgbClr val="660033"/>
            </a:solidFill>
            <a:ln w="9525">
              <a:noFill/>
              <a:miter lim="800000"/>
              <a:headEnd/>
              <a:tailEnd/>
            </a:ln>
          </p:spPr>
          <p:txBody>
            <a:bodyPr>
              <a:spAutoFit/>
            </a:bodyPr>
            <a:lstStyle/>
            <a:p>
              <a:pPr>
                <a:spcBef>
                  <a:spcPct val="50000"/>
                </a:spcBef>
              </a:pPr>
              <a:r>
                <a:rPr lang="en-US" sz="2400" b="1">
                  <a:solidFill>
                    <a:schemeClr val="bg1"/>
                  </a:solidFill>
                  <a:latin typeface="Times New Roman" pitchFamily="18" charset="0"/>
                  <a:cs typeface="Times New Roman" pitchFamily="18" charset="0"/>
                </a:rPr>
                <a:t> The basic meaning of an operator cannot be changed</a:t>
              </a:r>
            </a:p>
          </p:txBody>
        </p:sp>
        <p:sp>
          <p:nvSpPr>
            <p:cNvPr id="8197" name="Text Box 4"/>
            <p:cNvSpPr txBox="1">
              <a:spLocks noChangeArrowheads="1"/>
            </p:cNvSpPr>
            <p:nvPr/>
          </p:nvSpPr>
          <p:spPr bwMode="auto">
            <a:xfrm>
              <a:off x="240" y="1066"/>
              <a:ext cx="5376" cy="461"/>
            </a:xfrm>
            <a:prstGeom prst="rect">
              <a:avLst/>
            </a:prstGeom>
            <a:solidFill>
              <a:srgbClr val="660033"/>
            </a:solidFill>
            <a:ln w="9525">
              <a:noFill/>
              <a:miter lim="800000"/>
              <a:headEnd/>
              <a:tailEnd/>
            </a:ln>
          </p:spPr>
          <p:txBody>
            <a:bodyPr>
              <a:spAutoFit/>
            </a:bodyPr>
            <a:lstStyle/>
            <a:p>
              <a:pPr>
                <a:spcBef>
                  <a:spcPct val="50000"/>
                </a:spcBef>
              </a:pPr>
              <a:r>
                <a:rPr lang="en-US" sz="2400" b="1">
                  <a:solidFill>
                    <a:srgbClr val="FFFE00"/>
                  </a:solidFill>
                  <a:latin typeface="Times New Roman" pitchFamily="18" charset="0"/>
                  <a:cs typeface="Times New Roman" pitchFamily="18" charset="0"/>
                </a:rPr>
                <a:t> </a:t>
              </a:r>
              <a:r>
                <a:rPr lang="en-US" b="1">
                  <a:solidFill>
                    <a:schemeClr val="bg1"/>
                  </a:solidFill>
                  <a:latin typeface="Verdana" pitchFamily="34" charset="0"/>
                </a:rPr>
                <a:t>New operators cannot be overloaded. The existing operators can be overloaded</a:t>
              </a:r>
            </a:p>
          </p:txBody>
        </p:sp>
        <p:sp>
          <p:nvSpPr>
            <p:cNvPr id="8198" name="Text Box 5"/>
            <p:cNvSpPr txBox="1">
              <a:spLocks noChangeArrowheads="1"/>
            </p:cNvSpPr>
            <p:nvPr/>
          </p:nvSpPr>
          <p:spPr bwMode="auto">
            <a:xfrm>
              <a:off x="240" y="1700"/>
              <a:ext cx="5376" cy="518"/>
            </a:xfrm>
            <a:prstGeom prst="rect">
              <a:avLst/>
            </a:prstGeom>
            <a:solidFill>
              <a:srgbClr val="660033"/>
            </a:solidFill>
            <a:ln w="9525">
              <a:noFill/>
              <a:miter lim="800000"/>
              <a:headEnd/>
              <a:tailEnd/>
            </a:ln>
          </p:spPr>
          <p:txBody>
            <a:bodyPr>
              <a:spAutoFit/>
            </a:bodyPr>
            <a:lstStyle/>
            <a:p>
              <a:pPr>
                <a:spcBef>
                  <a:spcPct val="50000"/>
                </a:spcBef>
              </a:pPr>
              <a:r>
                <a:rPr lang="en-US" sz="2400" b="1">
                  <a:solidFill>
                    <a:srgbClr val="FFFE00"/>
                  </a:solidFill>
                  <a:latin typeface="Times New Roman" pitchFamily="18" charset="0"/>
                  <a:cs typeface="Times New Roman" pitchFamily="18" charset="0"/>
                </a:rPr>
                <a:t> </a:t>
              </a:r>
              <a:r>
                <a:rPr lang="en-US" sz="2400" b="1">
                  <a:solidFill>
                    <a:schemeClr val="bg1"/>
                  </a:solidFill>
                  <a:latin typeface="Times New Roman" pitchFamily="18" charset="0"/>
                  <a:cs typeface="Times New Roman" pitchFamily="18" charset="0"/>
                </a:rPr>
                <a:t>The procedence and associativity of an operator cannot be altered</a:t>
              </a:r>
            </a:p>
          </p:txBody>
        </p:sp>
        <p:sp>
          <p:nvSpPr>
            <p:cNvPr id="8199" name="Text Box 6"/>
            <p:cNvSpPr txBox="1">
              <a:spLocks noChangeArrowheads="1"/>
            </p:cNvSpPr>
            <p:nvPr/>
          </p:nvSpPr>
          <p:spPr bwMode="auto">
            <a:xfrm>
              <a:off x="288" y="2314"/>
              <a:ext cx="5411" cy="288"/>
            </a:xfrm>
            <a:prstGeom prst="rect">
              <a:avLst/>
            </a:prstGeom>
            <a:solidFill>
              <a:srgbClr val="660033"/>
            </a:solidFill>
            <a:ln w="9525">
              <a:noFill/>
              <a:miter lim="800000"/>
              <a:headEnd/>
              <a:tailEnd/>
            </a:ln>
          </p:spPr>
          <p:txBody>
            <a:bodyPr wrap="none">
              <a:spAutoFit/>
            </a:bodyPr>
            <a:lstStyle/>
            <a:p>
              <a:r>
                <a:rPr lang="en-US" sz="2400" b="1">
                  <a:solidFill>
                    <a:schemeClr val="bg1"/>
                  </a:solidFill>
                  <a:latin typeface="Times New Roman" pitchFamily="18" charset="0"/>
                  <a:cs typeface="Times New Roman" pitchFamily="18" charset="0"/>
                </a:rPr>
                <a:t>The syntax of overloaded operator is same as ordinary operators</a:t>
              </a:r>
            </a:p>
          </p:txBody>
        </p:sp>
        <p:sp>
          <p:nvSpPr>
            <p:cNvPr id="8200" name="Text Box 7"/>
            <p:cNvSpPr txBox="1">
              <a:spLocks noChangeArrowheads="1"/>
            </p:cNvSpPr>
            <p:nvPr/>
          </p:nvSpPr>
          <p:spPr bwMode="auto">
            <a:xfrm>
              <a:off x="336" y="2746"/>
              <a:ext cx="5424" cy="518"/>
            </a:xfrm>
            <a:prstGeom prst="rect">
              <a:avLst/>
            </a:prstGeom>
            <a:solidFill>
              <a:srgbClr val="660033"/>
            </a:solidFill>
            <a:ln w="9525">
              <a:noFill/>
              <a:miter lim="800000"/>
              <a:headEnd/>
              <a:tailEnd/>
            </a:ln>
          </p:spPr>
          <p:txBody>
            <a:bodyPr>
              <a:spAutoFit/>
            </a:bodyPr>
            <a:lstStyle/>
            <a:p>
              <a:r>
                <a:rPr lang="en-US" sz="2400" b="1">
                  <a:solidFill>
                    <a:srgbClr val="99FF66"/>
                  </a:solidFill>
                  <a:latin typeface="Times New Roman" pitchFamily="18" charset="0"/>
                  <a:cs typeface="Times New Roman" pitchFamily="18" charset="0"/>
                </a:rPr>
                <a:t> </a:t>
              </a:r>
              <a:r>
                <a:rPr lang="en-US" sz="2400" b="1">
                  <a:solidFill>
                    <a:schemeClr val="bg1"/>
                  </a:solidFill>
                  <a:latin typeface="Times New Roman" pitchFamily="18" charset="0"/>
                  <a:cs typeface="Times New Roman" pitchFamily="18" charset="0"/>
                </a:rPr>
                <a:t>The number of operands that an operator takes cannot be changed</a:t>
              </a:r>
            </a:p>
          </p:txBody>
        </p:sp>
      </p:grpSp>
      <p:sp>
        <p:nvSpPr>
          <p:cNvPr id="10248" name="WordArt 8"/>
          <p:cNvSpPr>
            <a:spLocks noChangeArrowheads="1" noChangeShapeType="1" noTextEdit="1"/>
          </p:cNvSpPr>
          <p:nvPr/>
        </p:nvSpPr>
        <p:spPr bwMode="auto">
          <a:xfrm>
            <a:off x="3048000" y="320675"/>
            <a:ext cx="2590800" cy="457200"/>
          </a:xfrm>
          <a:prstGeom prst="rect">
            <a:avLst/>
          </a:prstGeom>
        </p:spPr>
        <p:txBody>
          <a:bodyPr wrap="none" fromWordArt="1">
            <a:prstTxWarp prst="textPlain">
              <a:avLst>
                <a:gd name="adj" fmla="val 50000"/>
              </a:avLst>
            </a:prstTxWarp>
          </a:bodyPr>
          <a:lstStyle/>
          <a:p>
            <a:pPr algn="ctr"/>
            <a:r>
              <a:rPr lang="en-IN" sz="3600" kern="10">
                <a:ln w="9525">
                  <a:solidFill>
                    <a:srgbClr val="000000"/>
                  </a:solidFill>
                  <a:round/>
                  <a:headEnd/>
                  <a:tailEnd/>
                </a:ln>
                <a:gradFill rotWithShape="1">
                  <a:gsLst>
                    <a:gs pos="0">
                      <a:srgbClr val="FFBF00"/>
                    </a:gs>
                    <a:gs pos="5000">
                      <a:srgbClr val="F27300"/>
                    </a:gs>
                    <a:gs pos="12500">
                      <a:srgbClr val="8F0040"/>
                    </a:gs>
                    <a:gs pos="25000">
                      <a:srgbClr val="400040"/>
                    </a:gs>
                    <a:gs pos="39999">
                      <a:srgbClr val="000040"/>
                    </a:gs>
                    <a:gs pos="50000">
                      <a:srgbClr val="000000"/>
                    </a:gs>
                    <a:gs pos="60001">
                      <a:srgbClr val="000040"/>
                    </a:gs>
                    <a:gs pos="75000">
                      <a:srgbClr val="400040"/>
                    </a:gs>
                    <a:gs pos="87500">
                      <a:srgbClr val="8F0040"/>
                    </a:gs>
                    <a:gs pos="95000">
                      <a:srgbClr val="F27300"/>
                    </a:gs>
                    <a:gs pos="100000">
                      <a:srgbClr val="FFBF00"/>
                    </a:gs>
                  </a:gsLst>
                  <a:lin ang="5400000" scaled="1"/>
                </a:gradFill>
                <a:latin typeface="Arial Black"/>
              </a:rPr>
              <a:t>HINTS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grpId="0" nodeType="withEffect">
                                  <p:stCondLst>
                                    <p:cond delay="0"/>
                                  </p:stCondLst>
                                  <p:childTnLst>
                                    <p:set>
                                      <p:cBhvr>
                                        <p:cTn id="6" dur="1" fill="hold">
                                          <p:stCondLst>
                                            <p:cond delay="0"/>
                                          </p:stCondLst>
                                        </p:cTn>
                                        <p:tgtEl>
                                          <p:spTgt spid="10248"/>
                                        </p:tgtEl>
                                        <p:attrNameLst>
                                          <p:attrName>style.visibility</p:attrName>
                                        </p:attrNameLst>
                                      </p:cBhvr>
                                      <p:to>
                                        <p:strVal val="visible"/>
                                      </p:to>
                                    </p:set>
                                    <p:animEffect transition="in" filter="fade">
                                      <p:cBhvr>
                                        <p:cTn id="7" dur="1000"/>
                                        <p:tgtEl>
                                          <p:spTgt spid="10248"/>
                                        </p:tgtEl>
                                      </p:cBhvr>
                                    </p:animEffect>
                                    <p:anim calcmode="lin" valueType="num">
                                      <p:cBhvr>
                                        <p:cTn id="8" dur="1000" fill="hold"/>
                                        <p:tgtEl>
                                          <p:spTgt spid="10248"/>
                                        </p:tgtEl>
                                        <p:attrNameLst>
                                          <p:attrName>ppt_x</p:attrName>
                                        </p:attrNameLst>
                                      </p:cBhvr>
                                      <p:tavLst>
                                        <p:tav tm="0">
                                          <p:val>
                                            <p:strVal val="#ppt_x"/>
                                          </p:val>
                                        </p:tav>
                                        <p:tav tm="100000">
                                          <p:val>
                                            <p:strVal val="#ppt_x"/>
                                          </p:val>
                                        </p:tav>
                                      </p:tavLst>
                                    </p:anim>
                                    <p:anim calcmode="lin" valueType="num">
                                      <p:cBhvr>
                                        <p:cTn id="9" dur="900" decel="100000" fill="hold"/>
                                        <p:tgtEl>
                                          <p:spTgt spid="10248"/>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10248"/>
                                        </p:tgtEl>
                                        <p:attrNameLst>
                                          <p:attrName>ppt_y</p:attrName>
                                        </p:attrNameLst>
                                      </p:cBhvr>
                                      <p:tavLst>
                                        <p:tav tm="0">
                                          <p:val>
                                            <p:strVal val="#ppt_y-.03"/>
                                          </p:val>
                                        </p:tav>
                                        <p:tav tm="100000">
                                          <p:val>
                                            <p:strVal val="#ppt_y"/>
                                          </p:val>
                                        </p:tav>
                                      </p:tavLst>
                                    </p:anim>
                                  </p:childTnLst>
                                </p:cTn>
                              </p:par>
                            </p:childTnLst>
                          </p:cTn>
                        </p:par>
                        <p:par>
                          <p:cTn id="11" fill="hold">
                            <p:stCondLst>
                              <p:cond delay="1000"/>
                            </p:stCondLst>
                            <p:childTnLst>
                              <p:par>
                                <p:cTn id="12" presetID="18" presetClass="entr" presetSubtype="12" fill="hold" nodeType="after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strips(downLeft)">
                                      <p:cBhvr>
                                        <p:cTn id="1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8" grpId="0" animBg="1"/>
    </p:bld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ChangeArrowheads="1"/>
          </p:cNvSpPr>
          <p:nvPr/>
        </p:nvSpPr>
        <p:spPr bwMode="auto">
          <a:xfrm>
            <a:off x="0" y="0"/>
            <a:ext cx="4800600" cy="6648450"/>
          </a:xfrm>
          <a:prstGeom prst="rect">
            <a:avLst/>
          </a:prstGeom>
          <a:noFill/>
          <a:ln w="9525">
            <a:solidFill>
              <a:schemeClr val="tx2"/>
            </a:solidFill>
            <a:miter lim="800000"/>
            <a:headEnd/>
            <a:tailEnd/>
          </a:ln>
        </p:spPr>
        <p:txBody>
          <a:bodyPr>
            <a:spAutoFit/>
          </a:bodyPr>
          <a:lstStyle/>
          <a:p>
            <a:pPr eaLnBrk="0" hangingPunct="0"/>
            <a:r>
              <a:rPr lang="en-US" sz="2400" b="1">
                <a:solidFill>
                  <a:srgbClr val="800000"/>
                </a:solidFill>
              </a:rPr>
              <a:t>OVERLOADING UNARY OPERATOR ++</a:t>
            </a:r>
          </a:p>
          <a:p>
            <a:pPr eaLnBrk="0" hangingPunct="0"/>
            <a:r>
              <a:rPr lang="en-US" b="1">
                <a:solidFill>
                  <a:srgbClr val="800000"/>
                </a:solidFill>
              </a:rPr>
              <a:t>#include&lt;iostream.h&gt;</a:t>
            </a:r>
          </a:p>
          <a:p>
            <a:pPr eaLnBrk="0" hangingPunct="0"/>
            <a:r>
              <a:rPr lang="en-US" b="1">
                <a:solidFill>
                  <a:srgbClr val="800000"/>
                </a:solidFill>
              </a:rPr>
              <a:t>class counter</a:t>
            </a:r>
          </a:p>
          <a:p>
            <a:pPr eaLnBrk="0" hangingPunct="0"/>
            <a:r>
              <a:rPr lang="en-US" b="1">
                <a:solidFill>
                  <a:srgbClr val="800000"/>
                </a:solidFill>
              </a:rPr>
              <a:t>{</a:t>
            </a:r>
          </a:p>
          <a:p>
            <a:pPr eaLnBrk="0" hangingPunct="0"/>
            <a:r>
              <a:rPr lang="en-US" b="1">
                <a:solidFill>
                  <a:srgbClr val="800000"/>
                </a:solidFill>
              </a:rPr>
              <a:t>private :</a:t>
            </a:r>
          </a:p>
          <a:p>
            <a:pPr eaLnBrk="0" hangingPunct="0"/>
            <a:r>
              <a:rPr lang="en-US" b="1">
                <a:solidFill>
                  <a:srgbClr val="800000"/>
                </a:solidFill>
              </a:rPr>
              <a:t>    unsigned int count;</a:t>
            </a:r>
          </a:p>
          <a:p>
            <a:pPr eaLnBrk="0" hangingPunct="0"/>
            <a:r>
              <a:rPr lang="en-US" b="1">
                <a:solidFill>
                  <a:srgbClr val="800000"/>
                </a:solidFill>
              </a:rPr>
              <a:t>public :</a:t>
            </a:r>
          </a:p>
          <a:p>
            <a:pPr eaLnBrk="0" hangingPunct="0"/>
            <a:r>
              <a:rPr lang="en-US" b="1">
                <a:solidFill>
                  <a:srgbClr val="800000"/>
                </a:solidFill>
              </a:rPr>
              <a:t>    counter()</a:t>
            </a:r>
          </a:p>
          <a:p>
            <a:pPr eaLnBrk="0" hangingPunct="0"/>
            <a:r>
              <a:rPr lang="en-US" b="1">
                <a:solidFill>
                  <a:srgbClr val="800000"/>
                </a:solidFill>
              </a:rPr>
              <a:t>    {</a:t>
            </a:r>
          </a:p>
          <a:p>
            <a:pPr eaLnBrk="0" hangingPunct="0"/>
            <a:r>
              <a:rPr lang="en-US" b="1">
                <a:solidFill>
                  <a:srgbClr val="800000"/>
                </a:solidFill>
              </a:rPr>
              <a:t>       count=0;</a:t>
            </a:r>
          </a:p>
          <a:p>
            <a:pPr eaLnBrk="0" hangingPunct="0"/>
            <a:r>
              <a:rPr lang="en-US" b="1">
                <a:solidFill>
                  <a:srgbClr val="800000"/>
                </a:solidFill>
              </a:rPr>
              <a:t>    }</a:t>
            </a:r>
          </a:p>
          <a:p>
            <a:pPr eaLnBrk="0" hangingPunct="0"/>
            <a:r>
              <a:rPr lang="en-US" b="1">
                <a:solidFill>
                  <a:srgbClr val="800000"/>
                </a:solidFill>
              </a:rPr>
              <a:t>    int get_count()    </a:t>
            </a:r>
          </a:p>
          <a:p>
            <a:pPr eaLnBrk="0" hangingPunct="0"/>
            <a:r>
              <a:rPr lang="en-US" b="1">
                <a:solidFill>
                  <a:srgbClr val="800000"/>
                </a:solidFill>
              </a:rPr>
              <a:t>    {</a:t>
            </a:r>
          </a:p>
          <a:p>
            <a:pPr eaLnBrk="0" hangingPunct="0"/>
            <a:r>
              <a:rPr lang="en-US" b="1">
                <a:solidFill>
                  <a:srgbClr val="800000"/>
                </a:solidFill>
              </a:rPr>
              <a:t>        return count;    </a:t>
            </a:r>
          </a:p>
          <a:p>
            <a:pPr eaLnBrk="0" hangingPunct="0"/>
            <a:r>
              <a:rPr lang="en-US" b="1">
                <a:solidFill>
                  <a:srgbClr val="800000"/>
                </a:solidFill>
              </a:rPr>
              <a:t>    }</a:t>
            </a:r>
          </a:p>
          <a:p>
            <a:pPr eaLnBrk="0" hangingPunct="0"/>
            <a:r>
              <a:rPr lang="en-US" b="1">
                <a:solidFill>
                  <a:srgbClr val="800000"/>
                </a:solidFill>
              </a:rPr>
              <a:t>    counter operator ++()</a:t>
            </a:r>
          </a:p>
          <a:p>
            <a:pPr eaLnBrk="0" hangingPunct="0"/>
            <a:r>
              <a:rPr lang="en-US" b="1">
                <a:solidFill>
                  <a:srgbClr val="800000"/>
                </a:solidFill>
              </a:rPr>
              <a:t>    {</a:t>
            </a:r>
          </a:p>
          <a:p>
            <a:pPr eaLnBrk="0" hangingPunct="0"/>
            <a:r>
              <a:rPr lang="en-US" b="1">
                <a:solidFill>
                  <a:srgbClr val="800000"/>
                </a:solidFill>
              </a:rPr>
              <a:t>    ++count;</a:t>
            </a:r>
          </a:p>
          <a:p>
            <a:pPr eaLnBrk="0" hangingPunct="0"/>
            <a:r>
              <a:rPr lang="en-US" b="1">
                <a:solidFill>
                  <a:srgbClr val="800000"/>
                </a:solidFill>
              </a:rPr>
              <a:t>    counter temp;</a:t>
            </a:r>
          </a:p>
          <a:p>
            <a:pPr eaLnBrk="0" hangingPunct="0"/>
            <a:r>
              <a:rPr lang="en-US" b="1">
                <a:solidFill>
                  <a:srgbClr val="800000"/>
                </a:solidFill>
              </a:rPr>
              <a:t>    temp.count=count;</a:t>
            </a:r>
          </a:p>
          <a:p>
            <a:pPr eaLnBrk="0" hangingPunct="0"/>
            <a:r>
              <a:rPr lang="en-US" b="1">
                <a:solidFill>
                  <a:srgbClr val="800000"/>
                </a:solidFill>
              </a:rPr>
              <a:t>    return temp;</a:t>
            </a:r>
          </a:p>
          <a:p>
            <a:pPr eaLnBrk="0" hangingPunct="0"/>
            <a:r>
              <a:rPr lang="en-US" b="1">
                <a:solidFill>
                  <a:srgbClr val="800000"/>
                </a:solidFill>
              </a:rPr>
              <a:t>    }};</a:t>
            </a:r>
          </a:p>
        </p:txBody>
      </p:sp>
      <p:sp>
        <p:nvSpPr>
          <p:cNvPr id="9219" name="Rectangle 3"/>
          <p:cNvSpPr>
            <a:spLocks noChangeArrowheads="1"/>
          </p:cNvSpPr>
          <p:nvPr/>
        </p:nvSpPr>
        <p:spPr bwMode="auto">
          <a:xfrm>
            <a:off x="4876800" y="84138"/>
            <a:ext cx="4267200" cy="4064000"/>
          </a:xfrm>
          <a:prstGeom prst="rect">
            <a:avLst/>
          </a:prstGeom>
          <a:noFill/>
          <a:ln w="9525">
            <a:solidFill>
              <a:schemeClr val="tx2"/>
            </a:solidFill>
            <a:miter lim="800000"/>
            <a:headEnd/>
            <a:tailEnd/>
          </a:ln>
        </p:spPr>
        <p:txBody>
          <a:bodyPr>
            <a:spAutoFit/>
          </a:bodyPr>
          <a:lstStyle/>
          <a:p>
            <a:pPr eaLnBrk="0" hangingPunct="0"/>
            <a:r>
              <a:rPr lang="en-US" sz="2000" b="1">
                <a:solidFill>
                  <a:srgbClr val="800000"/>
                </a:solidFill>
              </a:rPr>
              <a:t>void main()</a:t>
            </a:r>
          </a:p>
          <a:p>
            <a:pPr eaLnBrk="0" hangingPunct="0"/>
            <a:r>
              <a:rPr lang="en-US" sz="2000" b="1">
                <a:solidFill>
                  <a:srgbClr val="800000"/>
                </a:solidFill>
              </a:rPr>
              <a:t>{</a:t>
            </a:r>
          </a:p>
          <a:p>
            <a:pPr eaLnBrk="0" hangingPunct="0"/>
            <a:r>
              <a:rPr lang="en-US" sz="2000" b="1">
                <a:solidFill>
                  <a:srgbClr val="800000"/>
                </a:solidFill>
              </a:rPr>
              <a:t>counter c1,c2;</a:t>
            </a:r>
          </a:p>
          <a:p>
            <a:pPr eaLnBrk="0" hangingPunct="0"/>
            <a:r>
              <a:rPr lang="en-US" sz="2000" b="1">
                <a:solidFill>
                  <a:srgbClr val="800000"/>
                </a:solidFill>
              </a:rPr>
              <a:t>cout&lt;&lt;"\n c1  ="&lt;&lt;c1.get_count();</a:t>
            </a:r>
          </a:p>
          <a:p>
            <a:pPr eaLnBrk="0" hangingPunct="0"/>
            <a:r>
              <a:rPr lang="en-US" sz="2000" b="1">
                <a:solidFill>
                  <a:srgbClr val="800000"/>
                </a:solidFill>
              </a:rPr>
              <a:t>cout&lt;&lt;"\n c2  ="&lt;&lt;c2.get_count();</a:t>
            </a:r>
          </a:p>
          <a:p>
            <a:pPr eaLnBrk="0" hangingPunct="0"/>
            <a:endParaRPr lang="en-US" sz="2000" b="1">
              <a:solidFill>
                <a:srgbClr val="800000"/>
              </a:solidFill>
            </a:endParaRPr>
          </a:p>
          <a:p>
            <a:pPr eaLnBrk="0" hangingPunct="0"/>
            <a:r>
              <a:rPr lang="en-US" sz="2000" b="1">
                <a:solidFill>
                  <a:srgbClr val="800000"/>
                </a:solidFill>
              </a:rPr>
              <a:t>++c1;</a:t>
            </a:r>
          </a:p>
          <a:p>
            <a:pPr eaLnBrk="0" hangingPunct="0"/>
            <a:endParaRPr lang="en-US" sz="2000" b="1">
              <a:solidFill>
                <a:srgbClr val="800000"/>
              </a:solidFill>
            </a:endParaRPr>
          </a:p>
          <a:p>
            <a:pPr eaLnBrk="0" hangingPunct="0"/>
            <a:r>
              <a:rPr lang="en-US" sz="2000" b="1">
                <a:solidFill>
                  <a:srgbClr val="800000"/>
                </a:solidFill>
              </a:rPr>
              <a:t>c2=++c1;</a:t>
            </a:r>
          </a:p>
          <a:p>
            <a:pPr eaLnBrk="0" hangingPunct="0"/>
            <a:endParaRPr lang="en-US" sz="2000" b="1">
              <a:solidFill>
                <a:srgbClr val="800000"/>
              </a:solidFill>
            </a:endParaRPr>
          </a:p>
          <a:p>
            <a:pPr eaLnBrk="0" hangingPunct="0"/>
            <a:r>
              <a:rPr lang="en-US" sz="2000" b="1">
                <a:solidFill>
                  <a:srgbClr val="800000"/>
                </a:solidFill>
              </a:rPr>
              <a:t>cout&lt;&lt;"\n c1  ="&lt;&lt;c1.get_count();</a:t>
            </a:r>
          </a:p>
          <a:p>
            <a:pPr eaLnBrk="0" hangingPunct="0"/>
            <a:r>
              <a:rPr lang="en-US" sz="2000" b="1">
                <a:solidFill>
                  <a:srgbClr val="800000"/>
                </a:solidFill>
              </a:rPr>
              <a:t>cout&lt;&lt;"\n c2  ="&lt;&lt;c2.get_count();</a:t>
            </a:r>
          </a:p>
          <a:p>
            <a:pPr eaLnBrk="0" hangingPunct="0"/>
            <a:r>
              <a:rPr lang="en-US" sz="2000" b="1">
                <a:solidFill>
                  <a:srgbClr val="800000"/>
                </a:solidFill>
              </a:rPr>
              <a:t>}</a:t>
            </a:r>
          </a:p>
        </p:txBody>
      </p:sp>
      <p:sp>
        <p:nvSpPr>
          <p:cNvPr id="9220" name="Text Box 4"/>
          <p:cNvSpPr txBox="1">
            <a:spLocks noChangeArrowheads="1"/>
          </p:cNvSpPr>
          <p:nvPr/>
        </p:nvSpPr>
        <p:spPr bwMode="auto">
          <a:xfrm>
            <a:off x="5181600" y="4343400"/>
            <a:ext cx="2362200" cy="2295525"/>
          </a:xfrm>
          <a:prstGeom prst="rect">
            <a:avLst/>
          </a:prstGeom>
          <a:noFill/>
          <a:ln w="9525">
            <a:solidFill>
              <a:srgbClr val="000000"/>
            </a:solidFill>
            <a:miter lim="800000"/>
            <a:headEnd/>
            <a:tailEnd/>
          </a:ln>
        </p:spPr>
        <p:txBody>
          <a:bodyPr>
            <a:spAutoFit/>
          </a:bodyPr>
          <a:lstStyle/>
          <a:p>
            <a:pPr eaLnBrk="0" hangingPunct="0">
              <a:spcBef>
                <a:spcPct val="50000"/>
              </a:spcBef>
            </a:pPr>
            <a:r>
              <a:rPr lang="en-US" sz="2400" b="1" u="sng">
                <a:solidFill>
                  <a:srgbClr val="000099"/>
                </a:solidFill>
                <a:latin typeface="Verdana" pitchFamily="34" charset="0"/>
              </a:rPr>
              <a:t>OUTPUT :</a:t>
            </a:r>
          </a:p>
          <a:p>
            <a:pPr eaLnBrk="0" hangingPunct="0">
              <a:spcBef>
                <a:spcPct val="50000"/>
              </a:spcBef>
            </a:pPr>
            <a:r>
              <a:rPr lang="en-US" sz="2000" b="1">
                <a:solidFill>
                  <a:srgbClr val="000099"/>
                </a:solidFill>
                <a:latin typeface="Verdana" pitchFamily="34" charset="0"/>
              </a:rPr>
              <a:t>C1 = 0</a:t>
            </a:r>
          </a:p>
          <a:p>
            <a:pPr eaLnBrk="0" hangingPunct="0">
              <a:spcBef>
                <a:spcPct val="50000"/>
              </a:spcBef>
            </a:pPr>
            <a:r>
              <a:rPr lang="en-US" sz="2000" b="1">
                <a:solidFill>
                  <a:srgbClr val="000099"/>
                </a:solidFill>
                <a:latin typeface="Verdana" pitchFamily="34" charset="0"/>
              </a:rPr>
              <a:t>C2 = 0</a:t>
            </a:r>
          </a:p>
          <a:p>
            <a:pPr eaLnBrk="0" hangingPunct="0">
              <a:spcBef>
                <a:spcPct val="50000"/>
              </a:spcBef>
            </a:pPr>
            <a:r>
              <a:rPr lang="en-US" sz="2000" b="1">
                <a:solidFill>
                  <a:srgbClr val="000099"/>
                </a:solidFill>
                <a:latin typeface="Verdana" pitchFamily="34" charset="0"/>
              </a:rPr>
              <a:t>C1 = 2</a:t>
            </a:r>
          </a:p>
          <a:p>
            <a:pPr eaLnBrk="0" hangingPunct="0">
              <a:spcBef>
                <a:spcPct val="50000"/>
              </a:spcBef>
            </a:pPr>
            <a:r>
              <a:rPr lang="en-US" sz="2000" b="1">
                <a:solidFill>
                  <a:srgbClr val="000099"/>
                </a:solidFill>
                <a:latin typeface="Verdana" pitchFamily="34" charset="0"/>
              </a:rPr>
              <a:t>C1 = 2</a:t>
            </a:r>
          </a:p>
        </p:txBody>
      </p:sp>
    </p:spTree>
  </p:cSld>
  <p:clrMapOvr>
    <a:masterClrMapping/>
  </p:clrMapOvr>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ChangeArrowheads="1"/>
          </p:cNvSpPr>
          <p:nvPr/>
        </p:nvSpPr>
        <p:spPr bwMode="auto">
          <a:xfrm>
            <a:off x="0" y="0"/>
            <a:ext cx="4724400" cy="6013450"/>
          </a:xfrm>
          <a:prstGeom prst="rect">
            <a:avLst/>
          </a:prstGeom>
          <a:noFill/>
          <a:ln w="9525">
            <a:solidFill>
              <a:schemeClr val="tx2"/>
            </a:solidFill>
            <a:miter lim="800000"/>
            <a:headEnd/>
            <a:tailEnd/>
          </a:ln>
        </p:spPr>
        <p:txBody>
          <a:bodyPr>
            <a:spAutoFit/>
          </a:bodyPr>
          <a:lstStyle/>
          <a:p>
            <a:pPr eaLnBrk="0" hangingPunct="0"/>
            <a:r>
              <a:rPr lang="en-US" sz="2400" b="1">
                <a:solidFill>
                  <a:srgbClr val="800000"/>
                </a:solidFill>
              </a:rPr>
              <a:t>Overloading Binary Operator  +</a:t>
            </a:r>
          </a:p>
          <a:p>
            <a:pPr eaLnBrk="0" hangingPunct="0"/>
            <a:r>
              <a:rPr lang="en-US" sz="2400" b="1">
                <a:solidFill>
                  <a:srgbClr val="800000"/>
                </a:solidFill>
              </a:rPr>
              <a:t>#include&lt;iostream.h&gt;</a:t>
            </a:r>
          </a:p>
          <a:p>
            <a:pPr eaLnBrk="0" hangingPunct="0"/>
            <a:r>
              <a:rPr lang="en-US" sz="2000" b="1">
                <a:solidFill>
                  <a:srgbClr val="800000"/>
                </a:solidFill>
              </a:rPr>
              <a:t>class Distance</a:t>
            </a:r>
          </a:p>
          <a:p>
            <a:pPr eaLnBrk="0" hangingPunct="0"/>
            <a:r>
              <a:rPr lang="en-US" sz="2000" b="1">
                <a:solidFill>
                  <a:srgbClr val="800000"/>
                </a:solidFill>
              </a:rPr>
              <a:t>{</a:t>
            </a:r>
          </a:p>
          <a:p>
            <a:pPr eaLnBrk="0" hangingPunct="0"/>
            <a:r>
              <a:rPr lang="en-US" sz="2000" b="1">
                <a:solidFill>
                  <a:srgbClr val="800000"/>
                </a:solidFill>
              </a:rPr>
              <a:t>private :</a:t>
            </a:r>
          </a:p>
          <a:p>
            <a:pPr eaLnBrk="0" hangingPunct="0"/>
            <a:r>
              <a:rPr lang="en-US" sz="2000" b="1">
                <a:solidFill>
                  <a:srgbClr val="800000"/>
                </a:solidFill>
              </a:rPr>
              <a:t>       int feet;</a:t>
            </a:r>
          </a:p>
          <a:p>
            <a:pPr eaLnBrk="0" hangingPunct="0"/>
            <a:r>
              <a:rPr lang="en-US" sz="2000" b="1">
                <a:solidFill>
                  <a:srgbClr val="800000"/>
                </a:solidFill>
              </a:rPr>
              <a:t>       float inches;</a:t>
            </a:r>
          </a:p>
          <a:p>
            <a:pPr eaLnBrk="0" hangingPunct="0"/>
            <a:r>
              <a:rPr lang="en-US" sz="2000" b="1">
                <a:solidFill>
                  <a:srgbClr val="800000"/>
                </a:solidFill>
              </a:rPr>
              <a:t>public :</a:t>
            </a:r>
          </a:p>
          <a:p>
            <a:pPr eaLnBrk="0" hangingPunct="0"/>
            <a:r>
              <a:rPr lang="en-US" sz="2000" b="1">
                <a:solidFill>
                  <a:srgbClr val="800000"/>
                </a:solidFill>
              </a:rPr>
              <a:t>       Distance()</a:t>
            </a:r>
          </a:p>
          <a:p>
            <a:pPr eaLnBrk="0" hangingPunct="0"/>
            <a:r>
              <a:rPr lang="en-US" sz="2000" b="1">
                <a:solidFill>
                  <a:srgbClr val="800000"/>
                </a:solidFill>
              </a:rPr>
              <a:t>       {</a:t>
            </a:r>
          </a:p>
          <a:p>
            <a:pPr eaLnBrk="0" hangingPunct="0"/>
            <a:r>
              <a:rPr lang="en-US" sz="2000" b="1">
                <a:solidFill>
                  <a:srgbClr val="800000"/>
                </a:solidFill>
              </a:rPr>
              <a:t>       feet=0;</a:t>
            </a:r>
          </a:p>
          <a:p>
            <a:pPr eaLnBrk="0" hangingPunct="0"/>
            <a:r>
              <a:rPr lang="en-US" sz="2000" b="1">
                <a:solidFill>
                  <a:srgbClr val="800000"/>
                </a:solidFill>
              </a:rPr>
              <a:t>       inches=0.0;</a:t>
            </a:r>
          </a:p>
          <a:p>
            <a:pPr eaLnBrk="0" hangingPunct="0"/>
            <a:r>
              <a:rPr lang="en-US" sz="2000" b="1">
                <a:solidFill>
                  <a:srgbClr val="800000"/>
                </a:solidFill>
              </a:rPr>
              <a:t>       }</a:t>
            </a:r>
          </a:p>
          <a:p>
            <a:pPr eaLnBrk="0" hangingPunct="0"/>
            <a:endParaRPr lang="en-US" sz="2000" b="1">
              <a:solidFill>
                <a:srgbClr val="800000"/>
              </a:solidFill>
            </a:endParaRPr>
          </a:p>
          <a:p>
            <a:pPr eaLnBrk="0" hangingPunct="0"/>
            <a:r>
              <a:rPr lang="en-US" sz="2000" b="1">
                <a:solidFill>
                  <a:srgbClr val="800000"/>
                </a:solidFill>
              </a:rPr>
              <a:t>       Distance(int ft,float in)</a:t>
            </a:r>
          </a:p>
          <a:p>
            <a:pPr eaLnBrk="0" hangingPunct="0"/>
            <a:r>
              <a:rPr lang="en-US" sz="2000" b="1">
                <a:solidFill>
                  <a:srgbClr val="800000"/>
                </a:solidFill>
              </a:rPr>
              <a:t>       {</a:t>
            </a:r>
          </a:p>
          <a:p>
            <a:pPr eaLnBrk="0" hangingPunct="0"/>
            <a:r>
              <a:rPr lang="en-US" sz="2000" b="1">
                <a:solidFill>
                  <a:srgbClr val="800000"/>
                </a:solidFill>
              </a:rPr>
              <a:t>       feet=ft;</a:t>
            </a:r>
          </a:p>
          <a:p>
            <a:pPr eaLnBrk="0" hangingPunct="0"/>
            <a:r>
              <a:rPr lang="en-US" sz="2000" b="1">
                <a:solidFill>
                  <a:srgbClr val="800000"/>
                </a:solidFill>
              </a:rPr>
              <a:t>       inches=in;</a:t>
            </a:r>
          </a:p>
          <a:p>
            <a:pPr eaLnBrk="0" hangingPunct="0"/>
            <a:r>
              <a:rPr lang="en-US" sz="2000" b="1">
                <a:solidFill>
                  <a:srgbClr val="800000"/>
                </a:solidFill>
              </a:rPr>
              <a:t>       }</a:t>
            </a:r>
          </a:p>
        </p:txBody>
      </p:sp>
      <p:sp>
        <p:nvSpPr>
          <p:cNvPr id="10243" name="Rectangle 3"/>
          <p:cNvSpPr>
            <a:spLocks noChangeArrowheads="1"/>
          </p:cNvSpPr>
          <p:nvPr/>
        </p:nvSpPr>
        <p:spPr bwMode="auto">
          <a:xfrm>
            <a:off x="4705350" y="0"/>
            <a:ext cx="4572000" cy="4575175"/>
          </a:xfrm>
          <a:prstGeom prst="rect">
            <a:avLst/>
          </a:prstGeom>
          <a:noFill/>
          <a:ln w="9525">
            <a:solidFill>
              <a:schemeClr val="tx2"/>
            </a:solidFill>
            <a:miter lim="800000"/>
            <a:headEnd/>
            <a:tailEnd/>
          </a:ln>
        </p:spPr>
        <p:txBody>
          <a:bodyPr>
            <a:spAutoFit/>
          </a:bodyPr>
          <a:lstStyle/>
          <a:p>
            <a:pPr eaLnBrk="0" hangingPunct="0">
              <a:spcBef>
                <a:spcPct val="5000"/>
              </a:spcBef>
            </a:pPr>
            <a:r>
              <a:rPr lang="en-US" sz="2000" b="1">
                <a:solidFill>
                  <a:srgbClr val="800000"/>
                </a:solidFill>
              </a:rPr>
              <a:t>void get()</a:t>
            </a:r>
          </a:p>
          <a:p>
            <a:pPr eaLnBrk="0" hangingPunct="0">
              <a:spcBef>
                <a:spcPct val="5000"/>
              </a:spcBef>
            </a:pPr>
            <a:r>
              <a:rPr lang="en-US" sz="2000" b="1">
                <a:solidFill>
                  <a:srgbClr val="800000"/>
                </a:solidFill>
              </a:rPr>
              <a:t>       {</a:t>
            </a:r>
          </a:p>
          <a:p>
            <a:pPr eaLnBrk="0" hangingPunct="0">
              <a:spcBef>
                <a:spcPct val="5000"/>
              </a:spcBef>
            </a:pPr>
            <a:r>
              <a:rPr lang="en-US" sz="2000" b="1">
                <a:solidFill>
                  <a:srgbClr val="800000"/>
                </a:solidFill>
              </a:rPr>
              <a:t>      cout&lt;&lt;"\n Enter Feet :";</a:t>
            </a:r>
          </a:p>
          <a:p>
            <a:pPr eaLnBrk="0" hangingPunct="0">
              <a:spcBef>
                <a:spcPct val="5000"/>
              </a:spcBef>
            </a:pPr>
            <a:r>
              <a:rPr lang="en-US" sz="2000" b="1">
                <a:solidFill>
                  <a:srgbClr val="800000"/>
                </a:solidFill>
              </a:rPr>
              <a:t>      cin&gt;&gt;feet;</a:t>
            </a:r>
          </a:p>
          <a:p>
            <a:pPr eaLnBrk="0" hangingPunct="0">
              <a:spcBef>
                <a:spcPct val="5000"/>
              </a:spcBef>
            </a:pPr>
            <a:endParaRPr lang="en-US" sz="2000" b="1">
              <a:solidFill>
                <a:srgbClr val="800000"/>
              </a:solidFill>
            </a:endParaRPr>
          </a:p>
          <a:p>
            <a:pPr eaLnBrk="0" hangingPunct="0">
              <a:spcBef>
                <a:spcPct val="5000"/>
              </a:spcBef>
            </a:pPr>
            <a:r>
              <a:rPr lang="en-US" sz="2000" b="1">
                <a:solidFill>
                  <a:srgbClr val="800000"/>
                </a:solidFill>
              </a:rPr>
              <a:t>cout&lt;&lt;"\n Enter inches  :";</a:t>
            </a:r>
          </a:p>
          <a:p>
            <a:pPr eaLnBrk="0" hangingPunct="0">
              <a:spcBef>
                <a:spcPct val="5000"/>
              </a:spcBef>
            </a:pPr>
            <a:r>
              <a:rPr lang="en-US" sz="2000" b="1">
                <a:solidFill>
                  <a:srgbClr val="800000"/>
                </a:solidFill>
              </a:rPr>
              <a:t> cin&gt;&gt;inches;</a:t>
            </a:r>
          </a:p>
          <a:p>
            <a:pPr eaLnBrk="0" hangingPunct="0">
              <a:spcBef>
                <a:spcPct val="5000"/>
              </a:spcBef>
            </a:pPr>
            <a:r>
              <a:rPr lang="en-US" sz="2000" b="1">
                <a:solidFill>
                  <a:srgbClr val="800000"/>
                </a:solidFill>
              </a:rPr>
              <a:t>       }</a:t>
            </a:r>
          </a:p>
          <a:p>
            <a:pPr eaLnBrk="0" hangingPunct="0">
              <a:spcBef>
                <a:spcPct val="5000"/>
              </a:spcBef>
            </a:pPr>
            <a:r>
              <a:rPr lang="en-US" sz="2000" b="1">
                <a:solidFill>
                  <a:srgbClr val="800000"/>
                </a:solidFill>
              </a:rPr>
              <a:t>       void show()</a:t>
            </a:r>
          </a:p>
          <a:p>
            <a:pPr eaLnBrk="0" hangingPunct="0">
              <a:spcBef>
                <a:spcPct val="5000"/>
              </a:spcBef>
            </a:pPr>
            <a:r>
              <a:rPr lang="en-US" sz="2000" b="1">
                <a:solidFill>
                  <a:srgbClr val="800000"/>
                </a:solidFill>
              </a:rPr>
              <a:t>       {</a:t>
            </a:r>
          </a:p>
          <a:p>
            <a:pPr eaLnBrk="0" hangingPunct="0">
              <a:spcBef>
                <a:spcPct val="5000"/>
              </a:spcBef>
            </a:pPr>
            <a:r>
              <a:rPr lang="en-US" sz="2000" b="1">
                <a:solidFill>
                  <a:srgbClr val="800000"/>
                </a:solidFill>
              </a:rPr>
              <a:t>      cout&lt;&lt;feet&lt;&lt;inches&lt;&lt;"\n";</a:t>
            </a:r>
          </a:p>
          <a:p>
            <a:pPr eaLnBrk="0" hangingPunct="0">
              <a:spcBef>
                <a:spcPct val="5000"/>
              </a:spcBef>
            </a:pPr>
            <a:r>
              <a:rPr lang="en-US" sz="2000" b="1">
                <a:solidFill>
                  <a:srgbClr val="800000"/>
                </a:solidFill>
              </a:rPr>
              <a:t>       }</a:t>
            </a:r>
          </a:p>
          <a:p>
            <a:pPr eaLnBrk="0" hangingPunct="0">
              <a:spcBef>
                <a:spcPct val="5000"/>
              </a:spcBef>
            </a:pPr>
            <a:r>
              <a:rPr lang="en-US" sz="2000" b="1">
                <a:solidFill>
                  <a:srgbClr val="800000"/>
                </a:solidFill>
              </a:rPr>
              <a:t>Distance operator +(Distance);</a:t>
            </a:r>
          </a:p>
          <a:p>
            <a:pPr eaLnBrk="0" hangingPunct="0">
              <a:spcBef>
                <a:spcPct val="5000"/>
              </a:spcBef>
            </a:pPr>
            <a:r>
              <a:rPr lang="en-US" sz="2000" b="1">
                <a:solidFill>
                  <a:srgbClr val="800000"/>
                </a:solidFill>
              </a:rPr>
              <a:t>};</a:t>
            </a:r>
          </a:p>
        </p:txBody>
      </p:sp>
    </p:spTree>
  </p:cSld>
  <p:clrMapOvr>
    <a:masterClrMapping/>
  </p:clrMapOvr>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ChangeArrowheads="1"/>
          </p:cNvSpPr>
          <p:nvPr/>
        </p:nvSpPr>
        <p:spPr bwMode="auto">
          <a:xfrm>
            <a:off x="152400" y="152400"/>
            <a:ext cx="8991600" cy="5588000"/>
          </a:xfrm>
          <a:prstGeom prst="rect">
            <a:avLst/>
          </a:prstGeom>
          <a:noFill/>
          <a:ln w="9525">
            <a:solidFill>
              <a:srgbClr val="000000"/>
            </a:solidFill>
            <a:miter lim="800000"/>
            <a:headEnd/>
            <a:tailEnd/>
          </a:ln>
        </p:spPr>
        <p:txBody>
          <a:bodyPr>
            <a:spAutoFit/>
          </a:bodyPr>
          <a:lstStyle/>
          <a:p>
            <a:pPr eaLnBrk="0" hangingPunct="0"/>
            <a:r>
              <a:rPr lang="en-US" sz="2000" b="1">
                <a:solidFill>
                  <a:srgbClr val="000066"/>
                </a:solidFill>
              </a:rPr>
              <a:t>Distance Distance ::operator +(Distance d2)</a:t>
            </a:r>
          </a:p>
          <a:p>
            <a:pPr eaLnBrk="0" hangingPunct="0"/>
            <a:r>
              <a:rPr lang="en-US" sz="2000" b="1">
                <a:solidFill>
                  <a:srgbClr val="000066"/>
                </a:solidFill>
              </a:rPr>
              <a:t>{</a:t>
            </a:r>
          </a:p>
          <a:p>
            <a:pPr eaLnBrk="0" hangingPunct="0"/>
            <a:r>
              <a:rPr lang="en-US" sz="2000" b="1">
                <a:solidFill>
                  <a:srgbClr val="000066"/>
                </a:solidFill>
              </a:rPr>
              <a:t>int f=feet+d2.feet;</a:t>
            </a:r>
          </a:p>
          <a:p>
            <a:pPr eaLnBrk="0" hangingPunct="0"/>
            <a:r>
              <a:rPr lang="en-US" sz="2000" b="1">
                <a:solidFill>
                  <a:srgbClr val="000066"/>
                </a:solidFill>
              </a:rPr>
              <a:t>float i=inches+d2.inches;</a:t>
            </a:r>
          </a:p>
          <a:p>
            <a:pPr eaLnBrk="0" hangingPunct="0"/>
            <a:r>
              <a:rPr lang="en-US" sz="2000" b="1">
                <a:solidFill>
                  <a:srgbClr val="000066"/>
                </a:solidFill>
              </a:rPr>
              <a:t>return Distance(f,i);</a:t>
            </a:r>
          </a:p>
          <a:p>
            <a:pPr eaLnBrk="0" hangingPunct="0"/>
            <a:r>
              <a:rPr lang="en-US" sz="2000" b="1">
                <a:solidFill>
                  <a:srgbClr val="000066"/>
                </a:solidFill>
              </a:rPr>
              <a:t>}</a:t>
            </a:r>
          </a:p>
          <a:p>
            <a:pPr eaLnBrk="0" hangingPunct="0"/>
            <a:r>
              <a:rPr lang="en-US" sz="2000" b="1">
                <a:solidFill>
                  <a:srgbClr val="000066"/>
                </a:solidFill>
              </a:rPr>
              <a:t>void main()</a:t>
            </a:r>
          </a:p>
          <a:p>
            <a:pPr eaLnBrk="0" hangingPunct="0"/>
            <a:r>
              <a:rPr lang="en-US" sz="2000" b="1">
                <a:solidFill>
                  <a:srgbClr val="000066"/>
                </a:solidFill>
              </a:rPr>
              <a:t>{</a:t>
            </a:r>
          </a:p>
          <a:p>
            <a:pPr eaLnBrk="0" hangingPunct="0"/>
            <a:r>
              <a:rPr lang="en-US" sz="2000" b="1">
                <a:solidFill>
                  <a:srgbClr val="000066"/>
                </a:solidFill>
              </a:rPr>
              <a:t>Distance d1,d3,d4;</a:t>
            </a:r>
          </a:p>
          <a:p>
            <a:pPr eaLnBrk="0" hangingPunct="0"/>
            <a:r>
              <a:rPr lang="en-US" sz="2000" b="1">
                <a:solidFill>
                  <a:srgbClr val="000066"/>
                </a:solidFill>
              </a:rPr>
              <a:t>Distance d2(11,6.25);</a:t>
            </a:r>
          </a:p>
          <a:p>
            <a:pPr eaLnBrk="0" hangingPunct="0"/>
            <a:r>
              <a:rPr lang="en-US" sz="2000" b="1">
                <a:solidFill>
                  <a:srgbClr val="000066"/>
                </a:solidFill>
              </a:rPr>
              <a:t>d1.get();</a:t>
            </a:r>
          </a:p>
          <a:p>
            <a:pPr eaLnBrk="0" hangingPunct="0"/>
            <a:r>
              <a:rPr lang="en-US" sz="2000" b="1">
                <a:solidFill>
                  <a:srgbClr val="000066"/>
                </a:solidFill>
              </a:rPr>
              <a:t>d3=d1+d2;</a:t>
            </a:r>
          </a:p>
          <a:p>
            <a:pPr eaLnBrk="0" hangingPunct="0"/>
            <a:r>
              <a:rPr lang="en-US" sz="2000" b="1">
                <a:solidFill>
                  <a:srgbClr val="000066"/>
                </a:solidFill>
              </a:rPr>
              <a:t>d4=d1+d2+d3;</a:t>
            </a:r>
          </a:p>
          <a:p>
            <a:pPr eaLnBrk="0" hangingPunct="0"/>
            <a:r>
              <a:rPr lang="en-US" sz="2000" b="1">
                <a:solidFill>
                  <a:srgbClr val="000066"/>
                </a:solidFill>
              </a:rPr>
              <a:t>cout&lt;&lt;"\n D1=  ";d1.show();</a:t>
            </a:r>
          </a:p>
          <a:p>
            <a:pPr eaLnBrk="0" hangingPunct="0"/>
            <a:r>
              <a:rPr lang="en-US" sz="2000" b="1">
                <a:solidFill>
                  <a:srgbClr val="000066"/>
                </a:solidFill>
              </a:rPr>
              <a:t>cout&lt;&lt;"\n D2=  ";d2.show();</a:t>
            </a:r>
          </a:p>
          <a:p>
            <a:pPr eaLnBrk="0" hangingPunct="0"/>
            <a:r>
              <a:rPr lang="en-US" sz="2000" b="1">
                <a:solidFill>
                  <a:srgbClr val="000066"/>
                </a:solidFill>
              </a:rPr>
              <a:t>cout&lt;&lt;"\n D3=  ";d3.show();</a:t>
            </a:r>
          </a:p>
          <a:p>
            <a:pPr eaLnBrk="0" hangingPunct="0"/>
            <a:r>
              <a:rPr lang="en-US" sz="2000" b="1">
                <a:solidFill>
                  <a:srgbClr val="000066"/>
                </a:solidFill>
              </a:rPr>
              <a:t>cout&lt;&lt;"\n D4=  ";d4.show();</a:t>
            </a:r>
          </a:p>
          <a:p>
            <a:pPr eaLnBrk="0" hangingPunct="0"/>
            <a:r>
              <a:rPr lang="en-US" sz="2000" b="1">
                <a:solidFill>
                  <a:srgbClr val="000066"/>
                </a:solidFill>
              </a:rPr>
              <a:t>}</a:t>
            </a:r>
          </a:p>
        </p:txBody>
      </p:sp>
      <p:sp>
        <p:nvSpPr>
          <p:cNvPr id="11267" name="Text Box 3"/>
          <p:cNvSpPr txBox="1">
            <a:spLocks noChangeArrowheads="1"/>
          </p:cNvSpPr>
          <p:nvPr/>
        </p:nvSpPr>
        <p:spPr bwMode="auto">
          <a:xfrm>
            <a:off x="5181600" y="1981200"/>
            <a:ext cx="3505200" cy="2406650"/>
          </a:xfrm>
          <a:prstGeom prst="rect">
            <a:avLst/>
          </a:prstGeom>
          <a:noFill/>
          <a:ln w="9525">
            <a:solidFill>
              <a:srgbClr val="000000"/>
            </a:solidFill>
            <a:miter lim="800000"/>
            <a:headEnd/>
            <a:tailEnd/>
          </a:ln>
        </p:spPr>
        <p:txBody>
          <a:bodyPr>
            <a:spAutoFit/>
          </a:bodyPr>
          <a:lstStyle/>
          <a:p>
            <a:pPr eaLnBrk="0" hangingPunct="0">
              <a:lnSpc>
                <a:spcPct val="80000"/>
              </a:lnSpc>
            </a:pPr>
            <a:r>
              <a:rPr lang="en-US" sz="2400" b="1" u="sng">
                <a:solidFill>
                  <a:srgbClr val="000099"/>
                </a:solidFill>
                <a:latin typeface="Verdana" pitchFamily="34" charset="0"/>
              </a:rPr>
              <a:t>OUTPUT :</a:t>
            </a:r>
          </a:p>
          <a:p>
            <a:pPr eaLnBrk="0" hangingPunct="0"/>
            <a:r>
              <a:rPr lang="en-US" sz="2000" b="1">
                <a:solidFill>
                  <a:srgbClr val="000099"/>
                </a:solidFill>
                <a:latin typeface="Verdana" pitchFamily="34" charset="0"/>
              </a:rPr>
              <a:t>Enter feet  : 5</a:t>
            </a:r>
          </a:p>
          <a:p>
            <a:pPr eaLnBrk="0" hangingPunct="0"/>
            <a:r>
              <a:rPr lang="en-US" sz="2000" b="1">
                <a:solidFill>
                  <a:srgbClr val="000099"/>
                </a:solidFill>
                <a:latin typeface="Verdana" pitchFamily="34" charset="0"/>
              </a:rPr>
              <a:t>Enter inches : 4.4</a:t>
            </a:r>
          </a:p>
          <a:p>
            <a:pPr eaLnBrk="0" hangingPunct="0"/>
            <a:r>
              <a:rPr lang="en-US" sz="2000" b="1">
                <a:solidFill>
                  <a:srgbClr val="000099"/>
                </a:solidFill>
                <a:latin typeface="Verdana" pitchFamily="34" charset="0"/>
              </a:rPr>
              <a:t>d1 = 5	4.4</a:t>
            </a:r>
          </a:p>
          <a:p>
            <a:pPr eaLnBrk="0" hangingPunct="0"/>
            <a:r>
              <a:rPr lang="en-US" sz="2000" b="1">
                <a:solidFill>
                  <a:srgbClr val="000099"/>
                </a:solidFill>
                <a:latin typeface="Verdana" pitchFamily="34" charset="0"/>
              </a:rPr>
              <a:t>d2 = 11	6.25</a:t>
            </a:r>
          </a:p>
          <a:p>
            <a:pPr eaLnBrk="0" hangingPunct="0"/>
            <a:r>
              <a:rPr lang="en-US" b="1">
                <a:solidFill>
                  <a:srgbClr val="000099"/>
                </a:solidFill>
                <a:latin typeface="Verdana" pitchFamily="34" charset="0"/>
              </a:rPr>
              <a:t>d3 = 16	10.65</a:t>
            </a:r>
          </a:p>
          <a:p>
            <a:pPr eaLnBrk="0" hangingPunct="0"/>
            <a:r>
              <a:rPr lang="en-US" b="1">
                <a:solidFill>
                  <a:srgbClr val="000099"/>
                </a:solidFill>
                <a:latin typeface="Verdana" pitchFamily="34" charset="0"/>
              </a:rPr>
              <a:t>d4 = 32	21.299999</a:t>
            </a:r>
          </a:p>
          <a:p>
            <a:pPr eaLnBrk="0" hangingPunct="0">
              <a:lnSpc>
                <a:spcPct val="80000"/>
              </a:lnSpc>
            </a:pPr>
            <a:endParaRPr lang="en-US" sz="2000" b="1">
              <a:solidFill>
                <a:srgbClr val="000099"/>
              </a:solidFill>
              <a:latin typeface="Verdana" pitchFamily="34" charset="0"/>
            </a:endParaRPr>
          </a:p>
        </p:txBody>
      </p:sp>
    </p:spTree>
  </p:cSld>
  <p:clrMapOvr>
    <a:masterClrMapping/>
  </p:clrMapOvr>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ChangeArrowheads="1"/>
          </p:cNvSpPr>
          <p:nvPr/>
        </p:nvSpPr>
        <p:spPr bwMode="auto">
          <a:xfrm>
            <a:off x="152400" y="152400"/>
            <a:ext cx="8839200" cy="6380163"/>
          </a:xfrm>
          <a:prstGeom prst="rect">
            <a:avLst/>
          </a:prstGeom>
          <a:noFill/>
          <a:ln w="9525">
            <a:solidFill>
              <a:schemeClr val="tx2"/>
            </a:solidFill>
            <a:miter lim="800000"/>
            <a:headEnd/>
            <a:tailEnd/>
          </a:ln>
        </p:spPr>
        <p:txBody>
          <a:bodyPr>
            <a:spAutoFit/>
          </a:bodyPr>
          <a:lstStyle/>
          <a:p>
            <a:pPr algn="ctr" eaLnBrk="0" hangingPunct="0"/>
            <a:r>
              <a:rPr lang="en-US" sz="3200" b="1" u="sng">
                <a:solidFill>
                  <a:srgbClr val="800000"/>
                </a:solidFill>
              </a:rPr>
              <a:t>OVERLOADING MINUS OPERATOR (-)</a:t>
            </a:r>
          </a:p>
          <a:p>
            <a:pPr eaLnBrk="0" hangingPunct="0"/>
            <a:r>
              <a:rPr lang="en-US" sz="2000" b="1">
                <a:solidFill>
                  <a:srgbClr val="800000"/>
                </a:solidFill>
              </a:rPr>
              <a:t>#include&lt;iostream.h&gt;</a:t>
            </a:r>
          </a:p>
          <a:p>
            <a:pPr eaLnBrk="0" hangingPunct="0"/>
            <a:r>
              <a:rPr lang="en-US" sz="2000" b="1">
                <a:solidFill>
                  <a:srgbClr val="800000"/>
                </a:solidFill>
              </a:rPr>
              <a:t>class minus</a:t>
            </a:r>
          </a:p>
          <a:p>
            <a:pPr eaLnBrk="0" hangingPunct="0"/>
            <a:r>
              <a:rPr lang="en-US" sz="2000" b="1">
                <a:solidFill>
                  <a:srgbClr val="800000"/>
                </a:solidFill>
              </a:rPr>
              <a:t>{</a:t>
            </a:r>
          </a:p>
          <a:p>
            <a:pPr eaLnBrk="0" hangingPunct="0"/>
            <a:r>
              <a:rPr lang="en-US" sz="2000" b="1">
                <a:solidFill>
                  <a:srgbClr val="800000"/>
                </a:solidFill>
              </a:rPr>
              <a:t>private :</a:t>
            </a:r>
          </a:p>
          <a:p>
            <a:pPr eaLnBrk="0" hangingPunct="0"/>
            <a:r>
              <a:rPr lang="en-US" sz="2000" b="1">
                <a:solidFill>
                  <a:srgbClr val="800000"/>
                </a:solidFill>
              </a:rPr>
              <a:t>int a,b;</a:t>
            </a:r>
          </a:p>
          <a:p>
            <a:pPr eaLnBrk="0" hangingPunct="0"/>
            <a:r>
              <a:rPr lang="en-US" sz="2000" b="1">
                <a:solidFill>
                  <a:srgbClr val="800000"/>
                </a:solidFill>
              </a:rPr>
              <a:t>public:</a:t>
            </a:r>
          </a:p>
          <a:p>
            <a:pPr eaLnBrk="0" hangingPunct="0"/>
            <a:r>
              <a:rPr lang="en-US" sz="2000" b="1">
                <a:solidFill>
                  <a:srgbClr val="800000"/>
                </a:solidFill>
              </a:rPr>
              <a:t>void get(int i,int j);</a:t>
            </a:r>
          </a:p>
          <a:p>
            <a:pPr eaLnBrk="0" hangingPunct="0"/>
            <a:r>
              <a:rPr lang="en-US" sz="2000" b="1">
                <a:solidFill>
                  <a:srgbClr val="800000"/>
                </a:solidFill>
              </a:rPr>
              <a:t>void display(void);</a:t>
            </a:r>
          </a:p>
          <a:p>
            <a:pPr eaLnBrk="0" hangingPunct="0"/>
            <a:r>
              <a:rPr lang="en-US" sz="2000" b="1">
                <a:solidFill>
                  <a:srgbClr val="800000"/>
                </a:solidFill>
              </a:rPr>
              <a:t>friend void operator -(minus &amp;m);</a:t>
            </a:r>
          </a:p>
          <a:p>
            <a:pPr eaLnBrk="0" hangingPunct="0"/>
            <a:r>
              <a:rPr lang="en-US" sz="2000" b="1">
                <a:solidFill>
                  <a:srgbClr val="800000"/>
                </a:solidFill>
              </a:rPr>
              <a:t>};</a:t>
            </a:r>
          </a:p>
          <a:p>
            <a:pPr eaLnBrk="0" hangingPunct="0"/>
            <a:r>
              <a:rPr lang="en-US" sz="2000" b="1">
                <a:solidFill>
                  <a:srgbClr val="800000"/>
                </a:solidFill>
                <a:latin typeface="Verdana" pitchFamily="34" charset="0"/>
              </a:rPr>
              <a:t>void minus ::get(int i,int j)</a:t>
            </a:r>
          </a:p>
          <a:p>
            <a:pPr eaLnBrk="0" hangingPunct="0"/>
            <a:r>
              <a:rPr lang="en-US" sz="2000" b="1">
                <a:solidFill>
                  <a:srgbClr val="800000"/>
                </a:solidFill>
                <a:latin typeface="Verdana" pitchFamily="34" charset="0"/>
              </a:rPr>
              <a:t>{</a:t>
            </a:r>
          </a:p>
          <a:p>
            <a:pPr eaLnBrk="0" hangingPunct="0"/>
            <a:r>
              <a:rPr lang="en-US" sz="2000" b="1">
                <a:solidFill>
                  <a:srgbClr val="800000"/>
                </a:solidFill>
                <a:latin typeface="Verdana" pitchFamily="34" charset="0"/>
              </a:rPr>
              <a:t>a=i;</a:t>
            </a:r>
          </a:p>
          <a:p>
            <a:pPr eaLnBrk="0" hangingPunct="0"/>
            <a:r>
              <a:rPr lang="en-US" sz="2000" b="1">
                <a:solidFill>
                  <a:srgbClr val="800000"/>
                </a:solidFill>
                <a:latin typeface="Verdana" pitchFamily="34" charset="0"/>
              </a:rPr>
              <a:t>b=j;</a:t>
            </a:r>
          </a:p>
          <a:p>
            <a:pPr eaLnBrk="0" hangingPunct="0"/>
            <a:r>
              <a:rPr lang="en-US" sz="2000" b="1">
                <a:solidFill>
                  <a:srgbClr val="800000"/>
                </a:solidFill>
                <a:latin typeface="Verdana" pitchFamily="34" charset="0"/>
              </a:rPr>
              <a:t>}</a:t>
            </a:r>
          </a:p>
          <a:p>
            <a:pPr eaLnBrk="0" hangingPunct="0"/>
            <a:r>
              <a:rPr lang="en-US" sz="2000" b="1">
                <a:solidFill>
                  <a:srgbClr val="800000"/>
                </a:solidFill>
                <a:latin typeface="Verdana" pitchFamily="34" charset="0"/>
              </a:rPr>
              <a:t>void minus::display(void)</a:t>
            </a:r>
          </a:p>
          <a:p>
            <a:pPr eaLnBrk="0" hangingPunct="0"/>
            <a:r>
              <a:rPr lang="en-US" sz="2000" b="1">
                <a:solidFill>
                  <a:srgbClr val="800000"/>
                </a:solidFill>
                <a:latin typeface="Verdana" pitchFamily="34" charset="0"/>
              </a:rPr>
              <a:t>{</a:t>
            </a:r>
          </a:p>
          <a:p>
            <a:pPr eaLnBrk="0" hangingPunct="0"/>
            <a:r>
              <a:rPr lang="en-US" sz="2000" b="1">
                <a:solidFill>
                  <a:srgbClr val="800000"/>
                </a:solidFill>
                <a:latin typeface="Verdana" pitchFamily="34" charset="0"/>
              </a:rPr>
              <a:t>cout&lt;&lt;a&lt;&lt;"\t"&lt;&lt;b&lt;&lt;endl;</a:t>
            </a:r>
          </a:p>
          <a:p>
            <a:pPr eaLnBrk="0" hangingPunct="0"/>
            <a:r>
              <a:rPr lang="en-US" sz="2000" b="1">
                <a:solidFill>
                  <a:srgbClr val="800000"/>
                </a:solidFill>
                <a:latin typeface="Verdana" pitchFamily="34" charset="0"/>
              </a:rPr>
              <a:t>}</a:t>
            </a:r>
          </a:p>
        </p:txBody>
      </p:sp>
    </p:spTree>
  </p:cSld>
  <p:clrMapOvr>
    <a:masterClrMapping/>
  </p:clrMapOvr>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ChangeArrowheads="1"/>
          </p:cNvSpPr>
          <p:nvPr/>
        </p:nvSpPr>
        <p:spPr bwMode="auto">
          <a:xfrm>
            <a:off x="609600" y="457200"/>
            <a:ext cx="4953000" cy="5653088"/>
          </a:xfrm>
          <a:prstGeom prst="rect">
            <a:avLst/>
          </a:prstGeom>
          <a:noFill/>
          <a:ln w="9525">
            <a:solidFill>
              <a:schemeClr val="tx2"/>
            </a:solidFill>
            <a:miter lim="800000"/>
            <a:headEnd/>
            <a:tailEnd/>
          </a:ln>
        </p:spPr>
        <p:txBody>
          <a:bodyPr>
            <a:spAutoFit/>
          </a:bodyPr>
          <a:lstStyle/>
          <a:p>
            <a:pPr eaLnBrk="0" hangingPunct="0"/>
            <a:r>
              <a:rPr lang="en-US" sz="2800" b="1">
                <a:solidFill>
                  <a:srgbClr val="800000"/>
                </a:solidFill>
              </a:rPr>
              <a:t>void operator -(minus &amp;m)</a:t>
            </a:r>
          </a:p>
          <a:p>
            <a:pPr eaLnBrk="0" hangingPunct="0"/>
            <a:r>
              <a:rPr lang="en-US" sz="2800" b="1">
                <a:solidFill>
                  <a:srgbClr val="800000"/>
                </a:solidFill>
              </a:rPr>
              <a:t>{</a:t>
            </a:r>
          </a:p>
          <a:p>
            <a:pPr eaLnBrk="0" hangingPunct="0"/>
            <a:r>
              <a:rPr lang="en-US" sz="2800" b="1">
                <a:solidFill>
                  <a:srgbClr val="800000"/>
                </a:solidFill>
              </a:rPr>
              <a:t>m.a=-m.a;</a:t>
            </a:r>
          </a:p>
          <a:p>
            <a:pPr eaLnBrk="0" hangingPunct="0"/>
            <a:r>
              <a:rPr lang="en-US" sz="2800" b="1">
                <a:solidFill>
                  <a:srgbClr val="800000"/>
                </a:solidFill>
              </a:rPr>
              <a:t>m.b=-m.b;</a:t>
            </a:r>
          </a:p>
          <a:p>
            <a:pPr eaLnBrk="0" hangingPunct="0"/>
            <a:r>
              <a:rPr lang="en-US" sz="2800" b="1">
                <a:solidFill>
                  <a:srgbClr val="800000"/>
                </a:solidFill>
              </a:rPr>
              <a:t>}</a:t>
            </a:r>
          </a:p>
          <a:p>
            <a:pPr eaLnBrk="0" hangingPunct="0"/>
            <a:r>
              <a:rPr lang="en-US" sz="2800" b="1">
                <a:solidFill>
                  <a:srgbClr val="800000"/>
                </a:solidFill>
              </a:rPr>
              <a:t>void main()</a:t>
            </a:r>
          </a:p>
          <a:p>
            <a:pPr eaLnBrk="0" hangingPunct="0"/>
            <a:r>
              <a:rPr lang="en-US" sz="2800" b="1">
                <a:solidFill>
                  <a:srgbClr val="800000"/>
                </a:solidFill>
              </a:rPr>
              <a:t>{</a:t>
            </a:r>
          </a:p>
          <a:p>
            <a:pPr eaLnBrk="0" hangingPunct="0"/>
            <a:r>
              <a:rPr lang="en-US" sz="2800" b="1">
                <a:solidFill>
                  <a:srgbClr val="800000"/>
                </a:solidFill>
              </a:rPr>
              <a:t>minus m;</a:t>
            </a:r>
          </a:p>
          <a:p>
            <a:pPr eaLnBrk="0" hangingPunct="0"/>
            <a:r>
              <a:rPr lang="en-US" sz="2800" b="1">
                <a:solidFill>
                  <a:srgbClr val="800000"/>
                </a:solidFill>
              </a:rPr>
              <a:t>m.get(100,50);</a:t>
            </a:r>
          </a:p>
          <a:p>
            <a:pPr eaLnBrk="0" hangingPunct="0"/>
            <a:r>
              <a:rPr lang="en-US" sz="2800" b="1">
                <a:solidFill>
                  <a:srgbClr val="800000"/>
                </a:solidFill>
              </a:rPr>
              <a:t>m.display();</a:t>
            </a:r>
          </a:p>
          <a:p>
            <a:pPr eaLnBrk="0" hangingPunct="0"/>
            <a:r>
              <a:rPr lang="en-US" sz="2800" b="1">
                <a:solidFill>
                  <a:srgbClr val="800000"/>
                </a:solidFill>
              </a:rPr>
              <a:t>-m;</a:t>
            </a:r>
          </a:p>
          <a:p>
            <a:pPr eaLnBrk="0" hangingPunct="0"/>
            <a:r>
              <a:rPr lang="en-US" sz="2800" b="1">
                <a:solidFill>
                  <a:srgbClr val="800000"/>
                </a:solidFill>
              </a:rPr>
              <a:t>m.display();</a:t>
            </a:r>
          </a:p>
          <a:p>
            <a:pPr eaLnBrk="0" hangingPunct="0"/>
            <a:r>
              <a:rPr lang="en-US" sz="2800" b="1">
                <a:solidFill>
                  <a:srgbClr val="800000"/>
                </a:solidFill>
              </a:rPr>
              <a:t>}</a:t>
            </a:r>
          </a:p>
        </p:txBody>
      </p:sp>
      <p:sp>
        <p:nvSpPr>
          <p:cNvPr id="13315" name="Text Box 3"/>
          <p:cNvSpPr txBox="1">
            <a:spLocks noChangeArrowheads="1"/>
          </p:cNvSpPr>
          <p:nvPr/>
        </p:nvSpPr>
        <p:spPr bwMode="auto">
          <a:xfrm>
            <a:off x="5791200" y="1828800"/>
            <a:ext cx="3124200" cy="698500"/>
          </a:xfrm>
          <a:prstGeom prst="rect">
            <a:avLst/>
          </a:prstGeom>
          <a:noFill/>
          <a:ln w="9525">
            <a:solidFill>
              <a:srgbClr val="000000"/>
            </a:solidFill>
            <a:miter lim="800000"/>
            <a:headEnd/>
            <a:tailEnd/>
          </a:ln>
        </p:spPr>
        <p:txBody>
          <a:bodyPr>
            <a:spAutoFit/>
          </a:bodyPr>
          <a:lstStyle/>
          <a:p>
            <a:pPr eaLnBrk="0" hangingPunct="0">
              <a:lnSpc>
                <a:spcPct val="80000"/>
              </a:lnSpc>
            </a:pPr>
            <a:r>
              <a:rPr lang="en-US" sz="2400" b="1" u="sng">
                <a:solidFill>
                  <a:srgbClr val="000099"/>
                </a:solidFill>
                <a:latin typeface="Verdana" pitchFamily="34" charset="0"/>
              </a:rPr>
              <a:t>OUTPUT :</a:t>
            </a:r>
          </a:p>
          <a:p>
            <a:pPr eaLnBrk="0" hangingPunct="0"/>
            <a:r>
              <a:rPr lang="en-US" sz="2000" b="1">
                <a:solidFill>
                  <a:srgbClr val="000099"/>
                </a:solidFill>
                <a:latin typeface="Verdana" pitchFamily="34" charset="0"/>
              </a:rPr>
              <a:t>-100	-50</a:t>
            </a:r>
          </a:p>
        </p:txBody>
      </p:sp>
    </p:spTree>
  </p:cSld>
  <p:clrMapOvr>
    <a:masterClrMapping/>
  </p:clrMapOvr>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ChangeArrowheads="1"/>
          </p:cNvSpPr>
          <p:nvPr/>
        </p:nvSpPr>
        <p:spPr bwMode="auto">
          <a:xfrm>
            <a:off x="76200" y="685800"/>
            <a:ext cx="3657600" cy="5943600"/>
          </a:xfrm>
          <a:prstGeom prst="rect">
            <a:avLst/>
          </a:prstGeom>
          <a:noFill/>
          <a:ln w="9525">
            <a:solidFill>
              <a:schemeClr val="tx2"/>
            </a:solidFill>
            <a:miter lim="800000"/>
            <a:headEnd/>
            <a:tailEnd/>
          </a:ln>
        </p:spPr>
        <p:txBody>
          <a:bodyPr>
            <a:spAutoFit/>
          </a:bodyPr>
          <a:lstStyle/>
          <a:p>
            <a:pPr eaLnBrk="0" hangingPunct="0"/>
            <a:r>
              <a:rPr lang="en-US" sz="2400" b="1">
                <a:solidFill>
                  <a:srgbClr val="800000"/>
                </a:solidFill>
              </a:rPr>
              <a:t>#include&lt;iostream.h&gt;</a:t>
            </a:r>
          </a:p>
          <a:p>
            <a:pPr eaLnBrk="0" hangingPunct="0"/>
            <a:r>
              <a:rPr lang="en-US" sz="2400" b="1">
                <a:solidFill>
                  <a:srgbClr val="800000"/>
                </a:solidFill>
              </a:rPr>
              <a:t>const int SIZE=5;</a:t>
            </a:r>
          </a:p>
          <a:p>
            <a:pPr eaLnBrk="0" hangingPunct="0"/>
            <a:r>
              <a:rPr lang="en-US" sz="2400" b="1">
                <a:solidFill>
                  <a:srgbClr val="800000"/>
                </a:solidFill>
              </a:rPr>
              <a:t>class array</a:t>
            </a:r>
          </a:p>
          <a:p>
            <a:pPr eaLnBrk="0" hangingPunct="0"/>
            <a:r>
              <a:rPr lang="en-US" sz="2400" b="1">
                <a:solidFill>
                  <a:srgbClr val="800000"/>
                </a:solidFill>
              </a:rPr>
              <a:t>{</a:t>
            </a:r>
          </a:p>
          <a:p>
            <a:pPr eaLnBrk="0" hangingPunct="0"/>
            <a:r>
              <a:rPr lang="en-US" sz="2400" b="1">
                <a:solidFill>
                  <a:srgbClr val="800000"/>
                </a:solidFill>
              </a:rPr>
              <a:t>private :</a:t>
            </a:r>
          </a:p>
          <a:p>
            <a:pPr eaLnBrk="0" hangingPunct="0"/>
            <a:r>
              <a:rPr lang="en-US" sz="2400" b="1">
                <a:solidFill>
                  <a:srgbClr val="800000"/>
                </a:solidFill>
              </a:rPr>
              <a:t>int a[SIZE];</a:t>
            </a:r>
          </a:p>
          <a:p>
            <a:pPr eaLnBrk="0" hangingPunct="0"/>
            <a:r>
              <a:rPr lang="en-US" sz="2400" b="1">
                <a:solidFill>
                  <a:srgbClr val="800000"/>
                </a:solidFill>
              </a:rPr>
              <a:t>public:</a:t>
            </a:r>
          </a:p>
          <a:p>
            <a:pPr eaLnBrk="0" hangingPunct="0"/>
            <a:r>
              <a:rPr lang="en-US" sz="2400" b="1">
                <a:solidFill>
                  <a:srgbClr val="800000"/>
                </a:solidFill>
              </a:rPr>
              <a:t>int operator [] (int i)</a:t>
            </a:r>
          </a:p>
          <a:p>
            <a:pPr eaLnBrk="0" hangingPunct="0"/>
            <a:r>
              <a:rPr lang="en-US" sz="2400" b="1">
                <a:solidFill>
                  <a:srgbClr val="800000"/>
                </a:solidFill>
              </a:rPr>
              <a:t>{</a:t>
            </a:r>
          </a:p>
          <a:p>
            <a:pPr eaLnBrk="0" hangingPunct="0"/>
            <a:r>
              <a:rPr lang="en-US" sz="2400" b="1">
                <a:solidFill>
                  <a:srgbClr val="800000"/>
                </a:solidFill>
              </a:rPr>
              <a:t>return i;</a:t>
            </a:r>
          </a:p>
          <a:p>
            <a:pPr eaLnBrk="0" hangingPunct="0"/>
            <a:r>
              <a:rPr lang="en-US" sz="2400" b="1">
                <a:solidFill>
                  <a:srgbClr val="800000"/>
                </a:solidFill>
              </a:rPr>
              <a:t>}</a:t>
            </a:r>
          </a:p>
          <a:p>
            <a:pPr eaLnBrk="0" hangingPunct="0"/>
            <a:r>
              <a:rPr lang="en-US" sz="2400" b="1">
                <a:solidFill>
                  <a:srgbClr val="800000"/>
                </a:solidFill>
              </a:rPr>
              <a:t>};</a:t>
            </a:r>
          </a:p>
          <a:p>
            <a:pPr eaLnBrk="0" hangingPunct="0"/>
            <a:r>
              <a:rPr lang="en-US" sz="2400" b="1">
                <a:solidFill>
                  <a:srgbClr val="800000"/>
                </a:solidFill>
              </a:rPr>
              <a:t>void main()</a:t>
            </a:r>
          </a:p>
          <a:p>
            <a:pPr eaLnBrk="0" hangingPunct="0"/>
            <a:r>
              <a:rPr lang="en-US" sz="2400" b="1">
                <a:solidFill>
                  <a:srgbClr val="800000"/>
                </a:solidFill>
              </a:rPr>
              <a:t>{</a:t>
            </a:r>
          </a:p>
          <a:p>
            <a:pPr eaLnBrk="0" hangingPunct="0"/>
            <a:r>
              <a:rPr lang="en-US" sz="2400" b="1">
                <a:solidFill>
                  <a:srgbClr val="800000"/>
                </a:solidFill>
              </a:rPr>
              <a:t>array a1;</a:t>
            </a:r>
          </a:p>
          <a:p>
            <a:pPr eaLnBrk="0" hangingPunct="0"/>
            <a:r>
              <a:rPr lang="en-US" sz="2400" b="1">
                <a:solidFill>
                  <a:srgbClr val="800000"/>
                </a:solidFill>
              </a:rPr>
              <a:t>int i;</a:t>
            </a:r>
          </a:p>
        </p:txBody>
      </p:sp>
      <p:sp>
        <p:nvSpPr>
          <p:cNvPr id="14339" name="Rectangle 3"/>
          <p:cNvSpPr>
            <a:spLocks noChangeArrowheads="1"/>
          </p:cNvSpPr>
          <p:nvPr/>
        </p:nvSpPr>
        <p:spPr bwMode="auto">
          <a:xfrm>
            <a:off x="0" y="0"/>
            <a:ext cx="8763000" cy="519113"/>
          </a:xfrm>
          <a:prstGeom prst="rect">
            <a:avLst/>
          </a:prstGeom>
          <a:noFill/>
          <a:ln w="9525">
            <a:noFill/>
            <a:miter lim="800000"/>
            <a:headEnd/>
            <a:tailEnd/>
          </a:ln>
        </p:spPr>
        <p:txBody>
          <a:bodyPr>
            <a:spAutoFit/>
          </a:bodyPr>
          <a:lstStyle/>
          <a:p>
            <a:pPr algn="ctr" eaLnBrk="0" hangingPunct="0"/>
            <a:r>
              <a:rPr lang="en-US" sz="2800" b="1" u="sng">
                <a:solidFill>
                  <a:srgbClr val="0033CC"/>
                </a:solidFill>
                <a:latin typeface="Bookman Old Style" pitchFamily="18" charset="0"/>
              </a:rPr>
              <a:t>OVERLOADING THE SUBSRIPT</a:t>
            </a:r>
            <a:r>
              <a:rPr lang="en-US" sz="2800" b="1">
                <a:solidFill>
                  <a:srgbClr val="0033CC"/>
                </a:solidFill>
                <a:latin typeface="Bookman Old Style" pitchFamily="18" charset="0"/>
              </a:rPr>
              <a:t>OPERATOR []</a:t>
            </a:r>
            <a:endParaRPr lang="en-US" sz="2800" b="1" u="sng">
              <a:solidFill>
                <a:srgbClr val="0033CC"/>
              </a:solidFill>
              <a:latin typeface="Bookman Old Style" pitchFamily="18" charset="0"/>
            </a:endParaRPr>
          </a:p>
        </p:txBody>
      </p:sp>
      <p:sp>
        <p:nvSpPr>
          <p:cNvPr id="14340" name="Rectangle 4"/>
          <p:cNvSpPr>
            <a:spLocks noChangeArrowheads="1"/>
          </p:cNvSpPr>
          <p:nvPr/>
        </p:nvSpPr>
        <p:spPr bwMode="auto">
          <a:xfrm>
            <a:off x="3733800" y="754063"/>
            <a:ext cx="5334000" cy="2751137"/>
          </a:xfrm>
          <a:prstGeom prst="rect">
            <a:avLst/>
          </a:prstGeom>
          <a:noFill/>
          <a:ln w="9525">
            <a:solidFill>
              <a:schemeClr val="tx2"/>
            </a:solidFill>
            <a:miter lim="800000"/>
            <a:headEnd/>
            <a:tailEnd/>
          </a:ln>
        </p:spPr>
        <p:txBody>
          <a:bodyPr>
            <a:spAutoFit/>
          </a:bodyPr>
          <a:lstStyle/>
          <a:p>
            <a:pPr eaLnBrk="0" hangingPunct="0"/>
            <a:r>
              <a:rPr lang="en-US" sz="2400" b="1">
                <a:solidFill>
                  <a:srgbClr val="800000"/>
                </a:solidFill>
              </a:rPr>
              <a:t>for(i=1;i&lt;=SIZE;i++)</a:t>
            </a:r>
          </a:p>
          <a:p>
            <a:pPr eaLnBrk="0" hangingPunct="0"/>
            <a:r>
              <a:rPr lang="en-US" sz="2400" b="1">
                <a:solidFill>
                  <a:srgbClr val="800000"/>
                </a:solidFill>
              </a:rPr>
              <a:t>{</a:t>
            </a:r>
          </a:p>
          <a:p>
            <a:pPr eaLnBrk="0" hangingPunct="0"/>
            <a:r>
              <a:rPr lang="en-US" b="1">
                <a:solidFill>
                  <a:srgbClr val="800000"/>
                </a:solidFill>
                <a:latin typeface="Verdana" pitchFamily="34" charset="0"/>
              </a:rPr>
              <a:t>// control is transferred to the operator function call int operator [] (int i)</a:t>
            </a:r>
          </a:p>
          <a:p>
            <a:pPr eaLnBrk="0" hangingPunct="0"/>
            <a:endParaRPr lang="en-US" sz="2400" b="1">
              <a:solidFill>
                <a:srgbClr val="800000"/>
              </a:solidFill>
            </a:endParaRPr>
          </a:p>
          <a:p>
            <a:pPr eaLnBrk="0" hangingPunct="0"/>
            <a:r>
              <a:rPr lang="en-US" sz="2400" b="1">
                <a:solidFill>
                  <a:srgbClr val="800000"/>
                </a:solidFill>
              </a:rPr>
              <a:t>cout&lt;&lt;a1[i]&lt;&lt;"\t";}</a:t>
            </a:r>
          </a:p>
          <a:p>
            <a:pPr eaLnBrk="0" hangingPunct="0"/>
            <a:r>
              <a:rPr lang="en-US" sz="2400" b="1">
                <a:solidFill>
                  <a:srgbClr val="800000"/>
                </a:solidFill>
              </a:rPr>
              <a:t>}</a:t>
            </a:r>
          </a:p>
        </p:txBody>
      </p:sp>
      <p:sp>
        <p:nvSpPr>
          <p:cNvPr id="14341" name="Text Box 5"/>
          <p:cNvSpPr txBox="1">
            <a:spLocks noChangeArrowheads="1"/>
          </p:cNvSpPr>
          <p:nvPr/>
        </p:nvSpPr>
        <p:spPr bwMode="auto">
          <a:xfrm>
            <a:off x="4648200" y="4038600"/>
            <a:ext cx="3124200" cy="1917700"/>
          </a:xfrm>
          <a:prstGeom prst="rect">
            <a:avLst/>
          </a:prstGeom>
          <a:noFill/>
          <a:ln w="9525">
            <a:solidFill>
              <a:srgbClr val="000000"/>
            </a:solidFill>
            <a:miter lim="800000"/>
            <a:headEnd/>
            <a:tailEnd/>
          </a:ln>
        </p:spPr>
        <p:txBody>
          <a:bodyPr>
            <a:spAutoFit/>
          </a:bodyPr>
          <a:lstStyle/>
          <a:p>
            <a:pPr eaLnBrk="0" hangingPunct="0">
              <a:lnSpc>
                <a:spcPct val="80000"/>
              </a:lnSpc>
            </a:pPr>
            <a:r>
              <a:rPr lang="en-US" sz="2400" b="1" u="sng">
                <a:solidFill>
                  <a:srgbClr val="000099"/>
                </a:solidFill>
                <a:latin typeface="Verdana" pitchFamily="34" charset="0"/>
              </a:rPr>
              <a:t>OUTPUT :</a:t>
            </a:r>
          </a:p>
          <a:p>
            <a:pPr algn="ctr" eaLnBrk="0" hangingPunct="0"/>
            <a:r>
              <a:rPr lang="en-US" sz="2000" b="1">
                <a:solidFill>
                  <a:srgbClr val="000099"/>
                </a:solidFill>
                <a:latin typeface="Verdana" pitchFamily="34" charset="0"/>
              </a:rPr>
              <a:t>1</a:t>
            </a:r>
          </a:p>
          <a:p>
            <a:pPr algn="ctr" eaLnBrk="0" hangingPunct="0"/>
            <a:r>
              <a:rPr lang="en-US" sz="2000" b="1">
                <a:solidFill>
                  <a:srgbClr val="000099"/>
                </a:solidFill>
                <a:latin typeface="Verdana" pitchFamily="34" charset="0"/>
              </a:rPr>
              <a:t>2</a:t>
            </a:r>
          </a:p>
          <a:p>
            <a:pPr algn="ctr" eaLnBrk="0" hangingPunct="0"/>
            <a:r>
              <a:rPr lang="en-US" sz="2000" b="1">
                <a:solidFill>
                  <a:srgbClr val="000099"/>
                </a:solidFill>
                <a:latin typeface="Verdana" pitchFamily="34" charset="0"/>
              </a:rPr>
              <a:t>3</a:t>
            </a:r>
          </a:p>
          <a:p>
            <a:pPr algn="ctr" eaLnBrk="0" hangingPunct="0"/>
            <a:r>
              <a:rPr lang="en-US" sz="2000" b="1">
                <a:solidFill>
                  <a:srgbClr val="000099"/>
                </a:solidFill>
                <a:latin typeface="Verdana" pitchFamily="34" charset="0"/>
              </a:rPr>
              <a:t>4</a:t>
            </a:r>
          </a:p>
          <a:p>
            <a:pPr algn="ctr" eaLnBrk="0" hangingPunct="0"/>
            <a:r>
              <a:rPr lang="en-US" sz="2000" b="1">
                <a:solidFill>
                  <a:srgbClr val="000099"/>
                </a:solidFill>
                <a:latin typeface="Verdana" pitchFamily="34" charset="0"/>
              </a:rPr>
              <a:t>5</a:t>
            </a:r>
          </a:p>
        </p:txBody>
      </p:sp>
    </p:spTree>
  </p:cSld>
  <p:clrMapOvr>
    <a:masterClrMapping/>
  </p:clrMapOvr>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ChangeArrowheads="1"/>
          </p:cNvSpPr>
          <p:nvPr/>
        </p:nvSpPr>
        <p:spPr bwMode="auto">
          <a:xfrm>
            <a:off x="76200" y="868363"/>
            <a:ext cx="4572000" cy="5892800"/>
          </a:xfrm>
          <a:prstGeom prst="rect">
            <a:avLst/>
          </a:prstGeom>
          <a:noFill/>
          <a:ln w="9525">
            <a:solidFill>
              <a:schemeClr val="tx2"/>
            </a:solidFill>
            <a:miter lim="800000"/>
            <a:headEnd/>
            <a:tailEnd/>
          </a:ln>
        </p:spPr>
        <p:txBody>
          <a:bodyPr>
            <a:spAutoFit/>
          </a:bodyPr>
          <a:lstStyle/>
          <a:p>
            <a:pPr eaLnBrk="0" hangingPunct="0"/>
            <a:r>
              <a:rPr lang="en-US" sz="2000" b="1">
                <a:solidFill>
                  <a:srgbClr val="800000"/>
                </a:solidFill>
              </a:rPr>
              <a:t>#include&lt;iostream.h&gt;</a:t>
            </a:r>
          </a:p>
          <a:p>
            <a:pPr eaLnBrk="0" hangingPunct="0"/>
            <a:r>
              <a:rPr lang="en-US" sz="2000" b="1">
                <a:solidFill>
                  <a:srgbClr val="800000"/>
                </a:solidFill>
              </a:rPr>
              <a:t>class operations</a:t>
            </a:r>
          </a:p>
          <a:p>
            <a:pPr eaLnBrk="0" hangingPunct="0"/>
            <a:r>
              <a:rPr lang="en-US" sz="2000" b="1">
                <a:solidFill>
                  <a:srgbClr val="800000"/>
                </a:solidFill>
              </a:rPr>
              <a:t>{</a:t>
            </a:r>
          </a:p>
          <a:p>
            <a:pPr eaLnBrk="0" hangingPunct="0"/>
            <a:r>
              <a:rPr lang="en-US" sz="2000" b="1">
                <a:solidFill>
                  <a:srgbClr val="800000"/>
                </a:solidFill>
              </a:rPr>
              <a:t>public :</a:t>
            </a:r>
          </a:p>
          <a:p>
            <a:pPr eaLnBrk="0" hangingPunct="0"/>
            <a:r>
              <a:rPr lang="en-US" sz="2000" b="1">
                <a:solidFill>
                  <a:srgbClr val="800000"/>
                </a:solidFill>
              </a:rPr>
              <a:t>int a,b,c,d,e;</a:t>
            </a:r>
          </a:p>
          <a:p>
            <a:pPr eaLnBrk="0" hangingPunct="0"/>
            <a:r>
              <a:rPr lang="en-US" sz="2000" b="1">
                <a:solidFill>
                  <a:srgbClr val="800000"/>
                </a:solidFill>
              </a:rPr>
              <a:t>operations operator + (operations p)</a:t>
            </a:r>
          </a:p>
          <a:p>
            <a:pPr eaLnBrk="0" hangingPunct="0"/>
            <a:r>
              <a:rPr lang="en-US" sz="2000" b="1">
                <a:solidFill>
                  <a:srgbClr val="800000"/>
                </a:solidFill>
              </a:rPr>
              <a:t>{</a:t>
            </a:r>
          </a:p>
          <a:p>
            <a:pPr eaLnBrk="0" hangingPunct="0"/>
            <a:r>
              <a:rPr lang="en-US" sz="2000" b="1">
                <a:solidFill>
                  <a:srgbClr val="800000"/>
                </a:solidFill>
              </a:rPr>
              <a:t>p.c=p.a+p.b;</a:t>
            </a:r>
          </a:p>
          <a:p>
            <a:pPr eaLnBrk="0" hangingPunct="0"/>
            <a:r>
              <a:rPr lang="en-US" sz="2000" b="1">
                <a:solidFill>
                  <a:srgbClr val="800000"/>
                </a:solidFill>
              </a:rPr>
              <a:t>return p;}</a:t>
            </a:r>
          </a:p>
          <a:p>
            <a:pPr eaLnBrk="0" hangingPunct="0"/>
            <a:r>
              <a:rPr lang="en-US" sz="2000" b="1">
                <a:solidFill>
                  <a:srgbClr val="800000"/>
                </a:solidFill>
              </a:rPr>
              <a:t>operations operator - (operations q)</a:t>
            </a:r>
          </a:p>
          <a:p>
            <a:pPr eaLnBrk="0" hangingPunct="0"/>
            <a:r>
              <a:rPr lang="en-US" sz="2000" b="1">
                <a:solidFill>
                  <a:srgbClr val="800000"/>
                </a:solidFill>
              </a:rPr>
              <a:t>{</a:t>
            </a:r>
          </a:p>
          <a:p>
            <a:pPr eaLnBrk="0" hangingPunct="0"/>
            <a:r>
              <a:rPr lang="en-US" sz="2000" b="1">
                <a:solidFill>
                  <a:srgbClr val="800000"/>
                </a:solidFill>
              </a:rPr>
              <a:t>q.d=q.a-q.b;</a:t>
            </a:r>
          </a:p>
          <a:p>
            <a:pPr eaLnBrk="0" hangingPunct="0"/>
            <a:r>
              <a:rPr lang="en-US" sz="2000" b="1">
                <a:solidFill>
                  <a:srgbClr val="800000"/>
                </a:solidFill>
              </a:rPr>
              <a:t>return q;</a:t>
            </a:r>
          </a:p>
          <a:p>
            <a:pPr eaLnBrk="0" hangingPunct="0"/>
            <a:r>
              <a:rPr lang="en-US" sz="2000" b="1">
                <a:solidFill>
                  <a:srgbClr val="800000"/>
                </a:solidFill>
              </a:rPr>
              <a:t>}</a:t>
            </a:r>
          </a:p>
          <a:p>
            <a:pPr eaLnBrk="0" hangingPunct="0"/>
            <a:r>
              <a:rPr lang="en-US" sz="2000" b="1">
                <a:solidFill>
                  <a:srgbClr val="800000"/>
                </a:solidFill>
              </a:rPr>
              <a:t>operations operator * (operations r)</a:t>
            </a:r>
          </a:p>
          <a:p>
            <a:pPr eaLnBrk="0" hangingPunct="0"/>
            <a:r>
              <a:rPr lang="en-US" sz="2000" b="1">
                <a:solidFill>
                  <a:srgbClr val="800000"/>
                </a:solidFill>
              </a:rPr>
              <a:t>{</a:t>
            </a:r>
          </a:p>
          <a:p>
            <a:pPr eaLnBrk="0" hangingPunct="0"/>
            <a:r>
              <a:rPr lang="en-US" sz="2000" b="1">
                <a:solidFill>
                  <a:srgbClr val="800000"/>
                </a:solidFill>
              </a:rPr>
              <a:t>r.e=r.a*r.b;</a:t>
            </a:r>
          </a:p>
          <a:p>
            <a:pPr eaLnBrk="0" hangingPunct="0"/>
            <a:r>
              <a:rPr lang="en-US" sz="2000" b="1">
                <a:solidFill>
                  <a:srgbClr val="800000"/>
                </a:solidFill>
              </a:rPr>
              <a:t>return r;</a:t>
            </a:r>
          </a:p>
          <a:p>
            <a:pPr eaLnBrk="0" hangingPunct="0"/>
            <a:r>
              <a:rPr lang="en-US" sz="2000" b="1">
                <a:solidFill>
                  <a:srgbClr val="800000"/>
                </a:solidFill>
              </a:rPr>
              <a:t>}</a:t>
            </a:r>
          </a:p>
        </p:txBody>
      </p:sp>
      <p:sp>
        <p:nvSpPr>
          <p:cNvPr id="15363" name="Rectangle 3"/>
          <p:cNvSpPr>
            <a:spLocks noChangeArrowheads="1"/>
          </p:cNvSpPr>
          <p:nvPr/>
        </p:nvSpPr>
        <p:spPr bwMode="auto">
          <a:xfrm>
            <a:off x="4648200" y="909638"/>
            <a:ext cx="4038600" cy="5795962"/>
          </a:xfrm>
          <a:prstGeom prst="rect">
            <a:avLst/>
          </a:prstGeom>
          <a:noFill/>
          <a:ln w="9525">
            <a:solidFill>
              <a:schemeClr val="tx2"/>
            </a:solidFill>
            <a:miter lim="800000"/>
            <a:headEnd/>
            <a:tailEnd/>
          </a:ln>
        </p:spPr>
        <p:txBody>
          <a:bodyPr>
            <a:spAutoFit/>
          </a:bodyPr>
          <a:lstStyle/>
          <a:p>
            <a:pPr eaLnBrk="0" hangingPunct="0"/>
            <a:r>
              <a:rPr lang="en-US" sz="2200" b="1">
                <a:solidFill>
                  <a:srgbClr val="800000"/>
                </a:solidFill>
              </a:rPr>
              <a:t>void accept()</a:t>
            </a:r>
          </a:p>
          <a:p>
            <a:pPr eaLnBrk="0" hangingPunct="0"/>
            <a:r>
              <a:rPr lang="en-US" sz="2200" b="1">
                <a:solidFill>
                  <a:srgbClr val="800000"/>
                </a:solidFill>
              </a:rPr>
              <a:t>{</a:t>
            </a:r>
          </a:p>
          <a:p>
            <a:pPr eaLnBrk="0" hangingPunct="0"/>
            <a:r>
              <a:rPr lang="en-US" sz="2200" b="1">
                <a:solidFill>
                  <a:srgbClr val="800000"/>
                </a:solidFill>
              </a:rPr>
              <a:t>cout&lt;&lt;"\n Enter 2 Values";</a:t>
            </a:r>
          </a:p>
          <a:p>
            <a:pPr eaLnBrk="0" hangingPunct="0"/>
            <a:r>
              <a:rPr lang="en-US" sz="2200" b="1">
                <a:solidFill>
                  <a:srgbClr val="800000"/>
                </a:solidFill>
              </a:rPr>
              <a:t>cin&gt;&gt;a&gt;&gt;b;</a:t>
            </a:r>
          </a:p>
          <a:p>
            <a:pPr eaLnBrk="0" hangingPunct="0"/>
            <a:r>
              <a:rPr lang="en-US" sz="2200" b="1">
                <a:solidFill>
                  <a:srgbClr val="800000"/>
                </a:solidFill>
              </a:rPr>
              <a:t>}</a:t>
            </a:r>
          </a:p>
          <a:p>
            <a:pPr eaLnBrk="0" hangingPunct="0"/>
            <a:r>
              <a:rPr lang="en-US" sz="2200" b="1">
                <a:solidFill>
                  <a:srgbClr val="800000"/>
                </a:solidFill>
              </a:rPr>
              <a:t>};</a:t>
            </a:r>
          </a:p>
          <a:p>
            <a:pPr eaLnBrk="0" hangingPunct="0"/>
            <a:r>
              <a:rPr lang="en-US" sz="2200" b="1">
                <a:solidFill>
                  <a:srgbClr val="800000"/>
                </a:solidFill>
              </a:rPr>
              <a:t>void main()</a:t>
            </a:r>
          </a:p>
          <a:p>
            <a:pPr eaLnBrk="0" hangingPunct="0"/>
            <a:r>
              <a:rPr lang="en-US" sz="2200" b="1">
                <a:solidFill>
                  <a:srgbClr val="800000"/>
                </a:solidFill>
              </a:rPr>
              <a:t>{</a:t>
            </a:r>
          </a:p>
          <a:p>
            <a:pPr eaLnBrk="0" hangingPunct="0"/>
            <a:r>
              <a:rPr lang="en-US" sz="2200" b="1">
                <a:solidFill>
                  <a:srgbClr val="800000"/>
                </a:solidFill>
              </a:rPr>
              <a:t>operations x;</a:t>
            </a:r>
          </a:p>
          <a:p>
            <a:pPr eaLnBrk="0" hangingPunct="0"/>
            <a:r>
              <a:rPr lang="en-US" sz="2200" b="1">
                <a:solidFill>
                  <a:srgbClr val="800000"/>
                </a:solidFill>
              </a:rPr>
              <a:t>x.accept();</a:t>
            </a:r>
          </a:p>
          <a:p>
            <a:pPr eaLnBrk="0" hangingPunct="0"/>
            <a:r>
              <a:rPr lang="en-US" sz="2200" b="1">
                <a:solidFill>
                  <a:srgbClr val="800000"/>
                </a:solidFill>
              </a:rPr>
              <a:t>x.c=x.a+x.b;</a:t>
            </a:r>
          </a:p>
          <a:p>
            <a:pPr eaLnBrk="0" hangingPunct="0"/>
            <a:r>
              <a:rPr lang="en-US" sz="2200" b="1">
                <a:solidFill>
                  <a:srgbClr val="800000"/>
                </a:solidFill>
              </a:rPr>
              <a:t>cout&lt;&lt;x.c&lt;&lt;endl;</a:t>
            </a:r>
          </a:p>
          <a:p>
            <a:pPr eaLnBrk="0" hangingPunct="0"/>
            <a:r>
              <a:rPr lang="en-US" sz="2200" b="1">
                <a:solidFill>
                  <a:srgbClr val="800000"/>
                </a:solidFill>
              </a:rPr>
              <a:t>x.d=x.a-x.b;</a:t>
            </a:r>
          </a:p>
          <a:p>
            <a:pPr eaLnBrk="0" hangingPunct="0"/>
            <a:r>
              <a:rPr lang="en-US" sz="2200" b="1">
                <a:solidFill>
                  <a:srgbClr val="800000"/>
                </a:solidFill>
              </a:rPr>
              <a:t>cout&lt;&lt;x.d&lt;&lt;endl;</a:t>
            </a:r>
          </a:p>
          <a:p>
            <a:pPr eaLnBrk="0" hangingPunct="0"/>
            <a:r>
              <a:rPr lang="en-US" sz="2200" b="1">
                <a:solidFill>
                  <a:srgbClr val="800000"/>
                </a:solidFill>
              </a:rPr>
              <a:t>x.e=x.a*x.b;</a:t>
            </a:r>
          </a:p>
          <a:p>
            <a:pPr eaLnBrk="0" hangingPunct="0"/>
            <a:r>
              <a:rPr lang="en-US" sz="2200" b="1">
                <a:solidFill>
                  <a:srgbClr val="800000"/>
                </a:solidFill>
              </a:rPr>
              <a:t>cout&lt;&lt;x.e&lt;&lt;endl;</a:t>
            </a:r>
          </a:p>
          <a:p>
            <a:pPr eaLnBrk="0" hangingPunct="0"/>
            <a:r>
              <a:rPr lang="en-US" sz="2200" b="1">
                <a:solidFill>
                  <a:srgbClr val="800000"/>
                </a:solidFill>
              </a:rPr>
              <a:t>}</a:t>
            </a:r>
          </a:p>
        </p:txBody>
      </p:sp>
      <p:sp>
        <p:nvSpPr>
          <p:cNvPr id="15364" name="Rectangle 4"/>
          <p:cNvSpPr>
            <a:spLocks noChangeArrowheads="1"/>
          </p:cNvSpPr>
          <p:nvPr/>
        </p:nvSpPr>
        <p:spPr bwMode="auto">
          <a:xfrm>
            <a:off x="571500" y="209550"/>
            <a:ext cx="7697788" cy="579438"/>
          </a:xfrm>
          <a:prstGeom prst="rect">
            <a:avLst/>
          </a:prstGeom>
          <a:noFill/>
          <a:ln w="9525">
            <a:noFill/>
            <a:miter lim="800000"/>
            <a:headEnd/>
            <a:tailEnd/>
          </a:ln>
        </p:spPr>
        <p:txBody>
          <a:bodyPr wrap="none">
            <a:spAutoFit/>
          </a:bodyPr>
          <a:lstStyle/>
          <a:p>
            <a:pPr eaLnBrk="0" hangingPunct="0"/>
            <a:r>
              <a:rPr lang="en-US" sz="3200" b="1">
                <a:solidFill>
                  <a:srgbClr val="0033CC"/>
                </a:solidFill>
                <a:latin typeface="Verdana" pitchFamily="34" charset="0"/>
              </a:rPr>
              <a:t>Overloading arithmetic operator </a:t>
            </a:r>
          </a:p>
        </p:txBody>
      </p:sp>
    </p:spTree>
  </p:cSld>
  <p:clrMapOvr>
    <a:masterClrMapping/>
  </p:clrMapOvr>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2"/>
          <p:cNvSpPr txBox="1">
            <a:spLocks noChangeArrowheads="1"/>
          </p:cNvSpPr>
          <p:nvPr/>
        </p:nvSpPr>
        <p:spPr bwMode="auto">
          <a:xfrm>
            <a:off x="2057400" y="1371600"/>
            <a:ext cx="5334000" cy="2832100"/>
          </a:xfrm>
          <a:prstGeom prst="rect">
            <a:avLst/>
          </a:prstGeom>
          <a:noFill/>
          <a:ln w="9525">
            <a:solidFill>
              <a:srgbClr val="000000"/>
            </a:solidFill>
            <a:miter lim="800000"/>
            <a:headEnd/>
            <a:tailEnd/>
          </a:ln>
        </p:spPr>
        <p:txBody>
          <a:bodyPr>
            <a:spAutoFit/>
          </a:bodyPr>
          <a:lstStyle/>
          <a:p>
            <a:pPr eaLnBrk="0" hangingPunct="0">
              <a:lnSpc>
                <a:spcPct val="80000"/>
              </a:lnSpc>
            </a:pPr>
            <a:r>
              <a:rPr lang="en-US" sz="2400" b="1" u="sng">
                <a:solidFill>
                  <a:srgbClr val="800000"/>
                </a:solidFill>
                <a:latin typeface="Verdana" pitchFamily="34" charset="0"/>
              </a:rPr>
              <a:t>OUTPUT :</a:t>
            </a:r>
          </a:p>
          <a:p>
            <a:pPr eaLnBrk="0" hangingPunct="0"/>
            <a:r>
              <a:rPr lang="en-US" sz="2000" b="1">
                <a:solidFill>
                  <a:srgbClr val="800000"/>
                </a:solidFill>
                <a:latin typeface="Verdana" pitchFamily="34" charset="0"/>
              </a:rPr>
              <a:t>Enter 2 values : 20</a:t>
            </a:r>
          </a:p>
          <a:p>
            <a:pPr eaLnBrk="0" hangingPunct="0"/>
            <a:r>
              <a:rPr lang="en-US" sz="2000" b="1">
                <a:solidFill>
                  <a:srgbClr val="800000"/>
                </a:solidFill>
                <a:latin typeface="Verdana" pitchFamily="34" charset="0"/>
              </a:rPr>
              <a:t>20</a:t>
            </a:r>
          </a:p>
          <a:p>
            <a:pPr eaLnBrk="0" hangingPunct="0"/>
            <a:endParaRPr lang="en-US" sz="2000" b="1">
              <a:solidFill>
                <a:srgbClr val="800000"/>
              </a:solidFill>
              <a:latin typeface="Verdana" pitchFamily="34" charset="0"/>
            </a:endParaRPr>
          </a:p>
          <a:p>
            <a:pPr eaLnBrk="0" hangingPunct="0"/>
            <a:r>
              <a:rPr lang="en-US" sz="2000" b="1">
                <a:solidFill>
                  <a:srgbClr val="800000"/>
                </a:solidFill>
                <a:latin typeface="Verdana" pitchFamily="34" charset="0"/>
              </a:rPr>
              <a:t>Addition          -&gt; 40</a:t>
            </a:r>
          </a:p>
          <a:p>
            <a:pPr eaLnBrk="0" hangingPunct="0"/>
            <a:r>
              <a:rPr lang="en-US" sz="2000" b="1">
                <a:solidFill>
                  <a:srgbClr val="800000"/>
                </a:solidFill>
                <a:latin typeface="Verdana" pitchFamily="34" charset="0"/>
              </a:rPr>
              <a:t>Subtraction     -&gt; 0</a:t>
            </a:r>
          </a:p>
          <a:p>
            <a:pPr eaLnBrk="0" hangingPunct="0"/>
            <a:r>
              <a:rPr lang="en-US" sz="2000" b="1">
                <a:solidFill>
                  <a:srgbClr val="800000"/>
                </a:solidFill>
                <a:latin typeface="Verdana" pitchFamily="34" charset="0"/>
              </a:rPr>
              <a:t>Multiplication  -&gt; 400</a:t>
            </a:r>
          </a:p>
          <a:p>
            <a:pPr eaLnBrk="0" hangingPunct="0"/>
            <a:endParaRPr lang="en-US" sz="2000" b="1">
              <a:solidFill>
                <a:srgbClr val="800000"/>
              </a:solidFill>
              <a:latin typeface="Verdana" pitchFamily="34" charset="0"/>
            </a:endParaRPr>
          </a:p>
          <a:p>
            <a:pPr eaLnBrk="0" hangingPunct="0"/>
            <a:endParaRPr lang="en-US" sz="2000" b="1">
              <a:solidFill>
                <a:srgbClr val="800000"/>
              </a:solidFill>
              <a:latin typeface="Verdana" pitchFamily="34" charset="0"/>
            </a:endParaRPr>
          </a:p>
        </p:txBody>
      </p:sp>
    </p:spTree>
  </p:cSld>
  <p:clrMapOvr>
    <a:masterClrMapping/>
  </p:clrMapOvr>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2"/>
          <p:cNvSpPr txBox="1">
            <a:spLocks noChangeArrowheads="1"/>
          </p:cNvSpPr>
          <p:nvPr/>
        </p:nvSpPr>
        <p:spPr bwMode="auto">
          <a:xfrm>
            <a:off x="152400" y="1371600"/>
            <a:ext cx="8839200" cy="4729163"/>
          </a:xfrm>
          <a:prstGeom prst="rect">
            <a:avLst/>
          </a:prstGeom>
          <a:noFill/>
          <a:ln w="9525">
            <a:noFill/>
            <a:miter lim="800000"/>
            <a:headEnd/>
            <a:tailEnd/>
          </a:ln>
        </p:spPr>
        <p:txBody>
          <a:bodyPr>
            <a:spAutoFit/>
          </a:bodyPr>
          <a:lstStyle/>
          <a:p>
            <a:pPr algn="just" eaLnBrk="0" hangingPunct="0">
              <a:lnSpc>
                <a:spcPct val="120000"/>
              </a:lnSpc>
              <a:spcBef>
                <a:spcPct val="10000"/>
              </a:spcBef>
              <a:spcAft>
                <a:spcPct val="40000"/>
              </a:spcAft>
              <a:buSzPct val="110000"/>
              <a:buFont typeface="Wingdings" pitchFamily="2" charset="2"/>
              <a:buChar char="µ"/>
            </a:pPr>
            <a:r>
              <a:rPr lang="en-US" sz="2400" b="1">
                <a:solidFill>
                  <a:srgbClr val="800000"/>
                </a:solidFill>
                <a:latin typeface="Times New Roman" pitchFamily="18" charset="0"/>
                <a:cs typeface="Times New Roman" pitchFamily="18" charset="0"/>
              </a:rPr>
              <a:t> </a:t>
            </a:r>
            <a:r>
              <a:rPr lang="en-US" sz="2400" b="1">
                <a:solidFill>
                  <a:srgbClr val="660033"/>
                </a:solidFill>
                <a:latin typeface="Times New Roman" pitchFamily="18" charset="0"/>
              </a:rPr>
              <a:t>We can give different meaning to an operator , depending upon the types of arguments called “operator Overloading” that cannot be overloaded as Operator polymorphism</a:t>
            </a:r>
          </a:p>
          <a:p>
            <a:pPr algn="just" eaLnBrk="0" hangingPunct="0">
              <a:lnSpc>
                <a:spcPct val="120000"/>
              </a:lnSpc>
              <a:spcBef>
                <a:spcPct val="10000"/>
              </a:spcBef>
              <a:spcAft>
                <a:spcPct val="40000"/>
              </a:spcAft>
              <a:buSzPct val="110000"/>
              <a:buFont typeface="Wingdings" pitchFamily="2" charset="2"/>
              <a:buChar char="µ"/>
            </a:pPr>
            <a:r>
              <a:rPr lang="en-US" sz="2400" b="1">
                <a:solidFill>
                  <a:srgbClr val="660033"/>
                </a:solidFill>
                <a:latin typeface="Times New Roman" pitchFamily="18" charset="0"/>
              </a:rPr>
              <a:t>The keyword “Operator” is used to form the name of a function that overloads an operator</a:t>
            </a:r>
          </a:p>
          <a:p>
            <a:pPr algn="just" eaLnBrk="0" hangingPunct="0">
              <a:lnSpc>
                <a:spcPct val="120000"/>
              </a:lnSpc>
              <a:spcBef>
                <a:spcPct val="10000"/>
              </a:spcBef>
              <a:spcAft>
                <a:spcPct val="40000"/>
              </a:spcAft>
              <a:buSzPct val="110000"/>
              <a:buFont typeface="Wingdings" pitchFamily="2" charset="2"/>
              <a:buChar char="µ"/>
            </a:pPr>
            <a:r>
              <a:rPr lang="en-US" sz="2400" b="1">
                <a:solidFill>
                  <a:srgbClr val="660033"/>
                </a:solidFill>
                <a:latin typeface="Times New Roman" pitchFamily="18" charset="0"/>
              </a:rPr>
              <a:t>An operator can be overloaded by a member function of a class or by a friend function</a:t>
            </a:r>
          </a:p>
          <a:p>
            <a:pPr algn="just" eaLnBrk="0" hangingPunct="0">
              <a:lnSpc>
                <a:spcPct val="120000"/>
              </a:lnSpc>
              <a:spcBef>
                <a:spcPct val="10000"/>
              </a:spcBef>
              <a:spcAft>
                <a:spcPct val="40000"/>
              </a:spcAft>
              <a:buSzPct val="110000"/>
              <a:buFont typeface="Wingdings" pitchFamily="2" charset="2"/>
              <a:buChar char="µ"/>
            </a:pPr>
            <a:r>
              <a:rPr lang="en-US" sz="2400" b="1">
                <a:solidFill>
                  <a:srgbClr val="660033"/>
                </a:solidFill>
                <a:latin typeface="Times New Roman" pitchFamily="18" charset="0"/>
              </a:rPr>
              <a:t>Overloading   an increment &amp; Decrement operator has two forms, the Prefix and Postfix form.</a:t>
            </a:r>
          </a:p>
        </p:txBody>
      </p:sp>
      <p:sp>
        <p:nvSpPr>
          <p:cNvPr id="17411" name="WordArt 3"/>
          <p:cNvSpPr>
            <a:spLocks noChangeArrowheads="1" noChangeShapeType="1" noTextEdit="1"/>
          </p:cNvSpPr>
          <p:nvPr/>
        </p:nvSpPr>
        <p:spPr bwMode="auto">
          <a:xfrm>
            <a:off x="2590800" y="228600"/>
            <a:ext cx="3200400" cy="914400"/>
          </a:xfrm>
          <a:prstGeom prst="rect">
            <a:avLst/>
          </a:prstGeom>
        </p:spPr>
        <p:txBody>
          <a:bodyPr wrap="none" fromWordArt="1">
            <a:prstTxWarp prst="textCanUp">
              <a:avLst>
                <a:gd name="adj" fmla="val 85713"/>
              </a:avLst>
            </a:prstTxWarp>
          </a:bodyPr>
          <a:lstStyle/>
          <a:p>
            <a:pPr algn="ctr"/>
            <a:r>
              <a:rPr lang="en-IN"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a:rPr>
              <a:t>Summary</a:t>
            </a:r>
          </a:p>
        </p:txBody>
      </p:sp>
      <p:sp>
        <p:nvSpPr>
          <p:cNvPr id="17412" name="Rectangle 4"/>
          <p:cNvSpPr>
            <a:spLocks noChangeArrowheads="1"/>
          </p:cNvSpPr>
          <p:nvPr/>
        </p:nvSpPr>
        <p:spPr bwMode="auto">
          <a:xfrm>
            <a:off x="152400" y="1295400"/>
            <a:ext cx="8915400" cy="5257800"/>
          </a:xfrm>
          <a:prstGeom prst="rect">
            <a:avLst/>
          </a:prstGeom>
          <a:noFill/>
          <a:ln w="57150" cmpd="thickThin">
            <a:solidFill>
              <a:srgbClr val="990033"/>
            </a:solidFill>
            <a:miter lim="800000"/>
            <a:headEnd/>
            <a:tailEnd/>
          </a:ln>
        </p:spPr>
        <p:txBody>
          <a:bodyPr wrap="none" anchor="ctr"/>
          <a:lstStyle/>
          <a:p>
            <a:pPr algn="ctr" eaLnBrk="0" hangingPunct="0"/>
            <a:endParaRPr lang="en-US">
              <a:solidFill>
                <a:srgbClr val="800000"/>
              </a:solidFill>
              <a:latin typeface="Verdana" pitchFamily="34" charset="0"/>
            </a:endParaRPr>
          </a:p>
        </p:txBody>
      </p:sp>
    </p:spTree>
  </p:cSld>
  <p:clrMapOvr>
    <a:masterClrMapping/>
  </p:clrMapOvr>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ChangeArrowheads="1"/>
          </p:cNvSpPr>
          <p:nvPr/>
        </p:nvSpPr>
        <p:spPr bwMode="auto">
          <a:xfrm>
            <a:off x="304800" y="374650"/>
            <a:ext cx="8686800" cy="5256213"/>
          </a:xfrm>
          <a:prstGeom prst="rect">
            <a:avLst/>
          </a:prstGeom>
          <a:noFill/>
          <a:ln w="9525">
            <a:solidFill>
              <a:srgbClr val="990033"/>
            </a:solidFill>
            <a:miter lim="800000"/>
            <a:headEnd/>
            <a:tailEnd/>
          </a:ln>
        </p:spPr>
        <p:txBody>
          <a:bodyPr>
            <a:spAutoFit/>
          </a:bodyPr>
          <a:lstStyle/>
          <a:p>
            <a:pPr algn="just" eaLnBrk="0" hangingPunct="0">
              <a:lnSpc>
                <a:spcPct val="130000"/>
              </a:lnSpc>
              <a:spcBef>
                <a:spcPct val="25000"/>
              </a:spcBef>
              <a:spcAft>
                <a:spcPct val="35000"/>
              </a:spcAft>
              <a:buSzPct val="110000"/>
              <a:buFont typeface="Wingdings" pitchFamily="2" charset="2"/>
              <a:buChar char="µ"/>
            </a:pPr>
            <a:r>
              <a:rPr lang="en-US" sz="2400" b="1">
                <a:solidFill>
                  <a:srgbClr val="660033"/>
                </a:solidFill>
                <a:latin typeface="Times New Roman" pitchFamily="18" charset="0"/>
              </a:rPr>
              <a:t> The Number of arguments ,the member function of an unary operator takes is one.</a:t>
            </a:r>
          </a:p>
          <a:p>
            <a:pPr algn="just" eaLnBrk="0" hangingPunct="0">
              <a:lnSpc>
                <a:spcPct val="130000"/>
              </a:lnSpc>
              <a:spcBef>
                <a:spcPct val="25000"/>
              </a:spcBef>
              <a:spcAft>
                <a:spcPct val="35000"/>
              </a:spcAft>
              <a:buSzPct val="110000"/>
              <a:buFont typeface="Wingdings" pitchFamily="2" charset="2"/>
              <a:buChar char="µ"/>
            </a:pPr>
            <a:r>
              <a:rPr lang="en-US" sz="2400" b="1">
                <a:solidFill>
                  <a:srgbClr val="660033"/>
                </a:solidFill>
                <a:latin typeface="Times New Roman" pitchFamily="18" charset="0"/>
              </a:rPr>
              <a:t> The Number of arguments ,the member function of an Binary Operator takes is two</a:t>
            </a:r>
          </a:p>
          <a:p>
            <a:pPr algn="just" eaLnBrk="0" hangingPunct="0">
              <a:lnSpc>
                <a:spcPct val="130000"/>
              </a:lnSpc>
              <a:spcBef>
                <a:spcPct val="25000"/>
              </a:spcBef>
              <a:spcAft>
                <a:spcPct val="35000"/>
              </a:spcAft>
              <a:buSzPct val="110000"/>
              <a:buFont typeface="Wingdings" pitchFamily="2" charset="2"/>
              <a:buChar char="µ"/>
            </a:pPr>
            <a:r>
              <a:rPr lang="en-US" sz="2400" b="1">
                <a:solidFill>
                  <a:srgbClr val="660033"/>
                </a:solidFill>
                <a:latin typeface="Times New Roman" pitchFamily="18" charset="0"/>
              </a:rPr>
              <a:t> The Number of arguments ,the friend function of an unary operator takes is Nil</a:t>
            </a:r>
          </a:p>
          <a:p>
            <a:pPr algn="just" eaLnBrk="0" hangingPunct="0">
              <a:lnSpc>
                <a:spcPct val="130000"/>
              </a:lnSpc>
              <a:spcBef>
                <a:spcPct val="25000"/>
              </a:spcBef>
              <a:spcAft>
                <a:spcPct val="35000"/>
              </a:spcAft>
              <a:buSzPct val="110000"/>
              <a:buFont typeface="Wingdings" pitchFamily="2" charset="2"/>
              <a:buChar char="µ"/>
            </a:pPr>
            <a:r>
              <a:rPr lang="en-US" sz="2400" b="1">
                <a:solidFill>
                  <a:srgbClr val="660033"/>
                </a:solidFill>
                <a:latin typeface="Times New Roman" pitchFamily="18" charset="0"/>
              </a:rPr>
              <a:t> The Number of arguments ,the friend  function of a binary operator takes is one</a:t>
            </a:r>
          </a:p>
          <a:p>
            <a:pPr algn="just" eaLnBrk="0" hangingPunct="0">
              <a:lnSpc>
                <a:spcPct val="130000"/>
              </a:lnSpc>
              <a:spcBef>
                <a:spcPct val="25000"/>
              </a:spcBef>
              <a:spcAft>
                <a:spcPct val="35000"/>
              </a:spcAft>
              <a:buSzPct val="110000"/>
              <a:buFont typeface="Wingdings" pitchFamily="2" charset="2"/>
              <a:buChar char="µ"/>
            </a:pPr>
            <a:r>
              <a:rPr lang="en-US" sz="2400" b="1">
                <a:solidFill>
                  <a:srgbClr val="660033"/>
                </a:solidFill>
                <a:latin typeface="Times New Roman" pitchFamily="18" charset="0"/>
              </a:rPr>
              <a:t> The operators that cannot be overloaded are  .  *  :: sizeof()  ?:</a:t>
            </a:r>
          </a:p>
        </p:txBody>
      </p:sp>
    </p:spTree>
  </p:cSld>
  <p:clrMapOvr>
    <a:masterClrMapping/>
  </p:clrMapOvr>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ChangeArrowheads="1"/>
          </p:cNvSpPr>
          <p:nvPr/>
        </p:nvSpPr>
        <p:spPr bwMode="auto">
          <a:xfrm>
            <a:off x="3200400" y="685800"/>
            <a:ext cx="2743200" cy="533400"/>
          </a:xfrm>
          <a:prstGeom prst="rect">
            <a:avLst/>
          </a:prstGeom>
          <a:solidFill>
            <a:schemeClr val="accent1"/>
          </a:solidFill>
          <a:ln w="57150" cmpd="thickThin">
            <a:solidFill>
              <a:schemeClr val="tx1"/>
            </a:solidFill>
            <a:miter lim="800000"/>
            <a:headEnd/>
            <a:tailEnd/>
          </a:ln>
        </p:spPr>
        <p:txBody>
          <a:bodyPr wrap="none" anchor="ctr"/>
          <a:lstStyle/>
          <a:p>
            <a:endParaRPr lang="en-US"/>
          </a:p>
        </p:txBody>
      </p:sp>
      <p:sp>
        <p:nvSpPr>
          <p:cNvPr id="19459" name="Rectangle 3"/>
          <p:cNvSpPr>
            <a:spLocks noChangeArrowheads="1"/>
          </p:cNvSpPr>
          <p:nvPr/>
        </p:nvSpPr>
        <p:spPr bwMode="auto">
          <a:xfrm>
            <a:off x="3365500" y="609600"/>
            <a:ext cx="2501900" cy="533400"/>
          </a:xfrm>
          <a:prstGeom prst="rect">
            <a:avLst/>
          </a:prstGeom>
          <a:solidFill>
            <a:schemeClr val="accent1"/>
          </a:solidFill>
          <a:ln w="57150" cmpd="thickThin">
            <a:solidFill>
              <a:schemeClr val="tx1"/>
            </a:solidFill>
            <a:miter lim="800000"/>
            <a:headEnd/>
            <a:tailEnd/>
          </a:ln>
        </p:spPr>
        <p:txBody>
          <a:bodyPr wrap="none" anchor="ctr"/>
          <a:lstStyle/>
          <a:p>
            <a:endParaRPr lang="en-US"/>
          </a:p>
        </p:txBody>
      </p:sp>
      <p:sp>
        <p:nvSpPr>
          <p:cNvPr id="21508" name="Rectangle 4"/>
          <p:cNvSpPr>
            <a:spLocks noChangeArrowheads="1"/>
          </p:cNvSpPr>
          <p:nvPr/>
        </p:nvSpPr>
        <p:spPr bwMode="auto">
          <a:xfrm>
            <a:off x="304800" y="533400"/>
            <a:ext cx="8610600" cy="6096000"/>
          </a:xfrm>
          <a:prstGeom prst="rect">
            <a:avLst/>
          </a:prstGeom>
          <a:noFill/>
          <a:ln w="9525" algn="ctr">
            <a:noFill/>
            <a:miter lim="800000"/>
            <a:headEnd/>
            <a:tailEnd/>
          </a:ln>
        </p:spPr>
        <p:txBody>
          <a:bodyPr anchor="ctr">
            <a:spAutoFit/>
          </a:bodyPr>
          <a:lstStyle/>
          <a:p>
            <a:pPr marL="457200" indent="-457200" algn="ctr">
              <a:tabLst>
                <a:tab pos="457200" algn="l"/>
              </a:tabLst>
            </a:pPr>
            <a:r>
              <a:rPr lang="en-US" sz="3200" b="1">
                <a:solidFill>
                  <a:srgbClr val="000000"/>
                </a:solidFill>
                <a:latin typeface="Times New Roman" pitchFamily="18" charset="0"/>
              </a:rPr>
              <a:t>EXERCISES</a:t>
            </a:r>
          </a:p>
          <a:p>
            <a:pPr marL="457200" indent="-457200">
              <a:tabLst>
                <a:tab pos="457200" algn="l"/>
              </a:tabLst>
            </a:pPr>
            <a:endParaRPr lang="en-US" sz="3200" b="1">
              <a:solidFill>
                <a:srgbClr val="000000"/>
              </a:solidFill>
              <a:latin typeface="Times New Roman" pitchFamily="18" charset="0"/>
            </a:endParaRPr>
          </a:p>
          <a:p>
            <a:pPr marL="457200" indent="-457200" algn="just" eaLnBrk="0" hangingPunct="0">
              <a:lnSpc>
                <a:spcPct val="125000"/>
              </a:lnSpc>
              <a:buFontTx/>
              <a:buAutoNum type="arabicPeriod"/>
              <a:tabLst>
                <a:tab pos="457200" algn="l"/>
              </a:tabLst>
            </a:pPr>
            <a:r>
              <a:rPr lang="en-US" sz="2400" b="1">
                <a:solidFill>
                  <a:srgbClr val="660033"/>
                </a:solidFill>
                <a:latin typeface="Times New Roman" pitchFamily="18" charset="0"/>
              </a:rPr>
              <a:t> Define Operator Overloading?</a:t>
            </a:r>
          </a:p>
          <a:p>
            <a:pPr marL="457200" indent="-457200" algn="just" eaLnBrk="0" hangingPunct="0">
              <a:lnSpc>
                <a:spcPct val="125000"/>
              </a:lnSpc>
              <a:buFontTx/>
              <a:buAutoNum type="arabicPeriod"/>
              <a:tabLst>
                <a:tab pos="457200" algn="l"/>
              </a:tabLst>
            </a:pPr>
            <a:r>
              <a:rPr lang="en-US" sz="2400" b="1">
                <a:solidFill>
                  <a:srgbClr val="660033"/>
                </a:solidFill>
                <a:latin typeface="Times New Roman" pitchFamily="18" charset="0"/>
              </a:rPr>
              <a:t> List the Operators that can be overloaded?</a:t>
            </a:r>
          </a:p>
          <a:p>
            <a:pPr marL="457200" indent="-457200" algn="just" eaLnBrk="0" hangingPunct="0">
              <a:lnSpc>
                <a:spcPct val="125000"/>
              </a:lnSpc>
              <a:buFontTx/>
              <a:buAutoNum type="arabicPeriod"/>
              <a:tabLst>
                <a:tab pos="457200" algn="l"/>
              </a:tabLst>
            </a:pPr>
            <a:r>
              <a:rPr lang="en-US" sz="2400" b="1">
                <a:solidFill>
                  <a:srgbClr val="660033"/>
                </a:solidFill>
                <a:latin typeface="Times New Roman" pitchFamily="18" charset="0"/>
              </a:rPr>
              <a:t> Explain the process of overloading an unary minus operator with friend functions?</a:t>
            </a:r>
          </a:p>
          <a:p>
            <a:pPr marL="457200" indent="-457200" algn="just" eaLnBrk="0" hangingPunct="0">
              <a:lnSpc>
                <a:spcPct val="125000"/>
              </a:lnSpc>
              <a:buFontTx/>
              <a:buAutoNum type="arabicPeriod"/>
              <a:tabLst>
                <a:tab pos="457200" algn="l"/>
              </a:tabLst>
            </a:pPr>
            <a:r>
              <a:rPr lang="en-US" sz="2400" b="1">
                <a:solidFill>
                  <a:srgbClr val="660033"/>
                </a:solidFill>
                <a:latin typeface="Times New Roman" pitchFamily="18" charset="0"/>
              </a:rPr>
              <a:t> Explain the process of overloading an binary plus operator with friend functions?</a:t>
            </a:r>
          </a:p>
          <a:p>
            <a:pPr marL="457200" indent="-457200" algn="just" eaLnBrk="0" hangingPunct="0">
              <a:lnSpc>
                <a:spcPct val="125000"/>
              </a:lnSpc>
              <a:buFontTx/>
              <a:buAutoNum type="arabicPeriod"/>
              <a:tabLst>
                <a:tab pos="457200" algn="l"/>
              </a:tabLst>
            </a:pPr>
            <a:r>
              <a:rPr lang="en-US" sz="2400" b="1">
                <a:solidFill>
                  <a:srgbClr val="660033"/>
                </a:solidFill>
                <a:latin typeface="Times New Roman" pitchFamily="18" charset="0"/>
              </a:rPr>
              <a:t> Explain the process of overloading Relational &amp; Logical operator with an example?</a:t>
            </a:r>
          </a:p>
          <a:p>
            <a:pPr marL="457200" indent="-457200" algn="just" eaLnBrk="0" hangingPunct="0">
              <a:lnSpc>
                <a:spcPct val="125000"/>
              </a:lnSpc>
              <a:buFontTx/>
              <a:buAutoNum type="arabicPeriod"/>
              <a:tabLst>
                <a:tab pos="457200" algn="l"/>
              </a:tabLst>
            </a:pPr>
            <a:r>
              <a:rPr lang="en-US" sz="2400" b="1">
                <a:solidFill>
                  <a:srgbClr val="660033"/>
                </a:solidFill>
                <a:latin typeface="Times New Roman" pitchFamily="18" charset="0"/>
              </a:rPr>
              <a:t> Explain the process of overloading member access operator?</a:t>
            </a:r>
          </a:p>
          <a:p>
            <a:pPr marL="457200" indent="-457200" algn="just" eaLnBrk="0" hangingPunct="0">
              <a:lnSpc>
                <a:spcPct val="125000"/>
              </a:lnSpc>
              <a:buFontTx/>
              <a:buAutoNum type="arabicPeriod"/>
              <a:tabLst>
                <a:tab pos="457200" algn="l"/>
              </a:tabLst>
            </a:pPr>
            <a:r>
              <a:rPr lang="en-US" sz="2400" b="1">
                <a:solidFill>
                  <a:srgbClr val="660033"/>
                </a:solidFill>
                <a:latin typeface="Times New Roman" pitchFamily="18" charset="0"/>
              </a:rPr>
              <a:t> State the important points to be noted while using Operator Overloading?</a:t>
            </a:r>
          </a:p>
        </p:txBody>
      </p:sp>
      <p:sp>
        <p:nvSpPr>
          <p:cNvPr id="19461" name="AutoShape 5"/>
          <p:cNvSpPr>
            <a:spLocks noChangeArrowheads="1"/>
          </p:cNvSpPr>
          <p:nvPr/>
        </p:nvSpPr>
        <p:spPr bwMode="auto">
          <a:xfrm>
            <a:off x="152400" y="533400"/>
            <a:ext cx="8915400" cy="6019800"/>
          </a:xfrm>
          <a:prstGeom prst="roundRect">
            <a:avLst>
              <a:gd name="adj" fmla="val 16667"/>
            </a:avLst>
          </a:prstGeom>
          <a:noFill/>
          <a:ln w="57150" cmpd="thickThin">
            <a:solidFill>
              <a:srgbClr val="990033"/>
            </a:solidFill>
            <a:round/>
            <a:headEnd/>
            <a:tailEnd/>
          </a:ln>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6" fill="hold" grpId="0" nodeType="withEffect">
                                  <p:stCondLst>
                                    <p:cond delay="0"/>
                                  </p:stCondLst>
                                  <p:childTnLst>
                                    <p:set>
                                      <p:cBhvr>
                                        <p:cTn id="6" dur="1" fill="hold">
                                          <p:stCondLst>
                                            <p:cond delay="0"/>
                                          </p:stCondLst>
                                        </p:cTn>
                                        <p:tgtEl>
                                          <p:spTgt spid="21508"/>
                                        </p:tgtEl>
                                        <p:attrNameLst>
                                          <p:attrName>style.visibility</p:attrName>
                                        </p:attrNameLst>
                                      </p:cBhvr>
                                      <p:to>
                                        <p:strVal val="visible"/>
                                      </p:to>
                                    </p:set>
                                    <p:anim calcmode="lin" valueType="num">
                                      <p:cBhvr>
                                        <p:cTn id="7" dur="500" fill="hold"/>
                                        <p:tgtEl>
                                          <p:spTgt spid="21508"/>
                                        </p:tgtEl>
                                        <p:attrNameLst>
                                          <p:attrName>ppt_w</p:attrName>
                                        </p:attrNameLst>
                                      </p:cBhvr>
                                      <p:tavLst>
                                        <p:tav tm="0">
                                          <p:val>
                                            <p:strVal val="(6*min(max(#ppt_w*#ppt_h,.3),1)-7.4)/-.7*#ppt_w"/>
                                          </p:val>
                                        </p:tav>
                                        <p:tav tm="100000">
                                          <p:val>
                                            <p:strVal val="#ppt_w"/>
                                          </p:val>
                                        </p:tav>
                                      </p:tavLst>
                                    </p:anim>
                                    <p:anim calcmode="lin" valueType="num">
                                      <p:cBhvr>
                                        <p:cTn id="8" dur="500" fill="hold"/>
                                        <p:tgtEl>
                                          <p:spTgt spid="21508"/>
                                        </p:tgtEl>
                                        <p:attrNameLst>
                                          <p:attrName>ppt_h</p:attrName>
                                        </p:attrNameLst>
                                      </p:cBhvr>
                                      <p:tavLst>
                                        <p:tav tm="0">
                                          <p:val>
                                            <p:strVal val="(6*min(max(#ppt_w*#ppt_h,.3),1)-7.4)/-.7*#ppt_h"/>
                                          </p:val>
                                        </p:tav>
                                        <p:tav tm="100000">
                                          <p:val>
                                            <p:strVal val="#ppt_h"/>
                                          </p:val>
                                        </p:tav>
                                      </p:tavLst>
                                    </p:anim>
                                    <p:anim calcmode="lin" valueType="num">
                                      <p:cBhvr>
                                        <p:cTn id="9" dur="500" fill="hold"/>
                                        <p:tgtEl>
                                          <p:spTgt spid="21508"/>
                                        </p:tgtEl>
                                        <p:attrNameLst>
                                          <p:attrName>ppt_x</p:attrName>
                                        </p:attrNameLst>
                                      </p:cBhvr>
                                      <p:tavLst>
                                        <p:tav tm="0">
                                          <p:val>
                                            <p:fltVal val="0.5"/>
                                          </p:val>
                                        </p:tav>
                                        <p:tav tm="100000">
                                          <p:val>
                                            <p:strVal val="#ppt_x"/>
                                          </p:val>
                                        </p:tav>
                                      </p:tavLst>
                                    </p:anim>
                                    <p:anim calcmode="lin" valueType="num">
                                      <p:cBhvr>
                                        <p:cTn id="10" dur="500" fill="hold"/>
                                        <p:tgtEl>
                                          <p:spTgt spid="21508"/>
                                        </p:tgtEl>
                                        <p:attrNameLst>
                                          <p:attrName>ppt_y</p:attrName>
                                        </p:attrNameLst>
                                      </p:cBhvr>
                                      <p:tavLst>
                                        <p:tav tm="0">
                                          <p:val>
                                            <p:strVal val="1+(6*min(max(#ppt_w*#ppt_h,.3),1)-7.4)/-.7*#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8" grpId="0"/>
    </p:bld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WordArt 2"/>
          <p:cNvSpPr>
            <a:spLocks noChangeArrowheads="1" noChangeShapeType="1" noTextEdit="1"/>
          </p:cNvSpPr>
          <p:nvPr/>
        </p:nvSpPr>
        <p:spPr bwMode="auto">
          <a:xfrm>
            <a:off x="1219200" y="3276600"/>
            <a:ext cx="7086600" cy="914400"/>
          </a:xfrm>
          <a:prstGeom prst="rect">
            <a:avLst/>
          </a:prstGeom>
        </p:spPr>
        <p:txBody>
          <a:bodyPr wrap="none" fromWordArt="1">
            <a:prstTxWarp prst="textChevron">
              <a:avLst>
                <a:gd name="adj" fmla="val 25000"/>
              </a:avLst>
            </a:prstTxWarp>
          </a:bodyPr>
          <a:lstStyle/>
          <a:p>
            <a:pPr algn="ctr"/>
            <a:r>
              <a:rPr lang="en-IN" sz="3600" kern="10">
                <a:ln w="12700">
                  <a:solidFill>
                    <a:srgbClr val="B2B2B2"/>
                  </a:solidFill>
                  <a:round/>
                  <a:headEnd/>
                  <a:tailEnd/>
                </a:ln>
                <a:solidFill>
                  <a:srgbClr val="FF0000"/>
                </a:solidFill>
                <a:effectLst>
                  <a:outerShdw dist="35921" dir="2700000" sy="50000" rotWithShape="0">
                    <a:srgbClr val="875B0D">
                      <a:alpha val="70000"/>
                    </a:srgbClr>
                  </a:outerShdw>
                </a:effectLst>
                <a:latin typeface="Arial Black"/>
              </a:rPr>
              <a:t>Inheritance</a:t>
            </a:r>
          </a:p>
        </p:txBody>
      </p:sp>
      <p:sp>
        <p:nvSpPr>
          <p:cNvPr id="2051" name="WordArt 3"/>
          <p:cNvSpPr>
            <a:spLocks noChangeArrowheads="1" noChangeShapeType="1" noTextEdit="1"/>
          </p:cNvSpPr>
          <p:nvPr/>
        </p:nvSpPr>
        <p:spPr bwMode="auto">
          <a:xfrm>
            <a:off x="3124200" y="1066800"/>
            <a:ext cx="2895600" cy="647700"/>
          </a:xfrm>
          <a:prstGeom prst="rect">
            <a:avLst/>
          </a:prstGeom>
        </p:spPr>
        <p:txBody>
          <a:bodyPr wrap="none" fromWordArt="1">
            <a:prstTxWarp prst="textPlain">
              <a:avLst>
                <a:gd name="adj" fmla="val 50000"/>
              </a:avLst>
            </a:prstTxWarp>
          </a:bodyPr>
          <a:lstStyle/>
          <a:p>
            <a:pPr algn="ctr"/>
            <a:r>
              <a:rPr lang="en-IN" sz="3600" kern="10">
                <a:ln w="9525">
                  <a:solidFill>
                    <a:srgbClr val="000000"/>
                  </a:solidFill>
                  <a:round/>
                  <a:headEnd/>
                  <a:tailEnd/>
                </a:ln>
                <a:solidFill>
                  <a:srgbClr val="A50021"/>
                </a:solidFill>
                <a:latin typeface="Arial Black"/>
              </a:rPr>
              <a:t>CHAPTER 10</a:t>
            </a:r>
          </a:p>
        </p:txBody>
      </p:sp>
    </p:spTree>
  </p:cSld>
  <p:clrMapOvr>
    <a:masterClrMapping/>
  </p:clrMapOvr>
  <p:timing>
    <p:tnLst>
      <p:par>
        <p:cTn id="1" dur="indefinite" restart="never" nodeType="tmRoot"/>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
          <p:cNvSpPr txBox="1">
            <a:spLocks noChangeArrowheads="1"/>
          </p:cNvSpPr>
          <p:nvPr/>
        </p:nvSpPr>
        <p:spPr bwMode="auto">
          <a:xfrm>
            <a:off x="1876425" y="776288"/>
            <a:ext cx="5376863" cy="823912"/>
          </a:xfrm>
          <a:prstGeom prst="rect">
            <a:avLst/>
          </a:prstGeom>
          <a:solidFill>
            <a:srgbClr val="FF0000"/>
          </a:solidFill>
          <a:ln w="9525">
            <a:noFill/>
            <a:miter lim="800000"/>
            <a:headEnd/>
            <a:tailEnd/>
          </a:ln>
          <a:effectLst/>
        </p:spPr>
        <p:txBody>
          <a:bodyPr wrap="none">
            <a:spAutoFit/>
          </a:bodyPr>
          <a:lstStyle/>
          <a:p>
            <a:pPr>
              <a:defRPr/>
            </a:pPr>
            <a:r>
              <a:rPr lang="en-US" sz="4800" b="1">
                <a:solidFill>
                  <a:srgbClr val="66FFFF"/>
                </a:solidFill>
                <a:effectLst>
                  <a:outerShdw blurRad="38100" dist="38100" dir="2700000" algn="tl">
                    <a:srgbClr val="000000"/>
                  </a:outerShdw>
                </a:effectLst>
                <a:latin typeface="Arial Unicode MS" pitchFamily="34" charset="-128"/>
                <a:cs typeface="Times New Roman" pitchFamily="18" charset="0"/>
              </a:rPr>
              <a:t>Session Objectives</a:t>
            </a:r>
          </a:p>
        </p:txBody>
      </p:sp>
      <p:sp>
        <p:nvSpPr>
          <p:cNvPr id="5123" name="Text Box 3"/>
          <p:cNvSpPr txBox="1">
            <a:spLocks noChangeArrowheads="1"/>
          </p:cNvSpPr>
          <p:nvPr/>
        </p:nvSpPr>
        <p:spPr bwMode="auto">
          <a:xfrm>
            <a:off x="885825" y="2071688"/>
            <a:ext cx="3676650" cy="519112"/>
          </a:xfrm>
          <a:prstGeom prst="rect">
            <a:avLst/>
          </a:prstGeom>
          <a:noFill/>
          <a:ln w="9525">
            <a:noFill/>
            <a:miter lim="800000"/>
            <a:headEnd/>
            <a:tailEnd/>
          </a:ln>
        </p:spPr>
        <p:txBody>
          <a:bodyPr wrap="none">
            <a:spAutoFit/>
          </a:bodyPr>
          <a:lstStyle/>
          <a:p>
            <a:pPr>
              <a:buFontTx/>
              <a:buBlip>
                <a:blip r:embed="rId2"/>
              </a:buBlip>
            </a:pPr>
            <a:r>
              <a:rPr lang="en-US" sz="2800" b="1">
                <a:solidFill>
                  <a:srgbClr val="CC3300"/>
                </a:solidFill>
                <a:latin typeface="Times New Roman" pitchFamily="18" charset="0"/>
                <a:cs typeface="Times New Roman" pitchFamily="18" charset="0"/>
              </a:rPr>
              <a:t>   Discuss Inheritance</a:t>
            </a:r>
          </a:p>
        </p:txBody>
      </p:sp>
      <p:sp>
        <p:nvSpPr>
          <p:cNvPr id="5124" name="Text Box 4"/>
          <p:cNvSpPr txBox="1">
            <a:spLocks noChangeArrowheads="1"/>
          </p:cNvSpPr>
          <p:nvPr/>
        </p:nvSpPr>
        <p:spPr bwMode="auto">
          <a:xfrm>
            <a:off x="885825" y="2833688"/>
            <a:ext cx="3844925" cy="519112"/>
          </a:xfrm>
          <a:prstGeom prst="rect">
            <a:avLst/>
          </a:prstGeom>
          <a:noFill/>
          <a:ln w="9525">
            <a:noFill/>
            <a:miter lim="800000"/>
            <a:headEnd/>
            <a:tailEnd/>
          </a:ln>
        </p:spPr>
        <p:txBody>
          <a:bodyPr wrap="none">
            <a:spAutoFit/>
          </a:bodyPr>
          <a:lstStyle/>
          <a:p>
            <a:pPr>
              <a:buFontTx/>
              <a:buBlip>
                <a:blip r:embed="rId2"/>
              </a:buBlip>
            </a:pPr>
            <a:r>
              <a:rPr lang="en-US" sz="2800" b="1">
                <a:solidFill>
                  <a:srgbClr val="CC3300"/>
                </a:solidFill>
                <a:latin typeface="Times New Roman" pitchFamily="18" charset="0"/>
                <a:cs typeface="Times New Roman" pitchFamily="18" charset="0"/>
              </a:rPr>
              <a:t>   Types of Inheritance</a:t>
            </a:r>
          </a:p>
        </p:txBody>
      </p:sp>
      <p:sp>
        <p:nvSpPr>
          <p:cNvPr id="5125" name="Text Box 5"/>
          <p:cNvSpPr txBox="1">
            <a:spLocks noChangeArrowheads="1"/>
          </p:cNvSpPr>
          <p:nvPr/>
        </p:nvSpPr>
        <p:spPr bwMode="auto">
          <a:xfrm>
            <a:off x="962025" y="3748088"/>
            <a:ext cx="5969000" cy="519112"/>
          </a:xfrm>
          <a:prstGeom prst="rect">
            <a:avLst/>
          </a:prstGeom>
          <a:noFill/>
          <a:ln w="9525">
            <a:noFill/>
            <a:miter lim="800000"/>
            <a:headEnd/>
            <a:tailEnd/>
          </a:ln>
        </p:spPr>
        <p:txBody>
          <a:bodyPr wrap="none">
            <a:spAutoFit/>
          </a:bodyPr>
          <a:lstStyle/>
          <a:p>
            <a:pPr>
              <a:buFontTx/>
              <a:buBlip>
                <a:blip r:embed="rId2"/>
              </a:buBlip>
            </a:pPr>
            <a:r>
              <a:rPr lang="en-US" sz="2800" b="1">
                <a:solidFill>
                  <a:srgbClr val="CC3300"/>
                </a:solidFill>
                <a:latin typeface="Times New Roman" pitchFamily="18" charset="0"/>
                <a:cs typeface="Times New Roman" pitchFamily="18" charset="0"/>
              </a:rPr>
              <a:t>  Example for 5 types of Inheritance </a:t>
            </a:r>
          </a:p>
        </p:txBody>
      </p:sp>
      <p:sp>
        <p:nvSpPr>
          <p:cNvPr id="5126" name="Text Box 6"/>
          <p:cNvSpPr txBox="1">
            <a:spLocks noChangeArrowheads="1"/>
          </p:cNvSpPr>
          <p:nvPr/>
        </p:nvSpPr>
        <p:spPr bwMode="auto">
          <a:xfrm>
            <a:off x="990600" y="4510088"/>
            <a:ext cx="5148263" cy="519112"/>
          </a:xfrm>
          <a:prstGeom prst="rect">
            <a:avLst/>
          </a:prstGeom>
          <a:noFill/>
          <a:ln w="9525">
            <a:noFill/>
            <a:miter lim="800000"/>
            <a:headEnd/>
            <a:tailEnd/>
          </a:ln>
        </p:spPr>
        <p:txBody>
          <a:bodyPr wrap="none">
            <a:spAutoFit/>
          </a:bodyPr>
          <a:lstStyle/>
          <a:p>
            <a:pPr>
              <a:buFontTx/>
              <a:buBlip>
                <a:blip r:embed="rId2"/>
              </a:buBlip>
            </a:pPr>
            <a:r>
              <a:rPr lang="en-US" sz="2800" b="1">
                <a:solidFill>
                  <a:srgbClr val="CC3300"/>
                </a:solidFill>
                <a:latin typeface="Times New Roman" pitchFamily="18" charset="0"/>
                <a:cs typeface="Times New Roman" pitchFamily="18" charset="0"/>
              </a:rPr>
              <a:t>  Member function Overriding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88" fill="hold" grpId="0" nodeType="afterEffect">
                                  <p:stCondLst>
                                    <p:cond delay="0"/>
                                  </p:stCondLst>
                                  <p:childTnLst>
                                    <p:set>
                                      <p:cBhvr>
                                        <p:cTn id="6" dur="1" fill="hold">
                                          <p:stCondLst>
                                            <p:cond delay="0"/>
                                          </p:stCondLst>
                                        </p:cTn>
                                        <p:tgtEl>
                                          <p:spTgt spid="5123"/>
                                        </p:tgtEl>
                                        <p:attrNameLst>
                                          <p:attrName>style.visibility</p:attrName>
                                        </p:attrNameLst>
                                      </p:cBhvr>
                                      <p:to>
                                        <p:strVal val="visible"/>
                                      </p:to>
                                    </p:set>
                                    <p:anim calcmode="lin" valueType="num">
                                      <p:cBhvr>
                                        <p:cTn id="7" dur="500" fill="hold"/>
                                        <p:tgtEl>
                                          <p:spTgt spid="5123"/>
                                        </p:tgtEl>
                                        <p:attrNameLst>
                                          <p:attrName>ppt_w</p:attrName>
                                        </p:attrNameLst>
                                      </p:cBhvr>
                                      <p:tavLst>
                                        <p:tav tm="0">
                                          <p:val>
                                            <p:strVal val="4/3*#ppt_w"/>
                                          </p:val>
                                        </p:tav>
                                        <p:tav tm="100000">
                                          <p:val>
                                            <p:strVal val="#ppt_w"/>
                                          </p:val>
                                        </p:tav>
                                      </p:tavLst>
                                    </p:anim>
                                    <p:anim calcmode="lin" valueType="num">
                                      <p:cBhvr>
                                        <p:cTn id="8" dur="500" fill="hold"/>
                                        <p:tgtEl>
                                          <p:spTgt spid="5123"/>
                                        </p:tgtEl>
                                        <p:attrNameLst>
                                          <p:attrName>ppt_h</p:attrName>
                                        </p:attrNameLst>
                                      </p:cBhvr>
                                      <p:tavLst>
                                        <p:tav tm="0">
                                          <p:val>
                                            <p:strVal val="4/3*#ppt_h"/>
                                          </p:val>
                                        </p:tav>
                                        <p:tav tm="100000">
                                          <p:val>
                                            <p:strVal val="#ppt_h"/>
                                          </p:val>
                                        </p:tav>
                                      </p:tavLst>
                                    </p:anim>
                                  </p:childTnLst>
                                </p:cTn>
                              </p:par>
                            </p:childTnLst>
                          </p:cTn>
                        </p:par>
                        <p:par>
                          <p:cTn id="9" fill="hold">
                            <p:stCondLst>
                              <p:cond delay="500"/>
                            </p:stCondLst>
                            <p:childTnLst>
                              <p:par>
                                <p:cTn id="10" presetID="23" presetClass="entr" presetSubtype="288" fill="hold" grpId="0" nodeType="afterEffect">
                                  <p:stCondLst>
                                    <p:cond delay="0"/>
                                  </p:stCondLst>
                                  <p:childTnLst>
                                    <p:set>
                                      <p:cBhvr>
                                        <p:cTn id="11" dur="1" fill="hold">
                                          <p:stCondLst>
                                            <p:cond delay="0"/>
                                          </p:stCondLst>
                                        </p:cTn>
                                        <p:tgtEl>
                                          <p:spTgt spid="5124"/>
                                        </p:tgtEl>
                                        <p:attrNameLst>
                                          <p:attrName>style.visibility</p:attrName>
                                        </p:attrNameLst>
                                      </p:cBhvr>
                                      <p:to>
                                        <p:strVal val="visible"/>
                                      </p:to>
                                    </p:set>
                                    <p:anim calcmode="lin" valueType="num">
                                      <p:cBhvr>
                                        <p:cTn id="12" dur="500" fill="hold"/>
                                        <p:tgtEl>
                                          <p:spTgt spid="5124"/>
                                        </p:tgtEl>
                                        <p:attrNameLst>
                                          <p:attrName>ppt_w</p:attrName>
                                        </p:attrNameLst>
                                      </p:cBhvr>
                                      <p:tavLst>
                                        <p:tav tm="0">
                                          <p:val>
                                            <p:strVal val="4/3*#ppt_w"/>
                                          </p:val>
                                        </p:tav>
                                        <p:tav tm="100000">
                                          <p:val>
                                            <p:strVal val="#ppt_w"/>
                                          </p:val>
                                        </p:tav>
                                      </p:tavLst>
                                    </p:anim>
                                    <p:anim calcmode="lin" valueType="num">
                                      <p:cBhvr>
                                        <p:cTn id="13" dur="500" fill="hold"/>
                                        <p:tgtEl>
                                          <p:spTgt spid="5124"/>
                                        </p:tgtEl>
                                        <p:attrNameLst>
                                          <p:attrName>ppt_h</p:attrName>
                                        </p:attrNameLst>
                                      </p:cBhvr>
                                      <p:tavLst>
                                        <p:tav tm="0">
                                          <p:val>
                                            <p:strVal val="4/3*#ppt_h"/>
                                          </p:val>
                                        </p:tav>
                                        <p:tav tm="100000">
                                          <p:val>
                                            <p:strVal val="#ppt_h"/>
                                          </p:val>
                                        </p:tav>
                                      </p:tavLst>
                                    </p:anim>
                                  </p:childTnLst>
                                </p:cTn>
                              </p:par>
                            </p:childTnLst>
                          </p:cTn>
                        </p:par>
                        <p:par>
                          <p:cTn id="14" fill="hold">
                            <p:stCondLst>
                              <p:cond delay="1000"/>
                            </p:stCondLst>
                            <p:childTnLst>
                              <p:par>
                                <p:cTn id="15" presetID="23" presetClass="entr" presetSubtype="288" fill="hold" grpId="0" nodeType="afterEffect">
                                  <p:stCondLst>
                                    <p:cond delay="0"/>
                                  </p:stCondLst>
                                  <p:childTnLst>
                                    <p:set>
                                      <p:cBhvr>
                                        <p:cTn id="16" dur="1" fill="hold">
                                          <p:stCondLst>
                                            <p:cond delay="0"/>
                                          </p:stCondLst>
                                        </p:cTn>
                                        <p:tgtEl>
                                          <p:spTgt spid="5125"/>
                                        </p:tgtEl>
                                        <p:attrNameLst>
                                          <p:attrName>style.visibility</p:attrName>
                                        </p:attrNameLst>
                                      </p:cBhvr>
                                      <p:to>
                                        <p:strVal val="visible"/>
                                      </p:to>
                                    </p:set>
                                    <p:anim calcmode="lin" valueType="num">
                                      <p:cBhvr>
                                        <p:cTn id="17" dur="500" fill="hold"/>
                                        <p:tgtEl>
                                          <p:spTgt spid="5125"/>
                                        </p:tgtEl>
                                        <p:attrNameLst>
                                          <p:attrName>ppt_w</p:attrName>
                                        </p:attrNameLst>
                                      </p:cBhvr>
                                      <p:tavLst>
                                        <p:tav tm="0">
                                          <p:val>
                                            <p:strVal val="4/3*#ppt_w"/>
                                          </p:val>
                                        </p:tav>
                                        <p:tav tm="100000">
                                          <p:val>
                                            <p:strVal val="#ppt_w"/>
                                          </p:val>
                                        </p:tav>
                                      </p:tavLst>
                                    </p:anim>
                                    <p:anim calcmode="lin" valueType="num">
                                      <p:cBhvr>
                                        <p:cTn id="18" dur="500" fill="hold"/>
                                        <p:tgtEl>
                                          <p:spTgt spid="5125"/>
                                        </p:tgtEl>
                                        <p:attrNameLst>
                                          <p:attrName>ppt_h</p:attrName>
                                        </p:attrNameLst>
                                      </p:cBhvr>
                                      <p:tavLst>
                                        <p:tav tm="0">
                                          <p:val>
                                            <p:strVal val="4/3*#ppt_h"/>
                                          </p:val>
                                        </p:tav>
                                        <p:tav tm="100000">
                                          <p:val>
                                            <p:strVal val="#ppt_h"/>
                                          </p:val>
                                        </p:tav>
                                      </p:tavLst>
                                    </p:anim>
                                  </p:childTnLst>
                                </p:cTn>
                              </p:par>
                            </p:childTnLst>
                          </p:cTn>
                        </p:par>
                        <p:par>
                          <p:cTn id="19" fill="hold">
                            <p:stCondLst>
                              <p:cond delay="1500"/>
                            </p:stCondLst>
                            <p:childTnLst>
                              <p:par>
                                <p:cTn id="20" presetID="23" presetClass="entr" presetSubtype="288" fill="hold" grpId="0" nodeType="afterEffect">
                                  <p:stCondLst>
                                    <p:cond delay="0"/>
                                  </p:stCondLst>
                                  <p:childTnLst>
                                    <p:set>
                                      <p:cBhvr>
                                        <p:cTn id="21" dur="1" fill="hold">
                                          <p:stCondLst>
                                            <p:cond delay="0"/>
                                          </p:stCondLst>
                                        </p:cTn>
                                        <p:tgtEl>
                                          <p:spTgt spid="5126"/>
                                        </p:tgtEl>
                                        <p:attrNameLst>
                                          <p:attrName>style.visibility</p:attrName>
                                        </p:attrNameLst>
                                      </p:cBhvr>
                                      <p:to>
                                        <p:strVal val="visible"/>
                                      </p:to>
                                    </p:set>
                                    <p:anim calcmode="lin" valueType="num">
                                      <p:cBhvr>
                                        <p:cTn id="22" dur="500" fill="hold"/>
                                        <p:tgtEl>
                                          <p:spTgt spid="5126"/>
                                        </p:tgtEl>
                                        <p:attrNameLst>
                                          <p:attrName>ppt_w</p:attrName>
                                        </p:attrNameLst>
                                      </p:cBhvr>
                                      <p:tavLst>
                                        <p:tav tm="0">
                                          <p:val>
                                            <p:strVal val="4/3*#ppt_w"/>
                                          </p:val>
                                        </p:tav>
                                        <p:tav tm="100000">
                                          <p:val>
                                            <p:strVal val="#ppt_w"/>
                                          </p:val>
                                        </p:tav>
                                      </p:tavLst>
                                    </p:anim>
                                    <p:anim calcmode="lin" valueType="num">
                                      <p:cBhvr>
                                        <p:cTn id="23" dur="500" fill="hold"/>
                                        <p:tgtEl>
                                          <p:spTgt spid="5126"/>
                                        </p:tgtEl>
                                        <p:attrNameLst>
                                          <p:attrName>ppt_h</p:attrName>
                                        </p:attrNameLst>
                                      </p:cBhvr>
                                      <p:tavLst>
                                        <p:tav tm="0">
                                          <p:val>
                                            <p:strVal val="4/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autoUpdateAnimBg="0"/>
      <p:bldP spid="5124" grpId="0" autoUpdateAnimBg="0"/>
      <p:bldP spid="5125" grpId="0" autoUpdateAnimBg="0"/>
      <p:bldP spid="5126" grpId="0" autoUpdateAnimBg="0"/>
    </p:bld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ChangeArrowheads="1"/>
          </p:cNvSpPr>
          <p:nvPr/>
        </p:nvSpPr>
        <p:spPr bwMode="auto">
          <a:xfrm>
            <a:off x="685800" y="2133600"/>
            <a:ext cx="7848600" cy="4000500"/>
          </a:xfrm>
          <a:prstGeom prst="rect">
            <a:avLst/>
          </a:prstGeom>
          <a:noFill/>
          <a:ln w="9525">
            <a:solidFill>
              <a:srgbClr val="990099"/>
            </a:solidFill>
            <a:miter lim="800000"/>
            <a:headEnd/>
            <a:tailEnd/>
          </a:ln>
        </p:spPr>
        <p:txBody>
          <a:bodyPr>
            <a:spAutoFit/>
          </a:bodyPr>
          <a:lstStyle/>
          <a:p>
            <a:pPr algn="just" eaLnBrk="0" hangingPunct="0"/>
            <a:r>
              <a:rPr lang="en-US" sz="3200">
                <a:solidFill>
                  <a:srgbClr val="660033"/>
                </a:solidFill>
                <a:latin typeface="Arial Black" pitchFamily="34" charset="0"/>
              </a:rPr>
              <a:t>	</a:t>
            </a:r>
            <a:r>
              <a:rPr lang="en-US" sz="3200" b="1">
                <a:solidFill>
                  <a:srgbClr val="660033"/>
                </a:solidFill>
                <a:latin typeface="Times New Roman" pitchFamily="18" charset="0"/>
              </a:rPr>
              <a:t>It is the Process of creating a New class from an existing class.</a:t>
            </a:r>
          </a:p>
          <a:p>
            <a:pPr algn="just" eaLnBrk="0" hangingPunct="0"/>
            <a:endParaRPr lang="en-US" sz="3200" b="1">
              <a:solidFill>
                <a:srgbClr val="660033"/>
              </a:solidFill>
              <a:latin typeface="Times New Roman" pitchFamily="18" charset="0"/>
            </a:endParaRPr>
          </a:p>
          <a:p>
            <a:pPr algn="just" eaLnBrk="0" hangingPunct="0"/>
            <a:r>
              <a:rPr lang="en-US" sz="3200" b="1">
                <a:solidFill>
                  <a:srgbClr val="660033"/>
                </a:solidFill>
                <a:latin typeface="Times New Roman" pitchFamily="18" charset="0"/>
              </a:rPr>
              <a:t>	The Existing class is called Base or Parent class.</a:t>
            </a:r>
          </a:p>
          <a:p>
            <a:pPr algn="just" eaLnBrk="0" hangingPunct="0"/>
            <a:endParaRPr lang="en-US" sz="3200" b="1">
              <a:solidFill>
                <a:srgbClr val="660033"/>
              </a:solidFill>
              <a:latin typeface="Times New Roman" pitchFamily="18" charset="0"/>
            </a:endParaRPr>
          </a:p>
          <a:p>
            <a:pPr algn="just" eaLnBrk="0" hangingPunct="0"/>
            <a:r>
              <a:rPr lang="en-US" sz="3200" b="1">
                <a:solidFill>
                  <a:srgbClr val="660033"/>
                </a:solidFill>
                <a:latin typeface="Times New Roman" pitchFamily="18" charset="0"/>
              </a:rPr>
              <a:t>	The New class is called as Child or Derived Class</a:t>
            </a:r>
          </a:p>
        </p:txBody>
      </p:sp>
      <p:sp>
        <p:nvSpPr>
          <p:cNvPr id="6147" name="WordArt 3"/>
          <p:cNvSpPr>
            <a:spLocks noChangeArrowheads="1" noChangeShapeType="1" noTextEdit="1"/>
          </p:cNvSpPr>
          <p:nvPr/>
        </p:nvSpPr>
        <p:spPr bwMode="auto">
          <a:xfrm>
            <a:off x="2286000" y="0"/>
            <a:ext cx="4724400" cy="1066800"/>
          </a:xfrm>
          <a:prstGeom prst="rect">
            <a:avLst/>
          </a:prstGeom>
        </p:spPr>
        <p:txBody>
          <a:bodyPr wrap="none" fromWordArt="1">
            <a:prstTxWarp prst="textTriangle">
              <a:avLst>
                <a:gd name="adj" fmla="val 42301"/>
              </a:avLst>
            </a:prstTxWarp>
          </a:bodyPr>
          <a:lstStyle/>
          <a:p>
            <a:pPr algn="ctr"/>
            <a:r>
              <a:rPr lang="en-IN" sz="3600" b="1" kern="10">
                <a:ln w="9525">
                  <a:solidFill>
                    <a:srgbClr val="000000"/>
                  </a:solidFill>
                  <a:round/>
                  <a:headEnd/>
                  <a:tailEnd/>
                </a:ln>
                <a:gradFill rotWithShape="1">
                  <a:gsLst>
                    <a:gs pos="0">
                      <a:srgbClr val="000082"/>
                    </a:gs>
                    <a:gs pos="30000">
                      <a:srgbClr val="66008F"/>
                    </a:gs>
                    <a:gs pos="64999">
                      <a:srgbClr val="BA0066"/>
                    </a:gs>
                    <a:gs pos="89999">
                      <a:srgbClr val="FF0000"/>
                    </a:gs>
                    <a:gs pos="100000">
                      <a:srgbClr val="FF8200"/>
                    </a:gs>
                  </a:gsLst>
                  <a:lin ang="5400000" scaled="1"/>
                </a:gradFill>
                <a:latin typeface="Times New Roman"/>
                <a:cs typeface="Times New Roman"/>
              </a:rPr>
              <a:t>Inheritance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6147"/>
                                        </p:tgtEl>
                                        <p:attrNameLst>
                                          <p:attrName>style.visibility</p:attrName>
                                        </p:attrNameLst>
                                      </p:cBhvr>
                                      <p:to>
                                        <p:strVal val="visible"/>
                                      </p:to>
                                    </p:set>
                                    <p:animEffect transition="in" filter="fade">
                                      <p:cBhvr>
                                        <p:cTn id="7" dur="500"/>
                                        <p:tgtEl>
                                          <p:spTgt spid="6147"/>
                                        </p:tgtEl>
                                      </p:cBhvr>
                                    </p:animEffect>
                                    <p:anim calcmode="lin" valueType="num">
                                      <p:cBhvr>
                                        <p:cTn id="8" dur="500" fill="hold"/>
                                        <p:tgtEl>
                                          <p:spTgt spid="6147"/>
                                        </p:tgtEl>
                                        <p:attrNameLst>
                                          <p:attrName>ppt_x</p:attrName>
                                        </p:attrNameLst>
                                      </p:cBhvr>
                                      <p:tavLst>
                                        <p:tav tm="0">
                                          <p:val>
                                            <p:strVal val="#ppt_x"/>
                                          </p:val>
                                        </p:tav>
                                        <p:tav tm="100000">
                                          <p:val>
                                            <p:strVal val="#ppt_x"/>
                                          </p:val>
                                        </p:tav>
                                      </p:tavLst>
                                    </p:anim>
                                    <p:anim calcmode="lin" valueType="num">
                                      <p:cBhvr>
                                        <p:cTn id="9" dur="500" fill="hold"/>
                                        <p:tgtEl>
                                          <p:spTgt spid="6147"/>
                                        </p:tgtEl>
                                        <p:attrNameLst>
                                          <p:attrName>ppt_y</p:attrName>
                                        </p:attrNameLst>
                                      </p:cBhvr>
                                      <p:tavLst>
                                        <p:tav tm="0">
                                          <p:val>
                                            <p:strVal val="#ppt_y-.1"/>
                                          </p:val>
                                        </p:tav>
                                        <p:tav tm="100000">
                                          <p:val>
                                            <p:strVal val="#ppt_y"/>
                                          </p:val>
                                        </p:tav>
                                      </p:tavLst>
                                    </p:anim>
                                  </p:childTnLst>
                                </p:cTn>
                              </p:par>
                              <p:par>
                                <p:cTn id="10" presetID="17" presetClass="entr" presetSubtype="10" fill="hold" grpId="0" nodeType="withEffect">
                                  <p:stCondLst>
                                    <p:cond delay="0"/>
                                  </p:stCondLst>
                                  <p:childTnLst>
                                    <p:set>
                                      <p:cBhvr>
                                        <p:cTn id="11" dur="1" fill="hold">
                                          <p:stCondLst>
                                            <p:cond delay="0"/>
                                          </p:stCondLst>
                                        </p:cTn>
                                        <p:tgtEl>
                                          <p:spTgt spid="6146"/>
                                        </p:tgtEl>
                                        <p:attrNameLst>
                                          <p:attrName>style.visibility</p:attrName>
                                        </p:attrNameLst>
                                      </p:cBhvr>
                                      <p:to>
                                        <p:strVal val="visible"/>
                                      </p:to>
                                    </p:set>
                                    <p:anim calcmode="lin" valueType="num">
                                      <p:cBhvr>
                                        <p:cTn id="12" dur="500" fill="hold"/>
                                        <p:tgtEl>
                                          <p:spTgt spid="6146"/>
                                        </p:tgtEl>
                                        <p:attrNameLst>
                                          <p:attrName>ppt_w</p:attrName>
                                        </p:attrNameLst>
                                      </p:cBhvr>
                                      <p:tavLst>
                                        <p:tav tm="0">
                                          <p:val>
                                            <p:fltVal val="0"/>
                                          </p:val>
                                        </p:tav>
                                        <p:tav tm="100000">
                                          <p:val>
                                            <p:strVal val="#ppt_w"/>
                                          </p:val>
                                        </p:tav>
                                      </p:tavLst>
                                    </p:anim>
                                    <p:anim calcmode="lin" valueType="num">
                                      <p:cBhvr>
                                        <p:cTn id="13" dur="500" fill="hold"/>
                                        <p:tgtEl>
                                          <p:spTgt spid="614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animBg="1"/>
      <p:bldP spid="6147" grpId="0" animBg="1"/>
    </p:bld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ChangeArrowheads="1"/>
          </p:cNvSpPr>
          <p:nvPr/>
        </p:nvSpPr>
        <p:spPr bwMode="auto">
          <a:xfrm>
            <a:off x="0" y="0"/>
            <a:ext cx="9144000" cy="6858000"/>
          </a:xfrm>
          <a:prstGeom prst="rect">
            <a:avLst/>
          </a:prstGeom>
          <a:noFill/>
          <a:ln w="38100" cap="rnd">
            <a:solidFill>
              <a:srgbClr val="990099"/>
            </a:solidFill>
            <a:prstDash val="sysDot"/>
            <a:miter lim="800000"/>
            <a:headEnd/>
            <a:tailEnd/>
          </a:ln>
        </p:spPr>
        <p:txBody>
          <a:bodyPr>
            <a:spAutoFit/>
          </a:bodyPr>
          <a:lstStyle/>
          <a:p>
            <a:pPr marL="285750" eaLnBrk="0" hangingPunct="0"/>
            <a:endParaRPr lang="en-US" sz="4000" b="1" u="sng">
              <a:solidFill>
                <a:srgbClr val="800000"/>
              </a:solidFill>
              <a:latin typeface="Times New Roman" pitchFamily="18" charset="0"/>
            </a:endParaRPr>
          </a:p>
          <a:p>
            <a:pPr marL="285750" eaLnBrk="0" hangingPunct="0"/>
            <a:r>
              <a:rPr lang="en-US" sz="4000" b="1" u="sng">
                <a:solidFill>
                  <a:srgbClr val="800000"/>
                </a:solidFill>
                <a:latin typeface="Times New Roman" pitchFamily="18" charset="0"/>
              </a:rPr>
              <a:t>Advantages  </a:t>
            </a:r>
          </a:p>
          <a:p>
            <a:pPr marL="285750" algn="just" eaLnBrk="0" hangingPunct="0">
              <a:lnSpc>
                <a:spcPct val="150000"/>
              </a:lnSpc>
              <a:spcBef>
                <a:spcPct val="20000"/>
              </a:spcBef>
              <a:spcAft>
                <a:spcPct val="30000"/>
              </a:spcAft>
              <a:buFontTx/>
              <a:buBlip>
                <a:blip r:embed="rId2"/>
              </a:buBlip>
            </a:pPr>
            <a:r>
              <a:rPr lang="en-US" sz="3600" b="1">
                <a:solidFill>
                  <a:srgbClr val="800000"/>
                </a:solidFill>
                <a:latin typeface="Times New Roman" pitchFamily="18" charset="0"/>
              </a:rPr>
              <a:t>  </a:t>
            </a:r>
            <a:r>
              <a:rPr lang="en-US" sz="2800" b="1">
                <a:solidFill>
                  <a:srgbClr val="800000"/>
                </a:solidFill>
                <a:latin typeface="Times New Roman" pitchFamily="18" charset="0"/>
              </a:rPr>
              <a:t>It permits code reusability. So, save time and increase the program reliability.</a:t>
            </a:r>
          </a:p>
          <a:p>
            <a:pPr marL="285750" algn="just" eaLnBrk="0" hangingPunct="0">
              <a:lnSpc>
                <a:spcPct val="150000"/>
              </a:lnSpc>
              <a:spcBef>
                <a:spcPct val="20000"/>
              </a:spcBef>
              <a:spcAft>
                <a:spcPct val="30000"/>
              </a:spcAft>
              <a:buFontTx/>
              <a:buBlip>
                <a:blip r:embed="rId2"/>
              </a:buBlip>
            </a:pPr>
            <a:r>
              <a:rPr lang="en-US" sz="2800" b="1">
                <a:solidFill>
                  <a:srgbClr val="800000"/>
                </a:solidFill>
                <a:latin typeface="Times New Roman" pitchFamily="18" charset="0"/>
              </a:rPr>
              <a:t>   A programmer can use a class created by another person or company without modifying it derive other classes from it that are suited to particular situations</a:t>
            </a:r>
          </a:p>
          <a:p>
            <a:pPr marL="285750" algn="just" eaLnBrk="0" hangingPunct="0">
              <a:lnSpc>
                <a:spcPct val="150000"/>
              </a:lnSpc>
              <a:spcBef>
                <a:spcPct val="20000"/>
              </a:spcBef>
              <a:spcAft>
                <a:spcPct val="30000"/>
              </a:spcAft>
              <a:buFontTx/>
              <a:buBlip>
                <a:blip r:embed="rId2"/>
              </a:buBlip>
            </a:pPr>
            <a:r>
              <a:rPr lang="en-US" sz="2800" b="1">
                <a:solidFill>
                  <a:srgbClr val="800000"/>
                </a:solidFill>
                <a:latin typeface="Times New Roman" pitchFamily="18" charset="0"/>
              </a:rPr>
              <a:t>   Improve Program Reliability</a:t>
            </a:r>
          </a:p>
          <a:p>
            <a:pPr marL="285750" algn="just" eaLnBrk="0" hangingPunct="0">
              <a:lnSpc>
                <a:spcPct val="150000"/>
              </a:lnSpc>
              <a:spcBef>
                <a:spcPct val="20000"/>
              </a:spcBef>
              <a:spcAft>
                <a:spcPct val="30000"/>
              </a:spcAft>
              <a:buFontTx/>
              <a:buBlip>
                <a:blip r:embed="rId2"/>
              </a:buBlip>
            </a:pPr>
            <a:r>
              <a:rPr lang="en-US" sz="2800" b="1">
                <a:solidFill>
                  <a:srgbClr val="800000"/>
                </a:solidFill>
                <a:latin typeface="Times New Roman" pitchFamily="18" charset="0"/>
              </a:rPr>
              <a:t>	It Permits code sharing</a:t>
            </a:r>
          </a:p>
        </p:txBody>
      </p:sp>
    </p:spTree>
  </p:cSld>
  <p:clrMapOvr>
    <a:masterClrMapping/>
  </p:clrMapOvr>
  <p:timing>
    <p:tnLst>
      <p:par>
        <p:cTn id="1" dur="indefinite" restart="never" nodeType="tmRoot"/>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ChangeArrowheads="1"/>
          </p:cNvSpPr>
          <p:nvPr/>
        </p:nvSpPr>
        <p:spPr bwMode="auto">
          <a:xfrm>
            <a:off x="0" y="0"/>
            <a:ext cx="9144000" cy="6858000"/>
          </a:xfrm>
          <a:prstGeom prst="rect">
            <a:avLst/>
          </a:prstGeom>
          <a:noFill/>
          <a:ln w="38100" cap="rnd">
            <a:solidFill>
              <a:srgbClr val="990099"/>
            </a:solidFill>
            <a:prstDash val="sysDot"/>
            <a:miter lim="800000"/>
            <a:headEnd/>
            <a:tailEnd/>
          </a:ln>
        </p:spPr>
        <p:txBody>
          <a:bodyPr>
            <a:spAutoFit/>
          </a:bodyPr>
          <a:lstStyle/>
          <a:p>
            <a:pPr marL="285750" eaLnBrk="0" hangingPunct="0"/>
            <a:endParaRPr lang="en-US" sz="4000" b="1" u="sng">
              <a:solidFill>
                <a:srgbClr val="800000"/>
              </a:solidFill>
              <a:latin typeface="Times New Roman" pitchFamily="18" charset="0"/>
            </a:endParaRPr>
          </a:p>
          <a:p>
            <a:pPr marL="285750" eaLnBrk="0" hangingPunct="0"/>
            <a:r>
              <a:rPr lang="en-US" sz="4000" b="1" u="sng">
                <a:solidFill>
                  <a:srgbClr val="800000"/>
                </a:solidFill>
                <a:latin typeface="Times New Roman" pitchFamily="18" charset="0"/>
              </a:rPr>
              <a:t>Advantages  </a:t>
            </a:r>
          </a:p>
          <a:p>
            <a:pPr marL="285750" algn="just" eaLnBrk="0" hangingPunct="0">
              <a:lnSpc>
                <a:spcPct val="150000"/>
              </a:lnSpc>
              <a:spcBef>
                <a:spcPct val="20000"/>
              </a:spcBef>
              <a:spcAft>
                <a:spcPct val="30000"/>
              </a:spcAft>
              <a:buFontTx/>
              <a:buBlip>
                <a:blip r:embed="rId2"/>
              </a:buBlip>
            </a:pPr>
            <a:r>
              <a:rPr lang="en-US" sz="3600" b="1">
                <a:solidFill>
                  <a:srgbClr val="800000"/>
                </a:solidFill>
                <a:latin typeface="Times New Roman" pitchFamily="18" charset="0"/>
              </a:rPr>
              <a:t> </a:t>
            </a:r>
            <a:r>
              <a:rPr lang="en-US" sz="2800" b="1">
                <a:solidFill>
                  <a:srgbClr val="800000"/>
                </a:solidFill>
                <a:latin typeface="Times New Roman" pitchFamily="18" charset="0"/>
              </a:rPr>
              <a:t>The base class need not be changed but can be adapted to suit the requirements in different applications.</a:t>
            </a:r>
          </a:p>
          <a:p>
            <a:pPr marL="285750" algn="just" eaLnBrk="0" hangingPunct="0">
              <a:lnSpc>
                <a:spcPct val="150000"/>
              </a:lnSpc>
              <a:spcBef>
                <a:spcPct val="20000"/>
              </a:spcBef>
              <a:spcAft>
                <a:spcPct val="30000"/>
              </a:spcAft>
              <a:buFontTx/>
              <a:buBlip>
                <a:blip r:embed="rId2"/>
              </a:buBlip>
            </a:pPr>
            <a:r>
              <a:rPr lang="en-US" sz="2800" b="1">
                <a:solidFill>
                  <a:srgbClr val="800000"/>
                </a:solidFill>
                <a:latin typeface="Times New Roman" pitchFamily="18" charset="0"/>
              </a:rPr>
              <a:t>   Saves developers time and effort so that they need not to spend time to know the core technical facts</a:t>
            </a:r>
          </a:p>
          <a:p>
            <a:pPr marL="285750" algn="just" eaLnBrk="0" hangingPunct="0">
              <a:lnSpc>
                <a:spcPct val="150000"/>
              </a:lnSpc>
              <a:spcBef>
                <a:spcPct val="20000"/>
              </a:spcBef>
              <a:spcAft>
                <a:spcPct val="30000"/>
              </a:spcAft>
            </a:pPr>
            <a:endParaRPr lang="en-US" sz="2800" b="1">
              <a:solidFill>
                <a:srgbClr val="800000"/>
              </a:solidFill>
              <a:latin typeface="Times New Roman" pitchFamily="18" charset="0"/>
            </a:endParaRPr>
          </a:p>
          <a:p>
            <a:pPr marL="285750" algn="just" eaLnBrk="0" hangingPunct="0">
              <a:lnSpc>
                <a:spcPct val="150000"/>
              </a:lnSpc>
              <a:spcBef>
                <a:spcPct val="20000"/>
              </a:spcBef>
              <a:spcAft>
                <a:spcPct val="30000"/>
              </a:spcAft>
              <a:buFontTx/>
              <a:buBlip>
                <a:blip r:embed="rId2"/>
              </a:buBlip>
            </a:pPr>
            <a:endParaRPr lang="en-US" sz="2800" b="1">
              <a:solidFill>
                <a:srgbClr val="800000"/>
              </a:solidFill>
              <a:latin typeface="Times New Roman" pitchFamily="18" charset="0"/>
            </a:endParaRPr>
          </a:p>
        </p:txBody>
      </p:sp>
    </p:spTree>
  </p:cSld>
  <p:clrMapOvr>
    <a:masterClrMapping/>
  </p:clrMapOvr>
  <p:timing>
    <p:tnLst>
      <p:par>
        <p:cTn id="1" dur="indefinite" restart="never" nodeType="tmRoot"/>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WordArt 2" descr="Woven mat"/>
          <p:cNvSpPr>
            <a:spLocks noChangeArrowheads="1" noChangeShapeType="1" noTextEdit="1"/>
          </p:cNvSpPr>
          <p:nvPr/>
        </p:nvSpPr>
        <p:spPr bwMode="auto">
          <a:xfrm>
            <a:off x="381000" y="1524000"/>
            <a:ext cx="2362200" cy="762000"/>
          </a:xfrm>
          <a:prstGeom prst="rect">
            <a:avLst/>
          </a:prstGeom>
        </p:spPr>
        <p:txBody>
          <a:bodyPr wrap="none" fromWordArt="1">
            <a:prstTxWarp prst="textTriangle">
              <a:avLst>
                <a:gd name="adj" fmla="val 37662"/>
              </a:avLst>
            </a:prstTxWarp>
          </a:bodyPr>
          <a:lstStyle/>
          <a:p>
            <a:pPr algn="ctr"/>
            <a:r>
              <a:rPr lang="en-IN" sz="4000" b="1" kern="10">
                <a:ln w="9525">
                  <a:solidFill>
                    <a:srgbClr val="000000"/>
                  </a:solidFill>
                  <a:round/>
                  <a:headEnd/>
                  <a:tailEnd/>
                </a:ln>
                <a:gradFill rotWithShape="1">
                  <a:gsLst>
                    <a:gs pos="0">
                      <a:srgbClr val="000082"/>
                    </a:gs>
                    <a:gs pos="13000">
                      <a:srgbClr val="0047FF"/>
                    </a:gs>
                    <a:gs pos="28000">
                      <a:srgbClr val="000082"/>
                    </a:gs>
                    <a:gs pos="42999">
                      <a:srgbClr val="0047FF"/>
                    </a:gs>
                    <a:gs pos="58000">
                      <a:srgbClr val="000082"/>
                    </a:gs>
                    <a:gs pos="72000">
                      <a:srgbClr val="0047FF"/>
                    </a:gs>
                    <a:gs pos="87000">
                      <a:srgbClr val="000082"/>
                    </a:gs>
                    <a:gs pos="100000">
                      <a:srgbClr val="0047FF"/>
                    </a:gs>
                  </a:gsLst>
                  <a:lin ang="0" scaled="1"/>
                </a:gradFill>
                <a:latin typeface="Times New Roman"/>
                <a:cs typeface="Times New Roman"/>
              </a:rPr>
              <a:t>Syntax</a:t>
            </a:r>
          </a:p>
        </p:txBody>
      </p:sp>
      <p:sp>
        <p:nvSpPr>
          <p:cNvPr id="7171" name="AutoShape 3"/>
          <p:cNvSpPr>
            <a:spLocks/>
          </p:cNvSpPr>
          <p:nvPr/>
        </p:nvSpPr>
        <p:spPr bwMode="auto">
          <a:xfrm>
            <a:off x="1066800" y="3086100"/>
            <a:ext cx="5943600" cy="3162300"/>
          </a:xfrm>
          <a:prstGeom prst="accentBorderCallout1">
            <a:avLst>
              <a:gd name="adj1" fmla="val 3616"/>
              <a:gd name="adj2" fmla="val -1282"/>
              <a:gd name="adj3" fmla="val -27560"/>
              <a:gd name="adj4" fmla="val -1551"/>
            </a:avLst>
          </a:prstGeom>
          <a:solidFill>
            <a:schemeClr val="accent1"/>
          </a:solidFill>
          <a:ln w="28575">
            <a:solidFill>
              <a:srgbClr val="3333CC"/>
            </a:solidFill>
            <a:miter lim="800000"/>
            <a:headEnd/>
            <a:tailEnd/>
          </a:ln>
        </p:spPr>
        <p:txBody>
          <a:bodyPr/>
          <a:lstStyle/>
          <a:p>
            <a:pPr eaLnBrk="0" hangingPunct="0"/>
            <a:r>
              <a:rPr lang="en-US" sz="2800" b="1">
                <a:solidFill>
                  <a:srgbClr val="3333CC"/>
                </a:solidFill>
                <a:latin typeface="Times New Roman" pitchFamily="18" charset="0"/>
              </a:rPr>
              <a:t>class &lt;derived classname&gt; :  public  </a:t>
            </a:r>
          </a:p>
          <a:p>
            <a:pPr eaLnBrk="0" hangingPunct="0"/>
            <a:r>
              <a:rPr lang="en-US" sz="2800" b="1">
                <a:solidFill>
                  <a:srgbClr val="3333CC"/>
                </a:solidFill>
                <a:latin typeface="Times New Roman" pitchFamily="18" charset="0"/>
              </a:rPr>
              <a:t>                             &lt;base classname&gt;</a:t>
            </a:r>
          </a:p>
          <a:p>
            <a:pPr eaLnBrk="0" hangingPunct="0"/>
            <a:r>
              <a:rPr lang="en-US" sz="2800" b="1">
                <a:solidFill>
                  <a:srgbClr val="3333CC"/>
                </a:solidFill>
                <a:latin typeface="Times New Roman" pitchFamily="18" charset="0"/>
              </a:rPr>
              <a:t>{</a:t>
            </a:r>
          </a:p>
          <a:p>
            <a:pPr eaLnBrk="0" hangingPunct="0"/>
            <a:r>
              <a:rPr lang="en-US" sz="2800" b="1">
                <a:solidFill>
                  <a:srgbClr val="3333CC"/>
                </a:solidFill>
                <a:latin typeface="Times New Roman" pitchFamily="18" charset="0"/>
              </a:rPr>
              <a:t>      ---</a:t>
            </a:r>
          </a:p>
          <a:p>
            <a:pPr eaLnBrk="0" hangingPunct="0"/>
            <a:r>
              <a:rPr lang="en-US" sz="2800" b="1">
                <a:solidFill>
                  <a:srgbClr val="3333CC"/>
                </a:solidFill>
                <a:latin typeface="Times New Roman" pitchFamily="18" charset="0"/>
              </a:rPr>
              <a:t>      ----</a:t>
            </a:r>
          </a:p>
          <a:p>
            <a:pPr eaLnBrk="0" hangingPunct="0"/>
            <a:r>
              <a:rPr lang="en-US" sz="2800" b="1">
                <a:solidFill>
                  <a:srgbClr val="3333CC"/>
                </a:solidFill>
                <a:latin typeface="Times New Roman" pitchFamily="18" charset="0"/>
              </a:rPr>
              <a:t> };</a:t>
            </a:r>
            <a:endParaRPr lang="en-US">
              <a:solidFill>
                <a:srgbClr val="3333CC"/>
              </a:solidFill>
              <a:latin typeface="Verdana" pitchFamily="34" charset="0"/>
            </a:endParaRPr>
          </a:p>
        </p:txBody>
      </p:sp>
      <p:pic>
        <p:nvPicPr>
          <p:cNvPr id="7172" name="Picture 4" descr="pe02634_"/>
          <p:cNvPicPr>
            <a:picLocks noChangeAspect="1" noChangeArrowheads="1"/>
          </p:cNvPicPr>
          <p:nvPr/>
        </p:nvPicPr>
        <p:blipFill>
          <a:blip r:embed="rId2"/>
          <a:srcRect/>
          <a:stretch>
            <a:fillRect/>
          </a:stretch>
        </p:blipFill>
        <p:spPr bwMode="auto">
          <a:xfrm>
            <a:off x="5105400" y="609600"/>
            <a:ext cx="2743200" cy="23717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ChangeArrowheads="1"/>
          </p:cNvSpPr>
          <p:nvPr/>
        </p:nvSpPr>
        <p:spPr bwMode="auto">
          <a:xfrm>
            <a:off x="762000" y="2286000"/>
            <a:ext cx="2438400" cy="1828800"/>
          </a:xfrm>
          <a:prstGeom prst="rect">
            <a:avLst/>
          </a:prstGeom>
          <a:gradFill rotWithShape="0">
            <a:gsLst>
              <a:gs pos="0">
                <a:srgbClr val="FF99CC"/>
              </a:gs>
              <a:gs pos="100000">
                <a:srgbClr val="76475E"/>
              </a:gs>
            </a:gsLst>
            <a:lin ang="2700000" scaled="1"/>
          </a:gradFill>
          <a:ln w="9525">
            <a:solidFill>
              <a:schemeClr val="tx1"/>
            </a:solidFill>
            <a:miter lim="800000"/>
            <a:headEnd/>
            <a:tailEnd/>
          </a:ln>
        </p:spPr>
        <p:txBody>
          <a:bodyPr wrap="none" anchor="ctr"/>
          <a:lstStyle/>
          <a:p>
            <a:endParaRPr lang="en-US"/>
          </a:p>
        </p:txBody>
      </p:sp>
      <p:sp>
        <p:nvSpPr>
          <p:cNvPr id="8195" name="Text Box 3"/>
          <p:cNvSpPr txBox="1">
            <a:spLocks noChangeArrowheads="1"/>
          </p:cNvSpPr>
          <p:nvPr/>
        </p:nvSpPr>
        <p:spPr bwMode="auto">
          <a:xfrm>
            <a:off x="1143000" y="2362200"/>
            <a:ext cx="1828800" cy="457200"/>
          </a:xfrm>
          <a:prstGeom prst="rect">
            <a:avLst/>
          </a:prstGeom>
          <a:noFill/>
          <a:ln w="9525">
            <a:noFill/>
            <a:miter lim="800000"/>
            <a:headEnd/>
            <a:tailEnd/>
          </a:ln>
        </p:spPr>
        <p:txBody>
          <a:bodyPr>
            <a:spAutoFit/>
          </a:bodyPr>
          <a:lstStyle/>
          <a:p>
            <a:pPr>
              <a:spcBef>
                <a:spcPct val="50000"/>
              </a:spcBef>
            </a:pPr>
            <a:r>
              <a:rPr lang="en-US" sz="2400" b="1">
                <a:latin typeface="Times New Roman" pitchFamily="18" charset="0"/>
              </a:rPr>
              <a:t>Base Class</a:t>
            </a:r>
          </a:p>
        </p:txBody>
      </p:sp>
      <p:sp>
        <p:nvSpPr>
          <p:cNvPr id="8196" name="AutoShape 4"/>
          <p:cNvSpPr>
            <a:spLocks noChangeArrowheads="1"/>
          </p:cNvSpPr>
          <p:nvPr/>
        </p:nvSpPr>
        <p:spPr bwMode="auto">
          <a:xfrm rot="-5380308">
            <a:off x="4495800" y="2212975"/>
            <a:ext cx="304800" cy="2286000"/>
          </a:xfrm>
          <a:prstGeom prst="downArrow">
            <a:avLst>
              <a:gd name="adj1" fmla="val 50000"/>
              <a:gd name="adj2" fmla="val 187500"/>
            </a:avLst>
          </a:prstGeom>
          <a:solidFill>
            <a:srgbClr val="CCFFFF"/>
          </a:solidFill>
          <a:ln w="9525">
            <a:solidFill>
              <a:schemeClr val="tx1"/>
            </a:solidFill>
            <a:miter lim="800000"/>
            <a:headEnd/>
            <a:tailEnd/>
          </a:ln>
        </p:spPr>
        <p:txBody>
          <a:bodyPr wrap="none" anchor="ctr"/>
          <a:lstStyle/>
          <a:p>
            <a:endParaRPr lang="en-US"/>
          </a:p>
        </p:txBody>
      </p:sp>
      <p:sp>
        <p:nvSpPr>
          <p:cNvPr id="8197" name="Text Box 5"/>
          <p:cNvSpPr txBox="1">
            <a:spLocks noChangeArrowheads="1"/>
          </p:cNvSpPr>
          <p:nvPr/>
        </p:nvSpPr>
        <p:spPr bwMode="auto">
          <a:xfrm>
            <a:off x="914400" y="2895600"/>
            <a:ext cx="1752600" cy="1187450"/>
          </a:xfrm>
          <a:prstGeom prst="rect">
            <a:avLst/>
          </a:prstGeom>
          <a:noFill/>
          <a:ln w="9525">
            <a:noFill/>
            <a:miter lim="800000"/>
            <a:headEnd/>
            <a:tailEnd/>
          </a:ln>
        </p:spPr>
        <p:txBody>
          <a:bodyPr>
            <a:spAutoFit/>
          </a:bodyPr>
          <a:lstStyle/>
          <a:p>
            <a:pPr algn="ctr">
              <a:spcBef>
                <a:spcPct val="50000"/>
              </a:spcBef>
            </a:pPr>
            <a:r>
              <a:rPr lang="en-US" sz="2400">
                <a:latin typeface="Times New Roman" pitchFamily="18" charset="0"/>
              </a:rPr>
              <a:t>Methods</a:t>
            </a:r>
            <a:br>
              <a:rPr lang="en-US" sz="2400">
                <a:latin typeface="Times New Roman" pitchFamily="18" charset="0"/>
              </a:rPr>
            </a:br>
            <a:r>
              <a:rPr lang="en-US" sz="2400">
                <a:latin typeface="Times New Roman" pitchFamily="18" charset="0"/>
              </a:rPr>
              <a:t>and Properties</a:t>
            </a:r>
          </a:p>
        </p:txBody>
      </p:sp>
      <p:sp>
        <p:nvSpPr>
          <p:cNvPr id="8198" name="Rectangle 6"/>
          <p:cNvSpPr>
            <a:spLocks noChangeArrowheads="1"/>
          </p:cNvSpPr>
          <p:nvPr/>
        </p:nvSpPr>
        <p:spPr bwMode="auto">
          <a:xfrm>
            <a:off x="5867400" y="2133600"/>
            <a:ext cx="2590800" cy="2057400"/>
          </a:xfrm>
          <a:prstGeom prst="rect">
            <a:avLst/>
          </a:prstGeom>
          <a:gradFill rotWithShape="0">
            <a:gsLst>
              <a:gs pos="0">
                <a:srgbClr val="00CCFF"/>
              </a:gs>
              <a:gs pos="100000">
                <a:srgbClr val="005E76"/>
              </a:gs>
            </a:gsLst>
            <a:lin ang="2700000" scaled="1"/>
          </a:gradFill>
          <a:ln w="9525">
            <a:solidFill>
              <a:schemeClr val="tx1"/>
            </a:solidFill>
            <a:miter lim="800000"/>
            <a:headEnd/>
            <a:tailEnd/>
          </a:ln>
        </p:spPr>
        <p:txBody>
          <a:bodyPr wrap="none" anchor="ctr"/>
          <a:lstStyle/>
          <a:p>
            <a:endParaRPr lang="en-US"/>
          </a:p>
        </p:txBody>
      </p:sp>
      <p:sp>
        <p:nvSpPr>
          <p:cNvPr id="8199" name="Text Box 7"/>
          <p:cNvSpPr txBox="1">
            <a:spLocks noChangeArrowheads="1"/>
          </p:cNvSpPr>
          <p:nvPr/>
        </p:nvSpPr>
        <p:spPr bwMode="auto">
          <a:xfrm>
            <a:off x="6248400" y="2362200"/>
            <a:ext cx="1981200" cy="457200"/>
          </a:xfrm>
          <a:prstGeom prst="rect">
            <a:avLst/>
          </a:prstGeom>
          <a:noFill/>
          <a:ln w="9525">
            <a:noFill/>
            <a:miter lim="800000"/>
            <a:headEnd/>
            <a:tailEnd/>
          </a:ln>
        </p:spPr>
        <p:txBody>
          <a:bodyPr>
            <a:spAutoFit/>
          </a:bodyPr>
          <a:lstStyle/>
          <a:p>
            <a:pPr>
              <a:spcBef>
                <a:spcPct val="50000"/>
              </a:spcBef>
            </a:pPr>
            <a:r>
              <a:rPr lang="en-US" sz="2400" b="1">
                <a:latin typeface="Times New Roman" pitchFamily="18" charset="0"/>
              </a:rPr>
              <a:t>Derived class</a:t>
            </a:r>
          </a:p>
        </p:txBody>
      </p:sp>
      <p:sp>
        <p:nvSpPr>
          <p:cNvPr id="8200" name="Line 8"/>
          <p:cNvSpPr>
            <a:spLocks noChangeShapeType="1"/>
          </p:cNvSpPr>
          <p:nvPr/>
        </p:nvSpPr>
        <p:spPr bwMode="auto">
          <a:xfrm>
            <a:off x="762000" y="2895600"/>
            <a:ext cx="2438400" cy="0"/>
          </a:xfrm>
          <a:prstGeom prst="line">
            <a:avLst/>
          </a:prstGeom>
          <a:noFill/>
          <a:ln w="9525">
            <a:solidFill>
              <a:schemeClr val="tx1"/>
            </a:solidFill>
            <a:miter lim="800000"/>
            <a:headEnd/>
            <a:tailEnd/>
          </a:ln>
        </p:spPr>
        <p:txBody>
          <a:bodyPr wrap="none"/>
          <a:lstStyle/>
          <a:p>
            <a:endParaRPr lang="en-IN"/>
          </a:p>
        </p:txBody>
      </p:sp>
      <p:sp>
        <p:nvSpPr>
          <p:cNvPr id="8201" name="Line 9"/>
          <p:cNvSpPr>
            <a:spLocks noChangeShapeType="1"/>
          </p:cNvSpPr>
          <p:nvPr/>
        </p:nvSpPr>
        <p:spPr bwMode="auto">
          <a:xfrm>
            <a:off x="5867400" y="2895600"/>
            <a:ext cx="2590800" cy="0"/>
          </a:xfrm>
          <a:prstGeom prst="line">
            <a:avLst/>
          </a:prstGeom>
          <a:noFill/>
          <a:ln w="9525">
            <a:solidFill>
              <a:schemeClr val="tx1"/>
            </a:solidFill>
            <a:miter lim="800000"/>
            <a:headEnd/>
            <a:tailEnd/>
          </a:ln>
        </p:spPr>
        <p:txBody>
          <a:bodyPr wrap="none"/>
          <a:lstStyle/>
          <a:p>
            <a:endParaRPr lang="en-IN"/>
          </a:p>
        </p:txBody>
      </p:sp>
      <p:sp>
        <p:nvSpPr>
          <p:cNvPr id="8202" name="Text Box 10"/>
          <p:cNvSpPr txBox="1">
            <a:spLocks noChangeArrowheads="1"/>
          </p:cNvSpPr>
          <p:nvPr/>
        </p:nvSpPr>
        <p:spPr bwMode="auto">
          <a:xfrm>
            <a:off x="5867400" y="2971800"/>
            <a:ext cx="2743200" cy="1187450"/>
          </a:xfrm>
          <a:prstGeom prst="rect">
            <a:avLst/>
          </a:prstGeom>
          <a:noFill/>
          <a:ln w="9525">
            <a:noFill/>
            <a:miter lim="800000"/>
            <a:headEnd/>
            <a:tailEnd/>
          </a:ln>
        </p:spPr>
        <p:txBody>
          <a:bodyPr>
            <a:spAutoFit/>
          </a:bodyPr>
          <a:lstStyle/>
          <a:p>
            <a:pPr algn="ctr">
              <a:spcBef>
                <a:spcPct val="50000"/>
              </a:spcBef>
            </a:pPr>
            <a:r>
              <a:rPr lang="en-US" sz="2400">
                <a:latin typeface="Times New Roman" pitchFamily="18" charset="0"/>
              </a:rPr>
              <a:t>Base class methods + </a:t>
            </a:r>
            <a:br>
              <a:rPr lang="en-US" sz="2400">
                <a:latin typeface="Times New Roman" pitchFamily="18" charset="0"/>
              </a:rPr>
            </a:br>
            <a:r>
              <a:rPr lang="en-US" sz="2400">
                <a:latin typeface="Times New Roman" pitchFamily="18" charset="0"/>
              </a:rPr>
              <a:t>Additional methods</a:t>
            </a:r>
          </a:p>
        </p:txBody>
      </p:sp>
      <p:sp>
        <p:nvSpPr>
          <p:cNvPr id="8203" name="Text Box 11"/>
          <p:cNvSpPr txBox="1">
            <a:spLocks noChangeArrowheads="1"/>
          </p:cNvSpPr>
          <p:nvPr/>
        </p:nvSpPr>
        <p:spPr bwMode="auto">
          <a:xfrm>
            <a:off x="533400" y="685800"/>
            <a:ext cx="8305800" cy="1076325"/>
          </a:xfrm>
          <a:prstGeom prst="rect">
            <a:avLst/>
          </a:prstGeom>
          <a:noFill/>
          <a:ln w="9525">
            <a:solidFill>
              <a:schemeClr val="tx1"/>
            </a:solidFill>
            <a:miter lim="800000"/>
            <a:headEnd/>
            <a:tailEnd/>
          </a:ln>
        </p:spPr>
        <p:txBody>
          <a:bodyPr>
            <a:spAutoFit/>
          </a:bodyPr>
          <a:lstStyle/>
          <a:p>
            <a:pPr>
              <a:spcBef>
                <a:spcPct val="50000"/>
              </a:spcBef>
            </a:pPr>
            <a:r>
              <a:rPr lang="en-US" sz="3200" b="1">
                <a:solidFill>
                  <a:srgbClr val="000099"/>
                </a:solidFill>
                <a:latin typeface="Times New Roman" pitchFamily="18" charset="0"/>
              </a:rPr>
              <a:t>Inheritance is the property that allows the reuse of an existing class to build a new class</a:t>
            </a:r>
          </a:p>
        </p:txBody>
      </p:sp>
    </p:spTree>
  </p:cSld>
  <p:clrMapOvr>
    <a:masterClrMapping/>
  </p:clrMapOvr>
  <p:timing>
    <p:tnLst>
      <p:par>
        <p:cTn id="1" dur="indefinite" restart="never" nodeType="tmRoot"/>
      </p:par>
    </p:tn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228600" y="1371600"/>
            <a:ext cx="8610600" cy="4183063"/>
            <a:chOff x="192" y="1090"/>
            <a:chExt cx="5424" cy="2635"/>
          </a:xfrm>
        </p:grpSpPr>
        <p:sp>
          <p:nvSpPr>
            <p:cNvPr id="9220" name="Oval 3"/>
            <p:cNvSpPr>
              <a:spLocks noChangeArrowheads="1"/>
            </p:cNvSpPr>
            <p:nvPr/>
          </p:nvSpPr>
          <p:spPr bwMode="auto">
            <a:xfrm>
              <a:off x="1728" y="1090"/>
              <a:ext cx="1680" cy="432"/>
            </a:xfrm>
            <a:prstGeom prst="ellipse">
              <a:avLst/>
            </a:prstGeom>
            <a:solidFill>
              <a:srgbClr val="99FF66"/>
            </a:solidFill>
            <a:ln w="9525">
              <a:solidFill>
                <a:schemeClr val="tx1"/>
              </a:solidFill>
              <a:miter lim="800000"/>
              <a:headEnd/>
              <a:tailEnd/>
            </a:ln>
          </p:spPr>
          <p:txBody>
            <a:bodyPr wrap="none" anchor="ctr"/>
            <a:lstStyle/>
            <a:p>
              <a:pPr algn="ctr"/>
              <a:r>
                <a:rPr lang="en-US" sz="2400" b="1">
                  <a:solidFill>
                    <a:srgbClr val="800000"/>
                  </a:solidFill>
                  <a:latin typeface="Times New Roman" pitchFamily="18" charset="0"/>
                </a:rPr>
                <a:t>Inheritance</a:t>
              </a:r>
            </a:p>
          </p:txBody>
        </p:sp>
        <p:sp>
          <p:nvSpPr>
            <p:cNvPr id="9221" name="Oval 4"/>
            <p:cNvSpPr>
              <a:spLocks noChangeArrowheads="1"/>
            </p:cNvSpPr>
            <p:nvPr/>
          </p:nvSpPr>
          <p:spPr bwMode="auto">
            <a:xfrm>
              <a:off x="3936" y="2530"/>
              <a:ext cx="1680" cy="480"/>
            </a:xfrm>
            <a:prstGeom prst="ellipse">
              <a:avLst/>
            </a:prstGeom>
            <a:solidFill>
              <a:srgbClr val="99FF66"/>
            </a:solidFill>
            <a:ln w="9525">
              <a:solidFill>
                <a:schemeClr val="tx1"/>
              </a:solidFill>
              <a:miter lim="800000"/>
              <a:headEnd/>
              <a:tailEnd/>
            </a:ln>
          </p:spPr>
          <p:txBody>
            <a:bodyPr wrap="none" anchor="ctr"/>
            <a:lstStyle/>
            <a:p>
              <a:endParaRPr lang="en-US"/>
            </a:p>
          </p:txBody>
        </p:sp>
        <p:sp>
          <p:nvSpPr>
            <p:cNvPr id="9222" name="Oval 5"/>
            <p:cNvSpPr>
              <a:spLocks noChangeArrowheads="1"/>
            </p:cNvSpPr>
            <p:nvPr/>
          </p:nvSpPr>
          <p:spPr bwMode="auto">
            <a:xfrm>
              <a:off x="3024" y="3202"/>
              <a:ext cx="1872" cy="384"/>
            </a:xfrm>
            <a:prstGeom prst="ellipse">
              <a:avLst/>
            </a:prstGeom>
            <a:solidFill>
              <a:srgbClr val="99FF66"/>
            </a:solidFill>
            <a:ln w="9525">
              <a:solidFill>
                <a:schemeClr val="tx1"/>
              </a:solidFill>
              <a:miter lim="800000"/>
              <a:headEnd/>
              <a:tailEnd/>
            </a:ln>
          </p:spPr>
          <p:txBody>
            <a:bodyPr wrap="none" anchor="ctr"/>
            <a:lstStyle/>
            <a:p>
              <a:endParaRPr lang="en-US"/>
            </a:p>
          </p:txBody>
        </p:sp>
        <p:sp>
          <p:nvSpPr>
            <p:cNvPr id="9223" name="Oval 6"/>
            <p:cNvSpPr>
              <a:spLocks noChangeArrowheads="1"/>
            </p:cNvSpPr>
            <p:nvPr/>
          </p:nvSpPr>
          <p:spPr bwMode="auto">
            <a:xfrm>
              <a:off x="1200" y="3202"/>
              <a:ext cx="1680" cy="480"/>
            </a:xfrm>
            <a:prstGeom prst="ellipse">
              <a:avLst/>
            </a:prstGeom>
            <a:solidFill>
              <a:srgbClr val="99FF66"/>
            </a:solidFill>
            <a:ln w="9525">
              <a:solidFill>
                <a:schemeClr val="tx1"/>
              </a:solidFill>
              <a:miter lim="800000"/>
              <a:headEnd/>
              <a:tailEnd/>
            </a:ln>
          </p:spPr>
          <p:txBody>
            <a:bodyPr wrap="none" anchor="ctr"/>
            <a:lstStyle/>
            <a:p>
              <a:endParaRPr lang="en-US"/>
            </a:p>
          </p:txBody>
        </p:sp>
        <p:sp>
          <p:nvSpPr>
            <p:cNvPr id="9224" name="Oval 7"/>
            <p:cNvSpPr>
              <a:spLocks noChangeArrowheads="1"/>
            </p:cNvSpPr>
            <p:nvPr/>
          </p:nvSpPr>
          <p:spPr bwMode="auto">
            <a:xfrm>
              <a:off x="240" y="2482"/>
              <a:ext cx="1680" cy="384"/>
            </a:xfrm>
            <a:prstGeom prst="ellipse">
              <a:avLst/>
            </a:prstGeom>
            <a:solidFill>
              <a:srgbClr val="99FF66"/>
            </a:solidFill>
            <a:ln w="9525">
              <a:solidFill>
                <a:schemeClr val="tx1"/>
              </a:solidFill>
              <a:miter lim="800000"/>
              <a:headEnd/>
              <a:tailEnd/>
            </a:ln>
          </p:spPr>
          <p:txBody>
            <a:bodyPr wrap="none" anchor="ctr"/>
            <a:lstStyle/>
            <a:p>
              <a:endParaRPr lang="en-US"/>
            </a:p>
          </p:txBody>
        </p:sp>
        <p:sp>
          <p:nvSpPr>
            <p:cNvPr id="9225" name="Line 8"/>
            <p:cNvSpPr>
              <a:spLocks noChangeShapeType="1"/>
            </p:cNvSpPr>
            <p:nvPr/>
          </p:nvSpPr>
          <p:spPr bwMode="auto">
            <a:xfrm flipH="1">
              <a:off x="1056" y="1570"/>
              <a:ext cx="1536" cy="912"/>
            </a:xfrm>
            <a:prstGeom prst="line">
              <a:avLst/>
            </a:prstGeom>
            <a:noFill/>
            <a:ln w="9525">
              <a:solidFill>
                <a:schemeClr val="tx1"/>
              </a:solidFill>
              <a:miter lim="800000"/>
              <a:headEnd/>
              <a:tailEnd type="triangle" w="med" len="med"/>
            </a:ln>
          </p:spPr>
          <p:txBody>
            <a:bodyPr wrap="none"/>
            <a:lstStyle/>
            <a:p>
              <a:endParaRPr lang="en-IN"/>
            </a:p>
          </p:txBody>
        </p:sp>
        <p:sp>
          <p:nvSpPr>
            <p:cNvPr id="9226" name="Line 9"/>
            <p:cNvSpPr>
              <a:spLocks noChangeShapeType="1"/>
            </p:cNvSpPr>
            <p:nvPr/>
          </p:nvSpPr>
          <p:spPr bwMode="auto">
            <a:xfrm flipH="1">
              <a:off x="2112" y="1570"/>
              <a:ext cx="480" cy="1632"/>
            </a:xfrm>
            <a:prstGeom prst="line">
              <a:avLst/>
            </a:prstGeom>
            <a:noFill/>
            <a:ln w="9525">
              <a:solidFill>
                <a:schemeClr val="tx1"/>
              </a:solidFill>
              <a:miter lim="800000"/>
              <a:headEnd/>
              <a:tailEnd type="triangle" w="med" len="med"/>
            </a:ln>
          </p:spPr>
          <p:txBody>
            <a:bodyPr wrap="none"/>
            <a:lstStyle/>
            <a:p>
              <a:endParaRPr lang="en-IN"/>
            </a:p>
          </p:txBody>
        </p:sp>
        <p:sp>
          <p:nvSpPr>
            <p:cNvPr id="9227" name="Line 10"/>
            <p:cNvSpPr>
              <a:spLocks noChangeShapeType="1"/>
            </p:cNvSpPr>
            <p:nvPr/>
          </p:nvSpPr>
          <p:spPr bwMode="auto">
            <a:xfrm>
              <a:off x="2592" y="1570"/>
              <a:ext cx="1152" cy="1632"/>
            </a:xfrm>
            <a:prstGeom prst="line">
              <a:avLst/>
            </a:prstGeom>
            <a:noFill/>
            <a:ln w="9525">
              <a:solidFill>
                <a:schemeClr val="tx1"/>
              </a:solidFill>
              <a:miter lim="800000"/>
              <a:headEnd/>
              <a:tailEnd type="triangle" w="med" len="med"/>
            </a:ln>
          </p:spPr>
          <p:txBody>
            <a:bodyPr wrap="none"/>
            <a:lstStyle/>
            <a:p>
              <a:endParaRPr lang="en-IN"/>
            </a:p>
          </p:txBody>
        </p:sp>
        <p:sp>
          <p:nvSpPr>
            <p:cNvPr id="9228" name="Line 11"/>
            <p:cNvSpPr>
              <a:spLocks noChangeShapeType="1"/>
            </p:cNvSpPr>
            <p:nvPr/>
          </p:nvSpPr>
          <p:spPr bwMode="auto">
            <a:xfrm>
              <a:off x="2592" y="1570"/>
              <a:ext cx="2064" cy="960"/>
            </a:xfrm>
            <a:prstGeom prst="line">
              <a:avLst/>
            </a:prstGeom>
            <a:noFill/>
            <a:ln w="9525">
              <a:solidFill>
                <a:schemeClr val="tx1"/>
              </a:solidFill>
              <a:miter lim="800000"/>
              <a:headEnd/>
              <a:tailEnd type="triangle" w="med" len="med"/>
            </a:ln>
          </p:spPr>
          <p:txBody>
            <a:bodyPr wrap="none"/>
            <a:lstStyle/>
            <a:p>
              <a:endParaRPr lang="en-IN"/>
            </a:p>
          </p:txBody>
        </p:sp>
        <p:sp>
          <p:nvSpPr>
            <p:cNvPr id="9229" name="Text Box 12"/>
            <p:cNvSpPr txBox="1">
              <a:spLocks noChangeArrowheads="1"/>
            </p:cNvSpPr>
            <p:nvPr/>
          </p:nvSpPr>
          <p:spPr bwMode="auto">
            <a:xfrm>
              <a:off x="1344" y="3202"/>
              <a:ext cx="1440" cy="523"/>
            </a:xfrm>
            <a:prstGeom prst="rect">
              <a:avLst/>
            </a:prstGeom>
            <a:noFill/>
            <a:ln w="9525">
              <a:noFill/>
              <a:miter lim="800000"/>
              <a:headEnd/>
              <a:tailEnd/>
            </a:ln>
          </p:spPr>
          <p:txBody>
            <a:bodyPr>
              <a:spAutoFit/>
            </a:bodyPr>
            <a:lstStyle/>
            <a:p>
              <a:pPr algn="ctr">
                <a:spcBef>
                  <a:spcPct val="50000"/>
                </a:spcBef>
              </a:pPr>
              <a:r>
                <a:rPr lang="en-US" sz="2400" b="1">
                  <a:solidFill>
                    <a:srgbClr val="800000"/>
                  </a:solidFill>
                  <a:latin typeface="Times New Roman" pitchFamily="18" charset="0"/>
                </a:rPr>
                <a:t>Multilevel Inheritance</a:t>
              </a:r>
            </a:p>
          </p:txBody>
        </p:sp>
        <p:sp>
          <p:nvSpPr>
            <p:cNvPr id="9230" name="Text Box 13"/>
            <p:cNvSpPr txBox="1">
              <a:spLocks noChangeArrowheads="1"/>
            </p:cNvSpPr>
            <p:nvPr/>
          </p:nvSpPr>
          <p:spPr bwMode="auto">
            <a:xfrm>
              <a:off x="192" y="2554"/>
              <a:ext cx="1776" cy="288"/>
            </a:xfrm>
            <a:prstGeom prst="rect">
              <a:avLst/>
            </a:prstGeom>
            <a:noFill/>
            <a:ln w="9525">
              <a:noFill/>
              <a:miter lim="800000"/>
              <a:headEnd/>
              <a:tailEnd/>
            </a:ln>
          </p:spPr>
          <p:txBody>
            <a:bodyPr>
              <a:spAutoFit/>
            </a:bodyPr>
            <a:lstStyle/>
            <a:p>
              <a:pPr algn="ctr">
                <a:spcBef>
                  <a:spcPct val="50000"/>
                </a:spcBef>
              </a:pPr>
              <a:r>
                <a:rPr lang="en-US" sz="2400" b="1">
                  <a:solidFill>
                    <a:srgbClr val="800000"/>
                  </a:solidFill>
                  <a:latin typeface="Times New Roman" pitchFamily="18" charset="0"/>
                </a:rPr>
                <a:t>Single Inheritance</a:t>
              </a:r>
            </a:p>
          </p:txBody>
        </p:sp>
        <p:sp>
          <p:nvSpPr>
            <p:cNvPr id="9231" name="Text Box 14"/>
            <p:cNvSpPr txBox="1">
              <a:spLocks noChangeArrowheads="1"/>
            </p:cNvSpPr>
            <p:nvPr/>
          </p:nvSpPr>
          <p:spPr bwMode="auto">
            <a:xfrm>
              <a:off x="2952" y="3274"/>
              <a:ext cx="2016" cy="288"/>
            </a:xfrm>
            <a:prstGeom prst="rect">
              <a:avLst/>
            </a:prstGeom>
            <a:noFill/>
            <a:ln w="9525">
              <a:noFill/>
              <a:miter lim="800000"/>
              <a:headEnd/>
              <a:tailEnd/>
            </a:ln>
          </p:spPr>
          <p:txBody>
            <a:bodyPr>
              <a:spAutoFit/>
            </a:bodyPr>
            <a:lstStyle/>
            <a:p>
              <a:pPr algn="ctr">
                <a:spcBef>
                  <a:spcPct val="50000"/>
                </a:spcBef>
              </a:pPr>
              <a:r>
                <a:rPr lang="en-US" sz="2400" b="1">
                  <a:solidFill>
                    <a:srgbClr val="800000"/>
                  </a:solidFill>
                  <a:latin typeface="Times New Roman" pitchFamily="18" charset="0"/>
                </a:rPr>
                <a:t>Multiple Inheritance</a:t>
              </a:r>
            </a:p>
          </p:txBody>
        </p:sp>
        <p:sp>
          <p:nvSpPr>
            <p:cNvPr id="9232" name="Text Box 15"/>
            <p:cNvSpPr txBox="1">
              <a:spLocks noChangeArrowheads="1"/>
            </p:cNvSpPr>
            <p:nvPr/>
          </p:nvSpPr>
          <p:spPr bwMode="auto">
            <a:xfrm>
              <a:off x="4068" y="2494"/>
              <a:ext cx="1536" cy="518"/>
            </a:xfrm>
            <a:prstGeom prst="rect">
              <a:avLst/>
            </a:prstGeom>
            <a:noFill/>
            <a:ln w="9525">
              <a:noFill/>
              <a:miter lim="800000"/>
              <a:headEnd/>
              <a:tailEnd/>
            </a:ln>
          </p:spPr>
          <p:txBody>
            <a:bodyPr>
              <a:spAutoFit/>
            </a:bodyPr>
            <a:lstStyle/>
            <a:p>
              <a:pPr algn="ctr">
                <a:spcBef>
                  <a:spcPct val="50000"/>
                </a:spcBef>
              </a:pPr>
              <a:r>
                <a:rPr lang="en-US" sz="2400" b="1">
                  <a:solidFill>
                    <a:srgbClr val="800000"/>
                  </a:solidFill>
                  <a:latin typeface="Times New Roman" pitchFamily="18" charset="0"/>
                </a:rPr>
                <a:t>Hierarchical Inheritance</a:t>
              </a:r>
            </a:p>
          </p:txBody>
        </p:sp>
      </p:grpSp>
      <p:sp>
        <p:nvSpPr>
          <p:cNvPr id="9219" name="WordArt 16"/>
          <p:cNvSpPr>
            <a:spLocks noChangeArrowheads="1" noChangeShapeType="1" noTextEdit="1"/>
          </p:cNvSpPr>
          <p:nvPr/>
        </p:nvSpPr>
        <p:spPr bwMode="auto">
          <a:xfrm>
            <a:off x="1600200" y="533400"/>
            <a:ext cx="5486400" cy="647700"/>
          </a:xfrm>
          <a:prstGeom prst="rect">
            <a:avLst/>
          </a:prstGeom>
        </p:spPr>
        <p:txBody>
          <a:bodyPr wrap="none" fromWordArt="1">
            <a:prstTxWarp prst="textPlain">
              <a:avLst>
                <a:gd name="adj" fmla="val 52139"/>
              </a:avLst>
            </a:prstTxWarp>
          </a:bodyPr>
          <a:lstStyle/>
          <a:p>
            <a:pPr algn="ctr"/>
            <a:r>
              <a:rPr lang="en-IN"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a:rPr>
              <a:t>Types Of Inheritance</a:t>
            </a:r>
          </a:p>
        </p:txBody>
      </p:sp>
    </p:spTree>
  </p:cSld>
  <p:clrMapOvr>
    <a:masterClrMapping/>
  </p:clrMapOvr>
  <p:timing>
    <p:tnLst>
      <p:par>
        <p:cTn id="1" dur="indefinite" restart="never" nodeType="tmRoot"/>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ChangeArrowheads="1"/>
          </p:cNvSpPr>
          <p:nvPr/>
        </p:nvSpPr>
        <p:spPr bwMode="auto">
          <a:xfrm>
            <a:off x="0" y="350838"/>
            <a:ext cx="8921750" cy="1739900"/>
          </a:xfrm>
          <a:prstGeom prst="rect">
            <a:avLst/>
          </a:prstGeom>
          <a:noFill/>
          <a:ln w="9525">
            <a:noFill/>
            <a:miter lim="800000"/>
            <a:headEnd/>
            <a:tailEnd/>
          </a:ln>
        </p:spPr>
        <p:txBody>
          <a:bodyPr anchor="ctr">
            <a:spAutoFit/>
          </a:bodyPr>
          <a:lstStyle/>
          <a:p>
            <a:pPr algn="ctr"/>
            <a:r>
              <a:rPr lang="en-US" sz="3600" b="1" u="sng">
                <a:solidFill>
                  <a:srgbClr val="000066"/>
                </a:solidFill>
                <a:latin typeface="Times New Roman" pitchFamily="18" charset="0"/>
                <a:cs typeface="Times New Roman" pitchFamily="18" charset="0"/>
              </a:rPr>
              <a:t>Single Inheritance </a:t>
            </a:r>
          </a:p>
          <a:p>
            <a:pPr algn="ctr"/>
            <a:r>
              <a:rPr lang="en-US" sz="3600" b="1">
                <a:solidFill>
                  <a:srgbClr val="000066"/>
                </a:solidFill>
                <a:latin typeface="Times New Roman" pitchFamily="18" charset="0"/>
                <a:cs typeface="Times New Roman" pitchFamily="18" charset="0"/>
              </a:rPr>
              <a:t>A class can be derived from a </a:t>
            </a:r>
          </a:p>
          <a:p>
            <a:pPr algn="ctr" eaLnBrk="0" hangingPunct="0"/>
            <a:r>
              <a:rPr lang="en-US" sz="3600" b="1">
                <a:solidFill>
                  <a:srgbClr val="000066"/>
                </a:solidFill>
                <a:latin typeface="Times New Roman" pitchFamily="18" charset="0"/>
                <a:cs typeface="Times New Roman" pitchFamily="18" charset="0"/>
              </a:rPr>
              <a:t>single base class is called single inheritance</a:t>
            </a:r>
            <a:endParaRPr lang="en-US" sz="3600" b="1">
              <a:solidFill>
                <a:srgbClr val="000066"/>
              </a:solidFill>
              <a:latin typeface="Times New Roman" pitchFamily="18" charset="0"/>
            </a:endParaRPr>
          </a:p>
        </p:txBody>
      </p:sp>
      <p:grpSp>
        <p:nvGrpSpPr>
          <p:cNvPr id="2" name="Group 3"/>
          <p:cNvGrpSpPr>
            <a:grpSpLocks/>
          </p:cNvGrpSpPr>
          <p:nvPr/>
        </p:nvGrpSpPr>
        <p:grpSpPr bwMode="auto">
          <a:xfrm>
            <a:off x="685800" y="2819400"/>
            <a:ext cx="2514600" cy="2514600"/>
            <a:chOff x="1872" y="2016"/>
            <a:chExt cx="1584" cy="1584"/>
          </a:xfrm>
        </p:grpSpPr>
        <p:sp>
          <p:nvSpPr>
            <p:cNvPr id="10254" name="Text Box 4"/>
            <p:cNvSpPr txBox="1">
              <a:spLocks noChangeArrowheads="1"/>
            </p:cNvSpPr>
            <p:nvPr/>
          </p:nvSpPr>
          <p:spPr bwMode="auto">
            <a:xfrm>
              <a:off x="1872" y="2016"/>
              <a:ext cx="1584" cy="533"/>
            </a:xfrm>
            <a:prstGeom prst="rect">
              <a:avLst/>
            </a:prstGeom>
            <a:solidFill>
              <a:srgbClr val="FFFFFF"/>
            </a:solidFill>
            <a:ln w="28575">
              <a:solidFill>
                <a:srgbClr val="000000"/>
              </a:solidFill>
              <a:miter lim="800000"/>
              <a:headEnd/>
              <a:tailEnd/>
            </a:ln>
          </p:spPr>
          <p:txBody>
            <a:bodyPr/>
            <a:lstStyle/>
            <a:p>
              <a:pPr algn="ctr" eaLnBrk="0" hangingPunct="0"/>
              <a:r>
                <a:rPr lang="en-US" sz="3600" b="1">
                  <a:solidFill>
                    <a:srgbClr val="3333CC"/>
                  </a:solidFill>
                  <a:latin typeface="Times New Roman" pitchFamily="18" charset="0"/>
                </a:rPr>
                <a:t>Base Class</a:t>
              </a:r>
              <a:endParaRPr lang="en-US" sz="4800" b="1">
                <a:solidFill>
                  <a:srgbClr val="3333CC"/>
                </a:solidFill>
                <a:latin typeface="Times New Roman" pitchFamily="18" charset="0"/>
              </a:endParaRPr>
            </a:p>
          </p:txBody>
        </p:sp>
        <p:sp>
          <p:nvSpPr>
            <p:cNvPr id="10255" name="Text Box 5"/>
            <p:cNvSpPr txBox="1">
              <a:spLocks noChangeArrowheads="1"/>
            </p:cNvSpPr>
            <p:nvPr/>
          </p:nvSpPr>
          <p:spPr bwMode="auto">
            <a:xfrm>
              <a:off x="1872" y="3067"/>
              <a:ext cx="1584" cy="533"/>
            </a:xfrm>
            <a:prstGeom prst="rect">
              <a:avLst/>
            </a:prstGeom>
            <a:solidFill>
              <a:srgbClr val="FFFFFF"/>
            </a:solidFill>
            <a:ln w="28575">
              <a:solidFill>
                <a:srgbClr val="000000"/>
              </a:solidFill>
              <a:miter lim="800000"/>
              <a:headEnd/>
              <a:tailEnd/>
            </a:ln>
          </p:spPr>
          <p:txBody>
            <a:bodyPr/>
            <a:lstStyle/>
            <a:p>
              <a:pPr algn="ctr" eaLnBrk="0" hangingPunct="0"/>
              <a:r>
                <a:rPr lang="en-US" sz="4000" b="1">
                  <a:solidFill>
                    <a:srgbClr val="3333CC"/>
                  </a:solidFill>
                  <a:latin typeface="Times New Roman" pitchFamily="18" charset="0"/>
                </a:rPr>
                <a:t>sub Class</a:t>
              </a:r>
              <a:endParaRPr lang="en-US" sz="5400" b="1">
                <a:solidFill>
                  <a:srgbClr val="3333CC"/>
                </a:solidFill>
                <a:latin typeface="Times New Roman" pitchFamily="18" charset="0"/>
              </a:endParaRPr>
            </a:p>
          </p:txBody>
        </p:sp>
        <p:sp>
          <p:nvSpPr>
            <p:cNvPr id="10256" name="Line 6"/>
            <p:cNvSpPr>
              <a:spLocks noChangeShapeType="1"/>
            </p:cNvSpPr>
            <p:nvPr/>
          </p:nvSpPr>
          <p:spPr bwMode="auto">
            <a:xfrm>
              <a:off x="2592" y="2536"/>
              <a:ext cx="0" cy="533"/>
            </a:xfrm>
            <a:prstGeom prst="line">
              <a:avLst/>
            </a:prstGeom>
            <a:noFill/>
            <a:ln w="19050">
              <a:solidFill>
                <a:srgbClr val="000000"/>
              </a:solidFill>
              <a:round/>
              <a:headEnd/>
              <a:tailEnd type="triangle" w="med" len="med"/>
            </a:ln>
          </p:spPr>
          <p:txBody>
            <a:bodyPr/>
            <a:lstStyle/>
            <a:p>
              <a:endParaRPr lang="en-IN"/>
            </a:p>
          </p:txBody>
        </p:sp>
      </p:grpSp>
      <p:sp>
        <p:nvSpPr>
          <p:cNvPr id="10244" name="Rectangle 7"/>
          <p:cNvSpPr>
            <a:spLocks noChangeArrowheads="1"/>
          </p:cNvSpPr>
          <p:nvPr/>
        </p:nvSpPr>
        <p:spPr bwMode="auto">
          <a:xfrm>
            <a:off x="4419600" y="2590800"/>
            <a:ext cx="4419600" cy="519113"/>
          </a:xfrm>
          <a:prstGeom prst="rect">
            <a:avLst/>
          </a:prstGeom>
          <a:noFill/>
          <a:ln w="9525">
            <a:noFill/>
            <a:miter lim="800000"/>
            <a:headEnd/>
            <a:tailEnd/>
          </a:ln>
        </p:spPr>
        <p:txBody>
          <a:bodyPr anchor="ctr">
            <a:spAutoFit/>
          </a:bodyPr>
          <a:lstStyle/>
          <a:p>
            <a:r>
              <a:rPr lang="en-US" sz="2800" b="1">
                <a:solidFill>
                  <a:srgbClr val="000066"/>
                </a:solidFill>
                <a:latin typeface="Verdana" pitchFamily="34" charset="0"/>
              </a:rPr>
              <a:t>Multiple Inheritance</a:t>
            </a:r>
          </a:p>
        </p:txBody>
      </p:sp>
      <p:grpSp>
        <p:nvGrpSpPr>
          <p:cNvPr id="3" name="Group 8"/>
          <p:cNvGrpSpPr>
            <a:grpSpLocks/>
          </p:cNvGrpSpPr>
          <p:nvPr/>
        </p:nvGrpSpPr>
        <p:grpSpPr bwMode="auto">
          <a:xfrm>
            <a:off x="4699000" y="3505200"/>
            <a:ext cx="3759200" cy="2667000"/>
            <a:chOff x="2960" y="2208"/>
            <a:chExt cx="2368" cy="1680"/>
          </a:xfrm>
        </p:grpSpPr>
        <p:sp>
          <p:nvSpPr>
            <p:cNvPr id="10246" name="Rectangle 9"/>
            <p:cNvSpPr>
              <a:spLocks noChangeArrowheads="1"/>
            </p:cNvSpPr>
            <p:nvPr/>
          </p:nvSpPr>
          <p:spPr bwMode="auto">
            <a:xfrm>
              <a:off x="2960" y="2208"/>
              <a:ext cx="1063" cy="448"/>
            </a:xfrm>
            <a:prstGeom prst="rect">
              <a:avLst/>
            </a:prstGeom>
            <a:solidFill>
              <a:srgbClr val="C5C5FF"/>
            </a:solidFill>
            <a:ln w="9525" cap="sq">
              <a:solidFill>
                <a:srgbClr val="000000"/>
              </a:solidFill>
              <a:miter lim="800000"/>
              <a:headEnd/>
              <a:tailEnd/>
            </a:ln>
          </p:spPr>
          <p:txBody>
            <a:bodyPr wrap="none" anchor="ctr"/>
            <a:lstStyle/>
            <a:p>
              <a:endParaRPr lang="en-US"/>
            </a:p>
          </p:txBody>
        </p:sp>
        <p:sp>
          <p:nvSpPr>
            <p:cNvPr id="10247" name="Rectangle 10"/>
            <p:cNvSpPr>
              <a:spLocks noChangeArrowheads="1"/>
            </p:cNvSpPr>
            <p:nvPr/>
          </p:nvSpPr>
          <p:spPr bwMode="auto">
            <a:xfrm>
              <a:off x="3619" y="3560"/>
              <a:ext cx="1069" cy="328"/>
            </a:xfrm>
            <a:prstGeom prst="rect">
              <a:avLst/>
            </a:prstGeom>
            <a:solidFill>
              <a:srgbClr val="80D212"/>
            </a:solidFill>
            <a:ln w="9525" cap="sq">
              <a:solidFill>
                <a:srgbClr val="000000"/>
              </a:solidFill>
              <a:miter lim="800000"/>
              <a:headEnd/>
              <a:tailEnd/>
            </a:ln>
          </p:spPr>
          <p:txBody>
            <a:bodyPr wrap="none" anchor="ctr"/>
            <a:lstStyle/>
            <a:p>
              <a:endParaRPr lang="en-US"/>
            </a:p>
          </p:txBody>
        </p:sp>
        <p:sp>
          <p:nvSpPr>
            <p:cNvPr id="10248" name="Rectangle 11"/>
            <p:cNvSpPr>
              <a:spLocks noChangeArrowheads="1"/>
            </p:cNvSpPr>
            <p:nvPr/>
          </p:nvSpPr>
          <p:spPr bwMode="auto">
            <a:xfrm>
              <a:off x="4256" y="2208"/>
              <a:ext cx="1072" cy="400"/>
            </a:xfrm>
            <a:prstGeom prst="rect">
              <a:avLst/>
            </a:prstGeom>
            <a:solidFill>
              <a:srgbClr val="FBF6C9"/>
            </a:solidFill>
            <a:ln w="9525" cap="sq">
              <a:solidFill>
                <a:srgbClr val="000000"/>
              </a:solidFill>
              <a:miter lim="800000"/>
              <a:headEnd/>
              <a:tailEnd/>
            </a:ln>
          </p:spPr>
          <p:txBody>
            <a:bodyPr wrap="none" anchor="ctr"/>
            <a:lstStyle/>
            <a:p>
              <a:endParaRPr lang="en-US"/>
            </a:p>
          </p:txBody>
        </p:sp>
        <p:sp>
          <p:nvSpPr>
            <p:cNvPr id="10249" name="Line 12"/>
            <p:cNvSpPr>
              <a:spLocks noChangeShapeType="1"/>
            </p:cNvSpPr>
            <p:nvPr/>
          </p:nvSpPr>
          <p:spPr bwMode="auto">
            <a:xfrm>
              <a:off x="3510" y="2616"/>
              <a:ext cx="522" cy="936"/>
            </a:xfrm>
            <a:prstGeom prst="line">
              <a:avLst/>
            </a:prstGeom>
            <a:noFill/>
            <a:ln w="38100" cap="sq">
              <a:solidFill>
                <a:srgbClr val="000000"/>
              </a:solidFill>
              <a:round/>
              <a:headEnd/>
              <a:tailEnd type="triangle" w="med" len="med"/>
            </a:ln>
          </p:spPr>
          <p:txBody>
            <a:bodyPr/>
            <a:lstStyle/>
            <a:p>
              <a:endParaRPr lang="en-IN"/>
            </a:p>
          </p:txBody>
        </p:sp>
        <p:sp>
          <p:nvSpPr>
            <p:cNvPr id="10250" name="Line 13"/>
            <p:cNvSpPr>
              <a:spLocks noChangeShapeType="1"/>
            </p:cNvSpPr>
            <p:nvPr/>
          </p:nvSpPr>
          <p:spPr bwMode="auto">
            <a:xfrm flipH="1">
              <a:off x="4188" y="2616"/>
              <a:ext cx="756" cy="936"/>
            </a:xfrm>
            <a:prstGeom prst="line">
              <a:avLst/>
            </a:prstGeom>
            <a:noFill/>
            <a:ln w="38100" cap="sq">
              <a:solidFill>
                <a:srgbClr val="000000"/>
              </a:solidFill>
              <a:round/>
              <a:headEnd/>
              <a:tailEnd type="triangle" w="med" len="med"/>
            </a:ln>
          </p:spPr>
          <p:txBody>
            <a:bodyPr/>
            <a:lstStyle/>
            <a:p>
              <a:endParaRPr lang="en-IN"/>
            </a:p>
          </p:txBody>
        </p:sp>
        <p:sp>
          <p:nvSpPr>
            <p:cNvPr id="10251" name="Text Box 14"/>
            <p:cNvSpPr txBox="1">
              <a:spLocks noChangeArrowheads="1"/>
            </p:cNvSpPr>
            <p:nvPr/>
          </p:nvSpPr>
          <p:spPr bwMode="auto">
            <a:xfrm>
              <a:off x="2960" y="2208"/>
              <a:ext cx="1030" cy="404"/>
            </a:xfrm>
            <a:prstGeom prst="rect">
              <a:avLst/>
            </a:prstGeom>
            <a:noFill/>
            <a:ln w="9525" cap="sq">
              <a:noFill/>
              <a:miter lim="800000"/>
              <a:headEnd/>
              <a:tailEnd/>
            </a:ln>
          </p:spPr>
          <p:txBody>
            <a:bodyPr lIns="64008" tIns="32004" rIns="64008" bIns="32004"/>
            <a:lstStyle/>
            <a:p>
              <a:pPr algn="ctr" eaLnBrk="0" hangingPunct="0"/>
              <a:r>
                <a:rPr lang="en-US" sz="2500" b="1">
                  <a:solidFill>
                    <a:srgbClr val="000000"/>
                  </a:solidFill>
                  <a:latin typeface="Verdana" pitchFamily="34" charset="0"/>
                </a:rPr>
                <a:t>Class A</a:t>
              </a:r>
              <a:endParaRPr lang="en-US" sz="2800" b="1">
                <a:latin typeface="Verdana" pitchFamily="34" charset="0"/>
              </a:endParaRPr>
            </a:p>
          </p:txBody>
        </p:sp>
        <p:sp>
          <p:nvSpPr>
            <p:cNvPr id="10252" name="Text Box 15"/>
            <p:cNvSpPr txBox="1">
              <a:spLocks noChangeArrowheads="1"/>
            </p:cNvSpPr>
            <p:nvPr/>
          </p:nvSpPr>
          <p:spPr bwMode="auto">
            <a:xfrm>
              <a:off x="4321" y="2256"/>
              <a:ext cx="943" cy="347"/>
            </a:xfrm>
            <a:prstGeom prst="rect">
              <a:avLst/>
            </a:prstGeom>
            <a:noFill/>
            <a:ln w="9525" cap="sq">
              <a:noFill/>
              <a:miter lim="800000"/>
              <a:headEnd/>
              <a:tailEnd/>
            </a:ln>
          </p:spPr>
          <p:txBody>
            <a:bodyPr lIns="64008" tIns="32004" rIns="64008" bIns="32004"/>
            <a:lstStyle/>
            <a:p>
              <a:pPr algn="ctr" eaLnBrk="0" hangingPunct="0"/>
              <a:r>
                <a:rPr lang="en-US" sz="2900" b="1">
                  <a:solidFill>
                    <a:srgbClr val="000000"/>
                  </a:solidFill>
                  <a:latin typeface="Impact" pitchFamily="34" charset="0"/>
                </a:rPr>
                <a:t>Class B</a:t>
              </a:r>
              <a:endParaRPr lang="en-US" sz="3200" b="1">
                <a:latin typeface="Verdana" pitchFamily="34" charset="0"/>
              </a:endParaRPr>
            </a:p>
          </p:txBody>
        </p:sp>
        <p:sp>
          <p:nvSpPr>
            <p:cNvPr id="10253" name="Text Box 16"/>
            <p:cNvSpPr txBox="1">
              <a:spLocks noChangeArrowheads="1"/>
            </p:cNvSpPr>
            <p:nvPr/>
          </p:nvSpPr>
          <p:spPr bwMode="auto">
            <a:xfrm>
              <a:off x="3653" y="3569"/>
              <a:ext cx="939" cy="223"/>
            </a:xfrm>
            <a:prstGeom prst="rect">
              <a:avLst/>
            </a:prstGeom>
            <a:noFill/>
            <a:ln w="9525" cap="sq">
              <a:noFill/>
              <a:miter lim="800000"/>
              <a:headEnd/>
              <a:tailEnd/>
            </a:ln>
          </p:spPr>
          <p:txBody>
            <a:bodyPr lIns="64008" tIns="32004" rIns="64008" bIns="32004"/>
            <a:lstStyle/>
            <a:p>
              <a:pPr algn="ctr" eaLnBrk="0" hangingPunct="0"/>
              <a:r>
                <a:rPr lang="en-US" sz="2500" b="1">
                  <a:solidFill>
                    <a:srgbClr val="000000"/>
                  </a:solidFill>
                  <a:latin typeface="Verdana" pitchFamily="34" charset="0"/>
                </a:rPr>
                <a:t>Class C</a:t>
              </a:r>
              <a:endParaRPr lang="en-US" sz="2800" b="1">
                <a:latin typeface="Verdana" pitchFamily="34" charset="0"/>
              </a:endParaRPr>
            </a:p>
          </p:txBody>
        </p:sp>
      </p:grpSp>
    </p:spTree>
  </p:cSld>
  <p:clrMapOvr>
    <a:masterClrMapping/>
  </p:clrMapOvr>
  <p:timing>
    <p:tnLst>
      <p:par>
        <p:cTn id="1" dur="indefinite" restart="never" nodeType="tmRoot"/>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457200" y="1752600"/>
            <a:ext cx="3198813" cy="3316288"/>
            <a:chOff x="432" y="1152"/>
            <a:chExt cx="2015" cy="2089"/>
          </a:xfrm>
        </p:grpSpPr>
        <p:sp>
          <p:nvSpPr>
            <p:cNvPr id="11277" name="Rectangle 3"/>
            <p:cNvSpPr>
              <a:spLocks noChangeArrowheads="1"/>
            </p:cNvSpPr>
            <p:nvPr/>
          </p:nvSpPr>
          <p:spPr bwMode="auto">
            <a:xfrm>
              <a:off x="465" y="1152"/>
              <a:ext cx="1982" cy="424"/>
            </a:xfrm>
            <a:prstGeom prst="rect">
              <a:avLst/>
            </a:prstGeom>
            <a:solidFill>
              <a:srgbClr val="C5C5FF"/>
            </a:solidFill>
            <a:ln w="9525" cap="sq">
              <a:solidFill>
                <a:srgbClr val="000000"/>
              </a:solidFill>
              <a:miter lim="800000"/>
              <a:headEnd/>
              <a:tailEnd/>
            </a:ln>
          </p:spPr>
          <p:txBody>
            <a:bodyPr wrap="none" anchor="ctr"/>
            <a:lstStyle/>
            <a:p>
              <a:endParaRPr lang="en-US"/>
            </a:p>
          </p:txBody>
        </p:sp>
        <p:sp>
          <p:nvSpPr>
            <p:cNvPr id="11278" name="Rectangle 4"/>
            <p:cNvSpPr>
              <a:spLocks noChangeArrowheads="1"/>
            </p:cNvSpPr>
            <p:nvPr/>
          </p:nvSpPr>
          <p:spPr bwMode="auto">
            <a:xfrm>
              <a:off x="432" y="2817"/>
              <a:ext cx="1982" cy="424"/>
            </a:xfrm>
            <a:prstGeom prst="rect">
              <a:avLst/>
            </a:prstGeom>
            <a:solidFill>
              <a:srgbClr val="80D212"/>
            </a:solidFill>
            <a:ln w="9525" cap="sq">
              <a:solidFill>
                <a:srgbClr val="000000"/>
              </a:solidFill>
              <a:miter lim="800000"/>
              <a:headEnd/>
              <a:tailEnd/>
            </a:ln>
          </p:spPr>
          <p:txBody>
            <a:bodyPr wrap="none" anchor="ctr"/>
            <a:lstStyle/>
            <a:p>
              <a:endParaRPr lang="en-US"/>
            </a:p>
          </p:txBody>
        </p:sp>
        <p:sp>
          <p:nvSpPr>
            <p:cNvPr id="11279" name="Rectangle 5"/>
            <p:cNvSpPr>
              <a:spLocks noChangeArrowheads="1"/>
            </p:cNvSpPr>
            <p:nvPr/>
          </p:nvSpPr>
          <p:spPr bwMode="auto">
            <a:xfrm>
              <a:off x="465" y="1907"/>
              <a:ext cx="1982" cy="424"/>
            </a:xfrm>
            <a:prstGeom prst="rect">
              <a:avLst/>
            </a:prstGeom>
            <a:solidFill>
              <a:srgbClr val="FBF6C9"/>
            </a:solidFill>
            <a:ln w="9525" cap="sq">
              <a:solidFill>
                <a:srgbClr val="000000"/>
              </a:solidFill>
              <a:miter lim="800000"/>
              <a:headEnd/>
              <a:tailEnd/>
            </a:ln>
          </p:spPr>
          <p:txBody>
            <a:bodyPr wrap="none" anchor="ctr"/>
            <a:lstStyle/>
            <a:p>
              <a:endParaRPr lang="en-US"/>
            </a:p>
          </p:txBody>
        </p:sp>
        <p:sp>
          <p:nvSpPr>
            <p:cNvPr id="11280" name="Line 6"/>
            <p:cNvSpPr>
              <a:spLocks noChangeShapeType="1"/>
            </p:cNvSpPr>
            <p:nvPr/>
          </p:nvSpPr>
          <p:spPr bwMode="auto">
            <a:xfrm>
              <a:off x="1422" y="1576"/>
              <a:ext cx="0" cy="331"/>
            </a:xfrm>
            <a:prstGeom prst="line">
              <a:avLst/>
            </a:prstGeom>
            <a:noFill/>
            <a:ln w="38100" cap="sq">
              <a:solidFill>
                <a:srgbClr val="000000"/>
              </a:solidFill>
              <a:round/>
              <a:headEnd/>
              <a:tailEnd type="triangle" w="med" len="med"/>
            </a:ln>
          </p:spPr>
          <p:txBody>
            <a:bodyPr/>
            <a:lstStyle/>
            <a:p>
              <a:endParaRPr lang="en-IN"/>
            </a:p>
          </p:txBody>
        </p:sp>
        <p:sp>
          <p:nvSpPr>
            <p:cNvPr id="11281" name="Line 7"/>
            <p:cNvSpPr>
              <a:spLocks noChangeShapeType="1"/>
            </p:cNvSpPr>
            <p:nvPr/>
          </p:nvSpPr>
          <p:spPr bwMode="auto">
            <a:xfrm>
              <a:off x="1422" y="2331"/>
              <a:ext cx="0" cy="497"/>
            </a:xfrm>
            <a:prstGeom prst="line">
              <a:avLst/>
            </a:prstGeom>
            <a:noFill/>
            <a:ln w="38100" cap="sq">
              <a:solidFill>
                <a:srgbClr val="000000"/>
              </a:solidFill>
              <a:round/>
              <a:headEnd/>
              <a:tailEnd type="triangle" w="med" len="med"/>
            </a:ln>
          </p:spPr>
          <p:txBody>
            <a:bodyPr/>
            <a:lstStyle/>
            <a:p>
              <a:endParaRPr lang="en-IN"/>
            </a:p>
          </p:txBody>
        </p:sp>
        <p:sp>
          <p:nvSpPr>
            <p:cNvPr id="11282" name="Text Box 8"/>
            <p:cNvSpPr txBox="1">
              <a:spLocks noChangeArrowheads="1"/>
            </p:cNvSpPr>
            <p:nvPr/>
          </p:nvSpPr>
          <p:spPr bwMode="auto">
            <a:xfrm>
              <a:off x="533" y="1200"/>
              <a:ext cx="1846" cy="357"/>
            </a:xfrm>
            <a:prstGeom prst="rect">
              <a:avLst/>
            </a:prstGeom>
            <a:noFill/>
            <a:ln w="9525" cap="sq">
              <a:noFill/>
              <a:miter lim="800000"/>
              <a:headEnd/>
              <a:tailEnd/>
            </a:ln>
          </p:spPr>
          <p:txBody>
            <a:bodyPr lIns="64008" tIns="32004" rIns="64008" bIns="32004">
              <a:spAutoFit/>
            </a:bodyPr>
            <a:lstStyle/>
            <a:p>
              <a:pPr algn="ctr" eaLnBrk="0" hangingPunct="0"/>
              <a:r>
                <a:rPr lang="en-US" sz="3300" b="1">
                  <a:solidFill>
                    <a:srgbClr val="000000"/>
                  </a:solidFill>
                  <a:latin typeface="Verdana" pitchFamily="34" charset="0"/>
                </a:rPr>
                <a:t>Class A</a:t>
              </a:r>
              <a:endParaRPr lang="en-US" sz="3600" b="1">
                <a:latin typeface="Verdana" pitchFamily="34" charset="0"/>
              </a:endParaRPr>
            </a:p>
          </p:txBody>
        </p:sp>
        <p:sp>
          <p:nvSpPr>
            <p:cNvPr id="11283" name="Text Box 9"/>
            <p:cNvSpPr txBox="1">
              <a:spLocks noChangeArrowheads="1"/>
            </p:cNvSpPr>
            <p:nvPr/>
          </p:nvSpPr>
          <p:spPr bwMode="auto">
            <a:xfrm>
              <a:off x="533" y="1953"/>
              <a:ext cx="1846" cy="357"/>
            </a:xfrm>
            <a:prstGeom prst="rect">
              <a:avLst/>
            </a:prstGeom>
            <a:noFill/>
            <a:ln w="9525" cap="sq">
              <a:noFill/>
              <a:miter lim="800000"/>
              <a:headEnd/>
              <a:tailEnd/>
            </a:ln>
          </p:spPr>
          <p:txBody>
            <a:bodyPr lIns="64008" tIns="32004" rIns="64008" bIns="32004">
              <a:spAutoFit/>
            </a:bodyPr>
            <a:lstStyle/>
            <a:p>
              <a:pPr algn="ctr" eaLnBrk="0" hangingPunct="0"/>
              <a:r>
                <a:rPr lang="en-US" sz="3300" b="1">
                  <a:solidFill>
                    <a:srgbClr val="000000"/>
                  </a:solidFill>
                  <a:latin typeface="Verdana" pitchFamily="34" charset="0"/>
                </a:rPr>
                <a:t>Class B</a:t>
              </a:r>
              <a:endParaRPr lang="en-US" sz="3600" b="1">
                <a:latin typeface="Verdana" pitchFamily="34" charset="0"/>
              </a:endParaRPr>
            </a:p>
          </p:txBody>
        </p:sp>
        <p:sp>
          <p:nvSpPr>
            <p:cNvPr id="11284" name="Text Box 10"/>
            <p:cNvSpPr txBox="1">
              <a:spLocks noChangeArrowheads="1"/>
            </p:cNvSpPr>
            <p:nvPr/>
          </p:nvSpPr>
          <p:spPr bwMode="auto">
            <a:xfrm>
              <a:off x="480" y="2863"/>
              <a:ext cx="1846" cy="357"/>
            </a:xfrm>
            <a:prstGeom prst="rect">
              <a:avLst/>
            </a:prstGeom>
            <a:noFill/>
            <a:ln w="9525" cap="sq">
              <a:noFill/>
              <a:miter lim="800000"/>
              <a:headEnd/>
              <a:tailEnd/>
            </a:ln>
          </p:spPr>
          <p:txBody>
            <a:bodyPr lIns="64008" tIns="32004" rIns="64008" bIns="32004">
              <a:spAutoFit/>
            </a:bodyPr>
            <a:lstStyle/>
            <a:p>
              <a:pPr algn="ctr" eaLnBrk="0" hangingPunct="0"/>
              <a:r>
                <a:rPr lang="en-US" sz="3300" b="1">
                  <a:solidFill>
                    <a:srgbClr val="000000"/>
                  </a:solidFill>
                  <a:latin typeface="Verdana" pitchFamily="34" charset="0"/>
                </a:rPr>
                <a:t>Class C</a:t>
              </a:r>
              <a:endParaRPr lang="en-US" sz="3600" b="1">
                <a:latin typeface="Verdana" pitchFamily="34" charset="0"/>
              </a:endParaRPr>
            </a:p>
          </p:txBody>
        </p:sp>
      </p:grpSp>
      <p:sp>
        <p:nvSpPr>
          <p:cNvPr id="11267" name="Rectangle 11"/>
          <p:cNvSpPr>
            <a:spLocks noChangeArrowheads="1"/>
          </p:cNvSpPr>
          <p:nvPr/>
        </p:nvSpPr>
        <p:spPr bwMode="auto">
          <a:xfrm>
            <a:off x="152400" y="784225"/>
            <a:ext cx="4114800" cy="457200"/>
          </a:xfrm>
          <a:prstGeom prst="rect">
            <a:avLst/>
          </a:prstGeom>
          <a:noFill/>
          <a:ln w="9525">
            <a:noFill/>
            <a:miter lim="800000"/>
            <a:headEnd/>
            <a:tailEnd/>
          </a:ln>
        </p:spPr>
        <p:txBody>
          <a:bodyPr anchor="ctr">
            <a:spAutoFit/>
          </a:bodyPr>
          <a:lstStyle/>
          <a:p>
            <a:r>
              <a:rPr lang="en-US" sz="2400" b="1" u="sng">
                <a:solidFill>
                  <a:srgbClr val="000066"/>
                </a:solidFill>
              </a:rPr>
              <a:t>Multilevel Inheritance</a:t>
            </a:r>
          </a:p>
        </p:txBody>
      </p:sp>
      <p:sp>
        <p:nvSpPr>
          <p:cNvPr id="11268" name="Rectangle 12"/>
          <p:cNvSpPr>
            <a:spLocks noChangeArrowheads="1"/>
          </p:cNvSpPr>
          <p:nvPr/>
        </p:nvSpPr>
        <p:spPr bwMode="auto">
          <a:xfrm>
            <a:off x="3733800" y="3581400"/>
            <a:ext cx="4486275" cy="579438"/>
          </a:xfrm>
          <a:prstGeom prst="rect">
            <a:avLst/>
          </a:prstGeom>
          <a:noFill/>
          <a:ln w="9525">
            <a:noFill/>
            <a:miter lim="800000"/>
            <a:headEnd/>
            <a:tailEnd/>
          </a:ln>
        </p:spPr>
        <p:txBody>
          <a:bodyPr wrap="none" anchor="ctr">
            <a:spAutoFit/>
          </a:bodyPr>
          <a:lstStyle/>
          <a:p>
            <a:r>
              <a:rPr lang="en-US" sz="3200" b="1" u="sng">
                <a:solidFill>
                  <a:srgbClr val="000066"/>
                </a:solidFill>
                <a:latin typeface="Times New Roman" pitchFamily="18" charset="0"/>
              </a:rPr>
              <a:t>Hierarchical Inheritance</a:t>
            </a:r>
          </a:p>
        </p:txBody>
      </p:sp>
      <p:grpSp>
        <p:nvGrpSpPr>
          <p:cNvPr id="3" name="Group 13"/>
          <p:cNvGrpSpPr>
            <a:grpSpLocks/>
          </p:cNvGrpSpPr>
          <p:nvPr/>
        </p:nvGrpSpPr>
        <p:grpSpPr bwMode="auto">
          <a:xfrm>
            <a:off x="2057400" y="4572000"/>
            <a:ext cx="7010400" cy="1905000"/>
            <a:chOff x="384" y="1392"/>
            <a:chExt cx="4416" cy="1200"/>
          </a:xfrm>
        </p:grpSpPr>
        <p:sp>
          <p:nvSpPr>
            <p:cNvPr id="11270" name="Text Box 14"/>
            <p:cNvSpPr txBox="1">
              <a:spLocks noChangeArrowheads="1"/>
            </p:cNvSpPr>
            <p:nvPr/>
          </p:nvSpPr>
          <p:spPr bwMode="auto">
            <a:xfrm>
              <a:off x="1872" y="1392"/>
              <a:ext cx="1296" cy="432"/>
            </a:xfrm>
            <a:prstGeom prst="rect">
              <a:avLst/>
            </a:prstGeom>
            <a:solidFill>
              <a:srgbClr val="FFFFFF"/>
            </a:solidFill>
            <a:ln w="28575">
              <a:solidFill>
                <a:srgbClr val="000000"/>
              </a:solidFill>
              <a:miter lim="800000"/>
              <a:headEnd/>
              <a:tailEnd/>
            </a:ln>
          </p:spPr>
          <p:txBody>
            <a:bodyPr/>
            <a:lstStyle/>
            <a:p>
              <a:pPr algn="ctr" eaLnBrk="0" hangingPunct="0"/>
              <a:r>
                <a:rPr lang="en-US" sz="2800" b="1">
                  <a:solidFill>
                    <a:srgbClr val="3333CC"/>
                  </a:solidFill>
                  <a:latin typeface="Times New Roman" pitchFamily="18" charset="0"/>
                </a:rPr>
                <a:t>Base Class</a:t>
              </a:r>
            </a:p>
          </p:txBody>
        </p:sp>
        <p:sp>
          <p:nvSpPr>
            <p:cNvPr id="11271" name="Text Box 15"/>
            <p:cNvSpPr txBox="1">
              <a:spLocks noChangeArrowheads="1"/>
            </p:cNvSpPr>
            <p:nvPr/>
          </p:nvSpPr>
          <p:spPr bwMode="auto">
            <a:xfrm>
              <a:off x="1872" y="2184"/>
              <a:ext cx="1344" cy="408"/>
            </a:xfrm>
            <a:prstGeom prst="rect">
              <a:avLst/>
            </a:prstGeom>
            <a:solidFill>
              <a:srgbClr val="FFFFFF"/>
            </a:solidFill>
            <a:ln w="28575">
              <a:solidFill>
                <a:srgbClr val="000000"/>
              </a:solidFill>
              <a:miter lim="800000"/>
              <a:headEnd/>
              <a:tailEnd/>
            </a:ln>
          </p:spPr>
          <p:txBody>
            <a:bodyPr/>
            <a:lstStyle/>
            <a:p>
              <a:pPr algn="ctr" eaLnBrk="0" hangingPunct="0"/>
              <a:r>
                <a:rPr lang="en-US" sz="2800" b="1">
                  <a:solidFill>
                    <a:srgbClr val="3333CC"/>
                  </a:solidFill>
                  <a:latin typeface="Times New Roman" pitchFamily="18" charset="0"/>
                </a:rPr>
                <a:t>sub Class 1</a:t>
              </a:r>
            </a:p>
          </p:txBody>
        </p:sp>
        <p:sp>
          <p:nvSpPr>
            <p:cNvPr id="11272" name="Line 16"/>
            <p:cNvSpPr>
              <a:spLocks noChangeShapeType="1"/>
            </p:cNvSpPr>
            <p:nvPr/>
          </p:nvSpPr>
          <p:spPr bwMode="auto">
            <a:xfrm>
              <a:off x="2496" y="1824"/>
              <a:ext cx="0" cy="384"/>
            </a:xfrm>
            <a:prstGeom prst="line">
              <a:avLst/>
            </a:prstGeom>
            <a:noFill/>
            <a:ln w="19050">
              <a:solidFill>
                <a:srgbClr val="000000"/>
              </a:solidFill>
              <a:round/>
              <a:headEnd/>
              <a:tailEnd type="triangle" w="med" len="med"/>
            </a:ln>
          </p:spPr>
          <p:txBody>
            <a:bodyPr/>
            <a:lstStyle/>
            <a:p>
              <a:endParaRPr lang="en-IN"/>
            </a:p>
          </p:txBody>
        </p:sp>
        <p:sp>
          <p:nvSpPr>
            <p:cNvPr id="11273" name="Line 17"/>
            <p:cNvSpPr>
              <a:spLocks noChangeShapeType="1"/>
            </p:cNvSpPr>
            <p:nvPr/>
          </p:nvSpPr>
          <p:spPr bwMode="auto">
            <a:xfrm flipH="1">
              <a:off x="1248" y="1824"/>
              <a:ext cx="1176" cy="316"/>
            </a:xfrm>
            <a:prstGeom prst="line">
              <a:avLst/>
            </a:prstGeom>
            <a:noFill/>
            <a:ln w="9525">
              <a:solidFill>
                <a:srgbClr val="000000"/>
              </a:solidFill>
              <a:round/>
              <a:headEnd/>
              <a:tailEnd type="triangle" w="med" len="med"/>
            </a:ln>
          </p:spPr>
          <p:txBody>
            <a:bodyPr/>
            <a:lstStyle/>
            <a:p>
              <a:endParaRPr lang="en-IN"/>
            </a:p>
          </p:txBody>
        </p:sp>
        <p:sp>
          <p:nvSpPr>
            <p:cNvPr id="11274" name="Line 18"/>
            <p:cNvSpPr>
              <a:spLocks noChangeShapeType="1"/>
            </p:cNvSpPr>
            <p:nvPr/>
          </p:nvSpPr>
          <p:spPr bwMode="auto">
            <a:xfrm>
              <a:off x="2544" y="1824"/>
              <a:ext cx="1152" cy="309"/>
            </a:xfrm>
            <a:prstGeom prst="line">
              <a:avLst/>
            </a:prstGeom>
            <a:noFill/>
            <a:ln w="9525">
              <a:solidFill>
                <a:srgbClr val="000000"/>
              </a:solidFill>
              <a:round/>
              <a:headEnd/>
              <a:tailEnd type="triangle" w="med" len="med"/>
            </a:ln>
          </p:spPr>
          <p:txBody>
            <a:bodyPr/>
            <a:lstStyle/>
            <a:p>
              <a:endParaRPr lang="en-IN"/>
            </a:p>
          </p:txBody>
        </p:sp>
        <p:sp>
          <p:nvSpPr>
            <p:cNvPr id="11275" name="Text Box 19"/>
            <p:cNvSpPr txBox="1">
              <a:spLocks noChangeArrowheads="1"/>
            </p:cNvSpPr>
            <p:nvPr/>
          </p:nvSpPr>
          <p:spPr bwMode="auto">
            <a:xfrm>
              <a:off x="384" y="2160"/>
              <a:ext cx="1344" cy="408"/>
            </a:xfrm>
            <a:prstGeom prst="rect">
              <a:avLst/>
            </a:prstGeom>
            <a:solidFill>
              <a:srgbClr val="FFFFFF"/>
            </a:solidFill>
            <a:ln w="28575">
              <a:solidFill>
                <a:srgbClr val="000000"/>
              </a:solidFill>
              <a:miter lim="800000"/>
              <a:headEnd/>
              <a:tailEnd/>
            </a:ln>
          </p:spPr>
          <p:txBody>
            <a:bodyPr/>
            <a:lstStyle/>
            <a:p>
              <a:pPr algn="ctr" eaLnBrk="0" hangingPunct="0"/>
              <a:r>
                <a:rPr lang="en-US" sz="2800" b="1">
                  <a:solidFill>
                    <a:srgbClr val="3333CC"/>
                  </a:solidFill>
                  <a:latin typeface="Times New Roman" pitchFamily="18" charset="0"/>
                </a:rPr>
                <a:t>sub Class 3</a:t>
              </a:r>
            </a:p>
          </p:txBody>
        </p:sp>
        <p:sp>
          <p:nvSpPr>
            <p:cNvPr id="11276" name="Text Box 20"/>
            <p:cNvSpPr txBox="1">
              <a:spLocks noChangeArrowheads="1"/>
            </p:cNvSpPr>
            <p:nvPr/>
          </p:nvSpPr>
          <p:spPr bwMode="auto">
            <a:xfrm>
              <a:off x="3456" y="2160"/>
              <a:ext cx="1344" cy="408"/>
            </a:xfrm>
            <a:prstGeom prst="rect">
              <a:avLst/>
            </a:prstGeom>
            <a:solidFill>
              <a:srgbClr val="FFFFFF"/>
            </a:solidFill>
            <a:ln w="28575">
              <a:solidFill>
                <a:srgbClr val="000000"/>
              </a:solidFill>
              <a:miter lim="800000"/>
              <a:headEnd/>
              <a:tailEnd/>
            </a:ln>
          </p:spPr>
          <p:txBody>
            <a:bodyPr/>
            <a:lstStyle/>
            <a:p>
              <a:pPr algn="ctr" eaLnBrk="0" hangingPunct="0"/>
              <a:r>
                <a:rPr lang="en-US" sz="2800" b="1">
                  <a:solidFill>
                    <a:srgbClr val="3333CC"/>
                  </a:solidFill>
                  <a:latin typeface="Times New Roman" pitchFamily="18" charset="0"/>
                </a:rPr>
                <a:t>sub Class 2</a:t>
              </a:r>
            </a:p>
          </p:txBody>
        </p:sp>
      </p:grpSp>
    </p:spTree>
  </p:cSld>
  <p:clrMapOvr>
    <a:masterClrMapping/>
  </p:clrMapOvr>
  <p:timing>
    <p:tnLst>
      <p:par>
        <p:cTn id="1" dur="indefinite" restart="never" nodeType="tmRoot"/>
      </p:par>
    </p:tn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ChangeArrowheads="1"/>
          </p:cNvSpPr>
          <p:nvPr/>
        </p:nvSpPr>
        <p:spPr bwMode="auto">
          <a:xfrm>
            <a:off x="457200" y="0"/>
            <a:ext cx="8077200" cy="2209800"/>
          </a:xfrm>
          <a:prstGeom prst="rect">
            <a:avLst/>
          </a:prstGeom>
          <a:noFill/>
          <a:ln w="9525">
            <a:noFill/>
            <a:miter lim="800000"/>
            <a:headEnd/>
            <a:tailEnd/>
          </a:ln>
        </p:spPr>
        <p:txBody>
          <a:bodyPr anchor="ctr">
            <a:spAutoFit/>
          </a:bodyPr>
          <a:lstStyle/>
          <a:p>
            <a:pPr algn="ctr" eaLnBrk="0" hangingPunct="0"/>
            <a:r>
              <a:rPr lang="en-US" sz="3600" b="1" u="sng">
                <a:solidFill>
                  <a:srgbClr val="000066"/>
                </a:solidFill>
                <a:latin typeface="Times New Roman" pitchFamily="18" charset="0"/>
              </a:rPr>
              <a:t>Hybrid Inheritance</a:t>
            </a:r>
          </a:p>
          <a:p>
            <a:pPr algn="ctr" eaLnBrk="0" hangingPunct="0"/>
            <a:endParaRPr lang="en-US" sz="3600" b="1">
              <a:solidFill>
                <a:srgbClr val="000066"/>
              </a:solidFill>
              <a:latin typeface="Times New Roman" pitchFamily="18" charset="0"/>
            </a:endParaRPr>
          </a:p>
          <a:p>
            <a:pPr algn="ctr" eaLnBrk="0" hangingPunct="0"/>
            <a:r>
              <a:rPr lang="en-US" sz="3200" b="1">
                <a:solidFill>
                  <a:srgbClr val="000066"/>
                </a:solidFill>
                <a:latin typeface="Times New Roman" pitchFamily="18" charset="0"/>
              </a:rPr>
              <a:t>Hybrid is nothing but the combination of Multilevel  and multiple Inheritance</a:t>
            </a:r>
          </a:p>
        </p:txBody>
      </p:sp>
      <p:grpSp>
        <p:nvGrpSpPr>
          <p:cNvPr id="2" name="Group 3"/>
          <p:cNvGrpSpPr>
            <a:grpSpLocks/>
          </p:cNvGrpSpPr>
          <p:nvPr/>
        </p:nvGrpSpPr>
        <p:grpSpPr bwMode="auto">
          <a:xfrm>
            <a:off x="609600" y="2514600"/>
            <a:ext cx="8396288" cy="3733800"/>
            <a:chOff x="1692" y="7380"/>
            <a:chExt cx="7084" cy="3903"/>
          </a:xfrm>
        </p:grpSpPr>
        <p:sp>
          <p:nvSpPr>
            <p:cNvPr id="12292" name="Rectangle 4"/>
            <p:cNvSpPr>
              <a:spLocks noChangeArrowheads="1"/>
            </p:cNvSpPr>
            <p:nvPr/>
          </p:nvSpPr>
          <p:spPr bwMode="auto">
            <a:xfrm>
              <a:off x="1692" y="8583"/>
              <a:ext cx="4500" cy="2700"/>
            </a:xfrm>
            <a:prstGeom prst="rect">
              <a:avLst/>
            </a:prstGeom>
            <a:solidFill>
              <a:srgbClr val="FFFFFF"/>
            </a:solidFill>
            <a:ln w="38100" cap="rnd">
              <a:solidFill>
                <a:srgbClr val="000000"/>
              </a:solidFill>
              <a:prstDash val="sysDot"/>
              <a:miter lim="800000"/>
              <a:headEnd/>
              <a:tailEnd/>
            </a:ln>
          </p:spPr>
          <p:txBody>
            <a:bodyPr/>
            <a:lstStyle/>
            <a:p>
              <a:endParaRPr lang="en-US"/>
            </a:p>
          </p:txBody>
        </p:sp>
        <p:sp>
          <p:nvSpPr>
            <p:cNvPr id="12293" name="Rectangle 5"/>
            <p:cNvSpPr>
              <a:spLocks noChangeArrowheads="1"/>
            </p:cNvSpPr>
            <p:nvPr/>
          </p:nvSpPr>
          <p:spPr bwMode="auto">
            <a:xfrm>
              <a:off x="3852" y="7380"/>
              <a:ext cx="3240" cy="3600"/>
            </a:xfrm>
            <a:prstGeom prst="rect">
              <a:avLst/>
            </a:prstGeom>
            <a:solidFill>
              <a:srgbClr val="FFFFFF"/>
            </a:solidFill>
            <a:ln w="28575" cap="rnd">
              <a:solidFill>
                <a:srgbClr val="000000"/>
              </a:solidFill>
              <a:prstDash val="sysDot"/>
              <a:miter lim="800000"/>
              <a:headEnd/>
              <a:tailEnd/>
            </a:ln>
          </p:spPr>
          <p:txBody>
            <a:bodyPr/>
            <a:lstStyle/>
            <a:p>
              <a:endParaRPr lang="en-US"/>
            </a:p>
          </p:txBody>
        </p:sp>
        <p:grpSp>
          <p:nvGrpSpPr>
            <p:cNvPr id="3" name="Group 6"/>
            <p:cNvGrpSpPr>
              <a:grpSpLocks/>
            </p:cNvGrpSpPr>
            <p:nvPr/>
          </p:nvGrpSpPr>
          <p:grpSpPr bwMode="auto">
            <a:xfrm>
              <a:off x="2052" y="7381"/>
              <a:ext cx="3960" cy="3240"/>
              <a:chOff x="3600" y="7380"/>
              <a:chExt cx="3960" cy="3240"/>
            </a:xfrm>
          </p:grpSpPr>
          <p:sp>
            <p:nvSpPr>
              <p:cNvPr id="12297" name="Text Box 7"/>
              <p:cNvSpPr txBox="1">
                <a:spLocks noChangeArrowheads="1"/>
              </p:cNvSpPr>
              <p:nvPr/>
            </p:nvSpPr>
            <p:spPr bwMode="auto">
              <a:xfrm>
                <a:off x="5760" y="7380"/>
                <a:ext cx="1620" cy="540"/>
              </a:xfrm>
              <a:prstGeom prst="rect">
                <a:avLst/>
              </a:prstGeom>
              <a:solidFill>
                <a:srgbClr val="FFFFFF"/>
              </a:solidFill>
              <a:ln w="9525">
                <a:solidFill>
                  <a:srgbClr val="000000"/>
                </a:solidFill>
                <a:miter lim="800000"/>
                <a:headEnd/>
                <a:tailEnd/>
              </a:ln>
            </p:spPr>
            <p:txBody>
              <a:bodyPr/>
              <a:lstStyle/>
              <a:p>
                <a:pPr algn="ctr" eaLnBrk="0" hangingPunct="0"/>
                <a:r>
                  <a:rPr lang="en-US" b="1">
                    <a:solidFill>
                      <a:srgbClr val="3333CC"/>
                    </a:solidFill>
                    <a:latin typeface="Verdana" pitchFamily="34" charset="0"/>
                  </a:rPr>
                  <a:t>Lecturer</a:t>
                </a:r>
                <a:endParaRPr lang="en-US" sz="2400" b="1">
                  <a:solidFill>
                    <a:srgbClr val="3333CC"/>
                  </a:solidFill>
                  <a:latin typeface="Verdana" pitchFamily="34" charset="0"/>
                </a:endParaRPr>
              </a:p>
            </p:txBody>
          </p:sp>
          <p:sp>
            <p:nvSpPr>
              <p:cNvPr id="12298" name="Text Box 8"/>
              <p:cNvSpPr txBox="1">
                <a:spLocks noChangeArrowheads="1"/>
              </p:cNvSpPr>
              <p:nvPr/>
            </p:nvSpPr>
            <p:spPr bwMode="auto">
              <a:xfrm>
                <a:off x="3600" y="8700"/>
                <a:ext cx="1620" cy="540"/>
              </a:xfrm>
              <a:prstGeom prst="rect">
                <a:avLst/>
              </a:prstGeom>
              <a:solidFill>
                <a:srgbClr val="FFFFFF"/>
              </a:solidFill>
              <a:ln w="9525">
                <a:solidFill>
                  <a:srgbClr val="000000"/>
                </a:solidFill>
                <a:miter lim="800000"/>
                <a:headEnd/>
                <a:tailEnd/>
              </a:ln>
            </p:spPr>
            <p:txBody>
              <a:bodyPr/>
              <a:lstStyle/>
              <a:p>
                <a:pPr algn="ctr" eaLnBrk="0" hangingPunct="0"/>
                <a:r>
                  <a:rPr lang="en-US" b="1">
                    <a:solidFill>
                      <a:srgbClr val="3333CC"/>
                    </a:solidFill>
                    <a:latin typeface="Verdana" pitchFamily="34" charset="0"/>
                  </a:rPr>
                  <a:t>Marks</a:t>
                </a:r>
                <a:endParaRPr lang="en-US" sz="2400">
                  <a:solidFill>
                    <a:srgbClr val="3333CC"/>
                  </a:solidFill>
                  <a:latin typeface="Verdana" pitchFamily="34" charset="0"/>
                </a:endParaRPr>
              </a:p>
            </p:txBody>
          </p:sp>
          <p:sp>
            <p:nvSpPr>
              <p:cNvPr id="12299" name="Text Box 9"/>
              <p:cNvSpPr txBox="1">
                <a:spLocks noChangeArrowheads="1"/>
              </p:cNvSpPr>
              <p:nvPr/>
            </p:nvSpPr>
            <p:spPr bwMode="auto">
              <a:xfrm>
                <a:off x="5580" y="8640"/>
                <a:ext cx="1980" cy="540"/>
              </a:xfrm>
              <a:prstGeom prst="rect">
                <a:avLst/>
              </a:prstGeom>
              <a:solidFill>
                <a:srgbClr val="FFFFFF"/>
              </a:solidFill>
              <a:ln w="9525">
                <a:solidFill>
                  <a:srgbClr val="000000"/>
                </a:solidFill>
                <a:miter lim="800000"/>
                <a:headEnd/>
                <a:tailEnd/>
              </a:ln>
            </p:spPr>
            <p:txBody>
              <a:bodyPr/>
              <a:lstStyle/>
              <a:p>
                <a:pPr algn="ctr" eaLnBrk="0" hangingPunct="0"/>
                <a:r>
                  <a:rPr lang="en-US" sz="1600" b="1">
                    <a:solidFill>
                      <a:srgbClr val="3333CC"/>
                    </a:solidFill>
                    <a:latin typeface="Verdana" pitchFamily="34" charset="0"/>
                  </a:rPr>
                  <a:t>Department</a:t>
                </a:r>
                <a:endParaRPr lang="en-US" sz="2000" b="1">
                  <a:solidFill>
                    <a:srgbClr val="3333CC"/>
                  </a:solidFill>
                  <a:latin typeface="Verdana" pitchFamily="34" charset="0"/>
                </a:endParaRPr>
              </a:p>
            </p:txBody>
          </p:sp>
          <p:sp>
            <p:nvSpPr>
              <p:cNvPr id="12300" name="Text Box 10"/>
              <p:cNvSpPr txBox="1">
                <a:spLocks noChangeArrowheads="1"/>
              </p:cNvSpPr>
              <p:nvPr/>
            </p:nvSpPr>
            <p:spPr bwMode="auto">
              <a:xfrm>
                <a:off x="5580" y="10080"/>
                <a:ext cx="1980" cy="540"/>
              </a:xfrm>
              <a:prstGeom prst="rect">
                <a:avLst/>
              </a:prstGeom>
              <a:solidFill>
                <a:srgbClr val="FFFFFF"/>
              </a:solidFill>
              <a:ln w="9525">
                <a:solidFill>
                  <a:srgbClr val="000000"/>
                </a:solidFill>
                <a:miter lim="800000"/>
                <a:headEnd/>
                <a:tailEnd/>
              </a:ln>
            </p:spPr>
            <p:txBody>
              <a:bodyPr/>
              <a:lstStyle/>
              <a:p>
                <a:pPr algn="ctr" eaLnBrk="0" hangingPunct="0"/>
                <a:r>
                  <a:rPr lang="en-US" b="1">
                    <a:solidFill>
                      <a:srgbClr val="3333CC"/>
                    </a:solidFill>
                    <a:latin typeface="Verdana" pitchFamily="34" charset="0"/>
                  </a:rPr>
                  <a:t>Student</a:t>
                </a:r>
                <a:endParaRPr lang="en-US" sz="2400" b="1">
                  <a:solidFill>
                    <a:srgbClr val="3333CC"/>
                  </a:solidFill>
                  <a:latin typeface="Verdana" pitchFamily="34" charset="0"/>
                </a:endParaRPr>
              </a:p>
            </p:txBody>
          </p:sp>
          <p:sp>
            <p:nvSpPr>
              <p:cNvPr id="12301" name="Line 11"/>
              <p:cNvSpPr>
                <a:spLocks noChangeShapeType="1"/>
              </p:cNvSpPr>
              <p:nvPr/>
            </p:nvSpPr>
            <p:spPr bwMode="auto">
              <a:xfrm>
                <a:off x="6480" y="7920"/>
                <a:ext cx="0" cy="720"/>
              </a:xfrm>
              <a:prstGeom prst="line">
                <a:avLst/>
              </a:prstGeom>
              <a:noFill/>
              <a:ln w="19050">
                <a:solidFill>
                  <a:srgbClr val="000000"/>
                </a:solidFill>
                <a:round/>
                <a:headEnd/>
                <a:tailEnd type="triangle" w="med" len="med"/>
              </a:ln>
            </p:spPr>
            <p:txBody>
              <a:bodyPr/>
              <a:lstStyle/>
              <a:p>
                <a:endParaRPr lang="en-IN"/>
              </a:p>
            </p:txBody>
          </p:sp>
          <p:sp>
            <p:nvSpPr>
              <p:cNvPr id="12302" name="Line 12"/>
              <p:cNvSpPr>
                <a:spLocks noChangeShapeType="1"/>
              </p:cNvSpPr>
              <p:nvPr/>
            </p:nvSpPr>
            <p:spPr bwMode="auto">
              <a:xfrm>
                <a:off x="6480" y="9180"/>
                <a:ext cx="0" cy="900"/>
              </a:xfrm>
              <a:prstGeom prst="line">
                <a:avLst/>
              </a:prstGeom>
              <a:noFill/>
              <a:ln w="19050">
                <a:solidFill>
                  <a:srgbClr val="000000"/>
                </a:solidFill>
                <a:round/>
                <a:headEnd/>
                <a:tailEnd type="triangle" w="med" len="med"/>
              </a:ln>
            </p:spPr>
            <p:txBody>
              <a:bodyPr/>
              <a:lstStyle/>
              <a:p>
                <a:endParaRPr lang="en-IN"/>
              </a:p>
            </p:txBody>
          </p:sp>
          <p:sp>
            <p:nvSpPr>
              <p:cNvPr id="12303" name="Line 13"/>
              <p:cNvSpPr>
                <a:spLocks noChangeShapeType="1"/>
              </p:cNvSpPr>
              <p:nvPr/>
            </p:nvSpPr>
            <p:spPr bwMode="auto">
              <a:xfrm>
                <a:off x="4320" y="9225"/>
                <a:ext cx="0" cy="495"/>
              </a:xfrm>
              <a:prstGeom prst="line">
                <a:avLst/>
              </a:prstGeom>
              <a:noFill/>
              <a:ln w="9525">
                <a:solidFill>
                  <a:srgbClr val="000000"/>
                </a:solidFill>
                <a:round/>
                <a:headEnd/>
                <a:tailEnd/>
              </a:ln>
            </p:spPr>
            <p:txBody>
              <a:bodyPr/>
              <a:lstStyle/>
              <a:p>
                <a:endParaRPr lang="en-IN"/>
              </a:p>
            </p:txBody>
          </p:sp>
          <p:sp>
            <p:nvSpPr>
              <p:cNvPr id="12304" name="Line 14"/>
              <p:cNvSpPr>
                <a:spLocks noChangeShapeType="1"/>
              </p:cNvSpPr>
              <p:nvPr/>
            </p:nvSpPr>
            <p:spPr bwMode="auto">
              <a:xfrm>
                <a:off x="4320" y="9720"/>
                <a:ext cx="1440" cy="0"/>
              </a:xfrm>
              <a:prstGeom prst="line">
                <a:avLst/>
              </a:prstGeom>
              <a:noFill/>
              <a:ln w="9525">
                <a:solidFill>
                  <a:srgbClr val="000000"/>
                </a:solidFill>
                <a:round/>
                <a:headEnd/>
                <a:tailEnd/>
              </a:ln>
            </p:spPr>
            <p:txBody>
              <a:bodyPr/>
              <a:lstStyle/>
              <a:p>
                <a:endParaRPr lang="en-IN"/>
              </a:p>
            </p:txBody>
          </p:sp>
          <p:sp>
            <p:nvSpPr>
              <p:cNvPr id="12305" name="Line 15"/>
              <p:cNvSpPr>
                <a:spLocks noChangeShapeType="1"/>
              </p:cNvSpPr>
              <p:nvPr/>
            </p:nvSpPr>
            <p:spPr bwMode="auto">
              <a:xfrm>
                <a:off x="5760" y="9720"/>
                <a:ext cx="0" cy="360"/>
              </a:xfrm>
              <a:prstGeom prst="line">
                <a:avLst/>
              </a:prstGeom>
              <a:noFill/>
              <a:ln w="9525">
                <a:solidFill>
                  <a:srgbClr val="000000"/>
                </a:solidFill>
                <a:round/>
                <a:headEnd/>
                <a:tailEnd type="triangle" w="med" len="med"/>
              </a:ln>
            </p:spPr>
            <p:txBody>
              <a:bodyPr/>
              <a:lstStyle/>
              <a:p>
                <a:endParaRPr lang="en-IN"/>
              </a:p>
            </p:txBody>
          </p:sp>
        </p:grpSp>
        <p:sp>
          <p:nvSpPr>
            <p:cNvPr id="12295" name="Text Box 16"/>
            <p:cNvSpPr txBox="1">
              <a:spLocks noChangeArrowheads="1"/>
            </p:cNvSpPr>
            <p:nvPr/>
          </p:nvSpPr>
          <p:spPr bwMode="auto">
            <a:xfrm>
              <a:off x="7156" y="8814"/>
              <a:ext cx="1620" cy="900"/>
            </a:xfrm>
            <a:prstGeom prst="rect">
              <a:avLst/>
            </a:prstGeom>
            <a:solidFill>
              <a:srgbClr val="FFFFFF"/>
            </a:solidFill>
            <a:ln w="9525">
              <a:noFill/>
              <a:miter lim="800000"/>
              <a:headEnd/>
              <a:tailEnd/>
            </a:ln>
          </p:spPr>
          <p:txBody>
            <a:bodyPr/>
            <a:lstStyle/>
            <a:p>
              <a:pPr eaLnBrk="0" hangingPunct="0"/>
              <a:r>
                <a:rPr lang="en-US" sz="1400" b="1">
                  <a:solidFill>
                    <a:srgbClr val="3333CC"/>
                  </a:solidFill>
                  <a:latin typeface="Verdana" pitchFamily="34" charset="0"/>
                </a:rPr>
                <a:t>Multi level</a:t>
              </a:r>
            </a:p>
            <a:p>
              <a:pPr eaLnBrk="0" hangingPunct="0"/>
              <a:r>
                <a:rPr lang="en-US" sz="1400" b="1">
                  <a:solidFill>
                    <a:srgbClr val="3333CC"/>
                  </a:solidFill>
                  <a:latin typeface="Verdana" pitchFamily="34" charset="0"/>
                </a:rPr>
                <a:t>Inheritance</a:t>
              </a:r>
              <a:endParaRPr lang="en-US">
                <a:solidFill>
                  <a:srgbClr val="3333CC"/>
                </a:solidFill>
                <a:latin typeface="Verdana" pitchFamily="34" charset="0"/>
              </a:endParaRPr>
            </a:p>
          </p:txBody>
        </p:sp>
        <p:sp>
          <p:nvSpPr>
            <p:cNvPr id="12296" name="Text Box 17"/>
            <p:cNvSpPr txBox="1">
              <a:spLocks noChangeArrowheads="1"/>
            </p:cNvSpPr>
            <p:nvPr/>
          </p:nvSpPr>
          <p:spPr bwMode="auto">
            <a:xfrm>
              <a:off x="1692" y="10203"/>
              <a:ext cx="1980" cy="900"/>
            </a:xfrm>
            <a:prstGeom prst="rect">
              <a:avLst/>
            </a:prstGeom>
            <a:solidFill>
              <a:srgbClr val="FFFFFF"/>
            </a:solidFill>
            <a:ln w="9525">
              <a:noFill/>
              <a:miter lim="800000"/>
              <a:headEnd/>
              <a:tailEnd/>
            </a:ln>
          </p:spPr>
          <p:txBody>
            <a:bodyPr/>
            <a:lstStyle/>
            <a:p>
              <a:pPr eaLnBrk="0" hangingPunct="0"/>
              <a:r>
                <a:rPr lang="en-US" b="1">
                  <a:solidFill>
                    <a:srgbClr val="3333CC"/>
                  </a:solidFill>
                  <a:latin typeface="Verdana" pitchFamily="34" charset="0"/>
                </a:rPr>
                <a:t>Multiple</a:t>
              </a:r>
            </a:p>
            <a:p>
              <a:pPr eaLnBrk="0" hangingPunct="0"/>
              <a:r>
                <a:rPr lang="en-US" b="1">
                  <a:solidFill>
                    <a:srgbClr val="3333CC"/>
                  </a:solidFill>
                  <a:latin typeface="Verdana" pitchFamily="34" charset="0"/>
                </a:rPr>
                <a:t>Inheritance</a:t>
              </a:r>
              <a:endParaRPr lang="en-US" sz="2400" b="1">
                <a:solidFill>
                  <a:srgbClr val="3333CC"/>
                </a:solidFill>
                <a:latin typeface="Verdana" pitchFamily="34" charset="0"/>
              </a:endParaRPr>
            </a:p>
          </p:txBody>
        </p:sp>
      </p:grpSp>
    </p:spTree>
  </p:cSld>
  <p:clrMapOvr>
    <a:masterClrMapping/>
  </p:clrMapOvr>
  <p:timing>
    <p:tnLst>
      <p:par>
        <p:cTn id="1" dur="indefinite" restart="never" nodeType="tmRoot"/>
      </p:par>
    </p:tn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362" name="Group 2"/>
          <p:cNvGraphicFramePr>
            <a:graphicFrameLocks noGrp="1"/>
          </p:cNvGraphicFramePr>
          <p:nvPr/>
        </p:nvGraphicFramePr>
        <p:xfrm>
          <a:off x="152400" y="1524000"/>
          <a:ext cx="8991600" cy="3733800"/>
        </p:xfrm>
        <a:graphic>
          <a:graphicData uri="http://schemas.openxmlformats.org/drawingml/2006/table">
            <a:tbl>
              <a:tblPr/>
              <a:tblGrid>
                <a:gridCol w="2819400"/>
                <a:gridCol w="6172200"/>
              </a:tblGrid>
              <a:tr h="14954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smtClean="0">
                          <a:ln>
                            <a:noFill/>
                          </a:ln>
                          <a:solidFill>
                            <a:srgbClr val="800000"/>
                          </a:solidFill>
                          <a:effectLst/>
                          <a:latin typeface="Arial" charset="0"/>
                        </a:rPr>
                        <a:t>Base Class Visibility</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800000"/>
                          </a:solidFill>
                          <a:effectLst/>
                          <a:latin typeface="Arial" charset="0"/>
                        </a:rPr>
                        <a:t>Derived  class Visibility</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794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800000"/>
                          </a:solidFill>
                          <a:effectLst/>
                          <a:latin typeface="Arial" charset="0"/>
                        </a:rPr>
                        <a:t>Private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800000"/>
                          </a:solidFill>
                          <a:effectLst/>
                          <a:latin typeface="Arial" charset="0"/>
                        </a:rPr>
                        <a:t>Not inherited       Not Inherited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62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800000"/>
                          </a:solidFill>
                          <a:effectLst/>
                          <a:latin typeface="Arial" charset="0"/>
                        </a:rPr>
                        <a:t>Public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smtClean="0">
                          <a:ln>
                            <a:noFill/>
                          </a:ln>
                          <a:solidFill>
                            <a:srgbClr val="800000"/>
                          </a:solidFill>
                          <a:effectLst/>
                          <a:latin typeface="Arial" charset="0"/>
                        </a:rPr>
                        <a:t>public                       private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96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smtClean="0">
                          <a:ln>
                            <a:noFill/>
                          </a:ln>
                          <a:solidFill>
                            <a:srgbClr val="800000"/>
                          </a:solidFill>
                          <a:effectLst/>
                          <a:latin typeface="Arial" charset="0"/>
                        </a:rPr>
                        <a:t>Protected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smtClean="0">
                          <a:ln>
                            <a:noFill/>
                          </a:ln>
                          <a:solidFill>
                            <a:srgbClr val="800000"/>
                          </a:solidFill>
                          <a:effectLst/>
                          <a:latin typeface="Arial" charset="0"/>
                        </a:rPr>
                        <a:t>protected                  private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3331" name="Line 19"/>
          <p:cNvSpPr>
            <a:spLocks noChangeShapeType="1"/>
          </p:cNvSpPr>
          <p:nvPr/>
        </p:nvSpPr>
        <p:spPr bwMode="auto">
          <a:xfrm>
            <a:off x="5715000" y="2362200"/>
            <a:ext cx="0" cy="2971800"/>
          </a:xfrm>
          <a:prstGeom prst="line">
            <a:avLst/>
          </a:prstGeom>
          <a:noFill/>
          <a:ln w="9525">
            <a:solidFill>
              <a:schemeClr val="tx1"/>
            </a:solidFill>
            <a:round/>
            <a:headEnd/>
            <a:tailEnd/>
          </a:ln>
        </p:spPr>
        <p:txBody>
          <a:bodyPr/>
          <a:lstStyle/>
          <a:p>
            <a:endParaRPr lang="en-IN"/>
          </a:p>
        </p:txBody>
      </p:sp>
      <p:sp>
        <p:nvSpPr>
          <p:cNvPr id="13332" name="Text Box 20"/>
          <p:cNvSpPr txBox="1">
            <a:spLocks noChangeArrowheads="1"/>
          </p:cNvSpPr>
          <p:nvPr/>
        </p:nvSpPr>
        <p:spPr bwMode="auto">
          <a:xfrm>
            <a:off x="2971800" y="2413000"/>
            <a:ext cx="2743200" cy="396875"/>
          </a:xfrm>
          <a:prstGeom prst="rect">
            <a:avLst/>
          </a:prstGeom>
          <a:noFill/>
          <a:ln w="9525">
            <a:noFill/>
            <a:miter lim="800000"/>
            <a:headEnd/>
            <a:tailEnd/>
          </a:ln>
        </p:spPr>
        <p:txBody>
          <a:bodyPr>
            <a:spAutoFit/>
          </a:bodyPr>
          <a:lstStyle/>
          <a:p>
            <a:pPr eaLnBrk="0" hangingPunct="0">
              <a:spcBef>
                <a:spcPct val="50000"/>
              </a:spcBef>
            </a:pPr>
            <a:r>
              <a:rPr lang="en-US" sz="2000" b="1">
                <a:solidFill>
                  <a:srgbClr val="CC3300"/>
                </a:solidFill>
                <a:latin typeface="Verdana" pitchFamily="34" charset="0"/>
              </a:rPr>
              <a:t>Public derivation</a:t>
            </a:r>
          </a:p>
        </p:txBody>
      </p:sp>
      <p:sp>
        <p:nvSpPr>
          <p:cNvPr id="13333" name="Text Box 21"/>
          <p:cNvSpPr txBox="1">
            <a:spLocks noChangeArrowheads="1"/>
          </p:cNvSpPr>
          <p:nvPr/>
        </p:nvSpPr>
        <p:spPr bwMode="auto">
          <a:xfrm>
            <a:off x="5791200" y="2352675"/>
            <a:ext cx="3352800" cy="457200"/>
          </a:xfrm>
          <a:prstGeom prst="rect">
            <a:avLst/>
          </a:prstGeom>
          <a:noFill/>
          <a:ln w="9525">
            <a:noFill/>
            <a:miter lim="800000"/>
            <a:headEnd/>
            <a:tailEnd/>
          </a:ln>
        </p:spPr>
        <p:txBody>
          <a:bodyPr>
            <a:spAutoFit/>
          </a:bodyPr>
          <a:lstStyle/>
          <a:p>
            <a:pPr eaLnBrk="0" hangingPunct="0">
              <a:spcBef>
                <a:spcPct val="50000"/>
              </a:spcBef>
            </a:pPr>
            <a:r>
              <a:rPr lang="en-US" sz="2400" b="1">
                <a:solidFill>
                  <a:srgbClr val="CC3300"/>
                </a:solidFill>
                <a:latin typeface="Verdana" pitchFamily="34" charset="0"/>
              </a:rPr>
              <a:t>Private Derivation</a:t>
            </a:r>
          </a:p>
        </p:txBody>
      </p:sp>
      <p:sp>
        <p:nvSpPr>
          <p:cNvPr id="13334" name="Line 22"/>
          <p:cNvSpPr>
            <a:spLocks noChangeShapeType="1"/>
          </p:cNvSpPr>
          <p:nvPr/>
        </p:nvSpPr>
        <p:spPr bwMode="auto">
          <a:xfrm>
            <a:off x="2971800" y="2362200"/>
            <a:ext cx="6172200" cy="0"/>
          </a:xfrm>
          <a:prstGeom prst="line">
            <a:avLst/>
          </a:prstGeom>
          <a:noFill/>
          <a:ln w="9525">
            <a:solidFill>
              <a:schemeClr val="tx1"/>
            </a:solidFill>
            <a:round/>
            <a:headEnd/>
            <a:tailEnd/>
          </a:ln>
        </p:spPr>
        <p:txBody>
          <a:bodyPr/>
          <a:lstStyle/>
          <a:p>
            <a:endParaRPr lang="en-IN"/>
          </a:p>
        </p:txBody>
      </p:sp>
      <p:sp>
        <p:nvSpPr>
          <p:cNvPr id="13335" name="WordArt 23" descr="Paper bag"/>
          <p:cNvSpPr>
            <a:spLocks noChangeArrowheads="1" noChangeShapeType="1" noTextEdit="1"/>
          </p:cNvSpPr>
          <p:nvPr/>
        </p:nvSpPr>
        <p:spPr bwMode="auto">
          <a:xfrm>
            <a:off x="2819400" y="457200"/>
            <a:ext cx="2819400" cy="914400"/>
          </a:xfrm>
          <a:prstGeom prst="rect">
            <a:avLst/>
          </a:prstGeom>
        </p:spPr>
        <p:txBody>
          <a:bodyPr wrap="none" fromWordArt="1">
            <a:prstTxWarp prst="textPlain">
              <a:avLst>
                <a:gd name="adj" fmla="val 48361"/>
              </a:avLst>
            </a:prstTxWarp>
          </a:bodyPr>
          <a:lstStyle/>
          <a:p>
            <a:pPr algn="ctr"/>
            <a:r>
              <a:rPr lang="en-IN" sz="3600" b="1" kern="10">
                <a:ln w="9525">
                  <a:solidFill>
                    <a:srgbClr val="008000"/>
                  </a:solidFill>
                  <a:round/>
                  <a:headEnd/>
                  <a:tailEnd/>
                </a:ln>
                <a:blipFill dpi="0" rotWithShape="0">
                  <a:blip r:embed="rId2"/>
                  <a:srcRect/>
                  <a:tile tx="0" ty="0" sx="100000" sy="100000" flip="none" algn="tl"/>
                </a:blipFill>
                <a:effectLst>
                  <a:outerShdw dist="563972" dir="14049741" sx="125000" sy="125000" algn="tl" rotWithShape="0">
                    <a:srgbClr val="C7DFD3">
                      <a:alpha val="79999"/>
                    </a:srgbClr>
                  </a:outerShdw>
                </a:effectLst>
                <a:latin typeface="Times New Roman"/>
                <a:cs typeface="Times New Roman"/>
              </a:rPr>
              <a:t>Access Specifiers</a:t>
            </a:r>
          </a:p>
        </p:txBody>
      </p:sp>
    </p:spTree>
  </p:cSld>
  <p:clrMapOvr>
    <a:masterClrMapping/>
  </p:clrMapOvr>
  <p:timing>
    <p:tnLst>
      <p:par>
        <p:cTn id="1" dur="indefinite" restart="never" nodeType="tmRoot"/>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381000" y="255588"/>
            <a:ext cx="3962400" cy="6545262"/>
          </a:xfrm>
          <a:prstGeom prst="rect">
            <a:avLst/>
          </a:prstGeom>
          <a:noFill/>
          <a:ln w="9525">
            <a:solidFill>
              <a:srgbClr val="990099"/>
            </a:solidFill>
            <a:miter lim="800000"/>
            <a:headEnd/>
            <a:tailEnd/>
          </a:ln>
        </p:spPr>
        <p:txBody>
          <a:bodyPr>
            <a:spAutoFit/>
          </a:bodyPr>
          <a:lstStyle/>
          <a:p>
            <a:pPr eaLnBrk="0" hangingPunct="0"/>
            <a:r>
              <a:rPr lang="en-US" b="1">
                <a:solidFill>
                  <a:srgbClr val="000066"/>
                </a:solidFill>
              </a:rPr>
              <a:t>//Example for Single inheritance</a:t>
            </a:r>
          </a:p>
          <a:p>
            <a:pPr eaLnBrk="0" hangingPunct="0"/>
            <a:r>
              <a:rPr lang="en-US" sz="1400" b="1">
                <a:solidFill>
                  <a:srgbClr val="000066"/>
                </a:solidFill>
              </a:rPr>
              <a:t>#include&lt;iostream.h&gt;</a:t>
            </a:r>
          </a:p>
          <a:p>
            <a:pPr eaLnBrk="0" hangingPunct="0"/>
            <a:r>
              <a:rPr lang="en-US" sz="1400" b="1">
                <a:solidFill>
                  <a:srgbClr val="000066"/>
                </a:solidFill>
              </a:rPr>
              <a:t>class pcp</a:t>
            </a:r>
          </a:p>
          <a:p>
            <a:pPr eaLnBrk="0" hangingPunct="0"/>
            <a:r>
              <a:rPr lang="en-US" sz="1400" b="1">
                <a:solidFill>
                  <a:srgbClr val="000066"/>
                </a:solidFill>
              </a:rPr>
              <a:t>{</a:t>
            </a:r>
          </a:p>
          <a:p>
            <a:pPr eaLnBrk="0" hangingPunct="0"/>
            <a:r>
              <a:rPr lang="en-US" sz="1400" b="1">
                <a:solidFill>
                  <a:srgbClr val="000066"/>
                </a:solidFill>
              </a:rPr>
              <a:t>private:</a:t>
            </a:r>
          </a:p>
          <a:p>
            <a:pPr eaLnBrk="0" hangingPunct="0"/>
            <a:r>
              <a:rPr lang="en-US" sz="1400" b="1">
                <a:solidFill>
                  <a:srgbClr val="000066"/>
                </a:solidFill>
              </a:rPr>
              <a:t>	float dos,msoffice,foxpro;</a:t>
            </a:r>
          </a:p>
          <a:p>
            <a:pPr eaLnBrk="0" hangingPunct="0"/>
            <a:r>
              <a:rPr lang="en-US" sz="1400" b="1">
                <a:solidFill>
                  <a:srgbClr val="000066"/>
                </a:solidFill>
              </a:rPr>
              <a:t>public:</a:t>
            </a:r>
          </a:p>
          <a:p>
            <a:pPr eaLnBrk="0" hangingPunct="0"/>
            <a:r>
              <a:rPr lang="en-US" sz="1400" b="1">
                <a:solidFill>
                  <a:srgbClr val="000066"/>
                </a:solidFill>
              </a:rPr>
              <a:t>	void pcp_getfees();</a:t>
            </a:r>
          </a:p>
          <a:p>
            <a:pPr eaLnBrk="0" hangingPunct="0"/>
            <a:r>
              <a:rPr lang="en-US" sz="1400" b="1">
                <a:solidFill>
                  <a:srgbClr val="000066"/>
                </a:solidFill>
              </a:rPr>
              <a:t>	void pcp_listfees();</a:t>
            </a:r>
          </a:p>
          <a:p>
            <a:pPr eaLnBrk="0" hangingPunct="0"/>
            <a:r>
              <a:rPr lang="en-US" sz="1400" b="1">
                <a:solidFill>
                  <a:srgbClr val="000066"/>
                </a:solidFill>
              </a:rPr>
              <a:t>};</a:t>
            </a:r>
          </a:p>
          <a:p>
            <a:pPr eaLnBrk="0" hangingPunct="0"/>
            <a:r>
              <a:rPr lang="en-US" sz="1400" b="1">
                <a:solidFill>
                  <a:srgbClr val="000066"/>
                </a:solidFill>
              </a:rPr>
              <a:t>class hdca:public pcp</a:t>
            </a:r>
          </a:p>
          <a:p>
            <a:pPr eaLnBrk="0" hangingPunct="0"/>
            <a:r>
              <a:rPr lang="en-US" sz="1400" b="1">
                <a:solidFill>
                  <a:srgbClr val="000066"/>
                </a:solidFill>
              </a:rPr>
              <a:t>{</a:t>
            </a:r>
          </a:p>
          <a:p>
            <a:pPr eaLnBrk="0" hangingPunct="0"/>
            <a:r>
              <a:rPr lang="en-US" sz="1400" b="1">
                <a:solidFill>
                  <a:srgbClr val="000066"/>
                </a:solidFill>
              </a:rPr>
              <a:t>private:</a:t>
            </a:r>
          </a:p>
          <a:p>
            <a:pPr eaLnBrk="0" hangingPunct="0"/>
            <a:r>
              <a:rPr lang="en-US" sz="1400" b="1">
                <a:solidFill>
                  <a:srgbClr val="000066"/>
                </a:solidFill>
              </a:rPr>
              <a:t>	float unix,c,cpp;</a:t>
            </a:r>
          </a:p>
          <a:p>
            <a:pPr eaLnBrk="0" hangingPunct="0"/>
            <a:r>
              <a:rPr lang="en-US" sz="1400" b="1">
                <a:solidFill>
                  <a:srgbClr val="000066"/>
                </a:solidFill>
              </a:rPr>
              <a:t>public:</a:t>
            </a:r>
          </a:p>
          <a:p>
            <a:pPr eaLnBrk="0" hangingPunct="0"/>
            <a:r>
              <a:rPr lang="en-US" sz="1400" b="1">
                <a:solidFill>
                  <a:srgbClr val="000066"/>
                </a:solidFill>
              </a:rPr>
              <a:t>	void hdca_getfees();</a:t>
            </a:r>
          </a:p>
          <a:p>
            <a:pPr eaLnBrk="0" hangingPunct="0"/>
            <a:r>
              <a:rPr lang="en-US" sz="1400" b="1">
                <a:solidFill>
                  <a:srgbClr val="000066"/>
                </a:solidFill>
              </a:rPr>
              <a:t>	void hdca_listfees();</a:t>
            </a:r>
          </a:p>
          <a:p>
            <a:pPr eaLnBrk="0" hangingPunct="0"/>
            <a:r>
              <a:rPr lang="en-US" sz="1400" b="1">
                <a:solidFill>
                  <a:srgbClr val="000066"/>
                </a:solidFill>
              </a:rPr>
              <a:t>};</a:t>
            </a:r>
          </a:p>
          <a:p>
            <a:pPr eaLnBrk="0" hangingPunct="0"/>
            <a:r>
              <a:rPr lang="en-US" sz="1400" b="1">
                <a:solidFill>
                  <a:srgbClr val="000066"/>
                </a:solidFill>
              </a:rPr>
              <a:t>void pcp::pcp_getfees()</a:t>
            </a:r>
          </a:p>
          <a:p>
            <a:pPr eaLnBrk="0" hangingPunct="0"/>
            <a:r>
              <a:rPr lang="en-US" sz="1400" b="1">
                <a:solidFill>
                  <a:srgbClr val="000066"/>
                </a:solidFill>
              </a:rPr>
              <a:t>{</a:t>
            </a:r>
          </a:p>
          <a:p>
            <a:pPr eaLnBrk="0" hangingPunct="0"/>
            <a:r>
              <a:rPr lang="en-US" sz="1400" b="1">
                <a:solidFill>
                  <a:srgbClr val="000066"/>
                </a:solidFill>
              </a:rPr>
              <a:t>cout&lt;&lt;"Enter the fees amount for ";</a:t>
            </a:r>
          </a:p>
          <a:p>
            <a:pPr eaLnBrk="0" hangingPunct="0"/>
            <a:r>
              <a:rPr lang="en-US" sz="1400" b="1">
                <a:solidFill>
                  <a:srgbClr val="000066"/>
                </a:solidFill>
              </a:rPr>
              <a:t>cin&gt;&gt;dos&gt;&gt;msoffice&gt;&gt;foxpro;</a:t>
            </a:r>
          </a:p>
          <a:p>
            <a:pPr eaLnBrk="0" hangingPunct="0"/>
            <a:r>
              <a:rPr lang="en-US" sz="1400" b="1">
                <a:solidFill>
                  <a:srgbClr val="000066"/>
                </a:solidFill>
              </a:rPr>
              <a:t>}</a:t>
            </a:r>
          </a:p>
          <a:p>
            <a:pPr eaLnBrk="0" hangingPunct="0"/>
            <a:endParaRPr lang="en-US" sz="1400" b="1">
              <a:solidFill>
                <a:srgbClr val="000066"/>
              </a:solidFill>
            </a:endParaRPr>
          </a:p>
          <a:p>
            <a:pPr eaLnBrk="0" hangingPunct="0"/>
            <a:r>
              <a:rPr lang="en-US" sz="1400" b="1">
                <a:solidFill>
                  <a:srgbClr val="000066"/>
                </a:solidFill>
              </a:rPr>
              <a:t>void pcp::pcp_listfees()</a:t>
            </a:r>
          </a:p>
          <a:p>
            <a:pPr eaLnBrk="0" hangingPunct="0"/>
            <a:r>
              <a:rPr lang="en-US" sz="1400" b="1">
                <a:solidFill>
                  <a:srgbClr val="000066"/>
                </a:solidFill>
              </a:rPr>
              <a:t>{</a:t>
            </a:r>
          </a:p>
          <a:p>
            <a:pPr eaLnBrk="0" hangingPunct="0"/>
            <a:r>
              <a:rPr lang="en-US" sz="1400" b="1">
                <a:solidFill>
                  <a:srgbClr val="000066"/>
                </a:solidFill>
              </a:rPr>
              <a:t>cout&lt;&lt;"Dos: "&lt;&lt;dos&lt;&lt;endl;</a:t>
            </a:r>
          </a:p>
          <a:p>
            <a:pPr eaLnBrk="0" hangingPunct="0"/>
            <a:r>
              <a:rPr lang="en-US" sz="1400" b="1">
                <a:solidFill>
                  <a:srgbClr val="000066"/>
                </a:solidFill>
              </a:rPr>
              <a:t>cout&lt;&lt;"Msoffice: "&lt;&lt;msoffice&lt;&lt;endl;</a:t>
            </a:r>
          </a:p>
          <a:p>
            <a:pPr eaLnBrk="0" hangingPunct="0"/>
            <a:r>
              <a:rPr lang="en-US" sz="1400" b="1">
                <a:solidFill>
                  <a:srgbClr val="000066"/>
                </a:solidFill>
              </a:rPr>
              <a:t>cout&lt;&lt;"Foxpro: "&lt;&lt;foxpro&lt;&lt;endl;</a:t>
            </a:r>
          </a:p>
          <a:p>
            <a:pPr eaLnBrk="0" hangingPunct="0"/>
            <a:r>
              <a:rPr lang="en-US" sz="1400" b="1">
                <a:solidFill>
                  <a:srgbClr val="000066"/>
                </a:solidFill>
              </a:rPr>
              <a:t>}</a:t>
            </a:r>
          </a:p>
        </p:txBody>
      </p:sp>
      <p:sp>
        <p:nvSpPr>
          <p:cNvPr id="16387" name="Rectangle 3"/>
          <p:cNvSpPr>
            <a:spLocks noChangeArrowheads="1"/>
          </p:cNvSpPr>
          <p:nvPr/>
        </p:nvSpPr>
        <p:spPr bwMode="auto">
          <a:xfrm>
            <a:off x="4419600" y="304800"/>
            <a:ext cx="4495800" cy="6045200"/>
          </a:xfrm>
          <a:prstGeom prst="rect">
            <a:avLst/>
          </a:prstGeom>
          <a:noFill/>
          <a:ln w="9525">
            <a:solidFill>
              <a:srgbClr val="990099"/>
            </a:solidFill>
            <a:miter lim="800000"/>
            <a:headEnd/>
            <a:tailEnd/>
          </a:ln>
        </p:spPr>
        <p:txBody>
          <a:bodyPr>
            <a:spAutoFit/>
          </a:bodyPr>
          <a:lstStyle/>
          <a:p>
            <a:pPr eaLnBrk="0" hangingPunct="0"/>
            <a:r>
              <a:rPr lang="en-US" sz="1500" b="1">
                <a:solidFill>
                  <a:srgbClr val="000066"/>
                </a:solidFill>
              </a:rPr>
              <a:t>void hdca::hdca_getfees()</a:t>
            </a:r>
          </a:p>
          <a:p>
            <a:pPr eaLnBrk="0" hangingPunct="0"/>
            <a:r>
              <a:rPr lang="en-US" sz="1500" b="1">
                <a:solidFill>
                  <a:srgbClr val="000066"/>
                </a:solidFill>
              </a:rPr>
              <a:t>{</a:t>
            </a:r>
          </a:p>
          <a:p>
            <a:pPr eaLnBrk="0" hangingPunct="0"/>
            <a:r>
              <a:rPr lang="en-US" sz="1500" b="1">
                <a:solidFill>
                  <a:srgbClr val="000066"/>
                </a:solidFill>
              </a:rPr>
              <a:t>cout&lt;&lt;"Enter the fees amount :";</a:t>
            </a:r>
          </a:p>
          <a:p>
            <a:pPr eaLnBrk="0" hangingPunct="0"/>
            <a:r>
              <a:rPr lang="en-US" sz="1500" b="1">
                <a:solidFill>
                  <a:srgbClr val="000066"/>
                </a:solidFill>
              </a:rPr>
              <a:t>cin&gt;&gt;unix&gt;&gt;c&gt;&gt;cpp;</a:t>
            </a:r>
          </a:p>
          <a:p>
            <a:pPr eaLnBrk="0" hangingPunct="0"/>
            <a:r>
              <a:rPr lang="en-US" sz="1500" b="1">
                <a:solidFill>
                  <a:srgbClr val="000066"/>
                </a:solidFill>
              </a:rPr>
              <a:t>}</a:t>
            </a:r>
          </a:p>
          <a:p>
            <a:pPr eaLnBrk="0" hangingPunct="0"/>
            <a:endParaRPr lang="en-US" sz="1500" b="1">
              <a:solidFill>
                <a:srgbClr val="000066"/>
              </a:solidFill>
            </a:endParaRPr>
          </a:p>
          <a:p>
            <a:pPr eaLnBrk="0" hangingPunct="0"/>
            <a:r>
              <a:rPr lang="en-US" sz="1500" b="1">
                <a:solidFill>
                  <a:srgbClr val="000066"/>
                </a:solidFill>
              </a:rPr>
              <a:t>void hdca::hdca_listfees()</a:t>
            </a:r>
          </a:p>
          <a:p>
            <a:pPr eaLnBrk="0" hangingPunct="0"/>
            <a:r>
              <a:rPr lang="en-US" sz="1500" b="1">
                <a:solidFill>
                  <a:srgbClr val="000066"/>
                </a:solidFill>
              </a:rPr>
              <a:t>{</a:t>
            </a:r>
          </a:p>
          <a:p>
            <a:pPr eaLnBrk="0" hangingPunct="0"/>
            <a:r>
              <a:rPr lang="en-US" sz="1500" b="1">
                <a:solidFill>
                  <a:srgbClr val="000066"/>
                </a:solidFill>
              </a:rPr>
              <a:t>cout&lt;&lt;"Unix: "&lt;&lt;unix&lt;&lt;endl;</a:t>
            </a:r>
          </a:p>
          <a:p>
            <a:pPr eaLnBrk="0" hangingPunct="0"/>
            <a:r>
              <a:rPr lang="en-US" sz="1500" b="1">
                <a:solidFill>
                  <a:srgbClr val="000066"/>
                </a:solidFill>
              </a:rPr>
              <a:t>cout&lt;&lt;"C: "&lt;&lt;c&lt;&lt;endl;</a:t>
            </a:r>
          </a:p>
          <a:p>
            <a:pPr eaLnBrk="0" hangingPunct="0"/>
            <a:r>
              <a:rPr lang="en-US" sz="1500" b="1">
                <a:solidFill>
                  <a:srgbClr val="000066"/>
                </a:solidFill>
              </a:rPr>
              <a:t>cout&lt;&lt;"C++: "&lt;&lt;cpp&lt;&lt;endl;</a:t>
            </a:r>
          </a:p>
          <a:p>
            <a:pPr eaLnBrk="0" hangingPunct="0"/>
            <a:r>
              <a:rPr lang="en-US" sz="1500" b="1">
                <a:solidFill>
                  <a:srgbClr val="000066"/>
                </a:solidFill>
              </a:rPr>
              <a:t>}</a:t>
            </a:r>
          </a:p>
          <a:p>
            <a:pPr eaLnBrk="0" hangingPunct="0"/>
            <a:r>
              <a:rPr lang="en-US" sz="1500" b="1">
                <a:solidFill>
                  <a:srgbClr val="000066"/>
                </a:solidFill>
              </a:rPr>
              <a:t>void main()</a:t>
            </a:r>
          </a:p>
          <a:p>
            <a:pPr eaLnBrk="0" hangingPunct="0"/>
            <a:r>
              <a:rPr lang="en-US" sz="1500" b="1">
                <a:solidFill>
                  <a:srgbClr val="000066"/>
                </a:solidFill>
              </a:rPr>
              <a:t>{</a:t>
            </a:r>
          </a:p>
          <a:p>
            <a:pPr eaLnBrk="0" hangingPunct="0"/>
            <a:r>
              <a:rPr lang="en-US" sz="1500" b="1">
                <a:solidFill>
                  <a:srgbClr val="000066"/>
                </a:solidFill>
              </a:rPr>
              <a:t>clrscr();</a:t>
            </a:r>
          </a:p>
          <a:p>
            <a:pPr eaLnBrk="0" hangingPunct="0"/>
            <a:r>
              <a:rPr lang="en-US" sz="1500" b="1">
                <a:solidFill>
                  <a:srgbClr val="000066"/>
                </a:solidFill>
              </a:rPr>
              <a:t>hdca h;</a:t>
            </a:r>
          </a:p>
          <a:p>
            <a:pPr eaLnBrk="0" hangingPunct="0"/>
            <a:r>
              <a:rPr lang="en-US" sz="1500" b="1">
                <a:solidFill>
                  <a:srgbClr val="000066"/>
                </a:solidFill>
              </a:rPr>
              <a:t>cout&lt;&lt;endl&lt;&lt;"Fees detail for PCP"&lt;&lt;endl;</a:t>
            </a:r>
          </a:p>
          <a:p>
            <a:pPr eaLnBrk="0" hangingPunct="0"/>
            <a:r>
              <a:rPr lang="en-US" sz="1500" b="1">
                <a:solidFill>
                  <a:srgbClr val="000066"/>
                </a:solidFill>
              </a:rPr>
              <a:t>h.pcp_getfees();</a:t>
            </a:r>
          </a:p>
          <a:p>
            <a:pPr eaLnBrk="0" hangingPunct="0"/>
            <a:r>
              <a:rPr lang="en-US" sz="1500" b="1">
                <a:solidFill>
                  <a:srgbClr val="000066"/>
                </a:solidFill>
              </a:rPr>
              <a:t>cout&lt;&lt;endl&lt;&lt;"Fees detail for HDCA"&lt;&lt;endl;</a:t>
            </a:r>
          </a:p>
          <a:p>
            <a:pPr eaLnBrk="0" hangingPunct="0"/>
            <a:r>
              <a:rPr lang="en-US" sz="1500" b="1">
                <a:solidFill>
                  <a:srgbClr val="000066"/>
                </a:solidFill>
              </a:rPr>
              <a:t>h.hdca_getfees();</a:t>
            </a:r>
          </a:p>
          <a:p>
            <a:pPr eaLnBrk="0" hangingPunct="0"/>
            <a:r>
              <a:rPr lang="en-US" sz="1500" b="1">
                <a:solidFill>
                  <a:srgbClr val="000066"/>
                </a:solidFill>
              </a:rPr>
              <a:t>cout&lt;&lt;endl&lt;&lt;"Fees list for PCP"&lt;&lt;endl;</a:t>
            </a:r>
          </a:p>
          <a:p>
            <a:pPr eaLnBrk="0" hangingPunct="0"/>
            <a:r>
              <a:rPr lang="en-US" sz="1500" b="1">
                <a:solidFill>
                  <a:srgbClr val="000066"/>
                </a:solidFill>
              </a:rPr>
              <a:t>h.pcp_listfees();</a:t>
            </a:r>
          </a:p>
          <a:p>
            <a:pPr eaLnBrk="0" hangingPunct="0"/>
            <a:r>
              <a:rPr lang="en-US" sz="1500" b="1">
                <a:solidFill>
                  <a:srgbClr val="000066"/>
                </a:solidFill>
              </a:rPr>
              <a:t>cout&lt;&lt;endl&lt;&lt;"Fees list for HDCA"&lt;&lt;endl;</a:t>
            </a:r>
          </a:p>
          <a:p>
            <a:pPr eaLnBrk="0" hangingPunct="0"/>
            <a:r>
              <a:rPr lang="en-US" sz="1500" b="1">
                <a:solidFill>
                  <a:srgbClr val="000066"/>
                </a:solidFill>
              </a:rPr>
              <a:t>h.hdca_listfees();</a:t>
            </a:r>
          </a:p>
          <a:p>
            <a:pPr eaLnBrk="0" hangingPunct="0"/>
            <a:r>
              <a:rPr lang="en-US" sz="1500" b="1">
                <a:solidFill>
                  <a:srgbClr val="000066"/>
                </a:solidFill>
              </a:rPr>
              <a:t>getch();</a:t>
            </a:r>
          </a:p>
          <a:p>
            <a:pPr eaLnBrk="0" hangingPunct="0"/>
            <a:r>
              <a:rPr lang="en-US" sz="1500" b="1">
                <a:solidFill>
                  <a:srgbClr val="000066"/>
                </a:solidFill>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0"/>
                                  </p:stCondLst>
                                  <p:childTnLst>
                                    <p:set>
                                      <p:cBhvr>
                                        <p:cTn id="6" dur="1" fill="hold">
                                          <p:stCondLst>
                                            <p:cond delay="0"/>
                                          </p:stCondLst>
                                        </p:cTn>
                                        <p:tgtEl>
                                          <p:spTgt spid="16386"/>
                                        </p:tgtEl>
                                        <p:attrNameLst>
                                          <p:attrName>style.visibility</p:attrName>
                                        </p:attrNameLst>
                                      </p:cBhvr>
                                      <p:to>
                                        <p:strVal val="visible"/>
                                      </p:to>
                                    </p:set>
                                    <p:anim calcmode="lin" valueType="num">
                                      <p:cBhvr>
                                        <p:cTn id="7" dur="500" fill="hold"/>
                                        <p:tgtEl>
                                          <p:spTgt spid="16386"/>
                                        </p:tgtEl>
                                        <p:attrNameLst>
                                          <p:attrName>ppt_w</p:attrName>
                                        </p:attrNameLst>
                                      </p:cBhvr>
                                      <p:tavLst>
                                        <p:tav tm="0">
                                          <p:val>
                                            <p:fltVal val="0"/>
                                          </p:val>
                                        </p:tav>
                                        <p:tav tm="100000">
                                          <p:val>
                                            <p:strVal val="#ppt_w"/>
                                          </p:val>
                                        </p:tav>
                                      </p:tavLst>
                                    </p:anim>
                                    <p:anim calcmode="lin" valueType="num">
                                      <p:cBhvr>
                                        <p:cTn id="8" dur="500" fill="hold"/>
                                        <p:tgtEl>
                                          <p:spTgt spid="16386"/>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16387"/>
                                        </p:tgtEl>
                                        <p:attrNameLst>
                                          <p:attrName>style.visibility</p:attrName>
                                        </p:attrNameLst>
                                      </p:cBhvr>
                                      <p:to>
                                        <p:strVal val="visible"/>
                                      </p:to>
                                    </p:set>
                                    <p:anim calcmode="lin" valueType="num">
                                      <p:cBhvr>
                                        <p:cTn id="11" dur="500" fill="hold"/>
                                        <p:tgtEl>
                                          <p:spTgt spid="16387"/>
                                        </p:tgtEl>
                                        <p:attrNameLst>
                                          <p:attrName>ppt_w</p:attrName>
                                        </p:attrNameLst>
                                      </p:cBhvr>
                                      <p:tavLst>
                                        <p:tav tm="0">
                                          <p:val>
                                            <p:fltVal val="0"/>
                                          </p:val>
                                        </p:tav>
                                        <p:tav tm="100000">
                                          <p:val>
                                            <p:strVal val="#ppt_w"/>
                                          </p:val>
                                        </p:tav>
                                      </p:tavLst>
                                    </p:anim>
                                    <p:anim calcmode="lin" valueType="num">
                                      <p:cBhvr>
                                        <p:cTn id="12" dur="500" fill="hold"/>
                                        <p:tgtEl>
                                          <p:spTgt spid="1638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6" grpId="0" animBg="1"/>
      <p:bldP spid="16387" grpId="0" animBg="1"/>
    </p:bld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ChangeArrowheads="1"/>
          </p:cNvSpPr>
          <p:nvPr/>
        </p:nvSpPr>
        <p:spPr bwMode="auto">
          <a:xfrm>
            <a:off x="381000" y="1727200"/>
            <a:ext cx="8458200" cy="4124325"/>
          </a:xfrm>
          <a:prstGeom prst="rect">
            <a:avLst/>
          </a:prstGeom>
          <a:noFill/>
          <a:ln w="9525">
            <a:solidFill>
              <a:srgbClr val="FF66CC"/>
            </a:solidFill>
            <a:miter lim="800000"/>
            <a:headEnd/>
            <a:tailEnd/>
          </a:ln>
        </p:spPr>
        <p:txBody>
          <a:bodyPr>
            <a:spAutoFit/>
          </a:bodyPr>
          <a:lstStyle/>
          <a:p>
            <a:pPr eaLnBrk="0" hangingPunct="0"/>
            <a:r>
              <a:rPr lang="en-US" sz="2000" b="1">
                <a:solidFill>
                  <a:srgbClr val="000066"/>
                </a:solidFill>
              </a:rPr>
              <a:t>It is the process of creating new class from more than one base classes.</a:t>
            </a:r>
          </a:p>
          <a:p>
            <a:pPr eaLnBrk="0" hangingPunct="0"/>
            <a:r>
              <a:rPr lang="en-US" sz="2400" b="1" u="sng">
                <a:solidFill>
                  <a:srgbClr val="000066"/>
                </a:solidFill>
              </a:rPr>
              <a:t>Syntax :</a:t>
            </a:r>
          </a:p>
          <a:p>
            <a:pPr eaLnBrk="0" hangingPunct="0"/>
            <a:r>
              <a:rPr lang="en-US" sz="2000" b="1">
                <a:solidFill>
                  <a:srgbClr val="000066"/>
                </a:solidFill>
              </a:rPr>
              <a:t> class  &lt;derived class &gt;:&lt;access specifier&gt;          </a:t>
            </a:r>
          </a:p>
          <a:p>
            <a:pPr eaLnBrk="0" hangingPunct="0"/>
            <a:r>
              <a:rPr lang="en-US" sz="2000" b="1">
                <a:solidFill>
                  <a:srgbClr val="000066"/>
                </a:solidFill>
              </a:rPr>
              <a:t>         base_class1,&lt;access specifier&gt; base_class2...</a:t>
            </a:r>
          </a:p>
          <a:p>
            <a:pPr eaLnBrk="0" hangingPunct="0"/>
            <a:r>
              <a:rPr lang="en-US" sz="2000" b="1">
                <a:solidFill>
                  <a:srgbClr val="000066"/>
                </a:solidFill>
              </a:rPr>
              <a:t>{</a:t>
            </a:r>
          </a:p>
          <a:p>
            <a:pPr eaLnBrk="0" hangingPunct="0"/>
            <a:r>
              <a:rPr lang="en-US" sz="2000" b="1">
                <a:solidFill>
                  <a:srgbClr val="000066"/>
                </a:solidFill>
              </a:rPr>
              <a:t>private :</a:t>
            </a:r>
          </a:p>
          <a:p>
            <a:pPr eaLnBrk="0" hangingPunct="0"/>
            <a:r>
              <a:rPr lang="en-US" sz="2000" b="1">
                <a:solidFill>
                  <a:srgbClr val="000066"/>
                </a:solidFill>
              </a:rPr>
              <a:t>         // members;</a:t>
            </a:r>
          </a:p>
          <a:p>
            <a:pPr eaLnBrk="0" hangingPunct="0"/>
            <a:r>
              <a:rPr lang="en-US" sz="2000" b="1">
                <a:solidFill>
                  <a:srgbClr val="000066"/>
                </a:solidFill>
              </a:rPr>
              <a:t>protected :</a:t>
            </a:r>
          </a:p>
          <a:p>
            <a:pPr eaLnBrk="0" hangingPunct="0"/>
            <a:r>
              <a:rPr lang="en-US" sz="2000" b="1">
                <a:solidFill>
                  <a:srgbClr val="000066"/>
                </a:solidFill>
              </a:rPr>
              <a:t>         // members;</a:t>
            </a:r>
          </a:p>
          <a:p>
            <a:pPr eaLnBrk="0" hangingPunct="0"/>
            <a:r>
              <a:rPr lang="en-US" sz="2000" b="1">
                <a:solidFill>
                  <a:srgbClr val="000066"/>
                </a:solidFill>
              </a:rPr>
              <a:t>public :</a:t>
            </a:r>
          </a:p>
          <a:p>
            <a:pPr eaLnBrk="0" hangingPunct="0"/>
            <a:r>
              <a:rPr lang="en-US" sz="2000" b="1">
                <a:solidFill>
                  <a:srgbClr val="000066"/>
                </a:solidFill>
              </a:rPr>
              <a:t>	//members;</a:t>
            </a:r>
          </a:p>
          <a:p>
            <a:pPr eaLnBrk="0" hangingPunct="0"/>
            <a:r>
              <a:rPr lang="en-US" sz="2000" b="1">
                <a:solidFill>
                  <a:srgbClr val="000066"/>
                </a:solidFill>
              </a:rPr>
              <a:t>}; </a:t>
            </a:r>
          </a:p>
        </p:txBody>
      </p:sp>
      <p:sp>
        <p:nvSpPr>
          <p:cNvPr id="15363" name="WordArt 3"/>
          <p:cNvSpPr>
            <a:spLocks noChangeArrowheads="1" noChangeShapeType="1" noTextEdit="1"/>
          </p:cNvSpPr>
          <p:nvPr/>
        </p:nvSpPr>
        <p:spPr bwMode="auto">
          <a:xfrm>
            <a:off x="609600" y="381000"/>
            <a:ext cx="7239000" cy="1371600"/>
          </a:xfrm>
          <a:prstGeom prst="rect">
            <a:avLst/>
          </a:prstGeom>
        </p:spPr>
        <p:txBody>
          <a:bodyPr wrap="none" fromWordArt="1">
            <a:prstTxWarp prst="textDeflateInflate">
              <a:avLst>
                <a:gd name="adj" fmla="val 28028"/>
              </a:avLst>
            </a:prstTxWarp>
          </a:bodyPr>
          <a:lstStyle/>
          <a:p>
            <a:pPr algn="ctr"/>
            <a:r>
              <a:rPr lang="en-IN"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a:rPr>
              <a:t>MULTIPLE INHERITANCE </a:t>
            </a:r>
          </a:p>
        </p:txBody>
      </p:sp>
    </p:spTree>
  </p:cSld>
  <p:clrMapOvr>
    <a:masterClrMapping/>
  </p:clrMapOvr>
  <p:timing>
    <p:tnLst>
      <p:par>
        <p:cTn id="1" dur="indefinite" restart="never" nodeType="tmRoot"/>
      </p:par>
    </p:tn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0" y="0"/>
            <a:ext cx="4572000" cy="6416675"/>
          </a:xfrm>
          <a:prstGeom prst="rect">
            <a:avLst/>
          </a:prstGeom>
          <a:noFill/>
          <a:ln w="9525">
            <a:solidFill>
              <a:srgbClr val="FF66CC"/>
            </a:solidFill>
            <a:miter lim="800000"/>
            <a:headEnd/>
            <a:tailEnd/>
          </a:ln>
        </p:spPr>
        <p:txBody>
          <a:bodyPr>
            <a:spAutoFit/>
          </a:bodyPr>
          <a:lstStyle/>
          <a:p>
            <a:pPr eaLnBrk="0" hangingPunct="0">
              <a:lnSpc>
                <a:spcPct val="115000"/>
              </a:lnSpc>
            </a:pPr>
            <a:r>
              <a:rPr lang="en-US" sz="2000" b="1">
                <a:solidFill>
                  <a:srgbClr val="000066"/>
                </a:solidFill>
              </a:rPr>
              <a:t>#include&lt;iostream.h&gt;</a:t>
            </a:r>
          </a:p>
          <a:p>
            <a:pPr eaLnBrk="0" hangingPunct="0">
              <a:lnSpc>
                <a:spcPct val="115000"/>
              </a:lnSpc>
            </a:pPr>
            <a:r>
              <a:rPr lang="en-US" sz="2000" b="1">
                <a:solidFill>
                  <a:srgbClr val="000066"/>
                </a:solidFill>
              </a:rPr>
              <a:t>class base1</a:t>
            </a:r>
          </a:p>
          <a:p>
            <a:pPr eaLnBrk="0" hangingPunct="0">
              <a:lnSpc>
                <a:spcPct val="115000"/>
              </a:lnSpc>
            </a:pPr>
            <a:r>
              <a:rPr lang="en-US" sz="2000" b="1">
                <a:solidFill>
                  <a:srgbClr val="000066"/>
                </a:solidFill>
              </a:rPr>
              <a:t>{</a:t>
            </a:r>
          </a:p>
          <a:p>
            <a:pPr eaLnBrk="0" hangingPunct="0">
              <a:lnSpc>
                <a:spcPct val="115000"/>
              </a:lnSpc>
            </a:pPr>
            <a:r>
              <a:rPr lang="en-US" sz="2000" b="1">
                <a:solidFill>
                  <a:srgbClr val="000066"/>
                </a:solidFill>
              </a:rPr>
              <a:t>protected :</a:t>
            </a:r>
          </a:p>
          <a:p>
            <a:pPr eaLnBrk="0" hangingPunct="0">
              <a:lnSpc>
                <a:spcPct val="115000"/>
              </a:lnSpc>
            </a:pPr>
            <a:r>
              <a:rPr lang="en-US" sz="2000" b="1">
                <a:solidFill>
                  <a:srgbClr val="000066"/>
                </a:solidFill>
              </a:rPr>
              <a:t>	int var1;</a:t>
            </a:r>
          </a:p>
          <a:p>
            <a:pPr eaLnBrk="0" hangingPunct="0">
              <a:lnSpc>
                <a:spcPct val="115000"/>
              </a:lnSpc>
            </a:pPr>
            <a:r>
              <a:rPr lang="en-US" sz="2000" b="1">
                <a:solidFill>
                  <a:srgbClr val="000066"/>
                </a:solidFill>
              </a:rPr>
              <a:t>public :</a:t>
            </a:r>
          </a:p>
          <a:p>
            <a:pPr eaLnBrk="0" hangingPunct="0">
              <a:lnSpc>
                <a:spcPct val="115000"/>
              </a:lnSpc>
            </a:pPr>
            <a:r>
              <a:rPr lang="en-US" sz="2000" b="1">
                <a:solidFill>
                  <a:srgbClr val="000066"/>
                </a:solidFill>
              </a:rPr>
              <a:t>  void disp_base1()  {</a:t>
            </a:r>
          </a:p>
          <a:p>
            <a:pPr eaLnBrk="0" hangingPunct="0">
              <a:lnSpc>
                <a:spcPct val="115000"/>
              </a:lnSpc>
            </a:pPr>
            <a:r>
              <a:rPr lang="en-US" sz="2000" b="1">
                <a:solidFill>
                  <a:srgbClr val="000066"/>
                </a:solidFill>
              </a:rPr>
              <a:t>cout&lt;&lt;"var1 "&lt;&lt;var1&lt;&lt;endl;</a:t>
            </a:r>
          </a:p>
          <a:p>
            <a:pPr eaLnBrk="0" hangingPunct="0">
              <a:lnSpc>
                <a:spcPct val="115000"/>
              </a:lnSpc>
            </a:pPr>
            <a:r>
              <a:rPr lang="en-US" sz="2000" b="1">
                <a:solidFill>
                  <a:srgbClr val="000066"/>
                </a:solidFill>
              </a:rPr>
              <a:t>}};</a:t>
            </a:r>
          </a:p>
          <a:p>
            <a:pPr eaLnBrk="0" hangingPunct="0">
              <a:lnSpc>
                <a:spcPct val="115000"/>
              </a:lnSpc>
            </a:pPr>
            <a:r>
              <a:rPr lang="en-US" sz="2000" b="1">
                <a:solidFill>
                  <a:srgbClr val="000066"/>
                </a:solidFill>
              </a:rPr>
              <a:t>class base2</a:t>
            </a:r>
          </a:p>
          <a:p>
            <a:pPr eaLnBrk="0" hangingPunct="0">
              <a:lnSpc>
                <a:spcPct val="115000"/>
              </a:lnSpc>
            </a:pPr>
            <a:r>
              <a:rPr lang="en-US" sz="2000" b="1">
                <a:solidFill>
                  <a:srgbClr val="000066"/>
                </a:solidFill>
              </a:rPr>
              <a:t>{</a:t>
            </a:r>
          </a:p>
          <a:p>
            <a:pPr eaLnBrk="0" hangingPunct="0">
              <a:lnSpc>
                <a:spcPct val="115000"/>
              </a:lnSpc>
            </a:pPr>
            <a:r>
              <a:rPr lang="en-US" sz="2000" b="1">
                <a:solidFill>
                  <a:srgbClr val="000066"/>
                </a:solidFill>
              </a:rPr>
              <a:t>protected :</a:t>
            </a:r>
          </a:p>
          <a:p>
            <a:pPr eaLnBrk="0" hangingPunct="0">
              <a:lnSpc>
                <a:spcPct val="115000"/>
              </a:lnSpc>
            </a:pPr>
            <a:r>
              <a:rPr lang="en-US" sz="2000" b="1">
                <a:solidFill>
                  <a:srgbClr val="000066"/>
                </a:solidFill>
              </a:rPr>
              <a:t>	int var2;</a:t>
            </a:r>
          </a:p>
          <a:p>
            <a:pPr eaLnBrk="0" hangingPunct="0">
              <a:lnSpc>
                <a:spcPct val="115000"/>
              </a:lnSpc>
            </a:pPr>
            <a:r>
              <a:rPr lang="en-US" sz="2000" b="1">
                <a:solidFill>
                  <a:srgbClr val="000066"/>
                </a:solidFill>
              </a:rPr>
              <a:t>public :</a:t>
            </a:r>
          </a:p>
          <a:p>
            <a:pPr eaLnBrk="0" hangingPunct="0">
              <a:lnSpc>
                <a:spcPct val="115000"/>
              </a:lnSpc>
            </a:pPr>
            <a:r>
              <a:rPr lang="en-US" sz="2000" b="1">
                <a:solidFill>
                  <a:srgbClr val="000066"/>
                </a:solidFill>
              </a:rPr>
              <a:t>void disp_base2()</a:t>
            </a:r>
          </a:p>
          <a:p>
            <a:pPr eaLnBrk="0" hangingPunct="0">
              <a:lnSpc>
                <a:spcPct val="115000"/>
              </a:lnSpc>
            </a:pPr>
            <a:r>
              <a:rPr lang="en-US" sz="2000" b="1">
                <a:solidFill>
                  <a:srgbClr val="000066"/>
                </a:solidFill>
              </a:rPr>
              <a:t>{</a:t>
            </a:r>
          </a:p>
          <a:p>
            <a:pPr eaLnBrk="0" hangingPunct="0">
              <a:lnSpc>
                <a:spcPct val="115000"/>
              </a:lnSpc>
            </a:pPr>
            <a:r>
              <a:rPr lang="en-US" sz="2000" b="1">
                <a:solidFill>
                  <a:srgbClr val="000066"/>
                </a:solidFill>
              </a:rPr>
              <a:t>cout&lt;&lt;"var2 is"&lt;&lt;var2&lt;&lt;endl;</a:t>
            </a:r>
          </a:p>
          <a:p>
            <a:pPr eaLnBrk="0" hangingPunct="0">
              <a:lnSpc>
                <a:spcPct val="115000"/>
              </a:lnSpc>
            </a:pPr>
            <a:r>
              <a:rPr lang="en-US" sz="2000" b="1">
                <a:solidFill>
                  <a:srgbClr val="000066"/>
                </a:solidFill>
              </a:rPr>
              <a:t>}};</a:t>
            </a:r>
          </a:p>
        </p:txBody>
      </p:sp>
      <p:sp>
        <p:nvSpPr>
          <p:cNvPr id="16387" name="Rectangle 3"/>
          <p:cNvSpPr>
            <a:spLocks noChangeArrowheads="1"/>
          </p:cNvSpPr>
          <p:nvPr/>
        </p:nvSpPr>
        <p:spPr bwMode="auto">
          <a:xfrm>
            <a:off x="4572000" y="0"/>
            <a:ext cx="4572000" cy="5754688"/>
          </a:xfrm>
          <a:prstGeom prst="rect">
            <a:avLst/>
          </a:prstGeom>
          <a:noFill/>
          <a:ln w="9525">
            <a:solidFill>
              <a:srgbClr val="FF66CC"/>
            </a:solidFill>
            <a:miter lim="800000"/>
            <a:headEnd/>
            <a:tailEnd/>
          </a:ln>
        </p:spPr>
        <p:txBody>
          <a:bodyPr>
            <a:spAutoFit/>
          </a:bodyPr>
          <a:lstStyle/>
          <a:p>
            <a:pPr eaLnBrk="0" hangingPunct="0">
              <a:lnSpc>
                <a:spcPct val="115000"/>
              </a:lnSpc>
            </a:pPr>
            <a:r>
              <a:rPr lang="en-US" sz="2000" b="1">
                <a:solidFill>
                  <a:srgbClr val="000066"/>
                </a:solidFill>
              </a:rPr>
              <a:t>class deri:public base1,public base2</a:t>
            </a:r>
          </a:p>
          <a:p>
            <a:pPr eaLnBrk="0" hangingPunct="0">
              <a:lnSpc>
                <a:spcPct val="115000"/>
              </a:lnSpc>
            </a:pPr>
            <a:r>
              <a:rPr lang="en-US" sz="2000" b="1">
                <a:solidFill>
                  <a:srgbClr val="000066"/>
                </a:solidFill>
              </a:rPr>
              <a:t>{</a:t>
            </a:r>
          </a:p>
          <a:p>
            <a:pPr eaLnBrk="0" hangingPunct="0">
              <a:lnSpc>
                <a:spcPct val="115000"/>
              </a:lnSpc>
            </a:pPr>
            <a:r>
              <a:rPr lang="en-US" sz="2000" b="1">
                <a:solidFill>
                  <a:srgbClr val="000066"/>
                </a:solidFill>
              </a:rPr>
              <a:t>private:</a:t>
            </a:r>
          </a:p>
          <a:p>
            <a:pPr eaLnBrk="0" hangingPunct="0">
              <a:lnSpc>
                <a:spcPct val="115000"/>
              </a:lnSpc>
            </a:pPr>
            <a:r>
              <a:rPr lang="en-US" sz="2000" b="1">
                <a:solidFill>
                  <a:srgbClr val="000066"/>
                </a:solidFill>
              </a:rPr>
              <a:t>  int var3;</a:t>
            </a:r>
          </a:p>
          <a:p>
            <a:pPr eaLnBrk="0" hangingPunct="0">
              <a:lnSpc>
                <a:spcPct val="115000"/>
              </a:lnSpc>
            </a:pPr>
            <a:r>
              <a:rPr lang="en-US" sz="2000" b="1">
                <a:solidFill>
                  <a:srgbClr val="000066"/>
                </a:solidFill>
              </a:rPr>
              <a:t>  public :</a:t>
            </a:r>
          </a:p>
          <a:p>
            <a:pPr eaLnBrk="0" hangingPunct="0">
              <a:lnSpc>
                <a:spcPct val="115000"/>
              </a:lnSpc>
            </a:pPr>
            <a:r>
              <a:rPr lang="en-US" sz="2000" b="1">
                <a:solidFill>
                  <a:srgbClr val="000066"/>
                </a:solidFill>
              </a:rPr>
              <a:t>     deri(int a,int b,int c)</a:t>
            </a:r>
          </a:p>
          <a:p>
            <a:pPr eaLnBrk="0" hangingPunct="0">
              <a:lnSpc>
                <a:spcPct val="115000"/>
              </a:lnSpc>
            </a:pPr>
            <a:r>
              <a:rPr lang="en-US" sz="2000" b="1">
                <a:solidFill>
                  <a:srgbClr val="000066"/>
                </a:solidFill>
              </a:rPr>
              <a:t>     {</a:t>
            </a:r>
          </a:p>
          <a:p>
            <a:pPr eaLnBrk="0" hangingPunct="0">
              <a:lnSpc>
                <a:spcPct val="115000"/>
              </a:lnSpc>
            </a:pPr>
            <a:r>
              <a:rPr lang="en-US" sz="2000" b="1">
                <a:solidFill>
                  <a:srgbClr val="000066"/>
                </a:solidFill>
              </a:rPr>
              <a:t>     var1=a;</a:t>
            </a:r>
          </a:p>
          <a:p>
            <a:pPr eaLnBrk="0" hangingPunct="0">
              <a:lnSpc>
                <a:spcPct val="115000"/>
              </a:lnSpc>
            </a:pPr>
            <a:r>
              <a:rPr lang="en-US" sz="2000" b="1">
                <a:solidFill>
                  <a:srgbClr val="000066"/>
                </a:solidFill>
              </a:rPr>
              <a:t>     var2=b;</a:t>
            </a:r>
          </a:p>
          <a:p>
            <a:pPr eaLnBrk="0" hangingPunct="0">
              <a:lnSpc>
                <a:spcPct val="115000"/>
              </a:lnSpc>
            </a:pPr>
            <a:r>
              <a:rPr lang="en-US" sz="2000" b="1">
                <a:solidFill>
                  <a:srgbClr val="000066"/>
                </a:solidFill>
              </a:rPr>
              <a:t>     var3=c;</a:t>
            </a:r>
          </a:p>
          <a:p>
            <a:pPr eaLnBrk="0" hangingPunct="0">
              <a:lnSpc>
                <a:spcPct val="115000"/>
              </a:lnSpc>
            </a:pPr>
            <a:r>
              <a:rPr lang="en-US" sz="2000" b="1">
                <a:solidFill>
                  <a:srgbClr val="000066"/>
                </a:solidFill>
              </a:rPr>
              <a:t>     }</a:t>
            </a:r>
          </a:p>
          <a:p>
            <a:pPr eaLnBrk="0" hangingPunct="0">
              <a:lnSpc>
                <a:spcPct val="115000"/>
              </a:lnSpc>
            </a:pPr>
            <a:r>
              <a:rPr lang="en-US" sz="2000" b="1">
                <a:solidFill>
                  <a:srgbClr val="000066"/>
                </a:solidFill>
              </a:rPr>
              <a:t>     void disp_me()</a:t>
            </a:r>
          </a:p>
          <a:p>
            <a:pPr eaLnBrk="0" hangingPunct="0">
              <a:lnSpc>
                <a:spcPct val="115000"/>
              </a:lnSpc>
            </a:pPr>
            <a:r>
              <a:rPr lang="en-US" sz="2000" b="1">
                <a:solidFill>
                  <a:srgbClr val="000066"/>
                </a:solidFill>
              </a:rPr>
              <a:t>     {</a:t>
            </a:r>
          </a:p>
          <a:p>
            <a:pPr eaLnBrk="0" hangingPunct="0">
              <a:lnSpc>
                <a:spcPct val="115000"/>
              </a:lnSpc>
            </a:pPr>
            <a:r>
              <a:rPr lang="en-US" sz="2000" b="1">
                <a:solidFill>
                  <a:srgbClr val="000066"/>
                </a:solidFill>
              </a:rPr>
              <a:t>     cout&lt;&lt;"var3 is"&lt;&lt;var3;</a:t>
            </a:r>
          </a:p>
          <a:p>
            <a:pPr eaLnBrk="0" hangingPunct="0">
              <a:lnSpc>
                <a:spcPct val="115000"/>
              </a:lnSpc>
            </a:pPr>
            <a:r>
              <a:rPr lang="en-US" sz="2000" b="1">
                <a:solidFill>
                  <a:srgbClr val="000066"/>
                </a:solidFill>
              </a:rPr>
              <a:t>     }  };</a:t>
            </a:r>
          </a:p>
        </p:txBody>
      </p:sp>
    </p:spTree>
  </p:cSld>
  <p:clrMapOvr>
    <a:masterClrMapping/>
  </p:clrMapOvr>
  <p:timing>
    <p:tnLst>
      <p:par>
        <p:cTn id="1" dur="indefinite" restart="never" nodeType="tmRoot"/>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ChangeArrowheads="1"/>
          </p:cNvSpPr>
          <p:nvPr/>
        </p:nvSpPr>
        <p:spPr bwMode="auto">
          <a:xfrm>
            <a:off x="0" y="0"/>
            <a:ext cx="4572000" cy="3387725"/>
          </a:xfrm>
          <a:prstGeom prst="rect">
            <a:avLst/>
          </a:prstGeom>
          <a:noFill/>
          <a:ln w="9525">
            <a:solidFill>
              <a:srgbClr val="FF66CC"/>
            </a:solidFill>
            <a:miter lim="800000"/>
            <a:headEnd/>
            <a:tailEnd/>
          </a:ln>
        </p:spPr>
        <p:txBody>
          <a:bodyPr>
            <a:spAutoFit/>
          </a:bodyPr>
          <a:lstStyle/>
          <a:p>
            <a:pPr eaLnBrk="0" hangingPunct="0"/>
            <a:r>
              <a:rPr lang="en-US" sz="2400" b="1">
                <a:solidFill>
                  <a:srgbClr val="000066"/>
                </a:solidFill>
              </a:rPr>
              <a:t>void main()</a:t>
            </a:r>
          </a:p>
          <a:p>
            <a:pPr eaLnBrk="0" hangingPunct="0"/>
            <a:r>
              <a:rPr lang="en-US" sz="2400" b="1">
                <a:solidFill>
                  <a:srgbClr val="000066"/>
                </a:solidFill>
              </a:rPr>
              <a:t>{</a:t>
            </a:r>
          </a:p>
          <a:p>
            <a:pPr eaLnBrk="0" hangingPunct="0"/>
            <a:r>
              <a:rPr lang="en-US" sz="2400" b="1">
                <a:solidFill>
                  <a:srgbClr val="000066"/>
                </a:solidFill>
              </a:rPr>
              <a:t>deri d(10,20,30);</a:t>
            </a:r>
          </a:p>
          <a:p>
            <a:pPr eaLnBrk="0" hangingPunct="0"/>
            <a:r>
              <a:rPr lang="en-US" sz="2400" b="1">
                <a:solidFill>
                  <a:srgbClr val="000066"/>
                </a:solidFill>
              </a:rPr>
              <a:t>clrscr();</a:t>
            </a:r>
          </a:p>
          <a:p>
            <a:pPr eaLnBrk="0" hangingPunct="0"/>
            <a:r>
              <a:rPr lang="en-US" sz="2400" b="1">
                <a:solidFill>
                  <a:srgbClr val="000066"/>
                </a:solidFill>
              </a:rPr>
              <a:t>d.disp_base1();</a:t>
            </a:r>
          </a:p>
          <a:p>
            <a:pPr eaLnBrk="0" hangingPunct="0"/>
            <a:r>
              <a:rPr lang="en-US" sz="2400" b="1">
                <a:solidFill>
                  <a:srgbClr val="000066"/>
                </a:solidFill>
              </a:rPr>
              <a:t>d.disp_base2();</a:t>
            </a:r>
          </a:p>
          <a:p>
            <a:pPr eaLnBrk="0" hangingPunct="0"/>
            <a:r>
              <a:rPr lang="en-US" sz="2400" b="1">
                <a:solidFill>
                  <a:srgbClr val="000066"/>
                </a:solidFill>
              </a:rPr>
              <a:t>d.disp_me();</a:t>
            </a:r>
          </a:p>
          <a:p>
            <a:pPr eaLnBrk="0" hangingPunct="0"/>
            <a:r>
              <a:rPr lang="en-US" sz="2400" b="1">
                <a:solidFill>
                  <a:srgbClr val="000066"/>
                </a:solidFill>
              </a:rPr>
              <a:t>getch();</a:t>
            </a:r>
          </a:p>
          <a:p>
            <a:pPr eaLnBrk="0" hangingPunct="0"/>
            <a:r>
              <a:rPr lang="en-US" sz="2400" b="1">
                <a:solidFill>
                  <a:srgbClr val="000066"/>
                </a:solidFill>
              </a:rPr>
              <a:t>}</a:t>
            </a:r>
          </a:p>
        </p:txBody>
      </p:sp>
    </p:spTree>
  </p:cSld>
  <p:clrMapOvr>
    <a:masterClrMapping/>
  </p:clrMapOvr>
  <p:timing>
    <p:tnLst>
      <p:par>
        <p:cTn id="1" dur="indefinite" restart="never" nodeType="tmRoot"/>
      </p:par>
    </p:tn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Footer Placeholder 2"/>
          <p:cNvSpPr>
            <a:spLocks noGrp="1"/>
          </p:cNvSpPr>
          <p:nvPr>
            <p:ph type="ftr" sz="quarter" idx="11"/>
          </p:nvPr>
        </p:nvSpPr>
        <p:spPr>
          <a:noFill/>
        </p:spPr>
        <p:txBody>
          <a:bodyPr/>
          <a:lstStyle/>
          <a:p>
            <a:r>
              <a:rPr lang="en-US" smtClean="0">
                <a:latin typeface="Arial" pitchFamily="34" charset="0"/>
              </a:rPr>
              <a:t>CSC COMPUTER EDUCATION, Kodungaiyur,Ch-118</a:t>
            </a:r>
          </a:p>
        </p:txBody>
      </p:sp>
      <p:sp>
        <p:nvSpPr>
          <p:cNvPr id="20482" name="Rectangle 2"/>
          <p:cNvSpPr>
            <a:spLocks noChangeArrowheads="1"/>
          </p:cNvSpPr>
          <p:nvPr/>
        </p:nvSpPr>
        <p:spPr bwMode="auto">
          <a:xfrm>
            <a:off x="42863" y="381000"/>
            <a:ext cx="4419600" cy="5784850"/>
          </a:xfrm>
          <a:prstGeom prst="rect">
            <a:avLst/>
          </a:prstGeom>
          <a:noFill/>
          <a:ln w="9525">
            <a:solidFill>
              <a:srgbClr val="990099"/>
            </a:solidFill>
            <a:miter lim="800000"/>
            <a:headEnd/>
            <a:tailEnd/>
          </a:ln>
        </p:spPr>
        <p:txBody>
          <a:bodyPr>
            <a:spAutoFit/>
          </a:bodyPr>
          <a:lstStyle/>
          <a:p>
            <a:pPr eaLnBrk="0" hangingPunct="0"/>
            <a:r>
              <a:rPr lang="en-US" b="1">
                <a:solidFill>
                  <a:srgbClr val="000066"/>
                </a:solidFill>
                <a:latin typeface="Arial Black" pitchFamily="34" charset="0"/>
              </a:rPr>
              <a:t>AMBIGUITY IN MULTIPLE INHERITANCE</a:t>
            </a:r>
          </a:p>
          <a:p>
            <a:pPr eaLnBrk="0" hangingPunct="0"/>
            <a:r>
              <a:rPr lang="en-US" sz="1600" b="1">
                <a:solidFill>
                  <a:srgbClr val="000066"/>
                </a:solidFill>
              </a:rPr>
              <a:t>#include&lt;iostream.h&gt;</a:t>
            </a:r>
          </a:p>
          <a:p>
            <a:pPr eaLnBrk="0" hangingPunct="0"/>
            <a:endParaRPr lang="en-US" sz="1600" b="1">
              <a:solidFill>
                <a:srgbClr val="000066"/>
              </a:solidFill>
            </a:endParaRPr>
          </a:p>
          <a:p>
            <a:pPr eaLnBrk="0" hangingPunct="0"/>
            <a:r>
              <a:rPr lang="en-US" sz="1600" b="1">
                <a:solidFill>
                  <a:srgbClr val="000066"/>
                </a:solidFill>
              </a:rPr>
              <a:t>class base1</a:t>
            </a:r>
          </a:p>
          <a:p>
            <a:pPr eaLnBrk="0" hangingPunct="0"/>
            <a:r>
              <a:rPr lang="en-US" sz="1600" b="1">
                <a:solidFill>
                  <a:srgbClr val="000066"/>
                </a:solidFill>
              </a:rPr>
              <a:t>{</a:t>
            </a:r>
          </a:p>
          <a:p>
            <a:pPr eaLnBrk="0" hangingPunct="0"/>
            <a:r>
              <a:rPr lang="en-US" sz="1600" b="1">
                <a:solidFill>
                  <a:srgbClr val="000066"/>
                </a:solidFill>
              </a:rPr>
              <a:t>public:</a:t>
            </a:r>
          </a:p>
          <a:p>
            <a:pPr eaLnBrk="0" hangingPunct="0"/>
            <a:r>
              <a:rPr lang="en-US" sz="1600" b="1">
                <a:solidFill>
                  <a:srgbClr val="000066"/>
                </a:solidFill>
              </a:rPr>
              <a:t>	int i;</a:t>
            </a:r>
          </a:p>
          <a:p>
            <a:pPr eaLnBrk="0" hangingPunct="0"/>
            <a:r>
              <a:rPr lang="en-US" sz="1600" b="1">
                <a:solidFill>
                  <a:srgbClr val="000066"/>
                </a:solidFill>
              </a:rPr>
              <a:t>	void disp()</a:t>
            </a:r>
          </a:p>
          <a:p>
            <a:pPr eaLnBrk="0" hangingPunct="0"/>
            <a:r>
              <a:rPr lang="en-US" sz="1600" b="1">
                <a:solidFill>
                  <a:srgbClr val="000066"/>
                </a:solidFill>
              </a:rPr>
              <a:t>	{</a:t>
            </a:r>
          </a:p>
          <a:p>
            <a:pPr eaLnBrk="0" hangingPunct="0"/>
            <a:r>
              <a:rPr lang="en-US" sz="1600" b="1">
                <a:solidFill>
                  <a:srgbClr val="000066"/>
                </a:solidFill>
              </a:rPr>
              <a:t>	cout&lt;&lt;"base1 value"&lt;&lt;i&lt;&lt;"\n";</a:t>
            </a:r>
          </a:p>
          <a:p>
            <a:pPr eaLnBrk="0" hangingPunct="0"/>
            <a:r>
              <a:rPr lang="en-US" sz="1600" b="1">
                <a:solidFill>
                  <a:srgbClr val="000066"/>
                </a:solidFill>
              </a:rPr>
              <a:t>	}</a:t>
            </a:r>
          </a:p>
          <a:p>
            <a:pPr eaLnBrk="0" hangingPunct="0"/>
            <a:r>
              <a:rPr lang="en-US" sz="1600" b="1">
                <a:solidFill>
                  <a:srgbClr val="000066"/>
                </a:solidFill>
              </a:rPr>
              <a:t>};</a:t>
            </a:r>
          </a:p>
          <a:p>
            <a:pPr eaLnBrk="0" hangingPunct="0"/>
            <a:r>
              <a:rPr lang="en-US" sz="1600" b="1">
                <a:solidFill>
                  <a:srgbClr val="000066"/>
                </a:solidFill>
              </a:rPr>
              <a:t>class base2</a:t>
            </a:r>
          </a:p>
          <a:p>
            <a:pPr eaLnBrk="0" hangingPunct="0"/>
            <a:r>
              <a:rPr lang="en-US" sz="1600" b="1">
                <a:solidFill>
                  <a:srgbClr val="000066"/>
                </a:solidFill>
              </a:rPr>
              <a:t>{</a:t>
            </a:r>
          </a:p>
          <a:p>
            <a:pPr eaLnBrk="0" hangingPunct="0"/>
            <a:r>
              <a:rPr lang="en-US" sz="1600" b="1">
                <a:solidFill>
                  <a:srgbClr val="000066"/>
                </a:solidFill>
              </a:rPr>
              <a:t>public:</a:t>
            </a:r>
          </a:p>
          <a:p>
            <a:pPr eaLnBrk="0" hangingPunct="0"/>
            <a:r>
              <a:rPr lang="en-US" sz="1600" b="1">
                <a:solidFill>
                  <a:srgbClr val="000066"/>
                </a:solidFill>
              </a:rPr>
              <a:t>	int i;</a:t>
            </a:r>
          </a:p>
          <a:p>
            <a:pPr eaLnBrk="0" hangingPunct="0"/>
            <a:r>
              <a:rPr lang="en-US" sz="1600" b="1">
                <a:solidFill>
                  <a:srgbClr val="000066"/>
                </a:solidFill>
              </a:rPr>
              <a:t>	void disp()</a:t>
            </a:r>
          </a:p>
          <a:p>
            <a:pPr eaLnBrk="0" hangingPunct="0"/>
            <a:r>
              <a:rPr lang="en-US" sz="1600" b="1">
                <a:solidFill>
                  <a:srgbClr val="000066"/>
                </a:solidFill>
              </a:rPr>
              <a:t>	{</a:t>
            </a:r>
          </a:p>
          <a:p>
            <a:pPr eaLnBrk="0" hangingPunct="0"/>
            <a:r>
              <a:rPr lang="en-US" sz="1600" b="1">
                <a:solidFill>
                  <a:srgbClr val="000066"/>
                </a:solidFill>
              </a:rPr>
              <a:t>	cout&lt;&lt;"base2 value"&lt;&lt;i;</a:t>
            </a:r>
          </a:p>
          <a:p>
            <a:pPr eaLnBrk="0" hangingPunct="0"/>
            <a:r>
              <a:rPr lang="en-US" sz="1600" b="1">
                <a:solidFill>
                  <a:srgbClr val="000066"/>
                </a:solidFill>
              </a:rPr>
              <a:t>	}</a:t>
            </a:r>
          </a:p>
          <a:p>
            <a:pPr eaLnBrk="0" hangingPunct="0"/>
            <a:r>
              <a:rPr lang="en-US" sz="1600" b="1">
                <a:solidFill>
                  <a:srgbClr val="000066"/>
                </a:solidFill>
              </a:rPr>
              <a:t>};</a:t>
            </a:r>
          </a:p>
          <a:p>
            <a:pPr eaLnBrk="0" hangingPunct="0"/>
            <a:endParaRPr lang="en-US" sz="1600" b="1">
              <a:solidFill>
                <a:srgbClr val="000066"/>
              </a:solidFill>
            </a:endParaRPr>
          </a:p>
        </p:txBody>
      </p:sp>
      <p:sp>
        <p:nvSpPr>
          <p:cNvPr id="20483" name="Rectangle 3"/>
          <p:cNvSpPr>
            <a:spLocks noChangeArrowheads="1"/>
          </p:cNvSpPr>
          <p:nvPr/>
        </p:nvSpPr>
        <p:spPr bwMode="auto">
          <a:xfrm>
            <a:off x="4419600" y="304800"/>
            <a:ext cx="4572000" cy="5870575"/>
          </a:xfrm>
          <a:prstGeom prst="rect">
            <a:avLst/>
          </a:prstGeom>
          <a:noFill/>
          <a:ln w="9525">
            <a:solidFill>
              <a:srgbClr val="990099"/>
            </a:solidFill>
            <a:miter lim="800000"/>
            <a:headEnd/>
            <a:tailEnd/>
          </a:ln>
        </p:spPr>
        <p:txBody>
          <a:bodyPr>
            <a:spAutoFit/>
          </a:bodyPr>
          <a:lstStyle/>
          <a:p>
            <a:pPr eaLnBrk="0" hangingPunct="0"/>
            <a:endParaRPr lang="en-US" sz="1400" b="1">
              <a:solidFill>
                <a:srgbClr val="000066"/>
              </a:solidFill>
            </a:endParaRPr>
          </a:p>
          <a:p>
            <a:pPr eaLnBrk="0" hangingPunct="0"/>
            <a:r>
              <a:rPr lang="en-US" b="1">
                <a:solidFill>
                  <a:srgbClr val="000066"/>
                </a:solidFill>
              </a:rPr>
              <a:t>class deri:public base1,public base2</a:t>
            </a:r>
          </a:p>
          <a:p>
            <a:pPr eaLnBrk="0" hangingPunct="0"/>
            <a:r>
              <a:rPr lang="en-US" b="1">
                <a:solidFill>
                  <a:srgbClr val="000066"/>
                </a:solidFill>
              </a:rPr>
              <a:t>{</a:t>
            </a:r>
          </a:p>
          <a:p>
            <a:pPr eaLnBrk="0" hangingPunct="0"/>
            <a:r>
              <a:rPr lang="en-US" b="1">
                <a:solidFill>
                  <a:srgbClr val="000066"/>
                </a:solidFill>
              </a:rPr>
              <a:t>};</a:t>
            </a:r>
          </a:p>
          <a:p>
            <a:pPr eaLnBrk="0" hangingPunct="0"/>
            <a:endParaRPr lang="en-US" b="1">
              <a:solidFill>
                <a:srgbClr val="000066"/>
              </a:solidFill>
            </a:endParaRPr>
          </a:p>
          <a:p>
            <a:pPr eaLnBrk="0" hangingPunct="0">
              <a:lnSpc>
                <a:spcPct val="125000"/>
              </a:lnSpc>
            </a:pPr>
            <a:r>
              <a:rPr lang="en-US" b="1">
                <a:solidFill>
                  <a:srgbClr val="000066"/>
                </a:solidFill>
              </a:rPr>
              <a:t>void main()</a:t>
            </a:r>
          </a:p>
          <a:p>
            <a:pPr eaLnBrk="0" hangingPunct="0">
              <a:lnSpc>
                <a:spcPct val="125000"/>
              </a:lnSpc>
            </a:pPr>
            <a:r>
              <a:rPr lang="en-US" b="1">
                <a:solidFill>
                  <a:srgbClr val="000066"/>
                </a:solidFill>
              </a:rPr>
              <a:t>{</a:t>
            </a:r>
          </a:p>
          <a:p>
            <a:pPr eaLnBrk="0" hangingPunct="0">
              <a:lnSpc>
                <a:spcPct val="125000"/>
              </a:lnSpc>
            </a:pPr>
            <a:r>
              <a:rPr lang="en-US" b="1">
                <a:solidFill>
                  <a:srgbClr val="000066"/>
                </a:solidFill>
              </a:rPr>
              <a:t>deri d;</a:t>
            </a:r>
          </a:p>
          <a:p>
            <a:pPr eaLnBrk="0" hangingPunct="0">
              <a:lnSpc>
                <a:spcPct val="125000"/>
              </a:lnSpc>
            </a:pPr>
            <a:r>
              <a:rPr lang="en-US" b="1">
                <a:solidFill>
                  <a:srgbClr val="000066"/>
                </a:solidFill>
              </a:rPr>
              <a:t>d.i=10;</a:t>
            </a:r>
          </a:p>
          <a:p>
            <a:pPr eaLnBrk="0" hangingPunct="0">
              <a:lnSpc>
                <a:spcPct val="125000"/>
              </a:lnSpc>
            </a:pPr>
            <a:r>
              <a:rPr lang="en-US" b="1">
                <a:solidFill>
                  <a:srgbClr val="000066"/>
                </a:solidFill>
              </a:rPr>
              <a:t>d.disp();</a:t>
            </a:r>
          </a:p>
          <a:p>
            <a:pPr eaLnBrk="0" hangingPunct="0">
              <a:lnSpc>
                <a:spcPct val="125000"/>
              </a:lnSpc>
            </a:pPr>
            <a:r>
              <a:rPr lang="en-US" b="1">
                <a:solidFill>
                  <a:srgbClr val="000066"/>
                </a:solidFill>
              </a:rPr>
              <a:t>clrscr();</a:t>
            </a:r>
          </a:p>
          <a:p>
            <a:pPr eaLnBrk="0" hangingPunct="0">
              <a:lnSpc>
                <a:spcPct val="125000"/>
              </a:lnSpc>
            </a:pPr>
            <a:r>
              <a:rPr lang="en-US" b="1">
                <a:solidFill>
                  <a:srgbClr val="000066"/>
                </a:solidFill>
              </a:rPr>
              <a:t>/*deri d;</a:t>
            </a:r>
          </a:p>
          <a:p>
            <a:pPr eaLnBrk="0" hangingPunct="0">
              <a:lnSpc>
                <a:spcPct val="125000"/>
              </a:lnSpc>
            </a:pPr>
            <a:r>
              <a:rPr lang="en-US" b="1">
                <a:solidFill>
                  <a:srgbClr val="000066"/>
                </a:solidFill>
              </a:rPr>
              <a:t>d.base1::i=10;</a:t>
            </a:r>
          </a:p>
          <a:p>
            <a:pPr eaLnBrk="0" hangingPunct="0">
              <a:lnSpc>
                <a:spcPct val="125000"/>
              </a:lnSpc>
            </a:pPr>
            <a:r>
              <a:rPr lang="en-US" b="1">
                <a:solidFill>
                  <a:srgbClr val="000066"/>
                </a:solidFill>
              </a:rPr>
              <a:t>d.base2::i=20;</a:t>
            </a:r>
          </a:p>
          <a:p>
            <a:pPr eaLnBrk="0" hangingPunct="0">
              <a:lnSpc>
                <a:spcPct val="125000"/>
              </a:lnSpc>
            </a:pPr>
            <a:r>
              <a:rPr lang="en-US" b="1">
                <a:solidFill>
                  <a:srgbClr val="000066"/>
                </a:solidFill>
              </a:rPr>
              <a:t>d.base1::disp();</a:t>
            </a:r>
          </a:p>
          <a:p>
            <a:pPr eaLnBrk="0" hangingPunct="0">
              <a:lnSpc>
                <a:spcPct val="125000"/>
              </a:lnSpc>
            </a:pPr>
            <a:r>
              <a:rPr lang="en-US" b="1">
                <a:solidFill>
                  <a:srgbClr val="000066"/>
                </a:solidFill>
              </a:rPr>
              <a:t>d.base2::disp();</a:t>
            </a:r>
          </a:p>
          <a:p>
            <a:pPr eaLnBrk="0" hangingPunct="0">
              <a:lnSpc>
                <a:spcPct val="125000"/>
              </a:lnSpc>
            </a:pPr>
            <a:r>
              <a:rPr lang="en-US" b="1">
                <a:solidFill>
                  <a:srgbClr val="000066"/>
                </a:solidFill>
              </a:rPr>
              <a:t>getch();*/</a:t>
            </a:r>
          </a:p>
          <a:p>
            <a:pPr eaLnBrk="0" hangingPunct="0">
              <a:lnSpc>
                <a:spcPct val="125000"/>
              </a:lnSpc>
            </a:pPr>
            <a:r>
              <a:rPr lang="en-US" b="1">
                <a:solidFill>
                  <a:srgbClr val="000066"/>
                </a:solidFill>
              </a:rPr>
              <a:t>}</a:t>
            </a:r>
          </a:p>
        </p:txBody>
      </p:sp>
      <p:sp>
        <p:nvSpPr>
          <p:cNvPr id="18437" name="Text Box 4"/>
          <p:cNvSpPr txBox="1">
            <a:spLocks noChangeArrowheads="1"/>
          </p:cNvSpPr>
          <p:nvPr/>
        </p:nvSpPr>
        <p:spPr bwMode="auto">
          <a:xfrm>
            <a:off x="2438400" y="6248400"/>
            <a:ext cx="6477000" cy="457200"/>
          </a:xfrm>
          <a:prstGeom prst="rect">
            <a:avLst/>
          </a:prstGeom>
          <a:solidFill>
            <a:schemeClr val="bg1"/>
          </a:solidFill>
          <a:ln w="9525">
            <a:noFill/>
            <a:miter lim="800000"/>
            <a:headEnd/>
            <a:tailEnd/>
          </a:ln>
        </p:spPr>
        <p:txBody>
          <a:bodyPr>
            <a:spAutoFit/>
          </a:bodyPr>
          <a:lstStyle/>
          <a:p>
            <a:pPr eaLnBrk="0" hangingPunct="0">
              <a:spcBef>
                <a:spcPct val="50000"/>
              </a:spcBef>
            </a:pPr>
            <a:r>
              <a:rPr lang="en-US" sz="2400" b="1" u="sng">
                <a:solidFill>
                  <a:srgbClr val="3333CC"/>
                </a:solidFill>
                <a:latin typeface="Verdana" pitchFamily="34" charset="0"/>
              </a:rPr>
              <a:t>RESULT :</a:t>
            </a:r>
            <a:r>
              <a:rPr lang="en-US" sz="2000" b="1">
                <a:solidFill>
                  <a:srgbClr val="3333CC"/>
                </a:solidFill>
                <a:latin typeface="Verdana" pitchFamily="34" charset="0"/>
              </a:rPr>
              <a:t> AMBIGUITY ERROR OCCURRED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0"/>
                                  </p:stCondLst>
                                  <p:childTnLst>
                                    <p:set>
                                      <p:cBhvr>
                                        <p:cTn id="6" dur="1" fill="hold">
                                          <p:stCondLst>
                                            <p:cond delay="0"/>
                                          </p:stCondLst>
                                        </p:cTn>
                                        <p:tgtEl>
                                          <p:spTgt spid="20482"/>
                                        </p:tgtEl>
                                        <p:attrNameLst>
                                          <p:attrName>style.visibility</p:attrName>
                                        </p:attrNameLst>
                                      </p:cBhvr>
                                      <p:to>
                                        <p:strVal val="visible"/>
                                      </p:to>
                                    </p:set>
                                    <p:anim calcmode="lin" valueType="num">
                                      <p:cBhvr>
                                        <p:cTn id="7" dur="500" fill="hold"/>
                                        <p:tgtEl>
                                          <p:spTgt spid="20482"/>
                                        </p:tgtEl>
                                        <p:attrNameLst>
                                          <p:attrName>ppt_w</p:attrName>
                                        </p:attrNameLst>
                                      </p:cBhvr>
                                      <p:tavLst>
                                        <p:tav tm="0">
                                          <p:val>
                                            <p:fltVal val="0"/>
                                          </p:val>
                                        </p:tav>
                                        <p:tav tm="100000">
                                          <p:val>
                                            <p:strVal val="#ppt_w"/>
                                          </p:val>
                                        </p:tav>
                                      </p:tavLst>
                                    </p:anim>
                                    <p:anim calcmode="lin" valueType="num">
                                      <p:cBhvr>
                                        <p:cTn id="8" dur="500" fill="hold"/>
                                        <p:tgtEl>
                                          <p:spTgt spid="20482"/>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20483"/>
                                        </p:tgtEl>
                                        <p:attrNameLst>
                                          <p:attrName>style.visibility</p:attrName>
                                        </p:attrNameLst>
                                      </p:cBhvr>
                                      <p:to>
                                        <p:strVal val="visible"/>
                                      </p:to>
                                    </p:set>
                                    <p:anim calcmode="lin" valueType="num">
                                      <p:cBhvr>
                                        <p:cTn id="11" dur="500" fill="hold"/>
                                        <p:tgtEl>
                                          <p:spTgt spid="20483"/>
                                        </p:tgtEl>
                                        <p:attrNameLst>
                                          <p:attrName>ppt_w</p:attrName>
                                        </p:attrNameLst>
                                      </p:cBhvr>
                                      <p:tavLst>
                                        <p:tav tm="0">
                                          <p:val>
                                            <p:fltVal val="0"/>
                                          </p:val>
                                        </p:tav>
                                        <p:tav tm="100000">
                                          <p:val>
                                            <p:strVal val="#ppt_w"/>
                                          </p:val>
                                        </p:tav>
                                      </p:tavLst>
                                    </p:anim>
                                    <p:anim calcmode="lin" valueType="num">
                                      <p:cBhvr>
                                        <p:cTn id="12" dur="500" fill="hold"/>
                                        <p:tgtEl>
                                          <p:spTgt spid="2048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animBg="1"/>
      <p:bldP spid="20483" grpId="0" animBg="1"/>
    </p:bld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ChangeArrowheads="1"/>
          </p:cNvSpPr>
          <p:nvPr/>
        </p:nvSpPr>
        <p:spPr bwMode="auto">
          <a:xfrm>
            <a:off x="228600" y="255588"/>
            <a:ext cx="4419600" cy="6332537"/>
          </a:xfrm>
          <a:prstGeom prst="rect">
            <a:avLst/>
          </a:prstGeom>
          <a:noFill/>
          <a:ln w="9525">
            <a:solidFill>
              <a:srgbClr val="990099"/>
            </a:solidFill>
            <a:miter lim="800000"/>
            <a:headEnd/>
            <a:tailEnd/>
          </a:ln>
        </p:spPr>
        <p:txBody>
          <a:bodyPr>
            <a:spAutoFit/>
          </a:bodyPr>
          <a:lstStyle/>
          <a:p>
            <a:pPr eaLnBrk="0" hangingPunct="0"/>
            <a:r>
              <a:rPr lang="en-US" b="1">
                <a:solidFill>
                  <a:srgbClr val="000066"/>
                </a:solidFill>
              </a:rPr>
              <a:t>//Example for MultiLevel  inheritance</a:t>
            </a:r>
          </a:p>
          <a:p>
            <a:pPr eaLnBrk="0" hangingPunct="0"/>
            <a:r>
              <a:rPr lang="en-US" sz="1400" b="1">
                <a:solidFill>
                  <a:srgbClr val="000066"/>
                </a:solidFill>
              </a:rPr>
              <a:t>#include&lt;iostream.h&gt;</a:t>
            </a:r>
          </a:p>
          <a:p>
            <a:pPr eaLnBrk="0" hangingPunct="0"/>
            <a:r>
              <a:rPr lang="en-US" sz="1400" b="1">
                <a:solidFill>
                  <a:srgbClr val="000066"/>
                </a:solidFill>
              </a:rPr>
              <a:t>#include&lt;conio.h&gt;</a:t>
            </a:r>
          </a:p>
          <a:p>
            <a:pPr eaLnBrk="0" hangingPunct="0"/>
            <a:r>
              <a:rPr lang="en-US" sz="1400" b="1">
                <a:solidFill>
                  <a:srgbClr val="000066"/>
                </a:solidFill>
              </a:rPr>
              <a:t>class publications</a:t>
            </a:r>
          </a:p>
          <a:p>
            <a:pPr eaLnBrk="0" hangingPunct="0"/>
            <a:r>
              <a:rPr lang="en-US" sz="1400" b="1">
                <a:solidFill>
                  <a:srgbClr val="000066"/>
                </a:solidFill>
              </a:rPr>
              <a:t>{</a:t>
            </a:r>
          </a:p>
          <a:p>
            <a:pPr eaLnBrk="0" hangingPunct="0"/>
            <a:r>
              <a:rPr lang="en-US" sz="1400" b="1">
                <a:solidFill>
                  <a:srgbClr val="000066"/>
                </a:solidFill>
              </a:rPr>
              <a:t>private :</a:t>
            </a:r>
          </a:p>
          <a:p>
            <a:pPr eaLnBrk="0" hangingPunct="0"/>
            <a:r>
              <a:rPr lang="en-US" sz="1400" b="1">
                <a:solidFill>
                  <a:srgbClr val="000066"/>
                </a:solidFill>
              </a:rPr>
              <a:t>int book_no;</a:t>
            </a:r>
          </a:p>
          <a:p>
            <a:pPr eaLnBrk="0" hangingPunct="0"/>
            <a:r>
              <a:rPr lang="en-US" sz="1400" b="1">
                <a:solidFill>
                  <a:srgbClr val="000066"/>
                </a:solidFill>
              </a:rPr>
              <a:t>public :</a:t>
            </a:r>
          </a:p>
          <a:p>
            <a:pPr eaLnBrk="0" hangingPunct="0"/>
            <a:r>
              <a:rPr lang="en-US" sz="1400" b="1">
                <a:solidFill>
                  <a:srgbClr val="000066"/>
                </a:solidFill>
              </a:rPr>
              <a:t>void getdata()</a:t>
            </a:r>
          </a:p>
          <a:p>
            <a:pPr eaLnBrk="0" hangingPunct="0"/>
            <a:r>
              <a:rPr lang="en-US" sz="1400" b="1">
                <a:solidFill>
                  <a:srgbClr val="000066"/>
                </a:solidFill>
              </a:rPr>
              <a:t>{</a:t>
            </a:r>
          </a:p>
          <a:p>
            <a:pPr eaLnBrk="0" hangingPunct="0"/>
            <a:r>
              <a:rPr lang="en-US" sz="1400" b="1">
                <a:solidFill>
                  <a:srgbClr val="000066"/>
                </a:solidFill>
              </a:rPr>
              <a:t>cout&lt;&lt;"\n"&lt;&lt;"Enter Book Number:";</a:t>
            </a:r>
          </a:p>
          <a:p>
            <a:pPr eaLnBrk="0" hangingPunct="0"/>
            <a:r>
              <a:rPr lang="en-US" sz="1400" b="1">
                <a:solidFill>
                  <a:srgbClr val="000066"/>
                </a:solidFill>
              </a:rPr>
              <a:t>cin&gt;&gt;book_no;</a:t>
            </a:r>
          </a:p>
          <a:p>
            <a:pPr eaLnBrk="0" hangingPunct="0"/>
            <a:r>
              <a:rPr lang="en-US" sz="1400" b="1">
                <a:solidFill>
                  <a:srgbClr val="000066"/>
                </a:solidFill>
              </a:rPr>
              <a:t>}</a:t>
            </a:r>
          </a:p>
          <a:p>
            <a:pPr eaLnBrk="0" hangingPunct="0"/>
            <a:r>
              <a:rPr lang="en-US" sz="1400" b="1">
                <a:solidFill>
                  <a:srgbClr val="000066"/>
                </a:solidFill>
              </a:rPr>
              <a:t>void putdata()</a:t>
            </a:r>
          </a:p>
          <a:p>
            <a:pPr eaLnBrk="0" hangingPunct="0"/>
            <a:r>
              <a:rPr lang="en-US" sz="1400" b="1">
                <a:solidFill>
                  <a:srgbClr val="000066"/>
                </a:solidFill>
              </a:rPr>
              <a:t>{</a:t>
            </a:r>
          </a:p>
          <a:p>
            <a:pPr eaLnBrk="0" hangingPunct="0"/>
            <a:r>
              <a:rPr lang="en-US" sz="1400" b="1">
                <a:solidFill>
                  <a:srgbClr val="000066"/>
                </a:solidFill>
              </a:rPr>
              <a:t>cout&lt;&lt;book_no&lt;&lt;endl;</a:t>
            </a:r>
          </a:p>
          <a:p>
            <a:pPr eaLnBrk="0" hangingPunct="0"/>
            <a:r>
              <a:rPr lang="en-US" sz="1400" b="1">
                <a:solidFill>
                  <a:srgbClr val="000066"/>
                </a:solidFill>
              </a:rPr>
              <a:t>}</a:t>
            </a:r>
          </a:p>
          <a:p>
            <a:pPr eaLnBrk="0" hangingPunct="0"/>
            <a:r>
              <a:rPr lang="en-US" sz="1400" b="1">
                <a:solidFill>
                  <a:srgbClr val="000066"/>
                </a:solidFill>
              </a:rPr>
              <a:t>};</a:t>
            </a:r>
          </a:p>
          <a:p>
            <a:pPr eaLnBrk="0" hangingPunct="0"/>
            <a:r>
              <a:rPr lang="en-US" sz="1400" b="1">
                <a:solidFill>
                  <a:srgbClr val="000066"/>
                </a:solidFill>
              </a:rPr>
              <a:t>class author: public publications</a:t>
            </a:r>
          </a:p>
          <a:p>
            <a:pPr eaLnBrk="0" hangingPunct="0"/>
            <a:r>
              <a:rPr lang="en-US" sz="1400" b="1">
                <a:solidFill>
                  <a:srgbClr val="000066"/>
                </a:solidFill>
              </a:rPr>
              <a:t>{</a:t>
            </a:r>
          </a:p>
          <a:p>
            <a:pPr eaLnBrk="0" hangingPunct="0"/>
            <a:r>
              <a:rPr lang="en-US" sz="1400" b="1">
                <a:solidFill>
                  <a:srgbClr val="000066"/>
                </a:solidFill>
              </a:rPr>
              <a:t>private :</a:t>
            </a:r>
          </a:p>
          <a:p>
            <a:pPr eaLnBrk="0" hangingPunct="0"/>
            <a:r>
              <a:rPr lang="en-US" sz="1400" b="1">
                <a:solidFill>
                  <a:srgbClr val="000066"/>
                </a:solidFill>
              </a:rPr>
              <a:t> char author_name[20];</a:t>
            </a:r>
          </a:p>
          <a:p>
            <a:pPr eaLnBrk="0" hangingPunct="0"/>
            <a:r>
              <a:rPr lang="en-US" sz="1400" b="1">
                <a:solidFill>
                  <a:srgbClr val="000066"/>
                </a:solidFill>
              </a:rPr>
              <a:t> public :</a:t>
            </a:r>
          </a:p>
          <a:p>
            <a:pPr eaLnBrk="0" hangingPunct="0"/>
            <a:r>
              <a:rPr lang="en-US" sz="1400" b="1">
                <a:solidFill>
                  <a:srgbClr val="000066"/>
                </a:solidFill>
              </a:rPr>
              <a:t> void getdata()</a:t>
            </a:r>
          </a:p>
          <a:p>
            <a:pPr eaLnBrk="0" hangingPunct="0"/>
            <a:r>
              <a:rPr lang="en-US" sz="1400" b="1">
                <a:solidFill>
                  <a:srgbClr val="000066"/>
                </a:solidFill>
              </a:rPr>
              <a:t> {</a:t>
            </a:r>
          </a:p>
          <a:p>
            <a:pPr eaLnBrk="0" hangingPunct="0"/>
            <a:r>
              <a:rPr lang="en-US" sz="1400" b="1">
                <a:solidFill>
                  <a:srgbClr val="000066"/>
                </a:solidFill>
              </a:rPr>
              <a:t> publications::getdata();</a:t>
            </a:r>
          </a:p>
          <a:p>
            <a:pPr eaLnBrk="0" hangingPunct="0"/>
            <a:r>
              <a:rPr lang="en-US" sz="1400" b="1">
                <a:solidFill>
                  <a:srgbClr val="000066"/>
                </a:solidFill>
              </a:rPr>
              <a:t> cout&lt;&lt;"Enter author name";</a:t>
            </a:r>
          </a:p>
          <a:p>
            <a:pPr eaLnBrk="0" hangingPunct="0"/>
            <a:r>
              <a:rPr lang="en-US" sz="1400" b="1">
                <a:solidFill>
                  <a:srgbClr val="000066"/>
                </a:solidFill>
              </a:rPr>
              <a:t> cin&gt;&gt;author_name;</a:t>
            </a:r>
          </a:p>
          <a:p>
            <a:pPr eaLnBrk="0" hangingPunct="0"/>
            <a:r>
              <a:rPr lang="en-US" sz="1400" b="1">
                <a:solidFill>
                  <a:srgbClr val="000066"/>
                </a:solidFill>
              </a:rPr>
              <a:t> }</a:t>
            </a:r>
          </a:p>
        </p:txBody>
      </p:sp>
      <p:sp>
        <p:nvSpPr>
          <p:cNvPr id="21507" name="Rectangle 3"/>
          <p:cNvSpPr>
            <a:spLocks noChangeArrowheads="1"/>
          </p:cNvSpPr>
          <p:nvPr/>
        </p:nvSpPr>
        <p:spPr bwMode="auto">
          <a:xfrm>
            <a:off x="4724400" y="271463"/>
            <a:ext cx="4038600" cy="3717925"/>
          </a:xfrm>
          <a:prstGeom prst="rect">
            <a:avLst/>
          </a:prstGeom>
          <a:noFill/>
          <a:ln w="9525">
            <a:solidFill>
              <a:srgbClr val="990099"/>
            </a:solidFill>
            <a:miter lim="800000"/>
            <a:headEnd/>
            <a:tailEnd/>
          </a:ln>
        </p:spPr>
        <p:txBody>
          <a:bodyPr>
            <a:spAutoFit/>
          </a:bodyPr>
          <a:lstStyle/>
          <a:p>
            <a:pPr eaLnBrk="0" hangingPunct="0"/>
            <a:r>
              <a:rPr lang="en-US" sz="1400" b="1">
                <a:solidFill>
                  <a:srgbClr val="000066"/>
                </a:solidFill>
              </a:rPr>
              <a:t> class deri:public base1,public base2</a:t>
            </a:r>
          </a:p>
          <a:p>
            <a:pPr eaLnBrk="0" hangingPunct="0"/>
            <a:r>
              <a:rPr lang="en-US" sz="1400" b="1">
                <a:solidFill>
                  <a:srgbClr val="000066"/>
                </a:solidFill>
              </a:rPr>
              <a:t>{</a:t>
            </a:r>
          </a:p>
          <a:p>
            <a:pPr eaLnBrk="0" hangingPunct="0"/>
            <a:r>
              <a:rPr lang="en-US" sz="1400" b="1">
                <a:solidFill>
                  <a:srgbClr val="000066"/>
                </a:solidFill>
              </a:rPr>
              <a:t>};</a:t>
            </a:r>
          </a:p>
          <a:p>
            <a:pPr eaLnBrk="0" hangingPunct="0"/>
            <a:endParaRPr lang="en-US" sz="1400" b="1">
              <a:solidFill>
                <a:srgbClr val="000066"/>
              </a:solidFill>
            </a:endParaRPr>
          </a:p>
          <a:p>
            <a:pPr eaLnBrk="0" hangingPunct="0"/>
            <a:r>
              <a:rPr lang="en-US" sz="1400" b="1">
                <a:solidFill>
                  <a:srgbClr val="000066"/>
                </a:solidFill>
              </a:rPr>
              <a:t>void main()</a:t>
            </a:r>
          </a:p>
          <a:p>
            <a:pPr eaLnBrk="0" hangingPunct="0"/>
            <a:r>
              <a:rPr lang="en-US" sz="1400" b="1">
                <a:solidFill>
                  <a:srgbClr val="000066"/>
                </a:solidFill>
              </a:rPr>
              <a:t>{</a:t>
            </a:r>
          </a:p>
          <a:p>
            <a:pPr eaLnBrk="0" hangingPunct="0"/>
            <a:r>
              <a:rPr lang="en-US" sz="1400" b="1">
                <a:solidFill>
                  <a:srgbClr val="000066"/>
                </a:solidFill>
              </a:rPr>
              <a:t>/*deri d;</a:t>
            </a:r>
          </a:p>
          <a:p>
            <a:pPr eaLnBrk="0" hangingPunct="0"/>
            <a:r>
              <a:rPr lang="en-US" sz="1400" b="1">
                <a:solidFill>
                  <a:srgbClr val="000066"/>
                </a:solidFill>
              </a:rPr>
              <a:t>d.i=10;</a:t>
            </a:r>
          </a:p>
          <a:p>
            <a:pPr eaLnBrk="0" hangingPunct="0"/>
            <a:r>
              <a:rPr lang="en-US" sz="1400" b="1">
                <a:solidFill>
                  <a:srgbClr val="000066"/>
                </a:solidFill>
              </a:rPr>
              <a:t>d.disp();*/</a:t>
            </a:r>
          </a:p>
          <a:p>
            <a:pPr eaLnBrk="0" hangingPunct="0"/>
            <a:r>
              <a:rPr lang="en-US" sz="1400" b="1">
                <a:solidFill>
                  <a:srgbClr val="000066"/>
                </a:solidFill>
              </a:rPr>
              <a:t>clrscr();</a:t>
            </a:r>
          </a:p>
          <a:p>
            <a:pPr eaLnBrk="0" hangingPunct="0"/>
            <a:r>
              <a:rPr lang="en-US" sz="1400" b="1">
                <a:solidFill>
                  <a:srgbClr val="000066"/>
                </a:solidFill>
              </a:rPr>
              <a:t>deri d;</a:t>
            </a:r>
          </a:p>
          <a:p>
            <a:pPr eaLnBrk="0" hangingPunct="0"/>
            <a:r>
              <a:rPr lang="en-US" sz="1400" b="1">
                <a:solidFill>
                  <a:srgbClr val="000066"/>
                </a:solidFill>
              </a:rPr>
              <a:t>d.base1::i=10;</a:t>
            </a:r>
          </a:p>
          <a:p>
            <a:pPr eaLnBrk="0" hangingPunct="0"/>
            <a:r>
              <a:rPr lang="en-US" sz="1400" b="1">
                <a:solidFill>
                  <a:srgbClr val="000066"/>
                </a:solidFill>
              </a:rPr>
              <a:t>d.base2::i=20;</a:t>
            </a:r>
          </a:p>
          <a:p>
            <a:pPr eaLnBrk="0" hangingPunct="0"/>
            <a:r>
              <a:rPr lang="en-US" sz="1400" b="1">
                <a:solidFill>
                  <a:srgbClr val="000066"/>
                </a:solidFill>
              </a:rPr>
              <a:t>d.base1::disp();</a:t>
            </a:r>
          </a:p>
          <a:p>
            <a:pPr eaLnBrk="0" hangingPunct="0"/>
            <a:r>
              <a:rPr lang="en-US" sz="1400" b="1">
                <a:solidFill>
                  <a:srgbClr val="000066"/>
                </a:solidFill>
              </a:rPr>
              <a:t>d.base2::disp();</a:t>
            </a:r>
          </a:p>
          <a:p>
            <a:pPr eaLnBrk="0" hangingPunct="0"/>
            <a:r>
              <a:rPr lang="en-US" sz="1400" b="1">
                <a:solidFill>
                  <a:srgbClr val="000066"/>
                </a:solidFill>
              </a:rPr>
              <a:t>getch();</a:t>
            </a:r>
          </a:p>
          <a:p>
            <a:pPr eaLnBrk="0" hangingPunct="0"/>
            <a:r>
              <a:rPr lang="en-US" sz="1400" b="1">
                <a:solidFill>
                  <a:srgbClr val="000066"/>
                </a:solidFill>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0"/>
                                  </p:stCondLst>
                                  <p:childTnLst>
                                    <p:set>
                                      <p:cBhvr>
                                        <p:cTn id="6" dur="1" fill="hold">
                                          <p:stCondLst>
                                            <p:cond delay="0"/>
                                          </p:stCondLst>
                                        </p:cTn>
                                        <p:tgtEl>
                                          <p:spTgt spid="21506"/>
                                        </p:tgtEl>
                                        <p:attrNameLst>
                                          <p:attrName>style.visibility</p:attrName>
                                        </p:attrNameLst>
                                      </p:cBhvr>
                                      <p:to>
                                        <p:strVal val="visible"/>
                                      </p:to>
                                    </p:set>
                                    <p:anim calcmode="lin" valueType="num">
                                      <p:cBhvr>
                                        <p:cTn id="7" dur="500" fill="hold"/>
                                        <p:tgtEl>
                                          <p:spTgt spid="21506"/>
                                        </p:tgtEl>
                                        <p:attrNameLst>
                                          <p:attrName>ppt_w</p:attrName>
                                        </p:attrNameLst>
                                      </p:cBhvr>
                                      <p:tavLst>
                                        <p:tav tm="0">
                                          <p:val>
                                            <p:fltVal val="0"/>
                                          </p:val>
                                        </p:tav>
                                        <p:tav tm="100000">
                                          <p:val>
                                            <p:strVal val="#ppt_w"/>
                                          </p:val>
                                        </p:tav>
                                      </p:tavLst>
                                    </p:anim>
                                    <p:anim calcmode="lin" valueType="num">
                                      <p:cBhvr>
                                        <p:cTn id="8" dur="500" fill="hold"/>
                                        <p:tgtEl>
                                          <p:spTgt spid="21506"/>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21507"/>
                                        </p:tgtEl>
                                        <p:attrNameLst>
                                          <p:attrName>style.visibility</p:attrName>
                                        </p:attrNameLst>
                                      </p:cBhvr>
                                      <p:to>
                                        <p:strVal val="visible"/>
                                      </p:to>
                                    </p:set>
                                    <p:anim calcmode="lin" valueType="num">
                                      <p:cBhvr>
                                        <p:cTn id="11" dur="500" fill="hold"/>
                                        <p:tgtEl>
                                          <p:spTgt spid="21507"/>
                                        </p:tgtEl>
                                        <p:attrNameLst>
                                          <p:attrName>ppt_w</p:attrName>
                                        </p:attrNameLst>
                                      </p:cBhvr>
                                      <p:tavLst>
                                        <p:tav tm="0">
                                          <p:val>
                                            <p:fltVal val="0"/>
                                          </p:val>
                                        </p:tav>
                                        <p:tav tm="100000">
                                          <p:val>
                                            <p:strVal val="#ppt_w"/>
                                          </p:val>
                                        </p:tav>
                                      </p:tavLst>
                                    </p:anim>
                                    <p:anim calcmode="lin" valueType="num">
                                      <p:cBhvr>
                                        <p:cTn id="12" dur="500" fill="hold"/>
                                        <p:tgtEl>
                                          <p:spTgt spid="2150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6" grpId="0" animBg="1"/>
      <p:bldP spid="21507" grpId="0" animBg="1"/>
    </p:bld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b="1" smtClean="0">
                <a:solidFill>
                  <a:srgbClr val="000099"/>
                </a:solidFill>
              </a:rPr>
              <a:t>Inheritance </a:t>
            </a:r>
          </a:p>
        </p:txBody>
      </p:sp>
      <p:sp>
        <p:nvSpPr>
          <p:cNvPr id="20483" name="Rectangle 3"/>
          <p:cNvSpPr>
            <a:spLocks noChangeArrowheads="1"/>
          </p:cNvSpPr>
          <p:nvPr/>
        </p:nvSpPr>
        <p:spPr bwMode="auto">
          <a:xfrm>
            <a:off x="762000" y="2819400"/>
            <a:ext cx="2590800" cy="3200400"/>
          </a:xfrm>
          <a:prstGeom prst="rect">
            <a:avLst/>
          </a:prstGeom>
          <a:gradFill rotWithShape="0">
            <a:gsLst>
              <a:gs pos="0">
                <a:srgbClr val="CCFFFF"/>
              </a:gs>
              <a:gs pos="100000">
                <a:srgbClr val="5E7676"/>
              </a:gs>
            </a:gsLst>
            <a:lin ang="2700000" scaled="1"/>
          </a:gradFill>
          <a:ln w="9525">
            <a:solidFill>
              <a:schemeClr val="tx1"/>
            </a:solidFill>
            <a:miter lim="800000"/>
            <a:headEnd/>
            <a:tailEnd/>
          </a:ln>
        </p:spPr>
        <p:txBody>
          <a:bodyPr wrap="none" anchor="ctr"/>
          <a:lstStyle/>
          <a:p>
            <a:endParaRPr lang="en-US"/>
          </a:p>
        </p:txBody>
      </p:sp>
      <p:sp>
        <p:nvSpPr>
          <p:cNvPr id="20484" name="Text Box 4"/>
          <p:cNvSpPr txBox="1">
            <a:spLocks noChangeArrowheads="1"/>
          </p:cNvSpPr>
          <p:nvPr/>
        </p:nvSpPr>
        <p:spPr bwMode="auto">
          <a:xfrm>
            <a:off x="914400" y="2362200"/>
            <a:ext cx="2286000" cy="457200"/>
          </a:xfrm>
          <a:prstGeom prst="rect">
            <a:avLst/>
          </a:prstGeom>
          <a:noFill/>
          <a:ln w="9525">
            <a:noFill/>
            <a:miter lim="800000"/>
            <a:headEnd/>
            <a:tailEnd/>
          </a:ln>
        </p:spPr>
        <p:txBody>
          <a:bodyPr>
            <a:spAutoFit/>
          </a:bodyPr>
          <a:lstStyle/>
          <a:p>
            <a:pPr>
              <a:spcBef>
                <a:spcPct val="50000"/>
              </a:spcBef>
            </a:pPr>
            <a:r>
              <a:rPr lang="en-US" sz="2400" b="1">
                <a:solidFill>
                  <a:srgbClr val="000099"/>
                </a:solidFill>
                <a:latin typeface="Times New Roman" pitchFamily="18" charset="0"/>
              </a:rPr>
              <a:t>Class Employee</a:t>
            </a:r>
          </a:p>
        </p:txBody>
      </p:sp>
      <p:sp>
        <p:nvSpPr>
          <p:cNvPr id="20485" name="Text Box 5"/>
          <p:cNvSpPr txBox="1">
            <a:spLocks noChangeArrowheads="1"/>
          </p:cNvSpPr>
          <p:nvPr/>
        </p:nvSpPr>
        <p:spPr bwMode="auto">
          <a:xfrm>
            <a:off x="914400" y="3124200"/>
            <a:ext cx="2362200" cy="2647950"/>
          </a:xfrm>
          <a:prstGeom prst="rect">
            <a:avLst/>
          </a:prstGeom>
          <a:noFill/>
          <a:ln w="9525">
            <a:noFill/>
            <a:miter lim="800000"/>
            <a:headEnd/>
            <a:tailEnd/>
          </a:ln>
        </p:spPr>
        <p:txBody>
          <a:bodyPr>
            <a:spAutoFit/>
          </a:bodyPr>
          <a:lstStyle/>
          <a:p>
            <a:pPr>
              <a:spcBef>
                <a:spcPct val="50000"/>
              </a:spcBef>
            </a:pPr>
            <a:r>
              <a:rPr lang="en-US" sz="2400" b="1">
                <a:solidFill>
                  <a:srgbClr val="000099"/>
                </a:solidFill>
                <a:latin typeface="Times New Roman" pitchFamily="18" charset="0"/>
              </a:rPr>
              <a:t>Name</a:t>
            </a:r>
          </a:p>
          <a:p>
            <a:pPr>
              <a:spcBef>
                <a:spcPct val="50000"/>
              </a:spcBef>
            </a:pPr>
            <a:r>
              <a:rPr lang="en-US" sz="2400" b="1">
                <a:solidFill>
                  <a:srgbClr val="000099"/>
                </a:solidFill>
                <a:latin typeface="Times New Roman" pitchFamily="18" charset="0"/>
              </a:rPr>
              <a:t>Age</a:t>
            </a:r>
          </a:p>
          <a:p>
            <a:pPr>
              <a:spcBef>
                <a:spcPct val="50000"/>
              </a:spcBef>
            </a:pPr>
            <a:r>
              <a:rPr lang="en-US" sz="2400" b="1">
                <a:solidFill>
                  <a:srgbClr val="000099"/>
                </a:solidFill>
                <a:latin typeface="Times New Roman" pitchFamily="18" charset="0"/>
              </a:rPr>
              <a:t>Employee id</a:t>
            </a:r>
          </a:p>
          <a:p>
            <a:pPr>
              <a:spcBef>
                <a:spcPct val="50000"/>
              </a:spcBef>
            </a:pPr>
            <a:r>
              <a:rPr lang="en-US" sz="2400" b="1">
                <a:solidFill>
                  <a:srgbClr val="000099"/>
                </a:solidFill>
                <a:latin typeface="Times New Roman" pitchFamily="18" charset="0"/>
              </a:rPr>
              <a:t>Salary</a:t>
            </a:r>
          </a:p>
          <a:p>
            <a:pPr>
              <a:spcBef>
                <a:spcPct val="50000"/>
              </a:spcBef>
            </a:pPr>
            <a:r>
              <a:rPr lang="en-US" sz="2400" b="1">
                <a:solidFill>
                  <a:srgbClr val="000099"/>
                </a:solidFill>
                <a:latin typeface="Times New Roman" pitchFamily="18" charset="0"/>
              </a:rPr>
              <a:t>Department </a:t>
            </a:r>
          </a:p>
        </p:txBody>
      </p:sp>
      <p:sp>
        <p:nvSpPr>
          <p:cNvPr id="22534" name="AutoShape 6"/>
          <p:cNvSpPr>
            <a:spLocks noChangeArrowheads="1"/>
          </p:cNvSpPr>
          <p:nvPr/>
        </p:nvSpPr>
        <p:spPr bwMode="auto">
          <a:xfrm>
            <a:off x="3733800" y="3124200"/>
            <a:ext cx="1524000" cy="381000"/>
          </a:xfrm>
          <a:prstGeom prst="rightArrow">
            <a:avLst>
              <a:gd name="adj1" fmla="val 50000"/>
              <a:gd name="adj2" fmla="val 100000"/>
            </a:avLst>
          </a:prstGeom>
          <a:solidFill>
            <a:srgbClr val="FF99CC"/>
          </a:solidFill>
          <a:ln w="9525">
            <a:solidFill>
              <a:schemeClr val="tx1"/>
            </a:solidFill>
            <a:miter lim="800000"/>
            <a:headEnd/>
            <a:tailEnd/>
          </a:ln>
          <a:effectLst>
            <a:outerShdw dist="107763" dir="8100000" algn="ctr" rotWithShape="0">
              <a:schemeClr val="bg2"/>
            </a:outerShdw>
          </a:effectLst>
        </p:spPr>
        <p:txBody>
          <a:bodyPr wrap="none" anchor="ctr"/>
          <a:lstStyle/>
          <a:p>
            <a:pPr>
              <a:defRPr/>
            </a:pPr>
            <a:endParaRPr lang="en-US">
              <a:latin typeface="Arial" charset="0"/>
            </a:endParaRPr>
          </a:p>
        </p:txBody>
      </p:sp>
      <p:sp>
        <p:nvSpPr>
          <p:cNvPr id="22535" name="AutoShape 7"/>
          <p:cNvSpPr>
            <a:spLocks noChangeArrowheads="1"/>
          </p:cNvSpPr>
          <p:nvPr/>
        </p:nvSpPr>
        <p:spPr bwMode="auto">
          <a:xfrm>
            <a:off x="3733800" y="3810000"/>
            <a:ext cx="1524000" cy="381000"/>
          </a:xfrm>
          <a:prstGeom prst="rightArrow">
            <a:avLst>
              <a:gd name="adj1" fmla="val 50000"/>
              <a:gd name="adj2" fmla="val 100000"/>
            </a:avLst>
          </a:prstGeom>
          <a:solidFill>
            <a:srgbClr val="FF99CC"/>
          </a:solidFill>
          <a:ln w="9525">
            <a:solidFill>
              <a:schemeClr val="tx1"/>
            </a:solidFill>
            <a:miter lim="800000"/>
            <a:headEnd/>
            <a:tailEnd/>
          </a:ln>
          <a:effectLst>
            <a:outerShdw dist="107763" dir="8100000" algn="ctr" rotWithShape="0">
              <a:schemeClr val="bg2"/>
            </a:outerShdw>
          </a:effectLst>
        </p:spPr>
        <p:txBody>
          <a:bodyPr wrap="none" anchor="ctr"/>
          <a:lstStyle/>
          <a:p>
            <a:pPr>
              <a:defRPr/>
            </a:pPr>
            <a:endParaRPr lang="en-US">
              <a:latin typeface="Arial" charset="0"/>
            </a:endParaRPr>
          </a:p>
        </p:txBody>
      </p:sp>
      <p:sp>
        <p:nvSpPr>
          <p:cNvPr id="22536" name="AutoShape 8"/>
          <p:cNvSpPr>
            <a:spLocks noChangeArrowheads="1"/>
          </p:cNvSpPr>
          <p:nvPr/>
        </p:nvSpPr>
        <p:spPr bwMode="auto">
          <a:xfrm>
            <a:off x="3733800" y="4648200"/>
            <a:ext cx="1524000" cy="381000"/>
          </a:xfrm>
          <a:prstGeom prst="rightArrow">
            <a:avLst>
              <a:gd name="adj1" fmla="val 50000"/>
              <a:gd name="adj2" fmla="val 100000"/>
            </a:avLst>
          </a:prstGeom>
          <a:solidFill>
            <a:srgbClr val="FF99CC"/>
          </a:solidFill>
          <a:ln w="9525">
            <a:solidFill>
              <a:schemeClr val="tx1"/>
            </a:solidFill>
            <a:miter lim="800000"/>
            <a:headEnd/>
            <a:tailEnd/>
          </a:ln>
          <a:effectLst>
            <a:outerShdw dist="107763" dir="8100000" algn="ctr" rotWithShape="0">
              <a:schemeClr val="bg2"/>
            </a:outerShdw>
          </a:effectLst>
        </p:spPr>
        <p:txBody>
          <a:bodyPr wrap="none" anchor="ctr"/>
          <a:lstStyle/>
          <a:p>
            <a:pPr>
              <a:defRPr/>
            </a:pPr>
            <a:endParaRPr lang="en-US">
              <a:latin typeface="Arial" charset="0"/>
            </a:endParaRPr>
          </a:p>
        </p:txBody>
      </p:sp>
      <p:sp>
        <p:nvSpPr>
          <p:cNvPr id="22537" name="AutoShape 9"/>
          <p:cNvSpPr>
            <a:spLocks noChangeArrowheads="1"/>
          </p:cNvSpPr>
          <p:nvPr/>
        </p:nvSpPr>
        <p:spPr bwMode="auto">
          <a:xfrm>
            <a:off x="3733800" y="5410200"/>
            <a:ext cx="1524000" cy="381000"/>
          </a:xfrm>
          <a:prstGeom prst="rightArrow">
            <a:avLst>
              <a:gd name="adj1" fmla="val 50000"/>
              <a:gd name="adj2" fmla="val 100000"/>
            </a:avLst>
          </a:prstGeom>
          <a:solidFill>
            <a:srgbClr val="FF99CC"/>
          </a:solidFill>
          <a:ln w="9525">
            <a:solidFill>
              <a:schemeClr val="tx1"/>
            </a:solidFill>
            <a:miter lim="800000"/>
            <a:headEnd/>
            <a:tailEnd/>
          </a:ln>
          <a:effectLst>
            <a:outerShdw dist="107763" dir="8100000" algn="ctr" rotWithShape="0">
              <a:schemeClr val="bg2"/>
            </a:outerShdw>
          </a:effectLst>
        </p:spPr>
        <p:txBody>
          <a:bodyPr wrap="none" anchor="ctr"/>
          <a:lstStyle/>
          <a:p>
            <a:pPr>
              <a:defRPr/>
            </a:pPr>
            <a:endParaRPr lang="en-US">
              <a:latin typeface="Arial" charset="0"/>
            </a:endParaRPr>
          </a:p>
        </p:txBody>
      </p:sp>
      <p:sp>
        <p:nvSpPr>
          <p:cNvPr id="20490" name="Text Box 10"/>
          <p:cNvSpPr txBox="1">
            <a:spLocks noChangeArrowheads="1"/>
          </p:cNvSpPr>
          <p:nvPr/>
        </p:nvSpPr>
        <p:spPr bwMode="auto">
          <a:xfrm>
            <a:off x="5486400" y="3048000"/>
            <a:ext cx="2209800" cy="457200"/>
          </a:xfrm>
          <a:prstGeom prst="rect">
            <a:avLst/>
          </a:prstGeom>
          <a:noFill/>
          <a:ln w="9525">
            <a:noFill/>
            <a:miter lim="800000"/>
            <a:headEnd/>
            <a:tailEnd/>
          </a:ln>
        </p:spPr>
        <p:txBody>
          <a:bodyPr>
            <a:spAutoFit/>
          </a:bodyPr>
          <a:lstStyle/>
          <a:p>
            <a:pPr>
              <a:spcBef>
                <a:spcPct val="50000"/>
              </a:spcBef>
            </a:pPr>
            <a:r>
              <a:rPr lang="en-US" sz="2400" b="1">
                <a:solidFill>
                  <a:srgbClr val="000099"/>
                </a:solidFill>
                <a:latin typeface="Times New Roman" pitchFamily="18" charset="0"/>
              </a:rPr>
              <a:t>Director</a:t>
            </a:r>
          </a:p>
        </p:txBody>
      </p:sp>
      <p:sp>
        <p:nvSpPr>
          <p:cNvPr id="20491" name="Text Box 11"/>
          <p:cNvSpPr txBox="1">
            <a:spLocks noChangeArrowheads="1"/>
          </p:cNvSpPr>
          <p:nvPr/>
        </p:nvSpPr>
        <p:spPr bwMode="auto">
          <a:xfrm>
            <a:off x="5486400" y="3810000"/>
            <a:ext cx="1600200" cy="457200"/>
          </a:xfrm>
          <a:prstGeom prst="rect">
            <a:avLst/>
          </a:prstGeom>
          <a:noFill/>
          <a:ln w="9525">
            <a:noFill/>
            <a:miter lim="800000"/>
            <a:headEnd/>
            <a:tailEnd/>
          </a:ln>
        </p:spPr>
        <p:txBody>
          <a:bodyPr>
            <a:spAutoFit/>
          </a:bodyPr>
          <a:lstStyle/>
          <a:p>
            <a:pPr>
              <a:spcBef>
                <a:spcPct val="50000"/>
              </a:spcBef>
            </a:pPr>
            <a:r>
              <a:rPr lang="en-US" sz="2400" b="1">
                <a:solidFill>
                  <a:srgbClr val="000099"/>
                </a:solidFill>
                <a:latin typeface="Times New Roman" pitchFamily="18" charset="0"/>
              </a:rPr>
              <a:t>Manager </a:t>
            </a:r>
          </a:p>
        </p:txBody>
      </p:sp>
      <p:sp>
        <p:nvSpPr>
          <p:cNvPr id="20492" name="Text Box 12"/>
          <p:cNvSpPr txBox="1">
            <a:spLocks noChangeArrowheads="1"/>
          </p:cNvSpPr>
          <p:nvPr/>
        </p:nvSpPr>
        <p:spPr bwMode="auto">
          <a:xfrm>
            <a:off x="5486400" y="4648200"/>
            <a:ext cx="1600200" cy="457200"/>
          </a:xfrm>
          <a:prstGeom prst="rect">
            <a:avLst/>
          </a:prstGeom>
          <a:noFill/>
          <a:ln w="9525">
            <a:noFill/>
            <a:miter lim="800000"/>
            <a:headEnd/>
            <a:tailEnd/>
          </a:ln>
        </p:spPr>
        <p:txBody>
          <a:bodyPr>
            <a:spAutoFit/>
          </a:bodyPr>
          <a:lstStyle/>
          <a:p>
            <a:pPr>
              <a:spcBef>
                <a:spcPct val="50000"/>
              </a:spcBef>
            </a:pPr>
            <a:r>
              <a:rPr lang="en-US" sz="2400" b="1">
                <a:solidFill>
                  <a:srgbClr val="000099"/>
                </a:solidFill>
                <a:latin typeface="Times New Roman" pitchFamily="18" charset="0"/>
              </a:rPr>
              <a:t>Secretary</a:t>
            </a:r>
          </a:p>
        </p:txBody>
      </p:sp>
      <p:sp>
        <p:nvSpPr>
          <p:cNvPr id="20493" name="Text Box 13"/>
          <p:cNvSpPr txBox="1">
            <a:spLocks noChangeArrowheads="1"/>
          </p:cNvSpPr>
          <p:nvPr/>
        </p:nvSpPr>
        <p:spPr bwMode="auto">
          <a:xfrm>
            <a:off x="5486400" y="5410200"/>
            <a:ext cx="2133600" cy="457200"/>
          </a:xfrm>
          <a:prstGeom prst="rect">
            <a:avLst/>
          </a:prstGeom>
          <a:noFill/>
          <a:ln w="9525">
            <a:noFill/>
            <a:miter lim="800000"/>
            <a:headEnd/>
            <a:tailEnd/>
          </a:ln>
        </p:spPr>
        <p:txBody>
          <a:bodyPr>
            <a:spAutoFit/>
          </a:bodyPr>
          <a:lstStyle/>
          <a:p>
            <a:pPr>
              <a:spcBef>
                <a:spcPct val="50000"/>
              </a:spcBef>
            </a:pPr>
            <a:r>
              <a:rPr lang="en-US" sz="2400" b="1">
                <a:solidFill>
                  <a:srgbClr val="000099"/>
                </a:solidFill>
                <a:latin typeface="Times New Roman" pitchFamily="18" charset="0"/>
              </a:rPr>
              <a:t>Clerk </a:t>
            </a:r>
          </a:p>
        </p:txBody>
      </p:sp>
      <p:sp>
        <p:nvSpPr>
          <p:cNvPr id="20494" name="Text Box 14"/>
          <p:cNvSpPr txBox="1">
            <a:spLocks noChangeArrowheads="1"/>
          </p:cNvSpPr>
          <p:nvPr/>
        </p:nvSpPr>
        <p:spPr bwMode="auto">
          <a:xfrm>
            <a:off x="3581400" y="2743200"/>
            <a:ext cx="1981200" cy="457200"/>
          </a:xfrm>
          <a:prstGeom prst="rect">
            <a:avLst/>
          </a:prstGeom>
          <a:noFill/>
          <a:ln w="9525">
            <a:noFill/>
            <a:miter lim="800000"/>
            <a:headEnd/>
            <a:tailEnd/>
          </a:ln>
        </p:spPr>
        <p:txBody>
          <a:bodyPr>
            <a:spAutoFit/>
          </a:bodyPr>
          <a:lstStyle/>
          <a:p>
            <a:pPr>
              <a:spcBef>
                <a:spcPct val="50000"/>
              </a:spcBef>
            </a:pPr>
            <a:r>
              <a:rPr lang="en-US" sz="2400" b="1">
                <a:solidFill>
                  <a:srgbClr val="000099"/>
                </a:solidFill>
                <a:latin typeface="Times New Roman" pitchFamily="18" charset="0"/>
              </a:rPr>
              <a:t>Common to </a:t>
            </a:r>
          </a:p>
        </p:txBody>
      </p:sp>
    </p:spTree>
  </p:cSld>
  <p:clrMapOvr>
    <a:masterClrMapping/>
  </p:clrMapOvr>
  <p:timing>
    <p:tnLst>
      <p:par>
        <p:cTn id="1" dur="indefinite" restart="never" nodeType="tmRoot"/>
      </p:par>
    </p:tn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b="1" smtClean="0">
                <a:solidFill>
                  <a:srgbClr val="000099"/>
                </a:solidFill>
              </a:rPr>
              <a:t>Inheritance</a:t>
            </a:r>
          </a:p>
        </p:txBody>
      </p:sp>
      <p:sp>
        <p:nvSpPr>
          <p:cNvPr id="21507" name="Rectangle 3"/>
          <p:cNvSpPr>
            <a:spLocks noChangeArrowheads="1"/>
          </p:cNvSpPr>
          <p:nvPr/>
        </p:nvSpPr>
        <p:spPr bwMode="auto">
          <a:xfrm>
            <a:off x="3124200" y="2133600"/>
            <a:ext cx="1981200" cy="762000"/>
          </a:xfrm>
          <a:prstGeom prst="rect">
            <a:avLst/>
          </a:prstGeom>
          <a:solidFill>
            <a:srgbClr val="CCFFFF"/>
          </a:solidFill>
          <a:ln w="9525">
            <a:solidFill>
              <a:schemeClr val="tx1"/>
            </a:solidFill>
            <a:miter lim="800000"/>
            <a:headEnd/>
            <a:tailEnd/>
          </a:ln>
        </p:spPr>
        <p:txBody>
          <a:bodyPr wrap="none" anchor="ctr"/>
          <a:lstStyle/>
          <a:p>
            <a:endParaRPr lang="en-US"/>
          </a:p>
        </p:txBody>
      </p:sp>
      <p:sp>
        <p:nvSpPr>
          <p:cNvPr id="21508" name="Rectangle 4"/>
          <p:cNvSpPr>
            <a:spLocks noChangeArrowheads="1"/>
          </p:cNvSpPr>
          <p:nvPr/>
        </p:nvSpPr>
        <p:spPr bwMode="auto">
          <a:xfrm>
            <a:off x="6705600" y="4038600"/>
            <a:ext cx="1981200" cy="762000"/>
          </a:xfrm>
          <a:prstGeom prst="rect">
            <a:avLst/>
          </a:prstGeom>
          <a:solidFill>
            <a:srgbClr val="CCFFFF"/>
          </a:solidFill>
          <a:ln w="9525">
            <a:solidFill>
              <a:schemeClr val="tx1"/>
            </a:solidFill>
            <a:miter lim="800000"/>
            <a:headEnd/>
            <a:tailEnd/>
          </a:ln>
        </p:spPr>
        <p:txBody>
          <a:bodyPr wrap="none" anchor="ctr"/>
          <a:lstStyle/>
          <a:p>
            <a:endParaRPr lang="en-US"/>
          </a:p>
        </p:txBody>
      </p:sp>
      <p:sp>
        <p:nvSpPr>
          <p:cNvPr id="21509" name="Rectangle 5"/>
          <p:cNvSpPr>
            <a:spLocks noChangeArrowheads="1"/>
          </p:cNvSpPr>
          <p:nvPr/>
        </p:nvSpPr>
        <p:spPr bwMode="auto">
          <a:xfrm>
            <a:off x="4572000" y="4038600"/>
            <a:ext cx="1981200" cy="762000"/>
          </a:xfrm>
          <a:prstGeom prst="rect">
            <a:avLst/>
          </a:prstGeom>
          <a:solidFill>
            <a:srgbClr val="CCFFFF"/>
          </a:solidFill>
          <a:ln w="9525">
            <a:solidFill>
              <a:schemeClr val="tx1"/>
            </a:solidFill>
            <a:miter lim="800000"/>
            <a:headEnd/>
            <a:tailEnd/>
          </a:ln>
        </p:spPr>
        <p:txBody>
          <a:bodyPr wrap="none" anchor="ctr"/>
          <a:lstStyle/>
          <a:p>
            <a:endParaRPr lang="en-US"/>
          </a:p>
        </p:txBody>
      </p:sp>
      <p:sp>
        <p:nvSpPr>
          <p:cNvPr id="21510" name="Rectangle 6"/>
          <p:cNvSpPr>
            <a:spLocks noChangeArrowheads="1"/>
          </p:cNvSpPr>
          <p:nvPr/>
        </p:nvSpPr>
        <p:spPr bwMode="auto">
          <a:xfrm>
            <a:off x="2362200" y="4038600"/>
            <a:ext cx="1981200" cy="762000"/>
          </a:xfrm>
          <a:prstGeom prst="rect">
            <a:avLst/>
          </a:prstGeom>
          <a:solidFill>
            <a:srgbClr val="CCFFFF"/>
          </a:solidFill>
          <a:ln w="9525">
            <a:solidFill>
              <a:schemeClr val="tx1"/>
            </a:solidFill>
            <a:miter lim="800000"/>
            <a:headEnd/>
            <a:tailEnd/>
          </a:ln>
        </p:spPr>
        <p:txBody>
          <a:bodyPr wrap="none" anchor="ctr"/>
          <a:lstStyle/>
          <a:p>
            <a:endParaRPr lang="en-US"/>
          </a:p>
        </p:txBody>
      </p:sp>
      <p:sp>
        <p:nvSpPr>
          <p:cNvPr id="21511" name="Rectangle 7"/>
          <p:cNvSpPr>
            <a:spLocks noChangeArrowheads="1"/>
          </p:cNvSpPr>
          <p:nvPr/>
        </p:nvSpPr>
        <p:spPr bwMode="auto">
          <a:xfrm>
            <a:off x="228600" y="4038600"/>
            <a:ext cx="1981200" cy="762000"/>
          </a:xfrm>
          <a:prstGeom prst="rect">
            <a:avLst/>
          </a:prstGeom>
          <a:solidFill>
            <a:srgbClr val="CCFFFF"/>
          </a:solidFill>
          <a:ln w="9525">
            <a:solidFill>
              <a:schemeClr val="tx1"/>
            </a:solidFill>
            <a:miter lim="800000"/>
            <a:headEnd/>
            <a:tailEnd/>
          </a:ln>
        </p:spPr>
        <p:txBody>
          <a:bodyPr wrap="none" anchor="ctr"/>
          <a:lstStyle/>
          <a:p>
            <a:endParaRPr lang="en-US"/>
          </a:p>
        </p:txBody>
      </p:sp>
      <p:sp>
        <p:nvSpPr>
          <p:cNvPr id="21512" name="Line 8"/>
          <p:cNvSpPr>
            <a:spLocks noChangeShapeType="1"/>
          </p:cNvSpPr>
          <p:nvPr/>
        </p:nvSpPr>
        <p:spPr bwMode="auto">
          <a:xfrm>
            <a:off x="4114800" y="2895600"/>
            <a:ext cx="0" cy="533400"/>
          </a:xfrm>
          <a:prstGeom prst="line">
            <a:avLst/>
          </a:prstGeom>
          <a:noFill/>
          <a:ln w="9525">
            <a:solidFill>
              <a:schemeClr val="tx1"/>
            </a:solidFill>
            <a:miter lim="800000"/>
            <a:headEnd/>
            <a:tailEnd/>
          </a:ln>
        </p:spPr>
        <p:txBody>
          <a:bodyPr wrap="none"/>
          <a:lstStyle/>
          <a:p>
            <a:endParaRPr lang="en-IN"/>
          </a:p>
        </p:txBody>
      </p:sp>
      <p:sp>
        <p:nvSpPr>
          <p:cNvPr id="21513" name="Line 9"/>
          <p:cNvSpPr>
            <a:spLocks noChangeShapeType="1"/>
          </p:cNvSpPr>
          <p:nvPr/>
        </p:nvSpPr>
        <p:spPr bwMode="auto">
          <a:xfrm>
            <a:off x="1143000" y="3429000"/>
            <a:ext cx="6324600" cy="0"/>
          </a:xfrm>
          <a:prstGeom prst="line">
            <a:avLst/>
          </a:prstGeom>
          <a:noFill/>
          <a:ln w="9525">
            <a:solidFill>
              <a:schemeClr val="tx1"/>
            </a:solidFill>
            <a:miter lim="800000"/>
            <a:headEnd/>
            <a:tailEnd/>
          </a:ln>
        </p:spPr>
        <p:txBody>
          <a:bodyPr wrap="none"/>
          <a:lstStyle/>
          <a:p>
            <a:endParaRPr lang="en-IN"/>
          </a:p>
        </p:txBody>
      </p:sp>
      <p:sp>
        <p:nvSpPr>
          <p:cNvPr id="21514" name="Line 10"/>
          <p:cNvSpPr>
            <a:spLocks noChangeShapeType="1"/>
          </p:cNvSpPr>
          <p:nvPr/>
        </p:nvSpPr>
        <p:spPr bwMode="auto">
          <a:xfrm>
            <a:off x="1143000" y="3429000"/>
            <a:ext cx="0" cy="609600"/>
          </a:xfrm>
          <a:prstGeom prst="line">
            <a:avLst/>
          </a:prstGeom>
          <a:noFill/>
          <a:ln w="9525">
            <a:solidFill>
              <a:schemeClr val="tx1"/>
            </a:solidFill>
            <a:miter lim="800000"/>
            <a:headEnd/>
            <a:tailEnd/>
          </a:ln>
        </p:spPr>
        <p:txBody>
          <a:bodyPr wrap="none"/>
          <a:lstStyle/>
          <a:p>
            <a:endParaRPr lang="en-IN"/>
          </a:p>
        </p:txBody>
      </p:sp>
      <p:sp>
        <p:nvSpPr>
          <p:cNvPr id="21515" name="Line 11"/>
          <p:cNvSpPr>
            <a:spLocks noChangeShapeType="1"/>
          </p:cNvSpPr>
          <p:nvPr/>
        </p:nvSpPr>
        <p:spPr bwMode="auto">
          <a:xfrm>
            <a:off x="3200400" y="3429000"/>
            <a:ext cx="0" cy="609600"/>
          </a:xfrm>
          <a:prstGeom prst="line">
            <a:avLst/>
          </a:prstGeom>
          <a:noFill/>
          <a:ln w="9525">
            <a:solidFill>
              <a:schemeClr val="tx1"/>
            </a:solidFill>
            <a:miter lim="800000"/>
            <a:headEnd/>
            <a:tailEnd/>
          </a:ln>
        </p:spPr>
        <p:txBody>
          <a:bodyPr wrap="none"/>
          <a:lstStyle/>
          <a:p>
            <a:endParaRPr lang="en-IN"/>
          </a:p>
        </p:txBody>
      </p:sp>
      <p:sp>
        <p:nvSpPr>
          <p:cNvPr id="21516" name="Line 12"/>
          <p:cNvSpPr>
            <a:spLocks noChangeShapeType="1"/>
          </p:cNvSpPr>
          <p:nvPr/>
        </p:nvSpPr>
        <p:spPr bwMode="auto">
          <a:xfrm>
            <a:off x="5410200" y="3429000"/>
            <a:ext cx="0" cy="609600"/>
          </a:xfrm>
          <a:prstGeom prst="line">
            <a:avLst/>
          </a:prstGeom>
          <a:noFill/>
          <a:ln w="9525">
            <a:solidFill>
              <a:schemeClr val="tx1"/>
            </a:solidFill>
            <a:miter lim="800000"/>
            <a:headEnd/>
            <a:tailEnd/>
          </a:ln>
        </p:spPr>
        <p:txBody>
          <a:bodyPr wrap="none"/>
          <a:lstStyle/>
          <a:p>
            <a:endParaRPr lang="en-IN"/>
          </a:p>
        </p:txBody>
      </p:sp>
      <p:sp>
        <p:nvSpPr>
          <p:cNvPr id="21517" name="Line 13"/>
          <p:cNvSpPr>
            <a:spLocks noChangeShapeType="1"/>
          </p:cNvSpPr>
          <p:nvPr/>
        </p:nvSpPr>
        <p:spPr bwMode="auto">
          <a:xfrm>
            <a:off x="7467600" y="3429000"/>
            <a:ext cx="0" cy="609600"/>
          </a:xfrm>
          <a:prstGeom prst="line">
            <a:avLst/>
          </a:prstGeom>
          <a:noFill/>
          <a:ln w="9525">
            <a:solidFill>
              <a:schemeClr val="tx1"/>
            </a:solidFill>
            <a:miter lim="800000"/>
            <a:headEnd/>
            <a:tailEnd/>
          </a:ln>
        </p:spPr>
        <p:txBody>
          <a:bodyPr wrap="none"/>
          <a:lstStyle/>
          <a:p>
            <a:endParaRPr lang="en-IN"/>
          </a:p>
        </p:txBody>
      </p:sp>
      <p:sp>
        <p:nvSpPr>
          <p:cNvPr id="21518" name="Text Box 14"/>
          <p:cNvSpPr txBox="1">
            <a:spLocks noChangeArrowheads="1"/>
          </p:cNvSpPr>
          <p:nvPr/>
        </p:nvSpPr>
        <p:spPr bwMode="auto">
          <a:xfrm>
            <a:off x="3200400" y="2362200"/>
            <a:ext cx="2209800" cy="457200"/>
          </a:xfrm>
          <a:prstGeom prst="rect">
            <a:avLst/>
          </a:prstGeom>
          <a:noFill/>
          <a:ln w="9525">
            <a:noFill/>
            <a:miter lim="800000"/>
            <a:headEnd/>
            <a:tailEnd/>
          </a:ln>
        </p:spPr>
        <p:txBody>
          <a:bodyPr>
            <a:spAutoFit/>
          </a:bodyPr>
          <a:lstStyle/>
          <a:p>
            <a:pPr>
              <a:spcBef>
                <a:spcPct val="50000"/>
              </a:spcBef>
            </a:pPr>
            <a:r>
              <a:rPr lang="en-US" sz="2400" b="1">
                <a:solidFill>
                  <a:srgbClr val="000099"/>
                </a:solidFill>
                <a:latin typeface="Times New Roman" pitchFamily="18" charset="0"/>
              </a:rPr>
              <a:t>Employee</a:t>
            </a:r>
          </a:p>
        </p:txBody>
      </p:sp>
      <p:sp>
        <p:nvSpPr>
          <p:cNvPr id="21519" name="Text Box 15"/>
          <p:cNvSpPr txBox="1">
            <a:spLocks noChangeArrowheads="1"/>
          </p:cNvSpPr>
          <p:nvPr/>
        </p:nvSpPr>
        <p:spPr bwMode="auto">
          <a:xfrm>
            <a:off x="1447800" y="5715000"/>
            <a:ext cx="2514600" cy="457200"/>
          </a:xfrm>
          <a:prstGeom prst="rect">
            <a:avLst/>
          </a:prstGeom>
          <a:noFill/>
          <a:ln w="9525">
            <a:noFill/>
            <a:miter lim="800000"/>
            <a:headEnd/>
            <a:tailEnd/>
          </a:ln>
        </p:spPr>
        <p:txBody>
          <a:bodyPr>
            <a:spAutoFit/>
          </a:bodyPr>
          <a:lstStyle/>
          <a:p>
            <a:pPr>
              <a:spcBef>
                <a:spcPct val="50000"/>
              </a:spcBef>
            </a:pPr>
            <a:endParaRPr lang="en-US" sz="2400" b="1">
              <a:solidFill>
                <a:srgbClr val="000099"/>
              </a:solidFill>
              <a:latin typeface="Tahoma" pitchFamily="34" charset="0"/>
            </a:endParaRPr>
          </a:p>
        </p:txBody>
      </p:sp>
      <p:sp>
        <p:nvSpPr>
          <p:cNvPr id="21520" name="Text Box 16"/>
          <p:cNvSpPr txBox="1">
            <a:spLocks noChangeArrowheads="1"/>
          </p:cNvSpPr>
          <p:nvPr/>
        </p:nvSpPr>
        <p:spPr bwMode="auto">
          <a:xfrm>
            <a:off x="304800" y="4267200"/>
            <a:ext cx="2133600" cy="457200"/>
          </a:xfrm>
          <a:prstGeom prst="rect">
            <a:avLst/>
          </a:prstGeom>
          <a:noFill/>
          <a:ln w="9525">
            <a:noFill/>
            <a:miter lim="800000"/>
            <a:headEnd/>
            <a:tailEnd/>
          </a:ln>
        </p:spPr>
        <p:txBody>
          <a:bodyPr>
            <a:spAutoFit/>
          </a:bodyPr>
          <a:lstStyle/>
          <a:p>
            <a:pPr>
              <a:spcBef>
                <a:spcPct val="50000"/>
              </a:spcBef>
            </a:pPr>
            <a:r>
              <a:rPr lang="en-US" sz="2400" b="1">
                <a:solidFill>
                  <a:srgbClr val="000099"/>
                </a:solidFill>
                <a:latin typeface="Times New Roman" pitchFamily="18" charset="0"/>
              </a:rPr>
              <a:t>Director</a:t>
            </a:r>
          </a:p>
        </p:txBody>
      </p:sp>
      <p:sp>
        <p:nvSpPr>
          <p:cNvPr id="21521" name="Text Box 17"/>
          <p:cNvSpPr txBox="1">
            <a:spLocks noChangeArrowheads="1"/>
          </p:cNvSpPr>
          <p:nvPr/>
        </p:nvSpPr>
        <p:spPr bwMode="auto">
          <a:xfrm>
            <a:off x="2514600" y="4267200"/>
            <a:ext cx="1524000" cy="1004888"/>
          </a:xfrm>
          <a:prstGeom prst="rect">
            <a:avLst/>
          </a:prstGeom>
          <a:noFill/>
          <a:ln w="9525">
            <a:noFill/>
            <a:miter lim="800000"/>
            <a:headEnd/>
            <a:tailEnd/>
          </a:ln>
        </p:spPr>
        <p:txBody>
          <a:bodyPr>
            <a:spAutoFit/>
          </a:bodyPr>
          <a:lstStyle/>
          <a:p>
            <a:pPr>
              <a:spcBef>
                <a:spcPct val="50000"/>
              </a:spcBef>
            </a:pPr>
            <a:r>
              <a:rPr lang="en-US" sz="2400" b="1">
                <a:solidFill>
                  <a:srgbClr val="000099"/>
                </a:solidFill>
                <a:latin typeface="Times New Roman" pitchFamily="18" charset="0"/>
              </a:rPr>
              <a:t>Manager</a:t>
            </a:r>
          </a:p>
          <a:p>
            <a:pPr>
              <a:spcBef>
                <a:spcPct val="50000"/>
              </a:spcBef>
            </a:pPr>
            <a:endParaRPr lang="en-US" sz="2400" b="1">
              <a:solidFill>
                <a:srgbClr val="000099"/>
              </a:solidFill>
              <a:latin typeface="Times New Roman" pitchFamily="18" charset="0"/>
            </a:endParaRPr>
          </a:p>
        </p:txBody>
      </p:sp>
      <p:sp>
        <p:nvSpPr>
          <p:cNvPr id="21522" name="Text Box 18"/>
          <p:cNvSpPr txBox="1">
            <a:spLocks noChangeArrowheads="1"/>
          </p:cNvSpPr>
          <p:nvPr/>
        </p:nvSpPr>
        <p:spPr bwMode="auto">
          <a:xfrm>
            <a:off x="4648200" y="4191000"/>
            <a:ext cx="1981200" cy="457200"/>
          </a:xfrm>
          <a:prstGeom prst="rect">
            <a:avLst/>
          </a:prstGeom>
          <a:noFill/>
          <a:ln w="9525">
            <a:noFill/>
            <a:miter lim="800000"/>
            <a:headEnd/>
            <a:tailEnd/>
          </a:ln>
        </p:spPr>
        <p:txBody>
          <a:bodyPr>
            <a:spAutoFit/>
          </a:bodyPr>
          <a:lstStyle/>
          <a:p>
            <a:pPr>
              <a:spcBef>
                <a:spcPct val="50000"/>
              </a:spcBef>
            </a:pPr>
            <a:r>
              <a:rPr lang="en-US" sz="2400" b="1">
                <a:solidFill>
                  <a:srgbClr val="000099"/>
                </a:solidFill>
                <a:latin typeface="Times New Roman" pitchFamily="18" charset="0"/>
              </a:rPr>
              <a:t>Secretary </a:t>
            </a:r>
          </a:p>
        </p:txBody>
      </p:sp>
      <p:sp>
        <p:nvSpPr>
          <p:cNvPr id="21523" name="Text Box 19"/>
          <p:cNvSpPr txBox="1">
            <a:spLocks noChangeArrowheads="1"/>
          </p:cNvSpPr>
          <p:nvPr/>
        </p:nvSpPr>
        <p:spPr bwMode="auto">
          <a:xfrm>
            <a:off x="6705600" y="4191000"/>
            <a:ext cx="2514600" cy="457200"/>
          </a:xfrm>
          <a:prstGeom prst="rect">
            <a:avLst/>
          </a:prstGeom>
          <a:noFill/>
          <a:ln w="9525">
            <a:noFill/>
            <a:miter lim="800000"/>
            <a:headEnd/>
            <a:tailEnd/>
          </a:ln>
        </p:spPr>
        <p:txBody>
          <a:bodyPr>
            <a:spAutoFit/>
          </a:bodyPr>
          <a:lstStyle/>
          <a:p>
            <a:pPr>
              <a:spcBef>
                <a:spcPct val="50000"/>
              </a:spcBef>
            </a:pPr>
            <a:r>
              <a:rPr lang="en-US" sz="2400" b="1">
                <a:solidFill>
                  <a:srgbClr val="000099"/>
                </a:solidFill>
                <a:latin typeface="Times New Roman" pitchFamily="18" charset="0"/>
              </a:rPr>
              <a:t>Clerk</a:t>
            </a:r>
          </a:p>
        </p:txBody>
      </p:sp>
      <p:sp>
        <p:nvSpPr>
          <p:cNvPr id="21524" name="Text Box 20"/>
          <p:cNvSpPr txBox="1">
            <a:spLocks noChangeArrowheads="1"/>
          </p:cNvSpPr>
          <p:nvPr/>
        </p:nvSpPr>
        <p:spPr bwMode="auto">
          <a:xfrm>
            <a:off x="457200" y="5486400"/>
            <a:ext cx="8305800" cy="822325"/>
          </a:xfrm>
          <a:prstGeom prst="rect">
            <a:avLst/>
          </a:prstGeom>
          <a:noFill/>
          <a:ln w="9525">
            <a:noFill/>
            <a:miter lim="800000"/>
            <a:headEnd/>
            <a:tailEnd/>
          </a:ln>
        </p:spPr>
        <p:txBody>
          <a:bodyPr>
            <a:spAutoFit/>
          </a:bodyPr>
          <a:lstStyle/>
          <a:p>
            <a:pPr>
              <a:spcBef>
                <a:spcPct val="50000"/>
              </a:spcBef>
            </a:pPr>
            <a:r>
              <a:rPr lang="en-US" sz="2400" b="1">
                <a:solidFill>
                  <a:srgbClr val="000099"/>
                </a:solidFill>
                <a:latin typeface="Times New Roman" pitchFamily="18" charset="0"/>
              </a:rPr>
              <a:t>Each of the sub-classes is considered to be derived from the parent class Employee</a:t>
            </a:r>
          </a:p>
        </p:txBody>
      </p:sp>
    </p:spTree>
  </p:cSld>
  <p:clrMapOvr>
    <a:masterClrMapping/>
  </p:clrMapOvr>
  <p:timing>
    <p:tnLst>
      <p:par>
        <p:cTn id="1" dur="indefinite" restart="never" nodeType="tmRoot"/>
      </p:par>
    </p:tn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ChangeArrowheads="1"/>
          </p:cNvSpPr>
          <p:nvPr/>
        </p:nvSpPr>
        <p:spPr bwMode="auto">
          <a:xfrm>
            <a:off x="304800" y="228600"/>
            <a:ext cx="3733800" cy="6454775"/>
          </a:xfrm>
          <a:prstGeom prst="rect">
            <a:avLst/>
          </a:prstGeom>
          <a:noFill/>
          <a:ln w="9525">
            <a:solidFill>
              <a:srgbClr val="990099"/>
            </a:solidFill>
            <a:miter lim="800000"/>
            <a:headEnd/>
            <a:tailEnd/>
          </a:ln>
        </p:spPr>
        <p:txBody>
          <a:bodyPr>
            <a:spAutoFit/>
          </a:bodyPr>
          <a:lstStyle/>
          <a:p>
            <a:pPr eaLnBrk="0" hangingPunct="0"/>
            <a:r>
              <a:rPr lang="en-US" sz="2000" b="1">
                <a:solidFill>
                  <a:srgbClr val="800000"/>
                </a:solidFill>
                <a:latin typeface="Arial Black" pitchFamily="34" charset="0"/>
              </a:rPr>
              <a:t>Example for Hierarchical </a:t>
            </a:r>
          </a:p>
          <a:p>
            <a:pPr eaLnBrk="0" hangingPunct="0"/>
            <a:r>
              <a:rPr lang="en-US" sz="2000" b="1">
                <a:solidFill>
                  <a:srgbClr val="800000"/>
                </a:solidFill>
                <a:latin typeface="Arial Black" pitchFamily="34" charset="0"/>
              </a:rPr>
              <a:t>inheritance</a:t>
            </a:r>
          </a:p>
          <a:p>
            <a:pPr eaLnBrk="0" hangingPunct="0"/>
            <a:r>
              <a:rPr lang="en-US" sz="1400" b="1">
                <a:solidFill>
                  <a:srgbClr val="800000"/>
                </a:solidFill>
              </a:rPr>
              <a:t>#include&lt;iostream.h&gt;</a:t>
            </a:r>
          </a:p>
          <a:p>
            <a:pPr eaLnBrk="0" hangingPunct="0"/>
            <a:r>
              <a:rPr lang="en-US" sz="1400" b="1">
                <a:solidFill>
                  <a:srgbClr val="800000"/>
                </a:solidFill>
              </a:rPr>
              <a:t>class employee</a:t>
            </a:r>
          </a:p>
          <a:p>
            <a:pPr eaLnBrk="0" hangingPunct="0"/>
            <a:r>
              <a:rPr lang="en-US" sz="1400" b="1">
                <a:solidFill>
                  <a:srgbClr val="800000"/>
                </a:solidFill>
              </a:rPr>
              <a:t>{</a:t>
            </a:r>
          </a:p>
          <a:p>
            <a:pPr eaLnBrk="0" hangingPunct="0"/>
            <a:r>
              <a:rPr lang="en-US" sz="1400" b="1">
                <a:solidFill>
                  <a:srgbClr val="800000"/>
                </a:solidFill>
              </a:rPr>
              <a:t>private :</a:t>
            </a:r>
          </a:p>
          <a:p>
            <a:pPr eaLnBrk="0" hangingPunct="0"/>
            <a:r>
              <a:rPr lang="en-US" sz="1400" b="1">
                <a:solidFill>
                  <a:srgbClr val="800000"/>
                </a:solidFill>
              </a:rPr>
              <a:t>int empno;</a:t>
            </a:r>
          </a:p>
          <a:p>
            <a:pPr eaLnBrk="0" hangingPunct="0"/>
            <a:r>
              <a:rPr lang="en-US" sz="1400" b="1">
                <a:solidFill>
                  <a:srgbClr val="800000"/>
                </a:solidFill>
              </a:rPr>
              <a:t>char empname[20];</a:t>
            </a:r>
          </a:p>
          <a:p>
            <a:pPr eaLnBrk="0" hangingPunct="0"/>
            <a:r>
              <a:rPr lang="en-US" sz="1400" b="1">
                <a:solidFill>
                  <a:srgbClr val="800000"/>
                </a:solidFill>
              </a:rPr>
              <a:t>public :</a:t>
            </a:r>
          </a:p>
          <a:p>
            <a:pPr eaLnBrk="0" hangingPunct="0"/>
            <a:r>
              <a:rPr lang="en-US" sz="1400" b="1">
                <a:solidFill>
                  <a:srgbClr val="800000"/>
                </a:solidFill>
              </a:rPr>
              <a:t>void getdata(){</a:t>
            </a:r>
          </a:p>
          <a:p>
            <a:pPr eaLnBrk="0" hangingPunct="0"/>
            <a:r>
              <a:rPr lang="en-US" sz="1400" b="1">
                <a:solidFill>
                  <a:srgbClr val="800000"/>
                </a:solidFill>
              </a:rPr>
              <a:t>cout&lt;&lt;"\n Enter Employee No";</a:t>
            </a:r>
          </a:p>
          <a:p>
            <a:pPr eaLnBrk="0" hangingPunct="0"/>
            <a:r>
              <a:rPr lang="en-US" sz="1400" b="1">
                <a:solidFill>
                  <a:srgbClr val="800000"/>
                </a:solidFill>
              </a:rPr>
              <a:t>cin&gt;&gt;empno;</a:t>
            </a:r>
          </a:p>
          <a:p>
            <a:pPr eaLnBrk="0" hangingPunct="0"/>
            <a:r>
              <a:rPr lang="en-US" sz="1400" b="1">
                <a:solidFill>
                  <a:srgbClr val="800000"/>
                </a:solidFill>
              </a:rPr>
              <a:t>cout&lt;&lt;"\n Enter Employee name ";</a:t>
            </a:r>
          </a:p>
          <a:p>
            <a:pPr eaLnBrk="0" hangingPunct="0"/>
            <a:r>
              <a:rPr lang="en-US" sz="1400" b="1">
                <a:solidFill>
                  <a:srgbClr val="800000"/>
                </a:solidFill>
              </a:rPr>
              <a:t>cin&gt;&gt;empname;}</a:t>
            </a:r>
          </a:p>
          <a:p>
            <a:pPr eaLnBrk="0" hangingPunct="0"/>
            <a:r>
              <a:rPr lang="en-US" sz="1400" b="1">
                <a:solidFill>
                  <a:srgbClr val="800000"/>
                </a:solidFill>
              </a:rPr>
              <a:t>void putdata(){</a:t>
            </a:r>
          </a:p>
          <a:p>
            <a:pPr eaLnBrk="0" hangingPunct="0"/>
            <a:r>
              <a:rPr lang="en-US" sz="1400" b="1">
                <a:solidFill>
                  <a:srgbClr val="800000"/>
                </a:solidFill>
              </a:rPr>
              <a:t>cout&lt;&lt;"\n Employee No"&lt;&lt;empno;</a:t>
            </a:r>
          </a:p>
          <a:p>
            <a:pPr eaLnBrk="0" hangingPunct="0"/>
            <a:r>
              <a:rPr lang="en-US" sz="1400" b="1">
                <a:solidFill>
                  <a:srgbClr val="800000"/>
                </a:solidFill>
              </a:rPr>
              <a:t>cout&lt;&lt;"\n Employee name "&lt;&lt;empname;}</a:t>
            </a:r>
          </a:p>
          <a:p>
            <a:pPr eaLnBrk="0" hangingPunct="0"/>
            <a:r>
              <a:rPr lang="en-US" sz="1400" b="1">
                <a:solidFill>
                  <a:srgbClr val="800000"/>
                </a:solidFill>
              </a:rPr>
              <a:t>};</a:t>
            </a:r>
          </a:p>
          <a:p>
            <a:pPr eaLnBrk="0" hangingPunct="0"/>
            <a:r>
              <a:rPr lang="en-US" sz="1400" b="1">
                <a:solidFill>
                  <a:srgbClr val="800000"/>
                </a:solidFill>
              </a:rPr>
              <a:t>class manager :public employee</a:t>
            </a:r>
          </a:p>
          <a:p>
            <a:pPr eaLnBrk="0" hangingPunct="0"/>
            <a:r>
              <a:rPr lang="en-US" sz="1400" b="1">
                <a:solidFill>
                  <a:srgbClr val="800000"/>
                </a:solidFill>
              </a:rPr>
              <a:t>{</a:t>
            </a:r>
          </a:p>
          <a:p>
            <a:pPr eaLnBrk="0" hangingPunct="0"/>
            <a:r>
              <a:rPr lang="en-US" sz="1400" b="1">
                <a:solidFill>
                  <a:srgbClr val="800000"/>
                </a:solidFill>
              </a:rPr>
              <a:t>private :</a:t>
            </a:r>
          </a:p>
          <a:p>
            <a:pPr eaLnBrk="0" hangingPunct="0"/>
            <a:r>
              <a:rPr lang="en-US" sz="1400" b="1">
                <a:solidFill>
                  <a:srgbClr val="800000"/>
                </a:solidFill>
              </a:rPr>
              <a:t>float basic;</a:t>
            </a:r>
          </a:p>
          <a:p>
            <a:pPr eaLnBrk="0" hangingPunct="0"/>
            <a:r>
              <a:rPr lang="en-US" sz="1400" b="1">
                <a:solidFill>
                  <a:srgbClr val="800000"/>
                </a:solidFill>
              </a:rPr>
              <a:t>public :</a:t>
            </a:r>
          </a:p>
          <a:p>
            <a:pPr eaLnBrk="0" hangingPunct="0"/>
            <a:r>
              <a:rPr lang="en-US" sz="1400" b="1">
                <a:solidFill>
                  <a:srgbClr val="800000"/>
                </a:solidFill>
              </a:rPr>
              <a:t>float salary;</a:t>
            </a:r>
          </a:p>
          <a:p>
            <a:pPr eaLnBrk="0" hangingPunct="0"/>
            <a:r>
              <a:rPr lang="en-US" sz="1400" b="1">
                <a:solidFill>
                  <a:srgbClr val="800000"/>
                </a:solidFill>
              </a:rPr>
              <a:t>float  da;</a:t>
            </a:r>
          </a:p>
          <a:p>
            <a:pPr eaLnBrk="0" hangingPunct="0"/>
            <a:r>
              <a:rPr lang="en-US" sz="1400" b="1">
                <a:solidFill>
                  <a:srgbClr val="800000"/>
                </a:solidFill>
              </a:rPr>
              <a:t>float hra;</a:t>
            </a:r>
          </a:p>
          <a:p>
            <a:pPr eaLnBrk="0" hangingPunct="0"/>
            <a:r>
              <a:rPr lang="en-US" sz="1400" b="1">
                <a:solidFill>
                  <a:srgbClr val="800000"/>
                </a:solidFill>
              </a:rPr>
              <a:t>float cca;</a:t>
            </a:r>
          </a:p>
          <a:p>
            <a:pPr eaLnBrk="0" hangingPunct="0"/>
            <a:r>
              <a:rPr lang="en-US" sz="1400" b="1">
                <a:solidFill>
                  <a:srgbClr val="800000"/>
                </a:solidFill>
              </a:rPr>
              <a:t>float  pf;</a:t>
            </a:r>
          </a:p>
          <a:p>
            <a:pPr eaLnBrk="0" hangingPunct="0"/>
            <a:r>
              <a:rPr lang="en-US" sz="1400" b="1">
                <a:solidFill>
                  <a:srgbClr val="800000"/>
                </a:solidFill>
              </a:rPr>
              <a:t>float special_allowances;</a:t>
            </a:r>
          </a:p>
        </p:txBody>
      </p:sp>
      <p:sp>
        <p:nvSpPr>
          <p:cNvPr id="24579" name="Rectangle 3"/>
          <p:cNvSpPr>
            <a:spLocks noChangeArrowheads="1"/>
          </p:cNvSpPr>
          <p:nvPr/>
        </p:nvSpPr>
        <p:spPr bwMode="auto">
          <a:xfrm>
            <a:off x="4343400" y="277813"/>
            <a:ext cx="4038600" cy="6483350"/>
          </a:xfrm>
          <a:prstGeom prst="rect">
            <a:avLst/>
          </a:prstGeom>
          <a:noFill/>
          <a:ln w="9525">
            <a:solidFill>
              <a:srgbClr val="990099"/>
            </a:solidFill>
            <a:miter lim="800000"/>
            <a:headEnd/>
            <a:tailEnd/>
          </a:ln>
        </p:spPr>
        <p:txBody>
          <a:bodyPr>
            <a:spAutoFit/>
          </a:bodyPr>
          <a:lstStyle/>
          <a:p>
            <a:pPr eaLnBrk="0" hangingPunct="0"/>
            <a:r>
              <a:rPr lang="en-US" sz="1400" b="1">
                <a:solidFill>
                  <a:srgbClr val="800000"/>
                </a:solidFill>
              </a:rPr>
              <a:t>void getdata()</a:t>
            </a:r>
          </a:p>
          <a:p>
            <a:pPr eaLnBrk="0" hangingPunct="0"/>
            <a:r>
              <a:rPr lang="en-US" sz="1400" b="1">
                <a:solidFill>
                  <a:srgbClr val="800000"/>
                </a:solidFill>
              </a:rPr>
              <a:t>{</a:t>
            </a:r>
          </a:p>
          <a:p>
            <a:pPr eaLnBrk="0" hangingPunct="0"/>
            <a:r>
              <a:rPr lang="en-US" sz="1400" b="1">
                <a:solidFill>
                  <a:srgbClr val="800000"/>
                </a:solidFill>
              </a:rPr>
              <a:t>employee::getdata();</a:t>
            </a:r>
          </a:p>
          <a:p>
            <a:pPr eaLnBrk="0" hangingPunct="0"/>
            <a:r>
              <a:rPr lang="en-US" sz="1400" b="1">
                <a:solidFill>
                  <a:srgbClr val="800000"/>
                </a:solidFill>
              </a:rPr>
              <a:t> cout&lt;&lt;"Enter Basic Salary \n";</a:t>
            </a:r>
          </a:p>
          <a:p>
            <a:pPr eaLnBrk="0" hangingPunct="0"/>
            <a:r>
              <a:rPr lang="en-US" sz="1400" b="1">
                <a:solidFill>
                  <a:srgbClr val="800000"/>
                </a:solidFill>
              </a:rPr>
              <a:t>cin&gt;&gt;basic;</a:t>
            </a:r>
          </a:p>
          <a:p>
            <a:pPr eaLnBrk="0" hangingPunct="0"/>
            <a:r>
              <a:rPr lang="en-US" sz="1400" b="1">
                <a:solidFill>
                  <a:srgbClr val="800000"/>
                </a:solidFill>
              </a:rPr>
              <a:t>}</a:t>
            </a:r>
          </a:p>
          <a:p>
            <a:pPr eaLnBrk="0" hangingPunct="0"/>
            <a:r>
              <a:rPr lang="en-US" sz="1400" b="1">
                <a:solidFill>
                  <a:srgbClr val="800000"/>
                </a:solidFill>
              </a:rPr>
              <a:t>}</a:t>
            </a:r>
          </a:p>
          <a:p>
            <a:pPr eaLnBrk="0" hangingPunct="0"/>
            <a:r>
              <a:rPr lang="en-US" sz="1400" b="1">
                <a:solidFill>
                  <a:srgbClr val="800000"/>
                </a:solidFill>
              </a:rPr>
              <a:t>void putdata()</a:t>
            </a:r>
          </a:p>
          <a:p>
            <a:pPr eaLnBrk="0" hangingPunct="0"/>
            <a:r>
              <a:rPr lang="en-US" sz="1400" b="1">
                <a:solidFill>
                  <a:srgbClr val="800000"/>
                </a:solidFill>
              </a:rPr>
              <a:t>{</a:t>
            </a:r>
          </a:p>
          <a:p>
            <a:pPr eaLnBrk="0" hangingPunct="0"/>
            <a:r>
              <a:rPr lang="en-US" sz="1400" b="1">
                <a:solidFill>
                  <a:srgbClr val="800000"/>
                </a:solidFill>
              </a:rPr>
              <a:t>da=0.30*basic;</a:t>
            </a:r>
          </a:p>
          <a:p>
            <a:pPr eaLnBrk="0" hangingPunct="0"/>
            <a:r>
              <a:rPr lang="en-US" sz="1400" b="1">
                <a:solidFill>
                  <a:srgbClr val="800000"/>
                </a:solidFill>
              </a:rPr>
              <a:t>hra=0.15*basic;</a:t>
            </a:r>
          </a:p>
          <a:p>
            <a:pPr eaLnBrk="0" hangingPunct="0"/>
            <a:r>
              <a:rPr lang="en-US" sz="1400" b="1">
                <a:solidFill>
                  <a:srgbClr val="800000"/>
                </a:solidFill>
              </a:rPr>
              <a:t>cca=0.05*basic;</a:t>
            </a:r>
          </a:p>
          <a:p>
            <a:pPr eaLnBrk="0" hangingPunct="0"/>
            <a:r>
              <a:rPr lang="en-US" sz="1400" b="1">
                <a:solidFill>
                  <a:srgbClr val="800000"/>
                </a:solidFill>
              </a:rPr>
              <a:t>pf=0.12*basic;</a:t>
            </a:r>
          </a:p>
          <a:p>
            <a:pPr eaLnBrk="0" hangingPunct="0"/>
            <a:r>
              <a:rPr lang="en-US" sz="1400" b="1">
                <a:solidFill>
                  <a:srgbClr val="800000"/>
                </a:solidFill>
              </a:rPr>
              <a:t>special_allowances=0.4*basic;</a:t>
            </a:r>
          </a:p>
          <a:p>
            <a:pPr eaLnBrk="0" hangingPunct="0"/>
            <a:r>
              <a:rPr lang="en-US" sz="1400" b="1">
                <a:solidFill>
                  <a:srgbClr val="800000"/>
                </a:solidFill>
              </a:rPr>
              <a:t>salary=basic+da+hra+cca+special_allowances-pf;</a:t>
            </a:r>
          </a:p>
          <a:p>
            <a:pPr eaLnBrk="0" hangingPunct="0"/>
            <a:r>
              <a:rPr lang="en-US" sz="1400" b="1">
                <a:solidFill>
                  <a:srgbClr val="800000"/>
                </a:solidFill>
              </a:rPr>
              <a:t>employee::putdata();</a:t>
            </a:r>
          </a:p>
          <a:p>
            <a:pPr eaLnBrk="0" hangingPunct="0"/>
            <a:r>
              <a:rPr lang="en-US" sz="1400" b="1">
                <a:solidFill>
                  <a:srgbClr val="800000"/>
                </a:solidFill>
              </a:rPr>
              <a:t>cout&lt;&lt;endl&lt;&lt;salary;</a:t>
            </a:r>
          </a:p>
          <a:p>
            <a:pPr eaLnBrk="0" hangingPunct="0"/>
            <a:r>
              <a:rPr lang="en-US" sz="1400" b="1">
                <a:solidFill>
                  <a:srgbClr val="800000"/>
                </a:solidFill>
              </a:rPr>
              <a:t>}};</a:t>
            </a:r>
          </a:p>
          <a:p>
            <a:pPr eaLnBrk="0" hangingPunct="0"/>
            <a:r>
              <a:rPr lang="en-US" sz="1400" b="1">
                <a:solidFill>
                  <a:srgbClr val="800000"/>
                </a:solidFill>
              </a:rPr>
              <a:t>class supervisor  : public  employee</a:t>
            </a:r>
          </a:p>
          <a:p>
            <a:pPr eaLnBrk="0" hangingPunct="0"/>
            <a:r>
              <a:rPr lang="en-US" sz="1400" b="1">
                <a:solidFill>
                  <a:srgbClr val="800000"/>
                </a:solidFill>
              </a:rPr>
              <a:t>{</a:t>
            </a:r>
          </a:p>
          <a:p>
            <a:pPr eaLnBrk="0" hangingPunct="0"/>
            <a:r>
              <a:rPr lang="en-US" sz="1400" b="1">
                <a:solidFill>
                  <a:srgbClr val="800000"/>
                </a:solidFill>
              </a:rPr>
              <a:t>private :</a:t>
            </a:r>
          </a:p>
          <a:p>
            <a:pPr eaLnBrk="0" hangingPunct="0"/>
            <a:r>
              <a:rPr lang="en-US" sz="1400" b="1">
                <a:solidFill>
                  <a:srgbClr val="800000"/>
                </a:solidFill>
              </a:rPr>
              <a:t>float basic;</a:t>
            </a:r>
          </a:p>
          <a:p>
            <a:pPr eaLnBrk="0" hangingPunct="0"/>
            <a:r>
              <a:rPr lang="en-US" sz="1400" b="1">
                <a:solidFill>
                  <a:srgbClr val="800000"/>
                </a:solidFill>
              </a:rPr>
              <a:t>public :</a:t>
            </a:r>
          </a:p>
          <a:p>
            <a:pPr eaLnBrk="0" hangingPunct="0"/>
            <a:r>
              <a:rPr lang="en-US" sz="1400" b="1">
                <a:solidFill>
                  <a:srgbClr val="800000"/>
                </a:solidFill>
              </a:rPr>
              <a:t>float salary;</a:t>
            </a:r>
          </a:p>
          <a:p>
            <a:pPr eaLnBrk="0" hangingPunct="0"/>
            <a:r>
              <a:rPr lang="en-US" sz="1400" b="1">
                <a:solidFill>
                  <a:srgbClr val="800000"/>
                </a:solidFill>
              </a:rPr>
              <a:t>float  da;</a:t>
            </a:r>
          </a:p>
          <a:p>
            <a:pPr eaLnBrk="0" hangingPunct="0"/>
            <a:r>
              <a:rPr lang="en-US" sz="1400" b="1">
                <a:solidFill>
                  <a:srgbClr val="800000"/>
                </a:solidFill>
              </a:rPr>
              <a:t>float hra;</a:t>
            </a:r>
          </a:p>
          <a:p>
            <a:pPr eaLnBrk="0" hangingPunct="0"/>
            <a:r>
              <a:rPr lang="en-US" sz="1400" b="1">
                <a:solidFill>
                  <a:srgbClr val="800000"/>
                </a:solidFill>
              </a:rPr>
              <a:t>float cca;</a:t>
            </a:r>
          </a:p>
          <a:p>
            <a:pPr eaLnBrk="0" hangingPunct="0"/>
            <a:r>
              <a:rPr lang="en-US" sz="1400" b="1">
                <a:solidFill>
                  <a:srgbClr val="800000"/>
                </a:solidFill>
              </a:rPr>
              <a:t>float  pf;</a:t>
            </a:r>
          </a:p>
          <a:p>
            <a:pPr eaLnBrk="0" hangingPunct="0"/>
            <a:r>
              <a:rPr lang="en-US" sz="1400" b="1">
                <a:solidFill>
                  <a:srgbClr val="800000"/>
                </a:solidFill>
              </a:rPr>
              <a:t>float special_allowances;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0"/>
                                  </p:stCondLst>
                                  <p:childTnLst>
                                    <p:set>
                                      <p:cBhvr>
                                        <p:cTn id="6" dur="1" fill="hold">
                                          <p:stCondLst>
                                            <p:cond delay="0"/>
                                          </p:stCondLst>
                                        </p:cTn>
                                        <p:tgtEl>
                                          <p:spTgt spid="24578"/>
                                        </p:tgtEl>
                                        <p:attrNameLst>
                                          <p:attrName>style.visibility</p:attrName>
                                        </p:attrNameLst>
                                      </p:cBhvr>
                                      <p:to>
                                        <p:strVal val="visible"/>
                                      </p:to>
                                    </p:set>
                                    <p:anim calcmode="lin" valueType="num">
                                      <p:cBhvr>
                                        <p:cTn id="7" dur="500" fill="hold"/>
                                        <p:tgtEl>
                                          <p:spTgt spid="24578"/>
                                        </p:tgtEl>
                                        <p:attrNameLst>
                                          <p:attrName>ppt_w</p:attrName>
                                        </p:attrNameLst>
                                      </p:cBhvr>
                                      <p:tavLst>
                                        <p:tav tm="0">
                                          <p:val>
                                            <p:fltVal val="0"/>
                                          </p:val>
                                        </p:tav>
                                        <p:tav tm="100000">
                                          <p:val>
                                            <p:strVal val="#ppt_w"/>
                                          </p:val>
                                        </p:tav>
                                      </p:tavLst>
                                    </p:anim>
                                    <p:anim calcmode="lin" valueType="num">
                                      <p:cBhvr>
                                        <p:cTn id="8" dur="500" fill="hold"/>
                                        <p:tgtEl>
                                          <p:spTgt spid="24578"/>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24579"/>
                                        </p:tgtEl>
                                        <p:attrNameLst>
                                          <p:attrName>style.visibility</p:attrName>
                                        </p:attrNameLst>
                                      </p:cBhvr>
                                      <p:to>
                                        <p:strVal val="visible"/>
                                      </p:to>
                                    </p:set>
                                    <p:anim calcmode="lin" valueType="num">
                                      <p:cBhvr>
                                        <p:cTn id="11" dur="500" fill="hold"/>
                                        <p:tgtEl>
                                          <p:spTgt spid="24579"/>
                                        </p:tgtEl>
                                        <p:attrNameLst>
                                          <p:attrName>ppt_w</p:attrName>
                                        </p:attrNameLst>
                                      </p:cBhvr>
                                      <p:tavLst>
                                        <p:tav tm="0">
                                          <p:val>
                                            <p:fltVal val="0"/>
                                          </p:val>
                                        </p:tav>
                                        <p:tav tm="100000">
                                          <p:val>
                                            <p:strVal val="#ppt_w"/>
                                          </p:val>
                                        </p:tav>
                                      </p:tavLst>
                                    </p:anim>
                                    <p:anim calcmode="lin" valueType="num">
                                      <p:cBhvr>
                                        <p:cTn id="12" dur="500" fill="hold"/>
                                        <p:tgtEl>
                                          <p:spTgt spid="2457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8" grpId="0" animBg="1"/>
      <p:bldP spid="24579" grpId="0" animBg="1"/>
    </p:bld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ChangeArrowheads="1"/>
          </p:cNvSpPr>
          <p:nvPr/>
        </p:nvSpPr>
        <p:spPr bwMode="auto">
          <a:xfrm>
            <a:off x="304800" y="228600"/>
            <a:ext cx="3733800" cy="6696075"/>
          </a:xfrm>
          <a:prstGeom prst="rect">
            <a:avLst/>
          </a:prstGeom>
          <a:noFill/>
          <a:ln w="9525">
            <a:solidFill>
              <a:srgbClr val="990099"/>
            </a:solidFill>
            <a:miter lim="800000"/>
            <a:headEnd/>
            <a:tailEnd/>
          </a:ln>
        </p:spPr>
        <p:txBody>
          <a:bodyPr>
            <a:spAutoFit/>
          </a:bodyPr>
          <a:lstStyle/>
          <a:p>
            <a:pPr eaLnBrk="0" hangingPunct="0"/>
            <a:r>
              <a:rPr lang="en-US" sz="1400" b="1">
                <a:solidFill>
                  <a:srgbClr val="800000"/>
                </a:solidFill>
              </a:rPr>
              <a:t>void getdata()</a:t>
            </a:r>
          </a:p>
          <a:p>
            <a:pPr eaLnBrk="0" hangingPunct="0"/>
            <a:r>
              <a:rPr lang="en-US" sz="1400" b="1">
                <a:solidFill>
                  <a:srgbClr val="800000"/>
                </a:solidFill>
              </a:rPr>
              <a:t>{</a:t>
            </a:r>
          </a:p>
          <a:p>
            <a:pPr eaLnBrk="0" hangingPunct="0"/>
            <a:r>
              <a:rPr lang="en-US" sz="1400" b="1">
                <a:solidFill>
                  <a:srgbClr val="800000"/>
                </a:solidFill>
              </a:rPr>
              <a:t>employee::getdata();</a:t>
            </a:r>
          </a:p>
          <a:p>
            <a:pPr eaLnBrk="0" hangingPunct="0"/>
            <a:r>
              <a:rPr lang="en-US" sz="1400" b="1">
                <a:solidFill>
                  <a:srgbClr val="800000"/>
                </a:solidFill>
              </a:rPr>
              <a:t>cout&lt;&lt;"Enter Basic Salary \n";</a:t>
            </a:r>
          </a:p>
          <a:p>
            <a:pPr eaLnBrk="0" hangingPunct="0"/>
            <a:r>
              <a:rPr lang="en-US" sz="1400" b="1">
                <a:solidFill>
                  <a:srgbClr val="800000"/>
                </a:solidFill>
              </a:rPr>
              <a:t>cin&gt;&gt;basic;</a:t>
            </a:r>
          </a:p>
          <a:p>
            <a:pPr eaLnBrk="0" hangingPunct="0"/>
            <a:r>
              <a:rPr lang="en-US" sz="1400" b="1">
                <a:solidFill>
                  <a:srgbClr val="800000"/>
                </a:solidFill>
              </a:rPr>
              <a:t>}</a:t>
            </a:r>
          </a:p>
          <a:p>
            <a:pPr eaLnBrk="0" hangingPunct="0"/>
            <a:r>
              <a:rPr lang="en-US" sz="1400" b="1">
                <a:solidFill>
                  <a:srgbClr val="800000"/>
                </a:solidFill>
              </a:rPr>
              <a:t>void putdata()</a:t>
            </a:r>
          </a:p>
          <a:p>
            <a:pPr eaLnBrk="0" hangingPunct="0"/>
            <a:r>
              <a:rPr lang="en-US" sz="1400" b="1">
                <a:solidFill>
                  <a:srgbClr val="800000"/>
                </a:solidFill>
              </a:rPr>
              <a:t>{</a:t>
            </a:r>
          </a:p>
          <a:p>
            <a:pPr eaLnBrk="0" hangingPunct="0"/>
            <a:r>
              <a:rPr lang="en-US" sz="1400" b="1">
                <a:solidFill>
                  <a:srgbClr val="800000"/>
                </a:solidFill>
              </a:rPr>
              <a:t>da=0.30*basic;</a:t>
            </a:r>
          </a:p>
          <a:p>
            <a:pPr eaLnBrk="0" hangingPunct="0"/>
            <a:r>
              <a:rPr lang="en-US" sz="1400" b="1">
                <a:solidFill>
                  <a:srgbClr val="800000"/>
                </a:solidFill>
              </a:rPr>
              <a:t>hra=0.15*basic;</a:t>
            </a:r>
          </a:p>
          <a:p>
            <a:pPr eaLnBrk="0" hangingPunct="0"/>
            <a:r>
              <a:rPr lang="en-US" sz="1400" b="1">
                <a:solidFill>
                  <a:srgbClr val="800000"/>
                </a:solidFill>
              </a:rPr>
              <a:t>cca=0.05*basic;</a:t>
            </a:r>
          </a:p>
          <a:p>
            <a:pPr eaLnBrk="0" hangingPunct="0"/>
            <a:r>
              <a:rPr lang="en-US" sz="1400" b="1">
                <a:solidFill>
                  <a:srgbClr val="800000"/>
                </a:solidFill>
              </a:rPr>
              <a:t>pf=0.12*basic;</a:t>
            </a:r>
          </a:p>
          <a:p>
            <a:pPr eaLnBrk="0" hangingPunct="0"/>
            <a:r>
              <a:rPr lang="en-US" sz="1400" b="1">
                <a:solidFill>
                  <a:srgbClr val="800000"/>
                </a:solidFill>
              </a:rPr>
              <a:t>special_allowances=0.4*basic;</a:t>
            </a:r>
          </a:p>
          <a:p>
            <a:pPr eaLnBrk="0" hangingPunct="0"/>
            <a:r>
              <a:rPr lang="en-US" sz="1400" b="1">
                <a:solidFill>
                  <a:srgbClr val="800000"/>
                </a:solidFill>
              </a:rPr>
              <a:t>salary=basic+da+hra+cca+special_allowances-pf;</a:t>
            </a:r>
          </a:p>
          <a:p>
            <a:pPr eaLnBrk="0" hangingPunct="0"/>
            <a:r>
              <a:rPr lang="en-US" sz="1400" b="1">
                <a:solidFill>
                  <a:srgbClr val="800000"/>
                </a:solidFill>
              </a:rPr>
              <a:t>employee::putdata();</a:t>
            </a:r>
          </a:p>
          <a:p>
            <a:pPr eaLnBrk="0" hangingPunct="0"/>
            <a:r>
              <a:rPr lang="en-US" sz="1400" b="1">
                <a:solidFill>
                  <a:srgbClr val="800000"/>
                </a:solidFill>
              </a:rPr>
              <a:t>cout&lt;&lt;endl&lt;&lt;salary;</a:t>
            </a:r>
          </a:p>
          <a:p>
            <a:pPr eaLnBrk="0" hangingPunct="0"/>
            <a:r>
              <a:rPr lang="en-US" sz="1400" b="1">
                <a:solidFill>
                  <a:srgbClr val="800000"/>
                </a:solidFill>
              </a:rPr>
              <a:t>}</a:t>
            </a:r>
          </a:p>
          <a:p>
            <a:pPr eaLnBrk="0" hangingPunct="0"/>
            <a:r>
              <a:rPr lang="en-US" sz="1400" b="1">
                <a:solidFill>
                  <a:srgbClr val="800000"/>
                </a:solidFill>
              </a:rPr>
              <a:t>};</a:t>
            </a:r>
          </a:p>
          <a:p>
            <a:pPr eaLnBrk="0" hangingPunct="0"/>
            <a:r>
              <a:rPr lang="en-US" sz="1400" b="1">
                <a:solidFill>
                  <a:srgbClr val="800000"/>
                </a:solidFill>
              </a:rPr>
              <a:t>class worker :public employee</a:t>
            </a:r>
          </a:p>
          <a:p>
            <a:pPr eaLnBrk="0" hangingPunct="0"/>
            <a:r>
              <a:rPr lang="en-US" sz="1400" b="1">
                <a:solidFill>
                  <a:srgbClr val="800000"/>
                </a:solidFill>
              </a:rPr>
              <a:t>{</a:t>
            </a:r>
          </a:p>
          <a:p>
            <a:pPr eaLnBrk="0" hangingPunct="0"/>
            <a:r>
              <a:rPr lang="en-US" sz="1400" b="1">
                <a:solidFill>
                  <a:srgbClr val="800000"/>
                </a:solidFill>
              </a:rPr>
              <a:t>public :</a:t>
            </a:r>
          </a:p>
          <a:p>
            <a:pPr eaLnBrk="0" hangingPunct="0"/>
            <a:r>
              <a:rPr lang="en-US" sz="1400" b="1">
                <a:solidFill>
                  <a:srgbClr val="800000"/>
                </a:solidFill>
              </a:rPr>
              <a:t>float salary;</a:t>
            </a:r>
          </a:p>
          <a:p>
            <a:pPr eaLnBrk="0" hangingPunct="0"/>
            <a:r>
              <a:rPr lang="en-US" sz="1400" b="1">
                <a:solidFill>
                  <a:srgbClr val="800000"/>
                </a:solidFill>
              </a:rPr>
              <a:t>float  wages;</a:t>
            </a:r>
          </a:p>
          <a:p>
            <a:pPr eaLnBrk="0" hangingPunct="0"/>
            <a:r>
              <a:rPr lang="en-US" sz="1400" b="1">
                <a:solidFill>
                  <a:srgbClr val="800000"/>
                </a:solidFill>
              </a:rPr>
              <a:t>float incentive;</a:t>
            </a:r>
          </a:p>
          <a:p>
            <a:pPr eaLnBrk="0" hangingPunct="0"/>
            <a:r>
              <a:rPr lang="en-US" sz="1400" b="1">
                <a:solidFill>
                  <a:srgbClr val="800000"/>
                </a:solidFill>
              </a:rPr>
              <a:t>void getdata()</a:t>
            </a:r>
          </a:p>
          <a:p>
            <a:pPr eaLnBrk="0" hangingPunct="0"/>
            <a:r>
              <a:rPr lang="en-US" sz="1400" b="1">
                <a:solidFill>
                  <a:srgbClr val="800000"/>
                </a:solidFill>
              </a:rPr>
              <a:t>{</a:t>
            </a:r>
          </a:p>
          <a:p>
            <a:pPr eaLnBrk="0" hangingPunct="0"/>
            <a:r>
              <a:rPr lang="en-US" sz="1400" b="1">
                <a:solidFill>
                  <a:srgbClr val="800000"/>
                </a:solidFill>
              </a:rPr>
              <a:t>employee::getdata();</a:t>
            </a:r>
          </a:p>
          <a:p>
            <a:pPr eaLnBrk="0" hangingPunct="0"/>
            <a:r>
              <a:rPr lang="en-US" sz="1400" b="1">
                <a:solidFill>
                  <a:srgbClr val="800000"/>
                </a:solidFill>
              </a:rPr>
              <a:t>cout&lt;&lt;"\n Enter wages &amp; incentives";</a:t>
            </a:r>
          </a:p>
          <a:p>
            <a:pPr eaLnBrk="0" hangingPunct="0"/>
            <a:r>
              <a:rPr lang="en-US" sz="1400" b="1">
                <a:solidFill>
                  <a:srgbClr val="800000"/>
                </a:solidFill>
              </a:rPr>
              <a:t>cin&gt;&gt;wages&gt;&gt;incentive;</a:t>
            </a:r>
          </a:p>
          <a:p>
            <a:pPr eaLnBrk="0" hangingPunct="0"/>
            <a:r>
              <a:rPr lang="en-US" sz="1400" b="1">
                <a:solidFill>
                  <a:srgbClr val="800000"/>
                </a:solidFill>
              </a:rPr>
              <a:t>}</a:t>
            </a:r>
          </a:p>
        </p:txBody>
      </p:sp>
      <p:sp>
        <p:nvSpPr>
          <p:cNvPr id="25603" name="Rectangle 3"/>
          <p:cNvSpPr>
            <a:spLocks noChangeArrowheads="1"/>
          </p:cNvSpPr>
          <p:nvPr/>
        </p:nvSpPr>
        <p:spPr bwMode="auto">
          <a:xfrm>
            <a:off x="4114800" y="228600"/>
            <a:ext cx="3733800" cy="5448300"/>
          </a:xfrm>
          <a:prstGeom prst="rect">
            <a:avLst/>
          </a:prstGeom>
          <a:noFill/>
          <a:ln w="9525">
            <a:solidFill>
              <a:srgbClr val="990099"/>
            </a:solidFill>
            <a:miter lim="800000"/>
            <a:headEnd/>
            <a:tailEnd/>
          </a:ln>
        </p:spPr>
        <p:txBody>
          <a:bodyPr>
            <a:spAutoFit/>
          </a:bodyPr>
          <a:lstStyle/>
          <a:p>
            <a:pPr eaLnBrk="0" hangingPunct="0"/>
            <a:r>
              <a:rPr lang="en-US" sz="1600" b="1">
                <a:solidFill>
                  <a:srgbClr val="800000"/>
                </a:solidFill>
              </a:rPr>
              <a:t>void putdata()</a:t>
            </a:r>
          </a:p>
          <a:p>
            <a:pPr eaLnBrk="0" hangingPunct="0"/>
            <a:r>
              <a:rPr lang="en-US" sz="1600" b="1">
                <a:solidFill>
                  <a:srgbClr val="800000"/>
                </a:solidFill>
              </a:rPr>
              <a:t>{</a:t>
            </a:r>
          </a:p>
          <a:p>
            <a:pPr eaLnBrk="0" hangingPunct="0"/>
            <a:r>
              <a:rPr lang="en-US" sz="1600" b="1">
                <a:solidFill>
                  <a:srgbClr val="800000"/>
                </a:solidFill>
              </a:rPr>
              <a:t>salary=wages+incentive;</a:t>
            </a:r>
          </a:p>
          <a:p>
            <a:pPr eaLnBrk="0" hangingPunct="0"/>
            <a:r>
              <a:rPr lang="en-US" sz="1600" b="1">
                <a:solidFill>
                  <a:srgbClr val="800000"/>
                </a:solidFill>
              </a:rPr>
              <a:t>employee::putdata();</a:t>
            </a:r>
          </a:p>
          <a:p>
            <a:pPr eaLnBrk="0" hangingPunct="0"/>
            <a:r>
              <a:rPr lang="en-US" sz="1600" b="1">
                <a:solidFill>
                  <a:srgbClr val="800000"/>
                </a:solidFill>
              </a:rPr>
              <a:t>cout&lt;&lt;endl&lt;&lt;salary;</a:t>
            </a:r>
          </a:p>
          <a:p>
            <a:pPr eaLnBrk="0" hangingPunct="0"/>
            <a:r>
              <a:rPr lang="en-US" sz="1600" b="1">
                <a:solidFill>
                  <a:srgbClr val="800000"/>
                </a:solidFill>
              </a:rPr>
              <a:t>}</a:t>
            </a:r>
          </a:p>
          <a:p>
            <a:pPr eaLnBrk="0" hangingPunct="0"/>
            <a:r>
              <a:rPr lang="en-US" sz="1600" b="1">
                <a:solidFill>
                  <a:srgbClr val="800000"/>
                </a:solidFill>
              </a:rPr>
              <a:t>};</a:t>
            </a:r>
          </a:p>
          <a:p>
            <a:pPr eaLnBrk="0" hangingPunct="0"/>
            <a:r>
              <a:rPr lang="en-US" sz="1600" b="1">
                <a:solidFill>
                  <a:srgbClr val="800000"/>
                </a:solidFill>
              </a:rPr>
              <a:t>void main()</a:t>
            </a:r>
          </a:p>
          <a:p>
            <a:pPr eaLnBrk="0" hangingPunct="0"/>
            <a:r>
              <a:rPr lang="en-US" sz="1600" b="1">
                <a:solidFill>
                  <a:srgbClr val="800000"/>
                </a:solidFill>
              </a:rPr>
              <a:t>{</a:t>
            </a:r>
          </a:p>
          <a:p>
            <a:pPr eaLnBrk="0" hangingPunct="0"/>
            <a:r>
              <a:rPr lang="en-US" sz="1600" b="1">
                <a:solidFill>
                  <a:srgbClr val="800000"/>
                </a:solidFill>
              </a:rPr>
              <a:t>manager m;</a:t>
            </a:r>
          </a:p>
          <a:p>
            <a:pPr eaLnBrk="0" hangingPunct="0"/>
            <a:r>
              <a:rPr lang="en-US" sz="1600" b="1">
                <a:solidFill>
                  <a:srgbClr val="800000"/>
                </a:solidFill>
              </a:rPr>
              <a:t>supervisor s;</a:t>
            </a:r>
          </a:p>
          <a:p>
            <a:pPr eaLnBrk="0" hangingPunct="0"/>
            <a:r>
              <a:rPr lang="en-US" sz="1600" b="1">
                <a:solidFill>
                  <a:srgbClr val="800000"/>
                </a:solidFill>
              </a:rPr>
              <a:t>worker w;</a:t>
            </a:r>
          </a:p>
          <a:p>
            <a:pPr eaLnBrk="0" hangingPunct="0"/>
            <a:r>
              <a:rPr lang="en-US" sz="1600" b="1">
                <a:solidFill>
                  <a:srgbClr val="800000"/>
                </a:solidFill>
              </a:rPr>
              <a:t>clrscr();</a:t>
            </a:r>
          </a:p>
          <a:p>
            <a:pPr eaLnBrk="0" hangingPunct="0"/>
            <a:r>
              <a:rPr lang="en-US" sz="1600" b="1">
                <a:solidFill>
                  <a:srgbClr val="800000"/>
                </a:solidFill>
              </a:rPr>
              <a:t>m.getdata();</a:t>
            </a:r>
          </a:p>
          <a:p>
            <a:pPr eaLnBrk="0" hangingPunct="0"/>
            <a:r>
              <a:rPr lang="en-US" sz="1600" b="1">
                <a:solidFill>
                  <a:srgbClr val="800000"/>
                </a:solidFill>
              </a:rPr>
              <a:t>s.getdata();</a:t>
            </a:r>
          </a:p>
          <a:p>
            <a:pPr eaLnBrk="0" hangingPunct="0"/>
            <a:r>
              <a:rPr lang="en-US" sz="1600" b="1">
                <a:solidFill>
                  <a:srgbClr val="800000"/>
                </a:solidFill>
              </a:rPr>
              <a:t>w.getdata();</a:t>
            </a:r>
          </a:p>
          <a:p>
            <a:pPr eaLnBrk="0" hangingPunct="0"/>
            <a:r>
              <a:rPr lang="en-US" sz="1600" b="1">
                <a:solidFill>
                  <a:srgbClr val="800000"/>
                </a:solidFill>
              </a:rPr>
              <a:t>w.putdata();</a:t>
            </a:r>
          </a:p>
          <a:p>
            <a:pPr eaLnBrk="0" hangingPunct="0"/>
            <a:r>
              <a:rPr lang="en-US" sz="1600" b="1">
                <a:solidFill>
                  <a:srgbClr val="800000"/>
                </a:solidFill>
              </a:rPr>
              <a:t>s.putdata();</a:t>
            </a:r>
          </a:p>
          <a:p>
            <a:pPr eaLnBrk="0" hangingPunct="0"/>
            <a:r>
              <a:rPr lang="en-US" sz="1600" b="1">
                <a:solidFill>
                  <a:srgbClr val="800000"/>
                </a:solidFill>
              </a:rPr>
              <a:t>m.putdata();</a:t>
            </a:r>
          </a:p>
          <a:p>
            <a:pPr eaLnBrk="0" hangingPunct="0"/>
            <a:r>
              <a:rPr lang="en-US" sz="1600" b="1">
                <a:solidFill>
                  <a:srgbClr val="800000"/>
                </a:solidFill>
              </a:rPr>
              <a:t>getch();</a:t>
            </a:r>
          </a:p>
          <a:p>
            <a:pPr eaLnBrk="0" hangingPunct="0"/>
            <a:r>
              <a:rPr lang="en-US" sz="1600" b="1">
                <a:solidFill>
                  <a:srgbClr val="800000"/>
                </a:solidFill>
              </a:rPr>
              <a:t>}</a:t>
            </a:r>
          </a:p>
          <a:p>
            <a:pPr eaLnBrk="0" hangingPunct="0"/>
            <a:endParaRPr lang="en-US" sz="1400" b="1">
              <a:solidFill>
                <a:srgbClr val="8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0"/>
                                  </p:stCondLst>
                                  <p:childTnLst>
                                    <p:set>
                                      <p:cBhvr>
                                        <p:cTn id="6" dur="1" fill="hold">
                                          <p:stCondLst>
                                            <p:cond delay="0"/>
                                          </p:stCondLst>
                                        </p:cTn>
                                        <p:tgtEl>
                                          <p:spTgt spid="25602"/>
                                        </p:tgtEl>
                                        <p:attrNameLst>
                                          <p:attrName>style.visibility</p:attrName>
                                        </p:attrNameLst>
                                      </p:cBhvr>
                                      <p:to>
                                        <p:strVal val="visible"/>
                                      </p:to>
                                    </p:set>
                                    <p:anim calcmode="lin" valueType="num">
                                      <p:cBhvr>
                                        <p:cTn id="7" dur="500" fill="hold"/>
                                        <p:tgtEl>
                                          <p:spTgt spid="25602"/>
                                        </p:tgtEl>
                                        <p:attrNameLst>
                                          <p:attrName>ppt_w</p:attrName>
                                        </p:attrNameLst>
                                      </p:cBhvr>
                                      <p:tavLst>
                                        <p:tav tm="0">
                                          <p:val>
                                            <p:fltVal val="0"/>
                                          </p:val>
                                        </p:tav>
                                        <p:tav tm="100000">
                                          <p:val>
                                            <p:strVal val="#ppt_w"/>
                                          </p:val>
                                        </p:tav>
                                      </p:tavLst>
                                    </p:anim>
                                    <p:anim calcmode="lin" valueType="num">
                                      <p:cBhvr>
                                        <p:cTn id="8" dur="500" fill="hold"/>
                                        <p:tgtEl>
                                          <p:spTgt spid="25602"/>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25603"/>
                                        </p:tgtEl>
                                        <p:attrNameLst>
                                          <p:attrName>style.visibility</p:attrName>
                                        </p:attrNameLst>
                                      </p:cBhvr>
                                      <p:to>
                                        <p:strVal val="visible"/>
                                      </p:to>
                                    </p:set>
                                    <p:anim calcmode="lin" valueType="num">
                                      <p:cBhvr>
                                        <p:cTn id="11" dur="500" fill="hold"/>
                                        <p:tgtEl>
                                          <p:spTgt spid="25603"/>
                                        </p:tgtEl>
                                        <p:attrNameLst>
                                          <p:attrName>ppt_w</p:attrName>
                                        </p:attrNameLst>
                                      </p:cBhvr>
                                      <p:tavLst>
                                        <p:tav tm="0">
                                          <p:val>
                                            <p:fltVal val="0"/>
                                          </p:val>
                                        </p:tav>
                                        <p:tav tm="100000">
                                          <p:val>
                                            <p:strVal val="#ppt_w"/>
                                          </p:val>
                                        </p:tav>
                                      </p:tavLst>
                                    </p:anim>
                                    <p:anim calcmode="lin" valueType="num">
                                      <p:cBhvr>
                                        <p:cTn id="12" dur="500" fill="hold"/>
                                        <p:tgtEl>
                                          <p:spTgt spid="2560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animBg="1"/>
      <p:bldP spid="25603" grpId="0" animBg="1"/>
    </p:bld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ChangeArrowheads="1"/>
          </p:cNvSpPr>
          <p:nvPr/>
        </p:nvSpPr>
        <p:spPr bwMode="auto">
          <a:xfrm>
            <a:off x="304800" y="228600"/>
            <a:ext cx="3733800" cy="6432550"/>
          </a:xfrm>
          <a:prstGeom prst="rect">
            <a:avLst/>
          </a:prstGeom>
          <a:noFill/>
          <a:ln w="9525">
            <a:solidFill>
              <a:srgbClr val="990099"/>
            </a:solidFill>
            <a:miter lim="800000"/>
            <a:headEnd/>
            <a:tailEnd/>
          </a:ln>
        </p:spPr>
        <p:txBody>
          <a:bodyPr>
            <a:spAutoFit/>
          </a:bodyPr>
          <a:lstStyle/>
          <a:p>
            <a:pPr eaLnBrk="0" hangingPunct="0"/>
            <a:r>
              <a:rPr lang="en-US" sz="2000" b="1">
                <a:solidFill>
                  <a:srgbClr val="800000"/>
                </a:solidFill>
                <a:latin typeface="Arial Black" pitchFamily="34" charset="0"/>
              </a:rPr>
              <a:t>HYBRID INHERITANCE</a:t>
            </a:r>
          </a:p>
          <a:p>
            <a:pPr eaLnBrk="0" hangingPunct="0"/>
            <a:endParaRPr lang="en-US" sz="1400" b="1">
              <a:solidFill>
                <a:srgbClr val="800000"/>
              </a:solidFill>
            </a:endParaRPr>
          </a:p>
          <a:p>
            <a:pPr eaLnBrk="0" hangingPunct="0"/>
            <a:r>
              <a:rPr lang="en-US" sz="1400" b="1">
                <a:solidFill>
                  <a:srgbClr val="800000"/>
                </a:solidFill>
              </a:rPr>
              <a:t>#include&lt;iostream.h&gt;</a:t>
            </a:r>
          </a:p>
          <a:p>
            <a:pPr eaLnBrk="0" hangingPunct="0"/>
            <a:r>
              <a:rPr lang="en-US" sz="1400" b="1">
                <a:solidFill>
                  <a:srgbClr val="800000"/>
                </a:solidFill>
              </a:rPr>
              <a:t>class lecturer</a:t>
            </a:r>
          </a:p>
          <a:p>
            <a:pPr eaLnBrk="0" hangingPunct="0"/>
            <a:r>
              <a:rPr lang="en-US" sz="1400" b="1">
                <a:solidFill>
                  <a:srgbClr val="800000"/>
                </a:solidFill>
              </a:rPr>
              <a:t>{</a:t>
            </a:r>
          </a:p>
          <a:p>
            <a:pPr eaLnBrk="0" hangingPunct="0"/>
            <a:r>
              <a:rPr lang="en-US" sz="1400" b="1">
                <a:solidFill>
                  <a:srgbClr val="800000"/>
                </a:solidFill>
              </a:rPr>
              <a:t>private :</a:t>
            </a:r>
          </a:p>
          <a:p>
            <a:pPr eaLnBrk="0" hangingPunct="0"/>
            <a:r>
              <a:rPr lang="en-US" sz="1400" b="1">
                <a:solidFill>
                  <a:srgbClr val="800000"/>
                </a:solidFill>
              </a:rPr>
              <a:t>char lecturer_name[20];</a:t>
            </a:r>
          </a:p>
          <a:p>
            <a:pPr eaLnBrk="0" hangingPunct="0"/>
            <a:r>
              <a:rPr lang="en-US" sz="1400" b="1">
                <a:solidFill>
                  <a:srgbClr val="800000"/>
                </a:solidFill>
              </a:rPr>
              <a:t>public :</a:t>
            </a:r>
          </a:p>
          <a:p>
            <a:pPr eaLnBrk="0" hangingPunct="0"/>
            <a:r>
              <a:rPr lang="en-US" sz="1400" b="1">
                <a:solidFill>
                  <a:srgbClr val="800000"/>
                </a:solidFill>
              </a:rPr>
              <a:t>void getdata()</a:t>
            </a:r>
          </a:p>
          <a:p>
            <a:pPr eaLnBrk="0" hangingPunct="0"/>
            <a:r>
              <a:rPr lang="en-US" sz="1400" b="1">
                <a:solidFill>
                  <a:srgbClr val="800000"/>
                </a:solidFill>
              </a:rPr>
              <a:t>{</a:t>
            </a:r>
          </a:p>
          <a:p>
            <a:pPr eaLnBrk="0" hangingPunct="0"/>
            <a:r>
              <a:rPr lang="en-US" sz="1400" b="1">
                <a:solidFill>
                  <a:srgbClr val="800000"/>
                </a:solidFill>
              </a:rPr>
              <a:t>cout&lt;&lt;"Enter Lecturer name";</a:t>
            </a:r>
          </a:p>
          <a:p>
            <a:pPr eaLnBrk="0" hangingPunct="0"/>
            <a:r>
              <a:rPr lang="en-US" sz="1400" b="1">
                <a:solidFill>
                  <a:srgbClr val="800000"/>
                </a:solidFill>
              </a:rPr>
              <a:t>cin&gt;&gt;lecturer_name;</a:t>
            </a:r>
          </a:p>
          <a:p>
            <a:pPr eaLnBrk="0" hangingPunct="0"/>
            <a:r>
              <a:rPr lang="en-US" sz="1400" b="1">
                <a:solidFill>
                  <a:srgbClr val="800000"/>
                </a:solidFill>
              </a:rPr>
              <a:t>}</a:t>
            </a:r>
          </a:p>
          <a:p>
            <a:pPr eaLnBrk="0" hangingPunct="0"/>
            <a:r>
              <a:rPr lang="en-US" sz="1400" b="1">
                <a:solidFill>
                  <a:srgbClr val="800000"/>
                </a:solidFill>
              </a:rPr>
              <a:t>void putdata()</a:t>
            </a:r>
          </a:p>
          <a:p>
            <a:pPr eaLnBrk="0" hangingPunct="0"/>
            <a:r>
              <a:rPr lang="en-US" sz="1400" b="1">
                <a:solidFill>
                  <a:srgbClr val="800000"/>
                </a:solidFill>
              </a:rPr>
              <a:t>{</a:t>
            </a:r>
          </a:p>
          <a:p>
            <a:pPr eaLnBrk="0" hangingPunct="0"/>
            <a:r>
              <a:rPr lang="en-US" sz="1400" b="1">
                <a:solidFill>
                  <a:srgbClr val="800000"/>
                </a:solidFill>
              </a:rPr>
              <a:t>cout&lt;&lt;"lecturer name is "&lt;&lt;lecturer_name;</a:t>
            </a:r>
          </a:p>
          <a:p>
            <a:pPr eaLnBrk="0" hangingPunct="0"/>
            <a:r>
              <a:rPr lang="en-US" sz="1400" b="1">
                <a:solidFill>
                  <a:srgbClr val="800000"/>
                </a:solidFill>
              </a:rPr>
              <a:t>}</a:t>
            </a:r>
          </a:p>
          <a:p>
            <a:pPr eaLnBrk="0" hangingPunct="0"/>
            <a:r>
              <a:rPr lang="en-US" sz="1400" b="1">
                <a:solidFill>
                  <a:srgbClr val="800000"/>
                </a:solidFill>
              </a:rPr>
              <a:t>};</a:t>
            </a:r>
          </a:p>
          <a:p>
            <a:pPr eaLnBrk="0" hangingPunct="0"/>
            <a:r>
              <a:rPr lang="en-US" sz="1400" b="1">
                <a:solidFill>
                  <a:srgbClr val="800000"/>
                </a:solidFill>
              </a:rPr>
              <a:t>class department : public lecturer</a:t>
            </a:r>
          </a:p>
          <a:p>
            <a:pPr eaLnBrk="0" hangingPunct="0"/>
            <a:r>
              <a:rPr lang="en-US" sz="1400" b="1">
                <a:solidFill>
                  <a:srgbClr val="800000"/>
                </a:solidFill>
              </a:rPr>
              <a:t>{</a:t>
            </a:r>
          </a:p>
          <a:p>
            <a:pPr eaLnBrk="0" hangingPunct="0"/>
            <a:r>
              <a:rPr lang="en-US" sz="1400" b="1">
                <a:solidFill>
                  <a:srgbClr val="800000"/>
                </a:solidFill>
              </a:rPr>
              <a:t>private :</a:t>
            </a:r>
          </a:p>
          <a:p>
            <a:pPr eaLnBrk="0" hangingPunct="0"/>
            <a:r>
              <a:rPr lang="en-US" sz="1400" b="1">
                <a:solidFill>
                  <a:srgbClr val="800000"/>
                </a:solidFill>
              </a:rPr>
              <a:t>char department_name[20];</a:t>
            </a:r>
          </a:p>
          <a:p>
            <a:pPr eaLnBrk="0" hangingPunct="0"/>
            <a:r>
              <a:rPr lang="en-US" sz="1400" b="1">
                <a:solidFill>
                  <a:srgbClr val="800000"/>
                </a:solidFill>
              </a:rPr>
              <a:t>public:</a:t>
            </a:r>
          </a:p>
          <a:p>
            <a:pPr eaLnBrk="0" hangingPunct="0"/>
            <a:r>
              <a:rPr lang="en-US" sz="1400" b="1">
                <a:solidFill>
                  <a:srgbClr val="800000"/>
                </a:solidFill>
              </a:rPr>
              <a:t>void getdata()</a:t>
            </a:r>
          </a:p>
          <a:p>
            <a:pPr eaLnBrk="0" hangingPunct="0"/>
            <a:r>
              <a:rPr lang="en-US" sz="1400" b="1">
                <a:solidFill>
                  <a:srgbClr val="800000"/>
                </a:solidFill>
              </a:rPr>
              <a:t>{</a:t>
            </a:r>
          </a:p>
          <a:p>
            <a:pPr eaLnBrk="0" hangingPunct="0"/>
            <a:r>
              <a:rPr lang="en-US" sz="1400" b="1">
                <a:solidFill>
                  <a:srgbClr val="800000"/>
                </a:solidFill>
              </a:rPr>
              <a:t>cout&lt;&lt;"Enter Department name";</a:t>
            </a:r>
          </a:p>
          <a:p>
            <a:pPr eaLnBrk="0" hangingPunct="0"/>
            <a:r>
              <a:rPr lang="en-US" sz="1400" b="1">
                <a:solidFill>
                  <a:srgbClr val="800000"/>
                </a:solidFill>
              </a:rPr>
              <a:t>cin&gt;&gt;department_name;</a:t>
            </a:r>
          </a:p>
          <a:p>
            <a:pPr eaLnBrk="0" hangingPunct="0"/>
            <a:r>
              <a:rPr lang="en-US" sz="1400" b="1">
                <a:solidFill>
                  <a:srgbClr val="800000"/>
                </a:solidFill>
              </a:rPr>
              <a:t>}</a:t>
            </a:r>
          </a:p>
        </p:txBody>
      </p:sp>
      <p:sp>
        <p:nvSpPr>
          <p:cNvPr id="26627" name="Rectangle 3"/>
          <p:cNvSpPr>
            <a:spLocks noChangeArrowheads="1"/>
          </p:cNvSpPr>
          <p:nvPr/>
        </p:nvSpPr>
        <p:spPr bwMode="auto">
          <a:xfrm>
            <a:off x="4114800" y="228600"/>
            <a:ext cx="4876800" cy="6057900"/>
          </a:xfrm>
          <a:prstGeom prst="rect">
            <a:avLst/>
          </a:prstGeom>
          <a:noFill/>
          <a:ln w="9525">
            <a:solidFill>
              <a:srgbClr val="990099"/>
            </a:solidFill>
            <a:miter lim="800000"/>
            <a:headEnd/>
            <a:tailEnd/>
          </a:ln>
        </p:spPr>
        <p:txBody>
          <a:bodyPr>
            <a:spAutoFit/>
          </a:bodyPr>
          <a:lstStyle/>
          <a:p>
            <a:pPr eaLnBrk="0" hangingPunct="0"/>
            <a:r>
              <a:rPr lang="en-US" sz="1400" b="1">
                <a:solidFill>
                  <a:srgbClr val="800000"/>
                </a:solidFill>
              </a:rPr>
              <a:t>void putdata()</a:t>
            </a:r>
          </a:p>
          <a:p>
            <a:pPr eaLnBrk="0" hangingPunct="0"/>
            <a:r>
              <a:rPr lang="en-US" sz="1400" b="1">
                <a:solidFill>
                  <a:srgbClr val="800000"/>
                </a:solidFill>
              </a:rPr>
              <a:t>{</a:t>
            </a:r>
          </a:p>
          <a:p>
            <a:pPr eaLnBrk="0" hangingPunct="0"/>
            <a:r>
              <a:rPr lang="en-US" sz="1400" b="1">
                <a:solidFill>
                  <a:srgbClr val="800000"/>
                </a:solidFill>
              </a:rPr>
              <a:t>cout&lt;&lt;"Department name is "&lt;&lt;department_name;</a:t>
            </a:r>
          </a:p>
          <a:p>
            <a:pPr eaLnBrk="0" hangingPunct="0"/>
            <a:r>
              <a:rPr lang="en-US" sz="1400" b="1">
                <a:solidFill>
                  <a:srgbClr val="800000"/>
                </a:solidFill>
              </a:rPr>
              <a:t>}</a:t>
            </a:r>
          </a:p>
          <a:p>
            <a:pPr eaLnBrk="0" hangingPunct="0"/>
            <a:r>
              <a:rPr lang="en-US" sz="1400" b="1">
                <a:solidFill>
                  <a:srgbClr val="800000"/>
                </a:solidFill>
              </a:rPr>
              <a:t>};</a:t>
            </a:r>
          </a:p>
          <a:p>
            <a:pPr eaLnBrk="0" hangingPunct="0"/>
            <a:r>
              <a:rPr lang="en-US" sz="1400" b="1">
                <a:solidFill>
                  <a:srgbClr val="800000"/>
                </a:solidFill>
              </a:rPr>
              <a:t>class marks</a:t>
            </a:r>
          </a:p>
          <a:p>
            <a:pPr eaLnBrk="0" hangingPunct="0"/>
            <a:r>
              <a:rPr lang="en-US" sz="1400" b="1">
                <a:solidFill>
                  <a:srgbClr val="800000"/>
                </a:solidFill>
              </a:rPr>
              <a:t>{</a:t>
            </a:r>
          </a:p>
          <a:p>
            <a:pPr eaLnBrk="0" hangingPunct="0"/>
            <a:r>
              <a:rPr lang="en-US" sz="1400" b="1">
                <a:solidFill>
                  <a:srgbClr val="800000"/>
                </a:solidFill>
              </a:rPr>
              <a:t>public :</a:t>
            </a:r>
          </a:p>
          <a:p>
            <a:pPr eaLnBrk="0" hangingPunct="0"/>
            <a:r>
              <a:rPr lang="en-US" sz="1400" b="1">
                <a:solidFill>
                  <a:srgbClr val="800000"/>
                </a:solidFill>
              </a:rPr>
              <a:t>int mark1;</a:t>
            </a:r>
          </a:p>
          <a:p>
            <a:pPr eaLnBrk="0" hangingPunct="0"/>
            <a:r>
              <a:rPr lang="en-US" sz="1400" b="1">
                <a:solidFill>
                  <a:srgbClr val="800000"/>
                </a:solidFill>
              </a:rPr>
              <a:t>int mark2;</a:t>
            </a:r>
          </a:p>
          <a:p>
            <a:pPr eaLnBrk="0" hangingPunct="0"/>
            <a:r>
              <a:rPr lang="en-US" sz="1400" b="1">
                <a:solidFill>
                  <a:srgbClr val="800000"/>
                </a:solidFill>
              </a:rPr>
              <a:t>int mark3;</a:t>
            </a:r>
          </a:p>
          <a:p>
            <a:pPr eaLnBrk="0" hangingPunct="0"/>
            <a:endParaRPr lang="en-US" sz="1400" b="1">
              <a:solidFill>
                <a:srgbClr val="800000"/>
              </a:solidFill>
            </a:endParaRPr>
          </a:p>
          <a:p>
            <a:pPr eaLnBrk="0" hangingPunct="0"/>
            <a:r>
              <a:rPr lang="en-US" sz="1400" b="1">
                <a:solidFill>
                  <a:srgbClr val="800000"/>
                </a:solidFill>
              </a:rPr>
              <a:t>void getdata()</a:t>
            </a:r>
          </a:p>
          <a:p>
            <a:pPr eaLnBrk="0" hangingPunct="0"/>
            <a:r>
              <a:rPr lang="en-US" sz="1400" b="1">
                <a:solidFill>
                  <a:srgbClr val="800000"/>
                </a:solidFill>
              </a:rPr>
              <a:t>{</a:t>
            </a:r>
          </a:p>
          <a:p>
            <a:pPr eaLnBrk="0" hangingPunct="0"/>
            <a:r>
              <a:rPr lang="en-US" sz="1400" b="1">
                <a:solidFill>
                  <a:srgbClr val="800000"/>
                </a:solidFill>
              </a:rPr>
              <a:t>cout&lt;&lt;"Enter the marks for 3 subjects";</a:t>
            </a:r>
          </a:p>
          <a:p>
            <a:pPr eaLnBrk="0" hangingPunct="0"/>
            <a:r>
              <a:rPr lang="en-US" sz="1400" b="1">
                <a:solidFill>
                  <a:srgbClr val="800000"/>
                </a:solidFill>
              </a:rPr>
              <a:t>cin&gt;&gt;mark1&gt;&gt;mark2&gt;&gt;mark3;</a:t>
            </a:r>
          </a:p>
          <a:p>
            <a:pPr eaLnBrk="0" hangingPunct="0"/>
            <a:r>
              <a:rPr lang="en-US" sz="1400" b="1">
                <a:solidFill>
                  <a:srgbClr val="800000"/>
                </a:solidFill>
              </a:rPr>
              <a:t>}</a:t>
            </a:r>
          </a:p>
          <a:p>
            <a:pPr eaLnBrk="0" hangingPunct="0"/>
            <a:r>
              <a:rPr lang="en-US" sz="1400" b="1">
                <a:solidFill>
                  <a:srgbClr val="800000"/>
                </a:solidFill>
              </a:rPr>
              <a:t>void putdata()</a:t>
            </a:r>
          </a:p>
          <a:p>
            <a:pPr eaLnBrk="0" hangingPunct="0"/>
            <a:r>
              <a:rPr lang="en-US" sz="1400" b="1">
                <a:solidFill>
                  <a:srgbClr val="800000"/>
                </a:solidFill>
              </a:rPr>
              <a:t>{</a:t>
            </a:r>
          </a:p>
          <a:p>
            <a:pPr eaLnBrk="0" hangingPunct="0"/>
            <a:r>
              <a:rPr lang="en-US" sz="1400" b="1">
                <a:solidFill>
                  <a:srgbClr val="800000"/>
                </a:solidFill>
              </a:rPr>
              <a:t>cout&lt;&lt;"The marks for 3 subjects are "&lt;&lt;mark1&lt;&lt;"\t"&lt;&lt;mark2&lt;&lt;"\t"&lt;&lt;mark3;</a:t>
            </a:r>
          </a:p>
          <a:p>
            <a:pPr eaLnBrk="0" hangingPunct="0"/>
            <a:r>
              <a:rPr lang="en-US" sz="1400" b="1">
                <a:solidFill>
                  <a:srgbClr val="800000"/>
                </a:solidFill>
              </a:rPr>
              <a:t>}</a:t>
            </a:r>
          </a:p>
          <a:p>
            <a:pPr eaLnBrk="0" hangingPunct="0"/>
            <a:r>
              <a:rPr lang="en-US" sz="1400" b="1">
                <a:solidFill>
                  <a:srgbClr val="800000"/>
                </a:solidFill>
              </a:rPr>
              <a:t>};</a:t>
            </a:r>
          </a:p>
          <a:p>
            <a:pPr eaLnBrk="0" hangingPunct="0"/>
            <a:endParaRPr lang="en-US" sz="1400" b="1">
              <a:solidFill>
                <a:srgbClr val="800000"/>
              </a:solidFill>
            </a:endParaRPr>
          </a:p>
          <a:p>
            <a:pPr eaLnBrk="0" hangingPunct="0"/>
            <a:r>
              <a:rPr lang="en-US" sz="1400" b="1">
                <a:solidFill>
                  <a:srgbClr val="800000"/>
                </a:solidFill>
              </a:rPr>
              <a:t>class student:public department,public marks</a:t>
            </a:r>
          </a:p>
          <a:p>
            <a:pPr eaLnBrk="0" hangingPunct="0"/>
            <a:r>
              <a:rPr lang="en-US" sz="1400" b="1">
                <a:solidFill>
                  <a:srgbClr val="800000"/>
                </a:solidFill>
              </a:rPr>
              <a:t>{</a:t>
            </a:r>
          </a:p>
          <a:p>
            <a:pPr eaLnBrk="0" hangingPunct="0"/>
            <a:r>
              <a:rPr lang="en-US" sz="1400" b="1">
                <a:solidFill>
                  <a:srgbClr val="800000"/>
                </a:solidFill>
              </a:rPr>
              <a:t>private:</a:t>
            </a:r>
          </a:p>
          <a:p>
            <a:pPr eaLnBrk="0" hangingPunct="0"/>
            <a:r>
              <a:rPr lang="en-US" sz="1400" b="1">
                <a:solidFill>
                  <a:srgbClr val="800000"/>
                </a:solidFill>
              </a:rPr>
              <a:t>int roll_no;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0"/>
                                  </p:stCondLst>
                                  <p:childTnLst>
                                    <p:set>
                                      <p:cBhvr>
                                        <p:cTn id="6" dur="1" fill="hold">
                                          <p:stCondLst>
                                            <p:cond delay="0"/>
                                          </p:stCondLst>
                                        </p:cTn>
                                        <p:tgtEl>
                                          <p:spTgt spid="26626"/>
                                        </p:tgtEl>
                                        <p:attrNameLst>
                                          <p:attrName>style.visibility</p:attrName>
                                        </p:attrNameLst>
                                      </p:cBhvr>
                                      <p:to>
                                        <p:strVal val="visible"/>
                                      </p:to>
                                    </p:set>
                                    <p:anim calcmode="lin" valueType="num">
                                      <p:cBhvr>
                                        <p:cTn id="7" dur="500" fill="hold"/>
                                        <p:tgtEl>
                                          <p:spTgt spid="26626"/>
                                        </p:tgtEl>
                                        <p:attrNameLst>
                                          <p:attrName>ppt_w</p:attrName>
                                        </p:attrNameLst>
                                      </p:cBhvr>
                                      <p:tavLst>
                                        <p:tav tm="0">
                                          <p:val>
                                            <p:fltVal val="0"/>
                                          </p:val>
                                        </p:tav>
                                        <p:tav tm="100000">
                                          <p:val>
                                            <p:strVal val="#ppt_w"/>
                                          </p:val>
                                        </p:tav>
                                      </p:tavLst>
                                    </p:anim>
                                    <p:anim calcmode="lin" valueType="num">
                                      <p:cBhvr>
                                        <p:cTn id="8" dur="500" fill="hold"/>
                                        <p:tgtEl>
                                          <p:spTgt spid="26626"/>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26627"/>
                                        </p:tgtEl>
                                        <p:attrNameLst>
                                          <p:attrName>style.visibility</p:attrName>
                                        </p:attrNameLst>
                                      </p:cBhvr>
                                      <p:to>
                                        <p:strVal val="visible"/>
                                      </p:to>
                                    </p:set>
                                    <p:anim calcmode="lin" valueType="num">
                                      <p:cBhvr>
                                        <p:cTn id="11" dur="500" fill="hold"/>
                                        <p:tgtEl>
                                          <p:spTgt spid="26627"/>
                                        </p:tgtEl>
                                        <p:attrNameLst>
                                          <p:attrName>ppt_w</p:attrName>
                                        </p:attrNameLst>
                                      </p:cBhvr>
                                      <p:tavLst>
                                        <p:tav tm="0">
                                          <p:val>
                                            <p:fltVal val="0"/>
                                          </p:val>
                                        </p:tav>
                                        <p:tav tm="100000">
                                          <p:val>
                                            <p:strVal val="#ppt_w"/>
                                          </p:val>
                                        </p:tav>
                                      </p:tavLst>
                                    </p:anim>
                                    <p:anim calcmode="lin" valueType="num">
                                      <p:cBhvr>
                                        <p:cTn id="12" dur="500" fill="hold"/>
                                        <p:tgtEl>
                                          <p:spTgt spid="2662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6" grpId="0" animBg="1"/>
      <p:bldP spid="26627" grpId="0" animBg="1"/>
    </p:bld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ChangeArrowheads="1"/>
          </p:cNvSpPr>
          <p:nvPr/>
        </p:nvSpPr>
        <p:spPr bwMode="auto">
          <a:xfrm>
            <a:off x="304800" y="228600"/>
            <a:ext cx="3733800" cy="6057900"/>
          </a:xfrm>
          <a:prstGeom prst="rect">
            <a:avLst/>
          </a:prstGeom>
          <a:noFill/>
          <a:ln w="9525">
            <a:solidFill>
              <a:srgbClr val="990099"/>
            </a:solidFill>
            <a:miter lim="800000"/>
            <a:headEnd/>
            <a:tailEnd/>
          </a:ln>
        </p:spPr>
        <p:txBody>
          <a:bodyPr>
            <a:spAutoFit/>
          </a:bodyPr>
          <a:lstStyle/>
          <a:p>
            <a:pPr eaLnBrk="0" hangingPunct="0"/>
            <a:r>
              <a:rPr lang="en-US" sz="1400" b="1">
                <a:solidFill>
                  <a:srgbClr val="800000"/>
                </a:solidFill>
              </a:rPr>
              <a:t>char student_name[20];</a:t>
            </a:r>
          </a:p>
          <a:p>
            <a:pPr eaLnBrk="0" hangingPunct="0"/>
            <a:r>
              <a:rPr lang="en-US" sz="1400" b="1">
                <a:solidFill>
                  <a:srgbClr val="800000"/>
                </a:solidFill>
              </a:rPr>
              <a:t>public:</a:t>
            </a:r>
          </a:p>
          <a:p>
            <a:pPr eaLnBrk="0" hangingPunct="0"/>
            <a:r>
              <a:rPr lang="en-US" sz="1400" b="1">
                <a:solidFill>
                  <a:srgbClr val="800000"/>
                </a:solidFill>
              </a:rPr>
              <a:t>void getdata()</a:t>
            </a:r>
          </a:p>
          <a:p>
            <a:pPr eaLnBrk="0" hangingPunct="0"/>
            <a:r>
              <a:rPr lang="en-US" sz="1400" b="1">
                <a:solidFill>
                  <a:srgbClr val="800000"/>
                </a:solidFill>
              </a:rPr>
              <a:t>{</a:t>
            </a:r>
          </a:p>
          <a:p>
            <a:pPr eaLnBrk="0" hangingPunct="0"/>
            <a:r>
              <a:rPr lang="en-US" sz="1400" b="1">
                <a:solidFill>
                  <a:srgbClr val="800000"/>
                </a:solidFill>
              </a:rPr>
              <a:t>department::getdata();</a:t>
            </a:r>
          </a:p>
          <a:p>
            <a:pPr eaLnBrk="0" hangingPunct="0"/>
            <a:r>
              <a:rPr lang="en-US" sz="1400" b="1">
                <a:solidFill>
                  <a:srgbClr val="800000"/>
                </a:solidFill>
              </a:rPr>
              <a:t>cout&lt;&lt;"Enter the student name";</a:t>
            </a:r>
          </a:p>
          <a:p>
            <a:pPr eaLnBrk="0" hangingPunct="0"/>
            <a:r>
              <a:rPr lang="en-US" sz="1400" b="1">
                <a:solidFill>
                  <a:srgbClr val="800000"/>
                </a:solidFill>
              </a:rPr>
              <a:t>cin&gt;&gt;student_name;</a:t>
            </a:r>
          </a:p>
          <a:p>
            <a:pPr eaLnBrk="0" hangingPunct="0"/>
            <a:r>
              <a:rPr lang="en-US" sz="1400" b="1">
                <a:solidFill>
                  <a:srgbClr val="800000"/>
                </a:solidFill>
              </a:rPr>
              <a:t>cout&lt;&lt;"Enter the student Enrollment no";</a:t>
            </a:r>
          </a:p>
          <a:p>
            <a:pPr eaLnBrk="0" hangingPunct="0"/>
            <a:r>
              <a:rPr lang="en-US" sz="1400" b="1">
                <a:solidFill>
                  <a:srgbClr val="800000"/>
                </a:solidFill>
              </a:rPr>
              <a:t>cin&gt;&gt;roll_no;</a:t>
            </a:r>
          </a:p>
          <a:p>
            <a:pPr eaLnBrk="0" hangingPunct="0"/>
            <a:r>
              <a:rPr lang="en-US" sz="1400" b="1">
                <a:solidFill>
                  <a:srgbClr val="800000"/>
                </a:solidFill>
              </a:rPr>
              <a:t>marks::getdata();</a:t>
            </a:r>
          </a:p>
          <a:p>
            <a:pPr eaLnBrk="0" hangingPunct="0"/>
            <a:r>
              <a:rPr lang="en-US" sz="1400" b="1">
                <a:solidFill>
                  <a:srgbClr val="800000"/>
                </a:solidFill>
              </a:rPr>
              <a:t>}</a:t>
            </a:r>
          </a:p>
          <a:p>
            <a:pPr eaLnBrk="0" hangingPunct="0"/>
            <a:r>
              <a:rPr lang="en-US" sz="1400" b="1">
                <a:solidFill>
                  <a:srgbClr val="800000"/>
                </a:solidFill>
              </a:rPr>
              <a:t>void putdata()</a:t>
            </a:r>
          </a:p>
          <a:p>
            <a:pPr eaLnBrk="0" hangingPunct="0"/>
            <a:r>
              <a:rPr lang="en-US" sz="1400" b="1">
                <a:solidFill>
                  <a:srgbClr val="800000"/>
                </a:solidFill>
              </a:rPr>
              <a:t>{</a:t>
            </a:r>
          </a:p>
          <a:p>
            <a:pPr eaLnBrk="0" hangingPunct="0"/>
            <a:r>
              <a:rPr lang="en-US" sz="1400" b="1">
                <a:solidFill>
                  <a:srgbClr val="800000"/>
                </a:solidFill>
              </a:rPr>
              <a:t>department::putdata();</a:t>
            </a:r>
          </a:p>
          <a:p>
            <a:pPr eaLnBrk="0" hangingPunct="0"/>
            <a:r>
              <a:rPr lang="en-US" sz="1400" b="1">
                <a:solidFill>
                  <a:srgbClr val="800000"/>
                </a:solidFill>
              </a:rPr>
              <a:t>cout&lt;&lt;"The name &amp; rollno is "&lt;&lt;student_name&lt;&lt;"\t"&lt;&lt;roll_no;</a:t>
            </a:r>
          </a:p>
          <a:p>
            <a:pPr eaLnBrk="0" hangingPunct="0"/>
            <a:r>
              <a:rPr lang="en-US" sz="1400" b="1">
                <a:solidFill>
                  <a:srgbClr val="800000"/>
                </a:solidFill>
              </a:rPr>
              <a:t>marks::putdata();</a:t>
            </a:r>
          </a:p>
          <a:p>
            <a:pPr eaLnBrk="0" hangingPunct="0"/>
            <a:r>
              <a:rPr lang="en-US" sz="1400" b="1">
                <a:solidFill>
                  <a:srgbClr val="800000"/>
                </a:solidFill>
              </a:rPr>
              <a:t>}</a:t>
            </a:r>
          </a:p>
          <a:p>
            <a:pPr eaLnBrk="0" hangingPunct="0"/>
            <a:r>
              <a:rPr lang="en-US" sz="1400" b="1">
                <a:solidFill>
                  <a:srgbClr val="800000"/>
                </a:solidFill>
              </a:rPr>
              <a:t>};</a:t>
            </a:r>
          </a:p>
          <a:p>
            <a:pPr eaLnBrk="0" hangingPunct="0"/>
            <a:endParaRPr lang="en-US" sz="1400" b="1">
              <a:solidFill>
                <a:srgbClr val="800000"/>
              </a:solidFill>
            </a:endParaRPr>
          </a:p>
          <a:p>
            <a:pPr eaLnBrk="0" hangingPunct="0"/>
            <a:r>
              <a:rPr lang="en-US" sz="1400" b="1">
                <a:solidFill>
                  <a:srgbClr val="800000"/>
                </a:solidFill>
              </a:rPr>
              <a:t>void main()</a:t>
            </a:r>
          </a:p>
          <a:p>
            <a:pPr eaLnBrk="0" hangingPunct="0"/>
            <a:r>
              <a:rPr lang="en-US" sz="1400" b="1">
                <a:solidFill>
                  <a:srgbClr val="800000"/>
                </a:solidFill>
              </a:rPr>
              <a:t>{</a:t>
            </a:r>
          </a:p>
          <a:p>
            <a:pPr eaLnBrk="0" hangingPunct="0"/>
            <a:r>
              <a:rPr lang="en-US" sz="1400" b="1">
                <a:solidFill>
                  <a:srgbClr val="800000"/>
                </a:solidFill>
              </a:rPr>
              <a:t>student s;</a:t>
            </a:r>
          </a:p>
          <a:p>
            <a:pPr eaLnBrk="0" hangingPunct="0"/>
            <a:r>
              <a:rPr lang="en-US" sz="1400" b="1">
                <a:solidFill>
                  <a:srgbClr val="800000"/>
                </a:solidFill>
              </a:rPr>
              <a:t>clrscr();</a:t>
            </a:r>
          </a:p>
          <a:p>
            <a:pPr eaLnBrk="0" hangingPunct="0"/>
            <a:r>
              <a:rPr lang="en-US" sz="1400" b="1">
                <a:solidFill>
                  <a:srgbClr val="800000"/>
                </a:solidFill>
              </a:rPr>
              <a:t>s.getdata();</a:t>
            </a:r>
          </a:p>
          <a:p>
            <a:pPr eaLnBrk="0" hangingPunct="0"/>
            <a:r>
              <a:rPr lang="en-US" sz="1400" b="1">
                <a:solidFill>
                  <a:srgbClr val="800000"/>
                </a:solidFill>
              </a:rPr>
              <a:t>s.putdata();</a:t>
            </a:r>
          </a:p>
          <a:p>
            <a:pPr eaLnBrk="0" hangingPunct="0"/>
            <a:r>
              <a:rPr lang="en-US" sz="1400" b="1">
                <a:solidFill>
                  <a:srgbClr val="800000"/>
                </a:solidFill>
              </a:rPr>
              <a:t>getch();</a:t>
            </a:r>
          </a:p>
          <a:p>
            <a:pPr eaLnBrk="0" hangingPunct="0"/>
            <a:r>
              <a:rPr lang="en-US" sz="1400" b="1">
                <a:solidFill>
                  <a:srgbClr val="800000"/>
                </a:solidFill>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0"/>
                                  </p:stCondLst>
                                  <p:childTnLst>
                                    <p:set>
                                      <p:cBhvr>
                                        <p:cTn id="6" dur="1" fill="hold">
                                          <p:stCondLst>
                                            <p:cond delay="0"/>
                                          </p:stCondLst>
                                        </p:cTn>
                                        <p:tgtEl>
                                          <p:spTgt spid="27650"/>
                                        </p:tgtEl>
                                        <p:attrNameLst>
                                          <p:attrName>style.visibility</p:attrName>
                                        </p:attrNameLst>
                                      </p:cBhvr>
                                      <p:to>
                                        <p:strVal val="visible"/>
                                      </p:to>
                                    </p:set>
                                    <p:anim calcmode="lin" valueType="num">
                                      <p:cBhvr>
                                        <p:cTn id="7" dur="500" fill="hold"/>
                                        <p:tgtEl>
                                          <p:spTgt spid="27650"/>
                                        </p:tgtEl>
                                        <p:attrNameLst>
                                          <p:attrName>ppt_w</p:attrName>
                                        </p:attrNameLst>
                                      </p:cBhvr>
                                      <p:tavLst>
                                        <p:tav tm="0">
                                          <p:val>
                                            <p:fltVal val="0"/>
                                          </p:val>
                                        </p:tav>
                                        <p:tav tm="100000">
                                          <p:val>
                                            <p:strVal val="#ppt_w"/>
                                          </p:val>
                                        </p:tav>
                                      </p:tavLst>
                                    </p:anim>
                                    <p:anim calcmode="lin" valueType="num">
                                      <p:cBhvr>
                                        <p:cTn id="8" dur="500" fill="hold"/>
                                        <p:tgtEl>
                                          <p:spTgt spid="2765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animBg="1"/>
    </p:bld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ChangeArrowheads="1"/>
          </p:cNvSpPr>
          <p:nvPr/>
        </p:nvSpPr>
        <p:spPr bwMode="auto">
          <a:xfrm>
            <a:off x="76200" y="1219200"/>
            <a:ext cx="4953000" cy="4978400"/>
          </a:xfrm>
          <a:prstGeom prst="rect">
            <a:avLst/>
          </a:prstGeom>
          <a:noFill/>
          <a:ln w="9525">
            <a:solidFill>
              <a:schemeClr val="tx1"/>
            </a:solidFill>
            <a:prstDash val="sysDot"/>
            <a:miter lim="800000"/>
            <a:headEnd/>
            <a:tailEnd/>
          </a:ln>
        </p:spPr>
        <p:txBody>
          <a:bodyPr>
            <a:spAutoFit/>
          </a:bodyPr>
          <a:lstStyle/>
          <a:p>
            <a:pPr eaLnBrk="0" hangingPunct="0"/>
            <a:r>
              <a:rPr lang="en-US" sz="2000" b="1">
                <a:solidFill>
                  <a:srgbClr val="800000"/>
                </a:solidFill>
              </a:rPr>
              <a:t>#include&lt;iostream.h&gt;</a:t>
            </a:r>
          </a:p>
          <a:p>
            <a:pPr eaLnBrk="0" hangingPunct="0"/>
            <a:r>
              <a:rPr lang="en-US" sz="2000" b="1">
                <a:solidFill>
                  <a:srgbClr val="800000"/>
                </a:solidFill>
              </a:rPr>
              <a:t>class baseA</a:t>
            </a:r>
          </a:p>
          <a:p>
            <a:pPr eaLnBrk="0" hangingPunct="0"/>
            <a:r>
              <a:rPr lang="en-US" sz="2000" b="1">
                <a:solidFill>
                  <a:srgbClr val="800000"/>
                </a:solidFill>
              </a:rPr>
              <a:t>{</a:t>
            </a:r>
          </a:p>
          <a:p>
            <a:pPr eaLnBrk="0" hangingPunct="0"/>
            <a:r>
              <a:rPr lang="en-US" sz="2000" b="1">
                <a:solidFill>
                  <a:srgbClr val="800000"/>
                </a:solidFill>
              </a:rPr>
              <a:t>public:</a:t>
            </a:r>
          </a:p>
          <a:p>
            <a:pPr eaLnBrk="0" hangingPunct="0"/>
            <a:r>
              <a:rPr lang="en-US" sz="2000" b="1">
                <a:solidFill>
                  <a:srgbClr val="800000"/>
                </a:solidFill>
              </a:rPr>
              <a:t>virtual void show()</a:t>
            </a:r>
          </a:p>
          <a:p>
            <a:pPr eaLnBrk="0" hangingPunct="0"/>
            <a:r>
              <a:rPr lang="en-US" sz="2000" b="1">
                <a:solidFill>
                  <a:srgbClr val="800000"/>
                </a:solidFill>
              </a:rPr>
              <a:t>{</a:t>
            </a:r>
          </a:p>
          <a:p>
            <a:pPr eaLnBrk="0" hangingPunct="0"/>
            <a:r>
              <a:rPr lang="en-US" sz="2000" b="1">
                <a:solidFill>
                  <a:srgbClr val="800000"/>
                </a:solidFill>
              </a:rPr>
              <a:t>cout&lt;&lt;"base class show function“; </a:t>
            </a:r>
          </a:p>
          <a:p>
            <a:pPr eaLnBrk="0" hangingPunct="0"/>
            <a:r>
              <a:rPr lang="en-US" sz="2000" b="1">
                <a:solidFill>
                  <a:srgbClr val="800000"/>
                </a:solidFill>
              </a:rPr>
              <a:t>}</a:t>
            </a:r>
          </a:p>
          <a:p>
            <a:pPr eaLnBrk="0" hangingPunct="0"/>
            <a:r>
              <a:rPr lang="en-US" sz="2000" b="1">
                <a:solidFill>
                  <a:srgbClr val="800000"/>
                </a:solidFill>
              </a:rPr>
              <a:t>};</a:t>
            </a:r>
          </a:p>
          <a:p>
            <a:pPr eaLnBrk="0" hangingPunct="0"/>
            <a:r>
              <a:rPr lang="en-US" sz="2000" b="1">
                <a:solidFill>
                  <a:srgbClr val="800000"/>
                </a:solidFill>
              </a:rPr>
              <a:t>class deriA:public baseA</a:t>
            </a:r>
          </a:p>
          <a:p>
            <a:pPr eaLnBrk="0" hangingPunct="0"/>
            <a:r>
              <a:rPr lang="en-US" sz="2000" b="1">
                <a:solidFill>
                  <a:srgbClr val="800000"/>
                </a:solidFill>
              </a:rPr>
              <a:t>{</a:t>
            </a:r>
          </a:p>
          <a:p>
            <a:pPr eaLnBrk="0" hangingPunct="0"/>
            <a:r>
              <a:rPr lang="en-US" sz="2000" b="1">
                <a:solidFill>
                  <a:srgbClr val="800000"/>
                </a:solidFill>
              </a:rPr>
              <a:t>public:</a:t>
            </a:r>
          </a:p>
          <a:p>
            <a:pPr eaLnBrk="0" hangingPunct="0"/>
            <a:r>
              <a:rPr lang="en-US" sz="2000" b="1">
                <a:solidFill>
                  <a:srgbClr val="800000"/>
                </a:solidFill>
              </a:rPr>
              <a:t>void show()</a:t>
            </a:r>
          </a:p>
          <a:p>
            <a:pPr eaLnBrk="0" hangingPunct="0"/>
            <a:r>
              <a:rPr lang="en-US" sz="2000" b="1">
                <a:solidFill>
                  <a:srgbClr val="800000"/>
                </a:solidFill>
              </a:rPr>
              <a:t>{</a:t>
            </a:r>
          </a:p>
          <a:p>
            <a:pPr eaLnBrk="0" hangingPunct="0"/>
            <a:r>
              <a:rPr lang="en-US" sz="2000" b="1">
                <a:solidFill>
                  <a:srgbClr val="800000"/>
                </a:solidFill>
              </a:rPr>
              <a:t>cout&lt;&lt;"derive class show function“;</a:t>
            </a:r>
          </a:p>
          <a:p>
            <a:pPr eaLnBrk="0" hangingPunct="0"/>
            <a:r>
              <a:rPr lang="en-US" sz="2000" b="1">
                <a:solidFill>
                  <a:srgbClr val="800000"/>
                </a:solidFill>
              </a:rPr>
              <a:t>}};</a:t>
            </a:r>
          </a:p>
        </p:txBody>
      </p:sp>
      <p:sp>
        <p:nvSpPr>
          <p:cNvPr id="26627" name="WordArt 3"/>
          <p:cNvSpPr>
            <a:spLocks noChangeArrowheads="1" noChangeShapeType="1" noTextEdit="1"/>
          </p:cNvSpPr>
          <p:nvPr/>
        </p:nvSpPr>
        <p:spPr bwMode="auto">
          <a:xfrm>
            <a:off x="76200" y="0"/>
            <a:ext cx="8839200" cy="1219200"/>
          </a:xfrm>
          <a:prstGeom prst="rect">
            <a:avLst/>
          </a:prstGeom>
        </p:spPr>
        <p:txBody>
          <a:bodyPr wrap="none" fromWordArt="1">
            <a:prstTxWarp prst="textTriangle">
              <a:avLst>
                <a:gd name="adj" fmla="val 40625"/>
              </a:avLst>
            </a:prstTxWarp>
          </a:bodyPr>
          <a:lstStyle/>
          <a:p>
            <a:pPr algn="ctr"/>
            <a:r>
              <a:rPr lang="en-IN" sz="3600" b="1" kern="10">
                <a:ln w="9525">
                  <a:solidFill>
                    <a:srgbClr val="000000"/>
                  </a:solidFill>
                  <a:round/>
                  <a:headEnd/>
                  <a:tailEnd/>
                </a:ln>
                <a:solidFill>
                  <a:srgbClr val="66FFCC"/>
                </a:solidFill>
                <a:latin typeface="Times New Roman"/>
                <a:cs typeface="Times New Roman"/>
              </a:rPr>
              <a:t>Member Function Overriding</a:t>
            </a:r>
          </a:p>
        </p:txBody>
      </p:sp>
      <p:sp>
        <p:nvSpPr>
          <p:cNvPr id="26628" name="Rectangle 4"/>
          <p:cNvSpPr>
            <a:spLocks noChangeArrowheads="1"/>
          </p:cNvSpPr>
          <p:nvPr/>
        </p:nvSpPr>
        <p:spPr bwMode="auto">
          <a:xfrm>
            <a:off x="5029200" y="1219200"/>
            <a:ext cx="4038600" cy="3478213"/>
          </a:xfrm>
          <a:prstGeom prst="rect">
            <a:avLst/>
          </a:prstGeom>
          <a:noFill/>
          <a:ln w="9525">
            <a:solidFill>
              <a:schemeClr val="tx1"/>
            </a:solidFill>
            <a:prstDash val="sysDot"/>
            <a:miter lim="800000"/>
            <a:headEnd/>
            <a:tailEnd/>
          </a:ln>
        </p:spPr>
        <p:txBody>
          <a:bodyPr>
            <a:spAutoFit/>
          </a:bodyPr>
          <a:lstStyle/>
          <a:p>
            <a:pPr eaLnBrk="0" hangingPunct="0"/>
            <a:r>
              <a:rPr lang="en-US" sz="2000" b="1">
                <a:solidFill>
                  <a:srgbClr val="800000"/>
                </a:solidFill>
              </a:rPr>
              <a:t>void main()</a:t>
            </a:r>
          </a:p>
          <a:p>
            <a:pPr eaLnBrk="0" hangingPunct="0"/>
            <a:r>
              <a:rPr lang="en-US" sz="2000" b="1">
                <a:solidFill>
                  <a:srgbClr val="800000"/>
                </a:solidFill>
              </a:rPr>
              <a:t>{</a:t>
            </a:r>
          </a:p>
          <a:p>
            <a:pPr eaLnBrk="0" hangingPunct="0"/>
            <a:r>
              <a:rPr lang="en-US" sz="2000" b="1">
                <a:solidFill>
                  <a:srgbClr val="800000"/>
                </a:solidFill>
              </a:rPr>
              <a:t>baseA *b;</a:t>
            </a:r>
          </a:p>
          <a:p>
            <a:pPr eaLnBrk="0" hangingPunct="0"/>
            <a:r>
              <a:rPr lang="en-US" sz="2000" b="1">
                <a:solidFill>
                  <a:srgbClr val="800000"/>
                </a:solidFill>
              </a:rPr>
              <a:t>deriA d;</a:t>
            </a:r>
          </a:p>
          <a:p>
            <a:pPr eaLnBrk="0" hangingPunct="0"/>
            <a:r>
              <a:rPr lang="en-US" sz="2000" b="1">
                <a:solidFill>
                  <a:srgbClr val="800000"/>
                </a:solidFill>
              </a:rPr>
              <a:t>clrscr();</a:t>
            </a:r>
          </a:p>
          <a:p>
            <a:pPr eaLnBrk="0" hangingPunct="0"/>
            <a:r>
              <a:rPr lang="en-US" sz="2000" b="1">
                <a:solidFill>
                  <a:srgbClr val="800000"/>
                </a:solidFill>
              </a:rPr>
              <a:t>b=&amp;d;</a:t>
            </a:r>
          </a:p>
          <a:p>
            <a:pPr eaLnBrk="0" hangingPunct="0"/>
            <a:r>
              <a:rPr lang="en-US" sz="2000" b="1">
                <a:solidFill>
                  <a:srgbClr val="800000"/>
                </a:solidFill>
              </a:rPr>
              <a:t>b-&gt;show();</a:t>
            </a:r>
          </a:p>
          <a:p>
            <a:pPr eaLnBrk="0" hangingPunct="0"/>
            <a:r>
              <a:rPr lang="en-US" sz="2000" b="1">
                <a:solidFill>
                  <a:srgbClr val="800000"/>
                </a:solidFill>
              </a:rPr>
              <a:t>//b.show();</a:t>
            </a:r>
          </a:p>
          <a:p>
            <a:pPr eaLnBrk="0" hangingPunct="0"/>
            <a:r>
              <a:rPr lang="en-US" sz="2000" b="1">
                <a:solidFill>
                  <a:srgbClr val="800000"/>
                </a:solidFill>
              </a:rPr>
              <a:t>//d.show();</a:t>
            </a:r>
          </a:p>
          <a:p>
            <a:pPr eaLnBrk="0" hangingPunct="0"/>
            <a:r>
              <a:rPr lang="en-US" sz="2000" b="1">
                <a:solidFill>
                  <a:srgbClr val="800000"/>
                </a:solidFill>
              </a:rPr>
              <a:t>getch();</a:t>
            </a:r>
          </a:p>
          <a:p>
            <a:pPr eaLnBrk="0" hangingPunct="0"/>
            <a:r>
              <a:rPr lang="en-US" sz="2000" b="1">
                <a:solidFill>
                  <a:srgbClr val="800000"/>
                </a:solidFill>
              </a:rPr>
              <a:t>}</a:t>
            </a:r>
          </a:p>
        </p:txBody>
      </p:sp>
    </p:spTree>
  </p:cSld>
  <p:clrMapOvr>
    <a:masterClrMapping/>
  </p:clrMapOvr>
  <p:timing>
    <p:tnLst>
      <p:par>
        <p:cTn id="1" dur="indefinite" restart="never" nodeType="tmRoot"/>
      </p:par>
    </p:tn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2"/>
          <p:cNvSpPr txBox="1">
            <a:spLocks noChangeArrowheads="1"/>
          </p:cNvSpPr>
          <p:nvPr/>
        </p:nvSpPr>
        <p:spPr bwMode="auto">
          <a:xfrm>
            <a:off x="457200" y="1447800"/>
            <a:ext cx="8534400" cy="4000500"/>
          </a:xfrm>
          <a:prstGeom prst="rect">
            <a:avLst/>
          </a:prstGeom>
          <a:noFill/>
          <a:ln w="9525">
            <a:noFill/>
            <a:miter lim="800000"/>
            <a:headEnd/>
            <a:tailEnd/>
          </a:ln>
        </p:spPr>
        <p:txBody>
          <a:bodyPr>
            <a:spAutoFit/>
          </a:bodyPr>
          <a:lstStyle/>
          <a:p>
            <a:pPr algn="just" eaLnBrk="0" hangingPunct="0">
              <a:lnSpc>
                <a:spcPct val="120000"/>
              </a:lnSpc>
              <a:spcBef>
                <a:spcPct val="30000"/>
              </a:spcBef>
              <a:spcAft>
                <a:spcPct val="25000"/>
              </a:spcAft>
              <a:buFont typeface="Wingdings" pitchFamily="2" charset="2"/>
              <a:buChar char="B"/>
            </a:pPr>
            <a:r>
              <a:rPr lang="en-US" sz="2400" b="1">
                <a:solidFill>
                  <a:srgbClr val="660033"/>
                </a:solidFill>
                <a:latin typeface="Times New Roman" pitchFamily="18" charset="0"/>
              </a:rPr>
              <a:t> The class from which members are derived are called as base class or parent class and the class which derives data from another class is called as the derived class or child class</a:t>
            </a:r>
          </a:p>
          <a:p>
            <a:pPr algn="just" eaLnBrk="0" hangingPunct="0">
              <a:lnSpc>
                <a:spcPct val="120000"/>
              </a:lnSpc>
              <a:spcBef>
                <a:spcPct val="30000"/>
              </a:spcBef>
              <a:spcAft>
                <a:spcPct val="25000"/>
              </a:spcAft>
              <a:buFont typeface="Wingdings" pitchFamily="2" charset="2"/>
              <a:buChar char="B"/>
            </a:pPr>
            <a:r>
              <a:rPr lang="en-US" sz="2400" b="1">
                <a:solidFill>
                  <a:srgbClr val="800000"/>
                </a:solidFill>
                <a:latin typeface="Times New Roman" pitchFamily="18" charset="0"/>
                <a:cs typeface="Times New Roman" pitchFamily="18" charset="0"/>
              </a:rPr>
              <a:t> </a:t>
            </a:r>
            <a:r>
              <a:rPr lang="en-US" sz="2400" b="1">
                <a:solidFill>
                  <a:srgbClr val="660033"/>
                </a:solidFill>
                <a:latin typeface="Times New Roman" pitchFamily="18" charset="0"/>
              </a:rPr>
              <a:t>A derived class is always as big as the base class, since the object of the derived class inherits all the characteristics of the base class and can add properties of its own.</a:t>
            </a:r>
          </a:p>
          <a:p>
            <a:pPr algn="just" eaLnBrk="0" hangingPunct="0">
              <a:lnSpc>
                <a:spcPct val="120000"/>
              </a:lnSpc>
              <a:spcBef>
                <a:spcPct val="30000"/>
              </a:spcBef>
              <a:spcAft>
                <a:spcPct val="25000"/>
              </a:spcAft>
              <a:buFont typeface="Wingdings" pitchFamily="2" charset="2"/>
              <a:buChar char="B"/>
            </a:pPr>
            <a:r>
              <a:rPr lang="en-US" sz="2400" b="1">
                <a:solidFill>
                  <a:srgbClr val="660033"/>
                </a:solidFill>
                <a:latin typeface="Times New Roman" pitchFamily="18" charset="0"/>
              </a:rPr>
              <a:t> Depending upon the access specifiers inheritance is classified as private, protected and public inheritance</a:t>
            </a:r>
          </a:p>
        </p:txBody>
      </p:sp>
      <p:sp>
        <p:nvSpPr>
          <p:cNvPr id="27651" name="WordArt 3"/>
          <p:cNvSpPr>
            <a:spLocks noChangeArrowheads="1" noChangeShapeType="1" noTextEdit="1"/>
          </p:cNvSpPr>
          <p:nvPr/>
        </p:nvSpPr>
        <p:spPr bwMode="auto">
          <a:xfrm>
            <a:off x="2590800" y="228600"/>
            <a:ext cx="3200400" cy="914400"/>
          </a:xfrm>
          <a:prstGeom prst="rect">
            <a:avLst/>
          </a:prstGeom>
        </p:spPr>
        <p:txBody>
          <a:bodyPr wrap="none" fromWordArt="1">
            <a:prstTxWarp prst="textCanUp">
              <a:avLst>
                <a:gd name="adj" fmla="val 85713"/>
              </a:avLst>
            </a:prstTxWarp>
          </a:bodyPr>
          <a:lstStyle/>
          <a:p>
            <a:pPr algn="ctr"/>
            <a:r>
              <a:rPr lang="en-IN"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a:rPr>
              <a:t>Summary</a:t>
            </a:r>
          </a:p>
        </p:txBody>
      </p:sp>
      <p:sp>
        <p:nvSpPr>
          <p:cNvPr id="27652" name="Rectangle 4"/>
          <p:cNvSpPr>
            <a:spLocks noChangeArrowheads="1"/>
          </p:cNvSpPr>
          <p:nvPr/>
        </p:nvSpPr>
        <p:spPr bwMode="auto">
          <a:xfrm>
            <a:off x="304800" y="1295400"/>
            <a:ext cx="8763000" cy="4495800"/>
          </a:xfrm>
          <a:prstGeom prst="rect">
            <a:avLst/>
          </a:prstGeom>
          <a:noFill/>
          <a:ln w="57150" cmpd="thickThin">
            <a:solidFill>
              <a:srgbClr val="990033"/>
            </a:solidFill>
            <a:miter lim="800000"/>
            <a:headEnd/>
            <a:tailEnd/>
          </a:ln>
        </p:spPr>
        <p:txBody>
          <a:bodyPr wrap="none" anchor="ctr"/>
          <a:lstStyle/>
          <a:p>
            <a:pPr algn="ctr" eaLnBrk="0" hangingPunct="0"/>
            <a:endParaRPr lang="en-US">
              <a:solidFill>
                <a:srgbClr val="800000"/>
              </a:solidFill>
              <a:latin typeface="Verdana" pitchFamily="34" charset="0"/>
            </a:endParaRPr>
          </a:p>
        </p:txBody>
      </p:sp>
    </p:spTree>
  </p:cSld>
  <p:clrMapOvr>
    <a:masterClrMapping/>
  </p:clrMapOvr>
  <p:timing>
    <p:tnLst>
      <p:par>
        <p:cTn id="1" dur="indefinite" restart="never" nodeType="tmRoot"/>
      </p:par>
    </p:tn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304800" y="152400"/>
            <a:ext cx="8610600" cy="6129338"/>
          </a:xfrm>
          <a:prstGeom prst="rect">
            <a:avLst/>
          </a:prstGeom>
          <a:noFill/>
          <a:ln w="9525">
            <a:solidFill>
              <a:srgbClr val="990033"/>
            </a:solidFill>
            <a:miter lim="800000"/>
            <a:headEnd/>
            <a:tailEnd/>
          </a:ln>
        </p:spPr>
        <p:txBody>
          <a:bodyPr>
            <a:spAutoFit/>
          </a:bodyPr>
          <a:lstStyle/>
          <a:p>
            <a:pPr algn="just" eaLnBrk="0" hangingPunct="0">
              <a:lnSpc>
                <a:spcPct val="130000"/>
              </a:lnSpc>
              <a:spcBef>
                <a:spcPct val="25000"/>
              </a:spcBef>
              <a:spcAft>
                <a:spcPct val="30000"/>
              </a:spcAft>
              <a:buFont typeface="Wingdings" pitchFamily="2" charset="2"/>
              <a:buChar char="B"/>
            </a:pPr>
            <a:r>
              <a:rPr lang="en-US" sz="2400" b="1">
                <a:solidFill>
                  <a:srgbClr val="660033"/>
                </a:solidFill>
                <a:latin typeface="Times New Roman" pitchFamily="18" charset="0"/>
              </a:rPr>
              <a:t> The private members inherited from the base class are inaccessible to the member functions of the derived class in all types of inheitance</a:t>
            </a:r>
          </a:p>
          <a:p>
            <a:pPr algn="just" eaLnBrk="0" hangingPunct="0">
              <a:lnSpc>
                <a:spcPct val="130000"/>
              </a:lnSpc>
              <a:spcBef>
                <a:spcPct val="25000"/>
              </a:spcBef>
              <a:spcAft>
                <a:spcPct val="30000"/>
              </a:spcAft>
              <a:buFont typeface="Wingdings" pitchFamily="2" charset="2"/>
              <a:buChar char="B"/>
            </a:pPr>
            <a:r>
              <a:rPr lang="en-US" sz="2400" b="1">
                <a:solidFill>
                  <a:srgbClr val="660033"/>
                </a:solidFill>
                <a:latin typeface="Times New Roman" pitchFamily="18" charset="0"/>
              </a:rPr>
              <a:t> A derived class with only one base class is called as Single Inheritance</a:t>
            </a:r>
          </a:p>
          <a:p>
            <a:pPr algn="just" eaLnBrk="0" hangingPunct="0">
              <a:lnSpc>
                <a:spcPct val="130000"/>
              </a:lnSpc>
              <a:spcBef>
                <a:spcPct val="25000"/>
              </a:spcBef>
              <a:spcAft>
                <a:spcPct val="30000"/>
              </a:spcAft>
              <a:buFont typeface="Wingdings" pitchFamily="2" charset="2"/>
              <a:buChar char="B"/>
            </a:pPr>
            <a:r>
              <a:rPr lang="en-US" sz="2400" b="1">
                <a:solidFill>
                  <a:srgbClr val="660033"/>
                </a:solidFill>
                <a:latin typeface="Times New Roman" pitchFamily="18" charset="0"/>
              </a:rPr>
              <a:t> A derived class with one or more than one base class is called as multiple inheritance</a:t>
            </a:r>
          </a:p>
          <a:p>
            <a:pPr algn="just" eaLnBrk="0" hangingPunct="0">
              <a:lnSpc>
                <a:spcPct val="130000"/>
              </a:lnSpc>
              <a:spcBef>
                <a:spcPct val="25000"/>
              </a:spcBef>
              <a:spcAft>
                <a:spcPct val="30000"/>
              </a:spcAft>
              <a:buFont typeface="Wingdings" pitchFamily="2" charset="2"/>
              <a:buChar char="B"/>
            </a:pPr>
            <a:r>
              <a:rPr lang="en-US" sz="2400" b="1">
                <a:solidFill>
                  <a:srgbClr val="660033"/>
                </a:solidFill>
                <a:latin typeface="Times New Roman" pitchFamily="18" charset="0"/>
              </a:rPr>
              <a:t> A base class with more than one derived class is referred to as the Hierarchical inheritance</a:t>
            </a:r>
          </a:p>
          <a:p>
            <a:pPr algn="just" eaLnBrk="0" hangingPunct="0">
              <a:lnSpc>
                <a:spcPct val="130000"/>
              </a:lnSpc>
              <a:spcBef>
                <a:spcPct val="25000"/>
              </a:spcBef>
              <a:spcAft>
                <a:spcPct val="30000"/>
              </a:spcAft>
              <a:buFont typeface="Wingdings" pitchFamily="2" charset="2"/>
              <a:buChar char="B"/>
            </a:pPr>
            <a:r>
              <a:rPr lang="en-US" sz="2400" b="1">
                <a:solidFill>
                  <a:srgbClr val="660033"/>
                </a:solidFill>
                <a:latin typeface="Times New Roman" pitchFamily="18" charset="0"/>
              </a:rPr>
              <a:t> The combination of multilevel and multiple inheritance is called as Hybrid Inheritance</a:t>
            </a:r>
          </a:p>
        </p:txBody>
      </p:sp>
    </p:spTree>
  </p:cSld>
  <p:clrMapOvr>
    <a:masterClrMapping/>
  </p:clrMapOvr>
  <p:timing>
    <p:tnLst>
      <p:par>
        <p:cTn id="1" dur="indefinite" restart="never" nodeType="tmRoot"/>
      </p:par>
    </p:tn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ChangeArrowheads="1"/>
          </p:cNvSpPr>
          <p:nvPr/>
        </p:nvSpPr>
        <p:spPr bwMode="auto">
          <a:xfrm>
            <a:off x="3200400" y="685800"/>
            <a:ext cx="2743200" cy="533400"/>
          </a:xfrm>
          <a:prstGeom prst="rect">
            <a:avLst/>
          </a:prstGeom>
          <a:solidFill>
            <a:schemeClr val="accent1"/>
          </a:solidFill>
          <a:ln w="57150" cmpd="thickThin">
            <a:solidFill>
              <a:schemeClr val="tx1"/>
            </a:solidFill>
            <a:miter lim="800000"/>
            <a:headEnd/>
            <a:tailEnd/>
          </a:ln>
        </p:spPr>
        <p:txBody>
          <a:bodyPr wrap="none" anchor="ctr"/>
          <a:lstStyle/>
          <a:p>
            <a:endParaRPr lang="en-US"/>
          </a:p>
        </p:txBody>
      </p:sp>
      <p:sp>
        <p:nvSpPr>
          <p:cNvPr id="29699" name="Rectangle 3"/>
          <p:cNvSpPr>
            <a:spLocks noChangeArrowheads="1"/>
          </p:cNvSpPr>
          <p:nvPr/>
        </p:nvSpPr>
        <p:spPr bwMode="auto">
          <a:xfrm>
            <a:off x="3365500" y="609600"/>
            <a:ext cx="2501900" cy="533400"/>
          </a:xfrm>
          <a:prstGeom prst="rect">
            <a:avLst/>
          </a:prstGeom>
          <a:solidFill>
            <a:schemeClr val="accent1"/>
          </a:solidFill>
          <a:ln w="57150" cmpd="thickThin">
            <a:solidFill>
              <a:schemeClr val="tx1"/>
            </a:solidFill>
            <a:miter lim="800000"/>
            <a:headEnd/>
            <a:tailEnd/>
          </a:ln>
        </p:spPr>
        <p:txBody>
          <a:bodyPr wrap="none" anchor="ctr"/>
          <a:lstStyle/>
          <a:p>
            <a:endParaRPr lang="en-US"/>
          </a:p>
        </p:txBody>
      </p:sp>
      <p:sp>
        <p:nvSpPr>
          <p:cNvPr id="31748" name="Rectangle 4"/>
          <p:cNvSpPr>
            <a:spLocks noChangeArrowheads="1"/>
          </p:cNvSpPr>
          <p:nvPr/>
        </p:nvSpPr>
        <p:spPr bwMode="auto">
          <a:xfrm>
            <a:off x="304800" y="600075"/>
            <a:ext cx="8610600" cy="4352925"/>
          </a:xfrm>
          <a:prstGeom prst="rect">
            <a:avLst/>
          </a:prstGeom>
          <a:noFill/>
          <a:ln w="9525" algn="ctr">
            <a:noFill/>
            <a:miter lim="800000"/>
            <a:headEnd/>
            <a:tailEnd/>
          </a:ln>
        </p:spPr>
        <p:txBody>
          <a:bodyPr anchor="ctr">
            <a:spAutoFit/>
          </a:bodyPr>
          <a:lstStyle/>
          <a:p>
            <a:pPr marL="342900" indent="-342900" algn="ctr">
              <a:tabLst>
                <a:tab pos="457200" algn="l"/>
              </a:tabLst>
            </a:pPr>
            <a:r>
              <a:rPr lang="en-US" sz="3200" b="1">
                <a:solidFill>
                  <a:srgbClr val="000000"/>
                </a:solidFill>
                <a:latin typeface="Times New Roman" pitchFamily="18" charset="0"/>
              </a:rPr>
              <a:t>EXERCISES</a:t>
            </a:r>
          </a:p>
          <a:p>
            <a:pPr marL="342900" indent="-342900">
              <a:tabLst>
                <a:tab pos="457200" algn="l"/>
              </a:tabLst>
            </a:pPr>
            <a:endParaRPr lang="en-US" sz="3200" b="1">
              <a:solidFill>
                <a:srgbClr val="000000"/>
              </a:solidFill>
              <a:latin typeface="Times New Roman" pitchFamily="18" charset="0"/>
            </a:endParaRPr>
          </a:p>
          <a:p>
            <a:pPr marL="342900" indent="-342900" algn="just" eaLnBrk="0" hangingPunct="0">
              <a:lnSpc>
                <a:spcPct val="150000"/>
              </a:lnSpc>
              <a:tabLst>
                <a:tab pos="457200" algn="l"/>
              </a:tabLst>
            </a:pPr>
            <a:r>
              <a:rPr lang="en-US" sz="2400" b="1">
                <a:solidFill>
                  <a:srgbClr val="660033"/>
                </a:solidFill>
                <a:latin typeface="Times New Roman" pitchFamily="18" charset="0"/>
              </a:rPr>
              <a:t>1. Define Inheritance?</a:t>
            </a:r>
          </a:p>
          <a:p>
            <a:pPr marL="342900" indent="-342900" algn="just" eaLnBrk="0" hangingPunct="0">
              <a:lnSpc>
                <a:spcPct val="150000"/>
              </a:lnSpc>
              <a:tabLst>
                <a:tab pos="457200" algn="l"/>
              </a:tabLst>
            </a:pPr>
            <a:r>
              <a:rPr lang="en-US" sz="2400" b="1">
                <a:solidFill>
                  <a:srgbClr val="660033"/>
                </a:solidFill>
                <a:latin typeface="Times New Roman" pitchFamily="18" charset="0"/>
              </a:rPr>
              <a:t>2. Explain with an example the specification of a derived class?</a:t>
            </a:r>
          </a:p>
          <a:p>
            <a:pPr marL="342900" indent="-342900" algn="just" eaLnBrk="0" hangingPunct="0">
              <a:lnSpc>
                <a:spcPct val="150000"/>
              </a:lnSpc>
              <a:tabLst>
                <a:tab pos="457200" algn="l"/>
              </a:tabLst>
            </a:pPr>
            <a:r>
              <a:rPr lang="en-US" sz="2400" b="1">
                <a:solidFill>
                  <a:srgbClr val="660033"/>
                </a:solidFill>
                <a:latin typeface="Times New Roman" pitchFamily="18" charset="0"/>
              </a:rPr>
              <a:t>3. Explain how inheritance are classified?</a:t>
            </a:r>
          </a:p>
          <a:p>
            <a:pPr marL="342900" indent="-342900" algn="just" eaLnBrk="0" hangingPunct="0">
              <a:lnSpc>
                <a:spcPct val="150000"/>
              </a:lnSpc>
              <a:tabLst>
                <a:tab pos="457200" algn="l"/>
              </a:tabLst>
            </a:pPr>
            <a:r>
              <a:rPr lang="en-US" sz="2400" b="1">
                <a:solidFill>
                  <a:srgbClr val="660033"/>
                </a:solidFill>
                <a:latin typeface="Times New Roman" pitchFamily="18" charset="0"/>
              </a:rPr>
              <a:t>4. Explain Single Inheritance with an Example?</a:t>
            </a:r>
          </a:p>
          <a:p>
            <a:pPr marL="342900" indent="-342900" algn="just" eaLnBrk="0" hangingPunct="0">
              <a:lnSpc>
                <a:spcPct val="150000"/>
              </a:lnSpc>
              <a:tabLst>
                <a:tab pos="457200" algn="l"/>
              </a:tabLst>
            </a:pPr>
            <a:r>
              <a:rPr lang="en-US" sz="2400" b="1">
                <a:solidFill>
                  <a:srgbClr val="660033"/>
                </a:solidFill>
                <a:latin typeface="Times New Roman" pitchFamily="18" charset="0"/>
              </a:rPr>
              <a:t>5. Explain  Multiple inheritance with an Example?</a:t>
            </a:r>
          </a:p>
          <a:p>
            <a:pPr marL="342900" indent="-342900" algn="just" eaLnBrk="0" hangingPunct="0">
              <a:lnSpc>
                <a:spcPct val="150000"/>
              </a:lnSpc>
              <a:tabLst>
                <a:tab pos="457200" algn="l"/>
              </a:tabLst>
            </a:pPr>
            <a:r>
              <a:rPr lang="en-US" sz="2400" b="1">
                <a:solidFill>
                  <a:srgbClr val="660033"/>
                </a:solidFill>
                <a:latin typeface="Times New Roman" pitchFamily="18" charset="0"/>
              </a:rPr>
              <a:t>6. Explain Hierarchical Inheritance with an Example?</a:t>
            </a:r>
          </a:p>
        </p:txBody>
      </p:sp>
      <p:sp>
        <p:nvSpPr>
          <p:cNvPr id="29701" name="AutoShape 5"/>
          <p:cNvSpPr>
            <a:spLocks noChangeArrowheads="1"/>
          </p:cNvSpPr>
          <p:nvPr/>
        </p:nvSpPr>
        <p:spPr bwMode="auto">
          <a:xfrm>
            <a:off x="228600" y="533400"/>
            <a:ext cx="8534400" cy="4724400"/>
          </a:xfrm>
          <a:prstGeom prst="roundRect">
            <a:avLst>
              <a:gd name="adj" fmla="val 16667"/>
            </a:avLst>
          </a:prstGeom>
          <a:noFill/>
          <a:ln w="57150" cmpd="thickThin">
            <a:solidFill>
              <a:srgbClr val="990033"/>
            </a:solidFill>
            <a:round/>
            <a:headEnd/>
            <a:tailEnd/>
          </a:ln>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6" fill="hold" grpId="0" nodeType="withEffect">
                                  <p:stCondLst>
                                    <p:cond delay="0"/>
                                  </p:stCondLst>
                                  <p:childTnLst>
                                    <p:set>
                                      <p:cBhvr>
                                        <p:cTn id="6" dur="1" fill="hold">
                                          <p:stCondLst>
                                            <p:cond delay="0"/>
                                          </p:stCondLst>
                                        </p:cTn>
                                        <p:tgtEl>
                                          <p:spTgt spid="31748"/>
                                        </p:tgtEl>
                                        <p:attrNameLst>
                                          <p:attrName>style.visibility</p:attrName>
                                        </p:attrNameLst>
                                      </p:cBhvr>
                                      <p:to>
                                        <p:strVal val="visible"/>
                                      </p:to>
                                    </p:set>
                                    <p:anim calcmode="lin" valueType="num">
                                      <p:cBhvr>
                                        <p:cTn id="7" dur="500" fill="hold"/>
                                        <p:tgtEl>
                                          <p:spTgt spid="31748"/>
                                        </p:tgtEl>
                                        <p:attrNameLst>
                                          <p:attrName>ppt_w</p:attrName>
                                        </p:attrNameLst>
                                      </p:cBhvr>
                                      <p:tavLst>
                                        <p:tav tm="0">
                                          <p:val>
                                            <p:strVal val="(6*min(max(#ppt_w*#ppt_h,.3),1)-7.4)/-.7*#ppt_w"/>
                                          </p:val>
                                        </p:tav>
                                        <p:tav tm="100000">
                                          <p:val>
                                            <p:strVal val="#ppt_w"/>
                                          </p:val>
                                        </p:tav>
                                      </p:tavLst>
                                    </p:anim>
                                    <p:anim calcmode="lin" valueType="num">
                                      <p:cBhvr>
                                        <p:cTn id="8" dur="500" fill="hold"/>
                                        <p:tgtEl>
                                          <p:spTgt spid="31748"/>
                                        </p:tgtEl>
                                        <p:attrNameLst>
                                          <p:attrName>ppt_h</p:attrName>
                                        </p:attrNameLst>
                                      </p:cBhvr>
                                      <p:tavLst>
                                        <p:tav tm="0">
                                          <p:val>
                                            <p:strVal val="(6*min(max(#ppt_w*#ppt_h,.3),1)-7.4)/-.7*#ppt_h"/>
                                          </p:val>
                                        </p:tav>
                                        <p:tav tm="100000">
                                          <p:val>
                                            <p:strVal val="#ppt_h"/>
                                          </p:val>
                                        </p:tav>
                                      </p:tavLst>
                                    </p:anim>
                                    <p:anim calcmode="lin" valueType="num">
                                      <p:cBhvr>
                                        <p:cTn id="9" dur="500" fill="hold"/>
                                        <p:tgtEl>
                                          <p:spTgt spid="31748"/>
                                        </p:tgtEl>
                                        <p:attrNameLst>
                                          <p:attrName>ppt_x</p:attrName>
                                        </p:attrNameLst>
                                      </p:cBhvr>
                                      <p:tavLst>
                                        <p:tav tm="0">
                                          <p:val>
                                            <p:fltVal val="0.5"/>
                                          </p:val>
                                        </p:tav>
                                        <p:tav tm="100000">
                                          <p:val>
                                            <p:strVal val="#ppt_x"/>
                                          </p:val>
                                        </p:tav>
                                      </p:tavLst>
                                    </p:anim>
                                    <p:anim calcmode="lin" valueType="num">
                                      <p:cBhvr>
                                        <p:cTn id="10" dur="500" fill="hold"/>
                                        <p:tgtEl>
                                          <p:spTgt spid="31748"/>
                                        </p:tgtEl>
                                        <p:attrNameLst>
                                          <p:attrName>ppt_y</p:attrName>
                                        </p:attrNameLst>
                                      </p:cBhvr>
                                      <p:tavLst>
                                        <p:tav tm="0">
                                          <p:val>
                                            <p:strVal val="1+(6*min(max(#ppt_w*#ppt_h,.3),1)-7.4)/-.7*#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8" grpId="0"/>
    </p:bld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WordArt 2"/>
          <p:cNvSpPr>
            <a:spLocks noChangeArrowheads="1" noChangeShapeType="1" noTextEdit="1"/>
          </p:cNvSpPr>
          <p:nvPr/>
        </p:nvSpPr>
        <p:spPr bwMode="auto">
          <a:xfrm>
            <a:off x="1219200" y="3276600"/>
            <a:ext cx="7086600" cy="914400"/>
          </a:xfrm>
          <a:prstGeom prst="rect">
            <a:avLst/>
          </a:prstGeom>
        </p:spPr>
        <p:txBody>
          <a:bodyPr wrap="none" fromWordArt="1">
            <a:prstTxWarp prst="textChevron">
              <a:avLst>
                <a:gd name="adj" fmla="val 25000"/>
              </a:avLst>
            </a:prstTxWarp>
          </a:bodyPr>
          <a:lstStyle/>
          <a:p>
            <a:pPr algn="ctr"/>
            <a:r>
              <a:rPr lang="en-IN" sz="3600" kern="10">
                <a:ln w="12700">
                  <a:solidFill>
                    <a:srgbClr val="B2B2B2"/>
                  </a:solidFill>
                  <a:round/>
                  <a:headEnd/>
                  <a:tailEnd/>
                </a:ln>
                <a:solidFill>
                  <a:srgbClr val="FF0000"/>
                </a:solidFill>
                <a:effectLst>
                  <a:outerShdw dist="35921" dir="2700000" sy="50000" rotWithShape="0">
                    <a:srgbClr val="875B0D">
                      <a:alpha val="70000"/>
                    </a:srgbClr>
                  </a:outerShdw>
                </a:effectLst>
                <a:latin typeface="Arial Black"/>
              </a:rPr>
              <a:t>Polymorphism</a:t>
            </a:r>
          </a:p>
        </p:txBody>
      </p:sp>
      <p:sp>
        <p:nvSpPr>
          <p:cNvPr id="3075" name="WordArt 3"/>
          <p:cNvSpPr>
            <a:spLocks noChangeArrowheads="1" noChangeShapeType="1" noTextEdit="1"/>
          </p:cNvSpPr>
          <p:nvPr/>
        </p:nvSpPr>
        <p:spPr bwMode="auto">
          <a:xfrm>
            <a:off x="3124200" y="1066800"/>
            <a:ext cx="2895600" cy="647700"/>
          </a:xfrm>
          <a:prstGeom prst="rect">
            <a:avLst/>
          </a:prstGeom>
        </p:spPr>
        <p:txBody>
          <a:bodyPr wrap="none" fromWordArt="1">
            <a:prstTxWarp prst="textPlain">
              <a:avLst>
                <a:gd name="adj" fmla="val 50000"/>
              </a:avLst>
            </a:prstTxWarp>
          </a:bodyPr>
          <a:lstStyle/>
          <a:p>
            <a:pPr algn="ctr"/>
            <a:r>
              <a:rPr lang="en-IN" sz="3600" kern="10">
                <a:ln w="9525">
                  <a:solidFill>
                    <a:srgbClr val="000000"/>
                  </a:solidFill>
                  <a:round/>
                  <a:headEnd/>
                  <a:tailEnd/>
                </a:ln>
                <a:solidFill>
                  <a:srgbClr val="A50021"/>
                </a:solidFill>
                <a:latin typeface="Arial Black"/>
              </a:rPr>
              <a:t>CHAPTER 11</a:t>
            </a:r>
          </a:p>
        </p:txBody>
      </p:sp>
    </p:spTree>
  </p:cSld>
  <p:clrMapOvr>
    <a:masterClrMapping/>
  </p:clrMapOvr>
  <p:timing>
    <p:tnLst>
      <p:par>
        <p:cTn id="1" dur="indefinite" restart="never" nodeType="tmRoot"/>
      </p:par>
    </p:tnLst>
  </p:timing>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
          <p:cNvSpPr txBox="1">
            <a:spLocks noChangeArrowheads="1"/>
          </p:cNvSpPr>
          <p:nvPr/>
        </p:nvSpPr>
        <p:spPr bwMode="auto">
          <a:xfrm>
            <a:off x="1876425" y="776288"/>
            <a:ext cx="5376863" cy="823912"/>
          </a:xfrm>
          <a:prstGeom prst="rect">
            <a:avLst/>
          </a:prstGeom>
          <a:solidFill>
            <a:srgbClr val="FF0000"/>
          </a:solidFill>
          <a:ln>
            <a:noFill/>
          </a:ln>
          <a:effectLst/>
          <a:extLst>
            <a:ext uri="{91240B29-F687-4F45-9708-019B960494DF}"/>
            <a:ext uri="{AF507438-7753-43E0-B8FC-AC1667EBCBE1}"/>
          </a:extLst>
        </p:spPr>
        <p:txBody>
          <a:bodyPr wrap="none">
            <a:spAutoFit/>
          </a:bodyPr>
          <a:lstStyle/>
          <a:p>
            <a:pPr>
              <a:defRPr/>
            </a:pPr>
            <a:r>
              <a:rPr lang="en-US" sz="4800" b="1">
                <a:solidFill>
                  <a:srgbClr val="66FFFF"/>
                </a:solidFill>
                <a:effectLst>
                  <a:outerShdw blurRad="38100" dist="38100" dir="2700000" algn="tl">
                    <a:srgbClr val="000000"/>
                  </a:outerShdw>
                </a:effectLst>
                <a:latin typeface="Arial Unicode MS" pitchFamily="34" charset="-128"/>
                <a:cs typeface="Times New Roman" pitchFamily="18" charset="0"/>
              </a:rPr>
              <a:t>Session Objectives</a:t>
            </a:r>
          </a:p>
        </p:txBody>
      </p:sp>
      <p:sp>
        <p:nvSpPr>
          <p:cNvPr id="5123" name="Text Box 3"/>
          <p:cNvSpPr txBox="1">
            <a:spLocks noChangeArrowheads="1"/>
          </p:cNvSpPr>
          <p:nvPr/>
        </p:nvSpPr>
        <p:spPr bwMode="auto">
          <a:xfrm>
            <a:off x="885825" y="2071688"/>
            <a:ext cx="5883275" cy="519112"/>
          </a:xfrm>
          <a:prstGeom prst="rect">
            <a:avLst/>
          </a:prstGeom>
          <a:noFill/>
          <a:ln w="9525">
            <a:noFill/>
            <a:miter lim="800000"/>
            <a:headEnd/>
            <a:tailEnd/>
          </a:ln>
        </p:spPr>
        <p:txBody>
          <a:bodyPr wrap="none">
            <a:spAutoFit/>
          </a:bodyPr>
          <a:lstStyle/>
          <a:p>
            <a:pPr>
              <a:buFontTx/>
              <a:buBlip>
                <a:blip r:embed="rId2"/>
              </a:buBlip>
            </a:pPr>
            <a:r>
              <a:rPr lang="en-US" sz="2800" b="1">
                <a:solidFill>
                  <a:srgbClr val="CC3300"/>
                </a:solidFill>
                <a:latin typeface="Times New Roman" pitchFamily="18" charset="0"/>
                <a:cs typeface="Times New Roman" pitchFamily="18" charset="0"/>
              </a:rPr>
              <a:t>   Define the word “ polymorphism”</a:t>
            </a:r>
          </a:p>
        </p:txBody>
      </p:sp>
      <p:sp>
        <p:nvSpPr>
          <p:cNvPr id="5124" name="Text Box 4"/>
          <p:cNvSpPr txBox="1">
            <a:spLocks noChangeArrowheads="1"/>
          </p:cNvSpPr>
          <p:nvPr/>
        </p:nvSpPr>
        <p:spPr bwMode="auto">
          <a:xfrm>
            <a:off x="885825" y="2833688"/>
            <a:ext cx="3265488" cy="519112"/>
          </a:xfrm>
          <a:prstGeom prst="rect">
            <a:avLst/>
          </a:prstGeom>
          <a:noFill/>
          <a:ln w="9525">
            <a:noFill/>
            <a:miter lim="800000"/>
            <a:headEnd/>
            <a:tailEnd/>
          </a:ln>
        </p:spPr>
        <p:txBody>
          <a:bodyPr wrap="none">
            <a:spAutoFit/>
          </a:bodyPr>
          <a:lstStyle/>
          <a:p>
            <a:pPr>
              <a:buFontTx/>
              <a:buBlip>
                <a:blip r:embed="rId2"/>
              </a:buBlip>
            </a:pPr>
            <a:r>
              <a:rPr lang="en-US" sz="2800" b="1">
                <a:solidFill>
                  <a:srgbClr val="CC3300"/>
                </a:solidFill>
                <a:latin typeface="Times New Roman" pitchFamily="18" charset="0"/>
                <a:cs typeface="Times New Roman" pitchFamily="18" charset="0"/>
              </a:rPr>
              <a:t>   Virtual Function</a:t>
            </a:r>
          </a:p>
        </p:txBody>
      </p:sp>
      <p:sp>
        <p:nvSpPr>
          <p:cNvPr id="5125" name="Text Box 5"/>
          <p:cNvSpPr txBox="1">
            <a:spLocks noChangeArrowheads="1"/>
          </p:cNvSpPr>
          <p:nvPr/>
        </p:nvSpPr>
        <p:spPr bwMode="auto">
          <a:xfrm>
            <a:off x="962025" y="3748088"/>
            <a:ext cx="3240088" cy="519112"/>
          </a:xfrm>
          <a:prstGeom prst="rect">
            <a:avLst/>
          </a:prstGeom>
          <a:noFill/>
          <a:ln w="9525">
            <a:noFill/>
            <a:miter lim="800000"/>
            <a:headEnd/>
            <a:tailEnd/>
          </a:ln>
        </p:spPr>
        <p:txBody>
          <a:bodyPr wrap="none">
            <a:spAutoFit/>
          </a:bodyPr>
          <a:lstStyle/>
          <a:p>
            <a:pPr>
              <a:buFontTx/>
              <a:buBlip>
                <a:blip r:embed="rId2"/>
              </a:buBlip>
            </a:pPr>
            <a:r>
              <a:rPr lang="en-US" sz="2800" b="1">
                <a:solidFill>
                  <a:srgbClr val="CC3300"/>
                </a:solidFill>
                <a:latin typeface="Times New Roman" pitchFamily="18" charset="0"/>
                <a:cs typeface="Times New Roman" pitchFamily="18" charset="0"/>
              </a:rPr>
              <a:t>  virtual Base class</a:t>
            </a:r>
          </a:p>
        </p:txBody>
      </p:sp>
      <p:sp>
        <p:nvSpPr>
          <p:cNvPr id="5126" name="Text Box 6"/>
          <p:cNvSpPr txBox="1">
            <a:spLocks noChangeArrowheads="1"/>
          </p:cNvSpPr>
          <p:nvPr/>
        </p:nvSpPr>
        <p:spPr bwMode="auto">
          <a:xfrm>
            <a:off x="990600" y="4572000"/>
            <a:ext cx="2738438" cy="519113"/>
          </a:xfrm>
          <a:prstGeom prst="rect">
            <a:avLst/>
          </a:prstGeom>
          <a:noFill/>
          <a:ln w="9525">
            <a:noFill/>
            <a:miter lim="800000"/>
            <a:headEnd/>
            <a:tailEnd/>
          </a:ln>
        </p:spPr>
        <p:txBody>
          <a:bodyPr wrap="none">
            <a:spAutoFit/>
          </a:bodyPr>
          <a:lstStyle/>
          <a:p>
            <a:pPr>
              <a:buFontTx/>
              <a:buBlip>
                <a:blip r:embed="rId2"/>
              </a:buBlip>
            </a:pPr>
            <a:r>
              <a:rPr lang="en-US" sz="2800" b="1">
                <a:solidFill>
                  <a:srgbClr val="CC3300"/>
                </a:solidFill>
                <a:latin typeface="Times New Roman" pitchFamily="18" charset="0"/>
                <a:cs typeface="Times New Roman" pitchFamily="18" charset="0"/>
              </a:rPr>
              <a:t>  Abstract class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288" fill="hold" grpId="0" nodeType="afterEffect">
                                  <p:stCondLst>
                                    <p:cond delay="0"/>
                                  </p:stCondLst>
                                  <p:childTnLst>
                                    <p:set>
                                      <p:cBhvr>
                                        <p:cTn id="6" dur="1" fill="hold">
                                          <p:stCondLst>
                                            <p:cond delay="0"/>
                                          </p:stCondLst>
                                        </p:cTn>
                                        <p:tgtEl>
                                          <p:spTgt spid="5123"/>
                                        </p:tgtEl>
                                        <p:attrNameLst>
                                          <p:attrName>style.visibility</p:attrName>
                                        </p:attrNameLst>
                                      </p:cBhvr>
                                      <p:to>
                                        <p:strVal val="visible"/>
                                      </p:to>
                                    </p:set>
                                    <p:anim calcmode="lin" valueType="num">
                                      <p:cBhvr>
                                        <p:cTn id="7" dur="500" fill="hold"/>
                                        <p:tgtEl>
                                          <p:spTgt spid="5123"/>
                                        </p:tgtEl>
                                        <p:attrNameLst>
                                          <p:attrName>ppt_w</p:attrName>
                                        </p:attrNameLst>
                                      </p:cBhvr>
                                      <p:tavLst>
                                        <p:tav tm="0">
                                          <p:val>
                                            <p:strVal val="4/3*#ppt_w"/>
                                          </p:val>
                                        </p:tav>
                                        <p:tav tm="100000">
                                          <p:val>
                                            <p:strVal val="#ppt_w"/>
                                          </p:val>
                                        </p:tav>
                                      </p:tavLst>
                                    </p:anim>
                                    <p:anim calcmode="lin" valueType="num">
                                      <p:cBhvr>
                                        <p:cTn id="8" dur="500" fill="hold"/>
                                        <p:tgtEl>
                                          <p:spTgt spid="5123"/>
                                        </p:tgtEl>
                                        <p:attrNameLst>
                                          <p:attrName>ppt_h</p:attrName>
                                        </p:attrNameLst>
                                      </p:cBhvr>
                                      <p:tavLst>
                                        <p:tav tm="0">
                                          <p:val>
                                            <p:strVal val="4/3*#ppt_h"/>
                                          </p:val>
                                        </p:tav>
                                        <p:tav tm="100000">
                                          <p:val>
                                            <p:strVal val="#ppt_h"/>
                                          </p:val>
                                        </p:tav>
                                      </p:tavLst>
                                    </p:anim>
                                  </p:childTnLst>
                                </p:cTn>
                              </p:par>
                            </p:childTnLst>
                          </p:cTn>
                        </p:par>
                        <p:par>
                          <p:cTn id="9" fill="hold" nodeType="afterGroup">
                            <p:stCondLst>
                              <p:cond delay="500"/>
                            </p:stCondLst>
                            <p:childTnLst>
                              <p:par>
                                <p:cTn id="10" presetID="23" presetClass="entr" presetSubtype="288" fill="hold" grpId="0" nodeType="afterEffect">
                                  <p:stCondLst>
                                    <p:cond delay="0"/>
                                  </p:stCondLst>
                                  <p:childTnLst>
                                    <p:set>
                                      <p:cBhvr>
                                        <p:cTn id="11" dur="1" fill="hold">
                                          <p:stCondLst>
                                            <p:cond delay="0"/>
                                          </p:stCondLst>
                                        </p:cTn>
                                        <p:tgtEl>
                                          <p:spTgt spid="5124"/>
                                        </p:tgtEl>
                                        <p:attrNameLst>
                                          <p:attrName>style.visibility</p:attrName>
                                        </p:attrNameLst>
                                      </p:cBhvr>
                                      <p:to>
                                        <p:strVal val="visible"/>
                                      </p:to>
                                    </p:set>
                                    <p:anim calcmode="lin" valueType="num">
                                      <p:cBhvr>
                                        <p:cTn id="12" dur="500" fill="hold"/>
                                        <p:tgtEl>
                                          <p:spTgt spid="5124"/>
                                        </p:tgtEl>
                                        <p:attrNameLst>
                                          <p:attrName>ppt_w</p:attrName>
                                        </p:attrNameLst>
                                      </p:cBhvr>
                                      <p:tavLst>
                                        <p:tav tm="0">
                                          <p:val>
                                            <p:strVal val="4/3*#ppt_w"/>
                                          </p:val>
                                        </p:tav>
                                        <p:tav tm="100000">
                                          <p:val>
                                            <p:strVal val="#ppt_w"/>
                                          </p:val>
                                        </p:tav>
                                      </p:tavLst>
                                    </p:anim>
                                    <p:anim calcmode="lin" valueType="num">
                                      <p:cBhvr>
                                        <p:cTn id="13" dur="500" fill="hold"/>
                                        <p:tgtEl>
                                          <p:spTgt spid="5124"/>
                                        </p:tgtEl>
                                        <p:attrNameLst>
                                          <p:attrName>ppt_h</p:attrName>
                                        </p:attrNameLst>
                                      </p:cBhvr>
                                      <p:tavLst>
                                        <p:tav tm="0">
                                          <p:val>
                                            <p:strVal val="4/3*#ppt_h"/>
                                          </p:val>
                                        </p:tav>
                                        <p:tav tm="100000">
                                          <p:val>
                                            <p:strVal val="#ppt_h"/>
                                          </p:val>
                                        </p:tav>
                                      </p:tavLst>
                                    </p:anim>
                                  </p:childTnLst>
                                </p:cTn>
                              </p:par>
                            </p:childTnLst>
                          </p:cTn>
                        </p:par>
                        <p:par>
                          <p:cTn id="14" fill="hold" nodeType="afterGroup">
                            <p:stCondLst>
                              <p:cond delay="1000"/>
                            </p:stCondLst>
                            <p:childTnLst>
                              <p:par>
                                <p:cTn id="15" presetID="23" presetClass="entr" presetSubtype="288" fill="hold" grpId="0" nodeType="afterEffect">
                                  <p:stCondLst>
                                    <p:cond delay="0"/>
                                  </p:stCondLst>
                                  <p:childTnLst>
                                    <p:set>
                                      <p:cBhvr>
                                        <p:cTn id="16" dur="1" fill="hold">
                                          <p:stCondLst>
                                            <p:cond delay="0"/>
                                          </p:stCondLst>
                                        </p:cTn>
                                        <p:tgtEl>
                                          <p:spTgt spid="5125"/>
                                        </p:tgtEl>
                                        <p:attrNameLst>
                                          <p:attrName>style.visibility</p:attrName>
                                        </p:attrNameLst>
                                      </p:cBhvr>
                                      <p:to>
                                        <p:strVal val="visible"/>
                                      </p:to>
                                    </p:set>
                                    <p:anim calcmode="lin" valueType="num">
                                      <p:cBhvr>
                                        <p:cTn id="17" dur="500" fill="hold"/>
                                        <p:tgtEl>
                                          <p:spTgt spid="5125"/>
                                        </p:tgtEl>
                                        <p:attrNameLst>
                                          <p:attrName>ppt_w</p:attrName>
                                        </p:attrNameLst>
                                      </p:cBhvr>
                                      <p:tavLst>
                                        <p:tav tm="0">
                                          <p:val>
                                            <p:strVal val="4/3*#ppt_w"/>
                                          </p:val>
                                        </p:tav>
                                        <p:tav tm="100000">
                                          <p:val>
                                            <p:strVal val="#ppt_w"/>
                                          </p:val>
                                        </p:tav>
                                      </p:tavLst>
                                    </p:anim>
                                    <p:anim calcmode="lin" valueType="num">
                                      <p:cBhvr>
                                        <p:cTn id="18" dur="500" fill="hold"/>
                                        <p:tgtEl>
                                          <p:spTgt spid="5125"/>
                                        </p:tgtEl>
                                        <p:attrNameLst>
                                          <p:attrName>ppt_h</p:attrName>
                                        </p:attrNameLst>
                                      </p:cBhvr>
                                      <p:tavLst>
                                        <p:tav tm="0">
                                          <p:val>
                                            <p:strVal val="4/3*#ppt_h"/>
                                          </p:val>
                                        </p:tav>
                                        <p:tav tm="100000">
                                          <p:val>
                                            <p:strVal val="#ppt_h"/>
                                          </p:val>
                                        </p:tav>
                                      </p:tavLst>
                                    </p:anim>
                                  </p:childTnLst>
                                </p:cTn>
                              </p:par>
                            </p:childTnLst>
                          </p:cTn>
                        </p:par>
                        <p:par>
                          <p:cTn id="19" fill="hold" nodeType="afterGroup">
                            <p:stCondLst>
                              <p:cond delay="1500"/>
                            </p:stCondLst>
                            <p:childTnLst>
                              <p:par>
                                <p:cTn id="20" presetID="23" presetClass="entr" presetSubtype="288" fill="hold" grpId="0" nodeType="afterEffect">
                                  <p:stCondLst>
                                    <p:cond delay="0"/>
                                  </p:stCondLst>
                                  <p:childTnLst>
                                    <p:set>
                                      <p:cBhvr>
                                        <p:cTn id="21" dur="1" fill="hold">
                                          <p:stCondLst>
                                            <p:cond delay="0"/>
                                          </p:stCondLst>
                                        </p:cTn>
                                        <p:tgtEl>
                                          <p:spTgt spid="5126"/>
                                        </p:tgtEl>
                                        <p:attrNameLst>
                                          <p:attrName>style.visibility</p:attrName>
                                        </p:attrNameLst>
                                      </p:cBhvr>
                                      <p:to>
                                        <p:strVal val="visible"/>
                                      </p:to>
                                    </p:set>
                                    <p:anim calcmode="lin" valueType="num">
                                      <p:cBhvr>
                                        <p:cTn id="22" dur="500" fill="hold"/>
                                        <p:tgtEl>
                                          <p:spTgt spid="5126"/>
                                        </p:tgtEl>
                                        <p:attrNameLst>
                                          <p:attrName>ppt_w</p:attrName>
                                        </p:attrNameLst>
                                      </p:cBhvr>
                                      <p:tavLst>
                                        <p:tav tm="0">
                                          <p:val>
                                            <p:strVal val="4/3*#ppt_w"/>
                                          </p:val>
                                        </p:tav>
                                        <p:tav tm="100000">
                                          <p:val>
                                            <p:strVal val="#ppt_w"/>
                                          </p:val>
                                        </p:tav>
                                      </p:tavLst>
                                    </p:anim>
                                    <p:anim calcmode="lin" valueType="num">
                                      <p:cBhvr>
                                        <p:cTn id="23" dur="500" fill="hold"/>
                                        <p:tgtEl>
                                          <p:spTgt spid="5126"/>
                                        </p:tgtEl>
                                        <p:attrNameLst>
                                          <p:attrName>ppt_h</p:attrName>
                                        </p:attrNameLst>
                                      </p:cBhvr>
                                      <p:tavLst>
                                        <p:tav tm="0">
                                          <p:val>
                                            <p:strVal val="4/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autoUpdateAnimBg="0"/>
      <p:bldP spid="5124" grpId="0" autoUpdateAnimBg="0"/>
      <p:bldP spid="5125" grpId="0" autoUpdateAnimBg="0"/>
      <p:bldP spid="5126" grpId="0" autoUpdateAnimBg="0"/>
    </p:bld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idx="1"/>
          </p:nvPr>
        </p:nvSpPr>
        <p:spPr>
          <a:ln>
            <a:solidFill>
              <a:srgbClr val="0000FF"/>
            </a:solidFill>
          </a:ln>
        </p:spPr>
        <p:txBody>
          <a:bodyPr/>
          <a:lstStyle/>
          <a:p>
            <a:pPr algn="just" eaLnBrk="1" hangingPunct="1">
              <a:lnSpc>
                <a:spcPct val="135000"/>
              </a:lnSpc>
            </a:pPr>
            <a:r>
              <a:rPr lang="en-US" sz="2400" b="1" smtClean="0">
                <a:solidFill>
                  <a:srgbClr val="660033"/>
                </a:solidFill>
                <a:latin typeface="Times New Roman" pitchFamily="18" charset="0"/>
              </a:rPr>
              <a:t>It is one of pillars of object oriented programming. In an object oriented language polymorphism allows a programmer to purse a course of action by sending a message to an object without concerning about how the software system is to implement the action (i.e One function works as different in different place)</a:t>
            </a:r>
          </a:p>
        </p:txBody>
      </p:sp>
      <p:sp>
        <p:nvSpPr>
          <p:cNvPr id="6147" name="WordArt 3"/>
          <p:cNvSpPr>
            <a:spLocks noChangeArrowheads="1" noChangeShapeType="1" noTextEdit="1"/>
          </p:cNvSpPr>
          <p:nvPr/>
        </p:nvSpPr>
        <p:spPr bwMode="auto">
          <a:xfrm>
            <a:off x="1828800" y="457200"/>
            <a:ext cx="5410200" cy="1219200"/>
          </a:xfrm>
          <a:prstGeom prst="rect">
            <a:avLst/>
          </a:prstGeom>
        </p:spPr>
        <p:txBody>
          <a:bodyPr wrap="none" fromWordArt="1">
            <a:prstTxWarp prst="textInflate">
              <a:avLst>
                <a:gd name="adj" fmla="val 13634"/>
              </a:avLst>
            </a:prstTxWarp>
          </a:bodyPr>
          <a:lstStyle/>
          <a:p>
            <a:pPr algn="ctr"/>
            <a:r>
              <a:rPr lang="en-IN" sz="3600" i="1" kern="10">
                <a:ln w="9525">
                  <a:solidFill>
                    <a:srgbClr val="000000"/>
                  </a:solidFill>
                  <a:round/>
                  <a:headEnd/>
                  <a:tailEnd/>
                </a:ln>
                <a:solidFill>
                  <a:srgbClr val="990033"/>
                </a:solidFill>
                <a:effectLst>
                  <a:outerShdw dist="35921" dir="2700000" algn="ctr" rotWithShape="0">
                    <a:srgbClr val="808080">
                      <a:alpha val="79999"/>
                    </a:srgbClr>
                  </a:outerShdw>
                </a:effectLst>
                <a:latin typeface="Arial Black"/>
              </a:rPr>
              <a:t>Polymorphism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9" presetClass="emph" presetSubtype="0" fill="hold" grpId="0" nodeType="withEffect">
                                  <p:stCondLst>
                                    <p:cond delay="0"/>
                                  </p:stCondLst>
                                  <p:childTnLst>
                                    <p:animClr clrSpc="rgb" dir="cw">
                                      <p:cBhvr override="childStyle">
                                        <p:cTn id="6" dur="500" fill="hold"/>
                                        <p:tgtEl>
                                          <p:spTgt spid="6147"/>
                                        </p:tgtEl>
                                        <p:attrNameLst>
                                          <p:attrName>style.color</p:attrName>
                                        </p:attrNameLst>
                                      </p:cBhvr>
                                      <p:to>
                                        <a:schemeClr val="accent2"/>
                                      </p:to>
                                    </p:animClr>
                                    <p:animClr clrSpc="rgb" dir="cw">
                                      <p:cBhvr>
                                        <p:cTn id="7" dur="500" fill="hold"/>
                                        <p:tgtEl>
                                          <p:spTgt spid="6147"/>
                                        </p:tgtEl>
                                        <p:attrNameLst>
                                          <p:attrName>fillcolor</p:attrName>
                                        </p:attrNameLst>
                                      </p:cBhvr>
                                      <p:to>
                                        <a:schemeClr val="accent2"/>
                                      </p:to>
                                    </p:animClr>
                                    <p:set>
                                      <p:cBhvr>
                                        <p:cTn id="8" dur="500" fill="hold"/>
                                        <p:tgtEl>
                                          <p:spTgt spid="6147"/>
                                        </p:tgtEl>
                                        <p:attrNameLst>
                                          <p:attrName>fill.type</p:attrName>
                                        </p:attrNameLst>
                                      </p:cBhvr>
                                      <p:to>
                                        <p:strVal val="solid"/>
                                      </p:to>
                                    </p:set>
                                    <p:set>
                                      <p:cBhvr>
                                        <p:cTn id="9" dur="500" fill="hold"/>
                                        <p:tgtEl>
                                          <p:spTgt spid="6147"/>
                                        </p:tgtEl>
                                        <p:attrNameLst>
                                          <p:attrName>fill.on</p:attrName>
                                        </p:attrNameLst>
                                      </p:cBhvr>
                                      <p:to>
                                        <p:strVal val="true"/>
                                      </p:to>
                                    </p:set>
                                  </p:childTnLst>
                                </p:cTn>
                              </p:par>
                              <p:par>
                                <p:cTn id="10" presetID="23" presetClass="entr" presetSubtype="36" fill="hold" grpId="0" nodeType="withEffect">
                                  <p:stCondLst>
                                    <p:cond delay="0"/>
                                  </p:stCondLst>
                                  <p:childTnLst>
                                    <p:set>
                                      <p:cBhvr>
                                        <p:cTn id="11" dur="1" fill="hold">
                                          <p:stCondLst>
                                            <p:cond delay="0"/>
                                          </p:stCondLst>
                                        </p:cTn>
                                        <p:tgtEl>
                                          <p:spTgt spid="6146">
                                            <p:bg/>
                                          </p:spTgt>
                                        </p:tgtEl>
                                        <p:attrNameLst>
                                          <p:attrName>style.visibility</p:attrName>
                                        </p:attrNameLst>
                                      </p:cBhvr>
                                      <p:to>
                                        <p:strVal val="visible"/>
                                      </p:to>
                                    </p:set>
                                    <p:anim calcmode="lin" valueType="num">
                                      <p:cBhvr>
                                        <p:cTn id="12" dur="500" fill="hold"/>
                                        <p:tgtEl>
                                          <p:spTgt spid="6146">
                                            <p:bg/>
                                          </p:spTgt>
                                        </p:tgtEl>
                                        <p:attrNameLst>
                                          <p:attrName>ppt_w</p:attrName>
                                        </p:attrNameLst>
                                      </p:cBhvr>
                                      <p:tavLst>
                                        <p:tav tm="0">
                                          <p:val>
                                            <p:strVal val="(6*min(max(#ppt_w*#ppt_h,.3),1)-7.4)/-.7*#ppt_w"/>
                                          </p:val>
                                        </p:tav>
                                        <p:tav tm="100000">
                                          <p:val>
                                            <p:strVal val="#ppt_w"/>
                                          </p:val>
                                        </p:tav>
                                      </p:tavLst>
                                    </p:anim>
                                    <p:anim calcmode="lin" valueType="num">
                                      <p:cBhvr>
                                        <p:cTn id="13" dur="500" fill="hold"/>
                                        <p:tgtEl>
                                          <p:spTgt spid="6146">
                                            <p:bg/>
                                          </p:spTgt>
                                        </p:tgtEl>
                                        <p:attrNameLst>
                                          <p:attrName>ppt_h</p:attrName>
                                        </p:attrNameLst>
                                      </p:cBhvr>
                                      <p:tavLst>
                                        <p:tav tm="0">
                                          <p:val>
                                            <p:strVal val="(6*min(max(#ppt_w*#ppt_h,.3),1)-7.4)/-.7*#ppt_h"/>
                                          </p:val>
                                        </p:tav>
                                        <p:tav tm="100000">
                                          <p:val>
                                            <p:strVal val="#ppt_h"/>
                                          </p:val>
                                        </p:tav>
                                      </p:tavLst>
                                    </p:anim>
                                    <p:anim calcmode="lin" valueType="num">
                                      <p:cBhvr>
                                        <p:cTn id="14" dur="500" fill="hold"/>
                                        <p:tgtEl>
                                          <p:spTgt spid="6146">
                                            <p:bg/>
                                          </p:spTgt>
                                        </p:tgtEl>
                                        <p:attrNameLst>
                                          <p:attrName>ppt_x</p:attrName>
                                        </p:attrNameLst>
                                      </p:cBhvr>
                                      <p:tavLst>
                                        <p:tav tm="0">
                                          <p:val>
                                            <p:fltVal val="0.5"/>
                                          </p:val>
                                        </p:tav>
                                        <p:tav tm="100000">
                                          <p:val>
                                            <p:strVal val="#ppt_x"/>
                                          </p:val>
                                        </p:tav>
                                      </p:tavLst>
                                    </p:anim>
                                    <p:anim calcmode="lin" valueType="num">
                                      <p:cBhvr>
                                        <p:cTn id="15" dur="500" fill="hold"/>
                                        <p:tgtEl>
                                          <p:spTgt spid="6146">
                                            <p:bg/>
                                          </p:spTgt>
                                        </p:tgtEl>
                                        <p:attrNameLst>
                                          <p:attrName>ppt_y</p:attrName>
                                        </p:attrNameLst>
                                      </p:cBhvr>
                                      <p:tavLst>
                                        <p:tav tm="0">
                                          <p:val>
                                            <p:strVal val="1+(6*min(max(#ppt_w*#ppt_h,.3),1)-7.4)/-.7*#ppt_h/2"/>
                                          </p:val>
                                        </p:tav>
                                        <p:tav tm="100000">
                                          <p:val>
                                            <p:strVal val="#ppt_y"/>
                                          </p:val>
                                        </p:tav>
                                      </p:tavLst>
                                    </p:anim>
                                  </p:childTnLst>
                                </p:cTn>
                              </p:par>
                              <p:par>
                                <p:cTn id="16" presetID="23" presetClass="entr" presetSubtype="36" fill="hold" grpId="0" nodeType="withEffect">
                                  <p:stCondLst>
                                    <p:cond delay="0"/>
                                  </p:stCondLst>
                                  <p:childTnLst>
                                    <p:set>
                                      <p:cBhvr>
                                        <p:cTn id="17" dur="1" fill="hold">
                                          <p:stCondLst>
                                            <p:cond delay="0"/>
                                          </p:stCondLst>
                                        </p:cTn>
                                        <p:tgtEl>
                                          <p:spTgt spid="6146">
                                            <p:txEl>
                                              <p:pRg st="0" end="0"/>
                                            </p:txEl>
                                          </p:spTgt>
                                        </p:tgtEl>
                                        <p:attrNameLst>
                                          <p:attrName>style.visibility</p:attrName>
                                        </p:attrNameLst>
                                      </p:cBhvr>
                                      <p:to>
                                        <p:strVal val="visible"/>
                                      </p:to>
                                    </p:set>
                                    <p:anim calcmode="lin" valueType="num">
                                      <p:cBhvr>
                                        <p:cTn id="18" dur="500" fill="hold"/>
                                        <p:tgtEl>
                                          <p:spTgt spid="6146">
                                            <p:txEl>
                                              <p:pRg st="0" end="0"/>
                                            </p:txEl>
                                          </p:spTgt>
                                        </p:tgtEl>
                                        <p:attrNameLst>
                                          <p:attrName>ppt_w</p:attrName>
                                        </p:attrNameLst>
                                      </p:cBhvr>
                                      <p:tavLst>
                                        <p:tav tm="0">
                                          <p:val>
                                            <p:strVal val="(6*min(max(#ppt_w*#ppt_h,.3),1)-7.4)/-.7*#ppt_w"/>
                                          </p:val>
                                        </p:tav>
                                        <p:tav tm="100000">
                                          <p:val>
                                            <p:strVal val="#ppt_w"/>
                                          </p:val>
                                        </p:tav>
                                      </p:tavLst>
                                    </p:anim>
                                    <p:anim calcmode="lin" valueType="num">
                                      <p:cBhvr>
                                        <p:cTn id="19" dur="500" fill="hold"/>
                                        <p:tgtEl>
                                          <p:spTgt spid="6146">
                                            <p:txEl>
                                              <p:pRg st="0" end="0"/>
                                            </p:txEl>
                                          </p:spTgt>
                                        </p:tgtEl>
                                        <p:attrNameLst>
                                          <p:attrName>ppt_h</p:attrName>
                                        </p:attrNameLst>
                                      </p:cBhvr>
                                      <p:tavLst>
                                        <p:tav tm="0">
                                          <p:val>
                                            <p:strVal val="(6*min(max(#ppt_w*#ppt_h,.3),1)-7.4)/-.7*#ppt_h"/>
                                          </p:val>
                                        </p:tav>
                                        <p:tav tm="100000">
                                          <p:val>
                                            <p:strVal val="#ppt_h"/>
                                          </p:val>
                                        </p:tav>
                                      </p:tavLst>
                                    </p:anim>
                                    <p:anim calcmode="lin" valueType="num">
                                      <p:cBhvr>
                                        <p:cTn id="20" dur="500" fill="hold"/>
                                        <p:tgtEl>
                                          <p:spTgt spid="6146">
                                            <p:txEl>
                                              <p:pRg st="0" end="0"/>
                                            </p:txEl>
                                          </p:spTgt>
                                        </p:tgtEl>
                                        <p:attrNameLst>
                                          <p:attrName>ppt_x</p:attrName>
                                        </p:attrNameLst>
                                      </p:cBhvr>
                                      <p:tavLst>
                                        <p:tav tm="0">
                                          <p:val>
                                            <p:fltVal val="0.5"/>
                                          </p:val>
                                        </p:tav>
                                        <p:tav tm="100000">
                                          <p:val>
                                            <p:strVal val="#ppt_x"/>
                                          </p:val>
                                        </p:tav>
                                      </p:tavLst>
                                    </p:anim>
                                    <p:anim calcmode="lin" valueType="num">
                                      <p:cBhvr>
                                        <p:cTn id="21" dur="500" fill="hold"/>
                                        <p:tgtEl>
                                          <p:spTgt spid="6146">
                                            <p:txEl>
                                              <p:pRg st="0" end="0"/>
                                            </p:txEl>
                                          </p:spTgt>
                                        </p:tgtEl>
                                        <p:attrNameLst>
                                          <p:attrName>ppt_y</p:attrName>
                                        </p:attrNameLst>
                                      </p:cBhvr>
                                      <p:tavLst>
                                        <p:tav tm="0">
                                          <p:val>
                                            <p:strVal val="1+(6*min(max(#ppt_w*#ppt_h,.3),1)-7.4)/-.7*#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build="p" animBg="1"/>
      <p:bldP spid="6147" grpId="0" animBg="1"/>
    </p:bldLst>
  </p:timing>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ChangeArrowheads="1"/>
          </p:cNvSpPr>
          <p:nvPr/>
        </p:nvSpPr>
        <p:spPr bwMode="auto">
          <a:xfrm>
            <a:off x="0" y="0"/>
            <a:ext cx="4419600" cy="6862763"/>
          </a:xfrm>
          <a:prstGeom prst="rect">
            <a:avLst/>
          </a:prstGeom>
          <a:noFill/>
          <a:ln w="9525">
            <a:solidFill>
              <a:srgbClr val="990099"/>
            </a:solidFill>
            <a:miter lim="800000"/>
            <a:headEnd/>
            <a:tailEnd/>
          </a:ln>
        </p:spPr>
        <p:txBody>
          <a:bodyPr>
            <a:spAutoFit/>
          </a:bodyPr>
          <a:lstStyle/>
          <a:p>
            <a:pPr eaLnBrk="0" hangingPunct="0"/>
            <a:r>
              <a:rPr lang="en-US" sz="2000" b="1" i="1" u="sng">
                <a:solidFill>
                  <a:srgbClr val="800000"/>
                </a:solidFill>
              </a:rPr>
              <a:t>Without Using Virtual Keyword</a:t>
            </a:r>
          </a:p>
          <a:p>
            <a:pPr eaLnBrk="0" hangingPunct="0"/>
            <a:r>
              <a:rPr lang="en-US" sz="1400">
                <a:solidFill>
                  <a:srgbClr val="800000"/>
                </a:solidFill>
                <a:latin typeface="Arial Black" pitchFamily="34" charset="0"/>
              </a:rPr>
              <a:t>#include&lt;iostream.h&gt;</a:t>
            </a:r>
          </a:p>
          <a:p>
            <a:pPr eaLnBrk="0" hangingPunct="0"/>
            <a:r>
              <a:rPr lang="en-US" sz="1400">
                <a:solidFill>
                  <a:srgbClr val="800000"/>
                </a:solidFill>
                <a:latin typeface="Arial Black" pitchFamily="34" charset="0"/>
              </a:rPr>
              <a:t>class base</a:t>
            </a:r>
          </a:p>
          <a:p>
            <a:pPr eaLnBrk="0" hangingPunct="0"/>
            <a:r>
              <a:rPr lang="en-US" sz="1400">
                <a:solidFill>
                  <a:srgbClr val="800000"/>
                </a:solidFill>
                <a:latin typeface="Arial Black" pitchFamily="34" charset="0"/>
              </a:rPr>
              <a:t>{</a:t>
            </a:r>
          </a:p>
          <a:p>
            <a:pPr eaLnBrk="0" hangingPunct="0"/>
            <a:r>
              <a:rPr lang="en-US" sz="1400">
                <a:solidFill>
                  <a:srgbClr val="800000"/>
                </a:solidFill>
                <a:latin typeface="Arial Black" pitchFamily="34" charset="0"/>
              </a:rPr>
              <a:t>      public:</a:t>
            </a:r>
          </a:p>
          <a:p>
            <a:pPr eaLnBrk="0" hangingPunct="0"/>
            <a:r>
              <a:rPr lang="en-US" sz="1400">
                <a:solidFill>
                  <a:srgbClr val="800000"/>
                </a:solidFill>
                <a:latin typeface="Arial Black" pitchFamily="34" charset="0"/>
              </a:rPr>
              <a:t>	 void getdata();</a:t>
            </a:r>
          </a:p>
          <a:p>
            <a:pPr eaLnBrk="0" hangingPunct="0"/>
            <a:r>
              <a:rPr lang="en-US" sz="1400">
                <a:solidFill>
                  <a:srgbClr val="800000"/>
                </a:solidFill>
                <a:latin typeface="Arial Black" pitchFamily="34" charset="0"/>
              </a:rPr>
              <a:t>	 void display();</a:t>
            </a:r>
          </a:p>
          <a:p>
            <a:pPr eaLnBrk="0" hangingPunct="0"/>
            <a:r>
              <a:rPr lang="en-US" sz="1400">
                <a:solidFill>
                  <a:srgbClr val="800000"/>
                </a:solidFill>
                <a:latin typeface="Arial Black" pitchFamily="34" charset="0"/>
              </a:rPr>
              <a:t>};</a:t>
            </a:r>
          </a:p>
          <a:p>
            <a:pPr eaLnBrk="0" hangingPunct="0"/>
            <a:endParaRPr lang="en-US" sz="1400">
              <a:solidFill>
                <a:srgbClr val="800000"/>
              </a:solidFill>
              <a:latin typeface="Arial Black" pitchFamily="34" charset="0"/>
            </a:endParaRPr>
          </a:p>
          <a:p>
            <a:pPr eaLnBrk="0" hangingPunct="0"/>
            <a:r>
              <a:rPr lang="en-US" sz="1400">
                <a:solidFill>
                  <a:srgbClr val="800000"/>
                </a:solidFill>
                <a:latin typeface="Arial Black" pitchFamily="34" charset="0"/>
              </a:rPr>
              <a:t>class derivedB: public base</a:t>
            </a:r>
          </a:p>
          <a:p>
            <a:pPr eaLnBrk="0" hangingPunct="0"/>
            <a:r>
              <a:rPr lang="en-US" sz="1400">
                <a:solidFill>
                  <a:srgbClr val="800000"/>
                </a:solidFill>
                <a:latin typeface="Arial Black" pitchFamily="34" charset="0"/>
              </a:rPr>
              <a:t>{</a:t>
            </a:r>
          </a:p>
          <a:p>
            <a:pPr eaLnBrk="0" hangingPunct="0"/>
            <a:r>
              <a:rPr lang="en-US" sz="1400">
                <a:solidFill>
                  <a:srgbClr val="800000"/>
                </a:solidFill>
                <a:latin typeface="Arial Black" pitchFamily="34" charset="0"/>
              </a:rPr>
              <a:t>private:</a:t>
            </a:r>
          </a:p>
          <a:p>
            <a:pPr eaLnBrk="0" hangingPunct="0"/>
            <a:r>
              <a:rPr lang="en-US" sz="1400">
                <a:solidFill>
                  <a:srgbClr val="800000"/>
                </a:solidFill>
                <a:latin typeface="Arial Black" pitchFamily="34" charset="0"/>
              </a:rPr>
              <a:t>	long int rollno;</a:t>
            </a:r>
          </a:p>
          <a:p>
            <a:pPr eaLnBrk="0" hangingPunct="0"/>
            <a:r>
              <a:rPr lang="en-US" sz="1400">
                <a:solidFill>
                  <a:srgbClr val="800000"/>
                </a:solidFill>
                <a:latin typeface="Arial Black" pitchFamily="34" charset="0"/>
              </a:rPr>
              <a:t>	char name[20];</a:t>
            </a:r>
          </a:p>
          <a:p>
            <a:pPr eaLnBrk="0" hangingPunct="0"/>
            <a:r>
              <a:rPr lang="en-US" sz="1400">
                <a:solidFill>
                  <a:srgbClr val="800000"/>
                </a:solidFill>
                <a:latin typeface="Arial Black" pitchFamily="34" charset="0"/>
              </a:rPr>
              <a:t>public:</a:t>
            </a:r>
          </a:p>
          <a:p>
            <a:pPr eaLnBrk="0" hangingPunct="0"/>
            <a:r>
              <a:rPr lang="en-US" sz="1400">
                <a:solidFill>
                  <a:srgbClr val="800000"/>
                </a:solidFill>
                <a:latin typeface="Arial Black" pitchFamily="34" charset="0"/>
              </a:rPr>
              <a:t>	void getdata();</a:t>
            </a:r>
          </a:p>
          <a:p>
            <a:pPr eaLnBrk="0" hangingPunct="0"/>
            <a:r>
              <a:rPr lang="en-US" sz="1400">
                <a:solidFill>
                  <a:srgbClr val="800000"/>
                </a:solidFill>
                <a:latin typeface="Arial Black" pitchFamily="34" charset="0"/>
              </a:rPr>
              <a:t>	void display();</a:t>
            </a:r>
          </a:p>
          <a:p>
            <a:pPr eaLnBrk="0" hangingPunct="0"/>
            <a:r>
              <a:rPr lang="en-US" sz="1400">
                <a:solidFill>
                  <a:srgbClr val="800000"/>
                </a:solidFill>
                <a:latin typeface="Arial Black" pitchFamily="34" charset="0"/>
              </a:rPr>
              <a:t>   };</a:t>
            </a:r>
          </a:p>
          <a:p>
            <a:pPr eaLnBrk="0" hangingPunct="0"/>
            <a:r>
              <a:rPr lang="en-US" sz="1400">
                <a:solidFill>
                  <a:srgbClr val="800000"/>
                </a:solidFill>
                <a:latin typeface="Arial Black" pitchFamily="34" charset="0"/>
              </a:rPr>
              <a:t> </a:t>
            </a:r>
          </a:p>
          <a:p>
            <a:pPr eaLnBrk="0" hangingPunct="0"/>
            <a:r>
              <a:rPr lang="en-US" sz="1400">
                <a:solidFill>
                  <a:srgbClr val="800000"/>
                </a:solidFill>
                <a:latin typeface="Arial Black" pitchFamily="34" charset="0"/>
              </a:rPr>
              <a:t>    void base::getdata()</a:t>
            </a:r>
          </a:p>
          <a:p>
            <a:pPr eaLnBrk="0" hangingPunct="0"/>
            <a:r>
              <a:rPr lang="en-US" sz="1400">
                <a:solidFill>
                  <a:srgbClr val="800000"/>
                </a:solidFill>
                <a:latin typeface="Arial Black" pitchFamily="34" charset="0"/>
              </a:rPr>
              <a:t>   {</a:t>
            </a:r>
          </a:p>
          <a:p>
            <a:pPr eaLnBrk="0" hangingPunct="0"/>
            <a:r>
              <a:rPr lang="en-US" sz="1400">
                <a:solidFill>
                  <a:srgbClr val="800000"/>
                </a:solidFill>
                <a:latin typeface="Arial Black" pitchFamily="34" charset="0"/>
              </a:rPr>
              <a:t>       cout&lt;&lt;"base class getdata function";</a:t>
            </a:r>
          </a:p>
          <a:p>
            <a:pPr eaLnBrk="0" hangingPunct="0"/>
            <a:r>
              <a:rPr lang="en-US" sz="1400">
                <a:solidFill>
                  <a:srgbClr val="800000"/>
                </a:solidFill>
                <a:latin typeface="Arial Black" pitchFamily="34" charset="0"/>
              </a:rPr>
              <a:t>    }</a:t>
            </a:r>
          </a:p>
          <a:p>
            <a:pPr eaLnBrk="0" hangingPunct="0"/>
            <a:r>
              <a:rPr lang="en-US" sz="1400">
                <a:solidFill>
                  <a:srgbClr val="800000"/>
                </a:solidFill>
                <a:latin typeface="Arial Black" pitchFamily="34" charset="0"/>
              </a:rPr>
              <a:t>    void base::display()</a:t>
            </a:r>
          </a:p>
          <a:p>
            <a:pPr eaLnBrk="0" hangingPunct="0"/>
            <a:r>
              <a:rPr lang="en-US" sz="1400">
                <a:solidFill>
                  <a:srgbClr val="800000"/>
                </a:solidFill>
                <a:latin typeface="Arial Black" pitchFamily="34" charset="0"/>
              </a:rPr>
              <a:t>    {</a:t>
            </a:r>
          </a:p>
          <a:p>
            <a:pPr eaLnBrk="0" hangingPunct="0"/>
            <a:r>
              <a:rPr lang="en-US" sz="1400">
                <a:solidFill>
                  <a:srgbClr val="800000"/>
                </a:solidFill>
                <a:latin typeface="Arial Black" pitchFamily="34" charset="0"/>
              </a:rPr>
              <a:t>        cout&lt;&lt;"base class display function";    </a:t>
            </a:r>
          </a:p>
          <a:p>
            <a:pPr eaLnBrk="0" hangingPunct="0"/>
            <a:r>
              <a:rPr lang="en-US" sz="1400">
                <a:solidFill>
                  <a:srgbClr val="800000"/>
                </a:solidFill>
                <a:latin typeface="Arial Black" pitchFamily="34" charset="0"/>
              </a:rPr>
              <a:t>     }</a:t>
            </a:r>
          </a:p>
          <a:p>
            <a:pPr eaLnBrk="0" hangingPunct="0"/>
            <a:endParaRPr lang="en-US" sz="1400">
              <a:solidFill>
                <a:srgbClr val="800000"/>
              </a:solidFill>
              <a:latin typeface="Arial Black" pitchFamily="34" charset="0"/>
            </a:endParaRPr>
          </a:p>
          <a:p>
            <a:pPr eaLnBrk="0" hangingPunct="0"/>
            <a:r>
              <a:rPr lang="en-US" sz="1400">
                <a:solidFill>
                  <a:srgbClr val="800000"/>
                </a:solidFill>
                <a:latin typeface="Arial Black" pitchFamily="34" charset="0"/>
              </a:rPr>
              <a:t>    void derivedB::getdata()</a:t>
            </a:r>
          </a:p>
          <a:p>
            <a:pPr eaLnBrk="0" hangingPunct="0"/>
            <a:r>
              <a:rPr lang="en-US" sz="1400">
                <a:solidFill>
                  <a:srgbClr val="800000"/>
                </a:solidFill>
                <a:latin typeface="Arial Black" pitchFamily="34" charset="0"/>
              </a:rPr>
              <a:t>     {</a:t>
            </a:r>
          </a:p>
          <a:p>
            <a:pPr eaLnBrk="0" hangingPunct="0"/>
            <a:r>
              <a:rPr lang="en-US" sz="1400">
                <a:solidFill>
                  <a:srgbClr val="800000"/>
                </a:solidFill>
                <a:latin typeface="Arial Black" pitchFamily="34" charset="0"/>
              </a:rPr>
              <a:t>     cout&lt;&lt;"Enter the name"&lt;&lt;endl;            </a:t>
            </a:r>
          </a:p>
        </p:txBody>
      </p:sp>
      <p:sp>
        <p:nvSpPr>
          <p:cNvPr id="6147" name="Rectangle 3"/>
          <p:cNvSpPr>
            <a:spLocks noChangeArrowheads="1"/>
          </p:cNvSpPr>
          <p:nvPr/>
        </p:nvSpPr>
        <p:spPr bwMode="auto">
          <a:xfrm>
            <a:off x="4419600" y="0"/>
            <a:ext cx="4724400" cy="6858000"/>
          </a:xfrm>
          <a:prstGeom prst="rect">
            <a:avLst/>
          </a:prstGeom>
          <a:noFill/>
          <a:ln w="9525">
            <a:solidFill>
              <a:srgbClr val="990099"/>
            </a:solidFill>
            <a:miter lim="800000"/>
            <a:headEnd/>
            <a:tailEnd/>
          </a:ln>
        </p:spPr>
        <p:txBody>
          <a:bodyPr>
            <a:spAutoFit/>
          </a:bodyPr>
          <a:lstStyle/>
          <a:p>
            <a:pPr eaLnBrk="0" hangingPunct="0"/>
            <a:endParaRPr lang="en-US" sz="1400" b="1">
              <a:solidFill>
                <a:srgbClr val="800000"/>
              </a:solidFill>
            </a:endParaRPr>
          </a:p>
          <a:p>
            <a:pPr eaLnBrk="0" hangingPunct="0"/>
            <a:r>
              <a:rPr lang="en-US" sz="1400" b="1">
                <a:solidFill>
                  <a:srgbClr val="800000"/>
                </a:solidFill>
              </a:rPr>
              <a:t>  </a:t>
            </a:r>
            <a:r>
              <a:rPr lang="en-US" sz="1400">
                <a:solidFill>
                  <a:srgbClr val="800000"/>
                </a:solidFill>
                <a:latin typeface="Arial Black" pitchFamily="34" charset="0"/>
              </a:rPr>
              <a:t>cin&gt;&gt;name;</a:t>
            </a:r>
          </a:p>
          <a:p>
            <a:pPr eaLnBrk="0" hangingPunct="0"/>
            <a:r>
              <a:rPr lang="en-US" sz="1400">
                <a:solidFill>
                  <a:srgbClr val="800000"/>
                </a:solidFill>
                <a:latin typeface="Arial Black" pitchFamily="34" charset="0"/>
              </a:rPr>
              <a:t>cout&lt;&lt;"Enter the roll no"&lt;&lt;endl;</a:t>
            </a:r>
          </a:p>
          <a:p>
            <a:pPr eaLnBrk="0" hangingPunct="0"/>
            <a:r>
              <a:rPr lang="en-US" sz="1400">
                <a:solidFill>
                  <a:srgbClr val="800000"/>
                </a:solidFill>
                <a:latin typeface="Arial Black" pitchFamily="34" charset="0"/>
              </a:rPr>
              <a:t>       cin&gt;&gt;rollno;</a:t>
            </a:r>
          </a:p>
          <a:p>
            <a:pPr eaLnBrk="0" hangingPunct="0"/>
            <a:r>
              <a:rPr lang="en-US" sz="1400">
                <a:solidFill>
                  <a:srgbClr val="800000"/>
                </a:solidFill>
                <a:latin typeface="Arial Black" pitchFamily="34" charset="0"/>
              </a:rPr>
              <a:t>      }</a:t>
            </a:r>
          </a:p>
          <a:p>
            <a:pPr eaLnBrk="0" hangingPunct="0"/>
            <a:endParaRPr lang="en-US" sz="1400">
              <a:solidFill>
                <a:srgbClr val="800000"/>
              </a:solidFill>
              <a:latin typeface="Arial Black" pitchFamily="34" charset="0"/>
            </a:endParaRPr>
          </a:p>
          <a:p>
            <a:pPr eaLnBrk="0" hangingPunct="0"/>
            <a:r>
              <a:rPr lang="en-US" sz="1400">
                <a:solidFill>
                  <a:srgbClr val="800000"/>
                </a:solidFill>
                <a:latin typeface="Arial Black" pitchFamily="34" charset="0"/>
              </a:rPr>
              <a:t>      void derivedB::display()</a:t>
            </a:r>
          </a:p>
          <a:p>
            <a:pPr eaLnBrk="0" hangingPunct="0"/>
            <a:r>
              <a:rPr lang="en-US" sz="1400">
                <a:solidFill>
                  <a:srgbClr val="800000"/>
                </a:solidFill>
                <a:latin typeface="Arial Black" pitchFamily="34" charset="0"/>
              </a:rPr>
              <a:t>     {</a:t>
            </a:r>
          </a:p>
          <a:p>
            <a:pPr eaLnBrk="0" hangingPunct="0"/>
            <a:r>
              <a:rPr lang="en-US" sz="1400">
                <a:solidFill>
                  <a:srgbClr val="800000"/>
                </a:solidFill>
                <a:latin typeface="Arial Black" pitchFamily="34" charset="0"/>
              </a:rPr>
              <a:t>      cout&lt;&lt;"The name is"&lt;&lt;name&lt;&lt;endl;</a:t>
            </a:r>
          </a:p>
          <a:p>
            <a:pPr eaLnBrk="0" hangingPunct="0"/>
            <a:r>
              <a:rPr lang="en-US" sz="1400">
                <a:solidFill>
                  <a:srgbClr val="800000"/>
                </a:solidFill>
                <a:latin typeface="Arial Black" pitchFamily="34" charset="0"/>
              </a:rPr>
              <a:t>       cout&lt;&lt;"The roll no is"&lt;&lt;rollno&lt;&lt;endl;</a:t>
            </a:r>
          </a:p>
          <a:p>
            <a:pPr eaLnBrk="0" hangingPunct="0"/>
            <a:r>
              <a:rPr lang="en-US" sz="1400">
                <a:solidFill>
                  <a:srgbClr val="800000"/>
                </a:solidFill>
                <a:latin typeface="Arial Black" pitchFamily="34" charset="0"/>
              </a:rPr>
              <a:t>      }</a:t>
            </a:r>
          </a:p>
          <a:p>
            <a:pPr eaLnBrk="0" hangingPunct="0"/>
            <a:endParaRPr lang="en-US" sz="1400">
              <a:solidFill>
                <a:srgbClr val="800000"/>
              </a:solidFill>
              <a:latin typeface="Arial Black" pitchFamily="34" charset="0"/>
            </a:endParaRPr>
          </a:p>
          <a:p>
            <a:pPr eaLnBrk="0" hangingPunct="0"/>
            <a:r>
              <a:rPr lang="en-US" sz="1400">
                <a:solidFill>
                  <a:srgbClr val="800000"/>
                </a:solidFill>
                <a:latin typeface="Arial Black" pitchFamily="34" charset="0"/>
              </a:rPr>
              <a:t>    void main()</a:t>
            </a:r>
          </a:p>
          <a:p>
            <a:pPr eaLnBrk="0" hangingPunct="0"/>
            <a:r>
              <a:rPr lang="en-US" sz="1400">
                <a:solidFill>
                  <a:srgbClr val="800000"/>
                </a:solidFill>
                <a:latin typeface="Arial Black" pitchFamily="34" charset="0"/>
              </a:rPr>
              <a:t>    {</a:t>
            </a:r>
          </a:p>
          <a:p>
            <a:pPr eaLnBrk="0" hangingPunct="0"/>
            <a:r>
              <a:rPr lang="en-US" sz="1400">
                <a:solidFill>
                  <a:srgbClr val="800000"/>
                </a:solidFill>
                <a:latin typeface="Arial Black" pitchFamily="34" charset="0"/>
              </a:rPr>
              <a:t>     clrscr();</a:t>
            </a:r>
          </a:p>
          <a:p>
            <a:pPr eaLnBrk="0" hangingPunct="0"/>
            <a:r>
              <a:rPr lang="en-US" sz="1400">
                <a:solidFill>
                  <a:srgbClr val="800000"/>
                </a:solidFill>
                <a:latin typeface="Arial Black" pitchFamily="34" charset="0"/>
              </a:rPr>
              <a:t>    base *ptr;</a:t>
            </a:r>
          </a:p>
          <a:p>
            <a:pPr eaLnBrk="0" hangingPunct="0"/>
            <a:r>
              <a:rPr lang="en-US" sz="1400">
                <a:solidFill>
                  <a:srgbClr val="800000"/>
                </a:solidFill>
                <a:latin typeface="Arial Black" pitchFamily="34" charset="0"/>
              </a:rPr>
              <a:t>    derivedB obj;</a:t>
            </a:r>
          </a:p>
          <a:p>
            <a:pPr eaLnBrk="0" hangingPunct="0"/>
            <a:r>
              <a:rPr lang="en-US" sz="1400">
                <a:solidFill>
                  <a:srgbClr val="800000"/>
                </a:solidFill>
                <a:latin typeface="Arial Black" pitchFamily="34" charset="0"/>
              </a:rPr>
              <a:t>    ptr=&amp;obj;</a:t>
            </a:r>
          </a:p>
          <a:p>
            <a:pPr eaLnBrk="0" hangingPunct="0"/>
            <a:r>
              <a:rPr lang="en-US" sz="1400">
                <a:solidFill>
                  <a:srgbClr val="800000"/>
                </a:solidFill>
                <a:latin typeface="Arial Black" pitchFamily="34" charset="0"/>
              </a:rPr>
              <a:t>     ptr-&gt;getdata();</a:t>
            </a:r>
          </a:p>
          <a:p>
            <a:pPr eaLnBrk="0" hangingPunct="0"/>
            <a:r>
              <a:rPr lang="en-US" sz="1400">
                <a:solidFill>
                  <a:srgbClr val="800000"/>
                </a:solidFill>
                <a:latin typeface="Arial Black" pitchFamily="34" charset="0"/>
              </a:rPr>
              <a:t>     ptr-&gt;display();</a:t>
            </a:r>
          </a:p>
          <a:p>
            <a:pPr eaLnBrk="0" hangingPunct="0"/>
            <a:r>
              <a:rPr lang="en-US" sz="1400">
                <a:solidFill>
                  <a:srgbClr val="800000"/>
                </a:solidFill>
                <a:latin typeface="Arial Black" pitchFamily="34" charset="0"/>
              </a:rPr>
              <a:t>      getch();</a:t>
            </a:r>
          </a:p>
          <a:p>
            <a:pPr eaLnBrk="0" hangingPunct="0"/>
            <a:r>
              <a:rPr lang="en-US" sz="1400">
                <a:solidFill>
                  <a:srgbClr val="800000"/>
                </a:solidFill>
                <a:latin typeface="Arial Black" pitchFamily="34" charset="0"/>
              </a:rPr>
              <a:t>     }</a:t>
            </a:r>
          </a:p>
          <a:p>
            <a:pPr eaLnBrk="0" hangingPunct="0"/>
            <a:endParaRPr lang="en-US" sz="1400">
              <a:solidFill>
                <a:srgbClr val="800000"/>
              </a:solidFill>
              <a:latin typeface="Arial Black" pitchFamily="34" charset="0"/>
            </a:endParaRPr>
          </a:p>
          <a:p>
            <a:pPr eaLnBrk="0" hangingPunct="0"/>
            <a:endParaRPr lang="en-US" sz="1400">
              <a:solidFill>
                <a:srgbClr val="800000"/>
              </a:solidFill>
              <a:latin typeface="Arial Black" pitchFamily="34" charset="0"/>
            </a:endParaRPr>
          </a:p>
          <a:p>
            <a:pPr eaLnBrk="0" hangingPunct="0"/>
            <a:endParaRPr lang="en-US" sz="1400">
              <a:solidFill>
                <a:srgbClr val="800000"/>
              </a:solidFill>
              <a:latin typeface="Arial Black" pitchFamily="34" charset="0"/>
            </a:endParaRPr>
          </a:p>
          <a:p>
            <a:pPr eaLnBrk="0" hangingPunct="0"/>
            <a:endParaRPr lang="en-US" sz="1400">
              <a:solidFill>
                <a:srgbClr val="800000"/>
              </a:solidFill>
              <a:latin typeface="Arial Black" pitchFamily="34" charset="0"/>
            </a:endParaRPr>
          </a:p>
          <a:p>
            <a:pPr eaLnBrk="0" hangingPunct="0"/>
            <a:endParaRPr lang="en-US" sz="1400">
              <a:solidFill>
                <a:srgbClr val="800000"/>
              </a:solidFill>
              <a:latin typeface="Arial Black" pitchFamily="34" charset="0"/>
            </a:endParaRPr>
          </a:p>
          <a:p>
            <a:pPr eaLnBrk="0" hangingPunct="0"/>
            <a:endParaRPr lang="en-US" sz="1400">
              <a:solidFill>
                <a:srgbClr val="800000"/>
              </a:solidFill>
              <a:latin typeface="Arial Black" pitchFamily="34" charset="0"/>
            </a:endParaRPr>
          </a:p>
          <a:p>
            <a:pPr eaLnBrk="0" hangingPunct="0"/>
            <a:endParaRPr lang="en-US" sz="1400">
              <a:solidFill>
                <a:srgbClr val="800000"/>
              </a:solidFill>
              <a:latin typeface="Arial Black" pitchFamily="34" charset="0"/>
            </a:endParaRPr>
          </a:p>
          <a:p>
            <a:pPr eaLnBrk="0" hangingPunct="0"/>
            <a:endParaRPr lang="en-US" sz="1400">
              <a:solidFill>
                <a:srgbClr val="800000"/>
              </a:solidFill>
              <a:latin typeface="Arial Black" pitchFamily="34" charset="0"/>
            </a:endParaRPr>
          </a:p>
          <a:p>
            <a:pPr eaLnBrk="0" hangingPunct="0"/>
            <a:endParaRPr lang="en-US" sz="1400">
              <a:solidFill>
                <a:srgbClr val="800000"/>
              </a:solidFill>
              <a:latin typeface="Arial Black" pitchFamily="34" charset="0"/>
            </a:endParaRPr>
          </a:p>
        </p:txBody>
      </p:sp>
    </p:spTree>
  </p:cSld>
  <p:clrMapOvr>
    <a:masterClrMapping/>
  </p:clrMapOvr>
  <p:timing>
    <p:tnLst>
      <p:par>
        <p:cTn id="1" dur="indefinite" restart="never" nodeType="tmRoot"/>
      </p:par>
    </p:tnLst>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WordArt 2" descr="Narrow vertical"/>
          <p:cNvSpPr>
            <a:spLocks noChangeArrowheads="1" noChangeShapeType="1" noTextEdit="1"/>
          </p:cNvSpPr>
          <p:nvPr/>
        </p:nvSpPr>
        <p:spPr bwMode="auto">
          <a:xfrm>
            <a:off x="2362200" y="304800"/>
            <a:ext cx="4724400" cy="876300"/>
          </a:xfrm>
          <a:prstGeom prst="rect">
            <a:avLst/>
          </a:prstGeom>
        </p:spPr>
        <p:txBody>
          <a:bodyPr wrap="none" fromWordArt="1">
            <a:prstTxWarp prst="textCurveUp">
              <a:avLst>
                <a:gd name="adj" fmla="val 40356"/>
              </a:avLst>
            </a:prstTxWarp>
          </a:bodyPr>
          <a:lstStyle/>
          <a:p>
            <a:pPr algn="ctr"/>
            <a:r>
              <a:rPr lang="en-IN" sz="3600" kern="10">
                <a:ln w="12700">
                  <a:solidFill>
                    <a:srgbClr val="000000"/>
                  </a:solidFill>
                  <a:round/>
                  <a:headEnd/>
                  <a:tailEnd/>
                </a:ln>
                <a:pattFill prst="dashHorz">
                  <a:fgClr>
                    <a:srgbClr val="808080"/>
                  </a:fgClr>
                  <a:bgClr>
                    <a:srgbClr val="FFFF00"/>
                  </a:bgClr>
                </a:pattFill>
                <a:effectLst>
                  <a:outerShdw dist="45791" dir="2021404" algn="ctr" rotWithShape="0">
                    <a:srgbClr val="808080">
                      <a:alpha val="79999"/>
                    </a:srgbClr>
                  </a:outerShdw>
                </a:effectLst>
                <a:latin typeface="Arial Black"/>
              </a:rPr>
              <a:t>Virtual functions</a:t>
            </a:r>
          </a:p>
        </p:txBody>
      </p:sp>
      <p:sp>
        <p:nvSpPr>
          <p:cNvPr id="7171" name="Text Box 3"/>
          <p:cNvSpPr txBox="1">
            <a:spLocks noChangeArrowheads="1"/>
          </p:cNvSpPr>
          <p:nvPr/>
        </p:nvSpPr>
        <p:spPr bwMode="auto">
          <a:xfrm>
            <a:off x="381000" y="1676400"/>
            <a:ext cx="8458200" cy="3924300"/>
          </a:xfrm>
          <a:prstGeom prst="rect">
            <a:avLst/>
          </a:prstGeom>
          <a:noFill/>
          <a:ln w="9525">
            <a:solidFill>
              <a:srgbClr val="0033CC"/>
            </a:solidFill>
            <a:miter lim="800000"/>
            <a:headEnd/>
            <a:tailEnd/>
          </a:ln>
        </p:spPr>
        <p:txBody>
          <a:bodyPr>
            <a:spAutoFit/>
          </a:bodyPr>
          <a:lstStyle/>
          <a:p>
            <a:pPr algn="just" eaLnBrk="0" hangingPunct="0">
              <a:lnSpc>
                <a:spcPct val="130000"/>
              </a:lnSpc>
              <a:spcBef>
                <a:spcPct val="50000"/>
              </a:spcBef>
              <a:buFont typeface="Wingdings" pitchFamily="2" charset="2"/>
              <a:buChar char="Ü"/>
            </a:pPr>
            <a:r>
              <a:rPr lang="en-US" sz="2200" b="1">
                <a:solidFill>
                  <a:srgbClr val="800000"/>
                </a:solidFill>
                <a:latin typeface="Verdana" pitchFamily="34" charset="0"/>
              </a:rPr>
              <a:t>  </a:t>
            </a:r>
            <a:r>
              <a:rPr lang="en-US" sz="2000" b="1">
                <a:solidFill>
                  <a:srgbClr val="800000"/>
                </a:solidFill>
                <a:latin typeface="Verdana" pitchFamily="34" charset="0"/>
              </a:rPr>
              <a:t>Virtual means existing in effect but not in reality.</a:t>
            </a:r>
          </a:p>
          <a:p>
            <a:pPr algn="just" eaLnBrk="0" hangingPunct="0">
              <a:lnSpc>
                <a:spcPct val="130000"/>
              </a:lnSpc>
              <a:spcBef>
                <a:spcPct val="50000"/>
              </a:spcBef>
              <a:buFont typeface="Wingdings" pitchFamily="2" charset="2"/>
              <a:buChar char="Ü"/>
            </a:pPr>
            <a:r>
              <a:rPr lang="en-US" sz="2000" b="1">
                <a:solidFill>
                  <a:srgbClr val="800000"/>
                </a:solidFill>
                <a:latin typeface="Verdana" pitchFamily="34" charset="0"/>
              </a:rPr>
              <a:t>  It provide a way for a program to decide, when it is running, what function to call.</a:t>
            </a:r>
          </a:p>
          <a:p>
            <a:pPr algn="just" eaLnBrk="0" hangingPunct="0">
              <a:lnSpc>
                <a:spcPct val="130000"/>
              </a:lnSpc>
              <a:spcBef>
                <a:spcPct val="50000"/>
              </a:spcBef>
              <a:buFont typeface="Wingdings" pitchFamily="2" charset="2"/>
              <a:buChar char="Ü"/>
            </a:pPr>
            <a:r>
              <a:rPr lang="en-US" sz="2000" b="1">
                <a:solidFill>
                  <a:srgbClr val="800000"/>
                </a:solidFill>
                <a:latin typeface="Verdana" pitchFamily="34" charset="0"/>
              </a:rPr>
              <a:t>  It allows greater flexibility in performing the same kinds of action on different kinds of objects.</a:t>
            </a:r>
          </a:p>
          <a:p>
            <a:pPr algn="just" eaLnBrk="0" hangingPunct="0">
              <a:lnSpc>
                <a:spcPct val="130000"/>
              </a:lnSpc>
              <a:spcBef>
                <a:spcPct val="50000"/>
              </a:spcBef>
              <a:buFont typeface="Wingdings" pitchFamily="2" charset="2"/>
              <a:buChar char="Ü"/>
            </a:pPr>
            <a:r>
              <a:rPr lang="en-US" sz="2000" b="1">
                <a:solidFill>
                  <a:srgbClr val="800000"/>
                </a:solidFill>
                <a:latin typeface="Verdana" pitchFamily="34" charset="0"/>
              </a:rPr>
              <a:t>  It actually holds pointers to a variety of derived types</a:t>
            </a:r>
          </a:p>
          <a:p>
            <a:pPr algn="just" eaLnBrk="0" hangingPunct="0">
              <a:lnSpc>
                <a:spcPct val="130000"/>
              </a:lnSpc>
              <a:spcBef>
                <a:spcPct val="50000"/>
              </a:spcBef>
              <a:buFont typeface="Wingdings" pitchFamily="2" charset="2"/>
              <a:buChar char="Ü"/>
            </a:pPr>
            <a:r>
              <a:rPr lang="en-US" sz="2000" b="1">
                <a:solidFill>
                  <a:srgbClr val="800000"/>
                </a:solidFill>
                <a:latin typeface="Verdana" pitchFamily="34" charset="0"/>
              </a:rPr>
              <a:t> It is defined and declared in the base class and is then used by several derived functions by getting up pointers.</a:t>
            </a:r>
          </a:p>
        </p:txBody>
      </p:sp>
    </p:spTree>
  </p:cSld>
  <p:clrMapOvr>
    <a:masterClrMapping/>
  </p:clrMapOvr>
  <p:timing>
    <p:tnLst>
      <p:par>
        <p:cTn id="1" dur="indefinite" restart="never" nodeType="tmRoot"/>
      </p:par>
    </p:tn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ChangeArrowheads="1"/>
          </p:cNvSpPr>
          <p:nvPr/>
        </p:nvSpPr>
        <p:spPr bwMode="auto">
          <a:xfrm>
            <a:off x="685800" y="760413"/>
            <a:ext cx="7848600" cy="4125912"/>
          </a:xfrm>
          <a:prstGeom prst="rect">
            <a:avLst/>
          </a:prstGeom>
          <a:noFill/>
          <a:ln w="9525">
            <a:solidFill>
              <a:srgbClr val="990033"/>
            </a:solidFill>
            <a:miter lim="800000"/>
            <a:headEnd/>
            <a:tailEnd/>
          </a:ln>
        </p:spPr>
        <p:txBody>
          <a:bodyPr>
            <a:spAutoFit/>
          </a:bodyPr>
          <a:lstStyle/>
          <a:p>
            <a:pPr algn="ctr" eaLnBrk="0" hangingPunct="0"/>
            <a:r>
              <a:rPr lang="en-US" sz="3200" b="1">
                <a:solidFill>
                  <a:schemeClr val="tx2"/>
                </a:solidFill>
              </a:rPr>
              <a:t>IMPORTANT CONCEPTS OF VIRTUAL FUNCTIONS</a:t>
            </a:r>
          </a:p>
          <a:p>
            <a:pPr algn="ctr" eaLnBrk="0" hangingPunct="0"/>
            <a:endParaRPr lang="en-US" sz="3200" b="1">
              <a:solidFill>
                <a:schemeClr val="tx2"/>
              </a:solidFill>
            </a:endParaRPr>
          </a:p>
          <a:p>
            <a:pPr algn="just" eaLnBrk="0" hangingPunct="0"/>
            <a:r>
              <a:rPr lang="en-US" sz="2800" b="1">
                <a:solidFill>
                  <a:schemeClr val="tx2"/>
                </a:solidFill>
                <a:latin typeface="Times New Roman" pitchFamily="18" charset="0"/>
              </a:rPr>
              <a:t>1.EARLY OR STATIC BINDING</a:t>
            </a:r>
            <a:r>
              <a:rPr lang="en-US" sz="2800" b="1">
                <a:solidFill>
                  <a:srgbClr val="3333CC"/>
                </a:solidFill>
                <a:latin typeface="Times New Roman" pitchFamily="18" charset="0"/>
              </a:rPr>
              <a:t> - </a:t>
            </a:r>
            <a:r>
              <a:rPr lang="en-US" sz="2800" b="1">
                <a:solidFill>
                  <a:srgbClr val="800000"/>
                </a:solidFill>
                <a:latin typeface="Times New Roman" pitchFamily="18" charset="0"/>
              </a:rPr>
              <a:t>at compile time rather than run time.</a:t>
            </a:r>
          </a:p>
          <a:p>
            <a:pPr algn="just" eaLnBrk="0" hangingPunct="0"/>
            <a:endParaRPr lang="en-US" sz="2800" b="1">
              <a:solidFill>
                <a:srgbClr val="800000"/>
              </a:solidFill>
              <a:latin typeface="Times New Roman" pitchFamily="18" charset="0"/>
            </a:endParaRPr>
          </a:p>
          <a:p>
            <a:pPr algn="just" eaLnBrk="0" hangingPunct="0"/>
            <a:r>
              <a:rPr lang="en-US" sz="2800" b="1">
                <a:solidFill>
                  <a:schemeClr val="tx2"/>
                </a:solidFill>
                <a:latin typeface="Times New Roman" pitchFamily="18" charset="0"/>
              </a:rPr>
              <a:t>2.LATE OR DYNAMIC  BINDING</a:t>
            </a:r>
            <a:r>
              <a:rPr lang="en-US" sz="2800" b="1">
                <a:solidFill>
                  <a:srgbClr val="3333CC"/>
                </a:solidFill>
                <a:latin typeface="Times New Roman" pitchFamily="18" charset="0"/>
              </a:rPr>
              <a:t> </a:t>
            </a:r>
            <a:r>
              <a:rPr lang="en-US" sz="2800" b="1">
                <a:solidFill>
                  <a:srgbClr val="800000"/>
                </a:solidFill>
                <a:latin typeface="Times New Roman" pitchFamily="18" charset="0"/>
              </a:rPr>
              <a:t>- it is the process of determining the addresses of functions at runtime rather than at compile time.</a:t>
            </a:r>
          </a:p>
        </p:txBody>
      </p:sp>
      <p:graphicFrame>
        <p:nvGraphicFramePr>
          <p:cNvPr id="1026" name="Object 3"/>
          <p:cNvGraphicFramePr>
            <a:graphicFrameLocks noChangeAspect="1"/>
          </p:cNvGraphicFramePr>
          <p:nvPr/>
        </p:nvGraphicFramePr>
        <p:xfrm>
          <a:off x="609600" y="4953000"/>
          <a:ext cx="1600200" cy="1255713"/>
        </p:xfrm>
        <a:graphic>
          <a:graphicData uri="http://schemas.openxmlformats.org/presentationml/2006/ole">
            <p:oleObj spid="_x0000_s2050" name="Package" r:id="rId3" imgW="622570" imgH="486383" progId="Package">
              <p:embed/>
            </p:oleObj>
          </a:graphicData>
        </a:graphic>
      </p:graphicFrame>
      <p:pic>
        <p:nvPicPr>
          <p:cNvPr id="1028" name="Picture 6" descr="C:\Program Files (x86)\Microsoft Office\MEDIA\CAGCAT10\j0285750.wmf"/>
          <p:cNvPicPr>
            <a:picLocks noChangeAspect="1" noChangeArrowheads="1"/>
          </p:cNvPicPr>
          <p:nvPr/>
        </p:nvPicPr>
        <p:blipFill>
          <a:blip r:embed="rId4"/>
          <a:srcRect/>
          <a:stretch>
            <a:fillRect/>
          </a:stretch>
        </p:blipFill>
        <p:spPr bwMode="auto">
          <a:xfrm rot="-315103">
            <a:off x="5932488" y="4932363"/>
            <a:ext cx="2938462" cy="1549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ChangeArrowheads="1"/>
          </p:cNvSpPr>
          <p:nvPr/>
        </p:nvSpPr>
        <p:spPr bwMode="auto">
          <a:xfrm>
            <a:off x="381000" y="0"/>
            <a:ext cx="4572000" cy="6762750"/>
          </a:xfrm>
          <a:prstGeom prst="rect">
            <a:avLst/>
          </a:prstGeom>
          <a:noFill/>
          <a:ln w="9525">
            <a:solidFill>
              <a:srgbClr val="990099"/>
            </a:solidFill>
            <a:miter lim="800000"/>
            <a:headEnd/>
            <a:tailEnd/>
          </a:ln>
        </p:spPr>
        <p:txBody>
          <a:bodyPr>
            <a:spAutoFit/>
          </a:bodyPr>
          <a:lstStyle/>
          <a:p>
            <a:pPr eaLnBrk="0" hangingPunct="0"/>
            <a:r>
              <a:rPr lang="en-US" sz="2000" b="1">
                <a:solidFill>
                  <a:srgbClr val="800000"/>
                </a:solidFill>
              </a:rPr>
              <a:t>With Using “virtual” Keyword</a:t>
            </a:r>
          </a:p>
          <a:p>
            <a:pPr eaLnBrk="0" hangingPunct="0"/>
            <a:r>
              <a:rPr lang="en-US" sz="1600" b="1">
                <a:solidFill>
                  <a:srgbClr val="800000"/>
                </a:solidFill>
              </a:rPr>
              <a:t>#include&lt;iostream.h&gt;</a:t>
            </a:r>
          </a:p>
          <a:p>
            <a:pPr eaLnBrk="0" hangingPunct="0"/>
            <a:r>
              <a:rPr lang="en-US" sz="1600" b="1">
                <a:solidFill>
                  <a:srgbClr val="800000"/>
                </a:solidFill>
              </a:rPr>
              <a:t>#include&lt;conio.h&gt;</a:t>
            </a:r>
          </a:p>
          <a:p>
            <a:pPr eaLnBrk="0" hangingPunct="0"/>
            <a:r>
              <a:rPr lang="en-US" sz="1600" b="1">
                <a:solidFill>
                  <a:srgbClr val="800000"/>
                </a:solidFill>
              </a:rPr>
              <a:t>class base</a:t>
            </a:r>
          </a:p>
          <a:p>
            <a:pPr eaLnBrk="0" hangingPunct="0"/>
            <a:r>
              <a:rPr lang="en-US" sz="1600" b="1">
                <a:solidFill>
                  <a:srgbClr val="800000"/>
                </a:solidFill>
              </a:rPr>
              <a:t>{</a:t>
            </a:r>
          </a:p>
          <a:p>
            <a:pPr eaLnBrk="0" hangingPunct="0"/>
            <a:r>
              <a:rPr lang="en-US" sz="1600" b="1">
                <a:solidFill>
                  <a:srgbClr val="800000"/>
                </a:solidFill>
              </a:rPr>
              <a:t>	public:</a:t>
            </a:r>
          </a:p>
          <a:p>
            <a:pPr eaLnBrk="0" hangingPunct="0"/>
            <a:r>
              <a:rPr lang="en-US" sz="1600" b="1">
                <a:solidFill>
                  <a:srgbClr val="800000"/>
                </a:solidFill>
              </a:rPr>
              <a:t>	virtual void getdata()=0;</a:t>
            </a:r>
          </a:p>
          <a:p>
            <a:pPr eaLnBrk="0" hangingPunct="0"/>
            <a:r>
              <a:rPr lang="en-US" sz="1600" b="1">
                <a:solidFill>
                  <a:srgbClr val="800000"/>
                </a:solidFill>
              </a:rPr>
              <a:t> 	virtual void display()=0;</a:t>
            </a:r>
          </a:p>
          <a:p>
            <a:pPr eaLnBrk="0" hangingPunct="0"/>
            <a:r>
              <a:rPr lang="en-US" sz="1600" b="1">
                <a:solidFill>
                  <a:srgbClr val="800000"/>
                </a:solidFill>
              </a:rPr>
              <a:t>};</a:t>
            </a:r>
          </a:p>
          <a:p>
            <a:pPr eaLnBrk="0" hangingPunct="0"/>
            <a:endParaRPr lang="en-US" sz="1600" b="1">
              <a:solidFill>
                <a:srgbClr val="800000"/>
              </a:solidFill>
            </a:endParaRPr>
          </a:p>
          <a:p>
            <a:pPr eaLnBrk="0" hangingPunct="0"/>
            <a:r>
              <a:rPr lang="en-US" sz="1600" b="1">
                <a:solidFill>
                  <a:srgbClr val="800000"/>
                </a:solidFill>
              </a:rPr>
              <a:t>class derivedB: public base</a:t>
            </a:r>
          </a:p>
          <a:p>
            <a:pPr eaLnBrk="0" hangingPunct="0"/>
            <a:r>
              <a:rPr lang="en-US" sz="1600" b="1">
                <a:solidFill>
                  <a:srgbClr val="800000"/>
                </a:solidFill>
              </a:rPr>
              <a:t>{</a:t>
            </a:r>
          </a:p>
          <a:p>
            <a:pPr eaLnBrk="0" hangingPunct="0"/>
            <a:r>
              <a:rPr lang="en-US" sz="1600" b="1">
                <a:solidFill>
                  <a:srgbClr val="800000"/>
                </a:solidFill>
              </a:rPr>
              <a:t>private:</a:t>
            </a:r>
          </a:p>
          <a:p>
            <a:pPr eaLnBrk="0" hangingPunct="0"/>
            <a:r>
              <a:rPr lang="en-US" sz="1600" b="1">
                <a:solidFill>
                  <a:srgbClr val="800000"/>
                </a:solidFill>
              </a:rPr>
              <a:t>	long int rollno;</a:t>
            </a:r>
          </a:p>
          <a:p>
            <a:pPr eaLnBrk="0" hangingPunct="0"/>
            <a:r>
              <a:rPr lang="en-US" sz="1600" b="1">
                <a:solidFill>
                  <a:srgbClr val="800000"/>
                </a:solidFill>
              </a:rPr>
              <a:t>	char name[20];</a:t>
            </a:r>
          </a:p>
          <a:p>
            <a:pPr eaLnBrk="0" hangingPunct="0"/>
            <a:r>
              <a:rPr lang="en-US" sz="1600" b="1">
                <a:solidFill>
                  <a:srgbClr val="800000"/>
                </a:solidFill>
              </a:rPr>
              <a:t>public:</a:t>
            </a:r>
          </a:p>
          <a:p>
            <a:pPr eaLnBrk="0" hangingPunct="0"/>
            <a:r>
              <a:rPr lang="en-US" sz="1600" b="1">
                <a:solidFill>
                  <a:srgbClr val="800000"/>
                </a:solidFill>
              </a:rPr>
              <a:t>	void getdata();</a:t>
            </a:r>
          </a:p>
          <a:p>
            <a:pPr eaLnBrk="0" hangingPunct="0"/>
            <a:r>
              <a:rPr lang="en-US" sz="1600" b="1">
                <a:solidFill>
                  <a:srgbClr val="800000"/>
                </a:solidFill>
              </a:rPr>
              <a:t>	void display();</a:t>
            </a:r>
          </a:p>
          <a:p>
            <a:pPr eaLnBrk="0" hangingPunct="0"/>
            <a:r>
              <a:rPr lang="en-US" sz="1600" b="1">
                <a:solidFill>
                  <a:srgbClr val="800000"/>
                </a:solidFill>
              </a:rPr>
              <a:t>};</a:t>
            </a:r>
          </a:p>
          <a:p>
            <a:pPr eaLnBrk="0" hangingPunct="0"/>
            <a:endParaRPr lang="en-US" sz="1600" b="1">
              <a:solidFill>
                <a:srgbClr val="800000"/>
              </a:solidFill>
            </a:endParaRPr>
          </a:p>
          <a:p>
            <a:pPr eaLnBrk="0" hangingPunct="0"/>
            <a:r>
              <a:rPr lang="en-US" sz="1600" b="1">
                <a:solidFill>
                  <a:srgbClr val="800000"/>
                </a:solidFill>
              </a:rPr>
              <a:t>void derivedB::getdata()</a:t>
            </a:r>
          </a:p>
          <a:p>
            <a:pPr eaLnBrk="0" hangingPunct="0"/>
            <a:r>
              <a:rPr lang="en-US" sz="1600" b="1">
                <a:solidFill>
                  <a:srgbClr val="800000"/>
                </a:solidFill>
              </a:rPr>
              <a:t>{</a:t>
            </a:r>
          </a:p>
          <a:p>
            <a:pPr eaLnBrk="0" hangingPunct="0"/>
            <a:r>
              <a:rPr lang="en-US" sz="1600" b="1">
                <a:solidFill>
                  <a:srgbClr val="800000"/>
                </a:solidFill>
              </a:rPr>
              <a:t>cout&lt;&lt;"Enter the name"&lt;&lt;endl;</a:t>
            </a:r>
          </a:p>
          <a:p>
            <a:pPr eaLnBrk="0" hangingPunct="0"/>
            <a:r>
              <a:rPr lang="en-US" sz="1600" b="1">
                <a:solidFill>
                  <a:srgbClr val="800000"/>
                </a:solidFill>
              </a:rPr>
              <a:t>cin&gt;&gt;name;</a:t>
            </a:r>
          </a:p>
          <a:p>
            <a:pPr eaLnBrk="0" hangingPunct="0"/>
            <a:r>
              <a:rPr lang="en-US" sz="1600" b="1">
                <a:solidFill>
                  <a:srgbClr val="800000"/>
                </a:solidFill>
              </a:rPr>
              <a:t>cout&lt;&lt;"Enter the roll no"&lt;&lt;endl;</a:t>
            </a:r>
          </a:p>
          <a:p>
            <a:pPr eaLnBrk="0" hangingPunct="0"/>
            <a:r>
              <a:rPr lang="en-US" sz="1600" b="1">
                <a:solidFill>
                  <a:srgbClr val="800000"/>
                </a:solidFill>
              </a:rPr>
              <a:t>cin&gt;&gt;rollno;</a:t>
            </a:r>
          </a:p>
          <a:p>
            <a:pPr eaLnBrk="0" hangingPunct="0"/>
            <a:r>
              <a:rPr lang="en-US" sz="1600" b="1">
                <a:solidFill>
                  <a:srgbClr val="800000"/>
                </a:solidFill>
              </a:rPr>
              <a:t>}</a:t>
            </a:r>
          </a:p>
        </p:txBody>
      </p:sp>
      <p:sp>
        <p:nvSpPr>
          <p:cNvPr id="8195" name="Rectangle 3"/>
          <p:cNvSpPr>
            <a:spLocks noChangeArrowheads="1"/>
          </p:cNvSpPr>
          <p:nvPr/>
        </p:nvSpPr>
        <p:spPr bwMode="auto">
          <a:xfrm>
            <a:off x="4953000" y="152400"/>
            <a:ext cx="3733800" cy="4257675"/>
          </a:xfrm>
          <a:prstGeom prst="rect">
            <a:avLst/>
          </a:prstGeom>
          <a:noFill/>
          <a:ln w="9525">
            <a:solidFill>
              <a:srgbClr val="990099"/>
            </a:solidFill>
            <a:miter lim="800000"/>
            <a:headEnd/>
            <a:tailEnd/>
          </a:ln>
        </p:spPr>
        <p:txBody>
          <a:bodyPr>
            <a:spAutoFit/>
          </a:bodyPr>
          <a:lstStyle/>
          <a:p>
            <a:pPr eaLnBrk="0" hangingPunct="0"/>
            <a:r>
              <a:rPr lang="en-US" sz="1600" b="1">
                <a:solidFill>
                  <a:srgbClr val="800000"/>
                </a:solidFill>
              </a:rPr>
              <a:t>void derivedB::display()</a:t>
            </a:r>
          </a:p>
          <a:p>
            <a:pPr eaLnBrk="0" hangingPunct="0"/>
            <a:r>
              <a:rPr lang="en-US" sz="1600" b="1">
                <a:solidFill>
                  <a:srgbClr val="800000"/>
                </a:solidFill>
              </a:rPr>
              <a:t>{</a:t>
            </a:r>
          </a:p>
          <a:p>
            <a:pPr eaLnBrk="0" hangingPunct="0"/>
            <a:r>
              <a:rPr lang="en-US" sz="1600" b="1">
                <a:solidFill>
                  <a:srgbClr val="800000"/>
                </a:solidFill>
              </a:rPr>
              <a:t>cout&lt;&lt;"The name is"&lt;&lt;name&lt;&lt;endl;</a:t>
            </a:r>
          </a:p>
          <a:p>
            <a:pPr eaLnBrk="0" hangingPunct="0"/>
            <a:r>
              <a:rPr lang="en-US" sz="1600" b="1">
                <a:solidFill>
                  <a:srgbClr val="800000"/>
                </a:solidFill>
              </a:rPr>
              <a:t>cout&lt;&lt;"The roll no is"&lt;&lt;rollno&lt;&lt;endl;</a:t>
            </a:r>
          </a:p>
          <a:p>
            <a:pPr eaLnBrk="0" hangingPunct="0"/>
            <a:r>
              <a:rPr lang="en-US" sz="1600" b="1">
                <a:solidFill>
                  <a:srgbClr val="800000"/>
                </a:solidFill>
              </a:rPr>
              <a:t>}</a:t>
            </a:r>
          </a:p>
          <a:p>
            <a:pPr eaLnBrk="0" hangingPunct="0"/>
            <a:endParaRPr lang="en-US" sz="1600" b="1">
              <a:solidFill>
                <a:srgbClr val="800000"/>
              </a:solidFill>
            </a:endParaRPr>
          </a:p>
          <a:p>
            <a:pPr eaLnBrk="0" hangingPunct="0"/>
            <a:r>
              <a:rPr lang="en-US" sz="1600" b="1">
                <a:solidFill>
                  <a:srgbClr val="800000"/>
                </a:solidFill>
              </a:rPr>
              <a:t>void main()</a:t>
            </a:r>
          </a:p>
          <a:p>
            <a:pPr eaLnBrk="0" hangingPunct="0"/>
            <a:r>
              <a:rPr lang="en-US" sz="1600" b="1">
                <a:solidFill>
                  <a:srgbClr val="800000"/>
                </a:solidFill>
              </a:rPr>
              <a:t>{</a:t>
            </a:r>
          </a:p>
          <a:p>
            <a:pPr eaLnBrk="0" hangingPunct="0"/>
            <a:r>
              <a:rPr lang="en-US" sz="1600" b="1">
                <a:solidFill>
                  <a:srgbClr val="800000"/>
                </a:solidFill>
              </a:rPr>
              <a:t>clrscr();</a:t>
            </a:r>
          </a:p>
          <a:p>
            <a:pPr eaLnBrk="0" hangingPunct="0"/>
            <a:r>
              <a:rPr lang="en-US" sz="1600" b="1">
                <a:solidFill>
                  <a:srgbClr val="800000"/>
                </a:solidFill>
              </a:rPr>
              <a:t>base *ptr;</a:t>
            </a:r>
          </a:p>
          <a:p>
            <a:pPr eaLnBrk="0" hangingPunct="0"/>
            <a:r>
              <a:rPr lang="en-US" sz="1600" b="1">
                <a:solidFill>
                  <a:srgbClr val="800000"/>
                </a:solidFill>
              </a:rPr>
              <a:t>derivedB obj;</a:t>
            </a:r>
          </a:p>
          <a:p>
            <a:pPr eaLnBrk="0" hangingPunct="0"/>
            <a:r>
              <a:rPr lang="en-US" sz="1600" b="1">
                <a:solidFill>
                  <a:srgbClr val="800000"/>
                </a:solidFill>
              </a:rPr>
              <a:t>ptr=&amp;obj;</a:t>
            </a:r>
          </a:p>
          <a:p>
            <a:pPr eaLnBrk="0" hangingPunct="0"/>
            <a:r>
              <a:rPr lang="en-US" sz="1600" b="1">
                <a:solidFill>
                  <a:srgbClr val="800000"/>
                </a:solidFill>
              </a:rPr>
              <a:t>ptr-&gt;getdata();</a:t>
            </a:r>
          </a:p>
          <a:p>
            <a:pPr eaLnBrk="0" hangingPunct="0"/>
            <a:r>
              <a:rPr lang="en-US" sz="1600" b="1">
                <a:solidFill>
                  <a:srgbClr val="800000"/>
                </a:solidFill>
              </a:rPr>
              <a:t>ptr-&gt;display();</a:t>
            </a:r>
          </a:p>
          <a:p>
            <a:pPr eaLnBrk="0" hangingPunct="0"/>
            <a:r>
              <a:rPr lang="en-US" sz="1600" b="1">
                <a:solidFill>
                  <a:srgbClr val="800000"/>
                </a:solidFill>
              </a:rPr>
              <a:t>getch();</a:t>
            </a:r>
          </a:p>
          <a:p>
            <a:pPr eaLnBrk="0" hangingPunct="0"/>
            <a:r>
              <a:rPr lang="en-US" sz="1600" b="1">
                <a:solidFill>
                  <a:srgbClr val="800000"/>
                </a:solidFill>
              </a:rPr>
              <a:t>}</a:t>
            </a:r>
          </a:p>
        </p:txBody>
      </p:sp>
    </p:spTree>
  </p:cSld>
  <p:clrMapOvr>
    <a:masterClrMapping/>
  </p:clrMapOvr>
  <p:timing>
    <p:tnLst>
      <p:par>
        <p:cTn id="1" dur="indefinite" restart="never" nodeType="tmRoot"/>
      </p:par>
    </p:tnLst>
  </p:timing>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WordArt 2"/>
          <p:cNvSpPr>
            <a:spLocks noChangeArrowheads="1" noChangeShapeType="1" noTextEdit="1"/>
          </p:cNvSpPr>
          <p:nvPr/>
        </p:nvSpPr>
        <p:spPr bwMode="auto">
          <a:xfrm>
            <a:off x="1828800" y="152400"/>
            <a:ext cx="5562600" cy="927100"/>
          </a:xfrm>
          <a:prstGeom prst="rect">
            <a:avLst/>
          </a:prstGeom>
        </p:spPr>
        <p:txBody>
          <a:bodyPr wrap="none" fromWordArt="1">
            <a:prstTxWarp prst="textTriangle">
              <a:avLst>
                <a:gd name="adj" fmla="val 50000"/>
              </a:avLst>
            </a:prstTxWarp>
          </a:bodyPr>
          <a:lstStyle/>
          <a:p>
            <a:pPr algn="ctr"/>
            <a:r>
              <a:rPr lang="en-IN" sz="3600" b="1" kern="10">
                <a:ln w="9525">
                  <a:solidFill>
                    <a:srgbClr val="000000"/>
                  </a:solidFill>
                  <a:round/>
                  <a:headEnd/>
                  <a:tailEnd/>
                </a:ln>
                <a:solidFill>
                  <a:srgbClr val="0033CC"/>
                </a:solidFill>
                <a:effectLst>
                  <a:prstShdw prst="shdw13" dist="53882" dir="13500000">
                    <a:srgbClr val="868686">
                      <a:alpha val="50000"/>
                    </a:srgbClr>
                  </a:prstShdw>
                </a:effectLst>
                <a:latin typeface="Arial Black"/>
              </a:rPr>
              <a:t>IMPORTANT POINTS</a:t>
            </a:r>
          </a:p>
        </p:txBody>
      </p:sp>
      <p:sp>
        <p:nvSpPr>
          <p:cNvPr id="9219" name="Text Box 3"/>
          <p:cNvSpPr txBox="1">
            <a:spLocks noChangeArrowheads="1"/>
          </p:cNvSpPr>
          <p:nvPr/>
        </p:nvSpPr>
        <p:spPr bwMode="auto">
          <a:xfrm>
            <a:off x="0" y="1066800"/>
            <a:ext cx="9144000" cy="5784850"/>
          </a:xfrm>
          <a:prstGeom prst="rect">
            <a:avLst/>
          </a:prstGeom>
          <a:noFill/>
          <a:ln w="9525">
            <a:solidFill>
              <a:srgbClr val="0033CC"/>
            </a:solidFill>
            <a:miter lim="800000"/>
            <a:headEnd/>
            <a:tailEnd/>
          </a:ln>
        </p:spPr>
        <p:txBody>
          <a:bodyPr>
            <a:spAutoFit/>
          </a:bodyPr>
          <a:lstStyle/>
          <a:p>
            <a:pPr eaLnBrk="0" hangingPunct="0">
              <a:lnSpc>
                <a:spcPct val="125000"/>
              </a:lnSpc>
              <a:spcBef>
                <a:spcPct val="50000"/>
              </a:spcBef>
              <a:buFont typeface="Wingdings 2" pitchFamily="18" charset="2"/>
              <a:buChar char="E"/>
            </a:pPr>
            <a:r>
              <a:rPr lang="en-US" b="1">
                <a:solidFill>
                  <a:srgbClr val="800000"/>
                </a:solidFill>
              </a:rPr>
              <a:t>  This function should be declared in the base class specifications</a:t>
            </a:r>
          </a:p>
          <a:p>
            <a:pPr eaLnBrk="0" hangingPunct="0">
              <a:lnSpc>
                <a:spcPct val="125000"/>
              </a:lnSpc>
              <a:spcBef>
                <a:spcPct val="50000"/>
              </a:spcBef>
              <a:buFont typeface="Wingdings 2" pitchFamily="18" charset="2"/>
              <a:buChar char="E"/>
            </a:pPr>
            <a:r>
              <a:rPr lang="en-US" b="1">
                <a:solidFill>
                  <a:srgbClr val="800000"/>
                </a:solidFill>
              </a:rPr>
              <a:t>  It can be overloaded</a:t>
            </a:r>
          </a:p>
          <a:p>
            <a:pPr eaLnBrk="0" hangingPunct="0">
              <a:lnSpc>
                <a:spcPct val="125000"/>
              </a:lnSpc>
              <a:spcBef>
                <a:spcPct val="50000"/>
              </a:spcBef>
              <a:buFont typeface="Wingdings 2" pitchFamily="18" charset="2"/>
              <a:buChar char="E"/>
            </a:pPr>
            <a:r>
              <a:rPr lang="en-US" b="1">
                <a:solidFill>
                  <a:srgbClr val="800000"/>
                </a:solidFill>
              </a:rPr>
              <a:t>  It should be a member function of a class</a:t>
            </a:r>
          </a:p>
          <a:p>
            <a:pPr eaLnBrk="0" hangingPunct="0">
              <a:lnSpc>
                <a:spcPct val="125000"/>
              </a:lnSpc>
              <a:spcBef>
                <a:spcPct val="50000"/>
              </a:spcBef>
              <a:buFont typeface="Wingdings 2" pitchFamily="18" charset="2"/>
              <a:buChar char="E"/>
            </a:pPr>
            <a:r>
              <a:rPr lang="en-US" b="1">
                <a:solidFill>
                  <a:srgbClr val="800000"/>
                </a:solidFill>
              </a:rPr>
              <a:t>  There can be virtual destructors</a:t>
            </a:r>
          </a:p>
          <a:p>
            <a:pPr eaLnBrk="0" hangingPunct="0">
              <a:lnSpc>
                <a:spcPct val="125000"/>
              </a:lnSpc>
              <a:spcBef>
                <a:spcPct val="50000"/>
              </a:spcBef>
              <a:buFont typeface="Wingdings 2" pitchFamily="18" charset="2"/>
              <a:buChar char="E"/>
            </a:pPr>
            <a:r>
              <a:rPr lang="en-US" b="1">
                <a:solidFill>
                  <a:srgbClr val="800000"/>
                </a:solidFill>
              </a:rPr>
              <a:t>  Constructors cannot be declared as virtual functions</a:t>
            </a:r>
          </a:p>
          <a:p>
            <a:pPr eaLnBrk="0" hangingPunct="0">
              <a:lnSpc>
                <a:spcPct val="125000"/>
              </a:lnSpc>
              <a:spcBef>
                <a:spcPct val="50000"/>
              </a:spcBef>
              <a:buFont typeface="Wingdings 2" pitchFamily="18" charset="2"/>
              <a:buChar char="E"/>
            </a:pPr>
            <a:r>
              <a:rPr lang="en-US" b="1">
                <a:solidFill>
                  <a:srgbClr val="800000"/>
                </a:solidFill>
              </a:rPr>
              <a:t>  This function may or may not have function body</a:t>
            </a:r>
          </a:p>
          <a:p>
            <a:pPr eaLnBrk="0" hangingPunct="0">
              <a:lnSpc>
                <a:spcPct val="125000"/>
              </a:lnSpc>
              <a:spcBef>
                <a:spcPct val="50000"/>
              </a:spcBef>
              <a:buFont typeface="Wingdings 2" pitchFamily="18" charset="2"/>
              <a:buChar char="E"/>
            </a:pPr>
            <a:r>
              <a:rPr lang="en-US" b="1">
                <a:solidFill>
                  <a:srgbClr val="800000"/>
                </a:solidFill>
              </a:rPr>
              <a:t>  It cannot be an ordinary stand alone function</a:t>
            </a:r>
          </a:p>
          <a:p>
            <a:pPr eaLnBrk="0" hangingPunct="0">
              <a:lnSpc>
                <a:spcPct val="125000"/>
              </a:lnSpc>
              <a:spcBef>
                <a:spcPct val="50000"/>
              </a:spcBef>
              <a:buFont typeface="Wingdings 2" pitchFamily="18" charset="2"/>
              <a:buChar char="E"/>
            </a:pPr>
            <a:r>
              <a:rPr lang="en-US" b="1">
                <a:solidFill>
                  <a:srgbClr val="800000"/>
                </a:solidFill>
              </a:rPr>
              <a:t>  These functions are to be accessed by base class pointers</a:t>
            </a:r>
          </a:p>
          <a:p>
            <a:pPr eaLnBrk="0" hangingPunct="0">
              <a:lnSpc>
                <a:spcPct val="125000"/>
              </a:lnSpc>
              <a:spcBef>
                <a:spcPct val="50000"/>
              </a:spcBef>
              <a:buFont typeface="Wingdings 2" pitchFamily="18" charset="2"/>
              <a:buChar char="E"/>
            </a:pPr>
            <a:r>
              <a:rPr lang="en-US" b="1">
                <a:solidFill>
                  <a:srgbClr val="800000"/>
                </a:solidFill>
              </a:rPr>
              <a:t>  If there is no code defined for a virtual function in derived class, then base class function is invoked</a:t>
            </a:r>
          </a:p>
          <a:p>
            <a:pPr eaLnBrk="0" hangingPunct="0">
              <a:lnSpc>
                <a:spcPct val="125000"/>
              </a:lnSpc>
              <a:spcBef>
                <a:spcPct val="50000"/>
              </a:spcBef>
              <a:buFont typeface="Wingdings 2" pitchFamily="18" charset="2"/>
              <a:buChar char="E"/>
            </a:pPr>
            <a:endParaRPr lang="en-US" b="1">
              <a:solidFill>
                <a:srgbClr val="800000"/>
              </a:solidFill>
            </a:endParaRPr>
          </a:p>
          <a:p>
            <a:pPr eaLnBrk="0" hangingPunct="0">
              <a:lnSpc>
                <a:spcPct val="125000"/>
              </a:lnSpc>
              <a:spcBef>
                <a:spcPct val="50000"/>
              </a:spcBef>
              <a:buFont typeface="Wingdings 2" pitchFamily="18" charset="2"/>
              <a:buChar char="E"/>
            </a:pPr>
            <a:endParaRPr lang="en-US" b="1">
              <a:solidFill>
                <a:srgbClr val="800000"/>
              </a:solidFill>
            </a:endParaRPr>
          </a:p>
        </p:txBody>
      </p:sp>
    </p:spTree>
  </p:cSld>
  <p:clrMapOvr>
    <a:masterClrMapping/>
  </p:clrMapOvr>
  <p:timing>
    <p:tnLst>
      <p:par>
        <p:cTn id="1" dur="indefinite" restart="never" nodeType="tmRoot"/>
      </p:par>
    </p:tnLst>
  </p:timing>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ChangeArrowheads="1"/>
          </p:cNvSpPr>
          <p:nvPr/>
        </p:nvSpPr>
        <p:spPr bwMode="auto">
          <a:xfrm>
            <a:off x="685800" y="1851025"/>
            <a:ext cx="7620000" cy="3940175"/>
          </a:xfrm>
          <a:prstGeom prst="rect">
            <a:avLst/>
          </a:prstGeom>
          <a:noFill/>
          <a:ln w="9525">
            <a:solidFill>
              <a:srgbClr val="00FFFF"/>
            </a:solidFill>
            <a:miter lim="800000"/>
            <a:headEnd/>
            <a:tailEnd/>
          </a:ln>
        </p:spPr>
        <p:txBody>
          <a:bodyPr>
            <a:spAutoFit/>
          </a:bodyPr>
          <a:lstStyle/>
          <a:p>
            <a:pPr algn="just" eaLnBrk="0" hangingPunct="0">
              <a:lnSpc>
                <a:spcPct val="125000"/>
              </a:lnSpc>
              <a:buFont typeface="Wingdings" pitchFamily="2" charset="2"/>
              <a:buChar char="Ø"/>
            </a:pPr>
            <a:r>
              <a:rPr lang="en-US" sz="2000" b="1">
                <a:solidFill>
                  <a:srgbClr val="800000"/>
                </a:solidFill>
              </a:rPr>
              <a:t>	A body less virtual function is otherwise called  Pure virtual function</a:t>
            </a:r>
          </a:p>
          <a:p>
            <a:pPr algn="just" eaLnBrk="0" hangingPunct="0">
              <a:lnSpc>
                <a:spcPct val="125000"/>
              </a:lnSpc>
              <a:buFont typeface="Wingdings" pitchFamily="2" charset="2"/>
              <a:buNone/>
            </a:pPr>
            <a:r>
              <a:rPr lang="en-US" sz="2000" b="1">
                <a:solidFill>
                  <a:srgbClr val="800000"/>
                </a:solidFill>
              </a:rPr>
              <a:t>	</a:t>
            </a:r>
          </a:p>
          <a:p>
            <a:pPr algn="just" eaLnBrk="0" hangingPunct="0">
              <a:lnSpc>
                <a:spcPct val="125000"/>
              </a:lnSpc>
              <a:buFont typeface="Wingdings" pitchFamily="2" charset="2"/>
              <a:buChar char="Ø"/>
            </a:pPr>
            <a:r>
              <a:rPr lang="en-US" sz="2000" b="1">
                <a:solidFill>
                  <a:srgbClr val="800000"/>
                </a:solidFill>
              </a:rPr>
              <a:t>	</a:t>
            </a:r>
            <a:r>
              <a:rPr lang="en-US" sz="2000" b="1" u="sng">
                <a:solidFill>
                  <a:srgbClr val="800000"/>
                </a:solidFill>
              </a:rPr>
              <a:t>we use the pointer of base class to refer all the  derived objects</a:t>
            </a:r>
          </a:p>
          <a:p>
            <a:pPr algn="just" eaLnBrk="0" hangingPunct="0">
              <a:lnSpc>
                <a:spcPct val="125000"/>
              </a:lnSpc>
              <a:buFont typeface="Wingdings" pitchFamily="2" charset="2"/>
              <a:buNone/>
            </a:pPr>
            <a:r>
              <a:rPr lang="en-US" sz="2000" b="1">
                <a:solidFill>
                  <a:srgbClr val="800000"/>
                </a:solidFill>
              </a:rPr>
              <a:t>	</a:t>
            </a:r>
          </a:p>
          <a:p>
            <a:pPr algn="just" eaLnBrk="0" hangingPunct="0">
              <a:lnSpc>
                <a:spcPct val="125000"/>
              </a:lnSpc>
              <a:buFont typeface="Wingdings" pitchFamily="2" charset="2"/>
              <a:buChar char="Ø"/>
            </a:pPr>
            <a:r>
              <a:rPr lang="en-US" sz="2000" b="1">
                <a:solidFill>
                  <a:srgbClr val="800000"/>
                </a:solidFill>
              </a:rPr>
              <a:t>	It is a normal practice to have a function in base class just for implementing virtual function but the actual coding will be done in derived class only and also the class cannot be used for creating objects.</a:t>
            </a:r>
          </a:p>
        </p:txBody>
      </p:sp>
      <p:sp>
        <p:nvSpPr>
          <p:cNvPr id="10243" name="WordArt 3"/>
          <p:cNvSpPr>
            <a:spLocks noChangeArrowheads="1" noChangeShapeType="1" noTextEdit="1"/>
          </p:cNvSpPr>
          <p:nvPr/>
        </p:nvSpPr>
        <p:spPr bwMode="auto">
          <a:xfrm>
            <a:off x="1066800" y="685800"/>
            <a:ext cx="6705600" cy="647700"/>
          </a:xfrm>
          <a:prstGeom prst="rect">
            <a:avLst/>
          </a:prstGeom>
        </p:spPr>
        <p:txBody>
          <a:bodyPr wrap="none" fromWordArt="1">
            <a:prstTxWarp prst="textFadeUp">
              <a:avLst>
                <a:gd name="adj" fmla="val 3931"/>
              </a:avLst>
            </a:prstTxWarp>
          </a:bodyPr>
          <a:lstStyle/>
          <a:p>
            <a:pPr algn="ctr"/>
            <a:r>
              <a:rPr lang="en-IN" sz="3600" b="1" kern="10">
                <a:ln w="12700">
                  <a:solidFill>
                    <a:srgbClr val="B2B2B2"/>
                  </a:solidFill>
                  <a:round/>
                  <a:headEnd/>
                  <a:tailEnd/>
                </a:ln>
                <a:gradFill rotWithShape="1">
                  <a:gsLst>
                    <a:gs pos="0">
                      <a:srgbClr val="000000"/>
                    </a:gs>
                    <a:gs pos="20000">
                      <a:srgbClr val="000040"/>
                    </a:gs>
                    <a:gs pos="50000">
                      <a:srgbClr val="400040"/>
                    </a:gs>
                    <a:gs pos="75000">
                      <a:srgbClr val="8F0040"/>
                    </a:gs>
                    <a:gs pos="89999">
                      <a:srgbClr val="F27300"/>
                    </a:gs>
                    <a:gs pos="100000">
                      <a:srgbClr val="FFBF00"/>
                    </a:gs>
                  </a:gsLst>
                  <a:lin ang="5400000" scaled="1"/>
                </a:gradFill>
                <a:effectLst>
                  <a:outerShdw dist="35921" dir="2700000" sy="50000" rotWithShape="0">
                    <a:srgbClr val="875B0D">
                      <a:alpha val="70000"/>
                    </a:srgbClr>
                  </a:outerShdw>
                </a:effectLst>
                <a:latin typeface="Arial Black"/>
              </a:rPr>
              <a:t>Pure virtual function </a:t>
            </a:r>
          </a:p>
        </p:txBody>
      </p:sp>
    </p:spTree>
  </p:cSld>
  <p:clrMapOvr>
    <a:masterClrMapping/>
  </p:clrMapOvr>
  <p:timing>
    <p:tnLst>
      <p:par>
        <p:cTn id="1" dur="indefinite" restart="never" nodeType="tmRoot"/>
      </p:par>
    </p:tnLst>
  </p:timing>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ChangeArrowheads="1"/>
          </p:cNvSpPr>
          <p:nvPr/>
        </p:nvSpPr>
        <p:spPr bwMode="auto">
          <a:xfrm>
            <a:off x="28575" y="33338"/>
            <a:ext cx="4267200" cy="6746875"/>
          </a:xfrm>
          <a:prstGeom prst="rect">
            <a:avLst/>
          </a:prstGeom>
          <a:noFill/>
          <a:ln w="9525">
            <a:solidFill>
              <a:srgbClr val="990099"/>
            </a:solidFill>
            <a:miter lim="800000"/>
            <a:headEnd/>
            <a:tailEnd/>
          </a:ln>
        </p:spPr>
        <p:txBody>
          <a:bodyPr>
            <a:spAutoFit/>
          </a:bodyPr>
          <a:lstStyle/>
          <a:p>
            <a:pPr algn="ctr" eaLnBrk="0" hangingPunct="0"/>
            <a:r>
              <a:rPr lang="en-US" sz="2800" b="1">
                <a:solidFill>
                  <a:srgbClr val="800000"/>
                </a:solidFill>
              </a:rPr>
              <a:t>Polymorphism Using Array</a:t>
            </a:r>
          </a:p>
          <a:p>
            <a:pPr algn="ctr" eaLnBrk="0" hangingPunct="0"/>
            <a:r>
              <a:rPr lang="en-US" sz="2000" b="1">
                <a:solidFill>
                  <a:srgbClr val="800000"/>
                </a:solidFill>
                <a:latin typeface="Times New Roman" pitchFamily="18" charset="0"/>
              </a:rPr>
              <a:t>#include&lt;iostream.h&gt;</a:t>
            </a:r>
          </a:p>
          <a:p>
            <a:pPr eaLnBrk="0" hangingPunct="0"/>
            <a:r>
              <a:rPr lang="en-US" sz="2000" b="1">
                <a:solidFill>
                  <a:srgbClr val="800000"/>
                </a:solidFill>
                <a:latin typeface="Times New Roman" pitchFamily="18" charset="0"/>
              </a:rPr>
              <a:t>#include&lt;conio.h&gt;</a:t>
            </a:r>
          </a:p>
          <a:p>
            <a:pPr eaLnBrk="0" hangingPunct="0"/>
            <a:r>
              <a:rPr lang="en-US" sz="2000" b="1">
                <a:solidFill>
                  <a:srgbClr val="800000"/>
                </a:solidFill>
                <a:latin typeface="Times New Roman" pitchFamily="18" charset="0"/>
              </a:rPr>
              <a:t>class base</a:t>
            </a:r>
          </a:p>
          <a:p>
            <a:pPr eaLnBrk="0" hangingPunct="0"/>
            <a:r>
              <a:rPr lang="en-US" sz="2000" b="1">
                <a:solidFill>
                  <a:srgbClr val="800000"/>
                </a:solidFill>
                <a:latin typeface="Times New Roman" pitchFamily="18" charset="0"/>
              </a:rPr>
              <a:t>{</a:t>
            </a:r>
          </a:p>
          <a:p>
            <a:pPr eaLnBrk="0" hangingPunct="0"/>
            <a:r>
              <a:rPr lang="en-US" sz="2000" b="1">
                <a:solidFill>
                  <a:srgbClr val="800000"/>
                </a:solidFill>
                <a:latin typeface="Times New Roman" pitchFamily="18" charset="0"/>
              </a:rPr>
              <a:t>public:</a:t>
            </a:r>
          </a:p>
          <a:p>
            <a:pPr eaLnBrk="0" hangingPunct="0"/>
            <a:r>
              <a:rPr lang="en-US" sz="2000" b="1">
                <a:solidFill>
                  <a:srgbClr val="800000"/>
                </a:solidFill>
                <a:latin typeface="Times New Roman" pitchFamily="18" charset="0"/>
              </a:rPr>
              <a:t>virtual void show()=0;</a:t>
            </a:r>
          </a:p>
          <a:p>
            <a:pPr eaLnBrk="0" hangingPunct="0"/>
            <a:r>
              <a:rPr lang="en-US" sz="2000" b="1">
                <a:solidFill>
                  <a:srgbClr val="800000"/>
                </a:solidFill>
                <a:latin typeface="Times New Roman" pitchFamily="18" charset="0"/>
              </a:rPr>
              <a:t>};</a:t>
            </a:r>
          </a:p>
          <a:p>
            <a:pPr eaLnBrk="0" hangingPunct="0"/>
            <a:r>
              <a:rPr lang="en-US" sz="2000" b="1">
                <a:solidFill>
                  <a:srgbClr val="800000"/>
                </a:solidFill>
                <a:latin typeface="Times New Roman" pitchFamily="18" charset="0"/>
              </a:rPr>
              <a:t>class base1:public base</a:t>
            </a:r>
          </a:p>
          <a:p>
            <a:pPr eaLnBrk="0" hangingPunct="0"/>
            <a:r>
              <a:rPr lang="en-US" sz="2000" b="1">
                <a:solidFill>
                  <a:srgbClr val="800000"/>
                </a:solidFill>
                <a:latin typeface="Times New Roman" pitchFamily="18" charset="0"/>
              </a:rPr>
              <a:t>{</a:t>
            </a:r>
          </a:p>
          <a:p>
            <a:pPr eaLnBrk="0" hangingPunct="0"/>
            <a:r>
              <a:rPr lang="en-US" sz="2000" b="1">
                <a:solidFill>
                  <a:srgbClr val="800000"/>
                </a:solidFill>
                <a:latin typeface="Times New Roman" pitchFamily="18" charset="0"/>
              </a:rPr>
              <a:t>public:</a:t>
            </a:r>
          </a:p>
          <a:p>
            <a:pPr eaLnBrk="0" hangingPunct="0"/>
            <a:r>
              <a:rPr lang="en-US" sz="2000" b="1">
                <a:solidFill>
                  <a:srgbClr val="800000"/>
                </a:solidFill>
                <a:latin typeface="Times New Roman" pitchFamily="18" charset="0"/>
              </a:rPr>
              <a:t>void show(){</a:t>
            </a:r>
          </a:p>
          <a:p>
            <a:pPr eaLnBrk="0" hangingPunct="0"/>
            <a:r>
              <a:rPr lang="en-US" sz="2000" b="1">
                <a:solidFill>
                  <a:srgbClr val="800000"/>
                </a:solidFill>
                <a:latin typeface="Times New Roman" pitchFamily="18" charset="0"/>
              </a:rPr>
              <a:t>cout&lt;&lt;"\n base1 called";}</a:t>
            </a:r>
          </a:p>
          <a:p>
            <a:pPr eaLnBrk="0" hangingPunct="0"/>
            <a:r>
              <a:rPr lang="en-US" sz="2000" b="1">
                <a:solidFill>
                  <a:srgbClr val="800000"/>
                </a:solidFill>
                <a:latin typeface="Times New Roman" pitchFamily="18" charset="0"/>
              </a:rPr>
              <a:t>};</a:t>
            </a:r>
          </a:p>
          <a:p>
            <a:pPr eaLnBrk="0" hangingPunct="0"/>
            <a:r>
              <a:rPr lang="en-US" sz="2000" b="1">
                <a:solidFill>
                  <a:srgbClr val="800000"/>
                </a:solidFill>
                <a:latin typeface="Times New Roman" pitchFamily="18" charset="0"/>
              </a:rPr>
              <a:t>class base2:public base</a:t>
            </a:r>
          </a:p>
          <a:p>
            <a:pPr eaLnBrk="0" hangingPunct="0"/>
            <a:r>
              <a:rPr lang="en-US" sz="2000" b="1">
                <a:solidFill>
                  <a:srgbClr val="800000"/>
                </a:solidFill>
                <a:latin typeface="Times New Roman" pitchFamily="18" charset="0"/>
              </a:rPr>
              <a:t>{</a:t>
            </a:r>
          </a:p>
          <a:p>
            <a:pPr eaLnBrk="0" hangingPunct="0"/>
            <a:r>
              <a:rPr lang="en-US" sz="2000" b="1">
                <a:solidFill>
                  <a:srgbClr val="800000"/>
                </a:solidFill>
                <a:latin typeface="Times New Roman" pitchFamily="18" charset="0"/>
              </a:rPr>
              <a:t>public:</a:t>
            </a:r>
          </a:p>
          <a:p>
            <a:pPr eaLnBrk="0" hangingPunct="0"/>
            <a:r>
              <a:rPr lang="en-US" sz="2000" b="1">
                <a:solidFill>
                  <a:srgbClr val="800000"/>
                </a:solidFill>
                <a:latin typeface="Times New Roman" pitchFamily="18" charset="0"/>
              </a:rPr>
              <a:t>void show(){</a:t>
            </a:r>
          </a:p>
          <a:p>
            <a:pPr eaLnBrk="0" hangingPunct="0"/>
            <a:r>
              <a:rPr lang="en-US" sz="2000" b="1">
                <a:solidFill>
                  <a:srgbClr val="800000"/>
                </a:solidFill>
                <a:latin typeface="Times New Roman" pitchFamily="18" charset="0"/>
              </a:rPr>
              <a:t>cout&lt;&lt;"\n base2 called"; }</a:t>
            </a:r>
          </a:p>
          <a:p>
            <a:pPr eaLnBrk="0" hangingPunct="0"/>
            <a:r>
              <a:rPr lang="en-US" sz="2000" b="1">
                <a:solidFill>
                  <a:srgbClr val="800000"/>
                </a:solidFill>
                <a:latin typeface="Times New Roman" pitchFamily="18" charset="0"/>
              </a:rPr>
              <a:t>};</a:t>
            </a:r>
          </a:p>
        </p:txBody>
      </p:sp>
      <p:sp>
        <p:nvSpPr>
          <p:cNvPr id="11267" name="Rectangle 3"/>
          <p:cNvSpPr>
            <a:spLocks noChangeArrowheads="1"/>
          </p:cNvSpPr>
          <p:nvPr/>
        </p:nvSpPr>
        <p:spPr bwMode="auto">
          <a:xfrm>
            <a:off x="4267200" y="0"/>
            <a:ext cx="3276600" cy="4483100"/>
          </a:xfrm>
          <a:prstGeom prst="rect">
            <a:avLst/>
          </a:prstGeom>
          <a:noFill/>
          <a:ln w="9525">
            <a:solidFill>
              <a:srgbClr val="990099"/>
            </a:solidFill>
            <a:miter lim="800000"/>
            <a:headEnd/>
            <a:tailEnd/>
          </a:ln>
        </p:spPr>
        <p:txBody>
          <a:bodyPr>
            <a:spAutoFit/>
          </a:bodyPr>
          <a:lstStyle/>
          <a:p>
            <a:pPr eaLnBrk="0" hangingPunct="0"/>
            <a:r>
              <a:rPr lang="en-US" sz="2400" b="1">
                <a:solidFill>
                  <a:srgbClr val="800000"/>
                </a:solidFill>
                <a:latin typeface="Times New Roman" pitchFamily="18" charset="0"/>
              </a:rPr>
              <a:t>void main()</a:t>
            </a:r>
          </a:p>
          <a:p>
            <a:pPr eaLnBrk="0" hangingPunct="0"/>
            <a:r>
              <a:rPr lang="en-US" sz="2400" b="1">
                <a:solidFill>
                  <a:srgbClr val="800000"/>
                </a:solidFill>
                <a:latin typeface="Times New Roman" pitchFamily="18" charset="0"/>
              </a:rPr>
              <a:t>{</a:t>
            </a:r>
          </a:p>
          <a:p>
            <a:pPr eaLnBrk="0" hangingPunct="0"/>
            <a:r>
              <a:rPr lang="en-US" sz="2400" b="1">
                <a:solidFill>
                  <a:srgbClr val="800000"/>
                </a:solidFill>
                <a:latin typeface="Times New Roman" pitchFamily="18" charset="0"/>
              </a:rPr>
              <a:t>base *list[2];</a:t>
            </a:r>
          </a:p>
          <a:p>
            <a:pPr eaLnBrk="0" hangingPunct="0"/>
            <a:r>
              <a:rPr lang="en-US" sz="2400" b="1">
                <a:solidFill>
                  <a:srgbClr val="800000"/>
                </a:solidFill>
                <a:latin typeface="Times New Roman" pitchFamily="18" charset="0"/>
              </a:rPr>
              <a:t>base1 b;</a:t>
            </a:r>
          </a:p>
          <a:p>
            <a:pPr eaLnBrk="0" hangingPunct="0"/>
            <a:r>
              <a:rPr lang="en-US" sz="2400" b="1">
                <a:solidFill>
                  <a:srgbClr val="800000"/>
                </a:solidFill>
                <a:latin typeface="Times New Roman" pitchFamily="18" charset="0"/>
              </a:rPr>
              <a:t>base2 b1;</a:t>
            </a:r>
          </a:p>
          <a:p>
            <a:pPr eaLnBrk="0" hangingPunct="0"/>
            <a:r>
              <a:rPr lang="en-US" sz="2400" b="1">
                <a:solidFill>
                  <a:srgbClr val="800000"/>
                </a:solidFill>
                <a:latin typeface="Times New Roman" pitchFamily="18" charset="0"/>
              </a:rPr>
              <a:t>clrscr();</a:t>
            </a:r>
          </a:p>
          <a:p>
            <a:pPr eaLnBrk="0" hangingPunct="0"/>
            <a:r>
              <a:rPr lang="en-US" sz="2400" b="1">
                <a:solidFill>
                  <a:srgbClr val="800000"/>
                </a:solidFill>
                <a:latin typeface="Times New Roman" pitchFamily="18" charset="0"/>
              </a:rPr>
              <a:t>list[0]=&amp;b;</a:t>
            </a:r>
          </a:p>
          <a:p>
            <a:pPr eaLnBrk="0" hangingPunct="0"/>
            <a:r>
              <a:rPr lang="en-US" sz="2400" b="1">
                <a:solidFill>
                  <a:srgbClr val="800000"/>
                </a:solidFill>
                <a:latin typeface="Times New Roman" pitchFamily="18" charset="0"/>
              </a:rPr>
              <a:t>list[1]=&amp;b1;</a:t>
            </a:r>
          </a:p>
          <a:p>
            <a:pPr eaLnBrk="0" hangingPunct="0"/>
            <a:r>
              <a:rPr lang="en-US" sz="2400" b="1">
                <a:solidFill>
                  <a:srgbClr val="800000"/>
                </a:solidFill>
                <a:latin typeface="Times New Roman" pitchFamily="18" charset="0"/>
              </a:rPr>
              <a:t>list[0]-&gt;show();</a:t>
            </a:r>
          </a:p>
          <a:p>
            <a:pPr eaLnBrk="0" hangingPunct="0"/>
            <a:r>
              <a:rPr lang="en-US" sz="2400" b="1">
                <a:solidFill>
                  <a:srgbClr val="800000"/>
                </a:solidFill>
                <a:latin typeface="Times New Roman" pitchFamily="18" charset="0"/>
              </a:rPr>
              <a:t>list[1]-&gt;show();</a:t>
            </a:r>
          </a:p>
          <a:p>
            <a:pPr eaLnBrk="0" hangingPunct="0"/>
            <a:r>
              <a:rPr lang="en-US" sz="2400" b="1">
                <a:solidFill>
                  <a:srgbClr val="800000"/>
                </a:solidFill>
                <a:latin typeface="Times New Roman" pitchFamily="18" charset="0"/>
              </a:rPr>
              <a:t>getch();</a:t>
            </a:r>
          </a:p>
          <a:p>
            <a:pPr eaLnBrk="0" hangingPunct="0"/>
            <a:r>
              <a:rPr lang="en-US" sz="2400" b="1">
                <a:solidFill>
                  <a:srgbClr val="800000"/>
                </a:solidFill>
                <a:latin typeface="Times New Roman" pitchFamily="18" charset="0"/>
              </a:rPr>
              <a:t>}</a:t>
            </a:r>
          </a:p>
        </p:txBody>
      </p:sp>
    </p:spTree>
  </p:cSld>
  <p:clrMapOvr>
    <a:masterClrMapping/>
  </p:clrMapOvr>
  <p:timing>
    <p:tnLst>
      <p:par>
        <p:cTn id="1" dur="indefinite" restart="never" nodeType="tmRoot"/>
      </p:par>
    </p:tnLst>
  </p:timing>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ChangeArrowheads="1"/>
          </p:cNvSpPr>
          <p:nvPr/>
        </p:nvSpPr>
        <p:spPr bwMode="auto">
          <a:xfrm>
            <a:off x="381000" y="228600"/>
            <a:ext cx="4572000" cy="6537325"/>
          </a:xfrm>
          <a:prstGeom prst="rect">
            <a:avLst/>
          </a:prstGeom>
          <a:noFill/>
          <a:ln w="9525">
            <a:solidFill>
              <a:srgbClr val="3333CC"/>
            </a:solidFill>
            <a:miter lim="800000"/>
            <a:headEnd/>
            <a:tailEnd/>
          </a:ln>
        </p:spPr>
        <p:txBody>
          <a:bodyPr>
            <a:spAutoFit/>
          </a:bodyPr>
          <a:lstStyle/>
          <a:p>
            <a:pPr algn="ctr" eaLnBrk="0" hangingPunct="0"/>
            <a:r>
              <a:rPr lang="en-US" sz="2800" b="1" u="sng">
                <a:solidFill>
                  <a:srgbClr val="800000"/>
                </a:solidFill>
              </a:rPr>
              <a:t>Abstract classes  </a:t>
            </a:r>
          </a:p>
          <a:p>
            <a:pPr algn="ctr" eaLnBrk="0" hangingPunct="0"/>
            <a:endParaRPr lang="en-US" sz="2800" b="1" u="sng">
              <a:solidFill>
                <a:srgbClr val="800000"/>
              </a:solidFill>
            </a:endParaRPr>
          </a:p>
          <a:p>
            <a:pPr algn="just" eaLnBrk="0" hangingPunct="0"/>
            <a:r>
              <a:rPr lang="en-US" sz="1600" b="1">
                <a:solidFill>
                  <a:srgbClr val="800000"/>
                </a:solidFill>
              </a:rPr>
              <a:t>	</a:t>
            </a:r>
            <a:r>
              <a:rPr lang="en-US" sz="2000" b="1">
                <a:solidFill>
                  <a:srgbClr val="800000"/>
                </a:solidFill>
              </a:rPr>
              <a:t>A class that contains atleast one pure virtual function is said to be an abstract class.</a:t>
            </a:r>
          </a:p>
          <a:p>
            <a:pPr algn="just" eaLnBrk="0" hangingPunct="0"/>
            <a:r>
              <a:rPr lang="en-US" sz="2800" b="1" i="1" u="sng">
                <a:solidFill>
                  <a:schemeClr val="accent2"/>
                </a:solidFill>
              </a:rPr>
              <a:t>NOTE :</a:t>
            </a:r>
            <a:r>
              <a:rPr lang="en-US" sz="2000" b="1">
                <a:solidFill>
                  <a:schemeClr val="accent2"/>
                </a:solidFill>
              </a:rPr>
              <a:t> you can use an  abstract class only act as a base class for deriving other classes but does not create objects </a:t>
            </a:r>
          </a:p>
          <a:p>
            <a:pPr eaLnBrk="0" hangingPunct="0"/>
            <a:endParaRPr lang="en-US" sz="2000" b="1">
              <a:solidFill>
                <a:schemeClr val="accent2"/>
              </a:solidFill>
            </a:endParaRPr>
          </a:p>
          <a:p>
            <a:pPr eaLnBrk="0" hangingPunct="0"/>
            <a:r>
              <a:rPr lang="en-US" b="1">
                <a:solidFill>
                  <a:srgbClr val="800000"/>
                </a:solidFill>
              </a:rPr>
              <a:t>#include&lt;iostream.h&gt;</a:t>
            </a:r>
          </a:p>
          <a:p>
            <a:pPr eaLnBrk="0" hangingPunct="0"/>
            <a:r>
              <a:rPr lang="en-US" b="1">
                <a:solidFill>
                  <a:srgbClr val="800000"/>
                </a:solidFill>
              </a:rPr>
              <a:t>#include&lt;conio.h&gt;</a:t>
            </a:r>
          </a:p>
          <a:p>
            <a:pPr eaLnBrk="0" hangingPunct="0"/>
            <a:r>
              <a:rPr lang="en-US" b="1">
                <a:solidFill>
                  <a:srgbClr val="800000"/>
                </a:solidFill>
              </a:rPr>
              <a:t>class book</a:t>
            </a:r>
          </a:p>
          <a:p>
            <a:pPr eaLnBrk="0" hangingPunct="0"/>
            <a:r>
              <a:rPr lang="en-US" b="1">
                <a:solidFill>
                  <a:srgbClr val="800000"/>
                </a:solidFill>
              </a:rPr>
              <a:t>{</a:t>
            </a:r>
          </a:p>
          <a:p>
            <a:pPr eaLnBrk="0" hangingPunct="0"/>
            <a:r>
              <a:rPr lang="en-US" b="1">
                <a:solidFill>
                  <a:srgbClr val="800000"/>
                </a:solidFill>
              </a:rPr>
              <a:t>private :</a:t>
            </a:r>
          </a:p>
          <a:p>
            <a:pPr eaLnBrk="0" hangingPunct="0"/>
            <a:r>
              <a:rPr lang="en-US" b="1">
                <a:solidFill>
                  <a:srgbClr val="800000"/>
                </a:solidFill>
              </a:rPr>
              <a:t>int x;</a:t>
            </a:r>
          </a:p>
          <a:p>
            <a:pPr eaLnBrk="0" hangingPunct="0"/>
            <a:r>
              <a:rPr lang="en-US" b="1">
                <a:solidFill>
                  <a:srgbClr val="800000"/>
                </a:solidFill>
              </a:rPr>
              <a:t>public :</a:t>
            </a:r>
          </a:p>
          <a:p>
            <a:pPr eaLnBrk="0" hangingPunct="0"/>
            <a:r>
              <a:rPr lang="en-US" b="1">
                <a:solidFill>
                  <a:srgbClr val="800000"/>
                </a:solidFill>
              </a:rPr>
              <a:t>book()</a:t>
            </a:r>
          </a:p>
          <a:p>
            <a:pPr eaLnBrk="0" hangingPunct="0"/>
            <a:r>
              <a:rPr lang="en-US" b="1">
                <a:solidFill>
                  <a:srgbClr val="800000"/>
                </a:solidFill>
              </a:rPr>
              <a:t>{</a:t>
            </a:r>
          </a:p>
          <a:p>
            <a:pPr eaLnBrk="0" hangingPunct="0"/>
            <a:r>
              <a:rPr lang="en-US" b="1">
                <a:solidFill>
                  <a:srgbClr val="800000"/>
                </a:solidFill>
              </a:rPr>
              <a:t>x=0;</a:t>
            </a:r>
          </a:p>
          <a:p>
            <a:pPr eaLnBrk="0" hangingPunct="0"/>
            <a:r>
              <a:rPr lang="en-US" b="1">
                <a:solidFill>
                  <a:srgbClr val="800000"/>
                </a:solidFill>
              </a:rPr>
              <a:t>}</a:t>
            </a:r>
          </a:p>
        </p:txBody>
      </p:sp>
      <p:sp>
        <p:nvSpPr>
          <p:cNvPr id="12291" name="Rectangle 3"/>
          <p:cNvSpPr>
            <a:spLocks noChangeArrowheads="1"/>
          </p:cNvSpPr>
          <p:nvPr/>
        </p:nvSpPr>
        <p:spPr bwMode="auto">
          <a:xfrm>
            <a:off x="5029200" y="246063"/>
            <a:ext cx="3429000" cy="2844800"/>
          </a:xfrm>
          <a:prstGeom prst="rect">
            <a:avLst/>
          </a:prstGeom>
          <a:noFill/>
          <a:ln w="9525">
            <a:solidFill>
              <a:srgbClr val="3333CC"/>
            </a:solidFill>
            <a:miter lim="800000"/>
            <a:headEnd/>
            <a:tailEnd/>
          </a:ln>
        </p:spPr>
        <p:txBody>
          <a:bodyPr>
            <a:spAutoFit/>
          </a:bodyPr>
          <a:lstStyle/>
          <a:p>
            <a:pPr eaLnBrk="0" hangingPunct="0"/>
            <a:r>
              <a:rPr lang="en-US" sz="2000" b="1">
                <a:solidFill>
                  <a:srgbClr val="800000"/>
                </a:solidFill>
              </a:rPr>
              <a:t>virtual void getdata()=0;</a:t>
            </a:r>
          </a:p>
          <a:p>
            <a:pPr eaLnBrk="0" hangingPunct="0"/>
            <a:r>
              <a:rPr lang="en-US" sz="2000" b="1">
                <a:solidFill>
                  <a:srgbClr val="800000"/>
                </a:solidFill>
              </a:rPr>
              <a:t>virtual void putdata()=0;</a:t>
            </a:r>
          </a:p>
          <a:p>
            <a:pPr eaLnBrk="0" hangingPunct="0"/>
            <a:r>
              <a:rPr lang="en-US" sz="2000" b="1">
                <a:solidFill>
                  <a:srgbClr val="800000"/>
                </a:solidFill>
              </a:rPr>
              <a:t>};</a:t>
            </a:r>
          </a:p>
          <a:p>
            <a:pPr eaLnBrk="0" hangingPunct="0"/>
            <a:r>
              <a:rPr lang="en-US" sz="2000" b="1">
                <a:solidFill>
                  <a:srgbClr val="800000"/>
                </a:solidFill>
              </a:rPr>
              <a:t>void main()</a:t>
            </a:r>
          </a:p>
          <a:p>
            <a:pPr eaLnBrk="0" hangingPunct="0"/>
            <a:r>
              <a:rPr lang="en-US" sz="2000" b="1">
                <a:solidFill>
                  <a:srgbClr val="800000"/>
                </a:solidFill>
              </a:rPr>
              <a:t>{</a:t>
            </a:r>
          </a:p>
          <a:p>
            <a:pPr eaLnBrk="0" hangingPunct="0"/>
            <a:r>
              <a:rPr lang="en-US" sz="2000" b="1">
                <a:solidFill>
                  <a:srgbClr val="800000"/>
                </a:solidFill>
              </a:rPr>
              <a:t>clrscr();</a:t>
            </a:r>
          </a:p>
          <a:p>
            <a:pPr eaLnBrk="0" hangingPunct="0"/>
            <a:r>
              <a:rPr lang="en-US" sz="2000" b="1">
                <a:solidFill>
                  <a:srgbClr val="800000"/>
                </a:solidFill>
              </a:rPr>
              <a:t>cout&lt;&lt;"end";</a:t>
            </a:r>
          </a:p>
          <a:p>
            <a:pPr eaLnBrk="0" hangingPunct="0"/>
            <a:r>
              <a:rPr lang="en-US" sz="2000" b="1">
                <a:solidFill>
                  <a:srgbClr val="800000"/>
                </a:solidFill>
              </a:rPr>
              <a:t>getch();</a:t>
            </a:r>
          </a:p>
          <a:p>
            <a:pPr eaLnBrk="0" hangingPunct="0"/>
            <a:r>
              <a:rPr lang="en-US" sz="2000" b="1">
                <a:solidFill>
                  <a:srgbClr val="800000"/>
                </a:solidFill>
              </a:rPr>
              <a:t>}</a:t>
            </a:r>
          </a:p>
        </p:txBody>
      </p:sp>
    </p:spTree>
  </p:cSld>
  <p:clrMapOvr>
    <a:masterClrMapping/>
  </p:clrMapOvr>
  <p:timing>
    <p:tnLst>
      <p:par>
        <p:cTn id="1" dur="indefinite" restart="never" nodeType="tmRoot"/>
      </p:par>
    </p:tnLst>
  </p:timing>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2"/>
          <p:cNvSpPr txBox="1">
            <a:spLocks noChangeArrowheads="1"/>
          </p:cNvSpPr>
          <p:nvPr/>
        </p:nvSpPr>
        <p:spPr bwMode="auto">
          <a:xfrm>
            <a:off x="457200" y="1219200"/>
            <a:ext cx="8534400" cy="5060950"/>
          </a:xfrm>
          <a:prstGeom prst="rect">
            <a:avLst/>
          </a:prstGeom>
          <a:noFill/>
          <a:ln w="9525">
            <a:noFill/>
            <a:miter lim="800000"/>
            <a:headEnd/>
            <a:tailEnd/>
          </a:ln>
        </p:spPr>
        <p:txBody>
          <a:bodyPr>
            <a:spAutoFit/>
          </a:bodyPr>
          <a:lstStyle/>
          <a:p>
            <a:pPr algn="just" eaLnBrk="0" hangingPunct="0">
              <a:lnSpc>
                <a:spcPct val="150000"/>
              </a:lnSpc>
              <a:spcBef>
                <a:spcPct val="35000"/>
              </a:spcBef>
              <a:spcAft>
                <a:spcPct val="45000"/>
              </a:spcAft>
              <a:buFont typeface="Wingdings" pitchFamily="2" charset="2"/>
              <a:buChar char="X"/>
            </a:pPr>
            <a:r>
              <a:rPr lang="en-US" sz="2400" b="1">
                <a:solidFill>
                  <a:srgbClr val="660033"/>
                </a:solidFill>
                <a:latin typeface="Times New Roman" pitchFamily="18" charset="0"/>
              </a:rPr>
              <a:t> Polymorphism is defined as the ability of objects of different classes related by inheritance to respond differently to the same member function or operator.</a:t>
            </a:r>
          </a:p>
          <a:p>
            <a:pPr algn="just" eaLnBrk="0" hangingPunct="0">
              <a:lnSpc>
                <a:spcPct val="150000"/>
              </a:lnSpc>
              <a:spcBef>
                <a:spcPct val="35000"/>
              </a:spcBef>
              <a:spcAft>
                <a:spcPct val="45000"/>
              </a:spcAft>
              <a:buFont typeface="Wingdings" pitchFamily="2" charset="2"/>
              <a:buChar char="X"/>
            </a:pPr>
            <a:r>
              <a:rPr lang="en-US" sz="2400" b="1">
                <a:solidFill>
                  <a:srgbClr val="660033"/>
                </a:solidFill>
                <a:latin typeface="Times New Roman" pitchFamily="18" charset="0"/>
              </a:rPr>
              <a:t> A virtual function is one that does not really exist but never less appears real to some parts of the program. It provides a way to decide , when it is running what function to call.</a:t>
            </a:r>
          </a:p>
          <a:p>
            <a:pPr algn="just" eaLnBrk="0" hangingPunct="0">
              <a:lnSpc>
                <a:spcPct val="150000"/>
              </a:lnSpc>
              <a:spcBef>
                <a:spcPct val="35000"/>
              </a:spcBef>
              <a:spcAft>
                <a:spcPct val="45000"/>
              </a:spcAft>
              <a:buFont typeface="Wingdings" pitchFamily="2" charset="2"/>
              <a:buChar char="X"/>
            </a:pPr>
            <a:r>
              <a:rPr lang="en-US" sz="2400" b="1">
                <a:solidFill>
                  <a:srgbClr val="660033"/>
                </a:solidFill>
                <a:latin typeface="Times New Roman" pitchFamily="18" charset="0"/>
              </a:rPr>
              <a:t> The function call resolved at compile time is called as static binding</a:t>
            </a:r>
          </a:p>
        </p:txBody>
      </p:sp>
      <p:sp>
        <p:nvSpPr>
          <p:cNvPr id="13315" name="WordArt 3"/>
          <p:cNvSpPr>
            <a:spLocks noChangeArrowheads="1" noChangeShapeType="1" noTextEdit="1"/>
          </p:cNvSpPr>
          <p:nvPr/>
        </p:nvSpPr>
        <p:spPr bwMode="auto">
          <a:xfrm>
            <a:off x="2590800" y="228600"/>
            <a:ext cx="3200400" cy="914400"/>
          </a:xfrm>
          <a:prstGeom prst="rect">
            <a:avLst/>
          </a:prstGeom>
        </p:spPr>
        <p:txBody>
          <a:bodyPr wrap="none" fromWordArt="1">
            <a:prstTxWarp prst="textCanUp">
              <a:avLst>
                <a:gd name="adj" fmla="val 85713"/>
              </a:avLst>
            </a:prstTxWarp>
          </a:bodyPr>
          <a:lstStyle/>
          <a:p>
            <a:pPr algn="ctr"/>
            <a:r>
              <a:rPr lang="en-IN"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a:rPr>
              <a:t>Summary</a:t>
            </a:r>
          </a:p>
        </p:txBody>
      </p:sp>
    </p:spTree>
  </p:cSld>
  <p:clrMapOvr>
    <a:masterClrMapping/>
  </p:clrMapOvr>
  <p:timing>
    <p:tnLst>
      <p:par>
        <p:cTn id="1" dur="indefinite" restart="never" nodeType="tmRoot"/>
      </p:par>
    </p:tnLst>
  </p:timing>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ChangeArrowheads="1"/>
          </p:cNvSpPr>
          <p:nvPr/>
        </p:nvSpPr>
        <p:spPr bwMode="auto">
          <a:xfrm>
            <a:off x="533400" y="482600"/>
            <a:ext cx="8229600" cy="4556125"/>
          </a:xfrm>
          <a:prstGeom prst="rect">
            <a:avLst/>
          </a:prstGeom>
          <a:noFill/>
          <a:ln w="9525">
            <a:solidFill>
              <a:srgbClr val="990033"/>
            </a:solidFill>
            <a:miter lim="800000"/>
            <a:headEnd/>
            <a:tailEnd/>
          </a:ln>
        </p:spPr>
        <p:txBody>
          <a:bodyPr>
            <a:spAutoFit/>
          </a:bodyPr>
          <a:lstStyle/>
          <a:p>
            <a:pPr algn="just" eaLnBrk="0" hangingPunct="0">
              <a:lnSpc>
                <a:spcPct val="130000"/>
              </a:lnSpc>
              <a:spcBef>
                <a:spcPct val="30000"/>
              </a:spcBef>
              <a:spcAft>
                <a:spcPct val="30000"/>
              </a:spcAft>
              <a:buFont typeface="Wingdings" pitchFamily="2" charset="2"/>
              <a:buChar char="X"/>
            </a:pPr>
            <a:r>
              <a:rPr lang="en-US" sz="2400" b="1">
                <a:solidFill>
                  <a:srgbClr val="660033"/>
                </a:solidFill>
                <a:latin typeface="Times New Roman" pitchFamily="18" charset="0"/>
              </a:rPr>
              <a:t>  The function call resolved at runtime is called as dynamic binding</a:t>
            </a:r>
          </a:p>
          <a:p>
            <a:pPr algn="just" eaLnBrk="0" hangingPunct="0">
              <a:lnSpc>
                <a:spcPct val="130000"/>
              </a:lnSpc>
              <a:spcBef>
                <a:spcPct val="30000"/>
              </a:spcBef>
              <a:spcAft>
                <a:spcPct val="30000"/>
              </a:spcAft>
              <a:buFont typeface="Wingdings" pitchFamily="2" charset="2"/>
              <a:buChar char="X"/>
            </a:pPr>
            <a:r>
              <a:rPr lang="en-US" sz="2400" b="1">
                <a:solidFill>
                  <a:srgbClr val="660033"/>
                </a:solidFill>
                <a:latin typeface="Times New Roman" pitchFamily="18" charset="0"/>
              </a:rPr>
              <a:t>  The virtual function that has no body is called as pure virtual function</a:t>
            </a:r>
          </a:p>
          <a:p>
            <a:pPr algn="just" eaLnBrk="0" hangingPunct="0">
              <a:lnSpc>
                <a:spcPct val="130000"/>
              </a:lnSpc>
              <a:spcBef>
                <a:spcPct val="30000"/>
              </a:spcBef>
              <a:spcAft>
                <a:spcPct val="30000"/>
              </a:spcAft>
              <a:buFont typeface="Wingdings" pitchFamily="2" charset="2"/>
              <a:buChar char="X"/>
            </a:pPr>
            <a:r>
              <a:rPr lang="en-US" sz="2400" b="1">
                <a:solidFill>
                  <a:srgbClr val="660033"/>
                </a:solidFill>
                <a:latin typeface="Times New Roman" pitchFamily="18" charset="0"/>
              </a:rPr>
              <a:t>  The virtual function that is equated to zero is called as a null virtual function</a:t>
            </a:r>
          </a:p>
          <a:p>
            <a:pPr algn="just" eaLnBrk="0" hangingPunct="0">
              <a:lnSpc>
                <a:spcPct val="130000"/>
              </a:lnSpc>
              <a:spcBef>
                <a:spcPct val="30000"/>
              </a:spcBef>
              <a:spcAft>
                <a:spcPct val="30000"/>
              </a:spcAft>
              <a:buFont typeface="Wingdings" pitchFamily="2" charset="2"/>
              <a:buChar char="X"/>
            </a:pPr>
            <a:r>
              <a:rPr lang="en-US" sz="2400" b="1">
                <a:solidFill>
                  <a:srgbClr val="660033"/>
                </a:solidFill>
                <a:latin typeface="Times New Roman" pitchFamily="18" charset="0"/>
              </a:rPr>
              <a:t>  If a class contains one or more pure virtual functions, it is an abstract base class.</a:t>
            </a:r>
          </a:p>
        </p:txBody>
      </p:sp>
    </p:spTree>
  </p:cSld>
  <p:clrMapOvr>
    <a:masterClrMapping/>
  </p:clrMapOvr>
  <p:timing>
    <p:tnLst>
      <p:par>
        <p:cTn id="1" dur="indefinite" restart="never" nodeType="tmRoot"/>
      </p:par>
    </p:tnLst>
  </p:timing>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WordArt 2"/>
          <p:cNvSpPr>
            <a:spLocks noChangeArrowheads="1" noChangeShapeType="1" noTextEdit="1"/>
          </p:cNvSpPr>
          <p:nvPr/>
        </p:nvSpPr>
        <p:spPr bwMode="auto">
          <a:xfrm>
            <a:off x="1219200" y="3276600"/>
            <a:ext cx="7086600" cy="914400"/>
          </a:xfrm>
          <a:prstGeom prst="rect">
            <a:avLst/>
          </a:prstGeom>
        </p:spPr>
        <p:txBody>
          <a:bodyPr wrap="none" fromWordArt="1">
            <a:prstTxWarp prst="textChevron">
              <a:avLst>
                <a:gd name="adj" fmla="val 25000"/>
              </a:avLst>
            </a:prstTxWarp>
          </a:bodyPr>
          <a:lstStyle/>
          <a:p>
            <a:pPr algn="ctr"/>
            <a:r>
              <a:rPr lang="en-IN" sz="3600" kern="10">
                <a:ln w="12700">
                  <a:solidFill>
                    <a:srgbClr val="B2B2B2"/>
                  </a:solidFill>
                  <a:round/>
                  <a:headEnd/>
                  <a:tailEnd/>
                </a:ln>
                <a:solidFill>
                  <a:srgbClr val="FF0000"/>
                </a:solidFill>
                <a:effectLst>
                  <a:outerShdw dist="35921" dir="2700000" sy="50000" rotWithShape="0">
                    <a:srgbClr val="875B0D">
                      <a:alpha val="70000"/>
                    </a:srgbClr>
                  </a:outerShdw>
                </a:effectLst>
                <a:latin typeface="Arial Black"/>
              </a:rPr>
              <a:t>Manipulators</a:t>
            </a:r>
          </a:p>
        </p:txBody>
      </p:sp>
      <p:sp>
        <p:nvSpPr>
          <p:cNvPr id="2051" name="WordArt 3"/>
          <p:cNvSpPr>
            <a:spLocks noChangeArrowheads="1" noChangeShapeType="1" noTextEdit="1"/>
          </p:cNvSpPr>
          <p:nvPr/>
        </p:nvSpPr>
        <p:spPr bwMode="auto">
          <a:xfrm>
            <a:off x="3124200" y="1066800"/>
            <a:ext cx="2895600" cy="647700"/>
          </a:xfrm>
          <a:prstGeom prst="rect">
            <a:avLst/>
          </a:prstGeom>
        </p:spPr>
        <p:txBody>
          <a:bodyPr wrap="none" fromWordArt="1">
            <a:prstTxWarp prst="textPlain">
              <a:avLst>
                <a:gd name="adj" fmla="val 50000"/>
              </a:avLst>
            </a:prstTxWarp>
          </a:bodyPr>
          <a:lstStyle/>
          <a:p>
            <a:pPr algn="ctr"/>
            <a:r>
              <a:rPr lang="en-IN" sz="3600" kern="10">
                <a:ln w="9525">
                  <a:solidFill>
                    <a:srgbClr val="000000"/>
                  </a:solidFill>
                  <a:round/>
                  <a:headEnd/>
                  <a:tailEnd/>
                </a:ln>
                <a:solidFill>
                  <a:srgbClr val="A50021"/>
                </a:solidFill>
                <a:latin typeface="Arial Black"/>
              </a:rPr>
              <a:t>CHAPTER 12</a:t>
            </a:r>
          </a:p>
        </p:txBody>
      </p:sp>
    </p:spTree>
  </p:cSld>
  <p:clrMapOvr>
    <a:masterClrMapping/>
  </p:clrMapOvr>
  <p:timing>
    <p:tnLst>
      <p:par>
        <p:cTn id="1" dur="indefinite" restart="never" nodeType="tmRoot"/>
      </p:par>
    </p:tnLst>
  </p:timing>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
          <p:cNvSpPr txBox="1">
            <a:spLocks noChangeArrowheads="1"/>
          </p:cNvSpPr>
          <p:nvPr/>
        </p:nvSpPr>
        <p:spPr bwMode="auto">
          <a:xfrm>
            <a:off x="1876425" y="776288"/>
            <a:ext cx="5376863" cy="823912"/>
          </a:xfrm>
          <a:prstGeom prst="rect">
            <a:avLst/>
          </a:prstGeom>
          <a:solidFill>
            <a:srgbClr val="FF0000"/>
          </a:solidFill>
          <a:ln>
            <a:noFill/>
          </a:ln>
          <a:effectLst/>
          <a:extLst>
            <a:ext uri="{91240B29-F687-4F45-9708-019B960494DF}"/>
            <a:ext uri="{AF507438-7753-43E0-B8FC-AC1667EBCBE1}"/>
          </a:extLst>
        </p:spPr>
        <p:txBody>
          <a:bodyPr wrap="none">
            <a:spAutoFit/>
          </a:bodyPr>
          <a:lstStyle/>
          <a:p>
            <a:pPr>
              <a:defRPr/>
            </a:pPr>
            <a:r>
              <a:rPr lang="en-US" sz="4800" b="1">
                <a:solidFill>
                  <a:srgbClr val="66FFFF"/>
                </a:solidFill>
                <a:effectLst>
                  <a:outerShdw blurRad="38100" dist="38100" dir="2700000" algn="tl">
                    <a:srgbClr val="000000"/>
                  </a:outerShdw>
                </a:effectLst>
                <a:latin typeface="Arial Unicode MS" pitchFamily="34" charset="-128"/>
                <a:cs typeface="Times New Roman" pitchFamily="18" charset="0"/>
              </a:rPr>
              <a:t>Session Objectives</a:t>
            </a:r>
          </a:p>
        </p:txBody>
      </p:sp>
      <p:sp>
        <p:nvSpPr>
          <p:cNvPr id="5123" name="Text Box 3"/>
          <p:cNvSpPr txBox="1">
            <a:spLocks noChangeArrowheads="1"/>
          </p:cNvSpPr>
          <p:nvPr/>
        </p:nvSpPr>
        <p:spPr bwMode="auto">
          <a:xfrm>
            <a:off x="885825" y="2071688"/>
            <a:ext cx="3994150" cy="519112"/>
          </a:xfrm>
          <a:prstGeom prst="rect">
            <a:avLst/>
          </a:prstGeom>
          <a:noFill/>
          <a:ln w="9525">
            <a:noFill/>
            <a:miter lim="800000"/>
            <a:headEnd/>
            <a:tailEnd/>
          </a:ln>
        </p:spPr>
        <p:txBody>
          <a:bodyPr wrap="none">
            <a:spAutoFit/>
          </a:bodyPr>
          <a:lstStyle/>
          <a:p>
            <a:pPr>
              <a:buFontTx/>
              <a:buBlip>
                <a:blip r:embed="rId2"/>
              </a:buBlip>
            </a:pPr>
            <a:r>
              <a:rPr lang="en-US" sz="2800" b="1">
                <a:solidFill>
                  <a:srgbClr val="CC3300"/>
                </a:solidFill>
                <a:latin typeface="Times New Roman" pitchFamily="18" charset="0"/>
                <a:cs typeface="Times New Roman" pitchFamily="18" charset="0"/>
              </a:rPr>
              <a:t>   Discuss Manipulators</a:t>
            </a:r>
          </a:p>
        </p:txBody>
      </p:sp>
      <p:sp>
        <p:nvSpPr>
          <p:cNvPr id="5124" name="Text Box 4"/>
          <p:cNvSpPr txBox="1">
            <a:spLocks noChangeArrowheads="1"/>
          </p:cNvSpPr>
          <p:nvPr/>
        </p:nvSpPr>
        <p:spPr bwMode="auto">
          <a:xfrm>
            <a:off x="885825" y="2833688"/>
            <a:ext cx="4973638" cy="519112"/>
          </a:xfrm>
          <a:prstGeom prst="rect">
            <a:avLst/>
          </a:prstGeom>
          <a:noFill/>
          <a:ln w="9525">
            <a:noFill/>
            <a:miter lim="800000"/>
            <a:headEnd/>
            <a:tailEnd/>
          </a:ln>
        </p:spPr>
        <p:txBody>
          <a:bodyPr wrap="none">
            <a:spAutoFit/>
          </a:bodyPr>
          <a:lstStyle/>
          <a:p>
            <a:pPr>
              <a:buFontTx/>
              <a:buBlip>
                <a:blip r:embed="rId2"/>
              </a:buBlip>
            </a:pPr>
            <a:r>
              <a:rPr lang="en-US" sz="2800" b="1">
                <a:solidFill>
                  <a:srgbClr val="CC3300"/>
                </a:solidFill>
                <a:latin typeface="Times New Roman" pitchFamily="18" charset="0"/>
                <a:cs typeface="Times New Roman" pitchFamily="18" charset="0"/>
              </a:rPr>
              <a:t>   Discuss setfill() manipulator</a:t>
            </a:r>
          </a:p>
        </p:txBody>
      </p:sp>
      <p:sp>
        <p:nvSpPr>
          <p:cNvPr id="5125" name="Text Box 5"/>
          <p:cNvSpPr txBox="1">
            <a:spLocks noChangeArrowheads="1"/>
          </p:cNvSpPr>
          <p:nvPr/>
        </p:nvSpPr>
        <p:spPr bwMode="auto">
          <a:xfrm>
            <a:off x="962025" y="3748088"/>
            <a:ext cx="4727575" cy="519112"/>
          </a:xfrm>
          <a:prstGeom prst="rect">
            <a:avLst/>
          </a:prstGeom>
          <a:noFill/>
          <a:ln w="9525">
            <a:noFill/>
            <a:miter lim="800000"/>
            <a:headEnd/>
            <a:tailEnd/>
          </a:ln>
        </p:spPr>
        <p:txBody>
          <a:bodyPr wrap="none">
            <a:spAutoFit/>
          </a:bodyPr>
          <a:lstStyle/>
          <a:p>
            <a:pPr>
              <a:buFontTx/>
              <a:buBlip>
                <a:blip r:embed="rId2"/>
              </a:buBlip>
            </a:pPr>
            <a:r>
              <a:rPr lang="en-US" sz="2800" b="1">
                <a:solidFill>
                  <a:srgbClr val="CC3300"/>
                </a:solidFill>
                <a:latin typeface="Times New Roman" pitchFamily="18" charset="0"/>
                <a:cs typeface="Times New Roman" pitchFamily="18" charset="0"/>
              </a:rPr>
              <a:t>  </a:t>
            </a:r>
            <a:r>
              <a:rPr lang="en-US" sz="2800" b="1">
                <a:solidFill>
                  <a:srgbClr val="CC3300"/>
                </a:solidFill>
                <a:latin typeface="Times New Roman" pitchFamily="18" charset="0"/>
              </a:rPr>
              <a:t>Discuss setw() manipulator</a:t>
            </a:r>
          </a:p>
        </p:txBody>
      </p:sp>
      <p:sp>
        <p:nvSpPr>
          <p:cNvPr id="5126" name="Text Box 6"/>
          <p:cNvSpPr txBox="1">
            <a:spLocks noChangeArrowheads="1"/>
          </p:cNvSpPr>
          <p:nvPr/>
        </p:nvSpPr>
        <p:spPr bwMode="auto">
          <a:xfrm>
            <a:off x="990600" y="4572000"/>
            <a:ext cx="5851525" cy="519113"/>
          </a:xfrm>
          <a:prstGeom prst="rect">
            <a:avLst/>
          </a:prstGeom>
          <a:noFill/>
          <a:ln w="9525">
            <a:noFill/>
            <a:miter lim="800000"/>
            <a:headEnd/>
            <a:tailEnd/>
          </a:ln>
        </p:spPr>
        <p:txBody>
          <a:bodyPr wrap="none">
            <a:spAutoFit/>
          </a:bodyPr>
          <a:lstStyle/>
          <a:p>
            <a:pPr>
              <a:buFontTx/>
              <a:buBlip>
                <a:blip r:embed="rId2"/>
              </a:buBlip>
            </a:pPr>
            <a:r>
              <a:rPr lang="en-US" sz="2800" b="1">
                <a:solidFill>
                  <a:srgbClr val="CC3300"/>
                </a:solidFill>
                <a:latin typeface="Times New Roman" pitchFamily="18" charset="0"/>
                <a:cs typeface="Times New Roman" pitchFamily="18" charset="0"/>
              </a:rPr>
              <a:t>  </a:t>
            </a:r>
            <a:r>
              <a:rPr lang="en-US" sz="2800" b="1">
                <a:solidFill>
                  <a:srgbClr val="CC3300"/>
                </a:solidFill>
                <a:latin typeface="Times New Roman" pitchFamily="18" charset="0"/>
              </a:rPr>
              <a:t>Discuss setprecision() manipulator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288" fill="hold" grpId="0" nodeType="afterEffect">
                                  <p:stCondLst>
                                    <p:cond delay="0"/>
                                  </p:stCondLst>
                                  <p:childTnLst>
                                    <p:set>
                                      <p:cBhvr>
                                        <p:cTn id="6" dur="1" fill="hold">
                                          <p:stCondLst>
                                            <p:cond delay="0"/>
                                          </p:stCondLst>
                                        </p:cTn>
                                        <p:tgtEl>
                                          <p:spTgt spid="5123"/>
                                        </p:tgtEl>
                                        <p:attrNameLst>
                                          <p:attrName>style.visibility</p:attrName>
                                        </p:attrNameLst>
                                      </p:cBhvr>
                                      <p:to>
                                        <p:strVal val="visible"/>
                                      </p:to>
                                    </p:set>
                                    <p:anim calcmode="lin" valueType="num">
                                      <p:cBhvr>
                                        <p:cTn id="7" dur="500" fill="hold"/>
                                        <p:tgtEl>
                                          <p:spTgt spid="5123"/>
                                        </p:tgtEl>
                                        <p:attrNameLst>
                                          <p:attrName>ppt_w</p:attrName>
                                        </p:attrNameLst>
                                      </p:cBhvr>
                                      <p:tavLst>
                                        <p:tav tm="0">
                                          <p:val>
                                            <p:strVal val="4/3*#ppt_w"/>
                                          </p:val>
                                        </p:tav>
                                        <p:tav tm="100000">
                                          <p:val>
                                            <p:strVal val="#ppt_w"/>
                                          </p:val>
                                        </p:tav>
                                      </p:tavLst>
                                    </p:anim>
                                    <p:anim calcmode="lin" valueType="num">
                                      <p:cBhvr>
                                        <p:cTn id="8" dur="500" fill="hold"/>
                                        <p:tgtEl>
                                          <p:spTgt spid="5123"/>
                                        </p:tgtEl>
                                        <p:attrNameLst>
                                          <p:attrName>ppt_h</p:attrName>
                                        </p:attrNameLst>
                                      </p:cBhvr>
                                      <p:tavLst>
                                        <p:tav tm="0">
                                          <p:val>
                                            <p:strVal val="4/3*#ppt_h"/>
                                          </p:val>
                                        </p:tav>
                                        <p:tav tm="100000">
                                          <p:val>
                                            <p:strVal val="#ppt_h"/>
                                          </p:val>
                                        </p:tav>
                                      </p:tavLst>
                                    </p:anim>
                                  </p:childTnLst>
                                </p:cTn>
                              </p:par>
                            </p:childTnLst>
                          </p:cTn>
                        </p:par>
                        <p:par>
                          <p:cTn id="9" fill="hold" nodeType="afterGroup">
                            <p:stCondLst>
                              <p:cond delay="500"/>
                            </p:stCondLst>
                            <p:childTnLst>
                              <p:par>
                                <p:cTn id="10" presetID="23" presetClass="entr" presetSubtype="288" fill="hold" grpId="0" nodeType="afterEffect">
                                  <p:stCondLst>
                                    <p:cond delay="0"/>
                                  </p:stCondLst>
                                  <p:childTnLst>
                                    <p:set>
                                      <p:cBhvr>
                                        <p:cTn id="11" dur="1" fill="hold">
                                          <p:stCondLst>
                                            <p:cond delay="0"/>
                                          </p:stCondLst>
                                        </p:cTn>
                                        <p:tgtEl>
                                          <p:spTgt spid="5124"/>
                                        </p:tgtEl>
                                        <p:attrNameLst>
                                          <p:attrName>style.visibility</p:attrName>
                                        </p:attrNameLst>
                                      </p:cBhvr>
                                      <p:to>
                                        <p:strVal val="visible"/>
                                      </p:to>
                                    </p:set>
                                    <p:anim calcmode="lin" valueType="num">
                                      <p:cBhvr>
                                        <p:cTn id="12" dur="500" fill="hold"/>
                                        <p:tgtEl>
                                          <p:spTgt spid="5124"/>
                                        </p:tgtEl>
                                        <p:attrNameLst>
                                          <p:attrName>ppt_w</p:attrName>
                                        </p:attrNameLst>
                                      </p:cBhvr>
                                      <p:tavLst>
                                        <p:tav tm="0">
                                          <p:val>
                                            <p:strVal val="4/3*#ppt_w"/>
                                          </p:val>
                                        </p:tav>
                                        <p:tav tm="100000">
                                          <p:val>
                                            <p:strVal val="#ppt_w"/>
                                          </p:val>
                                        </p:tav>
                                      </p:tavLst>
                                    </p:anim>
                                    <p:anim calcmode="lin" valueType="num">
                                      <p:cBhvr>
                                        <p:cTn id="13" dur="500" fill="hold"/>
                                        <p:tgtEl>
                                          <p:spTgt spid="5124"/>
                                        </p:tgtEl>
                                        <p:attrNameLst>
                                          <p:attrName>ppt_h</p:attrName>
                                        </p:attrNameLst>
                                      </p:cBhvr>
                                      <p:tavLst>
                                        <p:tav tm="0">
                                          <p:val>
                                            <p:strVal val="4/3*#ppt_h"/>
                                          </p:val>
                                        </p:tav>
                                        <p:tav tm="100000">
                                          <p:val>
                                            <p:strVal val="#ppt_h"/>
                                          </p:val>
                                        </p:tav>
                                      </p:tavLst>
                                    </p:anim>
                                  </p:childTnLst>
                                </p:cTn>
                              </p:par>
                            </p:childTnLst>
                          </p:cTn>
                        </p:par>
                        <p:par>
                          <p:cTn id="14" fill="hold" nodeType="afterGroup">
                            <p:stCondLst>
                              <p:cond delay="1000"/>
                            </p:stCondLst>
                            <p:childTnLst>
                              <p:par>
                                <p:cTn id="15" presetID="23" presetClass="entr" presetSubtype="288" fill="hold" grpId="0" nodeType="afterEffect">
                                  <p:stCondLst>
                                    <p:cond delay="0"/>
                                  </p:stCondLst>
                                  <p:childTnLst>
                                    <p:set>
                                      <p:cBhvr>
                                        <p:cTn id="16" dur="1" fill="hold">
                                          <p:stCondLst>
                                            <p:cond delay="0"/>
                                          </p:stCondLst>
                                        </p:cTn>
                                        <p:tgtEl>
                                          <p:spTgt spid="5125"/>
                                        </p:tgtEl>
                                        <p:attrNameLst>
                                          <p:attrName>style.visibility</p:attrName>
                                        </p:attrNameLst>
                                      </p:cBhvr>
                                      <p:to>
                                        <p:strVal val="visible"/>
                                      </p:to>
                                    </p:set>
                                    <p:anim calcmode="lin" valueType="num">
                                      <p:cBhvr>
                                        <p:cTn id="17" dur="500" fill="hold"/>
                                        <p:tgtEl>
                                          <p:spTgt spid="5125"/>
                                        </p:tgtEl>
                                        <p:attrNameLst>
                                          <p:attrName>ppt_w</p:attrName>
                                        </p:attrNameLst>
                                      </p:cBhvr>
                                      <p:tavLst>
                                        <p:tav tm="0">
                                          <p:val>
                                            <p:strVal val="4/3*#ppt_w"/>
                                          </p:val>
                                        </p:tav>
                                        <p:tav tm="100000">
                                          <p:val>
                                            <p:strVal val="#ppt_w"/>
                                          </p:val>
                                        </p:tav>
                                      </p:tavLst>
                                    </p:anim>
                                    <p:anim calcmode="lin" valueType="num">
                                      <p:cBhvr>
                                        <p:cTn id="18" dur="500" fill="hold"/>
                                        <p:tgtEl>
                                          <p:spTgt spid="5125"/>
                                        </p:tgtEl>
                                        <p:attrNameLst>
                                          <p:attrName>ppt_h</p:attrName>
                                        </p:attrNameLst>
                                      </p:cBhvr>
                                      <p:tavLst>
                                        <p:tav tm="0">
                                          <p:val>
                                            <p:strVal val="4/3*#ppt_h"/>
                                          </p:val>
                                        </p:tav>
                                        <p:tav tm="100000">
                                          <p:val>
                                            <p:strVal val="#ppt_h"/>
                                          </p:val>
                                        </p:tav>
                                      </p:tavLst>
                                    </p:anim>
                                  </p:childTnLst>
                                </p:cTn>
                              </p:par>
                            </p:childTnLst>
                          </p:cTn>
                        </p:par>
                        <p:par>
                          <p:cTn id="19" fill="hold" nodeType="afterGroup">
                            <p:stCondLst>
                              <p:cond delay="1500"/>
                            </p:stCondLst>
                            <p:childTnLst>
                              <p:par>
                                <p:cTn id="20" presetID="23" presetClass="entr" presetSubtype="288" fill="hold" grpId="0" nodeType="afterEffect">
                                  <p:stCondLst>
                                    <p:cond delay="0"/>
                                  </p:stCondLst>
                                  <p:childTnLst>
                                    <p:set>
                                      <p:cBhvr>
                                        <p:cTn id="21" dur="1" fill="hold">
                                          <p:stCondLst>
                                            <p:cond delay="0"/>
                                          </p:stCondLst>
                                        </p:cTn>
                                        <p:tgtEl>
                                          <p:spTgt spid="5126"/>
                                        </p:tgtEl>
                                        <p:attrNameLst>
                                          <p:attrName>style.visibility</p:attrName>
                                        </p:attrNameLst>
                                      </p:cBhvr>
                                      <p:to>
                                        <p:strVal val="visible"/>
                                      </p:to>
                                    </p:set>
                                    <p:anim calcmode="lin" valueType="num">
                                      <p:cBhvr>
                                        <p:cTn id="22" dur="500" fill="hold"/>
                                        <p:tgtEl>
                                          <p:spTgt spid="5126"/>
                                        </p:tgtEl>
                                        <p:attrNameLst>
                                          <p:attrName>ppt_w</p:attrName>
                                        </p:attrNameLst>
                                      </p:cBhvr>
                                      <p:tavLst>
                                        <p:tav tm="0">
                                          <p:val>
                                            <p:strVal val="4/3*#ppt_w"/>
                                          </p:val>
                                        </p:tav>
                                        <p:tav tm="100000">
                                          <p:val>
                                            <p:strVal val="#ppt_w"/>
                                          </p:val>
                                        </p:tav>
                                      </p:tavLst>
                                    </p:anim>
                                    <p:anim calcmode="lin" valueType="num">
                                      <p:cBhvr>
                                        <p:cTn id="23" dur="500" fill="hold"/>
                                        <p:tgtEl>
                                          <p:spTgt spid="5126"/>
                                        </p:tgtEl>
                                        <p:attrNameLst>
                                          <p:attrName>ppt_h</p:attrName>
                                        </p:attrNameLst>
                                      </p:cBhvr>
                                      <p:tavLst>
                                        <p:tav tm="0">
                                          <p:val>
                                            <p:strVal val="4/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autoUpdateAnimBg="0"/>
      <p:bldP spid="5124" grpId="0" autoUpdateAnimBg="0"/>
      <p:bldP spid="5125" grpId="0" autoUpdateAnimBg="0"/>
      <p:bldP spid="5126" grpId="0" autoUpdateAnimBg="0"/>
    </p:bldLst>
  </p:timing>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Rot="1" noChangeArrowheads="1"/>
          </p:cNvSpPr>
          <p:nvPr/>
        </p:nvSpPr>
        <p:spPr bwMode="auto">
          <a:xfrm>
            <a:off x="762000" y="166688"/>
            <a:ext cx="8081963" cy="1281112"/>
          </a:xfrm>
          <a:prstGeom prst="rect">
            <a:avLst/>
          </a:prstGeom>
          <a:noFill/>
          <a:ln w="9525">
            <a:noFill/>
            <a:miter lim="800000"/>
            <a:headEnd/>
            <a:tailEnd/>
          </a:ln>
        </p:spPr>
        <p:txBody>
          <a:bodyPr lIns="98225" tIns="49112" rIns="98225" bIns="49112" anchor="ctr"/>
          <a:lstStyle/>
          <a:p>
            <a:pPr algn="ctr"/>
            <a:r>
              <a:rPr lang="en-US" sz="5400" b="1">
                <a:solidFill>
                  <a:schemeClr val="tx2"/>
                </a:solidFill>
                <a:latin typeface="Bookman Old Style" pitchFamily="18" charset="0"/>
              </a:rPr>
              <a:t>Manipulators</a:t>
            </a:r>
          </a:p>
        </p:txBody>
      </p:sp>
      <p:sp>
        <p:nvSpPr>
          <p:cNvPr id="4099" name="Rectangle 3"/>
          <p:cNvSpPr>
            <a:spLocks noChangeArrowheads="1"/>
          </p:cNvSpPr>
          <p:nvPr/>
        </p:nvSpPr>
        <p:spPr bwMode="auto">
          <a:xfrm>
            <a:off x="609600" y="1554163"/>
            <a:ext cx="8081963" cy="4846637"/>
          </a:xfrm>
          <a:prstGeom prst="rect">
            <a:avLst/>
          </a:prstGeom>
          <a:noFill/>
          <a:ln w="9525">
            <a:solidFill>
              <a:srgbClr val="008000"/>
            </a:solidFill>
            <a:miter lim="800000"/>
            <a:headEnd/>
            <a:tailEnd/>
          </a:ln>
        </p:spPr>
        <p:txBody>
          <a:bodyPr lIns="98225" tIns="49112" rIns="98225" bIns="49112"/>
          <a:lstStyle/>
          <a:p>
            <a:pPr marL="342900" indent="-342900">
              <a:lnSpc>
                <a:spcPct val="125000"/>
              </a:lnSpc>
              <a:spcBef>
                <a:spcPct val="25000"/>
              </a:spcBef>
            </a:pPr>
            <a:r>
              <a:rPr lang="en-US" b="1">
                <a:solidFill>
                  <a:srgbClr val="800000"/>
                </a:solidFill>
              </a:rPr>
              <a:t>		Manipulator function are special stream functions that change</a:t>
            </a:r>
          </a:p>
          <a:p>
            <a:pPr marL="342900" indent="-342900">
              <a:lnSpc>
                <a:spcPct val="125000"/>
              </a:lnSpc>
              <a:spcBef>
                <a:spcPct val="25000"/>
              </a:spcBef>
            </a:pPr>
            <a:r>
              <a:rPr lang="en-US" b="1">
                <a:solidFill>
                  <a:srgbClr val="800000"/>
                </a:solidFill>
              </a:rPr>
              <a:t> certain characteristics of input and output.</a:t>
            </a:r>
          </a:p>
          <a:p>
            <a:pPr marL="342900" indent="-342900">
              <a:lnSpc>
                <a:spcPct val="125000"/>
              </a:lnSpc>
              <a:spcBef>
                <a:spcPct val="25000"/>
              </a:spcBef>
            </a:pPr>
            <a:r>
              <a:rPr lang="en-US" b="1">
                <a:solidFill>
                  <a:srgbClr val="800000"/>
                </a:solidFill>
              </a:rPr>
              <a:t>		All the manipulator functions prototypes are defined in the	</a:t>
            </a:r>
          </a:p>
          <a:p>
            <a:pPr marL="342900" indent="-342900">
              <a:lnSpc>
                <a:spcPct val="125000"/>
              </a:lnSpc>
              <a:spcBef>
                <a:spcPct val="25000"/>
              </a:spcBef>
            </a:pPr>
            <a:r>
              <a:rPr lang="en-US" sz="2400" b="1">
                <a:solidFill>
                  <a:srgbClr val="800000"/>
                </a:solidFill>
              </a:rPr>
              <a:t> header file &lt;iomanip.h.&gt;</a:t>
            </a:r>
          </a:p>
          <a:p>
            <a:pPr marL="342900" indent="-342900">
              <a:lnSpc>
                <a:spcPct val="125000"/>
              </a:lnSpc>
              <a:spcBef>
                <a:spcPct val="25000"/>
              </a:spcBef>
            </a:pPr>
            <a:r>
              <a:rPr lang="en-US" sz="2000" b="1" u="sng">
                <a:solidFill>
                  <a:srgbClr val="800000"/>
                </a:solidFill>
              </a:rPr>
              <a:t>Some Examples are :</a:t>
            </a:r>
          </a:p>
          <a:p>
            <a:pPr marL="342900" indent="-342900">
              <a:lnSpc>
                <a:spcPct val="125000"/>
              </a:lnSpc>
              <a:spcBef>
                <a:spcPct val="25000"/>
              </a:spcBef>
              <a:buFont typeface="Wingdings" pitchFamily="2" charset="2"/>
              <a:buChar char="ü"/>
            </a:pPr>
            <a:r>
              <a:rPr lang="en-US" b="1">
                <a:solidFill>
                  <a:srgbClr val="800000"/>
                </a:solidFill>
              </a:rPr>
              <a:t>endl (new line character)</a:t>
            </a:r>
          </a:p>
          <a:p>
            <a:pPr marL="342900" indent="-342900">
              <a:lnSpc>
                <a:spcPct val="125000"/>
              </a:lnSpc>
              <a:spcBef>
                <a:spcPct val="25000"/>
              </a:spcBef>
              <a:buFont typeface="Wingdings" pitchFamily="2" charset="2"/>
              <a:buChar char="ü"/>
            </a:pPr>
            <a:r>
              <a:rPr lang="en-US" b="1">
                <a:solidFill>
                  <a:srgbClr val="800000"/>
                </a:solidFill>
              </a:rPr>
              <a:t>setbase(covert the base value in to another bases value)</a:t>
            </a:r>
          </a:p>
          <a:p>
            <a:pPr marL="342900" indent="-342900">
              <a:lnSpc>
                <a:spcPct val="125000"/>
              </a:lnSpc>
              <a:spcBef>
                <a:spcPct val="25000"/>
              </a:spcBef>
              <a:buFont typeface="Wingdings" pitchFamily="2" charset="2"/>
              <a:buChar char="ü"/>
            </a:pPr>
            <a:r>
              <a:rPr lang="en-US" b="1">
                <a:solidFill>
                  <a:srgbClr val="800000"/>
                </a:solidFill>
              </a:rPr>
              <a:t>setw( set the width of the output)</a:t>
            </a:r>
          </a:p>
          <a:p>
            <a:pPr marL="342900" indent="-342900">
              <a:lnSpc>
                <a:spcPct val="125000"/>
              </a:lnSpc>
              <a:spcBef>
                <a:spcPct val="25000"/>
              </a:spcBef>
              <a:buFont typeface="Wingdings" pitchFamily="2" charset="2"/>
              <a:buChar char="ü"/>
            </a:pPr>
            <a:r>
              <a:rPr lang="en-US" b="1">
                <a:solidFill>
                  <a:srgbClr val="800000"/>
                </a:solidFill>
              </a:rPr>
              <a:t>setfill(fills the given character in the unused field)</a:t>
            </a:r>
          </a:p>
          <a:p>
            <a:pPr marL="342900" indent="-342900">
              <a:lnSpc>
                <a:spcPct val="125000"/>
              </a:lnSpc>
              <a:spcBef>
                <a:spcPct val="25000"/>
              </a:spcBef>
              <a:buFont typeface="Wingdings" pitchFamily="2" charset="2"/>
              <a:buChar char="ü"/>
            </a:pPr>
            <a:r>
              <a:rPr lang="en-US" b="1">
                <a:solidFill>
                  <a:srgbClr val="800000"/>
                </a:solidFill>
              </a:rPr>
              <a:t>setprecision(displays the number of digits after the decimal point in the floating numbers)</a:t>
            </a:r>
            <a:r>
              <a:rPr lang="en-US" sz="1600" b="1">
                <a:solidFill>
                  <a:srgbClr val="800000"/>
                </a:solidFill>
              </a:rPr>
              <a:t>.</a:t>
            </a:r>
          </a:p>
        </p:txBody>
      </p:sp>
      <p:sp>
        <p:nvSpPr>
          <p:cNvPr id="4100" name="AutoShape 4"/>
          <p:cNvSpPr>
            <a:spLocks noChangeArrowheads="1"/>
          </p:cNvSpPr>
          <p:nvPr/>
        </p:nvSpPr>
        <p:spPr bwMode="auto">
          <a:xfrm>
            <a:off x="1524000" y="457200"/>
            <a:ext cx="6629400" cy="838200"/>
          </a:xfrm>
          <a:prstGeom prst="flowChartPredefinedProcess">
            <a:avLst/>
          </a:prstGeom>
          <a:noFill/>
          <a:ln w="38100">
            <a:solidFill>
              <a:schemeClr val="tx1"/>
            </a:solidFill>
            <a:miter lim="800000"/>
            <a:headEnd/>
            <a:tailEnd/>
          </a:ln>
        </p:spPr>
        <p:txBody>
          <a:bodyPr wrap="none" anchor="ctr"/>
          <a:lstStyle/>
          <a:p>
            <a:endParaRPr lang="en-US"/>
          </a:p>
        </p:txBody>
      </p:sp>
    </p:spTree>
  </p:cSld>
  <p:clrMapOvr>
    <a:masterClrMapping/>
  </p:clrMapOvr>
  <p:transition/>
  <p:timing>
    <p:tnLst>
      <p:par>
        <p:cTn id="1" dur="indefinite" restart="never" nodeType="tmRoot"/>
      </p:par>
    </p:tnLst>
  </p:timing>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ChangeArrowheads="1"/>
          </p:cNvSpPr>
          <p:nvPr/>
        </p:nvSpPr>
        <p:spPr bwMode="auto">
          <a:xfrm>
            <a:off x="228600" y="533400"/>
            <a:ext cx="8686800" cy="5702300"/>
          </a:xfrm>
          <a:prstGeom prst="rect">
            <a:avLst/>
          </a:prstGeom>
          <a:noFill/>
          <a:ln w="9525">
            <a:solidFill>
              <a:srgbClr val="CC0099"/>
            </a:solidFill>
            <a:miter lim="800000"/>
            <a:headEnd/>
            <a:tailEnd/>
          </a:ln>
        </p:spPr>
        <p:txBody>
          <a:bodyPr>
            <a:spAutoFit/>
          </a:bodyPr>
          <a:lstStyle/>
          <a:p>
            <a:pPr algn="just" eaLnBrk="0" hangingPunct="0"/>
            <a:r>
              <a:rPr lang="en-US" sz="2800" b="1">
                <a:solidFill>
                  <a:srgbClr val="FF0066"/>
                </a:solidFill>
                <a:latin typeface="Times New Roman" pitchFamily="18" charset="0"/>
              </a:rPr>
              <a:t>setfill(char):it can be used to fills the given character in the unused field  </a:t>
            </a:r>
          </a:p>
          <a:p>
            <a:pPr eaLnBrk="0" hangingPunct="0"/>
            <a:r>
              <a:rPr lang="en-US" sz="2400" b="1">
                <a:solidFill>
                  <a:srgbClr val="800000"/>
                </a:solidFill>
                <a:latin typeface="Times New Roman" pitchFamily="18" charset="0"/>
              </a:rPr>
              <a:t>#include&lt;iostream.h&gt;</a:t>
            </a:r>
          </a:p>
          <a:p>
            <a:pPr eaLnBrk="0" hangingPunct="0"/>
            <a:r>
              <a:rPr lang="en-US" sz="2400" b="1">
                <a:solidFill>
                  <a:srgbClr val="800000"/>
                </a:solidFill>
                <a:latin typeface="Times New Roman" pitchFamily="18" charset="0"/>
              </a:rPr>
              <a:t>#include&lt;iomanip.h&gt;</a:t>
            </a:r>
          </a:p>
          <a:p>
            <a:pPr eaLnBrk="0" hangingPunct="0"/>
            <a:r>
              <a:rPr lang="en-US" sz="2400" b="1">
                <a:solidFill>
                  <a:srgbClr val="800000"/>
                </a:solidFill>
                <a:latin typeface="Times New Roman" pitchFamily="18" charset="0"/>
              </a:rPr>
              <a:t>#include&lt;conio.h&gt;</a:t>
            </a:r>
          </a:p>
          <a:p>
            <a:pPr eaLnBrk="0" hangingPunct="0"/>
            <a:r>
              <a:rPr lang="en-US" sz="2400" b="1">
                <a:solidFill>
                  <a:srgbClr val="800000"/>
                </a:solidFill>
                <a:latin typeface="Times New Roman" pitchFamily="18" charset="0"/>
              </a:rPr>
              <a:t>void main()</a:t>
            </a:r>
          </a:p>
          <a:p>
            <a:pPr eaLnBrk="0" hangingPunct="0"/>
            <a:r>
              <a:rPr lang="en-US" sz="2400" b="1">
                <a:solidFill>
                  <a:srgbClr val="800000"/>
                </a:solidFill>
                <a:latin typeface="Times New Roman" pitchFamily="18" charset="0"/>
              </a:rPr>
              <a:t>{</a:t>
            </a:r>
          </a:p>
          <a:p>
            <a:pPr eaLnBrk="0" hangingPunct="0"/>
            <a:r>
              <a:rPr lang="en-US" sz="2400" b="1">
                <a:solidFill>
                  <a:srgbClr val="800000"/>
                </a:solidFill>
                <a:latin typeface="Times New Roman" pitchFamily="18" charset="0"/>
              </a:rPr>
              <a:t> int a=10,b=20;</a:t>
            </a:r>
          </a:p>
          <a:p>
            <a:pPr eaLnBrk="0" hangingPunct="0"/>
            <a:r>
              <a:rPr lang="en-US" sz="2400" b="1">
                <a:solidFill>
                  <a:srgbClr val="800000"/>
                </a:solidFill>
                <a:latin typeface="Times New Roman" pitchFamily="18" charset="0"/>
              </a:rPr>
              <a:t> clrscr();</a:t>
            </a:r>
          </a:p>
          <a:p>
            <a:pPr eaLnBrk="0" hangingPunct="0"/>
            <a:r>
              <a:rPr lang="en-US" sz="2400" b="1">
                <a:solidFill>
                  <a:srgbClr val="800000"/>
                </a:solidFill>
                <a:latin typeface="Times New Roman" pitchFamily="18" charset="0"/>
              </a:rPr>
              <a:t> cout&lt;&lt;setfill('*');</a:t>
            </a:r>
          </a:p>
          <a:p>
            <a:pPr eaLnBrk="0" hangingPunct="0"/>
            <a:r>
              <a:rPr lang="en-US" sz="2400" b="1">
                <a:solidFill>
                  <a:srgbClr val="800000"/>
                </a:solidFill>
                <a:latin typeface="Times New Roman" pitchFamily="18" charset="0"/>
              </a:rPr>
              <a:t> cout&lt;&lt;setw(5)&lt;&lt;a&lt;&lt;setw(5)&lt;&lt;b&lt;&lt;endl;</a:t>
            </a:r>
          </a:p>
          <a:p>
            <a:pPr eaLnBrk="0" hangingPunct="0"/>
            <a:r>
              <a:rPr lang="en-US" sz="2400" b="1">
                <a:solidFill>
                  <a:srgbClr val="800000"/>
                </a:solidFill>
                <a:latin typeface="Times New Roman" pitchFamily="18" charset="0"/>
              </a:rPr>
              <a:t> cout&lt;&lt;setfill('$');</a:t>
            </a:r>
          </a:p>
          <a:p>
            <a:pPr eaLnBrk="0" hangingPunct="0"/>
            <a:r>
              <a:rPr lang="en-US" sz="2400" b="1">
                <a:solidFill>
                  <a:srgbClr val="800000"/>
                </a:solidFill>
                <a:latin typeface="Times New Roman" pitchFamily="18" charset="0"/>
              </a:rPr>
              <a:t> cout&lt;&lt;setw(7)&lt;&lt;a&lt;&lt;setw(7)&lt;&lt;b&lt;&lt;endl;</a:t>
            </a:r>
          </a:p>
          <a:p>
            <a:pPr eaLnBrk="0" hangingPunct="0"/>
            <a:r>
              <a:rPr lang="en-US" sz="2400" b="1">
                <a:solidFill>
                  <a:srgbClr val="800000"/>
                </a:solidFill>
                <a:latin typeface="Times New Roman" pitchFamily="18" charset="0"/>
              </a:rPr>
              <a:t> getche();</a:t>
            </a:r>
          </a:p>
          <a:p>
            <a:pPr eaLnBrk="0" hangingPunct="0"/>
            <a:r>
              <a:rPr lang="en-US" sz="2400" b="1">
                <a:solidFill>
                  <a:srgbClr val="800000"/>
                </a:solidFill>
                <a:latin typeface="Times New Roman" pitchFamily="18" charset="0"/>
              </a:rPr>
              <a:t> }</a:t>
            </a:r>
          </a:p>
        </p:txBody>
      </p:sp>
    </p:spTree>
  </p:cSld>
  <p:clrMapOvr>
    <a:masterClrMapping/>
  </p:clrMapOvr>
  <p:timing>
    <p:tnLst>
      <p:par>
        <p:cTn id="1" dur="indefinite" restart="never" nodeType="tmRoot"/>
      </p:par>
    </p:tnLst>
  </p:timing>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ChangeArrowheads="1"/>
          </p:cNvSpPr>
          <p:nvPr/>
        </p:nvSpPr>
        <p:spPr bwMode="auto">
          <a:xfrm>
            <a:off x="990600" y="1066800"/>
            <a:ext cx="6553200" cy="4972050"/>
          </a:xfrm>
          <a:prstGeom prst="rect">
            <a:avLst/>
          </a:prstGeom>
          <a:noFill/>
          <a:ln w="9525">
            <a:solidFill>
              <a:srgbClr val="3333CC"/>
            </a:solidFill>
            <a:miter lim="800000"/>
            <a:headEnd/>
            <a:tailEnd/>
          </a:ln>
        </p:spPr>
        <p:txBody>
          <a:bodyPr>
            <a:spAutoFit/>
          </a:bodyPr>
          <a:lstStyle/>
          <a:p>
            <a:pPr eaLnBrk="0" hangingPunct="0"/>
            <a:r>
              <a:rPr lang="en-US" sz="2800" b="1">
                <a:solidFill>
                  <a:srgbClr val="FF0066"/>
                </a:solidFill>
                <a:latin typeface="Times New Roman" pitchFamily="18" charset="0"/>
              </a:rPr>
              <a:t>setw():   it can be used to set the width of the output field</a:t>
            </a:r>
          </a:p>
          <a:p>
            <a:pPr eaLnBrk="0" hangingPunct="0"/>
            <a:r>
              <a:rPr lang="en-US" sz="2400" b="1">
                <a:solidFill>
                  <a:srgbClr val="800000"/>
                </a:solidFill>
                <a:latin typeface="Times New Roman" pitchFamily="18" charset="0"/>
              </a:rPr>
              <a:t>#include&lt;iostream.h&gt;</a:t>
            </a:r>
          </a:p>
          <a:p>
            <a:pPr eaLnBrk="0" hangingPunct="0"/>
            <a:r>
              <a:rPr lang="en-US" sz="2400" b="1">
                <a:solidFill>
                  <a:srgbClr val="800000"/>
                </a:solidFill>
                <a:latin typeface="Times New Roman" pitchFamily="18" charset="0"/>
              </a:rPr>
              <a:t>#include&lt;iomanip.h&gt;</a:t>
            </a:r>
          </a:p>
          <a:p>
            <a:pPr eaLnBrk="0" hangingPunct="0"/>
            <a:r>
              <a:rPr lang="en-US" sz="2400" b="1">
                <a:solidFill>
                  <a:srgbClr val="800000"/>
                </a:solidFill>
                <a:latin typeface="Times New Roman" pitchFamily="18" charset="0"/>
              </a:rPr>
              <a:t>#include&lt;conio.h&gt;</a:t>
            </a:r>
          </a:p>
          <a:p>
            <a:pPr eaLnBrk="0" hangingPunct="0"/>
            <a:r>
              <a:rPr lang="en-US" sz="2400" b="1">
                <a:solidFill>
                  <a:srgbClr val="800000"/>
                </a:solidFill>
                <a:latin typeface="Times New Roman" pitchFamily="18" charset="0"/>
              </a:rPr>
              <a:t>void main()</a:t>
            </a:r>
          </a:p>
          <a:p>
            <a:pPr eaLnBrk="0" hangingPunct="0"/>
            <a:r>
              <a:rPr lang="en-US" sz="2400" b="1">
                <a:solidFill>
                  <a:srgbClr val="800000"/>
                </a:solidFill>
                <a:latin typeface="Times New Roman" pitchFamily="18" charset="0"/>
              </a:rPr>
              <a:t>{</a:t>
            </a:r>
          </a:p>
          <a:p>
            <a:pPr eaLnBrk="0" hangingPunct="0"/>
            <a:r>
              <a:rPr lang="en-US" sz="2400" b="1">
                <a:solidFill>
                  <a:srgbClr val="800000"/>
                </a:solidFill>
                <a:latin typeface="Times New Roman" pitchFamily="18" charset="0"/>
              </a:rPr>
              <a:t>int a=10,b=20;</a:t>
            </a:r>
          </a:p>
          <a:p>
            <a:pPr eaLnBrk="0" hangingPunct="0"/>
            <a:r>
              <a:rPr lang="en-US" sz="2400" b="1">
                <a:solidFill>
                  <a:srgbClr val="800000"/>
                </a:solidFill>
                <a:latin typeface="Times New Roman" pitchFamily="18" charset="0"/>
              </a:rPr>
              <a:t>clrscr();</a:t>
            </a:r>
          </a:p>
          <a:p>
            <a:pPr eaLnBrk="0" hangingPunct="0"/>
            <a:r>
              <a:rPr lang="en-US" sz="2400" b="1">
                <a:solidFill>
                  <a:srgbClr val="800000"/>
                </a:solidFill>
                <a:latin typeface="Times New Roman" pitchFamily="18" charset="0"/>
              </a:rPr>
              <a:t>cout&lt;&lt;setw(5)&lt;&lt;a&lt;&lt;setw(5)&lt;&lt;b&lt;&lt;endl;</a:t>
            </a:r>
          </a:p>
          <a:p>
            <a:pPr eaLnBrk="0" hangingPunct="0"/>
            <a:r>
              <a:rPr lang="en-US" sz="2400" b="1">
                <a:solidFill>
                  <a:srgbClr val="800000"/>
                </a:solidFill>
                <a:latin typeface="Times New Roman" pitchFamily="18" charset="0"/>
              </a:rPr>
              <a:t>cout&lt;&lt;setw(15)&lt;&lt;a&lt;&lt;setw(15)&lt;&lt;b&lt;&lt;endl;</a:t>
            </a:r>
          </a:p>
          <a:p>
            <a:pPr eaLnBrk="0" hangingPunct="0"/>
            <a:r>
              <a:rPr lang="en-US" sz="2400" b="1">
                <a:solidFill>
                  <a:srgbClr val="800000"/>
                </a:solidFill>
                <a:latin typeface="Times New Roman" pitchFamily="18" charset="0"/>
              </a:rPr>
              <a:t>getche();</a:t>
            </a:r>
          </a:p>
          <a:p>
            <a:pPr eaLnBrk="0" hangingPunct="0"/>
            <a:r>
              <a:rPr lang="en-US" sz="2400" b="1">
                <a:solidFill>
                  <a:srgbClr val="800000"/>
                </a:solidFill>
                <a:latin typeface="Times New Roman" pitchFamily="18" charset="0"/>
              </a:rPr>
              <a:t>}</a:t>
            </a:r>
          </a:p>
        </p:txBody>
      </p:sp>
    </p:spTree>
  </p:cSld>
  <p:clrMapOvr>
    <a:masterClrMapping/>
  </p:clrMapOvr>
  <p:timing>
    <p:tnLst>
      <p:par>
        <p:cTn id="1" dur="indefinite" restart="never" nodeType="tmRoot"/>
      </p:par>
    </p:tnLst>
  </p:timing>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ChangeArrowheads="1"/>
          </p:cNvSpPr>
          <p:nvPr/>
        </p:nvSpPr>
        <p:spPr bwMode="auto">
          <a:xfrm>
            <a:off x="304800" y="152400"/>
            <a:ext cx="8153400" cy="6632575"/>
          </a:xfrm>
          <a:prstGeom prst="rect">
            <a:avLst/>
          </a:prstGeom>
          <a:noFill/>
          <a:ln w="9525">
            <a:solidFill>
              <a:srgbClr val="3333CC"/>
            </a:solidFill>
            <a:miter lim="800000"/>
            <a:headEnd/>
            <a:tailEnd/>
          </a:ln>
        </p:spPr>
        <p:txBody>
          <a:bodyPr>
            <a:spAutoFit/>
          </a:bodyPr>
          <a:lstStyle/>
          <a:p>
            <a:pPr eaLnBrk="0" hangingPunct="0"/>
            <a:r>
              <a:rPr lang="en-US" sz="2800" b="1">
                <a:solidFill>
                  <a:srgbClr val="CC0066"/>
                </a:solidFill>
                <a:latin typeface="Times New Roman" pitchFamily="18" charset="0"/>
              </a:rPr>
              <a:t>setprecision():This manipulator control display the number of digits after the decimal point for the floating numbers</a:t>
            </a:r>
          </a:p>
          <a:p>
            <a:pPr eaLnBrk="0" hangingPunct="0"/>
            <a:endParaRPr lang="en-US" sz="2400" b="1">
              <a:solidFill>
                <a:srgbClr val="CC0066"/>
              </a:solidFill>
              <a:latin typeface="Times New Roman" pitchFamily="18" charset="0"/>
            </a:endParaRPr>
          </a:p>
          <a:p>
            <a:pPr eaLnBrk="0" hangingPunct="0"/>
            <a:r>
              <a:rPr lang="en-US" sz="2400" b="1">
                <a:solidFill>
                  <a:srgbClr val="800000"/>
                </a:solidFill>
                <a:latin typeface="Times New Roman" pitchFamily="18" charset="0"/>
              </a:rPr>
              <a:t>#include&lt;iostream.h&gt;</a:t>
            </a:r>
          </a:p>
          <a:p>
            <a:pPr eaLnBrk="0" hangingPunct="0"/>
            <a:r>
              <a:rPr lang="en-US" sz="2400" b="1">
                <a:solidFill>
                  <a:srgbClr val="800000"/>
                </a:solidFill>
                <a:latin typeface="Times New Roman" pitchFamily="18" charset="0"/>
              </a:rPr>
              <a:t>#include&lt;conio.h&gt;</a:t>
            </a:r>
          </a:p>
          <a:p>
            <a:pPr eaLnBrk="0" hangingPunct="0"/>
            <a:r>
              <a:rPr lang="en-US" sz="2400" b="1">
                <a:solidFill>
                  <a:srgbClr val="800000"/>
                </a:solidFill>
                <a:latin typeface="Times New Roman" pitchFamily="18" charset="0"/>
              </a:rPr>
              <a:t>#include&lt;iomanip.h&gt;</a:t>
            </a:r>
          </a:p>
          <a:p>
            <a:pPr eaLnBrk="0" hangingPunct="0"/>
            <a:r>
              <a:rPr lang="en-US" sz="2400" b="1">
                <a:solidFill>
                  <a:srgbClr val="800000"/>
                </a:solidFill>
                <a:latin typeface="Times New Roman" pitchFamily="18" charset="0"/>
              </a:rPr>
              <a:t>void main()</a:t>
            </a:r>
          </a:p>
          <a:p>
            <a:pPr eaLnBrk="0" hangingPunct="0"/>
            <a:r>
              <a:rPr lang="en-US" sz="2400" b="1">
                <a:solidFill>
                  <a:srgbClr val="800000"/>
                </a:solidFill>
                <a:latin typeface="Times New Roman" pitchFamily="18" charset="0"/>
              </a:rPr>
              <a:t>{</a:t>
            </a:r>
          </a:p>
          <a:p>
            <a:pPr eaLnBrk="0" hangingPunct="0"/>
            <a:r>
              <a:rPr lang="en-US" sz="2400" b="1">
                <a:solidFill>
                  <a:srgbClr val="800000"/>
                </a:solidFill>
                <a:latin typeface="Times New Roman" pitchFamily="18" charset="0"/>
              </a:rPr>
              <a:t> int a=10,b=3;</a:t>
            </a:r>
          </a:p>
          <a:p>
            <a:pPr eaLnBrk="0" hangingPunct="0"/>
            <a:r>
              <a:rPr lang="en-US" sz="2400" b="1">
                <a:solidFill>
                  <a:srgbClr val="800000"/>
                </a:solidFill>
                <a:latin typeface="Times New Roman" pitchFamily="18" charset="0"/>
              </a:rPr>
              <a:t> clrscr();</a:t>
            </a:r>
          </a:p>
          <a:p>
            <a:pPr eaLnBrk="0" hangingPunct="0"/>
            <a:r>
              <a:rPr lang="en-US" sz="2400" b="1">
                <a:solidFill>
                  <a:srgbClr val="800000"/>
                </a:solidFill>
                <a:latin typeface="Times New Roman" pitchFamily="18" charset="0"/>
              </a:rPr>
              <a:t> float c=(float)a/b;		//Casting Type</a:t>
            </a:r>
          </a:p>
          <a:p>
            <a:pPr eaLnBrk="0" hangingPunct="0"/>
            <a:r>
              <a:rPr lang="en-US" sz="2400" b="1">
                <a:solidFill>
                  <a:srgbClr val="800000"/>
                </a:solidFill>
                <a:latin typeface="Times New Roman" pitchFamily="18" charset="0"/>
              </a:rPr>
              <a:t> cout&lt;&lt;setprecision(1)&lt;&lt;c&lt;&lt;endl;</a:t>
            </a:r>
          </a:p>
          <a:p>
            <a:pPr eaLnBrk="0" hangingPunct="0"/>
            <a:r>
              <a:rPr lang="en-US" sz="2400" b="1">
                <a:solidFill>
                  <a:srgbClr val="800000"/>
                </a:solidFill>
                <a:latin typeface="Times New Roman" pitchFamily="18" charset="0"/>
              </a:rPr>
              <a:t> cout&lt;&lt;setprecision(2)&lt;&lt;c&lt;&lt;endl;</a:t>
            </a:r>
          </a:p>
          <a:p>
            <a:pPr eaLnBrk="0" hangingPunct="0"/>
            <a:r>
              <a:rPr lang="en-US" sz="2400" b="1">
                <a:solidFill>
                  <a:srgbClr val="800000"/>
                </a:solidFill>
                <a:latin typeface="Times New Roman" pitchFamily="18" charset="0"/>
              </a:rPr>
              <a:t> cout&lt;&lt;setprecision(3)&lt;&lt;c&lt;&lt;endl;</a:t>
            </a:r>
          </a:p>
          <a:p>
            <a:pPr eaLnBrk="0" hangingPunct="0"/>
            <a:r>
              <a:rPr lang="en-US" sz="2400" b="1">
                <a:solidFill>
                  <a:srgbClr val="800000"/>
                </a:solidFill>
                <a:latin typeface="Times New Roman" pitchFamily="18" charset="0"/>
              </a:rPr>
              <a:t> getche();</a:t>
            </a:r>
          </a:p>
          <a:p>
            <a:pPr eaLnBrk="0" hangingPunct="0"/>
            <a:r>
              <a:rPr lang="en-US" sz="2400" b="1">
                <a:solidFill>
                  <a:srgbClr val="800000"/>
                </a:solidFill>
                <a:latin typeface="Times New Roman" pitchFamily="18" charset="0"/>
              </a:rPr>
              <a:t> }</a:t>
            </a:r>
          </a:p>
        </p:txBody>
      </p:sp>
    </p:spTree>
  </p:cSld>
  <p:clrMapOvr>
    <a:masterClrMapping/>
  </p:clrMapOvr>
  <p:timing>
    <p:tnLst>
      <p:par>
        <p:cTn id="1" dur="indefinite" restart="never" nodeType="tmRoot"/>
      </p:par>
    </p:tnLst>
  </p:timing>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p:cNvSpPr txBox="1">
            <a:spLocks noChangeArrowheads="1"/>
          </p:cNvSpPr>
          <p:nvPr/>
        </p:nvSpPr>
        <p:spPr bwMode="auto">
          <a:xfrm>
            <a:off x="457200" y="1447800"/>
            <a:ext cx="8534400" cy="2138363"/>
          </a:xfrm>
          <a:prstGeom prst="rect">
            <a:avLst/>
          </a:prstGeom>
          <a:noFill/>
          <a:ln w="9525">
            <a:noFill/>
            <a:miter lim="800000"/>
            <a:headEnd/>
            <a:tailEnd/>
          </a:ln>
        </p:spPr>
        <p:txBody>
          <a:bodyPr>
            <a:spAutoFit/>
          </a:bodyPr>
          <a:lstStyle/>
          <a:p>
            <a:pPr algn="just" eaLnBrk="0" hangingPunct="0">
              <a:spcBef>
                <a:spcPct val="25000"/>
              </a:spcBef>
              <a:spcAft>
                <a:spcPct val="35000"/>
              </a:spcAft>
              <a:buFont typeface="Wingdings" pitchFamily="2" charset="2"/>
              <a:buChar char="ü"/>
            </a:pPr>
            <a:r>
              <a:rPr lang="en-US" sz="2400" b="1">
                <a:solidFill>
                  <a:srgbClr val="660033"/>
                </a:solidFill>
                <a:latin typeface="Times New Roman" pitchFamily="18" charset="0"/>
              </a:rPr>
              <a:t>  These are special functions that are used with cout statements for getting formatted outputs</a:t>
            </a:r>
          </a:p>
          <a:p>
            <a:pPr algn="just" eaLnBrk="0" hangingPunct="0">
              <a:spcBef>
                <a:spcPct val="25000"/>
              </a:spcBef>
              <a:spcAft>
                <a:spcPct val="35000"/>
              </a:spcAft>
              <a:buFont typeface="Wingdings" pitchFamily="2" charset="2"/>
              <a:buChar char="ü"/>
            </a:pPr>
            <a:r>
              <a:rPr lang="en-US" sz="2400" b="1">
                <a:solidFill>
                  <a:srgbClr val="660033"/>
                </a:solidFill>
                <a:latin typeface="Times New Roman" pitchFamily="18" charset="0"/>
              </a:rPr>
              <a:t>  The ios base class contains member functions like width(),precision(),file(),setf() and unsetf() to display formatted output</a:t>
            </a:r>
          </a:p>
        </p:txBody>
      </p:sp>
      <p:sp>
        <p:nvSpPr>
          <p:cNvPr id="8195" name="WordArt 3"/>
          <p:cNvSpPr>
            <a:spLocks noChangeArrowheads="1" noChangeShapeType="1" noTextEdit="1"/>
          </p:cNvSpPr>
          <p:nvPr/>
        </p:nvSpPr>
        <p:spPr bwMode="auto">
          <a:xfrm>
            <a:off x="2590800" y="228600"/>
            <a:ext cx="3200400" cy="914400"/>
          </a:xfrm>
          <a:prstGeom prst="rect">
            <a:avLst/>
          </a:prstGeom>
        </p:spPr>
        <p:txBody>
          <a:bodyPr wrap="none" fromWordArt="1">
            <a:prstTxWarp prst="textCanUp">
              <a:avLst>
                <a:gd name="adj" fmla="val 85713"/>
              </a:avLst>
            </a:prstTxWarp>
          </a:bodyPr>
          <a:lstStyle/>
          <a:p>
            <a:pPr algn="ctr"/>
            <a:r>
              <a:rPr lang="en-IN"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a:rPr>
              <a:t>Summary</a:t>
            </a:r>
          </a:p>
        </p:txBody>
      </p:sp>
      <p:sp>
        <p:nvSpPr>
          <p:cNvPr id="8196" name="Rectangle 4"/>
          <p:cNvSpPr>
            <a:spLocks noChangeArrowheads="1"/>
          </p:cNvSpPr>
          <p:nvPr/>
        </p:nvSpPr>
        <p:spPr bwMode="auto">
          <a:xfrm>
            <a:off x="304800" y="1295400"/>
            <a:ext cx="8763000" cy="2590800"/>
          </a:xfrm>
          <a:prstGeom prst="rect">
            <a:avLst/>
          </a:prstGeom>
          <a:noFill/>
          <a:ln w="57150" cmpd="thickThin">
            <a:solidFill>
              <a:srgbClr val="990033"/>
            </a:solidFill>
            <a:miter lim="800000"/>
            <a:headEnd/>
            <a:tailEnd/>
          </a:ln>
        </p:spPr>
        <p:txBody>
          <a:bodyPr wrap="none" anchor="ctr"/>
          <a:lstStyle/>
          <a:p>
            <a:pPr algn="ctr" eaLnBrk="0" hangingPunct="0"/>
            <a:endParaRPr lang="en-US">
              <a:solidFill>
                <a:srgbClr val="800000"/>
              </a:solidFill>
              <a:latin typeface="Verdana" pitchFamily="34" charset="0"/>
            </a:endParaRPr>
          </a:p>
        </p:txBody>
      </p:sp>
    </p:spTree>
  </p:cSld>
  <p:clrMapOvr>
    <a:masterClrMapping/>
  </p:clrMapOvr>
  <p:timing>
    <p:tnLst>
      <p:par>
        <p:cTn id="1" dur="indefinite" restart="never" nodeType="tmRoot"/>
      </p:par>
    </p:tnLst>
  </p:timing>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WordArt 2"/>
          <p:cNvSpPr>
            <a:spLocks noChangeArrowheads="1" noChangeShapeType="1" noTextEdit="1"/>
          </p:cNvSpPr>
          <p:nvPr/>
        </p:nvSpPr>
        <p:spPr bwMode="auto">
          <a:xfrm>
            <a:off x="1219200" y="3276600"/>
            <a:ext cx="7086600" cy="914400"/>
          </a:xfrm>
          <a:prstGeom prst="rect">
            <a:avLst/>
          </a:prstGeom>
        </p:spPr>
        <p:txBody>
          <a:bodyPr wrap="none" fromWordArt="1">
            <a:prstTxWarp prst="textChevron">
              <a:avLst>
                <a:gd name="adj" fmla="val 25000"/>
              </a:avLst>
            </a:prstTxWarp>
          </a:bodyPr>
          <a:lstStyle/>
          <a:p>
            <a:pPr algn="ctr"/>
            <a:r>
              <a:rPr lang="en-IN" sz="3600" kern="10">
                <a:ln w="12700">
                  <a:solidFill>
                    <a:srgbClr val="B2B2B2"/>
                  </a:solidFill>
                  <a:round/>
                  <a:headEnd/>
                  <a:tailEnd/>
                </a:ln>
                <a:solidFill>
                  <a:srgbClr val="FF0000"/>
                </a:solidFill>
                <a:effectLst>
                  <a:outerShdw dist="35921" dir="2700000" sy="50000" rotWithShape="0">
                    <a:srgbClr val="875B0D">
                      <a:alpha val="70000"/>
                    </a:srgbClr>
                  </a:outerShdw>
                </a:effectLst>
                <a:latin typeface="Arial Black"/>
              </a:rPr>
              <a:t>Dynamic Memory allocation</a:t>
            </a:r>
          </a:p>
        </p:txBody>
      </p:sp>
      <p:sp>
        <p:nvSpPr>
          <p:cNvPr id="2051" name="WordArt 3"/>
          <p:cNvSpPr>
            <a:spLocks noChangeArrowheads="1" noChangeShapeType="1" noTextEdit="1"/>
          </p:cNvSpPr>
          <p:nvPr/>
        </p:nvSpPr>
        <p:spPr bwMode="auto">
          <a:xfrm>
            <a:off x="3124200" y="1066800"/>
            <a:ext cx="2895600" cy="647700"/>
          </a:xfrm>
          <a:prstGeom prst="rect">
            <a:avLst/>
          </a:prstGeom>
        </p:spPr>
        <p:txBody>
          <a:bodyPr wrap="none" fromWordArt="1">
            <a:prstTxWarp prst="textPlain">
              <a:avLst>
                <a:gd name="adj" fmla="val 50000"/>
              </a:avLst>
            </a:prstTxWarp>
          </a:bodyPr>
          <a:lstStyle/>
          <a:p>
            <a:pPr algn="ctr"/>
            <a:r>
              <a:rPr lang="en-IN" sz="3600" kern="10">
                <a:ln w="9525">
                  <a:solidFill>
                    <a:srgbClr val="000000"/>
                  </a:solidFill>
                  <a:round/>
                  <a:headEnd/>
                  <a:tailEnd/>
                </a:ln>
                <a:solidFill>
                  <a:srgbClr val="A50021"/>
                </a:solidFill>
                <a:latin typeface="Arial Black"/>
              </a:rPr>
              <a:t>CHAPTER 13</a:t>
            </a:r>
          </a:p>
        </p:txBody>
      </p:sp>
    </p:spTree>
  </p:cSld>
  <p:clrMapOvr>
    <a:masterClrMapping/>
  </p:clrMapOvr>
  <p:timing>
    <p:tnLst>
      <p:par>
        <p:cTn id="1" dur="indefinite" restart="never" nodeType="tmRoot"/>
      </p:par>
    </p:tnLst>
  </p:timing>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
          <p:cNvSpPr txBox="1">
            <a:spLocks noChangeArrowheads="1"/>
          </p:cNvSpPr>
          <p:nvPr/>
        </p:nvSpPr>
        <p:spPr bwMode="auto">
          <a:xfrm>
            <a:off x="1876425" y="776288"/>
            <a:ext cx="5376863" cy="823912"/>
          </a:xfrm>
          <a:prstGeom prst="rect">
            <a:avLst/>
          </a:prstGeom>
          <a:solidFill>
            <a:srgbClr val="FF0000"/>
          </a:solidFill>
          <a:ln w="9525">
            <a:noFill/>
            <a:miter lim="800000"/>
            <a:headEnd/>
            <a:tailEnd/>
          </a:ln>
          <a:effectLst/>
        </p:spPr>
        <p:txBody>
          <a:bodyPr wrap="none">
            <a:spAutoFit/>
          </a:bodyPr>
          <a:lstStyle/>
          <a:p>
            <a:pPr>
              <a:defRPr/>
            </a:pPr>
            <a:r>
              <a:rPr lang="en-US" sz="4800" b="1">
                <a:solidFill>
                  <a:srgbClr val="66FFFF"/>
                </a:solidFill>
                <a:effectLst>
                  <a:outerShdw blurRad="38100" dist="38100" dir="2700000" algn="tl">
                    <a:srgbClr val="000000"/>
                  </a:outerShdw>
                </a:effectLst>
                <a:latin typeface="Arial Unicode MS" pitchFamily="34" charset="-128"/>
                <a:cs typeface="Times New Roman" pitchFamily="18" charset="0"/>
              </a:rPr>
              <a:t>Session Objectives</a:t>
            </a:r>
          </a:p>
        </p:txBody>
      </p:sp>
      <p:sp>
        <p:nvSpPr>
          <p:cNvPr id="5123" name="Text Box 3"/>
          <p:cNvSpPr txBox="1">
            <a:spLocks noChangeArrowheads="1"/>
          </p:cNvSpPr>
          <p:nvPr/>
        </p:nvSpPr>
        <p:spPr bwMode="auto">
          <a:xfrm>
            <a:off x="885825" y="2071688"/>
            <a:ext cx="8253413" cy="519112"/>
          </a:xfrm>
          <a:prstGeom prst="rect">
            <a:avLst/>
          </a:prstGeom>
          <a:noFill/>
          <a:ln w="9525">
            <a:noFill/>
            <a:miter lim="800000"/>
            <a:headEnd/>
            <a:tailEnd/>
          </a:ln>
        </p:spPr>
        <p:txBody>
          <a:bodyPr wrap="none">
            <a:spAutoFit/>
          </a:bodyPr>
          <a:lstStyle/>
          <a:p>
            <a:pPr>
              <a:buFontTx/>
              <a:buBlip>
                <a:blip r:embed="rId2"/>
              </a:buBlip>
            </a:pPr>
            <a:r>
              <a:rPr lang="en-US" sz="2800" b="1">
                <a:solidFill>
                  <a:srgbClr val="CC3300"/>
                </a:solidFill>
                <a:latin typeface="Times New Roman" pitchFamily="18" charset="0"/>
                <a:cs typeface="Times New Roman" pitchFamily="18" charset="0"/>
              </a:rPr>
              <a:t>   Discuss Dynamic memory management technique</a:t>
            </a:r>
          </a:p>
        </p:txBody>
      </p:sp>
      <p:sp>
        <p:nvSpPr>
          <p:cNvPr id="5124" name="Text Box 4"/>
          <p:cNvSpPr txBox="1">
            <a:spLocks noChangeArrowheads="1"/>
          </p:cNvSpPr>
          <p:nvPr/>
        </p:nvSpPr>
        <p:spPr bwMode="auto">
          <a:xfrm>
            <a:off x="885825" y="2833688"/>
            <a:ext cx="5521325" cy="519112"/>
          </a:xfrm>
          <a:prstGeom prst="rect">
            <a:avLst/>
          </a:prstGeom>
          <a:noFill/>
          <a:ln w="9525">
            <a:noFill/>
            <a:miter lim="800000"/>
            <a:headEnd/>
            <a:tailEnd/>
          </a:ln>
        </p:spPr>
        <p:txBody>
          <a:bodyPr wrap="none">
            <a:spAutoFit/>
          </a:bodyPr>
          <a:lstStyle/>
          <a:p>
            <a:pPr>
              <a:buFontTx/>
              <a:buBlip>
                <a:blip r:embed="rId2"/>
              </a:buBlip>
            </a:pPr>
            <a:r>
              <a:rPr lang="en-US" sz="2800" b="1">
                <a:solidFill>
                  <a:srgbClr val="CC3300"/>
                </a:solidFill>
                <a:latin typeface="Times New Roman" pitchFamily="18" charset="0"/>
                <a:cs typeface="Times New Roman" pitchFamily="18" charset="0"/>
              </a:rPr>
              <a:t>   Discuss New &amp; Delete Operator</a:t>
            </a:r>
          </a:p>
        </p:txBody>
      </p:sp>
      <p:sp>
        <p:nvSpPr>
          <p:cNvPr id="5125" name="Text Box 5"/>
          <p:cNvSpPr txBox="1">
            <a:spLocks noChangeArrowheads="1"/>
          </p:cNvSpPr>
          <p:nvPr/>
        </p:nvSpPr>
        <p:spPr bwMode="auto">
          <a:xfrm>
            <a:off x="962025" y="3748088"/>
            <a:ext cx="6038850" cy="519112"/>
          </a:xfrm>
          <a:prstGeom prst="rect">
            <a:avLst/>
          </a:prstGeom>
          <a:noFill/>
          <a:ln w="9525">
            <a:noFill/>
            <a:miter lim="800000"/>
            <a:headEnd/>
            <a:tailEnd/>
          </a:ln>
        </p:spPr>
        <p:txBody>
          <a:bodyPr wrap="none">
            <a:spAutoFit/>
          </a:bodyPr>
          <a:lstStyle/>
          <a:p>
            <a:pPr>
              <a:buFontTx/>
              <a:buBlip>
                <a:blip r:embed="rId2"/>
              </a:buBlip>
            </a:pPr>
            <a:r>
              <a:rPr lang="en-US" sz="2800" b="1">
                <a:solidFill>
                  <a:srgbClr val="CC3300"/>
                </a:solidFill>
                <a:latin typeface="Times New Roman" pitchFamily="18" charset="0"/>
                <a:cs typeface="Times New Roman" pitchFamily="18" charset="0"/>
              </a:rPr>
              <a:t>   Explain </a:t>
            </a:r>
            <a:r>
              <a:rPr lang="en-US" sz="2800" b="1">
                <a:solidFill>
                  <a:srgbClr val="CC3300"/>
                </a:solidFill>
                <a:latin typeface="Times New Roman" pitchFamily="18" charset="0"/>
              </a:rPr>
              <a:t>Class using NEW operator</a:t>
            </a:r>
          </a:p>
        </p:txBody>
      </p:sp>
      <p:sp>
        <p:nvSpPr>
          <p:cNvPr id="5126" name="Text Box 6"/>
          <p:cNvSpPr txBox="1">
            <a:spLocks noChangeArrowheads="1"/>
          </p:cNvSpPr>
          <p:nvPr/>
        </p:nvSpPr>
        <p:spPr bwMode="auto">
          <a:xfrm>
            <a:off x="990600" y="4586288"/>
            <a:ext cx="3878263" cy="519112"/>
          </a:xfrm>
          <a:prstGeom prst="rect">
            <a:avLst/>
          </a:prstGeom>
          <a:noFill/>
          <a:ln w="9525">
            <a:noFill/>
            <a:miter lim="800000"/>
            <a:headEnd/>
            <a:tailEnd/>
          </a:ln>
        </p:spPr>
        <p:txBody>
          <a:bodyPr wrap="none">
            <a:spAutoFit/>
          </a:bodyPr>
          <a:lstStyle/>
          <a:p>
            <a:pPr>
              <a:buFontTx/>
              <a:buBlip>
                <a:blip r:embed="rId2"/>
              </a:buBlip>
            </a:pPr>
            <a:r>
              <a:rPr lang="en-US" sz="2800" b="1">
                <a:solidFill>
                  <a:srgbClr val="CC3300"/>
                </a:solidFill>
                <a:latin typeface="Times New Roman" pitchFamily="18" charset="0"/>
                <a:cs typeface="Times New Roman" pitchFamily="18" charset="0"/>
              </a:rPr>
              <a:t>  </a:t>
            </a:r>
            <a:r>
              <a:rPr lang="en-US" sz="2800" b="1">
                <a:solidFill>
                  <a:srgbClr val="CC3300"/>
                </a:solidFill>
                <a:latin typeface="Times New Roman" pitchFamily="18" charset="0"/>
              </a:rPr>
              <a:t>Explain ‘this’ pointer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88" fill="hold" grpId="0" nodeType="afterEffect">
                                  <p:stCondLst>
                                    <p:cond delay="0"/>
                                  </p:stCondLst>
                                  <p:childTnLst>
                                    <p:set>
                                      <p:cBhvr>
                                        <p:cTn id="6" dur="1" fill="hold">
                                          <p:stCondLst>
                                            <p:cond delay="0"/>
                                          </p:stCondLst>
                                        </p:cTn>
                                        <p:tgtEl>
                                          <p:spTgt spid="5123"/>
                                        </p:tgtEl>
                                        <p:attrNameLst>
                                          <p:attrName>style.visibility</p:attrName>
                                        </p:attrNameLst>
                                      </p:cBhvr>
                                      <p:to>
                                        <p:strVal val="visible"/>
                                      </p:to>
                                    </p:set>
                                    <p:anim calcmode="lin" valueType="num">
                                      <p:cBhvr>
                                        <p:cTn id="7" dur="500" fill="hold"/>
                                        <p:tgtEl>
                                          <p:spTgt spid="5123"/>
                                        </p:tgtEl>
                                        <p:attrNameLst>
                                          <p:attrName>ppt_w</p:attrName>
                                        </p:attrNameLst>
                                      </p:cBhvr>
                                      <p:tavLst>
                                        <p:tav tm="0">
                                          <p:val>
                                            <p:strVal val="4/3*#ppt_w"/>
                                          </p:val>
                                        </p:tav>
                                        <p:tav tm="100000">
                                          <p:val>
                                            <p:strVal val="#ppt_w"/>
                                          </p:val>
                                        </p:tav>
                                      </p:tavLst>
                                    </p:anim>
                                    <p:anim calcmode="lin" valueType="num">
                                      <p:cBhvr>
                                        <p:cTn id="8" dur="500" fill="hold"/>
                                        <p:tgtEl>
                                          <p:spTgt spid="5123"/>
                                        </p:tgtEl>
                                        <p:attrNameLst>
                                          <p:attrName>ppt_h</p:attrName>
                                        </p:attrNameLst>
                                      </p:cBhvr>
                                      <p:tavLst>
                                        <p:tav tm="0">
                                          <p:val>
                                            <p:strVal val="4/3*#ppt_h"/>
                                          </p:val>
                                        </p:tav>
                                        <p:tav tm="100000">
                                          <p:val>
                                            <p:strVal val="#ppt_h"/>
                                          </p:val>
                                        </p:tav>
                                      </p:tavLst>
                                    </p:anim>
                                  </p:childTnLst>
                                </p:cTn>
                              </p:par>
                            </p:childTnLst>
                          </p:cTn>
                        </p:par>
                        <p:par>
                          <p:cTn id="9" fill="hold">
                            <p:stCondLst>
                              <p:cond delay="500"/>
                            </p:stCondLst>
                            <p:childTnLst>
                              <p:par>
                                <p:cTn id="10" presetID="23" presetClass="entr" presetSubtype="288" fill="hold" grpId="0" nodeType="afterEffect">
                                  <p:stCondLst>
                                    <p:cond delay="0"/>
                                  </p:stCondLst>
                                  <p:childTnLst>
                                    <p:set>
                                      <p:cBhvr>
                                        <p:cTn id="11" dur="1" fill="hold">
                                          <p:stCondLst>
                                            <p:cond delay="0"/>
                                          </p:stCondLst>
                                        </p:cTn>
                                        <p:tgtEl>
                                          <p:spTgt spid="5124"/>
                                        </p:tgtEl>
                                        <p:attrNameLst>
                                          <p:attrName>style.visibility</p:attrName>
                                        </p:attrNameLst>
                                      </p:cBhvr>
                                      <p:to>
                                        <p:strVal val="visible"/>
                                      </p:to>
                                    </p:set>
                                    <p:anim calcmode="lin" valueType="num">
                                      <p:cBhvr>
                                        <p:cTn id="12" dur="500" fill="hold"/>
                                        <p:tgtEl>
                                          <p:spTgt spid="5124"/>
                                        </p:tgtEl>
                                        <p:attrNameLst>
                                          <p:attrName>ppt_w</p:attrName>
                                        </p:attrNameLst>
                                      </p:cBhvr>
                                      <p:tavLst>
                                        <p:tav tm="0">
                                          <p:val>
                                            <p:strVal val="4/3*#ppt_w"/>
                                          </p:val>
                                        </p:tav>
                                        <p:tav tm="100000">
                                          <p:val>
                                            <p:strVal val="#ppt_w"/>
                                          </p:val>
                                        </p:tav>
                                      </p:tavLst>
                                    </p:anim>
                                    <p:anim calcmode="lin" valueType="num">
                                      <p:cBhvr>
                                        <p:cTn id="13" dur="500" fill="hold"/>
                                        <p:tgtEl>
                                          <p:spTgt spid="5124"/>
                                        </p:tgtEl>
                                        <p:attrNameLst>
                                          <p:attrName>ppt_h</p:attrName>
                                        </p:attrNameLst>
                                      </p:cBhvr>
                                      <p:tavLst>
                                        <p:tav tm="0">
                                          <p:val>
                                            <p:strVal val="4/3*#ppt_h"/>
                                          </p:val>
                                        </p:tav>
                                        <p:tav tm="100000">
                                          <p:val>
                                            <p:strVal val="#ppt_h"/>
                                          </p:val>
                                        </p:tav>
                                      </p:tavLst>
                                    </p:anim>
                                  </p:childTnLst>
                                </p:cTn>
                              </p:par>
                            </p:childTnLst>
                          </p:cTn>
                        </p:par>
                        <p:par>
                          <p:cTn id="14" fill="hold">
                            <p:stCondLst>
                              <p:cond delay="1000"/>
                            </p:stCondLst>
                            <p:childTnLst>
                              <p:par>
                                <p:cTn id="15" presetID="23" presetClass="entr" presetSubtype="288" fill="hold" grpId="0" nodeType="afterEffect">
                                  <p:stCondLst>
                                    <p:cond delay="0"/>
                                  </p:stCondLst>
                                  <p:childTnLst>
                                    <p:set>
                                      <p:cBhvr>
                                        <p:cTn id="16" dur="1" fill="hold">
                                          <p:stCondLst>
                                            <p:cond delay="0"/>
                                          </p:stCondLst>
                                        </p:cTn>
                                        <p:tgtEl>
                                          <p:spTgt spid="5125"/>
                                        </p:tgtEl>
                                        <p:attrNameLst>
                                          <p:attrName>style.visibility</p:attrName>
                                        </p:attrNameLst>
                                      </p:cBhvr>
                                      <p:to>
                                        <p:strVal val="visible"/>
                                      </p:to>
                                    </p:set>
                                    <p:anim calcmode="lin" valueType="num">
                                      <p:cBhvr>
                                        <p:cTn id="17" dur="500" fill="hold"/>
                                        <p:tgtEl>
                                          <p:spTgt spid="5125"/>
                                        </p:tgtEl>
                                        <p:attrNameLst>
                                          <p:attrName>ppt_w</p:attrName>
                                        </p:attrNameLst>
                                      </p:cBhvr>
                                      <p:tavLst>
                                        <p:tav tm="0">
                                          <p:val>
                                            <p:strVal val="4/3*#ppt_w"/>
                                          </p:val>
                                        </p:tav>
                                        <p:tav tm="100000">
                                          <p:val>
                                            <p:strVal val="#ppt_w"/>
                                          </p:val>
                                        </p:tav>
                                      </p:tavLst>
                                    </p:anim>
                                    <p:anim calcmode="lin" valueType="num">
                                      <p:cBhvr>
                                        <p:cTn id="18" dur="500" fill="hold"/>
                                        <p:tgtEl>
                                          <p:spTgt spid="5125"/>
                                        </p:tgtEl>
                                        <p:attrNameLst>
                                          <p:attrName>ppt_h</p:attrName>
                                        </p:attrNameLst>
                                      </p:cBhvr>
                                      <p:tavLst>
                                        <p:tav tm="0">
                                          <p:val>
                                            <p:strVal val="4/3*#ppt_h"/>
                                          </p:val>
                                        </p:tav>
                                        <p:tav tm="100000">
                                          <p:val>
                                            <p:strVal val="#ppt_h"/>
                                          </p:val>
                                        </p:tav>
                                      </p:tavLst>
                                    </p:anim>
                                  </p:childTnLst>
                                </p:cTn>
                              </p:par>
                            </p:childTnLst>
                          </p:cTn>
                        </p:par>
                        <p:par>
                          <p:cTn id="19" fill="hold">
                            <p:stCondLst>
                              <p:cond delay="1500"/>
                            </p:stCondLst>
                            <p:childTnLst>
                              <p:par>
                                <p:cTn id="20" presetID="23" presetClass="entr" presetSubtype="288" fill="hold" grpId="0" nodeType="afterEffect">
                                  <p:stCondLst>
                                    <p:cond delay="0"/>
                                  </p:stCondLst>
                                  <p:childTnLst>
                                    <p:set>
                                      <p:cBhvr>
                                        <p:cTn id="21" dur="1" fill="hold">
                                          <p:stCondLst>
                                            <p:cond delay="0"/>
                                          </p:stCondLst>
                                        </p:cTn>
                                        <p:tgtEl>
                                          <p:spTgt spid="5126"/>
                                        </p:tgtEl>
                                        <p:attrNameLst>
                                          <p:attrName>style.visibility</p:attrName>
                                        </p:attrNameLst>
                                      </p:cBhvr>
                                      <p:to>
                                        <p:strVal val="visible"/>
                                      </p:to>
                                    </p:set>
                                    <p:anim calcmode="lin" valueType="num">
                                      <p:cBhvr>
                                        <p:cTn id="22" dur="500" fill="hold"/>
                                        <p:tgtEl>
                                          <p:spTgt spid="5126"/>
                                        </p:tgtEl>
                                        <p:attrNameLst>
                                          <p:attrName>ppt_w</p:attrName>
                                        </p:attrNameLst>
                                      </p:cBhvr>
                                      <p:tavLst>
                                        <p:tav tm="0">
                                          <p:val>
                                            <p:strVal val="4/3*#ppt_w"/>
                                          </p:val>
                                        </p:tav>
                                        <p:tav tm="100000">
                                          <p:val>
                                            <p:strVal val="#ppt_w"/>
                                          </p:val>
                                        </p:tav>
                                      </p:tavLst>
                                    </p:anim>
                                    <p:anim calcmode="lin" valueType="num">
                                      <p:cBhvr>
                                        <p:cTn id="23" dur="500" fill="hold"/>
                                        <p:tgtEl>
                                          <p:spTgt spid="5126"/>
                                        </p:tgtEl>
                                        <p:attrNameLst>
                                          <p:attrName>ppt_h</p:attrName>
                                        </p:attrNameLst>
                                      </p:cBhvr>
                                      <p:tavLst>
                                        <p:tav tm="0">
                                          <p:val>
                                            <p:strVal val="4/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autoUpdateAnimBg="0"/>
      <p:bldP spid="5124" grpId="0" autoUpdateAnimBg="0"/>
      <p:bldP spid="5125" grpId="0" autoUpdateAnimBg="0"/>
      <p:bldP spid="5126" grpId="0" autoUpdateAnimBg="0"/>
    </p:bldLst>
  </p:timing>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WordArt 2"/>
          <p:cNvSpPr>
            <a:spLocks noChangeArrowheads="1" noChangeShapeType="1" noTextEdit="1"/>
          </p:cNvSpPr>
          <p:nvPr/>
        </p:nvSpPr>
        <p:spPr bwMode="auto">
          <a:xfrm rot="-1091619">
            <a:off x="538163" y="2590800"/>
            <a:ext cx="8605837" cy="2406650"/>
          </a:xfrm>
          <a:prstGeom prst="rect">
            <a:avLst/>
          </a:prstGeom>
        </p:spPr>
        <p:txBody>
          <a:bodyPr wrap="none" fromWordArt="1">
            <a:prstTxWarp prst="textSlantUp">
              <a:avLst>
                <a:gd name="adj" fmla="val 55556"/>
              </a:avLst>
            </a:prstTxWarp>
          </a:bodyPr>
          <a:lstStyle/>
          <a:p>
            <a:pPr algn="ctr"/>
            <a:r>
              <a:rPr lang="en-IN" sz="3600" b="1" kern="10">
                <a:ln w="9525">
                  <a:solidFill>
                    <a:srgbClr val="000000"/>
                  </a:solidFill>
                  <a:round/>
                  <a:headEnd/>
                  <a:tailEnd/>
                </a:ln>
                <a:solidFill>
                  <a:srgbClr val="D60093"/>
                </a:solidFill>
                <a:latin typeface="Arial Black"/>
              </a:rPr>
              <a:t>Dynamic Memory Management</a:t>
            </a:r>
          </a:p>
        </p:txBody>
      </p:sp>
      <p:pic>
        <p:nvPicPr>
          <p:cNvPr id="4099" name="Picture 3" descr="122"/>
          <p:cNvPicPr>
            <a:picLocks noChangeAspect="1" noChangeArrowheads="1"/>
          </p:cNvPicPr>
          <p:nvPr/>
        </p:nvPicPr>
        <p:blipFill>
          <a:blip r:embed="rId2"/>
          <a:srcRect/>
          <a:stretch>
            <a:fillRect/>
          </a:stretch>
        </p:blipFill>
        <p:spPr bwMode="auto">
          <a:xfrm>
            <a:off x="2057400" y="914400"/>
            <a:ext cx="2401888" cy="1828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2"/>
          <p:cNvSpPr>
            <a:spLocks noGrp="1"/>
          </p:cNvSpPr>
          <p:nvPr>
            <p:ph type="ftr" sz="quarter" idx="11"/>
          </p:nvPr>
        </p:nvSpPr>
        <p:spPr>
          <a:noFill/>
        </p:spPr>
        <p:txBody>
          <a:bodyPr/>
          <a:lstStyle/>
          <a:p>
            <a:r>
              <a:rPr lang="en-US" smtClean="0">
                <a:latin typeface="Arial" pitchFamily="34" charset="0"/>
              </a:rPr>
              <a:t>CSC COMPUTER EDUCATION, Kodungaiyur,Ch-118</a:t>
            </a:r>
          </a:p>
        </p:txBody>
      </p:sp>
      <p:sp>
        <p:nvSpPr>
          <p:cNvPr id="5123" name="Rectangle 2" descr="Pink tissue paper"/>
          <p:cNvSpPr>
            <a:spLocks noChangeArrowheads="1"/>
          </p:cNvSpPr>
          <p:nvPr/>
        </p:nvSpPr>
        <p:spPr bwMode="auto">
          <a:xfrm>
            <a:off x="152400" y="146050"/>
            <a:ext cx="8839200" cy="6635750"/>
          </a:xfrm>
          <a:prstGeom prst="rect">
            <a:avLst/>
          </a:prstGeom>
          <a:blipFill dpi="0" rotWithShape="1">
            <a:blip r:embed="rId2"/>
            <a:srcRect/>
            <a:tile tx="0" ty="0" sx="100000" sy="100000" flip="none" algn="tl"/>
          </a:blipFill>
          <a:ln w="9525">
            <a:solidFill>
              <a:srgbClr val="CC0066"/>
            </a:solidFill>
            <a:miter lim="800000"/>
            <a:headEnd/>
            <a:tailEnd/>
          </a:ln>
        </p:spPr>
        <p:txBody>
          <a:bodyPr>
            <a:spAutoFit/>
          </a:bodyPr>
          <a:lstStyle/>
          <a:p>
            <a:pPr eaLnBrk="0" hangingPunct="0">
              <a:lnSpc>
                <a:spcPct val="110000"/>
              </a:lnSpc>
            </a:pPr>
            <a:r>
              <a:rPr lang="en-US" sz="2000" b="1" u="sng">
                <a:solidFill>
                  <a:srgbClr val="FF0000"/>
                </a:solidFill>
              </a:rPr>
              <a:t>Dynamic Memory Allocation</a:t>
            </a:r>
            <a:r>
              <a:rPr lang="en-US" sz="2000" b="1" u="sng">
                <a:solidFill>
                  <a:srgbClr val="0000FF"/>
                </a:solidFill>
              </a:rPr>
              <a:t> :</a:t>
            </a:r>
            <a:r>
              <a:rPr lang="en-US" b="1">
                <a:solidFill>
                  <a:srgbClr val="0000FF"/>
                </a:solidFill>
              </a:rPr>
              <a:t>         </a:t>
            </a:r>
          </a:p>
          <a:p>
            <a:pPr eaLnBrk="0" hangingPunct="0">
              <a:lnSpc>
                <a:spcPct val="110000"/>
              </a:lnSpc>
            </a:pPr>
            <a:r>
              <a:rPr lang="en-US" b="1">
                <a:solidFill>
                  <a:srgbClr val="0000FF"/>
                </a:solidFill>
              </a:rPr>
              <a:t>	It allocates memory during run time (execution time)</a:t>
            </a:r>
          </a:p>
          <a:p>
            <a:pPr eaLnBrk="0" hangingPunct="0">
              <a:lnSpc>
                <a:spcPct val="110000"/>
              </a:lnSpc>
            </a:pPr>
            <a:endParaRPr lang="en-US" b="1">
              <a:solidFill>
                <a:srgbClr val="0000FF"/>
              </a:solidFill>
            </a:endParaRPr>
          </a:p>
          <a:p>
            <a:pPr eaLnBrk="0" hangingPunct="0">
              <a:lnSpc>
                <a:spcPct val="110000"/>
              </a:lnSpc>
            </a:pPr>
            <a:r>
              <a:rPr lang="en-US" b="1">
                <a:solidFill>
                  <a:srgbClr val="0000FF"/>
                </a:solidFill>
              </a:rPr>
              <a:t>Two operators:  1. new  2. delete</a:t>
            </a:r>
          </a:p>
          <a:p>
            <a:pPr eaLnBrk="0" hangingPunct="0">
              <a:lnSpc>
                <a:spcPct val="110000"/>
              </a:lnSpc>
            </a:pPr>
            <a:r>
              <a:rPr lang="en-US" b="1">
                <a:solidFill>
                  <a:srgbClr val="0000FF"/>
                </a:solidFill>
              </a:rPr>
              <a:t>new  - used to create heap memory space for an object of a class</a:t>
            </a:r>
          </a:p>
          <a:p>
            <a:pPr eaLnBrk="0" hangingPunct="0">
              <a:lnSpc>
                <a:spcPct val="110000"/>
              </a:lnSpc>
            </a:pPr>
            <a:r>
              <a:rPr lang="en-US" sz="2000" b="1" u="sng">
                <a:solidFill>
                  <a:srgbClr val="FF0000"/>
                </a:solidFill>
              </a:rPr>
              <a:t>syntax :</a:t>
            </a:r>
          </a:p>
          <a:p>
            <a:pPr eaLnBrk="0" hangingPunct="0">
              <a:lnSpc>
                <a:spcPct val="110000"/>
              </a:lnSpc>
            </a:pPr>
            <a:r>
              <a:rPr lang="en-US" b="1">
                <a:solidFill>
                  <a:srgbClr val="0000FF"/>
                </a:solidFill>
              </a:rPr>
              <a:t> 1)</a:t>
            </a:r>
            <a:r>
              <a:rPr lang="en-US" sz="2000" b="1">
                <a:solidFill>
                  <a:srgbClr val="0000FF"/>
                </a:solidFill>
              </a:rPr>
              <a:t> For  single variable</a:t>
            </a:r>
          </a:p>
          <a:p>
            <a:pPr eaLnBrk="0" hangingPunct="0">
              <a:lnSpc>
                <a:spcPct val="110000"/>
              </a:lnSpc>
            </a:pPr>
            <a:r>
              <a:rPr lang="en-US" b="1">
                <a:solidFill>
                  <a:srgbClr val="0000FF"/>
                </a:solidFill>
              </a:rPr>
              <a:t>                datatype pointer=new datatype; </a:t>
            </a:r>
          </a:p>
          <a:p>
            <a:pPr eaLnBrk="0" hangingPunct="0">
              <a:lnSpc>
                <a:spcPct val="110000"/>
              </a:lnSpc>
            </a:pPr>
            <a:r>
              <a:rPr lang="en-US" b="1">
                <a:solidFill>
                  <a:srgbClr val="0000FF"/>
                </a:solidFill>
              </a:rPr>
              <a:t>      Ex :     int ptr=new int;</a:t>
            </a:r>
          </a:p>
          <a:p>
            <a:pPr eaLnBrk="0" hangingPunct="0">
              <a:lnSpc>
                <a:spcPct val="110000"/>
              </a:lnSpc>
            </a:pPr>
            <a:r>
              <a:rPr lang="en-US" b="1">
                <a:solidFill>
                  <a:srgbClr val="0000FF"/>
                </a:solidFill>
              </a:rPr>
              <a:t>2) </a:t>
            </a:r>
            <a:r>
              <a:rPr lang="en-US" sz="2000" b="1">
                <a:solidFill>
                  <a:srgbClr val="0000FF"/>
                </a:solidFill>
              </a:rPr>
              <a:t>For  array variable</a:t>
            </a:r>
          </a:p>
          <a:p>
            <a:pPr eaLnBrk="0" hangingPunct="0">
              <a:lnSpc>
                <a:spcPct val="110000"/>
              </a:lnSpc>
            </a:pPr>
            <a:r>
              <a:rPr lang="en-US" b="1">
                <a:solidFill>
                  <a:srgbClr val="0000FF"/>
                </a:solidFill>
              </a:rPr>
              <a:t>                  datatype pointer=new datatype[no.of elements]; </a:t>
            </a:r>
          </a:p>
          <a:p>
            <a:pPr eaLnBrk="0" hangingPunct="0">
              <a:lnSpc>
                <a:spcPct val="110000"/>
              </a:lnSpc>
            </a:pPr>
            <a:r>
              <a:rPr lang="en-US" b="1">
                <a:solidFill>
                  <a:srgbClr val="0000FF"/>
                </a:solidFill>
              </a:rPr>
              <a:t>Ex  :   int ptr=new int[10];</a:t>
            </a:r>
          </a:p>
          <a:p>
            <a:pPr eaLnBrk="0" hangingPunct="0">
              <a:lnSpc>
                <a:spcPct val="110000"/>
              </a:lnSpc>
            </a:pPr>
            <a:endParaRPr lang="en-US" b="1">
              <a:solidFill>
                <a:srgbClr val="0000FF"/>
              </a:solidFill>
            </a:endParaRPr>
          </a:p>
          <a:p>
            <a:pPr eaLnBrk="0" hangingPunct="0">
              <a:lnSpc>
                <a:spcPct val="110000"/>
              </a:lnSpc>
            </a:pPr>
            <a:r>
              <a:rPr lang="en-US" sz="2000" b="1" u="sng">
                <a:solidFill>
                  <a:srgbClr val="FF0000"/>
                </a:solidFill>
              </a:rPr>
              <a:t>delete operator :</a:t>
            </a:r>
          </a:p>
          <a:p>
            <a:pPr eaLnBrk="0" hangingPunct="0">
              <a:lnSpc>
                <a:spcPct val="110000"/>
              </a:lnSpc>
            </a:pPr>
            <a:r>
              <a:rPr lang="en-US" b="1">
                <a:solidFill>
                  <a:srgbClr val="0000FF"/>
                </a:solidFill>
              </a:rPr>
              <a:t>    To destroy the variable space which has been created by using the new dynamically</a:t>
            </a:r>
          </a:p>
          <a:p>
            <a:pPr eaLnBrk="0" hangingPunct="0">
              <a:lnSpc>
                <a:spcPct val="110000"/>
              </a:lnSpc>
            </a:pPr>
            <a:r>
              <a:rPr lang="en-US" sz="2000" b="1" u="sng">
                <a:solidFill>
                  <a:srgbClr val="FF0000"/>
                </a:solidFill>
              </a:rPr>
              <a:t>syntax :</a:t>
            </a:r>
          </a:p>
          <a:p>
            <a:pPr eaLnBrk="0" hangingPunct="0">
              <a:lnSpc>
                <a:spcPct val="110000"/>
              </a:lnSpc>
            </a:pPr>
            <a:r>
              <a:rPr lang="en-US" b="1">
                <a:solidFill>
                  <a:srgbClr val="0000FF"/>
                </a:solidFill>
              </a:rPr>
              <a:t>  delete pointer;  - single variable</a:t>
            </a:r>
          </a:p>
          <a:p>
            <a:pPr eaLnBrk="0" hangingPunct="0">
              <a:lnSpc>
                <a:spcPct val="110000"/>
              </a:lnSpc>
            </a:pPr>
            <a:r>
              <a:rPr lang="en-US" b="1">
                <a:solidFill>
                  <a:srgbClr val="0000FF"/>
                </a:solidFill>
              </a:rPr>
              <a:t>  ex :    delete ptr;</a:t>
            </a:r>
          </a:p>
          <a:p>
            <a:pPr eaLnBrk="0" hangingPunct="0">
              <a:lnSpc>
                <a:spcPct val="110000"/>
              </a:lnSpc>
            </a:pPr>
            <a:r>
              <a:rPr lang="en-US" b="1">
                <a:solidFill>
                  <a:srgbClr val="0000FF"/>
                </a:solidFill>
              </a:rPr>
              <a:t>	delete []pointer; - for an array</a:t>
            </a:r>
          </a:p>
          <a:p>
            <a:pPr eaLnBrk="0" hangingPunct="0">
              <a:lnSpc>
                <a:spcPct val="110000"/>
              </a:lnSpc>
            </a:pPr>
            <a:r>
              <a:rPr lang="en-US" b="1">
                <a:solidFill>
                  <a:srgbClr val="0000FF"/>
                </a:solidFill>
              </a:rPr>
              <a:t>	delete []ptr;</a:t>
            </a:r>
            <a:r>
              <a:rPr lang="en-US">
                <a:solidFill>
                  <a:srgbClr val="0000FF"/>
                </a:solidFill>
              </a:rPr>
              <a:t> </a:t>
            </a:r>
            <a:endParaRPr lang="en-US" b="1">
              <a:solidFill>
                <a:srgbClr val="0000FF"/>
              </a:solidFill>
            </a:endParaRPr>
          </a:p>
        </p:txBody>
      </p:sp>
    </p:spTree>
  </p:cSld>
  <p:clrMapOvr>
    <a:masterClrMapping/>
  </p:clrMapOvr>
  <p:timing>
    <p:tnLst>
      <p:par>
        <p:cTn id="1" dur="indefinite" restart="never" nodeType="tmRoot"/>
      </p:par>
    </p:tnLst>
  </p:timing>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ChangeArrowheads="1"/>
          </p:cNvSpPr>
          <p:nvPr/>
        </p:nvSpPr>
        <p:spPr bwMode="auto">
          <a:xfrm>
            <a:off x="0" y="0"/>
            <a:ext cx="9144000" cy="6858000"/>
          </a:xfrm>
          <a:prstGeom prst="rect">
            <a:avLst/>
          </a:prstGeom>
          <a:noFill/>
          <a:ln w="9525">
            <a:solidFill>
              <a:srgbClr val="CC0066"/>
            </a:solidFill>
            <a:miter lim="800000"/>
            <a:headEnd/>
            <a:tailEnd/>
          </a:ln>
        </p:spPr>
        <p:txBody>
          <a:bodyPr>
            <a:spAutoFit/>
          </a:bodyPr>
          <a:lstStyle/>
          <a:p>
            <a:pPr indent="971550" eaLnBrk="0" hangingPunct="0"/>
            <a:r>
              <a:rPr lang="en-US" sz="2200" b="1">
                <a:solidFill>
                  <a:srgbClr val="FF0000"/>
                </a:solidFill>
              </a:rPr>
              <a:t>Create a memory for 5 integers using NEW operator and destroy using the delete operator.</a:t>
            </a:r>
          </a:p>
          <a:p>
            <a:pPr indent="971550" eaLnBrk="0" hangingPunct="0"/>
            <a:r>
              <a:rPr lang="en-US" sz="2000" b="1">
                <a:solidFill>
                  <a:srgbClr val="000066"/>
                </a:solidFill>
              </a:rPr>
              <a:t>#include&lt;iostream.h&gt;</a:t>
            </a:r>
          </a:p>
          <a:p>
            <a:pPr indent="971550" eaLnBrk="0" hangingPunct="0"/>
            <a:r>
              <a:rPr lang="en-US" sz="2000" b="1">
                <a:solidFill>
                  <a:srgbClr val="000066"/>
                </a:solidFill>
              </a:rPr>
              <a:t>void main()</a:t>
            </a:r>
          </a:p>
          <a:p>
            <a:pPr indent="971550" eaLnBrk="0" hangingPunct="0"/>
            <a:r>
              <a:rPr lang="en-US" sz="2000" b="1">
                <a:solidFill>
                  <a:srgbClr val="000066"/>
                </a:solidFill>
              </a:rPr>
              <a:t>{</a:t>
            </a:r>
          </a:p>
          <a:p>
            <a:pPr indent="971550" eaLnBrk="0" hangingPunct="0"/>
            <a:r>
              <a:rPr lang="en-US" sz="2000" b="1">
                <a:solidFill>
                  <a:srgbClr val="000066"/>
                </a:solidFill>
              </a:rPr>
              <a:t>int *ptr,i;		</a:t>
            </a:r>
          </a:p>
          <a:p>
            <a:pPr indent="971550" eaLnBrk="0" hangingPunct="0"/>
            <a:r>
              <a:rPr lang="en-US" sz="2000" b="1">
                <a:solidFill>
                  <a:srgbClr val="000066"/>
                </a:solidFill>
              </a:rPr>
              <a:t>ptr=new int[5];		</a:t>
            </a:r>
          </a:p>
          <a:p>
            <a:pPr indent="971550" eaLnBrk="0" hangingPunct="0"/>
            <a:r>
              <a:rPr lang="en-US" sz="2000" b="1">
                <a:solidFill>
                  <a:srgbClr val="000066"/>
                </a:solidFill>
              </a:rPr>
              <a:t>cout&lt;&lt;endl&lt;&lt;"Enter 5 numbers";</a:t>
            </a:r>
          </a:p>
          <a:p>
            <a:pPr indent="971550" eaLnBrk="0" hangingPunct="0"/>
            <a:r>
              <a:rPr lang="en-US" sz="2000" b="1">
                <a:solidFill>
                  <a:srgbClr val="000066"/>
                </a:solidFill>
              </a:rPr>
              <a:t>for(i=0;i&lt;5;i++)</a:t>
            </a:r>
          </a:p>
          <a:p>
            <a:pPr indent="971550" eaLnBrk="0" hangingPunct="0"/>
            <a:r>
              <a:rPr lang="en-US" sz="2000" b="1">
                <a:solidFill>
                  <a:srgbClr val="000066"/>
                </a:solidFill>
              </a:rPr>
              <a:t>{</a:t>
            </a:r>
          </a:p>
          <a:p>
            <a:pPr indent="971550" eaLnBrk="0" hangingPunct="0"/>
            <a:r>
              <a:rPr lang="en-US" sz="2000" b="1">
                <a:solidFill>
                  <a:srgbClr val="000066"/>
                </a:solidFill>
              </a:rPr>
              <a:t>    cin&gt;&gt;*(ptr+i);</a:t>
            </a:r>
          </a:p>
          <a:p>
            <a:pPr indent="971550" eaLnBrk="0" hangingPunct="0"/>
            <a:r>
              <a:rPr lang="en-US" sz="2000" b="1">
                <a:solidFill>
                  <a:srgbClr val="000066"/>
                </a:solidFill>
              </a:rPr>
              <a:t>}</a:t>
            </a:r>
          </a:p>
          <a:p>
            <a:pPr indent="971550" eaLnBrk="0" hangingPunct="0"/>
            <a:r>
              <a:rPr lang="en-US" sz="2000" b="1">
                <a:solidFill>
                  <a:srgbClr val="000066"/>
                </a:solidFill>
              </a:rPr>
              <a:t>Cout&lt;&lt;“The numbers are”&lt;&lt;endl;</a:t>
            </a:r>
          </a:p>
          <a:p>
            <a:pPr indent="971550" eaLnBrk="0" hangingPunct="0"/>
            <a:r>
              <a:rPr lang="en-US" sz="2000" b="1">
                <a:solidFill>
                  <a:srgbClr val="000066"/>
                </a:solidFill>
              </a:rPr>
              <a:t>for(i=0;i&lt;5;i++)</a:t>
            </a:r>
          </a:p>
          <a:p>
            <a:pPr indent="971550" eaLnBrk="0" hangingPunct="0"/>
            <a:r>
              <a:rPr lang="en-US" sz="2000" b="1">
                <a:solidFill>
                  <a:srgbClr val="000066"/>
                </a:solidFill>
              </a:rPr>
              <a:t>{</a:t>
            </a:r>
          </a:p>
          <a:p>
            <a:pPr indent="971550" eaLnBrk="0" hangingPunct="0"/>
            <a:r>
              <a:rPr lang="en-US" sz="2000" b="1">
                <a:solidFill>
                  <a:srgbClr val="000066"/>
                </a:solidFill>
              </a:rPr>
              <a:t>   cout&lt;&lt;*(ptr+i)&lt;&lt;endl;</a:t>
            </a:r>
          </a:p>
          <a:p>
            <a:pPr indent="971550" eaLnBrk="0" hangingPunct="0"/>
            <a:r>
              <a:rPr lang="en-US" sz="2000" b="1">
                <a:solidFill>
                  <a:srgbClr val="000066"/>
                </a:solidFill>
              </a:rPr>
              <a:t>}</a:t>
            </a:r>
          </a:p>
          <a:p>
            <a:pPr indent="971550" eaLnBrk="0" hangingPunct="0"/>
            <a:r>
              <a:rPr lang="en-US" sz="2000" b="1">
                <a:solidFill>
                  <a:srgbClr val="000066"/>
                </a:solidFill>
              </a:rPr>
              <a:t>  delete []ptr;</a:t>
            </a:r>
          </a:p>
          <a:p>
            <a:pPr indent="971550" eaLnBrk="0" hangingPunct="0"/>
            <a:r>
              <a:rPr lang="en-US" sz="2000" b="1">
                <a:solidFill>
                  <a:srgbClr val="000066"/>
                </a:solidFill>
              </a:rPr>
              <a:t>}</a:t>
            </a:r>
          </a:p>
          <a:p>
            <a:pPr indent="971550" eaLnBrk="0" hangingPunct="0"/>
            <a:endParaRPr lang="en-US" sz="2000" b="1">
              <a:solidFill>
                <a:srgbClr val="000066"/>
              </a:solidFill>
            </a:endParaRPr>
          </a:p>
          <a:p>
            <a:pPr indent="971550" eaLnBrk="0" hangingPunct="0"/>
            <a:endParaRPr lang="en-US" sz="2000" b="1">
              <a:solidFill>
                <a:srgbClr val="000066"/>
              </a:solidFill>
            </a:endParaRPr>
          </a:p>
          <a:p>
            <a:pPr indent="971550" eaLnBrk="0" hangingPunct="0"/>
            <a:endParaRPr lang="en-US" sz="2000" b="1">
              <a:solidFill>
                <a:srgbClr val="000066"/>
              </a:solidFill>
            </a:endParaRPr>
          </a:p>
        </p:txBody>
      </p:sp>
    </p:spTree>
  </p:cSld>
  <p:clrMapOvr>
    <a:masterClrMapping/>
  </p:clrMapOvr>
  <p:timing>
    <p:tnLst>
      <p:par>
        <p:cTn id="1" dur="indefinite" restart="never" nodeType="tmRoot"/>
      </p:par>
    </p:tnLst>
  </p:timing>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ChangeArrowheads="1"/>
          </p:cNvSpPr>
          <p:nvPr/>
        </p:nvSpPr>
        <p:spPr bwMode="auto">
          <a:xfrm>
            <a:off x="0" y="0"/>
            <a:ext cx="4724400" cy="6186488"/>
          </a:xfrm>
          <a:prstGeom prst="rect">
            <a:avLst/>
          </a:prstGeom>
          <a:noFill/>
          <a:ln w="9525">
            <a:solidFill>
              <a:srgbClr val="990033"/>
            </a:solidFill>
            <a:prstDash val="sysDot"/>
            <a:miter lim="800000"/>
            <a:headEnd/>
            <a:tailEnd/>
          </a:ln>
        </p:spPr>
        <p:txBody>
          <a:bodyPr>
            <a:spAutoFit/>
          </a:bodyPr>
          <a:lstStyle/>
          <a:p>
            <a:pPr algn="just" eaLnBrk="0" hangingPunct="0"/>
            <a:r>
              <a:rPr lang="en-US" sz="2400" b="1">
                <a:solidFill>
                  <a:srgbClr val="000066"/>
                </a:solidFill>
              </a:rPr>
              <a:t>Write a C++ program to creates an object of class book and destroy it</a:t>
            </a:r>
            <a:r>
              <a:rPr lang="en-US" sz="2800" b="1">
                <a:solidFill>
                  <a:srgbClr val="0000FF"/>
                </a:solidFill>
              </a:rPr>
              <a:t> </a:t>
            </a:r>
          </a:p>
          <a:p>
            <a:pPr eaLnBrk="0" hangingPunct="0"/>
            <a:r>
              <a:rPr lang="en-US" sz="2000" b="1">
                <a:solidFill>
                  <a:srgbClr val="800000"/>
                </a:solidFill>
              </a:rPr>
              <a:t>#include&lt;iostream.h&gt;</a:t>
            </a:r>
          </a:p>
          <a:p>
            <a:pPr eaLnBrk="0" hangingPunct="0"/>
            <a:r>
              <a:rPr lang="en-US" sz="2000" b="1">
                <a:solidFill>
                  <a:srgbClr val="800000"/>
                </a:solidFill>
              </a:rPr>
              <a:t>#include&lt;conio.h&gt;</a:t>
            </a:r>
          </a:p>
          <a:p>
            <a:pPr eaLnBrk="0" hangingPunct="0"/>
            <a:r>
              <a:rPr lang="en-US" sz="2000" b="1">
                <a:solidFill>
                  <a:srgbClr val="800000"/>
                </a:solidFill>
              </a:rPr>
              <a:t>class book</a:t>
            </a:r>
          </a:p>
          <a:p>
            <a:pPr eaLnBrk="0" hangingPunct="0"/>
            <a:r>
              <a:rPr lang="en-US" sz="2000" b="1">
                <a:solidFill>
                  <a:srgbClr val="800000"/>
                </a:solidFill>
              </a:rPr>
              <a:t>{</a:t>
            </a:r>
          </a:p>
          <a:p>
            <a:pPr eaLnBrk="0" hangingPunct="0"/>
            <a:r>
              <a:rPr lang="en-US" sz="2000" b="1">
                <a:solidFill>
                  <a:srgbClr val="800000"/>
                </a:solidFill>
              </a:rPr>
              <a:t>private :</a:t>
            </a:r>
          </a:p>
          <a:p>
            <a:pPr eaLnBrk="0" hangingPunct="0"/>
            <a:r>
              <a:rPr lang="en-US" sz="2000" b="1">
                <a:solidFill>
                  <a:srgbClr val="800000"/>
                </a:solidFill>
              </a:rPr>
              <a:t>	int bno;</a:t>
            </a:r>
          </a:p>
          <a:p>
            <a:pPr eaLnBrk="0" hangingPunct="0"/>
            <a:r>
              <a:rPr lang="en-US" sz="2000" b="1">
                <a:solidFill>
                  <a:srgbClr val="800000"/>
                </a:solidFill>
              </a:rPr>
              <a:t>	char author[15],bname[20];</a:t>
            </a:r>
          </a:p>
          <a:p>
            <a:pPr eaLnBrk="0" hangingPunct="0"/>
            <a:r>
              <a:rPr lang="en-US" sz="2000" b="1">
                <a:solidFill>
                  <a:srgbClr val="800000"/>
                </a:solidFill>
              </a:rPr>
              <a:t>public :</a:t>
            </a:r>
          </a:p>
          <a:p>
            <a:pPr eaLnBrk="0" hangingPunct="0"/>
            <a:r>
              <a:rPr lang="en-US" sz="2000" b="1">
                <a:solidFill>
                  <a:srgbClr val="800000"/>
                </a:solidFill>
              </a:rPr>
              <a:t>	void get();</a:t>
            </a:r>
          </a:p>
          <a:p>
            <a:pPr eaLnBrk="0" hangingPunct="0"/>
            <a:r>
              <a:rPr lang="en-US" sz="2000" b="1">
                <a:solidFill>
                  <a:srgbClr val="800000"/>
                </a:solidFill>
              </a:rPr>
              <a:t>	void show();</a:t>
            </a:r>
          </a:p>
          <a:p>
            <a:pPr eaLnBrk="0" hangingPunct="0"/>
            <a:r>
              <a:rPr lang="en-US" sz="2000" b="1">
                <a:solidFill>
                  <a:srgbClr val="800000"/>
                </a:solidFill>
              </a:rPr>
              <a:t> ~book()</a:t>
            </a:r>
          </a:p>
          <a:p>
            <a:pPr eaLnBrk="0" hangingPunct="0"/>
            <a:r>
              <a:rPr lang="en-US" sz="2000" b="1">
                <a:solidFill>
                  <a:srgbClr val="800000"/>
                </a:solidFill>
              </a:rPr>
              <a:t>{</a:t>
            </a:r>
          </a:p>
          <a:p>
            <a:pPr eaLnBrk="0" hangingPunct="0"/>
            <a:r>
              <a:rPr lang="en-US" sz="2000" b="1">
                <a:solidFill>
                  <a:srgbClr val="800000"/>
                </a:solidFill>
              </a:rPr>
              <a:t>cout&lt;&lt;"Destructor called"&lt;&lt;endl;</a:t>
            </a:r>
          </a:p>
          <a:p>
            <a:pPr eaLnBrk="0" hangingPunct="0"/>
            <a:r>
              <a:rPr lang="en-US" sz="2000" b="1">
                <a:solidFill>
                  <a:srgbClr val="800000"/>
                </a:solidFill>
              </a:rPr>
              <a:t>}</a:t>
            </a:r>
          </a:p>
          <a:p>
            <a:pPr eaLnBrk="0" hangingPunct="0"/>
            <a:r>
              <a:rPr lang="en-US" sz="2000" b="1">
                <a:solidFill>
                  <a:srgbClr val="800000"/>
                </a:solidFill>
              </a:rPr>
              <a:t>};</a:t>
            </a:r>
          </a:p>
          <a:p>
            <a:pPr eaLnBrk="0" hangingPunct="0"/>
            <a:r>
              <a:rPr lang="en-US" sz="2000" b="1">
                <a:solidFill>
                  <a:srgbClr val="800000"/>
                </a:solidFill>
                <a:latin typeface="Verdana" pitchFamily="34" charset="0"/>
              </a:rPr>
              <a:t>void book::get(){</a:t>
            </a:r>
          </a:p>
        </p:txBody>
      </p:sp>
      <p:sp>
        <p:nvSpPr>
          <p:cNvPr id="7171" name="Rectangle 3"/>
          <p:cNvSpPr>
            <a:spLocks noChangeArrowheads="1"/>
          </p:cNvSpPr>
          <p:nvPr/>
        </p:nvSpPr>
        <p:spPr bwMode="auto">
          <a:xfrm>
            <a:off x="4724400" y="0"/>
            <a:ext cx="4400550" cy="5815013"/>
          </a:xfrm>
          <a:prstGeom prst="rect">
            <a:avLst/>
          </a:prstGeom>
          <a:noFill/>
          <a:ln w="9525">
            <a:solidFill>
              <a:srgbClr val="990033"/>
            </a:solidFill>
            <a:prstDash val="sysDot"/>
            <a:miter lim="800000"/>
            <a:headEnd/>
            <a:tailEnd/>
          </a:ln>
        </p:spPr>
        <p:txBody>
          <a:bodyPr>
            <a:spAutoFit/>
          </a:bodyPr>
          <a:lstStyle/>
          <a:p>
            <a:pPr eaLnBrk="0" hangingPunct="0">
              <a:lnSpc>
                <a:spcPct val="115000"/>
              </a:lnSpc>
            </a:pPr>
            <a:r>
              <a:rPr lang="en-US" b="1">
                <a:solidFill>
                  <a:srgbClr val="800000"/>
                </a:solidFill>
              </a:rPr>
              <a:t>cout&lt;&lt;endl&lt;&lt;"enter the data";</a:t>
            </a:r>
          </a:p>
          <a:p>
            <a:pPr eaLnBrk="0" hangingPunct="0">
              <a:lnSpc>
                <a:spcPct val="115000"/>
              </a:lnSpc>
            </a:pPr>
            <a:r>
              <a:rPr lang="en-US" b="1">
                <a:solidFill>
                  <a:srgbClr val="800000"/>
                </a:solidFill>
              </a:rPr>
              <a:t>cin&gt;&gt;bno&gt;&gt;author&gt;&gt;bname;</a:t>
            </a:r>
          </a:p>
          <a:p>
            <a:pPr eaLnBrk="0" hangingPunct="0">
              <a:lnSpc>
                <a:spcPct val="115000"/>
              </a:lnSpc>
            </a:pPr>
            <a:r>
              <a:rPr lang="en-US" b="1">
                <a:solidFill>
                  <a:srgbClr val="800000"/>
                </a:solidFill>
              </a:rPr>
              <a:t>}</a:t>
            </a:r>
          </a:p>
          <a:p>
            <a:pPr eaLnBrk="0" hangingPunct="0">
              <a:lnSpc>
                <a:spcPct val="115000"/>
              </a:lnSpc>
            </a:pPr>
            <a:r>
              <a:rPr lang="en-US" b="1">
                <a:solidFill>
                  <a:srgbClr val="800000"/>
                </a:solidFill>
              </a:rPr>
              <a:t>void book::show()</a:t>
            </a:r>
          </a:p>
          <a:p>
            <a:pPr eaLnBrk="0" hangingPunct="0">
              <a:lnSpc>
                <a:spcPct val="115000"/>
              </a:lnSpc>
            </a:pPr>
            <a:r>
              <a:rPr lang="en-US" b="1">
                <a:solidFill>
                  <a:srgbClr val="800000"/>
                </a:solidFill>
              </a:rPr>
              <a:t>{</a:t>
            </a:r>
          </a:p>
          <a:p>
            <a:pPr eaLnBrk="0" hangingPunct="0">
              <a:lnSpc>
                <a:spcPct val="115000"/>
              </a:lnSpc>
            </a:pPr>
            <a:r>
              <a:rPr lang="en-US" b="1">
                <a:solidFill>
                  <a:srgbClr val="800000"/>
                </a:solidFill>
              </a:rPr>
              <a:t>cout&lt;&lt;endl;</a:t>
            </a:r>
          </a:p>
          <a:p>
            <a:pPr eaLnBrk="0" hangingPunct="0">
              <a:lnSpc>
                <a:spcPct val="115000"/>
              </a:lnSpc>
            </a:pPr>
            <a:r>
              <a:rPr lang="en-US" b="1">
                <a:solidFill>
                  <a:srgbClr val="800000"/>
                </a:solidFill>
              </a:rPr>
              <a:t>cout&lt;&lt;bno&lt;&lt;author&lt;&lt;bname;</a:t>
            </a:r>
          </a:p>
          <a:p>
            <a:pPr eaLnBrk="0" hangingPunct="0">
              <a:lnSpc>
                <a:spcPct val="115000"/>
              </a:lnSpc>
            </a:pPr>
            <a:r>
              <a:rPr lang="en-US" b="1">
                <a:solidFill>
                  <a:srgbClr val="800000"/>
                </a:solidFill>
              </a:rPr>
              <a:t>}</a:t>
            </a:r>
          </a:p>
          <a:p>
            <a:pPr eaLnBrk="0" hangingPunct="0">
              <a:lnSpc>
                <a:spcPct val="115000"/>
              </a:lnSpc>
            </a:pPr>
            <a:r>
              <a:rPr lang="en-US" b="1">
                <a:solidFill>
                  <a:srgbClr val="800000"/>
                </a:solidFill>
              </a:rPr>
              <a:t>void main()</a:t>
            </a:r>
          </a:p>
          <a:p>
            <a:pPr eaLnBrk="0" hangingPunct="0">
              <a:lnSpc>
                <a:spcPct val="115000"/>
              </a:lnSpc>
            </a:pPr>
            <a:r>
              <a:rPr lang="en-US" b="1">
                <a:solidFill>
                  <a:srgbClr val="800000"/>
                </a:solidFill>
              </a:rPr>
              <a:t>{</a:t>
            </a:r>
          </a:p>
          <a:p>
            <a:pPr eaLnBrk="0" hangingPunct="0">
              <a:lnSpc>
                <a:spcPct val="115000"/>
              </a:lnSpc>
            </a:pPr>
            <a:r>
              <a:rPr lang="en-US" b="1">
                <a:solidFill>
                  <a:srgbClr val="800000"/>
                </a:solidFill>
              </a:rPr>
              <a:t>book b1,*b2;</a:t>
            </a:r>
          </a:p>
          <a:p>
            <a:pPr eaLnBrk="0" hangingPunct="0">
              <a:lnSpc>
                <a:spcPct val="115000"/>
              </a:lnSpc>
            </a:pPr>
            <a:r>
              <a:rPr lang="en-US" b="1">
                <a:solidFill>
                  <a:srgbClr val="800000"/>
                </a:solidFill>
              </a:rPr>
              <a:t>b2=new book;</a:t>
            </a:r>
          </a:p>
          <a:p>
            <a:pPr eaLnBrk="0" hangingPunct="0">
              <a:lnSpc>
                <a:spcPct val="115000"/>
              </a:lnSpc>
            </a:pPr>
            <a:r>
              <a:rPr lang="en-US" b="1">
                <a:solidFill>
                  <a:srgbClr val="800000"/>
                </a:solidFill>
              </a:rPr>
              <a:t>b1.get();</a:t>
            </a:r>
          </a:p>
          <a:p>
            <a:pPr eaLnBrk="0" hangingPunct="0">
              <a:lnSpc>
                <a:spcPct val="115000"/>
              </a:lnSpc>
            </a:pPr>
            <a:r>
              <a:rPr lang="en-US" b="1">
                <a:solidFill>
                  <a:srgbClr val="800000"/>
                </a:solidFill>
              </a:rPr>
              <a:t>b2-&gt;get();</a:t>
            </a:r>
          </a:p>
          <a:p>
            <a:pPr eaLnBrk="0" hangingPunct="0">
              <a:lnSpc>
                <a:spcPct val="115000"/>
              </a:lnSpc>
            </a:pPr>
            <a:r>
              <a:rPr lang="en-US" b="1">
                <a:solidFill>
                  <a:srgbClr val="800000"/>
                </a:solidFill>
              </a:rPr>
              <a:t>b1.show();</a:t>
            </a:r>
          </a:p>
          <a:p>
            <a:pPr eaLnBrk="0" hangingPunct="0">
              <a:lnSpc>
                <a:spcPct val="115000"/>
              </a:lnSpc>
            </a:pPr>
            <a:r>
              <a:rPr lang="en-US" b="1">
                <a:solidFill>
                  <a:srgbClr val="800000"/>
                </a:solidFill>
              </a:rPr>
              <a:t>b2-&gt;show();</a:t>
            </a:r>
          </a:p>
          <a:p>
            <a:pPr eaLnBrk="0" hangingPunct="0">
              <a:lnSpc>
                <a:spcPct val="115000"/>
              </a:lnSpc>
            </a:pPr>
            <a:r>
              <a:rPr lang="en-US" b="1">
                <a:solidFill>
                  <a:srgbClr val="800000"/>
                </a:solidFill>
              </a:rPr>
              <a:t>delete b2; getch();</a:t>
            </a:r>
          </a:p>
          <a:p>
            <a:pPr eaLnBrk="0" hangingPunct="0"/>
            <a:r>
              <a:rPr lang="en-US" sz="2100" b="1">
                <a:solidFill>
                  <a:srgbClr val="800000"/>
                </a:solidFill>
              </a:rPr>
              <a:t>}</a:t>
            </a:r>
          </a:p>
        </p:txBody>
      </p:sp>
      <p:sp>
        <p:nvSpPr>
          <p:cNvPr id="7172" name="Rectangle 4"/>
          <p:cNvSpPr>
            <a:spLocks noChangeArrowheads="1"/>
          </p:cNvSpPr>
          <p:nvPr/>
        </p:nvSpPr>
        <p:spPr bwMode="auto">
          <a:xfrm>
            <a:off x="0" y="6035675"/>
            <a:ext cx="9144000" cy="822325"/>
          </a:xfrm>
          <a:prstGeom prst="rect">
            <a:avLst/>
          </a:prstGeom>
          <a:noFill/>
          <a:ln w="9525">
            <a:noFill/>
            <a:miter lim="800000"/>
            <a:headEnd/>
            <a:tailEnd/>
          </a:ln>
        </p:spPr>
        <p:txBody>
          <a:bodyPr>
            <a:spAutoFit/>
          </a:bodyPr>
          <a:lstStyle/>
          <a:p>
            <a:pPr eaLnBrk="0" hangingPunct="0"/>
            <a:r>
              <a:rPr lang="en-US" sz="2400" b="1">
                <a:solidFill>
                  <a:srgbClr val="FF0000"/>
                </a:solidFill>
              </a:rPr>
              <a:t>  </a:t>
            </a:r>
            <a:r>
              <a:rPr lang="en-US" sz="2400" b="1">
                <a:solidFill>
                  <a:srgbClr val="000066"/>
                </a:solidFill>
              </a:rPr>
              <a:t>-&gt;   Used to access the member of the class through pointer variable</a:t>
            </a:r>
          </a:p>
        </p:txBody>
      </p:sp>
    </p:spTree>
  </p:cSld>
  <p:clrMapOvr>
    <a:masterClrMapping/>
  </p:clrMapOvr>
  <p:timing>
    <p:tnLst>
      <p:par>
        <p:cTn id="1" dur="indefinite" restart="never" nodeType="tmRoot"/>
      </p:par>
    </p:tnLst>
  </p:timing>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ChangeArrowheads="1"/>
          </p:cNvSpPr>
          <p:nvPr/>
        </p:nvSpPr>
        <p:spPr bwMode="auto">
          <a:xfrm>
            <a:off x="0" y="0"/>
            <a:ext cx="4572000" cy="5232400"/>
          </a:xfrm>
          <a:prstGeom prst="rect">
            <a:avLst/>
          </a:prstGeom>
          <a:noFill/>
          <a:ln w="9525">
            <a:solidFill>
              <a:schemeClr val="tx2"/>
            </a:solidFill>
            <a:miter lim="800000"/>
            <a:headEnd/>
            <a:tailEnd/>
          </a:ln>
        </p:spPr>
        <p:txBody>
          <a:bodyPr>
            <a:spAutoFit/>
          </a:bodyPr>
          <a:lstStyle/>
          <a:p>
            <a:pPr eaLnBrk="0" hangingPunct="0"/>
            <a:r>
              <a:rPr lang="en-US" sz="2600" b="1">
                <a:solidFill>
                  <a:srgbClr val="0000FF"/>
                </a:solidFill>
              </a:rPr>
              <a:t>Class USING new Operator</a:t>
            </a:r>
          </a:p>
          <a:p>
            <a:pPr eaLnBrk="0" hangingPunct="0"/>
            <a:r>
              <a:rPr lang="en-US" sz="2200" b="1">
                <a:solidFill>
                  <a:srgbClr val="800000"/>
                </a:solidFill>
              </a:rPr>
              <a:t>#include&lt;iostream.h&gt;</a:t>
            </a:r>
          </a:p>
          <a:p>
            <a:pPr eaLnBrk="0" hangingPunct="0"/>
            <a:r>
              <a:rPr lang="en-US" sz="2200" b="1">
                <a:solidFill>
                  <a:srgbClr val="800000"/>
                </a:solidFill>
              </a:rPr>
              <a:t>#include&lt;string.h&gt;</a:t>
            </a:r>
          </a:p>
          <a:p>
            <a:pPr eaLnBrk="0" hangingPunct="0"/>
            <a:r>
              <a:rPr lang="en-US" sz="2200" b="1">
                <a:solidFill>
                  <a:srgbClr val="800000"/>
                </a:solidFill>
              </a:rPr>
              <a:t>int length;</a:t>
            </a:r>
          </a:p>
          <a:p>
            <a:pPr eaLnBrk="0" hangingPunct="0"/>
            <a:r>
              <a:rPr lang="en-US" sz="2200" b="1">
                <a:solidFill>
                  <a:srgbClr val="800000"/>
                </a:solidFill>
              </a:rPr>
              <a:t>class String</a:t>
            </a:r>
          </a:p>
          <a:p>
            <a:pPr eaLnBrk="0" hangingPunct="0"/>
            <a:r>
              <a:rPr lang="en-US" sz="2200" b="1">
                <a:solidFill>
                  <a:srgbClr val="800000"/>
                </a:solidFill>
              </a:rPr>
              <a:t>{</a:t>
            </a:r>
          </a:p>
          <a:p>
            <a:pPr eaLnBrk="0" hangingPunct="0"/>
            <a:r>
              <a:rPr lang="en-US" sz="2200" b="1">
                <a:solidFill>
                  <a:srgbClr val="800000"/>
                </a:solidFill>
              </a:rPr>
              <a:t>private :</a:t>
            </a:r>
          </a:p>
          <a:p>
            <a:pPr eaLnBrk="0" hangingPunct="0"/>
            <a:r>
              <a:rPr lang="en-US" sz="2200" b="1">
                <a:solidFill>
                  <a:srgbClr val="800000"/>
                </a:solidFill>
              </a:rPr>
              <a:t>       char *str;</a:t>
            </a:r>
          </a:p>
          <a:p>
            <a:pPr eaLnBrk="0" hangingPunct="0"/>
            <a:r>
              <a:rPr lang="en-US" sz="2200" b="1">
                <a:solidFill>
                  <a:srgbClr val="800000"/>
                </a:solidFill>
              </a:rPr>
              <a:t>public :</a:t>
            </a:r>
          </a:p>
          <a:p>
            <a:pPr eaLnBrk="0" hangingPunct="0"/>
            <a:r>
              <a:rPr lang="en-US" sz="2200" b="1">
                <a:solidFill>
                  <a:srgbClr val="800000"/>
                </a:solidFill>
              </a:rPr>
              <a:t>String(char *s)</a:t>
            </a:r>
          </a:p>
          <a:p>
            <a:pPr eaLnBrk="0" hangingPunct="0"/>
            <a:r>
              <a:rPr lang="en-US" sz="2200" b="1">
                <a:solidFill>
                  <a:srgbClr val="800000"/>
                </a:solidFill>
              </a:rPr>
              <a:t>{</a:t>
            </a:r>
          </a:p>
          <a:p>
            <a:pPr eaLnBrk="0" hangingPunct="0"/>
            <a:r>
              <a:rPr lang="en-US" sz="2200" b="1">
                <a:solidFill>
                  <a:srgbClr val="800000"/>
                </a:solidFill>
              </a:rPr>
              <a:t>length=strlen(s);</a:t>
            </a:r>
          </a:p>
          <a:p>
            <a:pPr eaLnBrk="0" hangingPunct="0"/>
            <a:r>
              <a:rPr lang="en-US" sz="2200" b="1">
                <a:solidFill>
                  <a:srgbClr val="800000"/>
                </a:solidFill>
              </a:rPr>
              <a:t>str=new char;</a:t>
            </a:r>
          </a:p>
          <a:p>
            <a:pPr eaLnBrk="0" hangingPunct="0"/>
            <a:r>
              <a:rPr lang="en-US" sz="2200" b="1">
                <a:solidFill>
                  <a:srgbClr val="800000"/>
                </a:solidFill>
              </a:rPr>
              <a:t>strcpy(str,s);</a:t>
            </a:r>
          </a:p>
          <a:p>
            <a:pPr eaLnBrk="0" hangingPunct="0"/>
            <a:r>
              <a:rPr lang="en-US" sz="2200" b="1">
                <a:solidFill>
                  <a:srgbClr val="800000"/>
                </a:solidFill>
              </a:rPr>
              <a:t>}</a:t>
            </a:r>
          </a:p>
        </p:txBody>
      </p:sp>
      <p:sp>
        <p:nvSpPr>
          <p:cNvPr id="8195" name="Rectangle 3"/>
          <p:cNvSpPr>
            <a:spLocks noChangeArrowheads="1"/>
          </p:cNvSpPr>
          <p:nvPr/>
        </p:nvSpPr>
        <p:spPr bwMode="auto">
          <a:xfrm>
            <a:off x="4572000" y="0"/>
            <a:ext cx="4572000" cy="5334000"/>
          </a:xfrm>
          <a:prstGeom prst="rect">
            <a:avLst/>
          </a:prstGeom>
          <a:noFill/>
          <a:ln w="9525">
            <a:solidFill>
              <a:schemeClr val="tx2"/>
            </a:solidFill>
            <a:miter lim="800000"/>
            <a:headEnd/>
            <a:tailEnd/>
          </a:ln>
        </p:spPr>
        <p:txBody>
          <a:bodyPr>
            <a:spAutoFit/>
          </a:bodyPr>
          <a:lstStyle/>
          <a:p>
            <a:pPr eaLnBrk="0" hangingPunct="0"/>
            <a:r>
              <a:rPr lang="en-US" b="1">
                <a:solidFill>
                  <a:srgbClr val="FF5050"/>
                </a:solidFill>
                <a:latin typeface="Verdana" pitchFamily="34" charset="0"/>
              </a:rPr>
              <a:t>  </a:t>
            </a:r>
            <a:r>
              <a:rPr lang="en-US" sz="2000" b="1">
                <a:solidFill>
                  <a:srgbClr val="800000"/>
                </a:solidFill>
              </a:rPr>
              <a:t>~String()</a:t>
            </a:r>
          </a:p>
          <a:p>
            <a:pPr eaLnBrk="0" hangingPunct="0"/>
            <a:r>
              <a:rPr lang="en-US" sz="2000" b="1">
                <a:solidFill>
                  <a:srgbClr val="800000"/>
                </a:solidFill>
              </a:rPr>
              <a:t>        {</a:t>
            </a:r>
          </a:p>
          <a:p>
            <a:pPr eaLnBrk="0" hangingPunct="0"/>
            <a:r>
              <a:rPr lang="en-US" sz="2000" b="1">
                <a:solidFill>
                  <a:srgbClr val="800000"/>
                </a:solidFill>
              </a:rPr>
              <a:t>        delete str;</a:t>
            </a:r>
          </a:p>
          <a:p>
            <a:pPr eaLnBrk="0" hangingPunct="0"/>
            <a:r>
              <a:rPr lang="en-US" sz="2000" b="1">
                <a:solidFill>
                  <a:srgbClr val="800000"/>
                </a:solidFill>
              </a:rPr>
              <a:t>        }</a:t>
            </a:r>
          </a:p>
          <a:p>
            <a:pPr eaLnBrk="0" hangingPunct="0"/>
            <a:r>
              <a:rPr lang="en-US" sz="2000" b="1">
                <a:solidFill>
                  <a:srgbClr val="800000"/>
                </a:solidFill>
              </a:rPr>
              <a:t> void display()</a:t>
            </a:r>
          </a:p>
          <a:p>
            <a:pPr eaLnBrk="0" hangingPunct="0"/>
            <a:r>
              <a:rPr lang="en-US" sz="2000" b="1">
                <a:solidFill>
                  <a:srgbClr val="800000"/>
                </a:solidFill>
              </a:rPr>
              <a:t>        {</a:t>
            </a:r>
          </a:p>
          <a:p>
            <a:pPr eaLnBrk="0" hangingPunct="0"/>
            <a:r>
              <a:rPr lang="en-US" sz="2000" b="1">
                <a:solidFill>
                  <a:srgbClr val="800000"/>
                </a:solidFill>
              </a:rPr>
              <a:t>	cout&lt;&lt;str;</a:t>
            </a:r>
          </a:p>
          <a:p>
            <a:pPr eaLnBrk="0" hangingPunct="0"/>
            <a:r>
              <a:rPr lang="en-US" sz="2000" b="1">
                <a:solidFill>
                  <a:srgbClr val="800000"/>
                </a:solidFill>
              </a:rPr>
              <a:t>	cout&lt;&lt;"\n Destructor called";</a:t>
            </a:r>
          </a:p>
          <a:p>
            <a:pPr eaLnBrk="0" hangingPunct="0"/>
            <a:r>
              <a:rPr lang="en-US" sz="2000" b="1">
                <a:solidFill>
                  <a:srgbClr val="800000"/>
                </a:solidFill>
              </a:rPr>
              <a:t>        }</a:t>
            </a:r>
          </a:p>
          <a:p>
            <a:pPr eaLnBrk="0" hangingPunct="0"/>
            <a:r>
              <a:rPr lang="en-US" sz="2000" b="1">
                <a:solidFill>
                  <a:srgbClr val="800000"/>
                </a:solidFill>
              </a:rPr>
              <a:t>};</a:t>
            </a:r>
          </a:p>
          <a:p>
            <a:pPr eaLnBrk="0" hangingPunct="0"/>
            <a:r>
              <a:rPr lang="en-US" sz="2000" b="1">
                <a:solidFill>
                  <a:srgbClr val="800000"/>
                </a:solidFill>
              </a:rPr>
              <a:t>void main()</a:t>
            </a:r>
          </a:p>
          <a:p>
            <a:pPr eaLnBrk="0" hangingPunct="0"/>
            <a:r>
              <a:rPr lang="en-US" sz="2000" b="1">
                <a:solidFill>
                  <a:srgbClr val="800000"/>
                </a:solidFill>
              </a:rPr>
              <a:t>{</a:t>
            </a:r>
          </a:p>
          <a:p>
            <a:pPr eaLnBrk="0" hangingPunct="0"/>
            <a:r>
              <a:rPr lang="en-US" sz="2000" b="1">
                <a:solidFill>
                  <a:srgbClr val="800000"/>
                </a:solidFill>
              </a:rPr>
              <a:t>String s1("Lafore“);</a:t>
            </a:r>
          </a:p>
          <a:p>
            <a:pPr eaLnBrk="0" hangingPunct="0"/>
            <a:r>
              <a:rPr lang="en-US" sz="2000" b="1">
                <a:solidFill>
                  <a:srgbClr val="800000"/>
                </a:solidFill>
              </a:rPr>
              <a:t>s1.display();</a:t>
            </a:r>
          </a:p>
          <a:p>
            <a:pPr eaLnBrk="0" hangingPunct="0"/>
            <a:r>
              <a:rPr lang="en-US" sz="2000" b="1">
                <a:solidFill>
                  <a:srgbClr val="800000"/>
                </a:solidFill>
              </a:rPr>
              <a:t> cout&lt;&lt;length;</a:t>
            </a:r>
          </a:p>
          <a:p>
            <a:pPr eaLnBrk="0" hangingPunct="0"/>
            <a:r>
              <a:rPr lang="en-US" sz="2000" b="1">
                <a:solidFill>
                  <a:srgbClr val="800000"/>
                </a:solidFill>
              </a:rPr>
              <a:t>}</a:t>
            </a:r>
          </a:p>
        </p:txBody>
      </p:sp>
      <p:sp>
        <p:nvSpPr>
          <p:cNvPr id="8196" name="AutoShape 4"/>
          <p:cNvSpPr>
            <a:spLocks/>
          </p:cNvSpPr>
          <p:nvPr/>
        </p:nvSpPr>
        <p:spPr bwMode="auto">
          <a:xfrm>
            <a:off x="3124200" y="5638800"/>
            <a:ext cx="3810000" cy="1143000"/>
          </a:xfrm>
          <a:prstGeom prst="borderCallout2">
            <a:avLst>
              <a:gd name="adj1" fmla="val 10000"/>
              <a:gd name="adj2" fmla="val -2000"/>
              <a:gd name="adj3" fmla="val 10000"/>
              <a:gd name="adj4" fmla="val -37958"/>
              <a:gd name="adj5" fmla="val 10000"/>
              <a:gd name="adj6" fmla="val -43500"/>
            </a:avLst>
          </a:prstGeom>
          <a:solidFill>
            <a:schemeClr val="accent1"/>
          </a:solidFill>
          <a:ln w="9525">
            <a:solidFill>
              <a:srgbClr val="000000"/>
            </a:solidFill>
            <a:miter lim="800000"/>
            <a:headEnd/>
            <a:tailEnd/>
          </a:ln>
        </p:spPr>
        <p:txBody>
          <a:bodyPr/>
          <a:lstStyle/>
          <a:p>
            <a:pPr eaLnBrk="0" hangingPunct="0"/>
            <a:r>
              <a:rPr lang="en-US" sz="2000" b="1">
                <a:solidFill>
                  <a:srgbClr val="000000"/>
                </a:solidFill>
                <a:latin typeface="Verdana" pitchFamily="34" charset="0"/>
              </a:rPr>
              <a:t>Lafore</a:t>
            </a:r>
          </a:p>
          <a:p>
            <a:pPr eaLnBrk="0" hangingPunct="0"/>
            <a:r>
              <a:rPr lang="en-US" sz="2000" b="1">
                <a:solidFill>
                  <a:srgbClr val="000000"/>
                </a:solidFill>
                <a:latin typeface="Verdana" pitchFamily="34" charset="0"/>
              </a:rPr>
              <a:t>Destructor called</a:t>
            </a:r>
          </a:p>
          <a:p>
            <a:pPr eaLnBrk="0" hangingPunct="0"/>
            <a:r>
              <a:rPr lang="en-US" sz="2000" b="1">
                <a:solidFill>
                  <a:srgbClr val="000000"/>
                </a:solidFill>
                <a:latin typeface="Verdana" pitchFamily="34" charset="0"/>
              </a:rPr>
              <a:t>6</a:t>
            </a:r>
            <a:endParaRPr lang="en-US" b="1">
              <a:solidFill>
                <a:srgbClr val="000000"/>
              </a:solidFill>
              <a:latin typeface="Verdana" pitchFamily="34" charset="0"/>
            </a:endParaRPr>
          </a:p>
        </p:txBody>
      </p:sp>
      <p:sp>
        <p:nvSpPr>
          <p:cNvPr id="8197" name="Text Box 5"/>
          <p:cNvSpPr txBox="1">
            <a:spLocks noChangeArrowheads="1"/>
          </p:cNvSpPr>
          <p:nvPr/>
        </p:nvSpPr>
        <p:spPr bwMode="auto">
          <a:xfrm>
            <a:off x="-76200" y="5486400"/>
            <a:ext cx="1828800" cy="457200"/>
          </a:xfrm>
          <a:prstGeom prst="rect">
            <a:avLst/>
          </a:prstGeom>
          <a:noFill/>
          <a:ln w="9525">
            <a:noFill/>
            <a:miter lim="800000"/>
            <a:headEnd/>
            <a:tailEnd/>
          </a:ln>
        </p:spPr>
        <p:txBody>
          <a:bodyPr>
            <a:spAutoFit/>
          </a:bodyPr>
          <a:lstStyle/>
          <a:p>
            <a:pPr eaLnBrk="0" hangingPunct="0">
              <a:spcBef>
                <a:spcPct val="50000"/>
              </a:spcBef>
            </a:pPr>
            <a:r>
              <a:rPr lang="en-US" sz="2400" b="1">
                <a:solidFill>
                  <a:srgbClr val="000000"/>
                </a:solidFill>
                <a:latin typeface="Verdana" pitchFamily="34" charset="0"/>
              </a:rPr>
              <a:t>OUTPUT</a:t>
            </a:r>
          </a:p>
        </p:txBody>
      </p:sp>
    </p:spTree>
  </p:cSld>
  <p:clrMapOvr>
    <a:masterClrMapping/>
  </p:clrMapOvr>
  <p:timing>
    <p:tnLst>
      <p:par>
        <p:cTn id="1" dur="indefinite" restart="never" nodeType="tmRoot"/>
      </p:par>
    </p:tnLst>
  </p:timing>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ChangeArrowheads="1"/>
          </p:cNvSpPr>
          <p:nvPr/>
        </p:nvSpPr>
        <p:spPr bwMode="auto">
          <a:xfrm>
            <a:off x="914400" y="2271713"/>
            <a:ext cx="7391400" cy="3092450"/>
          </a:xfrm>
          <a:prstGeom prst="rect">
            <a:avLst/>
          </a:prstGeom>
          <a:noFill/>
          <a:ln w="76200" cmpd="tri">
            <a:solidFill>
              <a:schemeClr val="tx2"/>
            </a:solidFill>
            <a:miter lim="800000"/>
            <a:headEnd/>
            <a:tailEnd/>
          </a:ln>
        </p:spPr>
        <p:txBody>
          <a:bodyPr>
            <a:spAutoFit/>
          </a:bodyPr>
          <a:lstStyle/>
          <a:p>
            <a:pPr algn="just" eaLnBrk="0" hangingPunct="0"/>
            <a:r>
              <a:rPr lang="en-US" sz="3200" b="1">
                <a:solidFill>
                  <a:srgbClr val="800000"/>
                </a:solidFill>
                <a:latin typeface="Times New Roman" pitchFamily="18" charset="0"/>
              </a:rPr>
              <a:t>	It is a special pointer that exists for a class while a non-static  Member function is executing. </a:t>
            </a:r>
          </a:p>
          <a:p>
            <a:pPr algn="just" eaLnBrk="0" hangingPunct="0"/>
            <a:r>
              <a:rPr lang="en-US" sz="3200" b="1">
                <a:solidFill>
                  <a:srgbClr val="800000"/>
                </a:solidFill>
                <a:latin typeface="Times New Roman" pitchFamily="18" charset="0"/>
              </a:rPr>
              <a:t>	It is used to access the address of the Class itself and may return data items to the caller. </a:t>
            </a:r>
          </a:p>
        </p:txBody>
      </p:sp>
      <p:sp>
        <p:nvSpPr>
          <p:cNvPr id="9219" name="WordArt 3"/>
          <p:cNvSpPr>
            <a:spLocks noChangeArrowheads="1" noChangeShapeType="1" noTextEdit="1"/>
          </p:cNvSpPr>
          <p:nvPr/>
        </p:nvSpPr>
        <p:spPr bwMode="auto">
          <a:xfrm>
            <a:off x="1905000" y="1066800"/>
            <a:ext cx="5943600" cy="228600"/>
          </a:xfrm>
          <a:prstGeom prst="rect">
            <a:avLst/>
          </a:prstGeom>
        </p:spPr>
        <p:txBody>
          <a:bodyPr spcFirstLastPara="1" wrap="none" fromWordArt="1">
            <a:prstTxWarp prst="textArchUp">
              <a:avLst>
                <a:gd name="adj" fmla="val 10800004"/>
              </a:avLst>
            </a:prstTxWarp>
          </a:bodyPr>
          <a:lstStyle/>
          <a:p>
            <a:pPr algn="ctr"/>
            <a:r>
              <a:rPr lang="en-IN" sz="4400" b="1" kern="10">
                <a:ln w="9525">
                  <a:solidFill>
                    <a:srgbClr val="000000"/>
                  </a:solidFill>
                  <a:round/>
                  <a:headEnd/>
                  <a:tailEnd/>
                </a:ln>
                <a:gradFill rotWithShape="1">
                  <a:gsLst>
                    <a:gs pos="0">
                      <a:srgbClr val="FF8200"/>
                    </a:gs>
                    <a:gs pos="5000">
                      <a:srgbClr val="FF0000"/>
                    </a:gs>
                    <a:gs pos="17500">
                      <a:srgbClr val="BA0066"/>
                    </a:gs>
                    <a:gs pos="35001">
                      <a:srgbClr val="66008F"/>
                    </a:gs>
                    <a:gs pos="50000">
                      <a:srgbClr val="000082"/>
                    </a:gs>
                    <a:gs pos="64999">
                      <a:srgbClr val="66008F"/>
                    </a:gs>
                    <a:gs pos="82500">
                      <a:srgbClr val="BA0066"/>
                    </a:gs>
                    <a:gs pos="95000">
                      <a:srgbClr val="FF0000"/>
                    </a:gs>
                    <a:gs pos="100000">
                      <a:srgbClr val="FF8200"/>
                    </a:gs>
                  </a:gsLst>
                  <a:lin ang="5400000" scaled="1"/>
                </a:gradFill>
                <a:latin typeface="Times New Roman"/>
                <a:cs typeface="Times New Roman"/>
              </a:rPr>
              <a:t>this Pointer</a:t>
            </a:r>
          </a:p>
        </p:txBody>
      </p:sp>
      <p:sp>
        <p:nvSpPr>
          <p:cNvPr id="9220" name="Line 4"/>
          <p:cNvSpPr>
            <a:spLocks noChangeShapeType="1"/>
          </p:cNvSpPr>
          <p:nvPr/>
        </p:nvSpPr>
        <p:spPr bwMode="auto">
          <a:xfrm flipH="1">
            <a:off x="3962400" y="1447800"/>
            <a:ext cx="1143000" cy="660400"/>
          </a:xfrm>
          <a:prstGeom prst="line">
            <a:avLst/>
          </a:prstGeom>
          <a:noFill/>
          <a:ln w="57150">
            <a:solidFill>
              <a:srgbClr val="FF66CC"/>
            </a:solidFill>
            <a:round/>
            <a:headEnd/>
            <a:tailEnd type="triangle" w="med" len="med"/>
          </a:ln>
        </p:spPr>
        <p:txBody>
          <a:bodyPr/>
          <a:lstStyle/>
          <a:p>
            <a:endParaRPr lang="en-IN"/>
          </a:p>
        </p:txBody>
      </p:sp>
    </p:spTree>
  </p:cSld>
  <p:clrMapOvr>
    <a:masterClrMapping/>
  </p:clrMapOvr>
  <p:timing>
    <p:tnLst>
      <p:par>
        <p:cTn id="1" dur="indefinite" restart="never" nodeType="tmRoot"/>
      </p:par>
    </p:tnLst>
  </p:timing>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ChangeArrowheads="1"/>
          </p:cNvSpPr>
          <p:nvPr/>
        </p:nvSpPr>
        <p:spPr bwMode="auto">
          <a:xfrm>
            <a:off x="0" y="76200"/>
            <a:ext cx="5105400" cy="5588000"/>
          </a:xfrm>
          <a:prstGeom prst="rect">
            <a:avLst/>
          </a:prstGeom>
          <a:noFill/>
          <a:ln w="9525">
            <a:solidFill>
              <a:srgbClr val="FF66CC"/>
            </a:solidFill>
            <a:miter lim="800000"/>
            <a:headEnd/>
            <a:tailEnd/>
          </a:ln>
        </p:spPr>
        <p:txBody>
          <a:bodyPr>
            <a:spAutoFit/>
          </a:bodyPr>
          <a:lstStyle/>
          <a:p>
            <a:pPr eaLnBrk="0" hangingPunct="0"/>
            <a:r>
              <a:rPr lang="en-US" sz="2000" b="1">
                <a:solidFill>
                  <a:srgbClr val="800000"/>
                </a:solidFill>
              </a:rPr>
              <a:t>#include&lt;iostream.h&gt;</a:t>
            </a:r>
          </a:p>
          <a:p>
            <a:pPr eaLnBrk="0" hangingPunct="0"/>
            <a:r>
              <a:rPr lang="en-US" sz="2000" b="1">
                <a:solidFill>
                  <a:srgbClr val="800000"/>
                </a:solidFill>
              </a:rPr>
              <a:t>class rectangle</a:t>
            </a:r>
          </a:p>
          <a:p>
            <a:pPr eaLnBrk="0" hangingPunct="0"/>
            <a:r>
              <a:rPr lang="en-US" sz="2000" b="1">
                <a:solidFill>
                  <a:srgbClr val="800000"/>
                </a:solidFill>
              </a:rPr>
              <a:t>{</a:t>
            </a:r>
          </a:p>
          <a:p>
            <a:pPr eaLnBrk="0" hangingPunct="0"/>
            <a:r>
              <a:rPr lang="en-US" sz="2000" b="1">
                <a:solidFill>
                  <a:srgbClr val="800000"/>
                </a:solidFill>
              </a:rPr>
              <a:t>private :</a:t>
            </a:r>
          </a:p>
          <a:p>
            <a:pPr eaLnBrk="0" hangingPunct="0"/>
            <a:r>
              <a:rPr lang="en-US" sz="2000" b="1">
                <a:solidFill>
                  <a:srgbClr val="800000"/>
                </a:solidFill>
              </a:rPr>
              <a:t>	int length,breadth;</a:t>
            </a:r>
          </a:p>
          <a:p>
            <a:pPr eaLnBrk="0" hangingPunct="0"/>
            <a:r>
              <a:rPr lang="en-US" sz="2000" b="1">
                <a:solidFill>
                  <a:srgbClr val="800000"/>
                </a:solidFill>
              </a:rPr>
              <a:t>public :</a:t>
            </a:r>
          </a:p>
          <a:p>
            <a:pPr eaLnBrk="0" hangingPunct="0"/>
            <a:r>
              <a:rPr lang="en-US" sz="2000" b="1">
                <a:solidFill>
                  <a:srgbClr val="800000"/>
                </a:solidFill>
              </a:rPr>
              <a:t>	void set_data(int,int);</a:t>
            </a:r>
          </a:p>
          <a:p>
            <a:pPr eaLnBrk="0" hangingPunct="0"/>
            <a:r>
              <a:rPr lang="en-US" sz="2000" b="1">
                <a:solidFill>
                  <a:srgbClr val="800000"/>
                </a:solidFill>
              </a:rPr>
              <a:t>	 void show();</a:t>
            </a:r>
          </a:p>
          <a:p>
            <a:pPr eaLnBrk="0" hangingPunct="0"/>
            <a:r>
              <a:rPr lang="en-US" sz="2000" b="1">
                <a:solidFill>
                  <a:srgbClr val="800000"/>
                </a:solidFill>
              </a:rPr>
              <a:t>};</a:t>
            </a:r>
          </a:p>
          <a:p>
            <a:pPr eaLnBrk="0" hangingPunct="0"/>
            <a:r>
              <a:rPr lang="en-US" sz="2000" b="1">
                <a:solidFill>
                  <a:srgbClr val="800000"/>
                </a:solidFill>
              </a:rPr>
              <a:t>void rectangle::set_data(int l,int b)</a:t>
            </a:r>
          </a:p>
          <a:p>
            <a:pPr eaLnBrk="0" hangingPunct="0"/>
            <a:r>
              <a:rPr lang="en-US" sz="2000" b="1">
                <a:solidFill>
                  <a:srgbClr val="800000"/>
                </a:solidFill>
              </a:rPr>
              <a:t>{</a:t>
            </a:r>
          </a:p>
          <a:p>
            <a:pPr eaLnBrk="0" hangingPunct="0"/>
            <a:r>
              <a:rPr lang="en-US" sz="2000" b="1">
                <a:solidFill>
                  <a:srgbClr val="800000"/>
                </a:solidFill>
              </a:rPr>
              <a:t>this-&gt;length=l;</a:t>
            </a:r>
          </a:p>
          <a:p>
            <a:pPr eaLnBrk="0" hangingPunct="0"/>
            <a:r>
              <a:rPr lang="en-US" sz="2000" b="1">
                <a:solidFill>
                  <a:srgbClr val="800000"/>
                </a:solidFill>
              </a:rPr>
              <a:t>this-&gt;breadth=b;</a:t>
            </a:r>
          </a:p>
          <a:p>
            <a:pPr eaLnBrk="0" hangingPunct="0"/>
            <a:r>
              <a:rPr lang="en-US" sz="2000" b="1">
                <a:solidFill>
                  <a:srgbClr val="800000"/>
                </a:solidFill>
              </a:rPr>
              <a:t>}</a:t>
            </a:r>
          </a:p>
          <a:p>
            <a:pPr eaLnBrk="0" hangingPunct="0"/>
            <a:r>
              <a:rPr lang="en-US" sz="2000" b="1">
                <a:solidFill>
                  <a:srgbClr val="800000"/>
                </a:solidFill>
              </a:rPr>
              <a:t>void rectangle ::show()</a:t>
            </a:r>
          </a:p>
          <a:p>
            <a:pPr eaLnBrk="0" hangingPunct="0"/>
            <a:r>
              <a:rPr lang="en-US" sz="2000" b="1">
                <a:solidFill>
                  <a:srgbClr val="800000"/>
                </a:solidFill>
              </a:rPr>
              <a:t>{</a:t>
            </a:r>
          </a:p>
          <a:p>
            <a:pPr eaLnBrk="0" hangingPunct="0"/>
            <a:r>
              <a:rPr lang="en-US" sz="2000" b="1">
                <a:solidFill>
                  <a:srgbClr val="800000"/>
                </a:solidFill>
              </a:rPr>
              <a:t>cout&lt;&lt;this-&gt;length&lt;&lt;this-&gt;breadth ;</a:t>
            </a:r>
          </a:p>
          <a:p>
            <a:pPr eaLnBrk="0" hangingPunct="0"/>
            <a:r>
              <a:rPr lang="en-US" sz="2000" b="1">
                <a:solidFill>
                  <a:srgbClr val="800000"/>
                </a:solidFill>
              </a:rPr>
              <a:t>}</a:t>
            </a:r>
          </a:p>
        </p:txBody>
      </p:sp>
      <p:sp>
        <p:nvSpPr>
          <p:cNvPr id="10243" name="Rectangle 3"/>
          <p:cNvSpPr>
            <a:spLocks noChangeArrowheads="1"/>
          </p:cNvSpPr>
          <p:nvPr/>
        </p:nvSpPr>
        <p:spPr bwMode="auto">
          <a:xfrm>
            <a:off x="5181600" y="381000"/>
            <a:ext cx="3962400" cy="1930400"/>
          </a:xfrm>
          <a:prstGeom prst="rect">
            <a:avLst/>
          </a:prstGeom>
          <a:noFill/>
          <a:ln w="9525">
            <a:solidFill>
              <a:srgbClr val="FF66CC"/>
            </a:solidFill>
            <a:miter lim="800000"/>
            <a:headEnd/>
            <a:tailEnd/>
          </a:ln>
        </p:spPr>
        <p:txBody>
          <a:bodyPr>
            <a:spAutoFit/>
          </a:bodyPr>
          <a:lstStyle/>
          <a:p>
            <a:pPr eaLnBrk="0" hangingPunct="0"/>
            <a:r>
              <a:rPr lang="en-US" sz="2000" b="1">
                <a:solidFill>
                  <a:srgbClr val="800000"/>
                </a:solidFill>
              </a:rPr>
              <a:t>void main()</a:t>
            </a:r>
          </a:p>
          <a:p>
            <a:pPr eaLnBrk="0" hangingPunct="0"/>
            <a:r>
              <a:rPr lang="en-US" sz="2000" b="1">
                <a:solidFill>
                  <a:srgbClr val="800000"/>
                </a:solidFill>
              </a:rPr>
              <a:t>{</a:t>
            </a:r>
          </a:p>
          <a:p>
            <a:pPr eaLnBrk="0" hangingPunct="0"/>
            <a:r>
              <a:rPr lang="en-US" sz="2000" b="1">
                <a:solidFill>
                  <a:srgbClr val="800000"/>
                </a:solidFill>
              </a:rPr>
              <a:t>rectangle r;</a:t>
            </a:r>
          </a:p>
          <a:p>
            <a:pPr eaLnBrk="0" hangingPunct="0"/>
            <a:r>
              <a:rPr lang="en-US" sz="2000" b="1">
                <a:solidFill>
                  <a:srgbClr val="800000"/>
                </a:solidFill>
              </a:rPr>
              <a:t>r.set_data(10,20);</a:t>
            </a:r>
          </a:p>
          <a:p>
            <a:pPr eaLnBrk="0" hangingPunct="0"/>
            <a:r>
              <a:rPr lang="en-US" sz="2000" b="1">
                <a:solidFill>
                  <a:srgbClr val="800000"/>
                </a:solidFill>
              </a:rPr>
              <a:t>r.show();</a:t>
            </a:r>
          </a:p>
          <a:p>
            <a:pPr eaLnBrk="0" hangingPunct="0"/>
            <a:r>
              <a:rPr lang="en-US" sz="2000" b="1">
                <a:solidFill>
                  <a:srgbClr val="800000"/>
                </a:solidFill>
              </a:rPr>
              <a:t>}</a:t>
            </a:r>
          </a:p>
        </p:txBody>
      </p:sp>
      <p:sp>
        <p:nvSpPr>
          <p:cNvPr id="10244" name="AutoShape 4"/>
          <p:cNvSpPr>
            <a:spLocks/>
          </p:cNvSpPr>
          <p:nvPr/>
        </p:nvSpPr>
        <p:spPr bwMode="auto">
          <a:xfrm>
            <a:off x="7315200" y="3352800"/>
            <a:ext cx="1447800" cy="533400"/>
          </a:xfrm>
          <a:prstGeom prst="borderCallout2">
            <a:avLst>
              <a:gd name="adj1" fmla="val 21431"/>
              <a:gd name="adj2" fmla="val -5264"/>
              <a:gd name="adj3" fmla="val 21431"/>
              <a:gd name="adj4" fmla="val -49343"/>
              <a:gd name="adj5" fmla="val 78569"/>
              <a:gd name="adj6" fmla="val -94736"/>
            </a:avLst>
          </a:prstGeom>
          <a:solidFill>
            <a:schemeClr val="accent1"/>
          </a:solidFill>
          <a:ln w="9525">
            <a:solidFill>
              <a:srgbClr val="000000"/>
            </a:solidFill>
            <a:miter lim="800000"/>
            <a:headEnd/>
            <a:tailEnd/>
          </a:ln>
        </p:spPr>
        <p:txBody>
          <a:bodyPr/>
          <a:lstStyle/>
          <a:p>
            <a:pPr eaLnBrk="0" hangingPunct="0"/>
            <a:r>
              <a:rPr lang="en-US" sz="2000" b="1">
                <a:solidFill>
                  <a:srgbClr val="000000"/>
                </a:solidFill>
                <a:latin typeface="Verdana" pitchFamily="34" charset="0"/>
              </a:rPr>
              <a:t>10     20</a:t>
            </a:r>
          </a:p>
          <a:p>
            <a:pPr eaLnBrk="0" hangingPunct="0"/>
            <a:endParaRPr lang="en-US" b="1">
              <a:solidFill>
                <a:srgbClr val="000000"/>
              </a:solidFill>
              <a:latin typeface="Verdana" pitchFamily="34" charset="0"/>
            </a:endParaRPr>
          </a:p>
        </p:txBody>
      </p:sp>
      <p:sp>
        <p:nvSpPr>
          <p:cNvPr id="10245" name="Text Box 5"/>
          <p:cNvSpPr txBox="1">
            <a:spLocks noChangeArrowheads="1"/>
          </p:cNvSpPr>
          <p:nvPr/>
        </p:nvSpPr>
        <p:spPr bwMode="auto">
          <a:xfrm>
            <a:off x="4267200" y="3581400"/>
            <a:ext cx="1828800" cy="457200"/>
          </a:xfrm>
          <a:prstGeom prst="rect">
            <a:avLst/>
          </a:prstGeom>
          <a:noFill/>
          <a:ln w="9525">
            <a:noFill/>
            <a:miter lim="800000"/>
            <a:headEnd/>
            <a:tailEnd/>
          </a:ln>
        </p:spPr>
        <p:txBody>
          <a:bodyPr>
            <a:spAutoFit/>
          </a:bodyPr>
          <a:lstStyle/>
          <a:p>
            <a:pPr eaLnBrk="0" hangingPunct="0">
              <a:spcBef>
                <a:spcPct val="50000"/>
              </a:spcBef>
            </a:pPr>
            <a:r>
              <a:rPr lang="en-US" sz="2400" b="1">
                <a:solidFill>
                  <a:srgbClr val="000000"/>
                </a:solidFill>
                <a:latin typeface="Verdana" pitchFamily="34" charset="0"/>
              </a:rPr>
              <a:t>OUTPUT</a:t>
            </a:r>
          </a:p>
        </p:txBody>
      </p:sp>
    </p:spTree>
  </p:cSld>
  <p:clrMapOvr>
    <a:masterClrMapping/>
  </p:clrMapOvr>
  <p:timing>
    <p:tnLst>
      <p:par>
        <p:cTn id="1" dur="indefinite" restart="never" nodeType="tmRoot"/>
      </p:par>
    </p:tnLst>
  </p:timing>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Footer Placeholder 2"/>
          <p:cNvSpPr>
            <a:spLocks noGrp="1"/>
          </p:cNvSpPr>
          <p:nvPr>
            <p:ph type="ftr" sz="quarter" idx="11"/>
          </p:nvPr>
        </p:nvSpPr>
        <p:spPr>
          <a:noFill/>
        </p:spPr>
        <p:txBody>
          <a:bodyPr/>
          <a:lstStyle/>
          <a:p>
            <a:r>
              <a:rPr lang="en-US" smtClean="0">
                <a:latin typeface="Arial" pitchFamily="34" charset="0"/>
              </a:rPr>
              <a:t>CSC COMPUTER EDUCATION, Kodungaiyur,Ch-118</a:t>
            </a:r>
          </a:p>
        </p:txBody>
      </p:sp>
      <p:sp>
        <p:nvSpPr>
          <p:cNvPr id="11267" name="Rectangle 2"/>
          <p:cNvSpPr>
            <a:spLocks noChangeArrowheads="1"/>
          </p:cNvSpPr>
          <p:nvPr/>
        </p:nvSpPr>
        <p:spPr bwMode="auto">
          <a:xfrm>
            <a:off x="152400" y="174625"/>
            <a:ext cx="5867400" cy="5700713"/>
          </a:xfrm>
          <a:prstGeom prst="rect">
            <a:avLst/>
          </a:prstGeom>
          <a:noFill/>
          <a:ln w="9525">
            <a:solidFill>
              <a:srgbClr val="FF66CC"/>
            </a:solidFill>
            <a:miter lim="800000"/>
            <a:headEnd/>
            <a:tailEnd/>
          </a:ln>
        </p:spPr>
        <p:txBody>
          <a:bodyPr>
            <a:spAutoFit/>
          </a:bodyPr>
          <a:lstStyle/>
          <a:p>
            <a:pPr eaLnBrk="0" hangingPunct="0"/>
            <a:r>
              <a:rPr lang="en-US" sz="3200" b="1">
                <a:solidFill>
                  <a:srgbClr val="CC0066"/>
                </a:solidFill>
              </a:rPr>
              <a:t>this pointer Example</a:t>
            </a:r>
          </a:p>
          <a:p>
            <a:pPr eaLnBrk="0" hangingPunct="0"/>
            <a:r>
              <a:rPr lang="en-US" sz="2400" b="1">
                <a:solidFill>
                  <a:srgbClr val="800000"/>
                </a:solidFill>
              </a:rPr>
              <a:t>#include&lt;iostream.h&gt;</a:t>
            </a:r>
          </a:p>
          <a:p>
            <a:pPr eaLnBrk="0" hangingPunct="0"/>
            <a:r>
              <a:rPr lang="en-US" sz="2400" b="1">
                <a:solidFill>
                  <a:srgbClr val="800000"/>
                </a:solidFill>
              </a:rPr>
              <a:t>#include&lt;conio.h&gt;</a:t>
            </a:r>
          </a:p>
          <a:p>
            <a:pPr eaLnBrk="0" hangingPunct="0"/>
            <a:r>
              <a:rPr lang="en-US" sz="2400" b="1">
                <a:solidFill>
                  <a:srgbClr val="800000"/>
                </a:solidFill>
              </a:rPr>
              <a:t>class ptr</a:t>
            </a:r>
          </a:p>
          <a:p>
            <a:pPr eaLnBrk="0" hangingPunct="0"/>
            <a:r>
              <a:rPr lang="en-US" sz="2400" b="1">
                <a:solidFill>
                  <a:srgbClr val="800000"/>
                </a:solidFill>
              </a:rPr>
              <a:t>{</a:t>
            </a:r>
          </a:p>
          <a:p>
            <a:pPr eaLnBrk="0" hangingPunct="0"/>
            <a:r>
              <a:rPr lang="en-US" sz="2400" b="1">
                <a:solidFill>
                  <a:srgbClr val="800000"/>
                </a:solidFill>
              </a:rPr>
              <a:t>private:</a:t>
            </a:r>
          </a:p>
          <a:p>
            <a:pPr eaLnBrk="0" hangingPunct="0"/>
            <a:r>
              <a:rPr lang="en-US" sz="2400" b="1">
                <a:solidFill>
                  <a:srgbClr val="800000"/>
                </a:solidFill>
              </a:rPr>
              <a:t>int a;</a:t>
            </a:r>
          </a:p>
          <a:p>
            <a:pPr eaLnBrk="0" hangingPunct="0"/>
            <a:r>
              <a:rPr lang="en-US" sz="2400" b="1">
                <a:solidFill>
                  <a:srgbClr val="800000"/>
                </a:solidFill>
              </a:rPr>
              <a:t>public:</a:t>
            </a:r>
          </a:p>
          <a:p>
            <a:pPr eaLnBrk="0" hangingPunct="0"/>
            <a:r>
              <a:rPr lang="en-US" sz="2400" b="1">
                <a:solidFill>
                  <a:srgbClr val="800000"/>
                </a:solidFill>
              </a:rPr>
              <a:t>void b()</a:t>
            </a:r>
          </a:p>
          <a:p>
            <a:pPr eaLnBrk="0" hangingPunct="0"/>
            <a:r>
              <a:rPr lang="en-US" sz="2400" b="1">
                <a:solidFill>
                  <a:srgbClr val="800000"/>
                </a:solidFill>
              </a:rPr>
              <a:t>{</a:t>
            </a:r>
          </a:p>
          <a:p>
            <a:pPr eaLnBrk="0" hangingPunct="0"/>
            <a:r>
              <a:rPr lang="en-US" sz="2400" b="1">
                <a:solidFill>
                  <a:srgbClr val="800000"/>
                </a:solidFill>
              </a:rPr>
              <a:t>a=10;</a:t>
            </a:r>
          </a:p>
          <a:p>
            <a:pPr eaLnBrk="0" hangingPunct="0"/>
            <a:r>
              <a:rPr lang="en-US" sz="2400" b="1">
                <a:solidFill>
                  <a:srgbClr val="800000"/>
                </a:solidFill>
              </a:rPr>
              <a:t>cout&lt;&lt;"this-&gt; a value is"&lt;&lt;this-&gt;a;</a:t>
            </a:r>
          </a:p>
          <a:p>
            <a:pPr eaLnBrk="0" hangingPunct="0"/>
            <a:r>
              <a:rPr lang="en-US" sz="2400" b="1">
                <a:solidFill>
                  <a:srgbClr val="800000"/>
                </a:solidFill>
              </a:rPr>
              <a:t>cout&lt;&lt;"\n (*this).a value is“ &lt;&lt;(*this).a;</a:t>
            </a:r>
          </a:p>
          <a:p>
            <a:pPr eaLnBrk="0" hangingPunct="0"/>
            <a:r>
              <a:rPr lang="en-US" sz="2400" b="1">
                <a:solidFill>
                  <a:srgbClr val="800000"/>
                </a:solidFill>
              </a:rPr>
              <a:t>}</a:t>
            </a:r>
          </a:p>
          <a:p>
            <a:pPr eaLnBrk="0" hangingPunct="0"/>
            <a:r>
              <a:rPr lang="en-US" sz="2400" b="1">
                <a:solidFill>
                  <a:srgbClr val="800000"/>
                </a:solidFill>
              </a:rPr>
              <a:t>};</a:t>
            </a:r>
          </a:p>
        </p:txBody>
      </p:sp>
      <p:sp>
        <p:nvSpPr>
          <p:cNvPr id="11268" name="Rectangle 3"/>
          <p:cNvSpPr>
            <a:spLocks noChangeArrowheads="1"/>
          </p:cNvSpPr>
          <p:nvPr/>
        </p:nvSpPr>
        <p:spPr bwMode="auto">
          <a:xfrm>
            <a:off x="6096000" y="228600"/>
            <a:ext cx="3048000" cy="2657475"/>
          </a:xfrm>
          <a:prstGeom prst="rect">
            <a:avLst/>
          </a:prstGeom>
          <a:noFill/>
          <a:ln w="9525">
            <a:solidFill>
              <a:srgbClr val="FF66CC"/>
            </a:solidFill>
            <a:miter lim="800000"/>
            <a:headEnd/>
            <a:tailEnd/>
          </a:ln>
        </p:spPr>
        <p:txBody>
          <a:bodyPr>
            <a:spAutoFit/>
          </a:bodyPr>
          <a:lstStyle/>
          <a:p>
            <a:pPr eaLnBrk="0" hangingPunct="0"/>
            <a:r>
              <a:rPr lang="en-US" sz="2400" b="1">
                <a:solidFill>
                  <a:srgbClr val="800000"/>
                </a:solidFill>
              </a:rPr>
              <a:t>void main()</a:t>
            </a:r>
          </a:p>
          <a:p>
            <a:pPr eaLnBrk="0" hangingPunct="0"/>
            <a:r>
              <a:rPr lang="en-US" sz="2400" b="1">
                <a:solidFill>
                  <a:srgbClr val="800000"/>
                </a:solidFill>
              </a:rPr>
              <a:t>{</a:t>
            </a:r>
          </a:p>
          <a:p>
            <a:pPr eaLnBrk="0" hangingPunct="0"/>
            <a:r>
              <a:rPr lang="en-US" sz="2400" b="1">
                <a:solidFill>
                  <a:srgbClr val="800000"/>
                </a:solidFill>
              </a:rPr>
              <a:t>ptr p;</a:t>
            </a:r>
          </a:p>
          <a:p>
            <a:pPr eaLnBrk="0" hangingPunct="0"/>
            <a:r>
              <a:rPr lang="en-US" sz="2400" b="1">
                <a:solidFill>
                  <a:srgbClr val="800000"/>
                </a:solidFill>
              </a:rPr>
              <a:t>clrscr();</a:t>
            </a:r>
          </a:p>
          <a:p>
            <a:pPr eaLnBrk="0" hangingPunct="0"/>
            <a:r>
              <a:rPr lang="en-US" sz="2400" b="1">
                <a:solidFill>
                  <a:srgbClr val="800000"/>
                </a:solidFill>
              </a:rPr>
              <a:t>p.b();</a:t>
            </a:r>
          </a:p>
          <a:p>
            <a:pPr eaLnBrk="0" hangingPunct="0"/>
            <a:r>
              <a:rPr lang="en-US" sz="2400" b="1">
                <a:solidFill>
                  <a:srgbClr val="800000"/>
                </a:solidFill>
              </a:rPr>
              <a:t>getch();</a:t>
            </a:r>
          </a:p>
          <a:p>
            <a:pPr eaLnBrk="0" hangingPunct="0"/>
            <a:r>
              <a:rPr lang="en-US" sz="2400" b="1">
                <a:solidFill>
                  <a:srgbClr val="800000"/>
                </a:solidFill>
              </a:rPr>
              <a:t>}</a:t>
            </a:r>
          </a:p>
        </p:txBody>
      </p:sp>
      <p:sp>
        <p:nvSpPr>
          <p:cNvPr id="11269" name="AutoShape 4"/>
          <p:cNvSpPr>
            <a:spLocks/>
          </p:cNvSpPr>
          <p:nvPr/>
        </p:nvSpPr>
        <p:spPr bwMode="auto">
          <a:xfrm>
            <a:off x="6019800" y="5715000"/>
            <a:ext cx="3048000" cy="990600"/>
          </a:xfrm>
          <a:prstGeom prst="borderCallout2">
            <a:avLst>
              <a:gd name="adj1" fmla="val 11537"/>
              <a:gd name="adj2" fmla="val -2500"/>
              <a:gd name="adj3" fmla="val 11537"/>
              <a:gd name="adj4" fmla="val -23440"/>
              <a:gd name="adj5" fmla="val 42306"/>
              <a:gd name="adj6" fmla="val -45000"/>
            </a:avLst>
          </a:prstGeom>
          <a:solidFill>
            <a:schemeClr val="accent1"/>
          </a:solidFill>
          <a:ln w="9525">
            <a:solidFill>
              <a:srgbClr val="000000"/>
            </a:solidFill>
            <a:miter lim="800000"/>
            <a:headEnd/>
            <a:tailEnd/>
          </a:ln>
        </p:spPr>
        <p:txBody>
          <a:bodyPr/>
          <a:lstStyle/>
          <a:p>
            <a:pPr eaLnBrk="0" hangingPunct="0"/>
            <a:r>
              <a:rPr lang="en-US" sz="2000" b="1">
                <a:solidFill>
                  <a:srgbClr val="000000"/>
                </a:solidFill>
                <a:latin typeface="Verdana" pitchFamily="34" charset="0"/>
              </a:rPr>
              <a:t>this-&gt; a value is 10</a:t>
            </a:r>
          </a:p>
          <a:p>
            <a:pPr eaLnBrk="0" hangingPunct="0"/>
            <a:r>
              <a:rPr lang="en-US" sz="2000" b="1">
                <a:solidFill>
                  <a:srgbClr val="000000"/>
                </a:solidFill>
                <a:latin typeface="Verdana" pitchFamily="34" charset="0"/>
              </a:rPr>
              <a:t>(*this).a value is 10</a:t>
            </a:r>
            <a:endParaRPr lang="en-US" b="1">
              <a:solidFill>
                <a:srgbClr val="000000"/>
              </a:solidFill>
              <a:latin typeface="Verdana" pitchFamily="34" charset="0"/>
            </a:endParaRPr>
          </a:p>
        </p:txBody>
      </p:sp>
      <p:sp>
        <p:nvSpPr>
          <p:cNvPr id="11270" name="Text Box 5"/>
          <p:cNvSpPr txBox="1">
            <a:spLocks noChangeArrowheads="1"/>
          </p:cNvSpPr>
          <p:nvPr/>
        </p:nvSpPr>
        <p:spPr bwMode="auto">
          <a:xfrm>
            <a:off x="2971800" y="5943600"/>
            <a:ext cx="1828800" cy="457200"/>
          </a:xfrm>
          <a:prstGeom prst="rect">
            <a:avLst/>
          </a:prstGeom>
          <a:noFill/>
          <a:ln w="9525">
            <a:noFill/>
            <a:miter lim="800000"/>
            <a:headEnd/>
            <a:tailEnd/>
          </a:ln>
        </p:spPr>
        <p:txBody>
          <a:bodyPr>
            <a:spAutoFit/>
          </a:bodyPr>
          <a:lstStyle/>
          <a:p>
            <a:pPr eaLnBrk="0" hangingPunct="0">
              <a:spcBef>
                <a:spcPct val="50000"/>
              </a:spcBef>
            </a:pPr>
            <a:r>
              <a:rPr lang="en-US" sz="2400" b="1">
                <a:solidFill>
                  <a:srgbClr val="000000"/>
                </a:solidFill>
                <a:latin typeface="Verdana" pitchFamily="34" charset="0"/>
              </a:rPr>
              <a:t>OUTPUT</a:t>
            </a:r>
          </a:p>
        </p:txBody>
      </p:sp>
    </p:spTree>
  </p:cSld>
  <p:clrMapOvr>
    <a:masterClrMapping/>
  </p:clrMapOvr>
  <p:timing>
    <p:tnLst>
      <p:par>
        <p:cTn id="1" dur="indefinite" restart="never" nodeType="tmRoot"/>
      </p:par>
    </p:tnLst>
  </p:timing>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WordArt 2"/>
          <p:cNvSpPr>
            <a:spLocks noChangeArrowheads="1" noChangeShapeType="1" noTextEdit="1"/>
          </p:cNvSpPr>
          <p:nvPr/>
        </p:nvSpPr>
        <p:spPr bwMode="auto">
          <a:xfrm>
            <a:off x="1219200" y="3276600"/>
            <a:ext cx="7086600" cy="914400"/>
          </a:xfrm>
          <a:prstGeom prst="rect">
            <a:avLst/>
          </a:prstGeom>
        </p:spPr>
        <p:txBody>
          <a:bodyPr wrap="none" fromWordArt="1">
            <a:prstTxWarp prst="textChevron">
              <a:avLst>
                <a:gd name="adj" fmla="val 25000"/>
              </a:avLst>
            </a:prstTxWarp>
          </a:bodyPr>
          <a:lstStyle/>
          <a:p>
            <a:pPr algn="ctr"/>
            <a:r>
              <a:rPr lang="en-IN" sz="3600" kern="10">
                <a:ln w="12700">
                  <a:solidFill>
                    <a:srgbClr val="B2B2B2"/>
                  </a:solidFill>
                  <a:round/>
                  <a:headEnd/>
                  <a:tailEnd/>
                </a:ln>
                <a:solidFill>
                  <a:srgbClr val="FF0000"/>
                </a:solidFill>
                <a:effectLst>
                  <a:outerShdw dist="35921" dir="2700000" sy="50000" rotWithShape="0">
                    <a:srgbClr val="875B0D">
                      <a:alpha val="70000"/>
                    </a:srgbClr>
                  </a:outerShdw>
                </a:effectLst>
                <a:latin typeface="Arial Black"/>
              </a:rPr>
              <a:t>Files &amp; Streams</a:t>
            </a:r>
          </a:p>
        </p:txBody>
      </p:sp>
      <p:sp>
        <p:nvSpPr>
          <p:cNvPr id="2051" name="WordArt 3"/>
          <p:cNvSpPr>
            <a:spLocks noChangeArrowheads="1" noChangeShapeType="1" noTextEdit="1"/>
          </p:cNvSpPr>
          <p:nvPr/>
        </p:nvSpPr>
        <p:spPr bwMode="auto">
          <a:xfrm>
            <a:off x="3124200" y="1066800"/>
            <a:ext cx="2895600" cy="647700"/>
          </a:xfrm>
          <a:prstGeom prst="rect">
            <a:avLst/>
          </a:prstGeom>
        </p:spPr>
        <p:txBody>
          <a:bodyPr wrap="none" fromWordArt="1">
            <a:prstTxWarp prst="textPlain">
              <a:avLst>
                <a:gd name="adj" fmla="val 50000"/>
              </a:avLst>
            </a:prstTxWarp>
          </a:bodyPr>
          <a:lstStyle/>
          <a:p>
            <a:pPr algn="ctr"/>
            <a:r>
              <a:rPr lang="en-IN" sz="3600" kern="10">
                <a:ln w="9525">
                  <a:solidFill>
                    <a:srgbClr val="000000"/>
                  </a:solidFill>
                  <a:round/>
                  <a:headEnd/>
                  <a:tailEnd/>
                </a:ln>
                <a:solidFill>
                  <a:srgbClr val="A50021"/>
                </a:solidFill>
                <a:latin typeface="Arial Black"/>
              </a:rPr>
              <a:t>CHAPTER 14</a:t>
            </a:r>
          </a:p>
        </p:txBody>
      </p:sp>
    </p:spTree>
  </p:cSld>
  <p:clrMapOvr>
    <a:masterClrMapping/>
  </p:clrMapOvr>
  <p:timing>
    <p:tnLst>
      <p:par>
        <p:cTn id="1" dur="indefinite" restart="never" nodeType="tmRoot"/>
      </p:par>
    </p:tnLst>
  </p:timing>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
          <p:cNvSpPr txBox="1">
            <a:spLocks noChangeArrowheads="1"/>
          </p:cNvSpPr>
          <p:nvPr/>
        </p:nvSpPr>
        <p:spPr bwMode="auto">
          <a:xfrm>
            <a:off x="1876425" y="776288"/>
            <a:ext cx="5376863" cy="823912"/>
          </a:xfrm>
          <a:prstGeom prst="rect">
            <a:avLst/>
          </a:prstGeom>
          <a:solidFill>
            <a:srgbClr val="FF0000"/>
          </a:solidFill>
          <a:ln w="9525">
            <a:noFill/>
            <a:miter lim="800000"/>
            <a:headEnd/>
            <a:tailEnd/>
          </a:ln>
          <a:effectLst/>
        </p:spPr>
        <p:txBody>
          <a:bodyPr wrap="none">
            <a:spAutoFit/>
          </a:bodyPr>
          <a:lstStyle/>
          <a:p>
            <a:pPr>
              <a:defRPr/>
            </a:pPr>
            <a:r>
              <a:rPr lang="en-US" sz="4800" b="1" dirty="0">
                <a:solidFill>
                  <a:srgbClr val="66FFFF"/>
                </a:solidFill>
                <a:effectLst>
                  <a:outerShdw blurRad="38100" dist="38100" dir="2700000" algn="tl">
                    <a:srgbClr val="000000"/>
                  </a:outerShdw>
                </a:effectLst>
                <a:latin typeface="Arial Unicode MS" pitchFamily="34" charset="-128"/>
                <a:cs typeface="Times New Roman" pitchFamily="18" charset="0"/>
              </a:rPr>
              <a:t>Session Objectives</a:t>
            </a:r>
          </a:p>
        </p:txBody>
      </p:sp>
      <p:sp>
        <p:nvSpPr>
          <p:cNvPr id="5123" name="Text Box 3"/>
          <p:cNvSpPr txBox="1">
            <a:spLocks noChangeArrowheads="1"/>
          </p:cNvSpPr>
          <p:nvPr/>
        </p:nvSpPr>
        <p:spPr bwMode="auto">
          <a:xfrm>
            <a:off x="885825" y="2071688"/>
            <a:ext cx="4554538" cy="519112"/>
          </a:xfrm>
          <a:prstGeom prst="rect">
            <a:avLst/>
          </a:prstGeom>
          <a:noFill/>
          <a:ln w="9525">
            <a:noFill/>
            <a:miter lim="800000"/>
            <a:headEnd/>
            <a:tailEnd/>
          </a:ln>
        </p:spPr>
        <p:txBody>
          <a:bodyPr wrap="none">
            <a:spAutoFit/>
          </a:bodyPr>
          <a:lstStyle/>
          <a:p>
            <a:pPr>
              <a:buFontTx/>
              <a:buBlip>
                <a:blip r:embed="rId2"/>
              </a:buBlip>
            </a:pPr>
            <a:r>
              <a:rPr lang="en-US" sz="2800" b="1">
                <a:solidFill>
                  <a:srgbClr val="CC3300"/>
                </a:solidFill>
                <a:latin typeface="Times New Roman" pitchFamily="18" charset="0"/>
                <a:cs typeface="Times New Roman" pitchFamily="18" charset="0"/>
              </a:rPr>
              <a:t>   Explain Files &amp; its Basics</a:t>
            </a:r>
          </a:p>
        </p:txBody>
      </p:sp>
      <p:sp>
        <p:nvSpPr>
          <p:cNvPr id="5124" name="Text Box 4"/>
          <p:cNvSpPr txBox="1">
            <a:spLocks noChangeArrowheads="1"/>
          </p:cNvSpPr>
          <p:nvPr/>
        </p:nvSpPr>
        <p:spPr bwMode="auto">
          <a:xfrm>
            <a:off x="885825" y="2833688"/>
            <a:ext cx="2333625" cy="519112"/>
          </a:xfrm>
          <a:prstGeom prst="rect">
            <a:avLst/>
          </a:prstGeom>
          <a:noFill/>
          <a:ln w="9525">
            <a:noFill/>
            <a:miter lim="800000"/>
            <a:headEnd/>
            <a:tailEnd/>
          </a:ln>
        </p:spPr>
        <p:txBody>
          <a:bodyPr wrap="none">
            <a:spAutoFit/>
          </a:bodyPr>
          <a:lstStyle/>
          <a:p>
            <a:pPr>
              <a:buFontTx/>
              <a:buBlip>
                <a:blip r:embed="rId2"/>
              </a:buBlip>
            </a:pPr>
            <a:r>
              <a:rPr lang="en-US" sz="2800" b="1">
                <a:solidFill>
                  <a:srgbClr val="CC3300"/>
                </a:solidFill>
                <a:latin typeface="Times New Roman" pitchFamily="18" charset="0"/>
                <a:cs typeface="Times New Roman" pitchFamily="18" charset="0"/>
              </a:rPr>
              <a:t>   File modes</a:t>
            </a:r>
          </a:p>
        </p:txBody>
      </p:sp>
      <p:sp>
        <p:nvSpPr>
          <p:cNvPr id="5125" name="Text Box 5"/>
          <p:cNvSpPr txBox="1">
            <a:spLocks noChangeArrowheads="1"/>
          </p:cNvSpPr>
          <p:nvPr/>
        </p:nvSpPr>
        <p:spPr bwMode="auto">
          <a:xfrm>
            <a:off x="962025" y="3748088"/>
            <a:ext cx="7867650" cy="519112"/>
          </a:xfrm>
          <a:prstGeom prst="rect">
            <a:avLst/>
          </a:prstGeom>
          <a:noFill/>
          <a:ln w="9525">
            <a:noFill/>
            <a:miter lim="800000"/>
            <a:headEnd/>
            <a:tailEnd/>
          </a:ln>
        </p:spPr>
        <p:txBody>
          <a:bodyPr wrap="none">
            <a:spAutoFit/>
          </a:bodyPr>
          <a:lstStyle/>
          <a:p>
            <a:pPr>
              <a:buFontTx/>
              <a:buBlip>
                <a:blip r:embed="rId2"/>
              </a:buBlip>
            </a:pPr>
            <a:r>
              <a:rPr lang="en-US" sz="2800" b="1">
                <a:solidFill>
                  <a:srgbClr val="CC3300"/>
                </a:solidFill>
                <a:latin typeface="Times New Roman" pitchFamily="18" charset="0"/>
                <a:cs typeface="Times New Roman" pitchFamily="18" charset="0"/>
              </a:rPr>
              <a:t>  </a:t>
            </a:r>
            <a:r>
              <a:rPr lang="en-US" sz="2800" b="1">
                <a:solidFill>
                  <a:srgbClr val="CC3300"/>
                </a:solidFill>
                <a:latin typeface="Times New Roman" pitchFamily="18" charset="0"/>
              </a:rPr>
              <a:t>Writing data to a file &amp; reading data from a file</a:t>
            </a:r>
          </a:p>
        </p:txBody>
      </p:sp>
      <p:sp>
        <p:nvSpPr>
          <p:cNvPr id="5126" name="Text Box 6"/>
          <p:cNvSpPr txBox="1">
            <a:spLocks noChangeArrowheads="1"/>
          </p:cNvSpPr>
          <p:nvPr/>
        </p:nvSpPr>
        <p:spPr bwMode="auto">
          <a:xfrm>
            <a:off x="990600" y="4572000"/>
            <a:ext cx="3351213" cy="519113"/>
          </a:xfrm>
          <a:prstGeom prst="rect">
            <a:avLst/>
          </a:prstGeom>
          <a:noFill/>
          <a:ln w="9525">
            <a:noFill/>
            <a:miter lim="800000"/>
            <a:headEnd/>
            <a:tailEnd/>
          </a:ln>
        </p:spPr>
        <p:txBody>
          <a:bodyPr wrap="none">
            <a:spAutoFit/>
          </a:bodyPr>
          <a:lstStyle/>
          <a:p>
            <a:pPr>
              <a:buFontTx/>
              <a:buBlip>
                <a:blip r:embed="rId2"/>
              </a:buBlip>
            </a:pPr>
            <a:r>
              <a:rPr lang="en-US" sz="2800" b="1">
                <a:solidFill>
                  <a:srgbClr val="CC3300"/>
                </a:solidFill>
                <a:latin typeface="Times New Roman" pitchFamily="18" charset="0"/>
                <a:cs typeface="Times New Roman" pitchFamily="18" charset="0"/>
              </a:rPr>
              <a:t>  Explain  </a:t>
            </a:r>
            <a:r>
              <a:rPr lang="en-US" sz="2800" b="1">
                <a:solidFill>
                  <a:srgbClr val="CC3300"/>
                </a:solidFill>
                <a:latin typeface="Times New Roman" pitchFamily="18" charset="0"/>
              </a:rPr>
              <a:t>File copy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88" fill="hold" grpId="0" nodeType="afterEffect">
                                  <p:stCondLst>
                                    <p:cond delay="0"/>
                                  </p:stCondLst>
                                  <p:childTnLst>
                                    <p:set>
                                      <p:cBhvr>
                                        <p:cTn id="6" dur="1" fill="hold">
                                          <p:stCondLst>
                                            <p:cond delay="0"/>
                                          </p:stCondLst>
                                        </p:cTn>
                                        <p:tgtEl>
                                          <p:spTgt spid="5123"/>
                                        </p:tgtEl>
                                        <p:attrNameLst>
                                          <p:attrName>style.visibility</p:attrName>
                                        </p:attrNameLst>
                                      </p:cBhvr>
                                      <p:to>
                                        <p:strVal val="visible"/>
                                      </p:to>
                                    </p:set>
                                    <p:anim calcmode="lin" valueType="num">
                                      <p:cBhvr>
                                        <p:cTn id="7" dur="500" fill="hold"/>
                                        <p:tgtEl>
                                          <p:spTgt spid="5123"/>
                                        </p:tgtEl>
                                        <p:attrNameLst>
                                          <p:attrName>ppt_w</p:attrName>
                                        </p:attrNameLst>
                                      </p:cBhvr>
                                      <p:tavLst>
                                        <p:tav tm="0">
                                          <p:val>
                                            <p:strVal val="4/3*#ppt_w"/>
                                          </p:val>
                                        </p:tav>
                                        <p:tav tm="100000">
                                          <p:val>
                                            <p:strVal val="#ppt_w"/>
                                          </p:val>
                                        </p:tav>
                                      </p:tavLst>
                                    </p:anim>
                                    <p:anim calcmode="lin" valueType="num">
                                      <p:cBhvr>
                                        <p:cTn id="8" dur="500" fill="hold"/>
                                        <p:tgtEl>
                                          <p:spTgt spid="5123"/>
                                        </p:tgtEl>
                                        <p:attrNameLst>
                                          <p:attrName>ppt_h</p:attrName>
                                        </p:attrNameLst>
                                      </p:cBhvr>
                                      <p:tavLst>
                                        <p:tav tm="0">
                                          <p:val>
                                            <p:strVal val="4/3*#ppt_h"/>
                                          </p:val>
                                        </p:tav>
                                        <p:tav tm="100000">
                                          <p:val>
                                            <p:strVal val="#ppt_h"/>
                                          </p:val>
                                        </p:tav>
                                      </p:tavLst>
                                    </p:anim>
                                  </p:childTnLst>
                                </p:cTn>
                              </p:par>
                            </p:childTnLst>
                          </p:cTn>
                        </p:par>
                        <p:par>
                          <p:cTn id="9" fill="hold">
                            <p:stCondLst>
                              <p:cond delay="500"/>
                            </p:stCondLst>
                            <p:childTnLst>
                              <p:par>
                                <p:cTn id="10" presetID="23" presetClass="entr" presetSubtype="288" fill="hold" grpId="0" nodeType="afterEffect">
                                  <p:stCondLst>
                                    <p:cond delay="0"/>
                                  </p:stCondLst>
                                  <p:childTnLst>
                                    <p:set>
                                      <p:cBhvr>
                                        <p:cTn id="11" dur="1" fill="hold">
                                          <p:stCondLst>
                                            <p:cond delay="0"/>
                                          </p:stCondLst>
                                        </p:cTn>
                                        <p:tgtEl>
                                          <p:spTgt spid="5124"/>
                                        </p:tgtEl>
                                        <p:attrNameLst>
                                          <p:attrName>style.visibility</p:attrName>
                                        </p:attrNameLst>
                                      </p:cBhvr>
                                      <p:to>
                                        <p:strVal val="visible"/>
                                      </p:to>
                                    </p:set>
                                    <p:anim calcmode="lin" valueType="num">
                                      <p:cBhvr>
                                        <p:cTn id="12" dur="500" fill="hold"/>
                                        <p:tgtEl>
                                          <p:spTgt spid="5124"/>
                                        </p:tgtEl>
                                        <p:attrNameLst>
                                          <p:attrName>ppt_w</p:attrName>
                                        </p:attrNameLst>
                                      </p:cBhvr>
                                      <p:tavLst>
                                        <p:tav tm="0">
                                          <p:val>
                                            <p:strVal val="4/3*#ppt_w"/>
                                          </p:val>
                                        </p:tav>
                                        <p:tav tm="100000">
                                          <p:val>
                                            <p:strVal val="#ppt_w"/>
                                          </p:val>
                                        </p:tav>
                                      </p:tavLst>
                                    </p:anim>
                                    <p:anim calcmode="lin" valueType="num">
                                      <p:cBhvr>
                                        <p:cTn id="13" dur="500" fill="hold"/>
                                        <p:tgtEl>
                                          <p:spTgt spid="5124"/>
                                        </p:tgtEl>
                                        <p:attrNameLst>
                                          <p:attrName>ppt_h</p:attrName>
                                        </p:attrNameLst>
                                      </p:cBhvr>
                                      <p:tavLst>
                                        <p:tav tm="0">
                                          <p:val>
                                            <p:strVal val="4/3*#ppt_h"/>
                                          </p:val>
                                        </p:tav>
                                        <p:tav tm="100000">
                                          <p:val>
                                            <p:strVal val="#ppt_h"/>
                                          </p:val>
                                        </p:tav>
                                      </p:tavLst>
                                    </p:anim>
                                  </p:childTnLst>
                                </p:cTn>
                              </p:par>
                            </p:childTnLst>
                          </p:cTn>
                        </p:par>
                        <p:par>
                          <p:cTn id="14" fill="hold">
                            <p:stCondLst>
                              <p:cond delay="1000"/>
                            </p:stCondLst>
                            <p:childTnLst>
                              <p:par>
                                <p:cTn id="15" presetID="23" presetClass="entr" presetSubtype="288" fill="hold" grpId="0" nodeType="afterEffect">
                                  <p:stCondLst>
                                    <p:cond delay="0"/>
                                  </p:stCondLst>
                                  <p:childTnLst>
                                    <p:set>
                                      <p:cBhvr>
                                        <p:cTn id="16" dur="1" fill="hold">
                                          <p:stCondLst>
                                            <p:cond delay="0"/>
                                          </p:stCondLst>
                                        </p:cTn>
                                        <p:tgtEl>
                                          <p:spTgt spid="5125"/>
                                        </p:tgtEl>
                                        <p:attrNameLst>
                                          <p:attrName>style.visibility</p:attrName>
                                        </p:attrNameLst>
                                      </p:cBhvr>
                                      <p:to>
                                        <p:strVal val="visible"/>
                                      </p:to>
                                    </p:set>
                                    <p:anim calcmode="lin" valueType="num">
                                      <p:cBhvr>
                                        <p:cTn id="17" dur="500" fill="hold"/>
                                        <p:tgtEl>
                                          <p:spTgt spid="5125"/>
                                        </p:tgtEl>
                                        <p:attrNameLst>
                                          <p:attrName>ppt_w</p:attrName>
                                        </p:attrNameLst>
                                      </p:cBhvr>
                                      <p:tavLst>
                                        <p:tav tm="0">
                                          <p:val>
                                            <p:strVal val="4/3*#ppt_w"/>
                                          </p:val>
                                        </p:tav>
                                        <p:tav tm="100000">
                                          <p:val>
                                            <p:strVal val="#ppt_w"/>
                                          </p:val>
                                        </p:tav>
                                      </p:tavLst>
                                    </p:anim>
                                    <p:anim calcmode="lin" valueType="num">
                                      <p:cBhvr>
                                        <p:cTn id="18" dur="500" fill="hold"/>
                                        <p:tgtEl>
                                          <p:spTgt spid="5125"/>
                                        </p:tgtEl>
                                        <p:attrNameLst>
                                          <p:attrName>ppt_h</p:attrName>
                                        </p:attrNameLst>
                                      </p:cBhvr>
                                      <p:tavLst>
                                        <p:tav tm="0">
                                          <p:val>
                                            <p:strVal val="4/3*#ppt_h"/>
                                          </p:val>
                                        </p:tav>
                                        <p:tav tm="100000">
                                          <p:val>
                                            <p:strVal val="#ppt_h"/>
                                          </p:val>
                                        </p:tav>
                                      </p:tavLst>
                                    </p:anim>
                                  </p:childTnLst>
                                </p:cTn>
                              </p:par>
                            </p:childTnLst>
                          </p:cTn>
                        </p:par>
                        <p:par>
                          <p:cTn id="19" fill="hold">
                            <p:stCondLst>
                              <p:cond delay="1500"/>
                            </p:stCondLst>
                            <p:childTnLst>
                              <p:par>
                                <p:cTn id="20" presetID="23" presetClass="entr" presetSubtype="288" fill="hold" grpId="0" nodeType="afterEffect">
                                  <p:stCondLst>
                                    <p:cond delay="0"/>
                                  </p:stCondLst>
                                  <p:childTnLst>
                                    <p:set>
                                      <p:cBhvr>
                                        <p:cTn id="21" dur="1" fill="hold">
                                          <p:stCondLst>
                                            <p:cond delay="0"/>
                                          </p:stCondLst>
                                        </p:cTn>
                                        <p:tgtEl>
                                          <p:spTgt spid="5126"/>
                                        </p:tgtEl>
                                        <p:attrNameLst>
                                          <p:attrName>style.visibility</p:attrName>
                                        </p:attrNameLst>
                                      </p:cBhvr>
                                      <p:to>
                                        <p:strVal val="visible"/>
                                      </p:to>
                                    </p:set>
                                    <p:anim calcmode="lin" valueType="num">
                                      <p:cBhvr>
                                        <p:cTn id="22" dur="500" fill="hold"/>
                                        <p:tgtEl>
                                          <p:spTgt spid="5126"/>
                                        </p:tgtEl>
                                        <p:attrNameLst>
                                          <p:attrName>ppt_w</p:attrName>
                                        </p:attrNameLst>
                                      </p:cBhvr>
                                      <p:tavLst>
                                        <p:tav tm="0">
                                          <p:val>
                                            <p:strVal val="4/3*#ppt_w"/>
                                          </p:val>
                                        </p:tav>
                                        <p:tav tm="100000">
                                          <p:val>
                                            <p:strVal val="#ppt_w"/>
                                          </p:val>
                                        </p:tav>
                                      </p:tavLst>
                                    </p:anim>
                                    <p:anim calcmode="lin" valueType="num">
                                      <p:cBhvr>
                                        <p:cTn id="23" dur="500" fill="hold"/>
                                        <p:tgtEl>
                                          <p:spTgt spid="5126"/>
                                        </p:tgtEl>
                                        <p:attrNameLst>
                                          <p:attrName>ppt_h</p:attrName>
                                        </p:attrNameLst>
                                      </p:cBhvr>
                                      <p:tavLst>
                                        <p:tav tm="0">
                                          <p:val>
                                            <p:strVal val="4/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autoUpdateAnimBg="0"/>
      <p:bldP spid="5124" grpId="0" autoUpdateAnimBg="0"/>
      <p:bldP spid="5125" grpId="0" autoUpdateAnimBg="0"/>
      <p:bldP spid="5126" grpId="0" autoUpdateAnimBg="0"/>
    </p:bldLst>
  </p:timing>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p:cNvSpPr txBox="1">
            <a:spLocks noChangeArrowheads="1"/>
          </p:cNvSpPr>
          <p:nvPr/>
        </p:nvSpPr>
        <p:spPr bwMode="auto">
          <a:xfrm>
            <a:off x="228600" y="1028700"/>
            <a:ext cx="8763000" cy="5534025"/>
          </a:xfrm>
          <a:prstGeom prst="rect">
            <a:avLst/>
          </a:prstGeom>
          <a:noFill/>
          <a:ln w="9525">
            <a:solidFill>
              <a:srgbClr val="0033CC"/>
            </a:solidFill>
            <a:miter lim="800000"/>
            <a:headEnd/>
            <a:tailEnd/>
          </a:ln>
        </p:spPr>
        <p:txBody>
          <a:bodyPr>
            <a:spAutoFit/>
          </a:bodyPr>
          <a:lstStyle/>
          <a:p>
            <a:pPr algn="just" eaLnBrk="0" hangingPunct="0">
              <a:lnSpc>
                <a:spcPct val="130000"/>
              </a:lnSpc>
              <a:spcBef>
                <a:spcPct val="50000"/>
              </a:spcBef>
              <a:buFont typeface="Wingdings 2" pitchFamily="18" charset="2"/>
              <a:buChar char="²"/>
            </a:pPr>
            <a:r>
              <a:rPr lang="en-US" sz="2000" b="1">
                <a:solidFill>
                  <a:srgbClr val="800000"/>
                </a:solidFill>
              </a:rPr>
              <a:t>  A Stream is generally referred to flow of data. </a:t>
            </a:r>
          </a:p>
          <a:p>
            <a:pPr algn="just" eaLnBrk="0" hangingPunct="0">
              <a:lnSpc>
                <a:spcPct val="130000"/>
              </a:lnSpc>
              <a:spcBef>
                <a:spcPct val="50000"/>
              </a:spcBef>
              <a:buFont typeface="Wingdings 2" pitchFamily="18" charset="2"/>
              <a:buChar char="²"/>
            </a:pPr>
            <a:r>
              <a:rPr lang="en-US" sz="2000" b="1">
                <a:solidFill>
                  <a:srgbClr val="800000"/>
                </a:solidFill>
              </a:rPr>
              <a:t>  Different streams are used to represent different kinds of data flow</a:t>
            </a:r>
          </a:p>
          <a:p>
            <a:pPr algn="just" eaLnBrk="0" hangingPunct="0">
              <a:lnSpc>
                <a:spcPct val="130000"/>
              </a:lnSpc>
              <a:spcBef>
                <a:spcPct val="50000"/>
              </a:spcBef>
              <a:buFont typeface="Wingdings 2" pitchFamily="18" charset="2"/>
              <a:buChar char="²"/>
            </a:pPr>
            <a:r>
              <a:rPr lang="en-US" sz="2000" b="1">
                <a:solidFill>
                  <a:srgbClr val="800000"/>
                </a:solidFill>
              </a:rPr>
              <a:t>  Each stream is associated with particular class which contains member functions and definitions for dealing with that particular kind of data flow</a:t>
            </a:r>
          </a:p>
          <a:p>
            <a:pPr algn="just" eaLnBrk="0" hangingPunct="0">
              <a:lnSpc>
                <a:spcPct val="130000"/>
              </a:lnSpc>
              <a:spcBef>
                <a:spcPct val="50000"/>
              </a:spcBef>
              <a:buFont typeface="Wingdings 2" pitchFamily="18" charset="2"/>
              <a:buChar char="²"/>
            </a:pPr>
            <a:r>
              <a:rPr lang="en-US" sz="2000" b="1">
                <a:solidFill>
                  <a:srgbClr val="800000"/>
                </a:solidFill>
              </a:rPr>
              <a:t>  The sequence of input bytes are called as Input Stream</a:t>
            </a:r>
          </a:p>
          <a:p>
            <a:pPr algn="just" eaLnBrk="0" hangingPunct="0">
              <a:lnSpc>
                <a:spcPct val="130000"/>
              </a:lnSpc>
              <a:spcBef>
                <a:spcPct val="50000"/>
              </a:spcBef>
              <a:buFont typeface="Wingdings 2" pitchFamily="18" charset="2"/>
              <a:buChar char="²"/>
            </a:pPr>
            <a:r>
              <a:rPr lang="en-US" sz="2000" b="1">
                <a:solidFill>
                  <a:srgbClr val="800000"/>
                </a:solidFill>
              </a:rPr>
              <a:t>  The sequence of output bytes are called as Output Stream</a:t>
            </a:r>
          </a:p>
          <a:p>
            <a:pPr algn="just" eaLnBrk="0" hangingPunct="0">
              <a:lnSpc>
                <a:spcPct val="130000"/>
              </a:lnSpc>
              <a:spcBef>
                <a:spcPct val="50000"/>
              </a:spcBef>
              <a:buFont typeface="Wingdings 2" pitchFamily="18" charset="2"/>
              <a:buChar char="²"/>
            </a:pPr>
            <a:r>
              <a:rPr lang="en-US" sz="2000" b="1">
                <a:solidFill>
                  <a:srgbClr val="800000"/>
                </a:solidFill>
              </a:rPr>
              <a:t>  The cin object with &gt;&gt;operator is used for getting input</a:t>
            </a:r>
          </a:p>
          <a:p>
            <a:pPr algn="just" eaLnBrk="0" hangingPunct="0">
              <a:lnSpc>
                <a:spcPct val="130000"/>
              </a:lnSpc>
              <a:spcBef>
                <a:spcPct val="50000"/>
              </a:spcBef>
              <a:buFont typeface="Wingdings 2" pitchFamily="18" charset="2"/>
              <a:buChar char="²"/>
            </a:pPr>
            <a:r>
              <a:rPr lang="en-US" sz="2000" b="1">
                <a:solidFill>
                  <a:srgbClr val="800000"/>
                </a:solidFill>
              </a:rPr>
              <a:t>  The cout object with &lt;&lt;operator is used for displaying output</a:t>
            </a:r>
          </a:p>
          <a:p>
            <a:pPr algn="just" eaLnBrk="0" hangingPunct="0">
              <a:lnSpc>
                <a:spcPct val="130000"/>
              </a:lnSpc>
              <a:spcBef>
                <a:spcPct val="50000"/>
              </a:spcBef>
              <a:buFont typeface="Wingdings 2" pitchFamily="18" charset="2"/>
              <a:buChar char="²"/>
            </a:pPr>
            <a:r>
              <a:rPr lang="en-US" sz="2000" b="1">
                <a:solidFill>
                  <a:srgbClr val="800000"/>
                </a:solidFill>
              </a:rPr>
              <a:t>   In C++, the number of base and derived classes are available in Stream I/O classes</a:t>
            </a:r>
          </a:p>
        </p:txBody>
      </p:sp>
      <p:sp>
        <p:nvSpPr>
          <p:cNvPr id="6147" name="WordArt 3"/>
          <p:cNvSpPr>
            <a:spLocks noChangeArrowheads="1" noChangeShapeType="1" noTextEdit="1"/>
          </p:cNvSpPr>
          <p:nvPr/>
        </p:nvSpPr>
        <p:spPr bwMode="auto">
          <a:xfrm>
            <a:off x="2819400" y="228600"/>
            <a:ext cx="2533650" cy="457200"/>
          </a:xfrm>
          <a:prstGeom prst="rect">
            <a:avLst/>
          </a:prstGeom>
        </p:spPr>
        <p:txBody>
          <a:bodyPr wrap="none" fromWordArt="1">
            <a:prstTxWarp prst="textPlain">
              <a:avLst>
                <a:gd name="adj" fmla="val 50000"/>
              </a:avLst>
            </a:prstTxWarp>
          </a:bodyPr>
          <a:lstStyle/>
          <a:p>
            <a:pPr algn="ctr"/>
            <a:r>
              <a:rPr lang="en-IN" sz="3600" b="1" kern="10">
                <a:ln w="9525">
                  <a:solidFill>
                    <a:srgbClr val="000000"/>
                  </a:solidFill>
                  <a:round/>
                  <a:headEnd/>
                  <a:tailEnd/>
                </a:ln>
                <a:solidFill>
                  <a:srgbClr val="CC0066"/>
                </a:solidFill>
                <a:latin typeface="Arial Black"/>
              </a:rPr>
              <a:t>STREAMS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3" presetClass="entr" presetSubtype="16" fill="hold" grpId="0" nodeType="withEffect">
                                  <p:stCondLst>
                                    <p:cond delay="0"/>
                                  </p:stCondLst>
                                  <p:childTnLst>
                                    <p:set>
                                      <p:cBhvr>
                                        <p:cTn id="6" dur="1" fill="hold">
                                          <p:stCondLst>
                                            <p:cond delay="0"/>
                                          </p:stCondLst>
                                        </p:cTn>
                                        <p:tgtEl>
                                          <p:spTgt spid="6146"/>
                                        </p:tgtEl>
                                        <p:attrNameLst>
                                          <p:attrName>style.visibility</p:attrName>
                                        </p:attrNameLst>
                                      </p:cBhvr>
                                      <p:to>
                                        <p:strVal val="visible"/>
                                      </p:to>
                                    </p:set>
                                    <p:animEffect transition="in" filter="plus(in)">
                                      <p:cBhvr>
                                        <p:cTn id="7" dur="1000"/>
                                        <p:tgtEl>
                                          <p:spTgt spid="6146"/>
                                        </p:tgtEl>
                                      </p:cBhvr>
                                    </p:animEffect>
                                  </p:childTnLst>
                                </p:cTn>
                              </p:par>
                              <p:par>
                                <p:cTn id="8" presetID="19" presetClass="entr" presetSubtype="10" fill="hold" grpId="0" nodeType="withEffect">
                                  <p:stCondLst>
                                    <p:cond delay="0"/>
                                  </p:stCondLst>
                                  <p:childTnLst>
                                    <p:set>
                                      <p:cBhvr>
                                        <p:cTn id="9" dur="1" fill="hold">
                                          <p:stCondLst>
                                            <p:cond delay="0"/>
                                          </p:stCondLst>
                                        </p:cTn>
                                        <p:tgtEl>
                                          <p:spTgt spid="6147"/>
                                        </p:tgtEl>
                                        <p:attrNameLst>
                                          <p:attrName>style.visibility</p:attrName>
                                        </p:attrNameLst>
                                      </p:cBhvr>
                                      <p:to>
                                        <p:strVal val="visible"/>
                                      </p:to>
                                    </p:set>
                                    <p:anim calcmode="lin" valueType="num">
                                      <p:cBhvr>
                                        <p:cTn id="10" dur="5000" fill="hold"/>
                                        <p:tgtEl>
                                          <p:spTgt spid="6147"/>
                                        </p:tgtEl>
                                        <p:attrNameLst>
                                          <p:attrName>ppt_w</p:attrName>
                                        </p:attrNameLst>
                                      </p:cBhvr>
                                      <p:tavLst>
                                        <p:tav tm="0" fmla="#ppt_w*sin(2.5*pi*$)">
                                          <p:val>
                                            <p:fltVal val="0"/>
                                          </p:val>
                                        </p:tav>
                                        <p:tav tm="100000">
                                          <p:val>
                                            <p:fltVal val="1"/>
                                          </p:val>
                                        </p:tav>
                                      </p:tavLst>
                                    </p:anim>
                                    <p:anim calcmode="lin" valueType="num">
                                      <p:cBhvr>
                                        <p:cTn id="11" dur="5000" fill="hold"/>
                                        <p:tgtEl>
                                          <p:spTgt spid="614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animBg="1"/>
      <p:bldP spid="6147" grpId="0" animBg="1"/>
    </p:bldLst>
  </p:timing>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WordArt 2"/>
          <p:cNvSpPr>
            <a:spLocks noChangeArrowheads="1" noChangeShapeType="1" noTextEdit="1"/>
          </p:cNvSpPr>
          <p:nvPr/>
        </p:nvSpPr>
        <p:spPr bwMode="auto">
          <a:xfrm>
            <a:off x="685800" y="457200"/>
            <a:ext cx="7391400" cy="685800"/>
          </a:xfrm>
          <a:prstGeom prst="rect">
            <a:avLst/>
          </a:prstGeom>
        </p:spPr>
        <p:txBody>
          <a:bodyPr wrap="none" fromWordArt="1">
            <a:prstTxWarp prst="textPlain">
              <a:avLst>
                <a:gd name="adj" fmla="val 50000"/>
              </a:avLst>
            </a:prstTxWarp>
          </a:bodyPr>
          <a:lstStyle/>
          <a:p>
            <a:pPr algn="ctr"/>
            <a:r>
              <a:rPr lang="en-IN" sz="3600" b="1" kern="10">
                <a:ln w="19050">
                  <a:solidFill>
                    <a:schemeClr val="bg1"/>
                  </a:solidFill>
                  <a:round/>
                  <a:headEnd/>
                  <a:tailEnd/>
                </a:ln>
                <a:solidFill>
                  <a:srgbClr val="CC0066"/>
                </a:solidFill>
                <a:effectLst>
                  <a:outerShdw dist="35921" dir="2700000" algn="ctr" rotWithShape="0">
                    <a:srgbClr val="990000"/>
                  </a:outerShdw>
                </a:effectLst>
                <a:latin typeface="Arial"/>
                <a:cs typeface="Arial"/>
              </a:rPr>
              <a:t>Stream Input/output Classes</a:t>
            </a:r>
          </a:p>
        </p:txBody>
      </p:sp>
      <p:grpSp>
        <p:nvGrpSpPr>
          <p:cNvPr id="2" name="Group 3"/>
          <p:cNvGrpSpPr>
            <a:grpSpLocks/>
          </p:cNvGrpSpPr>
          <p:nvPr/>
        </p:nvGrpSpPr>
        <p:grpSpPr bwMode="auto">
          <a:xfrm>
            <a:off x="533400" y="1752600"/>
            <a:ext cx="8153400" cy="4191000"/>
            <a:chOff x="336" y="1104"/>
            <a:chExt cx="5136" cy="2640"/>
          </a:xfrm>
        </p:grpSpPr>
        <p:sp>
          <p:nvSpPr>
            <p:cNvPr id="5124" name="Text Box 4"/>
            <p:cNvSpPr txBox="1">
              <a:spLocks noChangeArrowheads="1"/>
            </p:cNvSpPr>
            <p:nvPr/>
          </p:nvSpPr>
          <p:spPr bwMode="auto">
            <a:xfrm>
              <a:off x="2400" y="1104"/>
              <a:ext cx="720" cy="371"/>
            </a:xfrm>
            <a:prstGeom prst="rect">
              <a:avLst/>
            </a:prstGeom>
            <a:noFill/>
            <a:ln w="9525">
              <a:solidFill>
                <a:srgbClr val="000000"/>
              </a:solidFill>
              <a:miter lim="800000"/>
              <a:headEnd/>
              <a:tailEnd/>
            </a:ln>
          </p:spPr>
          <p:txBody>
            <a:bodyPr>
              <a:spAutoFit/>
            </a:bodyPr>
            <a:lstStyle/>
            <a:p>
              <a:pPr algn="ctr" eaLnBrk="0" hangingPunct="0">
                <a:spcBef>
                  <a:spcPct val="50000"/>
                </a:spcBef>
              </a:pPr>
              <a:r>
                <a:rPr lang="en-US" sz="3200" b="1">
                  <a:solidFill>
                    <a:srgbClr val="000099"/>
                  </a:solidFill>
                  <a:latin typeface="Verdana" pitchFamily="34" charset="0"/>
                </a:rPr>
                <a:t>ios</a:t>
              </a:r>
            </a:p>
          </p:txBody>
        </p:sp>
        <p:sp>
          <p:nvSpPr>
            <p:cNvPr id="5125" name="Text Box 5"/>
            <p:cNvSpPr txBox="1">
              <a:spLocks noChangeArrowheads="1"/>
            </p:cNvSpPr>
            <p:nvPr/>
          </p:nvSpPr>
          <p:spPr bwMode="auto">
            <a:xfrm>
              <a:off x="576" y="1872"/>
              <a:ext cx="1392" cy="371"/>
            </a:xfrm>
            <a:prstGeom prst="rect">
              <a:avLst/>
            </a:prstGeom>
            <a:noFill/>
            <a:ln w="9525">
              <a:solidFill>
                <a:srgbClr val="000000"/>
              </a:solidFill>
              <a:miter lim="800000"/>
              <a:headEnd/>
              <a:tailEnd/>
            </a:ln>
          </p:spPr>
          <p:txBody>
            <a:bodyPr>
              <a:spAutoFit/>
            </a:bodyPr>
            <a:lstStyle/>
            <a:p>
              <a:pPr algn="ctr" eaLnBrk="0" hangingPunct="0">
                <a:spcBef>
                  <a:spcPct val="50000"/>
                </a:spcBef>
              </a:pPr>
              <a:r>
                <a:rPr lang="en-US" sz="3200" b="1">
                  <a:solidFill>
                    <a:srgbClr val="000099"/>
                  </a:solidFill>
                  <a:latin typeface="Verdana" pitchFamily="34" charset="0"/>
                </a:rPr>
                <a:t>istream</a:t>
              </a:r>
            </a:p>
          </p:txBody>
        </p:sp>
        <p:sp>
          <p:nvSpPr>
            <p:cNvPr id="5126" name="Text Box 6"/>
            <p:cNvSpPr txBox="1">
              <a:spLocks noChangeArrowheads="1"/>
            </p:cNvSpPr>
            <p:nvPr/>
          </p:nvSpPr>
          <p:spPr bwMode="auto">
            <a:xfrm>
              <a:off x="3696" y="1837"/>
              <a:ext cx="1344" cy="371"/>
            </a:xfrm>
            <a:prstGeom prst="rect">
              <a:avLst/>
            </a:prstGeom>
            <a:noFill/>
            <a:ln w="9525">
              <a:solidFill>
                <a:srgbClr val="000000"/>
              </a:solidFill>
              <a:miter lim="800000"/>
              <a:headEnd/>
              <a:tailEnd/>
            </a:ln>
          </p:spPr>
          <p:txBody>
            <a:bodyPr>
              <a:spAutoFit/>
            </a:bodyPr>
            <a:lstStyle/>
            <a:p>
              <a:pPr algn="ctr" eaLnBrk="0" hangingPunct="0">
                <a:spcBef>
                  <a:spcPct val="50000"/>
                </a:spcBef>
              </a:pPr>
              <a:r>
                <a:rPr lang="en-US" sz="3200" b="1">
                  <a:solidFill>
                    <a:srgbClr val="000099"/>
                  </a:solidFill>
                  <a:latin typeface="Verdana" pitchFamily="34" charset="0"/>
                </a:rPr>
                <a:t>ostream</a:t>
              </a:r>
            </a:p>
          </p:txBody>
        </p:sp>
        <p:sp>
          <p:nvSpPr>
            <p:cNvPr id="5127" name="Text Box 7"/>
            <p:cNvSpPr txBox="1">
              <a:spLocks noChangeArrowheads="1"/>
            </p:cNvSpPr>
            <p:nvPr/>
          </p:nvSpPr>
          <p:spPr bwMode="auto">
            <a:xfrm>
              <a:off x="2016" y="2592"/>
              <a:ext cx="1440" cy="371"/>
            </a:xfrm>
            <a:prstGeom prst="rect">
              <a:avLst/>
            </a:prstGeom>
            <a:noFill/>
            <a:ln w="9525">
              <a:solidFill>
                <a:srgbClr val="000000"/>
              </a:solidFill>
              <a:miter lim="800000"/>
              <a:headEnd/>
              <a:tailEnd/>
            </a:ln>
          </p:spPr>
          <p:txBody>
            <a:bodyPr>
              <a:spAutoFit/>
            </a:bodyPr>
            <a:lstStyle/>
            <a:p>
              <a:pPr algn="ctr" eaLnBrk="0" hangingPunct="0">
                <a:spcBef>
                  <a:spcPct val="50000"/>
                </a:spcBef>
              </a:pPr>
              <a:r>
                <a:rPr lang="en-US" sz="3200" b="1">
                  <a:solidFill>
                    <a:srgbClr val="000099"/>
                  </a:solidFill>
                  <a:latin typeface="Verdana" pitchFamily="34" charset="0"/>
                </a:rPr>
                <a:t>iostream</a:t>
              </a:r>
            </a:p>
          </p:txBody>
        </p:sp>
        <p:sp>
          <p:nvSpPr>
            <p:cNvPr id="5128" name="Text Box 8"/>
            <p:cNvSpPr txBox="1">
              <a:spLocks noChangeArrowheads="1"/>
            </p:cNvSpPr>
            <p:nvPr/>
          </p:nvSpPr>
          <p:spPr bwMode="auto">
            <a:xfrm>
              <a:off x="2016" y="3373"/>
              <a:ext cx="1488" cy="371"/>
            </a:xfrm>
            <a:prstGeom prst="rect">
              <a:avLst/>
            </a:prstGeom>
            <a:noFill/>
            <a:ln w="9525">
              <a:solidFill>
                <a:srgbClr val="000000"/>
              </a:solidFill>
              <a:miter lim="800000"/>
              <a:headEnd/>
              <a:tailEnd/>
            </a:ln>
          </p:spPr>
          <p:txBody>
            <a:bodyPr>
              <a:spAutoFit/>
            </a:bodyPr>
            <a:lstStyle/>
            <a:p>
              <a:pPr algn="ctr" eaLnBrk="0" hangingPunct="0">
                <a:spcBef>
                  <a:spcPct val="50000"/>
                </a:spcBef>
              </a:pPr>
              <a:r>
                <a:rPr lang="en-US" sz="3200" b="1">
                  <a:solidFill>
                    <a:srgbClr val="000099"/>
                  </a:solidFill>
                  <a:latin typeface="Verdana" pitchFamily="34" charset="0"/>
                </a:rPr>
                <a:t>fstream</a:t>
              </a:r>
            </a:p>
          </p:txBody>
        </p:sp>
        <p:sp>
          <p:nvSpPr>
            <p:cNvPr id="5129" name="Text Box 9"/>
            <p:cNvSpPr txBox="1">
              <a:spLocks noChangeArrowheads="1"/>
            </p:cNvSpPr>
            <p:nvPr/>
          </p:nvSpPr>
          <p:spPr bwMode="auto">
            <a:xfrm>
              <a:off x="336" y="3360"/>
              <a:ext cx="1536" cy="371"/>
            </a:xfrm>
            <a:prstGeom prst="rect">
              <a:avLst/>
            </a:prstGeom>
            <a:noFill/>
            <a:ln w="9525">
              <a:solidFill>
                <a:srgbClr val="000000"/>
              </a:solidFill>
              <a:miter lim="800000"/>
              <a:headEnd/>
              <a:tailEnd/>
            </a:ln>
          </p:spPr>
          <p:txBody>
            <a:bodyPr>
              <a:spAutoFit/>
            </a:bodyPr>
            <a:lstStyle/>
            <a:p>
              <a:pPr algn="ctr" eaLnBrk="0" hangingPunct="0">
                <a:spcBef>
                  <a:spcPct val="50000"/>
                </a:spcBef>
              </a:pPr>
              <a:r>
                <a:rPr lang="en-US" sz="3200" b="1">
                  <a:solidFill>
                    <a:srgbClr val="000099"/>
                  </a:solidFill>
                  <a:latin typeface="Verdana" pitchFamily="34" charset="0"/>
                </a:rPr>
                <a:t>ifstream</a:t>
              </a:r>
            </a:p>
          </p:txBody>
        </p:sp>
        <p:sp>
          <p:nvSpPr>
            <p:cNvPr id="5130" name="Text Box 10"/>
            <p:cNvSpPr txBox="1">
              <a:spLocks noChangeArrowheads="1"/>
            </p:cNvSpPr>
            <p:nvPr/>
          </p:nvSpPr>
          <p:spPr bwMode="auto">
            <a:xfrm>
              <a:off x="3744" y="3360"/>
              <a:ext cx="1728" cy="371"/>
            </a:xfrm>
            <a:prstGeom prst="rect">
              <a:avLst/>
            </a:prstGeom>
            <a:noFill/>
            <a:ln w="9525">
              <a:solidFill>
                <a:srgbClr val="000000"/>
              </a:solidFill>
              <a:miter lim="800000"/>
              <a:headEnd/>
              <a:tailEnd/>
            </a:ln>
          </p:spPr>
          <p:txBody>
            <a:bodyPr>
              <a:spAutoFit/>
            </a:bodyPr>
            <a:lstStyle/>
            <a:p>
              <a:pPr algn="ctr" eaLnBrk="0" hangingPunct="0">
                <a:spcBef>
                  <a:spcPct val="50000"/>
                </a:spcBef>
              </a:pPr>
              <a:r>
                <a:rPr lang="en-US" sz="3200" b="1">
                  <a:solidFill>
                    <a:srgbClr val="000099"/>
                  </a:solidFill>
                  <a:latin typeface="Verdana" pitchFamily="34" charset="0"/>
                </a:rPr>
                <a:t>ofstream</a:t>
              </a:r>
            </a:p>
          </p:txBody>
        </p:sp>
        <p:cxnSp>
          <p:nvCxnSpPr>
            <p:cNvPr id="5131" name="AutoShape 11"/>
            <p:cNvCxnSpPr>
              <a:cxnSpLocks noChangeShapeType="1"/>
            </p:cNvCxnSpPr>
            <p:nvPr/>
          </p:nvCxnSpPr>
          <p:spPr bwMode="auto">
            <a:xfrm rot="-5400000">
              <a:off x="1649" y="943"/>
              <a:ext cx="397" cy="1488"/>
            </a:xfrm>
            <a:prstGeom prst="bentConnector3">
              <a:avLst>
                <a:gd name="adj1" fmla="val 46847"/>
              </a:avLst>
            </a:prstGeom>
            <a:noFill/>
            <a:ln w="38100">
              <a:solidFill>
                <a:srgbClr val="000000"/>
              </a:solidFill>
              <a:miter lim="800000"/>
              <a:headEnd/>
              <a:tailEnd type="arrow" w="med" len="med"/>
            </a:ln>
          </p:spPr>
        </p:cxnSp>
        <p:cxnSp>
          <p:nvCxnSpPr>
            <p:cNvPr id="5132" name="AutoShape 12"/>
            <p:cNvCxnSpPr>
              <a:cxnSpLocks noChangeShapeType="1"/>
              <a:stCxn id="5124" idx="2"/>
              <a:endCxn id="5126" idx="0"/>
            </p:cNvCxnSpPr>
            <p:nvPr/>
          </p:nvCxnSpPr>
          <p:spPr bwMode="auto">
            <a:xfrm rot="16200000" flipH="1">
              <a:off x="3383" y="852"/>
              <a:ext cx="362" cy="1608"/>
            </a:xfrm>
            <a:prstGeom prst="bentConnector3">
              <a:avLst>
                <a:gd name="adj1" fmla="val 49722"/>
              </a:avLst>
            </a:prstGeom>
            <a:noFill/>
            <a:ln w="38100">
              <a:solidFill>
                <a:srgbClr val="000000"/>
              </a:solidFill>
              <a:miter lim="800000"/>
              <a:headEnd type="arrow" w="med" len="med"/>
              <a:tailEnd/>
            </a:ln>
          </p:spPr>
        </p:cxnSp>
        <p:cxnSp>
          <p:nvCxnSpPr>
            <p:cNvPr id="5133" name="AutoShape 13"/>
            <p:cNvCxnSpPr>
              <a:cxnSpLocks noChangeShapeType="1"/>
              <a:endCxn id="5125" idx="3"/>
            </p:cNvCxnSpPr>
            <p:nvPr/>
          </p:nvCxnSpPr>
          <p:spPr bwMode="auto">
            <a:xfrm rot="5400000" flipH="1">
              <a:off x="1893" y="2133"/>
              <a:ext cx="534" cy="384"/>
            </a:xfrm>
            <a:prstGeom prst="bentConnector2">
              <a:avLst/>
            </a:prstGeom>
            <a:noFill/>
            <a:ln w="38100">
              <a:solidFill>
                <a:srgbClr val="000000"/>
              </a:solidFill>
              <a:miter lim="800000"/>
              <a:headEnd/>
              <a:tailEnd type="arrow" w="med" len="med"/>
            </a:ln>
          </p:spPr>
        </p:cxnSp>
        <p:cxnSp>
          <p:nvCxnSpPr>
            <p:cNvPr id="5134" name="AutoShape 14"/>
            <p:cNvCxnSpPr>
              <a:cxnSpLocks noChangeShapeType="1"/>
              <a:endCxn id="5126" idx="1"/>
            </p:cNvCxnSpPr>
            <p:nvPr/>
          </p:nvCxnSpPr>
          <p:spPr bwMode="auto">
            <a:xfrm flipV="1">
              <a:off x="2928" y="2023"/>
              <a:ext cx="768" cy="575"/>
            </a:xfrm>
            <a:prstGeom prst="bentConnector3">
              <a:avLst>
                <a:gd name="adj1" fmla="val -6250"/>
              </a:avLst>
            </a:prstGeom>
            <a:noFill/>
            <a:ln w="38100">
              <a:solidFill>
                <a:srgbClr val="000000"/>
              </a:solidFill>
              <a:miter lim="800000"/>
              <a:headEnd/>
              <a:tailEnd type="arrow" w="med" len="med"/>
            </a:ln>
          </p:spPr>
        </p:cxnSp>
        <p:sp>
          <p:nvSpPr>
            <p:cNvPr id="5135" name="Line 15"/>
            <p:cNvSpPr>
              <a:spLocks noChangeShapeType="1"/>
            </p:cNvSpPr>
            <p:nvPr/>
          </p:nvSpPr>
          <p:spPr bwMode="auto">
            <a:xfrm flipV="1">
              <a:off x="2640" y="2928"/>
              <a:ext cx="0" cy="432"/>
            </a:xfrm>
            <a:prstGeom prst="line">
              <a:avLst/>
            </a:prstGeom>
            <a:noFill/>
            <a:ln w="57150">
              <a:solidFill>
                <a:srgbClr val="000000"/>
              </a:solidFill>
              <a:round/>
              <a:headEnd/>
              <a:tailEnd type="triangle" w="med" len="med"/>
            </a:ln>
          </p:spPr>
          <p:txBody>
            <a:bodyPr/>
            <a:lstStyle/>
            <a:p>
              <a:endParaRPr lang="en-IN"/>
            </a:p>
          </p:txBody>
        </p:sp>
        <p:sp>
          <p:nvSpPr>
            <p:cNvPr id="5136" name="Line 16"/>
            <p:cNvSpPr>
              <a:spLocks noChangeShapeType="1"/>
            </p:cNvSpPr>
            <p:nvPr/>
          </p:nvSpPr>
          <p:spPr bwMode="auto">
            <a:xfrm flipV="1">
              <a:off x="1104" y="2208"/>
              <a:ext cx="0" cy="1152"/>
            </a:xfrm>
            <a:prstGeom prst="line">
              <a:avLst/>
            </a:prstGeom>
            <a:noFill/>
            <a:ln w="38100">
              <a:solidFill>
                <a:srgbClr val="000000"/>
              </a:solidFill>
              <a:round/>
              <a:headEnd/>
              <a:tailEnd type="triangle" w="med" len="med"/>
            </a:ln>
          </p:spPr>
          <p:txBody>
            <a:bodyPr/>
            <a:lstStyle/>
            <a:p>
              <a:endParaRPr lang="en-IN"/>
            </a:p>
          </p:txBody>
        </p:sp>
        <p:sp>
          <p:nvSpPr>
            <p:cNvPr id="5137" name="Line 17"/>
            <p:cNvSpPr>
              <a:spLocks noChangeShapeType="1"/>
            </p:cNvSpPr>
            <p:nvPr/>
          </p:nvSpPr>
          <p:spPr bwMode="auto">
            <a:xfrm flipV="1">
              <a:off x="4368" y="2208"/>
              <a:ext cx="0" cy="1152"/>
            </a:xfrm>
            <a:prstGeom prst="line">
              <a:avLst/>
            </a:prstGeom>
            <a:noFill/>
            <a:ln w="38100">
              <a:solidFill>
                <a:srgbClr val="000000"/>
              </a:solidFill>
              <a:round/>
              <a:headEnd/>
              <a:tailEnd type="triangle" w="med" len="med"/>
            </a:ln>
          </p:spPr>
          <p:txBody>
            <a:bodyPr/>
            <a:lstStyle/>
            <a:p>
              <a:endParaRPr lang="en-IN"/>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withEffect">
                                  <p:stCondLst>
                                    <p:cond delay="0"/>
                                  </p:stCondLst>
                                  <p:childTnLst>
                                    <p:set>
                                      <p:cBhvr>
                                        <p:cTn id="6" dur="1" fill="hold">
                                          <p:stCondLst>
                                            <p:cond delay="0"/>
                                          </p:stCondLst>
                                        </p:cTn>
                                        <p:tgtEl>
                                          <p:spTgt spid="7170"/>
                                        </p:tgtEl>
                                        <p:attrNameLst>
                                          <p:attrName>style.visibility</p:attrName>
                                        </p:attrNameLst>
                                      </p:cBhvr>
                                      <p:to>
                                        <p:strVal val="visible"/>
                                      </p:to>
                                    </p:set>
                                    <p:anim calcmode="lin" valueType="num">
                                      <p:cBhvr>
                                        <p:cTn id="7" dur="500" fill="hold"/>
                                        <p:tgtEl>
                                          <p:spTgt spid="7170"/>
                                        </p:tgtEl>
                                        <p:attrNameLst>
                                          <p:attrName>ppt_w</p:attrName>
                                        </p:attrNameLst>
                                      </p:cBhvr>
                                      <p:tavLst>
                                        <p:tav tm="0">
                                          <p:val>
                                            <p:fltVal val="0"/>
                                          </p:val>
                                        </p:tav>
                                        <p:tav tm="100000">
                                          <p:val>
                                            <p:strVal val="#ppt_w"/>
                                          </p:val>
                                        </p:tav>
                                      </p:tavLst>
                                    </p:anim>
                                    <p:anim calcmode="lin" valueType="num">
                                      <p:cBhvr>
                                        <p:cTn id="8" dur="500" fill="hold"/>
                                        <p:tgtEl>
                                          <p:spTgt spid="7170"/>
                                        </p:tgtEl>
                                        <p:attrNameLst>
                                          <p:attrName>ppt_h</p:attrName>
                                        </p:attrNameLst>
                                      </p:cBhvr>
                                      <p:tavLst>
                                        <p:tav tm="0">
                                          <p:val>
                                            <p:fltVal val="0"/>
                                          </p:val>
                                        </p:tav>
                                        <p:tav tm="100000">
                                          <p:val>
                                            <p:strVal val="#ppt_h"/>
                                          </p:val>
                                        </p:tav>
                                      </p:tavLst>
                                    </p:anim>
                                    <p:animEffect transition="in" filter="fade">
                                      <p:cBhvr>
                                        <p:cTn id="9" dur="500"/>
                                        <p:tgtEl>
                                          <p:spTgt spid="7170"/>
                                        </p:tgtEl>
                                      </p:cBhvr>
                                    </p:animEffect>
                                  </p:childTnLst>
                                </p:cTn>
                              </p:par>
                            </p:childTnLst>
                          </p:cTn>
                        </p:par>
                        <p:par>
                          <p:cTn id="10" fill="hold">
                            <p:stCondLst>
                              <p:cond delay="500"/>
                            </p:stCondLst>
                            <p:childTnLst>
                              <p:par>
                                <p:cTn id="11" presetID="32" presetClass="emph" presetSubtype="0" fill="hold" nodeType="afterEffect">
                                  <p:stCondLst>
                                    <p:cond delay="0"/>
                                  </p:stCondLst>
                                  <p:childTnLst>
                                    <p:animClr clrSpc="rgb" dir="cw">
                                      <p:cBhvr override="childStyle">
                                        <p:cTn id="12" dur="200" fill="hold"/>
                                        <p:tgtEl>
                                          <p:spTgt spid="2"/>
                                        </p:tgtEl>
                                        <p:attrNameLst>
                                          <p:attrName>style.color</p:attrName>
                                        </p:attrNameLst>
                                      </p:cBhvr>
                                      <p:to>
                                        <a:schemeClr val="accent2"/>
                                      </p:to>
                                    </p:animClr>
                                    <p:animClr clrSpc="rgb" dir="cw">
                                      <p:cBhvr>
                                        <p:cTn id="13" dur="200" fill="hold"/>
                                        <p:tgtEl>
                                          <p:spTgt spid="2"/>
                                        </p:tgtEl>
                                        <p:attrNameLst>
                                          <p:attrName>fillcolor</p:attrName>
                                        </p:attrNameLst>
                                      </p:cBhvr>
                                      <p:to>
                                        <a:schemeClr val="accent2"/>
                                      </p:to>
                                    </p:animClr>
                                    <p:set>
                                      <p:cBhvr>
                                        <p:cTn id="14" dur="200" fill="hold"/>
                                        <p:tgtEl>
                                          <p:spTgt spid="2"/>
                                        </p:tgtEl>
                                        <p:attrNameLst>
                                          <p:attrName>fill.type</p:attrName>
                                        </p:attrNameLst>
                                      </p:cBhvr>
                                      <p:to>
                                        <p:strVal val="solid"/>
                                      </p:to>
                                    </p:set>
                                    <p:set>
                                      <p:cBhvr>
                                        <p:cTn id="15" dur="200" fill="hold"/>
                                        <p:tgtEl>
                                          <p:spTgt spid="2"/>
                                        </p:tgtEl>
                                        <p:attrNameLst>
                                          <p:attrName>fill.on</p:attrName>
                                        </p:attrNameLst>
                                      </p:cBhvr>
                                      <p:to>
                                        <p:strVal val="true"/>
                                      </p:to>
                                    </p:set>
                                    <p:animRot by="120000">
                                      <p:cBhvr>
                                        <p:cTn id="16" dur="200" fill="hold">
                                          <p:stCondLst>
                                            <p:cond delay="0"/>
                                          </p:stCondLst>
                                        </p:cTn>
                                        <p:tgtEl>
                                          <p:spTgt spid="2"/>
                                        </p:tgtEl>
                                        <p:attrNameLst>
                                          <p:attrName>r</p:attrName>
                                        </p:attrNameLst>
                                      </p:cBhvr>
                                    </p:animRot>
                                    <p:animRot by="-240000">
                                      <p:cBhvr>
                                        <p:cTn id="17" dur="400" fill="hold">
                                          <p:stCondLst>
                                            <p:cond delay="400"/>
                                          </p:stCondLst>
                                        </p:cTn>
                                        <p:tgtEl>
                                          <p:spTgt spid="2"/>
                                        </p:tgtEl>
                                        <p:attrNameLst>
                                          <p:attrName>r</p:attrName>
                                        </p:attrNameLst>
                                      </p:cBhvr>
                                    </p:animRot>
                                    <p:animRot by="240000">
                                      <p:cBhvr>
                                        <p:cTn id="18" dur="400" fill="hold">
                                          <p:stCondLst>
                                            <p:cond delay="800"/>
                                          </p:stCondLst>
                                        </p:cTn>
                                        <p:tgtEl>
                                          <p:spTgt spid="2"/>
                                        </p:tgtEl>
                                        <p:attrNameLst>
                                          <p:attrName>r</p:attrName>
                                        </p:attrNameLst>
                                      </p:cBhvr>
                                    </p:animRot>
                                    <p:animRot by="-240000">
                                      <p:cBhvr>
                                        <p:cTn id="19" dur="400" fill="hold">
                                          <p:stCondLst>
                                            <p:cond delay="1200"/>
                                          </p:stCondLst>
                                        </p:cTn>
                                        <p:tgtEl>
                                          <p:spTgt spid="2"/>
                                        </p:tgtEl>
                                        <p:attrNameLst>
                                          <p:attrName>r</p:attrName>
                                        </p:attrNameLst>
                                      </p:cBhvr>
                                    </p:animRot>
                                    <p:animRot by="120000">
                                      <p:cBhvr>
                                        <p:cTn id="20" dur="400" fill="hold">
                                          <p:stCondLst>
                                            <p:cond delay="1600"/>
                                          </p:stCondLst>
                                        </p:cTn>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animBg="1"/>
    </p:bldLst>
  </p:timing>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p:cNvSpPr txBox="1">
            <a:spLocks noChangeArrowheads="1"/>
          </p:cNvSpPr>
          <p:nvPr/>
        </p:nvSpPr>
        <p:spPr bwMode="auto">
          <a:xfrm>
            <a:off x="76200" y="304800"/>
            <a:ext cx="9144000" cy="5467350"/>
          </a:xfrm>
          <a:prstGeom prst="rect">
            <a:avLst/>
          </a:prstGeom>
          <a:noFill/>
          <a:ln w="9525">
            <a:solidFill>
              <a:srgbClr val="000000"/>
            </a:solidFill>
            <a:miter lim="800000"/>
            <a:headEnd/>
            <a:tailEnd/>
          </a:ln>
        </p:spPr>
        <p:txBody>
          <a:bodyPr>
            <a:spAutoFit/>
          </a:bodyPr>
          <a:lstStyle/>
          <a:p>
            <a:pPr algn="just" eaLnBrk="0" hangingPunct="0">
              <a:spcBef>
                <a:spcPct val="50000"/>
              </a:spcBef>
            </a:pPr>
            <a:r>
              <a:rPr lang="en-US" sz="2200" b="1">
                <a:solidFill>
                  <a:srgbClr val="800000"/>
                </a:solidFill>
              </a:rPr>
              <a:t>The Header File  &lt;fstream.h&gt; contains the definitions for file stream classes</a:t>
            </a:r>
          </a:p>
          <a:p>
            <a:pPr algn="just" eaLnBrk="0" hangingPunct="0">
              <a:spcBef>
                <a:spcPct val="50000"/>
              </a:spcBef>
            </a:pPr>
            <a:r>
              <a:rPr lang="en-US" sz="2200" b="1">
                <a:solidFill>
                  <a:srgbClr val="800000"/>
                </a:solidFill>
              </a:rPr>
              <a:t>It contain the definitions for three classes. They are</a:t>
            </a:r>
          </a:p>
          <a:p>
            <a:pPr algn="just" eaLnBrk="0" hangingPunct="0">
              <a:spcBef>
                <a:spcPct val="50000"/>
              </a:spcBef>
            </a:pPr>
            <a:r>
              <a:rPr lang="en-US" sz="2200" b="1">
                <a:solidFill>
                  <a:srgbClr val="800000"/>
                </a:solidFill>
              </a:rPr>
              <a:t>		1)	ifstream</a:t>
            </a:r>
          </a:p>
          <a:p>
            <a:pPr algn="just" eaLnBrk="0" hangingPunct="0">
              <a:spcBef>
                <a:spcPct val="50000"/>
              </a:spcBef>
            </a:pPr>
            <a:r>
              <a:rPr lang="en-US" sz="2200" b="1">
                <a:solidFill>
                  <a:srgbClr val="800000"/>
                </a:solidFill>
              </a:rPr>
              <a:t>		2)	ofstream</a:t>
            </a:r>
          </a:p>
          <a:p>
            <a:pPr algn="just" eaLnBrk="0" hangingPunct="0">
              <a:spcBef>
                <a:spcPct val="50000"/>
              </a:spcBef>
            </a:pPr>
            <a:r>
              <a:rPr lang="en-US" sz="2200" b="1">
                <a:solidFill>
                  <a:srgbClr val="800000"/>
                </a:solidFill>
              </a:rPr>
              <a:t>		3)	fstream</a:t>
            </a:r>
          </a:p>
          <a:p>
            <a:pPr eaLnBrk="0" hangingPunct="0">
              <a:spcBef>
                <a:spcPct val="50000"/>
              </a:spcBef>
            </a:pPr>
            <a:r>
              <a:rPr lang="en-US" sz="2200" b="1" u="sng">
                <a:solidFill>
                  <a:srgbClr val="800000"/>
                </a:solidFill>
              </a:rPr>
              <a:t>Ofstream :</a:t>
            </a:r>
          </a:p>
          <a:p>
            <a:pPr eaLnBrk="0" hangingPunct="0">
              <a:spcBef>
                <a:spcPct val="50000"/>
              </a:spcBef>
            </a:pPr>
            <a:r>
              <a:rPr lang="en-US" sz="2200" b="1">
                <a:solidFill>
                  <a:srgbClr val="800000"/>
                </a:solidFill>
              </a:rPr>
              <a:t>       Every object of type ofstream uses a filename to store information in that file.</a:t>
            </a:r>
          </a:p>
          <a:p>
            <a:pPr eaLnBrk="0" hangingPunct="0">
              <a:spcBef>
                <a:spcPct val="50000"/>
              </a:spcBef>
            </a:pPr>
            <a:r>
              <a:rPr lang="en-US" sz="2200" b="1" u="sng">
                <a:solidFill>
                  <a:srgbClr val="800000"/>
                </a:solidFill>
              </a:rPr>
              <a:t>Ifstream :</a:t>
            </a:r>
          </a:p>
          <a:p>
            <a:pPr eaLnBrk="0" hangingPunct="0">
              <a:spcBef>
                <a:spcPct val="50000"/>
              </a:spcBef>
            </a:pPr>
            <a:r>
              <a:rPr lang="en-US" sz="2200" b="1">
                <a:solidFill>
                  <a:srgbClr val="800000"/>
                </a:solidFill>
              </a:rPr>
              <a:t>	To read the contents from a file we must create an object of class ifstream.</a:t>
            </a:r>
          </a:p>
        </p:txBody>
      </p:sp>
    </p:spTree>
  </p:cSld>
  <p:clrMapOvr>
    <a:masterClrMapping/>
  </p:clrMapOvr>
  <p:timing>
    <p:tnLst>
      <p:par>
        <p:cTn id="1" dur="indefinite" restart="never" nodeType="tmRoot"/>
      </p:par>
    </p:tnLst>
  </p:timing>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152400" y="152400"/>
            <a:ext cx="8763000" cy="1676400"/>
          </a:xfrm>
          <a:prstGeom prst="rect">
            <a:avLst/>
          </a:prstGeom>
          <a:noFill/>
          <a:ln w="9525">
            <a:noFill/>
            <a:miter lim="800000"/>
            <a:headEnd/>
            <a:tailEnd/>
          </a:ln>
        </p:spPr>
        <p:txBody>
          <a:bodyPr>
            <a:spAutoFit/>
          </a:bodyPr>
          <a:lstStyle/>
          <a:p>
            <a:pPr algn="just" eaLnBrk="0" hangingPunct="0">
              <a:spcBef>
                <a:spcPct val="50000"/>
              </a:spcBef>
            </a:pPr>
            <a:r>
              <a:rPr lang="en-US" sz="2400" b="1" i="1" u="sng">
                <a:solidFill>
                  <a:srgbClr val="000000"/>
                </a:solidFill>
              </a:rPr>
              <a:t>Opening a File</a:t>
            </a:r>
          </a:p>
          <a:p>
            <a:pPr algn="just" eaLnBrk="0" hangingPunct="0">
              <a:spcBef>
                <a:spcPct val="50000"/>
              </a:spcBef>
            </a:pPr>
            <a:r>
              <a:rPr lang="en-US" sz="2000" b="1">
                <a:solidFill>
                  <a:srgbClr val="000000"/>
                </a:solidFill>
              </a:rPr>
              <a:t>       The Open() function is used to open different files that uses the same stream object.</a:t>
            </a:r>
          </a:p>
          <a:p>
            <a:pPr algn="just" eaLnBrk="0" hangingPunct="0">
              <a:spcBef>
                <a:spcPct val="50000"/>
              </a:spcBef>
            </a:pPr>
            <a:r>
              <a:rPr lang="en-US" sz="2000" b="1" i="1" u="sng">
                <a:solidFill>
                  <a:srgbClr val="000000"/>
                </a:solidFill>
              </a:rPr>
              <a:t>Syntax :</a:t>
            </a:r>
            <a:r>
              <a:rPr lang="en-US" sz="2000" b="1">
                <a:solidFill>
                  <a:srgbClr val="000000"/>
                </a:solidFill>
              </a:rPr>
              <a:t>   open(“filename”, file mode);</a:t>
            </a:r>
            <a:endParaRPr lang="en-US">
              <a:latin typeface="Verdana" pitchFamily="34" charset="0"/>
            </a:endParaRPr>
          </a:p>
        </p:txBody>
      </p:sp>
      <p:graphicFrame>
        <p:nvGraphicFramePr>
          <p:cNvPr id="9219" name="Group 3"/>
          <p:cNvGraphicFramePr>
            <a:graphicFrameLocks noGrp="1"/>
          </p:cNvGraphicFramePr>
          <p:nvPr/>
        </p:nvGraphicFramePr>
        <p:xfrm>
          <a:off x="304800" y="1828800"/>
          <a:ext cx="8382000" cy="4836160"/>
        </p:xfrm>
        <a:graphic>
          <a:graphicData uri="http://schemas.openxmlformats.org/drawingml/2006/table">
            <a:tbl>
              <a:tblPr/>
              <a:tblGrid>
                <a:gridCol w="2438400"/>
                <a:gridCol w="5943600"/>
              </a:tblGrid>
              <a:tr h="5080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smtClean="0">
                          <a:ln>
                            <a:noFill/>
                          </a:ln>
                          <a:solidFill>
                            <a:srgbClr val="000000"/>
                          </a:solidFill>
                          <a:effectLst/>
                          <a:latin typeface="Arial" charset="0"/>
                        </a:rPr>
                        <a:t>File Mode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smtClean="0">
                          <a:ln>
                            <a:noFill/>
                          </a:ln>
                          <a:solidFill>
                            <a:srgbClr val="000000"/>
                          </a:solidFill>
                          <a:effectLst/>
                          <a:latin typeface="Arial" charset="0"/>
                        </a:rPr>
                        <a:t>Description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8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000000"/>
                          </a:solidFill>
                          <a:effectLst/>
                          <a:latin typeface="Arial" charset="0"/>
                        </a:rPr>
                        <a:t>ios :: in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000000"/>
                          </a:solidFill>
                          <a:effectLst/>
                          <a:latin typeface="Arial" charset="0"/>
                        </a:rPr>
                        <a:t>Open file for reading</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8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000000"/>
                          </a:solidFill>
                          <a:effectLst/>
                          <a:latin typeface="Arial" charset="0"/>
                        </a:rPr>
                        <a:t>ios :: out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000000"/>
                          </a:solidFill>
                          <a:effectLst/>
                          <a:latin typeface="Arial" charset="0"/>
                        </a:rPr>
                        <a:t>Open file for writing</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8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000000"/>
                          </a:solidFill>
                          <a:effectLst/>
                          <a:latin typeface="Arial" charset="0"/>
                        </a:rPr>
                        <a:t>ios :: app</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000000"/>
                          </a:solidFill>
                          <a:effectLst/>
                          <a:latin typeface="Arial" charset="0"/>
                        </a:rPr>
                        <a:t>Open file for reading and/or writing the data at the end of file (append)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8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000000"/>
                          </a:solidFill>
                          <a:effectLst/>
                          <a:latin typeface="Arial" charset="0"/>
                        </a:rPr>
                        <a:t>ios :: ate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000000"/>
                          </a:solidFill>
                          <a:effectLst/>
                          <a:latin typeface="Arial" charset="0"/>
                        </a:rPr>
                        <a:t>Erase the file before reading or writing(Truncated)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8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000000"/>
                          </a:solidFill>
                          <a:effectLst/>
                          <a:latin typeface="Arial" charset="0"/>
                        </a:rPr>
                        <a:t>ios :: nocreate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000000"/>
                          </a:solidFill>
                          <a:effectLst/>
                          <a:latin typeface="Arial" charset="0"/>
                        </a:rPr>
                        <a:t>Error when opening, if file does not already exists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8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000000"/>
                          </a:solidFill>
                          <a:effectLst/>
                          <a:latin typeface="Arial" charset="0"/>
                        </a:rPr>
                        <a:t>ios :: no replace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000000"/>
                          </a:solidFill>
                          <a:effectLst/>
                          <a:latin typeface="Arial" charset="0"/>
                        </a:rPr>
                        <a:t>Error when opening, if file does not already exists, unless ate or app is set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8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000000"/>
                          </a:solidFill>
                          <a:effectLst/>
                          <a:latin typeface="Arial" charset="0"/>
                        </a:rPr>
                        <a:t>ios :: binary</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000000"/>
                          </a:solidFill>
                          <a:effectLst/>
                          <a:latin typeface="Arial" charset="0"/>
                        </a:rPr>
                        <a:t>Open file in binary mode (not text mode)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p:cNvSpPr txBox="1">
            <a:spLocks noChangeArrowheads="1"/>
          </p:cNvSpPr>
          <p:nvPr/>
        </p:nvSpPr>
        <p:spPr bwMode="auto">
          <a:xfrm>
            <a:off x="152400" y="152400"/>
            <a:ext cx="8763000" cy="6286500"/>
          </a:xfrm>
          <a:prstGeom prst="rect">
            <a:avLst/>
          </a:prstGeom>
          <a:noFill/>
          <a:ln w="9525">
            <a:solidFill>
              <a:srgbClr val="000000"/>
            </a:solidFill>
            <a:miter lim="800000"/>
            <a:headEnd/>
            <a:tailEnd/>
          </a:ln>
        </p:spPr>
        <p:txBody>
          <a:bodyPr>
            <a:spAutoFit/>
          </a:bodyPr>
          <a:lstStyle/>
          <a:p>
            <a:pPr algn="just" eaLnBrk="0" hangingPunct="0">
              <a:spcBef>
                <a:spcPct val="50000"/>
              </a:spcBef>
            </a:pPr>
            <a:r>
              <a:rPr lang="en-US" sz="2400" b="1" i="1" u="sng">
                <a:solidFill>
                  <a:srgbClr val="000000"/>
                </a:solidFill>
              </a:rPr>
              <a:t>Closing a File</a:t>
            </a:r>
          </a:p>
          <a:p>
            <a:pPr algn="just" eaLnBrk="0" hangingPunct="0">
              <a:spcBef>
                <a:spcPct val="50000"/>
              </a:spcBef>
            </a:pPr>
            <a:r>
              <a:rPr lang="en-US" sz="2000" b="1">
                <a:solidFill>
                  <a:srgbClr val="000000"/>
                </a:solidFill>
              </a:rPr>
              <a:t>       To close a file, the member function close() must be used. It takes no parameters and returns no value.</a:t>
            </a:r>
          </a:p>
          <a:p>
            <a:pPr algn="just" eaLnBrk="0" hangingPunct="0">
              <a:spcBef>
                <a:spcPct val="50000"/>
              </a:spcBef>
            </a:pPr>
            <a:r>
              <a:rPr lang="en-US" sz="2000" b="1" i="1" u="sng">
                <a:solidFill>
                  <a:srgbClr val="000000"/>
                </a:solidFill>
              </a:rPr>
              <a:t>Syntax :</a:t>
            </a:r>
            <a:r>
              <a:rPr lang="en-US" sz="2000" b="1">
                <a:solidFill>
                  <a:srgbClr val="000000"/>
                </a:solidFill>
              </a:rPr>
              <a:t>   close();</a:t>
            </a:r>
          </a:p>
          <a:p>
            <a:pPr algn="just" eaLnBrk="0" hangingPunct="0">
              <a:spcBef>
                <a:spcPct val="50000"/>
              </a:spcBef>
            </a:pPr>
            <a:r>
              <a:rPr lang="en-US" sz="2400" b="1" i="1" u="sng">
                <a:solidFill>
                  <a:srgbClr val="000000"/>
                </a:solidFill>
              </a:rPr>
              <a:t>Detecting End-Of-File</a:t>
            </a:r>
          </a:p>
          <a:p>
            <a:pPr algn="just" eaLnBrk="0" hangingPunct="0">
              <a:spcBef>
                <a:spcPct val="50000"/>
              </a:spcBef>
            </a:pPr>
            <a:r>
              <a:rPr lang="en-US" sz="2000" b="1">
                <a:solidFill>
                  <a:srgbClr val="000000"/>
                </a:solidFill>
              </a:rPr>
              <a:t>       It is necessary for preventing any attempt to read data from the file.</a:t>
            </a:r>
          </a:p>
          <a:p>
            <a:pPr algn="just" eaLnBrk="0" hangingPunct="0">
              <a:spcBef>
                <a:spcPct val="50000"/>
              </a:spcBef>
            </a:pPr>
            <a:r>
              <a:rPr lang="en-US" sz="2000" b="1" i="1" u="sng">
                <a:solidFill>
                  <a:srgbClr val="000000"/>
                </a:solidFill>
              </a:rPr>
              <a:t>Syntax </a:t>
            </a:r>
            <a:r>
              <a:rPr lang="en-US" sz="2000" b="1">
                <a:solidFill>
                  <a:srgbClr val="000000"/>
                </a:solidFill>
              </a:rPr>
              <a:t> :  eof()</a:t>
            </a:r>
          </a:p>
          <a:p>
            <a:pPr algn="just" eaLnBrk="0" hangingPunct="0">
              <a:spcBef>
                <a:spcPct val="50000"/>
              </a:spcBef>
            </a:pPr>
            <a:r>
              <a:rPr lang="en-US" sz="2400" b="1" u="sng">
                <a:solidFill>
                  <a:srgbClr val="000000"/>
                </a:solidFill>
              </a:rPr>
              <a:t>put() and get() functions :</a:t>
            </a:r>
          </a:p>
          <a:p>
            <a:pPr algn="just" eaLnBrk="0" hangingPunct="0">
              <a:spcBef>
                <a:spcPct val="50000"/>
              </a:spcBef>
            </a:pPr>
            <a:r>
              <a:rPr lang="en-US" sz="2000" b="1">
                <a:solidFill>
                  <a:srgbClr val="000000"/>
                </a:solidFill>
              </a:rPr>
              <a:t>      put() function displays a single character on the screen.</a:t>
            </a:r>
          </a:p>
          <a:p>
            <a:pPr algn="just" eaLnBrk="0" hangingPunct="0">
              <a:spcBef>
                <a:spcPct val="50000"/>
              </a:spcBef>
            </a:pPr>
            <a:r>
              <a:rPr lang="en-US" sz="2000" b="1">
                <a:solidFill>
                  <a:srgbClr val="000000"/>
                </a:solidFill>
              </a:rPr>
              <a:t>Syntax :    put(char);</a:t>
            </a:r>
          </a:p>
          <a:p>
            <a:pPr algn="just" eaLnBrk="0" hangingPunct="0">
              <a:spcBef>
                <a:spcPct val="50000"/>
              </a:spcBef>
            </a:pPr>
            <a:r>
              <a:rPr lang="en-US" sz="2000" b="1">
                <a:solidFill>
                  <a:srgbClr val="000000"/>
                </a:solidFill>
              </a:rPr>
              <a:t>       get() function gets a single character from the file</a:t>
            </a:r>
          </a:p>
          <a:p>
            <a:pPr algn="just" eaLnBrk="0" hangingPunct="0">
              <a:spcBef>
                <a:spcPct val="50000"/>
              </a:spcBef>
            </a:pPr>
            <a:r>
              <a:rPr lang="en-US" sz="2000" b="1">
                <a:solidFill>
                  <a:srgbClr val="000000"/>
                </a:solidFill>
              </a:rPr>
              <a:t>Syntax :  get(void)</a:t>
            </a:r>
          </a:p>
          <a:p>
            <a:pPr algn="just" eaLnBrk="0" hangingPunct="0">
              <a:spcBef>
                <a:spcPct val="50000"/>
              </a:spcBef>
            </a:pPr>
            <a:endParaRPr lang="en-US" sz="2000" b="1">
              <a:solidFill>
                <a:srgbClr val="000000"/>
              </a:solidFill>
            </a:endParaRPr>
          </a:p>
        </p:txBody>
      </p:sp>
    </p:spTree>
  </p:cSld>
  <p:clrMapOvr>
    <a:masterClrMapping/>
  </p:clrMapOvr>
  <p:timing>
    <p:tnLst>
      <p:par>
        <p:cTn id="1" dur="indefinite" restart="never" nodeType="tmRoot"/>
      </p:par>
    </p:tnLst>
  </p:timing>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ChangeArrowheads="1"/>
          </p:cNvSpPr>
          <p:nvPr/>
        </p:nvSpPr>
        <p:spPr bwMode="auto">
          <a:xfrm>
            <a:off x="76200" y="609600"/>
            <a:ext cx="6172200" cy="5943600"/>
          </a:xfrm>
          <a:prstGeom prst="rect">
            <a:avLst/>
          </a:prstGeom>
          <a:noFill/>
          <a:ln w="9525">
            <a:solidFill>
              <a:srgbClr val="990033"/>
            </a:solidFill>
            <a:miter lim="800000"/>
            <a:headEnd/>
            <a:tailEnd/>
          </a:ln>
        </p:spPr>
        <p:txBody>
          <a:bodyPr>
            <a:spAutoFit/>
          </a:bodyPr>
          <a:lstStyle/>
          <a:p>
            <a:pPr eaLnBrk="0" hangingPunct="0"/>
            <a:r>
              <a:rPr lang="en-US" sz="2400" b="1">
                <a:solidFill>
                  <a:srgbClr val="800000"/>
                </a:solidFill>
                <a:latin typeface="Times New Roman" pitchFamily="18" charset="0"/>
              </a:rPr>
              <a:t>#include&lt;iostream.h&gt;</a:t>
            </a:r>
          </a:p>
          <a:p>
            <a:pPr eaLnBrk="0" hangingPunct="0"/>
            <a:r>
              <a:rPr lang="en-US" sz="2400" b="1">
                <a:solidFill>
                  <a:srgbClr val="800000"/>
                </a:solidFill>
                <a:latin typeface="Times New Roman" pitchFamily="18" charset="0"/>
              </a:rPr>
              <a:t>#include&lt;conio.h&gt;</a:t>
            </a:r>
          </a:p>
          <a:p>
            <a:pPr eaLnBrk="0" hangingPunct="0"/>
            <a:r>
              <a:rPr lang="en-US" sz="2400" b="1">
                <a:solidFill>
                  <a:srgbClr val="800000"/>
                </a:solidFill>
                <a:latin typeface="Times New Roman" pitchFamily="18" charset="0"/>
              </a:rPr>
              <a:t>#include&lt;fstream.h&gt;</a:t>
            </a:r>
          </a:p>
          <a:p>
            <a:pPr eaLnBrk="0" hangingPunct="0"/>
            <a:r>
              <a:rPr lang="en-US" sz="2400" b="1">
                <a:solidFill>
                  <a:srgbClr val="800000"/>
                </a:solidFill>
                <a:latin typeface="Times New Roman" pitchFamily="18" charset="0"/>
              </a:rPr>
              <a:t>void main()</a:t>
            </a:r>
          </a:p>
          <a:p>
            <a:pPr eaLnBrk="0" hangingPunct="0"/>
            <a:r>
              <a:rPr lang="en-US" sz="2400" b="1">
                <a:solidFill>
                  <a:srgbClr val="800000"/>
                </a:solidFill>
                <a:latin typeface="Times New Roman" pitchFamily="18" charset="0"/>
              </a:rPr>
              <a:t>{</a:t>
            </a:r>
          </a:p>
          <a:p>
            <a:pPr eaLnBrk="0" hangingPunct="0"/>
            <a:r>
              <a:rPr lang="en-US" sz="2400" b="1">
                <a:solidFill>
                  <a:srgbClr val="800000"/>
                </a:solidFill>
                <a:latin typeface="Times New Roman" pitchFamily="18" charset="0"/>
              </a:rPr>
              <a:t>ofstream outfile;</a:t>
            </a:r>
          </a:p>
          <a:p>
            <a:pPr eaLnBrk="0" hangingPunct="0"/>
            <a:r>
              <a:rPr lang="en-US" sz="2400" b="1">
                <a:solidFill>
                  <a:srgbClr val="800000"/>
                </a:solidFill>
                <a:latin typeface="Times New Roman" pitchFamily="18" charset="0"/>
              </a:rPr>
              <a:t>char fname[20];</a:t>
            </a:r>
          </a:p>
          <a:p>
            <a:pPr eaLnBrk="0" hangingPunct="0"/>
            <a:r>
              <a:rPr lang="en-US" sz="2400" b="1">
                <a:solidFill>
                  <a:srgbClr val="800000"/>
                </a:solidFill>
                <a:latin typeface="Times New Roman" pitchFamily="18" charset="0"/>
              </a:rPr>
              <a:t>cout&lt;&lt;"enter the filename"&lt;&lt;endl;</a:t>
            </a:r>
          </a:p>
          <a:p>
            <a:pPr eaLnBrk="0" hangingPunct="0"/>
            <a:r>
              <a:rPr lang="en-US" sz="2400" b="1">
                <a:solidFill>
                  <a:srgbClr val="800000"/>
                </a:solidFill>
                <a:latin typeface="Times New Roman" pitchFamily="18" charset="0"/>
              </a:rPr>
              <a:t>cin&gt;&gt;fname;</a:t>
            </a:r>
          </a:p>
          <a:p>
            <a:pPr eaLnBrk="0" hangingPunct="0"/>
            <a:r>
              <a:rPr lang="en-US" sz="2400" b="1">
                <a:solidFill>
                  <a:srgbClr val="800000"/>
                </a:solidFill>
                <a:latin typeface="Times New Roman" pitchFamily="18" charset="0"/>
              </a:rPr>
              <a:t>outfile.open(fname);</a:t>
            </a:r>
          </a:p>
          <a:p>
            <a:pPr eaLnBrk="0" hangingPunct="0"/>
            <a:r>
              <a:rPr lang="en-US" sz="2400" b="1">
                <a:solidFill>
                  <a:srgbClr val="800000"/>
                </a:solidFill>
                <a:latin typeface="Times New Roman" pitchFamily="18" charset="0"/>
              </a:rPr>
              <a:t>outfile&lt;&lt;"Sachin"&lt;&lt;endl;</a:t>
            </a:r>
          </a:p>
          <a:p>
            <a:pPr eaLnBrk="0" hangingPunct="0"/>
            <a:r>
              <a:rPr lang="en-US" sz="2400" b="1">
                <a:solidFill>
                  <a:srgbClr val="800000"/>
                </a:solidFill>
                <a:latin typeface="Times New Roman" pitchFamily="18" charset="0"/>
              </a:rPr>
              <a:t>outfile&lt;&lt;"Jackie"&lt;&lt;endl;</a:t>
            </a:r>
          </a:p>
          <a:p>
            <a:pPr eaLnBrk="0" hangingPunct="0"/>
            <a:r>
              <a:rPr lang="en-US" sz="2400" b="1">
                <a:solidFill>
                  <a:srgbClr val="800000"/>
                </a:solidFill>
                <a:latin typeface="Times New Roman" pitchFamily="18" charset="0"/>
              </a:rPr>
              <a:t>outfile&lt;&lt;"Vijay"&lt;&lt;endl;</a:t>
            </a:r>
          </a:p>
          <a:p>
            <a:pPr eaLnBrk="0" hangingPunct="0"/>
            <a:r>
              <a:rPr lang="en-US" sz="2400" b="1">
                <a:solidFill>
                  <a:srgbClr val="800000"/>
                </a:solidFill>
                <a:latin typeface="Times New Roman" pitchFamily="18" charset="0"/>
              </a:rPr>
              <a:t>cout&lt;&lt;"\n "&lt;&lt;"Sucessfully created ";</a:t>
            </a:r>
          </a:p>
          <a:p>
            <a:pPr eaLnBrk="0" hangingPunct="0"/>
            <a:r>
              <a:rPr lang="en-US" sz="2400" b="1">
                <a:solidFill>
                  <a:srgbClr val="800000"/>
                </a:solidFill>
                <a:latin typeface="Times New Roman" pitchFamily="18" charset="0"/>
              </a:rPr>
              <a:t>outfile.close();</a:t>
            </a:r>
          </a:p>
          <a:p>
            <a:pPr eaLnBrk="0" hangingPunct="0"/>
            <a:r>
              <a:rPr lang="en-US" sz="2400" b="1">
                <a:solidFill>
                  <a:srgbClr val="800000"/>
                </a:solidFill>
                <a:latin typeface="Times New Roman" pitchFamily="18" charset="0"/>
              </a:rPr>
              <a:t>}</a:t>
            </a:r>
          </a:p>
        </p:txBody>
      </p:sp>
      <p:sp>
        <p:nvSpPr>
          <p:cNvPr id="9219" name="Rectangle 3"/>
          <p:cNvSpPr>
            <a:spLocks noChangeArrowheads="1"/>
          </p:cNvSpPr>
          <p:nvPr/>
        </p:nvSpPr>
        <p:spPr bwMode="auto">
          <a:xfrm>
            <a:off x="0" y="0"/>
            <a:ext cx="9144000" cy="588963"/>
          </a:xfrm>
          <a:prstGeom prst="rect">
            <a:avLst/>
          </a:prstGeom>
          <a:noFill/>
          <a:ln w="9525">
            <a:solidFill>
              <a:srgbClr val="3333CC"/>
            </a:solidFill>
            <a:prstDash val="sysDot"/>
            <a:miter lim="800000"/>
            <a:headEnd/>
            <a:tailEnd/>
          </a:ln>
        </p:spPr>
        <p:txBody>
          <a:bodyPr>
            <a:spAutoFit/>
          </a:bodyPr>
          <a:lstStyle/>
          <a:p>
            <a:pPr eaLnBrk="0" hangingPunct="0"/>
            <a:r>
              <a:rPr lang="en-US" sz="3200" b="1">
                <a:solidFill>
                  <a:srgbClr val="990033"/>
                </a:solidFill>
                <a:latin typeface="Times New Roman" pitchFamily="18" charset="0"/>
              </a:rPr>
              <a:t>File creation(Writing the contents or data to a file</a:t>
            </a:r>
            <a:r>
              <a:rPr lang="en-US" sz="3200" b="1">
                <a:solidFill>
                  <a:srgbClr val="CC0066"/>
                </a:solidFill>
                <a:latin typeface="Times New Roman" pitchFamily="18" charset="0"/>
              </a:rPr>
              <a:t> </a:t>
            </a:r>
            <a:r>
              <a:rPr lang="en-US" sz="3200" b="1">
                <a:solidFill>
                  <a:srgbClr val="990033"/>
                </a:solidFill>
                <a:latin typeface="Times New Roman" pitchFamily="18" charset="0"/>
              </a:rPr>
              <a:t>)</a:t>
            </a:r>
          </a:p>
        </p:txBody>
      </p:sp>
      <p:sp>
        <p:nvSpPr>
          <p:cNvPr id="9220" name="AutoShape 4"/>
          <p:cNvSpPr>
            <a:spLocks noChangeArrowheads="1"/>
          </p:cNvSpPr>
          <p:nvPr/>
        </p:nvSpPr>
        <p:spPr bwMode="auto">
          <a:xfrm rot="-1470905">
            <a:off x="5105400" y="1524000"/>
            <a:ext cx="3294063" cy="1905000"/>
          </a:xfrm>
          <a:prstGeom prst="cloudCallout">
            <a:avLst>
              <a:gd name="adj1" fmla="val -102537"/>
              <a:gd name="adj2" fmla="val 81097"/>
            </a:avLst>
          </a:prstGeom>
          <a:noFill/>
          <a:ln w="38100">
            <a:solidFill>
              <a:srgbClr val="990033"/>
            </a:solidFill>
            <a:round/>
            <a:headEnd/>
            <a:tailEnd/>
          </a:ln>
        </p:spPr>
        <p:txBody>
          <a:bodyPr/>
          <a:lstStyle/>
          <a:p>
            <a:pPr algn="ctr" eaLnBrk="0" hangingPunct="0"/>
            <a:r>
              <a:rPr lang="en-US" sz="2800" b="1">
                <a:solidFill>
                  <a:srgbClr val="990033"/>
                </a:solidFill>
                <a:latin typeface="Bookman Old Style" pitchFamily="18" charset="0"/>
              </a:rPr>
              <a:t>Result:</a:t>
            </a:r>
          </a:p>
          <a:p>
            <a:pPr algn="ctr" eaLnBrk="0" hangingPunct="0"/>
            <a:r>
              <a:rPr lang="en-US" sz="2400" b="1">
                <a:solidFill>
                  <a:srgbClr val="990033"/>
                </a:solidFill>
                <a:latin typeface="Bookman Old Style" pitchFamily="18" charset="0"/>
              </a:rPr>
              <a:t>Sucessfully Created</a:t>
            </a:r>
          </a:p>
        </p:txBody>
      </p:sp>
    </p:spTree>
  </p:cSld>
  <p:clrMapOvr>
    <a:masterClrMapping/>
  </p:clrMapOvr>
  <p:timing>
    <p:tnLst>
      <p:par>
        <p:cTn id="1" dur="indefinite" restart="never" nodeType="tmRoot"/>
      </p:par>
    </p:tnLst>
  </p:timing>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ChangeArrowheads="1"/>
          </p:cNvSpPr>
          <p:nvPr/>
        </p:nvSpPr>
        <p:spPr bwMode="auto">
          <a:xfrm>
            <a:off x="228600" y="533400"/>
            <a:ext cx="4572000" cy="6308725"/>
          </a:xfrm>
          <a:prstGeom prst="rect">
            <a:avLst/>
          </a:prstGeom>
          <a:noFill/>
          <a:ln w="9525">
            <a:solidFill>
              <a:srgbClr val="990033"/>
            </a:solidFill>
            <a:miter lim="800000"/>
            <a:headEnd/>
            <a:tailEnd/>
          </a:ln>
        </p:spPr>
        <p:txBody>
          <a:bodyPr>
            <a:spAutoFit/>
          </a:bodyPr>
          <a:lstStyle/>
          <a:p>
            <a:pPr eaLnBrk="0" hangingPunct="0"/>
            <a:r>
              <a:rPr lang="en-US" sz="2400" b="1">
                <a:solidFill>
                  <a:srgbClr val="800000"/>
                </a:solidFill>
              </a:rPr>
              <a:t>#include&lt;iostream.h&gt;</a:t>
            </a:r>
          </a:p>
          <a:p>
            <a:pPr eaLnBrk="0" hangingPunct="0"/>
            <a:r>
              <a:rPr lang="en-US" sz="2400" b="1">
                <a:solidFill>
                  <a:srgbClr val="800000"/>
                </a:solidFill>
              </a:rPr>
              <a:t>#include&lt;conio.h&gt;</a:t>
            </a:r>
          </a:p>
          <a:p>
            <a:pPr eaLnBrk="0" hangingPunct="0"/>
            <a:r>
              <a:rPr lang="en-US" sz="2400" b="1">
                <a:solidFill>
                  <a:srgbClr val="800000"/>
                </a:solidFill>
              </a:rPr>
              <a:t>#include&lt;stdlib.h&gt;  </a:t>
            </a:r>
          </a:p>
          <a:p>
            <a:pPr eaLnBrk="0" hangingPunct="0"/>
            <a:r>
              <a:rPr lang="en-US" sz="2400" b="1">
                <a:solidFill>
                  <a:srgbClr val="800000"/>
                </a:solidFill>
              </a:rPr>
              <a:t>#include&lt;fstream.h&gt;</a:t>
            </a:r>
          </a:p>
          <a:p>
            <a:pPr eaLnBrk="0" hangingPunct="0"/>
            <a:r>
              <a:rPr lang="en-US" sz="2400" b="1">
                <a:solidFill>
                  <a:srgbClr val="800000"/>
                </a:solidFill>
              </a:rPr>
              <a:t>void main()</a:t>
            </a:r>
          </a:p>
          <a:p>
            <a:pPr eaLnBrk="0" hangingPunct="0"/>
            <a:r>
              <a:rPr lang="en-US" sz="2400" b="1">
                <a:solidFill>
                  <a:srgbClr val="800000"/>
                </a:solidFill>
              </a:rPr>
              <a:t>{</a:t>
            </a:r>
          </a:p>
          <a:p>
            <a:pPr eaLnBrk="0" hangingPunct="0"/>
            <a:r>
              <a:rPr lang="en-US" sz="2400" b="1">
                <a:solidFill>
                  <a:srgbClr val="800000"/>
                </a:solidFill>
              </a:rPr>
              <a:t>ifstream infile;</a:t>
            </a:r>
          </a:p>
          <a:p>
            <a:pPr eaLnBrk="0" hangingPunct="0"/>
            <a:r>
              <a:rPr lang="en-US" sz="2400" b="1">
                <a:solidFill>
                  <a:srgbClr val="800000"/>
                </a:solidFill>
              </a:rPr>
              <a:t>char fname[20];</a:t>
            </a:r>
          </a:p>
          <a:p>
            <a:pPr eaLnBrk="0" hangingPunct="0"/>
            <a:r>
              <a:rPr lang="en-US" sz="2400" b="1">
                <a:solidFill>
                  <a:srgbClr val="800000"/>
                </a:solidFill>
              </a:rPr>
              <a:t>char ch;</a:t>
            </a:r>
          </a:p>
          <a:p>
            <a:pPr eaLnBrk="0" hangingPunct="0"/>
            <a:r>
              <a:rPr lang="en-US" sz="2400" b="1">
                <a:solidFill>
                  <a:srgbClr val="800000"/>
                </a:solidFill>
              </a:rPr>
              <a:t>cout&lt;&lt;"enter the filename ";</a:t>
            </a:r>
          </a:p>
          <a:p>
            <a:pPr eaLnBrk="0" hangingPunct="0"/>
            <a:r>
              <a:rPr lang="en-US" sz="2400" b="1">
                <a:solidFill>
                  <a:srgbClr val="800000"/>
                </a:solidFill>
              </a:rPr>
              <a:t>cin&gt;&gt;fname;</a:t>
            </a:r>
          </a:p>
          <a:p>
            <a:pPr eaLnBrk="0" hangingPunct="0"/>
            <a:r>
              <a:rPr lang="en-US" sz="2400" b="1">
                <a:solidFill>
                  <a:srgbClr val="800000"/>
                </a:solidFill>
              </a:rPr>
              <a:t>infile.open(fname);</a:t>
            </a:r>
          </a:p>
          <a:p>
            <a:pPr eaLnBrk="0" hangingPunct="0"/>
            <a:r>
              <a:rPr lang="en-US" sz="2400" b="1">
                <a:solidFill>
                  <a:srgbClr val="800000"/>
                </a:solidFill>
              </a:rPr>
              <a:t>if(infile.fail())</a:t>
            </a:r>
          </a:p>
          <a:p>
            <a:pPr eaLnBrk="0" hangingPunct="0"/>
            <a:r>
              <a:rPr lang="en-US" sz="2400" b="1">
                <a:solidFill>
                  <a:srgbClr val="800000"/>
                </a:solidFill>
              </a:rPr>
              <a:t>{</a:t>
            </a:r>
          </a:p>
          <a:p>
            <a:pPr eaLnBrk="0" hangingPunct="0"/>
            <a:r>
              <a:rPr lang="en-US" sz="2400" b="1">
                <a:solidFill>
                  <a:srgbClr val="800000"/>
                </a:solidFill>
              </a:rPr>
              <a:t>cout&lt;&lt;"file does not exist";</a:t>
            </a:r>
          </a:p>
          <a:p>
            <a:pPr eaLnBrk="0" hangingPunct="0"/>
            <a:r>
              <a:rPr lang="en-US" sz="2400" b="1">
                <a:solidFill>
                  <a:srgbClr val="800000"/>
                </a:solidFill>
              </a:rPr>
              <a:t>exit(1);</a:t>
            </a:r>
          </a:p>
          <a:p>
            <a:pPr eaLnBrk="0" hangingPunct="0"/>
            <a:r>
              <a:rPr lang="en-US" sz="2400" b="1">
                <a:solidFill>
                  <a:srgbClr val="800000"/>
                </a:solidFill>
              </a:rPr>
              <a:t>}</a:t>
            </a:r>
          </a:p>
        </p:txBody>
      </p:sp>
      <p:sp>
        <p:nvSpPr>
          <p:cNvPr id="10243" name="Rectangle 3"/>
          <p:cNvSpPr>
            <a:spLocks noChangeArrowheads="1"/>
          </p:cNvSpPr>
          <p:nvPr/>
        </p:nvSpPr>
        <p:spPr bwMode="auto">
          <a:xfrm>
            <a:off x="457200" y="0"/>
            <a:ext cx="7699375" cy="528638"/>
          </a:xfrm>
          <a:prstGeom prst="rect">
            <a:avLst/>
          </a:prstGeom>
          <a:noFill/>
          <a:ln w="9525">
            <a:solidFill>
              <a:srgbClr val="990033"/>
            </a:solidFill>
            <a:miter lim="800000"/>
            <a:headEnd/>
            <a:tailEnd/>
          </a:ln>
        </p:spPr>
        <p:txBody>
          <a:bodyPr wrap="none">
            <a:spAutoFit/>
          </a:bodyPr>
          <a:lstStyle/>
          <a:p>
            <a:pPr eaLnBrk="0" hangingPunct="0"/>
            <a:r>
              <a:rPr lang="en-US" sz="2800" b="1">
                <a:solidFill>
                  <a:srgbClr val="990033"/>
                </a:solidFill>
                <a:latin typeface="Verdana" pitchFamily="34" charset="0"/>
              </a:rPr>
              <a:t>Read the contents(data) from the file</a:t>
            </a:r>
          </a:p>
        </p:txBody>
      </p:sp>
      <p:sp>
        <p:nvSpPr>
          <p:cNvPr id="10244" name="Rectangle 4"/>
          <p:cNvSpPr>
            <a:spLocks noChangeArrowheads="1"/>
          </p:cNvSpPr>
          <p:nvPr/>
        </p:nvSpPr>
        <p:spPr bwMode="auto">
          <a:xfrm>
            <a:off x="4800600" y="609600"/>
            <a:ext cx="4191000" cy="2657475"/>
          </a:xfrm>
          <a:prstGeom prst="rect">
            <a:avLst/>
          </a:prstGeom>
          <a:noFill/>
          <a:ln w="9525">
            <a:solidFill>
              <a:srgbClr val="990033"/>
            </a:solidFill>
            <a:miter lim="800000"/>
            <a:headEnd/>
            <a:tailEnd/>
          </a:ln>
        </p:spPr>
        <p:txBody>
          <a:bodyPr>
            <a:spAutoFit/>
          </a:bodyPr>
          <a:lstStyle/>
          <a:p>
            <a:pPr eaLnBrk="0" hangingPunct="0"/>
            <a:r>
              <a:rPr lang="en-US" sz="2400" b="1">
                <a:solidFill>
                  <a:srgbClr val="800000"/>
                </a:solidFill>
              </a:rPr>
              <a:t>while(!infile.eof())</a:t>
            </a:r>
          </a:p>
          <a:p>
            <a:pPr eaLnBrk="0" hangingPunct="0"/>
            <a:r>
              <a:rPr lang="en-US" sz="2400" b="1">
                <a:solidFill>
                  <a:srgbClr val="800000"/>
                </a:solidFill>
              </a:rPr>
              <a:t>{</a:t>
            </a:r>
          </a:p>
          <a:p>
            <a:pPr eaLnBrk="0" hangingPunct="0"/>
            <a:r>
              <a:rPr lang="en-US" sz="2400" b="1">
                <a:solidFill>
                  <a:srgbClr val="800000"/>
                </a:solidFill>
              </a:rPr>
              <a:t>ch=infile.get();</a:t>
            </a:r>
          </a:p>
          <a:p>
            <a:pPr eaLnBrk="0" hangingPunct="0"/>
            <a:r>
              <a:rPr lang="en-US" sz="2400" b="1">
                <a:solidFill>
                  <a:srgbClr val="800000"/>
                </a:solidFill>
              </a:rPr>
              <a:t>cout&lt;&lt;ch;</a:t>
            </a:r>
          </a:p>
          <a:p>
            <a:pPr eaLnBrk="0" hangingPunct="0"/>
            <a:r>
              <a:rPr lang="en-US" sz="2400" b="1">
                <a:solidFill>
                  <a:srgbClr val="800000"/>
                </a:solidFill>
              </a:rPr>
              <a:t>}</a:t>
            </a:r>
          </a:p>
          <a:p>
            <a:pPr eaLnBrk="0" hangingPunct="0"/>
            <a:r>
              <a:rPr lang="en-US" sz="2400" b="1">
                <a:solidFill>
                  <a:srgbClr val="800000"/>
                </a:solidFill>
              </a:rPr>
              <a:t>infile.close();</a:t>
            </a:r>
          </a:p>
          <a:p>
            <a:pPr eaLnBrk="0" hangingPunct="0"/>
            <a:r>
              <a:rPr lang="en-US" sz="2400" b="1">
                <a:solidFill>
                  <a:srgbClr val="800000"/>
                </a:solidFill>
              </a:rPr>
              <a:t>}</a:t>
            </a:r>
          </a:p>
        </p:txBody>
      </p:sp>
    </p:spTree>
  </p:cSld>
  <p:clrMapOvr>
    <a:masterClrMapping/>
  </p:clrMapOvr>
  <p:timing>
    <p:tnLst>
      <p:par>
        <p:cTn id="1" dur="indefinite" restart="never" nodeType="tmRoot"/>
      </p:par>
    </p:tnLst>
  </p:timing>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ChangeArrowheads="1"/>
          </p:cNvSpPr>
          <p:nvPr/>
        </p:nvSpPr>
        <p:spPr bwMode="auto">
          <a:xfrm>
            <a:off x="228600" y="914400"/>
            <a:ext cx="4572000" cy="5868988"/>
          </a:xfrm>
          <a:prstGeom prst="rect">
            <a:avLst/>
          </a:prstGeom>
          <a:noFill/>
          <a:ln w="9525">
            <a:solidFill>
              <a:srgbClr val="990033"/>
            </a:solidFill>
            <a:miter lim="800000"/>
            <a:headEnd/>
            <a:tailEnd/>
          </a:ln>
        </p:spPr>
        <p:txBody>
          <a:bodyPr>
            <a:spAutoFit/>
          </a:bodyPr>
          <a:lstStyle/>
          <a:p>
            <a:pPr eaLnBrk="0" hangingPunct="0"/>
            <a:r>
              <a:rPr lang="en-US" b="1">
                <a:solidFill>
                  <a:srgbClr val="800000"/>
                </a:solidFill>
              </a:rPr>
              <a:t>#include&lt;iostream.h&gt;</a:t>
            </a:r>
          </a:p>
          <a:p>
            <a:pPr eaLnBrk="0" hangingPunct="0"/>
            <a:r>
              <a:rPr lang="en-US" b="1">
                <a:solidFill>
                  <a:srgbClr val="800000"/>
                </a:solidFill>
              </a:rPr>
              <a:t>#include&lt;conio.h&gt;</a:t>
            </a:r>
          </a:p>
          <a:p>
            <a:pPr eaLnBrk="0" hangingPunct="0"/>
            <a:r>
              <a:rPr lang="en-US" b="1">
                <a:solidFill>
                  <a:srgbClr val="800000"/>
                </a:solidFill>
              </a:rPr>
              <a:t>#include&lt;stdlib.h&gt;</a:t>
            </a:r>
          </a:p>
          <a:p>
            <a:pPr eaLnBrk="0" hangingPunct="0"/>
            <a:r>
              <a:rPr lang="en-US" b="1">
                <a:solidFill>
                  <a:srgbClr val="800000"/>
                </a:solidFill>
              </a:rPr>
              <a:t>#include&lt;fstream.h&gt;</a:t>
            </a:r>
          </a:p>
          <a:p>
            <a:pPr eaLnBrk="0" hangingPunct="0"/>
            <a:r>
              <a:rPr lang="en-US" b="1">
                <a:solidFill>
                  <a:srgbClr val="800000"/>
                </a:solidFill>
              </a:rPr>
              <a:t>void main()</a:t>
            </a:r>
          </a:p>
          <a:p>
            <a:pPr eaLnBrk="0" hangingPunct="0"/>
            <a:r>
              <a:rPr lang="en-US" b="1">
                <a:solidFill>
                  <a:srgbClr val="800000"/>
                </a:solidFill>
              </a:rPr>
              <a:t>{</a:t>
            </a:r>
          </a:p>
          <a:p>
            <a:pPr eaLnBrk="0" hangingPunct="0"/>
            <a:r>
              <a:rPr lang="en-US" b="1">
                <a:solidFill>
                  <a:srgbClr val="800000"/>
                </a:solidFill>
              </a:rPr>
              <a:t>ofstream outfile;</a:t>
            </a:r>
          </a:p>
          <a:p>
            <a:pPr eaLnBrk="0" hangingPunct="0"/>
            <a:r>
              <a:rPr lang="en-US" b="1">
                <a:solidFill>
                  <a:srgbClr val="800000"/>
                </a:solidFill>
              </a:rPr>
              <a:t>ifstream infile;</a:t>
            </a:r>
          </a:p>
          <a:p>
            <a:pPr eaLnBrk="0" hangingPunct="0"/>
            <a:r>
              <a:rPr lang="en-US" b="1">
                <a:solidFill>
                  <a:srgbClr val="800000"/>
                </a:solidFill>
              </a:rPr>
              <a:t>char source[10],target[10],ch ;</a:t>
            </a:r>
          </a:p>
          <a:p>
            <a:pPr eaLnBrk="0" hangingPunct="0"/>
            <a:r>
              <a:rPr lang="en-US" b="1">
                <a:solidFill>
                  <a:srgbClr val="800000"/>
                </a:solidFill>
              </a:rPr>
              <a:t>clrscr();</a:t>
            </a:r>
          </a:p>
          <a:p>
            <a:pPr eaLnBrk="0" hangingPunct="0"/>
            <a:r>
              <a:rPr lang="en-US" b="1">
                <a:solidFill>
                  <a:srgbClr val="800000"/>
                </a:solidFill>
              </a:rPr>
              <a:t>cout&lt;&lt;"enter the source file name";</a:t>
            </a:r>
          </a:p>
          <a:p>
            <a:pPr eaLnBrk="0" hangingPunct="0"/>
            <a:r>
              <a:rPr lang="en-US" b="1">
                <a:solidFill>
                  <a:srgbClr val="800000"/>
                </a:solidFill>
              </a:rPr>
              <a:t>cin&gt;&gt;source;</a:t>
            </a:r>
          </a:p>
          <a:p>
            <a:pPr eaLnBrk="0" hangingPunct="0"/>
            <a:r>
              <a:rPr lang="en-US" b="1">
                <a:solidFill>
                  <a:srgbClr val="800000"/>
                </a:solidFill>
              </a:rPr>
              <a:t>cout&lt;&lt;"enter the target file name";</a:t>
            </a:r>
          </a:p>
          <a:p>
            <a:pPr eaLnBrk="0" hangingPunct="0"/>
            <a:r>
              <a:rPr lang="en-US" b="1">
                <a:solidFill>
                  <a:srgbClr val="800000"/>
                </a:solidFill>
              </a:rPr>
              <a:t>cin&gt;&gt;target;</a:t>
            </a:r>
          </a:p>
          <a:p>
            <a:pPr eaLnBrk="0" hangingPunct="0"/>
            <a:r>
              <a:rPr lang="en-US" b="1">
                <a:solidFill>
                  <a:srgbClr val="800000"/>
                </a:solidFill>
              </a:rPr>
              <a:t>infile.open(source);</a:t>
            </a:r>
          </a:p>
          <a:p>
            <a:pPr eaLnBrk="0" hangingPunct="0"/>
            <a:r>
              <a:rPr lang="en-US" b="1">
                <a:solidFill>
                  <a:srgbClr val="800000"/>
                </a:solidFill>
              </a:rPr>
              <a:t>if(infile.fail())</a:t>
            </a:r>
          </a:p>
          <a:p>
            <a:pPr eaLnBrk="0" hangingPunct="0"/>
            <a:r>
              <a:rPr lang="en-US" b="1">
                <a:solidFill>
                  <a:srgbClr val="800000"/>
                </a:solidFill>
              </a:rPr>
              <a:t>{</a:t>
            </a:r>
          </a:p>
          <a:p>
            <a:pPr eaLnBrk="0" hangingPunct="0"/>
            <a:r>
              <a:rPr lang="en-US" b="1">
                <a:solidFill>
                  <a:srgbClr val="800000"/>
                </a:solidFill>
              </a:rPr>
              <a:t>cout&lt;&lt;"source file does not exist";</a:t>
            </a:r>
          </a:p>
          <a:p>
            <a:pPr eaLnBrk="0" hangingPunct="0"/>
            <a:r>
              <a:rPr lang="en-US" b="1">
                <a:solidFill>
                  <a:srgbClr val="800000"/>
                </a:solidFill>
              </a:rPr>
              <a:t>exit(1);</a:t>
            </a:r>
          </a:p>
          <a:p>
            <a:pPr eaLnBrk="0" hangingPunct="0"/>
            <a:r>
              <a:rPr lang="en-US" b="1">
                <a:solidFill>
                  <a:srgbClr val="800000"/>
                </a:solidFill>
              </a:rPr>
              <a:t>}</a:t>
            </a:r>
          </a:p>
          <a:p>
            <a:pPr eaLnBrk="0" hangingPunct="0"/>
            <a:r>
              <a:rPr lang="en-US" b="1">
                <a:solidFill>
                  <a:srgbClr val="800000"/>
                </a:solidFill>
              </a:rPr>
              <a:t>outfile.open(target);</a:t>
            </a:r>
          </a:p>
        </p:txBody>
      </p:sp>
      <p:sp>
        <p:nvSpPr>
          <p:cNvPr id="11267" name="Rectangle 3"/>
          <p:cNvSpPr>
            <a:spLocks noChangeArrowheads="1"/>
          </p:cNvSpPr>
          <p:nvPr/>
        </p:nvSpPr>
        <p:spPr bwMode="auto">
          <a:xfrm>
            <a:off x="109538" y="128588"/>
            <a:ext cx="8815387" cy="558800"/>
          </a:xfrm>
          <a:prstGeom prst="rect">
            <a:avLst/>
          </a:prstGeom>
          <a:noFill/>
          <a:ln w="9525">
            <a:solidFill>
              <a:srgbClr val="990033"/>
            </a:solidFill>
            <a:miter lim="800000"/>
            <a:headEnd/>
            <a:tailEnd/>
          </a:ln>
        </p:spPr>
        <p:txBody>
          <a:bodyPr wrap="none">
            <a:spAutoFit/>
          </a:bodyPr>
          <a:lstStyle/>
          <a:p>
            <a:pPr eaLnBrk="0" hangingPunct="0"/>
            <a:r>
              <a:rPr lang="en-US" sz="3000" b="1">
                <a:solidFill>
                  <a:srgbClr val="990033"/>
                </a:solidFill>
              </a:rPr>
              <a:t>copy the contents from one file into another file</a:t>
            </a:r>
          </a:p>
        </p:txBody>
      </p:sp>
      <p:sp>
        <p:nvSpPr>
          <p:cNvPr id="11268" name="Rectangle 4"/>
          <p:cNvSpPr>
            <a:spLocks noChangeArrowheads="1"/>
          </p:cNvSpPr>
          <p:nvPr/>
        </p:nvSpPr>
        <p:spPr bwMode="auto">
          <a:xfrm>
            <a:off x="4800600" y="914400"/>
            <a:ext cx="3657600" cy="4221163"/>
          </a:xfrm>
          <a:prstGeom prst="rect">
            <a:avLst/>
          </a:prstGeom>
          <a:noFill/>
          <a:ln w="9525">
            <a:solidFill>
              <a:srgbClr val="990033"/>
            </a:solidFill>
            <a:miter lim="800000"/>
            <a:headEnd/>
            <a:tailEnd/>
          </a:ln>
        </p:spPr>
        <p:txBody>
          <a:bodyPr>
            <a:spAutoFit/>
          </a:bodyPr>
          <a:lstStyle/>
          <a:p>
            <a:pPr eaLnBrk="0" hangingPunct="0"/>
            <a:r>
              <a:rPr lang="en-US" b="1">
                <a:solidFill>
                  <a:srgbClr val="800000"/>
                </a:solidFill>
              </a:rPr>
              <a:t>if(outfile.fail())</a:t>
            </a:r>
          </a:p>
          <a:p>
            <a:pPr eaLnBrk="0" hangingPunct="0"/>
            <a:r>
              <a:rPr lang="en-US" b="1">
                <a:solidFill>
                  <a:srgbClr val="800000"/>
                </a:solidFill>
              </a:rPr>
              <a:t>{</a:t>
            </a:r>
          </a:p>
          <a:p>
            <a:pPr eaLnBrk="0" hangingPunct="0"/>
            <a:r>
              <a:rPr lang="en-US" b="1">
                <a:solidFill>
                  <a:srgbClr val="800000"/>
                </a:solidFill>
              </a:rPr>
              <a:t>cout&lt;&lt;"unable to create a file";</a:t>
            </a:r>
          </a:p>
          <a:p>
            <a:pPr eaLnBrk="0" hangingPunct="0"/>
            <a:r>
              <a:rPr lang="en-US" b="1">
                <a:solidFill>
                  <a:srgbClr val="800000"/>
                </a:solidFill>
              </a:rPr>
              <a:t>exit(1);</a:t>
            </a:r>
          </a:p>
          <a:p>
            <a:pPr eaLnBrk="0" hangingPunct="0"/>
            <a:r>
              <a:rPr lang="en-US" b="1">
                <a:solidFill>
                  <a:srgbClr val="800000"/>
                </a:solidFill>
              </a:rPr>
              <a:t>}</a:t>
            </a:r>
          </a:p>
          <a:p>
            <a:pPr eaLnBrk="0" hangingPunct="0"/>
            <a:r>
              <a:rPr lang="en-US" b="1">
                <a:solidFill>
                  <a:srgbClr val="800000"/>
                </a:solidFill>
              </a:rPr>
              <a:t>while(!infile.eof())</a:t>
            </a:r>
          </a:p>
          <a:p>
            <a:pPr eaLnBrk="0" hangingPunct="0"/>
            <a:r>
              <a:rPr lang="en-US" b="1">
                <a:solidFill>
                  <a:srgbClr val="800000"/>
                </a:solidFill>
              </a:rPr>
              <a:t>{</a:t>
            </a:r>
          </a:p>
          <a:p>
            <a:pPr eaLnBrk="0" hangingPunct="0"/>
            <a:r>
              <a:rPr lang="en-US" b="1">
                <a:solidFill>
                  <a:srgbClr val="800000"/>
                </a:solidFill>
              </a:rPr>
              <a:t>ch=infile.get();</a:t>
            </a:r>
          </a:p>
          <a:p>
            <a:pPr eaLnBrk="0" hangingPunct="0"/>
            <a:r>
              <a:rPr lang="en-US" b="1">
                <a:solidFill>
                  <a:srgbClr val="800000"/>
                </a:solidFill>
              </a:rPr>
              <a:t>outfile.put(ch);</a:t>
            </a:r>
          </a:p>
          <a:p>
            <a:pPr eaLnBrk="0" hangingPunct="0"/>
            <a:r>
              <a:rPr lang="en-US" b="1">
                <a:solidFill>
                  <a:srgbClr val="800000"/>
                </a:solidFill>
              </a:rPr>
              <a:t>cout&lt;&lt;ch;</a:t>
            </a:r>
          </a:p>
          <a:p>
            <a:pPr eaLnBrk="0" hangingPunct="0"/>
            <a:r>
              <a:rPr lang="en-US" b="1">
                <a:solidFill>
                  <a:srgbClr val="800000"/>
                </a:solidFill>
              </a:rPr>
              <a:t>}</a:t>
            </a:r>
          </a:p>
          <a:p>
            <a:pPr eaLnBrk="0" hangingPunct="0"/>
            <a:r>
              <a:rPr lang="en-US" b="1">
                <a:solidFill>
                  <a:srgbClr val="800000"/>
                </a:solidFill>
              </a:rPr>
              <a:t>infile.close();</a:t>
            </a:r>
          </a:p>
          <a:p>
            <a:pPr eaLnBrk="0" hangingPunct="0"/>
            <a:r>
              <a:rPr lang="en-US" b="1">
                <a:solidFill>
                  <a:srgbClr val="800000"/>
                </a:solidFill>
              </a:rPr>
              <a:t>outfile.close();</a:t>
            </a:r>
          </a:p>
          <a:p>
            <a:pPr eaLnBrk="0" hangingPunct="0"/>
            <a:r>
              <a:rPr lang="en-US" b="1">
                <a:solidFill>
                  <a:srgbClr val="800000"/>
                </a:solidFill>
              </a:rPr>
              <a:t>getch();</a:t>
            </a:r>
          </a:p>
          <a:p>
            <a:pPr eaLnBrk="0" hangingPunct="0"/>
            <a:r>
              <a:rPr lang="en-US" b="1">
                <a:solidFill>
                  <a:srgbClr val="800000"/>
                </a:solidFill>
              </a:rPr>
              <a:t>}</a:t>
            </a:r>
          </a:p>
        </p:txBody>
      </p:sp>
    </p:spTree>
  </p:cSld>
  <p:clrMapOvr>
    <a:masterClrMapping/>
  </p:clrMapOvr>
  <p:timing>
    <p:tnLst>
      <p:par>
        <p:cTn id="1" dur="indefinite" restart="never" nodeType="tmRoot"/>
      </p:par>
    </p:tnLst>
  </p:timing>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p:cNvSpPr txBox="1">
            <a:spLocks noChangeArrowheads="1"/>
          </p:cNvSpPr>
          <p:nvPr/>
        </p:nvSpPr>
        <p:spPr bwMode="auto">
          <a:xfrm>
            <a:off x="152400" y="585788"/>
            <a:ext cx="8763000" cy="5878512"/>
          </a:xfrm>
          <a:prstGeom prst="rect">
            <a:avLst/>
          </a:prstGeom>
          <a:noFill/>
          <a:ln w="9525">
            <a:solidFill>
              <a:srgbClr val="000000"/>
            </a:solidFill>
            <a:miter lim="800000"/>
            <a:headEnd/>
            <a:tailEnd/>
          </a:ln>
        </p:spPr>
        <p:txBody>
          <a:bodyPr>
            <a:spAutoFit/>
          </a:bodyPr>
          <a:lstStyle/>
          <a:p>
            <a:pPr algn="just" eaLnBrk="0" hangingPunct="0">
              <a:lnSpc>
                <a:spcPct val="120000"/>
              </a:lnSpc>
              <a:spcBef>
                <a:spcPct val="50000"/>
              </a:spcBef>
            </a:pPr>
            <a:r>
              <a:rPr lang="en-US" sz="2400" b="1" i="1" u="sng">
                <a:solidFill>
                  <a:srgbClr val="000000"/>
                </a:solidFill>
              </a:rPr>
              <a:t>The getline() and write() functions</a:t>
            </a:r>
          </a:p>
          <a:p>
            <a:pPr algn="just" eaLnBrk="0" hangingPunct="0">
              <a:lnSpc>
                <a:spcPct val="120000"/>
              </a:lnSpc>
              <a:spcBef>
                <a:spcPct val="50000"/>
              </a:spcBef>
            </a:pPr>
            <a:r>
              <a:rPr lang="en-US" sz="2000" b="1">
                <a:solidFill>
                  <a:srgbClr val="000000"/>
                </a:solidFill>
              </a:rPr>
              <a:t>       These two functions are line oriented input and output functions respectively.</a:t>
            </a:r>
          </a:p>
          <a:p>
            <a:pPr algn="just" eaLnBrk="0" hangingPunct="0">
              <a:lnSpc>
                <a:spcPct val="120000"/>
              </a:lnSpc>
              <a:spcBef>
                <a:spcPct val="50000"/>
              </a:spcBef>
            </a:pPr>
            <a:r>
              <a:rPr lang="en-US" sz="2000" b="1">
                <a:solidFill>
                  <a:srgbClr val="000000"/>
                </a:solidFill>
              </a:rPr>
              <a:t>        getline() function reads a complete line until it encounters a newline character.</a:t>
            </a:r>
          </a:p>
          <a:p>
            <a:pPr algn="just" eaLnBrk="0" hangingPunct="0">
              <a:lnSpc>
                <a:spcPct val="120000"/>
              </a:lnSpc>
              <a:spcBef>
                <a:spcPct val="50000"/>
              </a:spcBef>
            </a:pPr>
            <a:r>
              <a:rPr lang="en-US" sz="2000" b="1" i="1" u="sng">
                <a:solidFill>
                  <a:srgbClr val="000000"/>
                </a:solidFill>
              </a:rPr>
              <a:t>Syntax :</a:t>
            </a:r>
            <a:r>
              <a:rPr lang="en-US" sz="2000" b="1">
                <a:solidFill>
                  <a:srgbClr val="000000"/>
                </a:solidFill>
              </a:rPr>
              <a:t>   cin.getline(char*,size);</a:t>
            </a:r>
          </a:p>
          <a:p>
            <a:pPr algn="just" eaLnBrk="0" hangingPunct="0">
              <a:lnSpc>
                <a:spcPct val="120000"/>
              </a:lnSpc>
              <a:spcBef>
                <a:spcPct val="50000"/>
              </a:spcBef>
            </a:pPr>
            <a:r>
              <a:rPr lang="en-US" sz="2000" b="1">
                <a:solidFill>
                  <a:srgbClr val="000000"/>
                </a:solidFill>
              </a:rPr>
              <a:t>Char* </a:t>
            </a:r>
            <a:r>
              <a:rPr lang="en-US" sz="2000" b="1">
                <a:solidFill>
                  <a:srgbClr val="000000"/>
                </a:solidFill>
                <a:sym typeface="Wingdings" pitchFamily="2" charset="2"/>
              </a:rPr>
              <a:t> holds the inputline</a:t>
            </a:r>
          </a:p>
          <a:p>
            <a:pPr algn="just" eaLnBrk="0" hangingPunct="0">
              <a:lnSpc>
                <a:spcPct val="120000"/>
              </a:lnSpc>
              <a:spcBef>
                <a:spcPct val="50000"/>
              </a:spcBef>
            </a:pPr>
            <a:r>
              <a:rPr lang="en-US" sz="2000" b="1">
                <a:solidFill>
                  <a:srgbClr val="000000"/>
                </a:solidFill>
                <a:sym typeface="Wingdings" pitchFamily="2" charset="2"/>
              </a:rPr>
              <a:t>Size    The number of characters to be read</a:t>
            </a:r>
            <a:endParaRPr lang="en-US" sz="2000" b="1">
              <a:solidFill>
                <a:srgbClr val="000000"/>
              </a:solidFill>
            </a:endParaRPr>
          </a:p>
          <a:p>
            <a:pPr algn="just" eaLnBrk="0" hangingPunct="0">
              <a:lnSpc>
                <a:spcPct val="120000"/>
              </a:lnSpc>
              <a:spcBef>
                <a:spcPct val="50000"/>
              </a:spcBef>
            </a:pPr>
            <a:r>
              <a:rPr lang="en-US" sz="2400" b="1" i="1" u="sng">
                <a:solidFill>
                  <a:srgbClr val="000000"/>
                </a:solidFill>
              </a:rPr>
              <a:t>write Function</a:t>
            </a:r>
          </a:p>
          <a:p>
            <a:pPr algn="just" eaLnBrk="0" hangingPunct="0">
              <a:lnSpc>
                <a:spcPct val="120000"/>
              </a:lnSpc>
              <a:spcBef>
                <a:spcPct val="50000"/>
              </a:spcBef>
            </a:pPr>
            <a:r>
              <a:rPr lang="en-US" sz="2000" b="1">
                <a:solidFill>
                  <a:srgbClr val="000000"/>
                </a:solidFill>
              </a:rPr>
              <a:t>       It is used for displaying a text in a line until it encounters a ‘\n’ characters.</a:t>
            </a:r>
          </a:p>
          <a:p>
            <a:pPr algn="just" eaLnBrk="0" hangingPunct="0">
              <a:lnSpc>
                <a:spcPct val="120000"/>
              </a:lnSpc>
              <a:spcBef>
                <a:spcPct val="50000"/>
              </a:spcBef>
            </a:pPr>
            <a:r>
              <a:rPr lang="en-US" sz="2000" b="1" i="1" u="sng">
                <a:solidFill>
                  <a:srgbClr val="000000"/>
                </a:solidFill>
              </a:rPr>
              <a:t>Syntax </a:t>
            </a:r>
            <a:r>
              <a:rPr lang="en-US" sz="2000" b="1">
                <a:solidFill>
                  <a:srgbClr val="000000"/>
                </a:solidFill>
              </a:rPr>
              <a:t> :  cout.write(char*,size);</a:t>
            </a:r>
          </a:p>
        </p:txBody>
      </p:sp>
    </p:spTree>
  </p:cSld>
  <p:clrMapOvr>
    <a:masterClrMapping/>
  </p:clrMapOvr>
  <p:timing>
    <p:tnLst>
      <p:par>
        <p:cTn id="1" dur="indefinite" restart="never" nodeType="tmRoot"/>
      </p:par>
    </p:tnLst>
  </p:timing>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ChangeArrowheads="1"/>
          </p:cNvSpPr>
          <p:nvPr/>
        </p:nvSpPr>
        <p:spPr bwMode="auto">
          <a:xfrm>
            <a:off x="609600" y="609600"/>
            <a:ext cx="6781800" cy="3852863"/>
          </a:xfrm>
          <a:prstGeom prst="rect">
            <a:avLst/>
          </a:prstGeom>
          <a:noFill/>
          <a:ln w="9525">
            <a:solidFill>
              <a:srgbClr val="990033"/>
            </a:solidFill>
            <a:miter lim="800000"/>
            <a:headEnd/>
            <a:tailEnd/>
          </a:ln>
        </p:spPr>
        <p:txBody>
          <a:bodyPr>
            <a:spAutoFit/>
          </a:bodyPr>
          <a:lstStyle/>
          <a:p>
            <a:pPr eaLnBrk="0" hangingPunct="0"/>
            <a:r>
              <a:rPr lang="en-US" sz="2400" b="1">
                <a:solidFill>
                  <a:srgbClr val="800000"/>
                </a:solidFill>
              </a:rPr>
              <a:t>getline() and write() function Example</a:t>
            </a:r>
          </a:p>
          <a:p>
            <a:pPr eaLnBrk="0" hangingPunct="0"/>
            <a:endParaRPr lang="en-US" sz="2400" b="1">
              <a:solidFill>
                <a:srgbClr val="800000"/>
              </a:solidFill>
            </a:endParaRPr>
          </a:p>
          <a:p>
            <a:pPr eaLnBrk="0" hangingPunct="0"/>
            <a:r>
              <a:rPr lang="en-US" b="1">
                <a:solidFill>
                  <a:srgbClr val="800000"/>
                </a:solidFill>
              </a:rPr>
              <a:t>#include&lt;iostream.h&gt;</a:t>
            </a:r>
          </a:p>
          <a:p>
            <a:pPr eaLnBrk="0" hangingPunct="0"/>
            <a:r>
              <a:rPr lang="en-US" b="1">
                <a:solidFill>
                  <a:srgbClr val="800000"/>
                </a:solidFill>
              </a:rPr>
              <a:t>#include&lt;conio.h&gt;</a:t>
            </a:r>
          </a:p>
          <a:p>
            <a:pPr eaLnBrk="0" hangingPunct="0"/>
            <a:r>
              <a:rPr lang="en-US" b="1">
                <a:solidFill>
                  <a:srgbClr val="800000"/>
                </a:solidFill>
              </a:rPr>
              <a:t>void main()</a:t>
            </a:r>
          </a:p>
          <a:p>
            <a:pPr eaLnBrk="0" hangingPunct="0"/>
            <a:r>
              <a:rPr lang="en-US" b="1">
                <a:solidFill>
                  <a:srgbClr val="800000"/>
                </a:solidFill>
              </a:rPr>
              <a:t>{</a:t>
            </a:r>
          </a:p>
          <a:p>
            <a:pPr eaLnBrk="0" hangingPunct="0"/>
            <a:r>
              <a:rPr lang="en-US" b="1">
                <a:solidFill>
                  <a:srgbClr val="800000"/>
                </a:solidFill>
              </a:rPr>
              <a:t>char name[50];</a:t>
            </a:r>
          </a:p>
          <a:p>
            <a:pPr eaLnBrk="0" hangingPunct="0"/>
            <a:r>
              <a:rPr lang="en-US" b="1">
                <a:solidFill>
                  <a:srgbClr val="800000"/>
                </a:solidFill>
              </a:rPr>
              <a:t>clrscr();</a:t>
            </a:r>
          </a:p>
          <a:p>
            <a:pPr eaLnBrk="0" hangingPunct="0"/>
            <a:r>
              <a:rPr lang="en-US" b="1">
                <a:solidFill>
                  <a:srgbClr val="800000"/>
                </a:solidFill>
              </a:rPr>
              <a:t>Cout&lt;&lt;“Enter any string”&lt;&lt;endl;</a:t>
            </a:r>
          </a:p>
          <a:p>
            <a:pPr eaLnBrk="0" hangingPunct="0"/>
            <a:r>
              <a:rPr lang="en-US" b="1">
                <a:solidFill>
                  <a:srgbClr val="800000"/>
                </a:solidFill>
              </a:rPr>
              <a:t>cin.getline(name,40);</a:t>
            </a:r>
          </a:p>
          <a:p>
            <a:pPr eaLnBrk="0" hangingPunct="0"/>
            <a:r>
              <a:rPr lang="en-US" b="1">
                <a:solidFill>
                  <a:srgbClr val="800000"/>
                </a:solidFill>
              </a:rPr>
              <a:t>cout.write(name,40);</a:t>
            </a:r>
          </a:p>
          <a:p>
            <a:pPr eaLnBrk="0" hangingPunct="0"/>
            <a:r>
              <a:rPr lang="en-US" b="1">
                <a:solidFill>
                  <a:srgbClr val="800000"/>
                </a:solidFill>
              </a:rPr>
              <a:t>getch();</a:t>
            </a:r>
          </a:p>
          <a:p>
            <a:pPr eaLnBrk="0" hangingPunct="0"/>
            <a:r>
              <a:rPr lang="en-US" b="1">
                <a:solidFill>
                  <a:srgbClr val="800000"/>
                </a:solidFill>
              </a:rPr>
              <a:t>}</a:t>
            </a:r>
          </a:p>
        </p:txBody>
      </p:sp>
      <p:sp>
        <p:nvSpPr>
          <p:cNvPr id="13315" name="AutoShape 3"/>
          <p:cNvSpPr>
            <a:spLocks/>
          </p:cNvSpPr>
          <p:nvPr/>
        </p:nvSpPr>
        <p:spPr bwMode="auto">
          <a:xfrm>
            <a:off x="2209800" y="5257800"/>
            <a:ext cx="5791200" cy="990600"/>
          </a:xfrm>
          <a:prstGeom prst="borderCallout2">
            <a:avLst>
              <a:gd name="adj1" fmla="val 11537"/>
              <a:gd name="adj2" fmla="val -1315"/>
              <a:gd name="adj3" fmla="val 11537"/>
              <a:gd name="adj4" fmla="val -8389"/>
              <a:gd name="adj5" fmla="val -25000"/>
              <a:gd name="adj6" fmla="val -15792"/>
            </a:avLst>
          </a:prstGeom>
          <a:solidFill>
            <a:schemeClr val="accent1"/>
          </a:solidFill>
          <a:ln w="9525">
            <a:solidFill>
              <a:srgbClr val="000000"/>
            </a:solidFill>
            <a:miter lim="800000"/>
            <a:headEnd/>
            <a:tailEnd/>
          </a:ln>
        </p:spPr>
        <p:txBody>
          <a:bodyPr/>
          <a:lstStyle/>
          <a:p>
            <a:pPr eaLnBrk="0" hangingPunct="0"/>
            <a:r>
              <a:rPr lang="en-US" sz="2000" b="1">
                <a:solidFill>
                  <a:srgbClr val="000000"/>
                </a:solidFill>
                <a:latin typeface="Verdana" pitchFamily="34" charset="0"/>
              </a:rPr>
              <a:t>Enter any String : India is My Country</a:t>
            </a:r>
          </a:p>
          <a:p>
            <a:pPr eaLnBrk="0" hangingPunct="0"/>
            <a:endParaRPr lang="en-US" b="1">
              <a:solidFill>
                <a:srgbClr val="000000"/>
              </a:solidFill>
              <a:latin typeface="Verdana" pitchFamily="34" charset="0"/>
            </a:endParaRPr>
          </a:p>
          <a:p>
            <a:pPr eaLnBrk="0" hangingPunct="0"/>
            <a:r>
              <a:rPr lang="en-US" b="1">
                <a:solidFill>
                  <a:srgbClr val="000000"/>
                </a:solidFill>
                <a:latin typeface="Verdana" pitchFamily="34" charset="0"/>
              </a:rPr>
              <a:t>India is My Country</a:t>
            </a:r>
          </a:p>
        </p:txBody>
      </p:sp>
      <p:sp>
        <p:nvSpPr>
          <p:cNvPr id="13316" name="Text Box 4"/>
          <p:cNvSpPr txBox="1">
            <a:spLocks noChangeArrowheads="1"/>
          </p:cNvSpPr>
          <p:nvPr/>
        </p:nvSpPr>
        <p:spPr bwMode="auto">
          <a:xfrm>
            <a:off x="609600" y="4572000"/>
            <a:ext cx="1600200" cy="519113"/>
          </a:xfrm>
          <a:prstGeom prst="rect">
            <a:avLst/>
          </a:prstGeom>
          <a:noFill/>
          <a:ln w="9525">
            <a:noFill/>
            <a:miter lim="800000"/>
            <a:headEnd/>
            <a:tailEnd/>
          </a:ln>
        </p:spPr>
        <p:txBody>
          <a:bodyPr>
            <a:spAutoFit/>
          </a:bodyPr>
          <a:lstStyle/>
          <a:p>
            <a:pPr eaLnBrk="0" hangingPunct="0">
              <a:spcBef>
                <a:spcPct val="50000"/>
              </a:spcBef>
            </a:pPr>
            <a:r>
              <a:rPr lang="en-US" sz="2800" b="1">
                <a:solidFill>
                  <a:srgbClr val="000000"/>
                </a:solidFill>
                <a:latin typeface="Verdana" pitchFamily="34" charset="0"/>
              </a:rPr>
              <a:t>Result</a:t>
            </a:r>
          </a:p>
        </p:txBody>
      </p:sp>
    </p:spTree>
  </p:cSld>
  <p:clrMapOvr>
    <a:masterClrMapping/>
  </p:clrMapOvr>
  <p:timing>
    <p:tnLst>
      <p:par>
        <p:cTn id="1" dur="indefinite" restart="never" nodeType="tmRoot"/>
      </p:par>
    </p:tnLst>
  </p:timing>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2"/>
          <p:cNvSpPr txBox="1">
            <a:spLocks noChangeArrowheads="1"/>
          </p:cNvSpPr>
          <p:nvPr/>
        </p:nvSpPr>
        <p:spPr bwMode="auto">
          <a:xfrm>
            <a:off x="152400" y="1379538"/>
            <a:ext cx="8991600" cy="4868862"/>
          </a:xfrm>
          <a:prstGeom prst="rect">
            <a:avLst/>
          </a:prstGeom>
          <a:noFill/>
          <a:ln w="9525">
            <a:noFill/>
            <a:miter lim="800000"/>
            <a:headEnd/>
            <a:tailEnd/>
          </a:ln>
        </p:spPr>
        <p:txBody>
          <a:bodyPr>
            <a:spAutoFit/>
          </a:bodyPr>
          <a:lstStyle/>
          <a:p>
            <a:pPr algn="just" eaLnBrk="0" hangingPunct="0">
              <a:lnSpc>
                <a:spcPct val="135000"/>
              </a:lnSpc>
              <a:spcBef>
                <a:spcPct val="15000"/>
              </a:spcBef>
              <a:buFont typeface="Wingdings 2" pitchFamily="18" charset="2"/>
              <a:buChar char="E"/>
            </a:pPr>
            <a:r>
              <a:rPr lang="en-US" sz="2400" b="1">
                <a:solidFill>
                  <a:srgbClr val="800000"/>
                </a:solidFill>
                <a:latin typeface="Times New Roman" pitchFamily="18" charset="0"/>
                <a:cs typeface="Times New Roman" pitchFamily="18" charset="0"/>
              </a:rPr>
              <a:t>  </a:t>
            </a:r>
            <a:r>
              <a:rPr lang="en-US" sz="2400" b="1">
                <a:solidFill>
                  <a:srgbClr val="660033"/>
                </a:solidFill>
                <a:latin typeface="Times New Roman" pitchFamily="18" charset="0"/>
              </a:rPr>
              <a:t>A stream is generally referred to a flow of data.</a:t>
            </a:r>
          </a:p>
          <a:p>
            <a:pPr algn="just" eaLnBrk="0" hangingPunct="0">
              <a:lnSpc>
                <a:spcPct val="135000"/>
              </a:lnSpc>
              <a:spcBef>
                <a:spcPct val="15000"/>
              </a:spcBef>
              <a:buFont typeface="Wingdings 2" pitchFamily="18" charset="2"/>
              <a:buChar char="E"/>
            </a:pPr>
            <a:r>
              <a:rPr lang="en-US" sz="2400" b="1">
                <a:solidFill>
                  <a:srgbClr val="660033"/>
                </a:solidFill>
                <a:latin typeface="Times New Roman" pitchFamily="18" charset="0"/>
              </a:rPr>
              <a:t>  Each stream is associated with a particular class which contains member functions and definitions for dealing with that particular kind of data flow</a:t>
            </a:r>
          </a:p>
          <a:p>
            <a:pPr algn="just" eaLnBrk="0" hangingPunct="0">
              <a:lnSpc>
                <a:spcPct val="135000"/>
              </a:lnSpc>
              <a:spcBef>
                <a:spcPct val="15000"/>
              </a:spcBef>
              <a:buFont typeface="Wingdings 2" pitchFamily="18" charset="2"/>
              <a:buChar char="E"/>
            </a:pPr>
            <a:r>
              <a:rPr lang="en-US" sz="2400" b="1">
                <a:solidFill>
                  <a:srgbClr val="660033"/>
                </a:solidFill>
                <a:latin typeface="Times New Roman" pitchFamily="18" charset="0"/>
              </a:rPr>
              <a:t>  The sequence of input bytes are called Input stream</a:t>
            </a:r>
          </a:p>
          <a:p>
            <a:pPr algn="just" eaLnBrk="0" hangingPunct="0">
              <a:lnSpc>
                <a:spcPct val="135000"/>
              </a:lnSpc>
              <a:spcBef>
                <a:spcPct val="15000"/>
              </a:spcBef>
              <a:buFont typeface="Wingdings 2" pitchFamily="18" charset="2"/>
              <a:buChar char="E"/>
            </a:pPr>
            <a:r>
              <a:rPr lang="en-US" sz="2400" b="1">
                <a:solidFill>
                  <a:srgbClr val="660033"/>
                </a:solidFill>
                <a:latin typeface="Times New Roman" pitchFamily="18" charset="0"/>
              </a:rPr>
              <a:t>  The sequence of output bytes are called as output stream</a:t>
            </a:r>
          </a:p>
          <a:p>
            <a:pPr algn="just" eaLnBrk="0" hangingPunct="0">
              <a:lnSpc>
                <a:spcPct val="135000"/>
              </a:lnSpc>
              <a:spcBef>
                <a:spcPct val="15000"/>
              </a:spcBef>
              <a:buFont typeface="Wingdings 2" pitchFamily="18" charset="2"/>
              <a:buChar char="E"/>
            </a:pPr>
            <a:r>
              <a:rPr lang="en-US" sz="2400" b="1">
                <a:solidFill>
                  <a:srgbClr val="660033"/>
                </a:solidFill>
                <a:latin typeface="Times New Roman" pitchFamily="18" charset="0"/>
              </a:rPr>
              <a:t>  The Ofstream is used for writing information to a file</a:t>
            </a:r>
          </a:p>
          <a:p>
            <a:pPr algn="just" eaLnBrk="0" hangingPunct="0">
              <a:lnSpc>
                <a:spcPct val="135000"/>
              </a:lnSpc>
              <a:spcBef>
                <a:spcPct val="15000"/>
              </a:spcBef>
              <a:buFont typeface="Wingdings 2" pitchFamily="18" charset="2"/>
              <a:buChar char="E"/>
            </a:pPr>
            <a:r>
              <a:rPr lang="en-US" sz="2400" b="1">
                <a:solidFill>
                  <a:srgbClr val="660033"/>
                </a:solidFill>
                <a:latin typeface="Times New Roman" pitchFamily="18" charset="0"/>
              </a:rPr>
              <a:t>  The ifstream class is used for reading information from a file </a:t>
            </a:r>
          </a:p>
          <a:p>
            <a:pPr algn="just" eaLnBrk="0" hangingPunct="0">
              <a:lnSpc>
                <a:spcPct val="135000"/>
              </a:lnSpc>
              <a:spcBef>
                <a:spcPct val="15000"/>
              </a:spcBef>
              <a:buFont typeface="Wingdings 2" pitchFamily="18" charset="2"/>
              <a:buChar char="E"/>
            </a:pPr>
            <a:r>
              <a:rPr lang="en-US" sz="2400" b="1">
                <a:solidFill>
                  <a:srgbClr val="660033"/>
                </a:solidFill>
                <a:latin typeface="Times New Roman" pitchFamily="18" charset="0"/>
              </a:rPr>
              <a:t>  The stream class is used for both writing and reading from a file</a:t>
            </a:r>
          </a:p>
        </p:txBody>
      </p:sp>
      <p:sp>
        <p:nvSpPr>
          <p:cNvPr id="14339" name="WordArt 3"/>
          <p:cNvSpPr>
            <a:spLocks noChangeArrowheads="1" noChangeShapeType="1" noTextEdit="1"/>
          </p:cNvSpPr>
          <p:nvPr/>
        </p:nvSpPr>
        <p:spPr bwMode="auto">
          <a:xfrm>
            <a:off x="2590800" y="228600"/>
            <a:ext cx="3200400" cy="914400"/>
          </a:xfrm>
          <a:prstGeom prst="rect">
            <a:avLst/>
          </a:prstGeom>
        </p:spPr>
        <p:txBody>
          <a:bodyPr wrap="none" fromWordArt="1">
            <a:prstTxWarp prst="textCanUp">
              <a:avLst>
                <a:gd name="adj" fmla="val 85713"/>
              </a:avLst>
            </a:prstTxWarp>
          </a:bodyPr>
          <a:lstStyle/>
          <a:p>
            <a:pPr algn="ctr"/>
            <a:r>
              <a:rPr lang="en-IN"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a:rPr>
              <a:t>Summary</a:t>
            </a:r>
          </a:p>
        </p:txBody>
      </p:sp>
      <p:sp>
        <p:nvSpPr>
          <p:cNvPr id="14340" name="Rectangle 4"/>
          <p:cNvSpPr>
            <a:spLocks noChangeArrowheads="1"/>
          </p:cNvSpPr>
          <p:nvPr/>
        </p:nvSpPr>
        <p:spPr bwMode="auto">
          <a:xfrm>
            <a:off x="0" y="1295400"/>
            <a:ext cx="9067800" cy="5257800"/>
          </a:xfrm>
          <a:prstGeom prst="rect">
            <a:avLst/>
          </a:prstGeom>
          <a:noFill/>
          <a:ln w="57150" cmpd="thickThin">
            <a:solidFill>
              <a:srgbClr val="990033"/>
            </a:solidFill>
            <a:miter lim="800000"/>
            <a:headEnd/>
            <a:tailEnd/>
          </a:ln>
        </p:spPr>
        <p:txBody>
          <a:bodyPr wrap="none" anchor="ctr"/>
          <a:lstStyle/>
          <a:p>
            <a:pPr algn="ctr" eaLnBrk="0" hangingPunct="0"/>
            <a:endParaRPr lang="en-US">
              <a:solidFill>
                <a:srgbClr val="800000"/>
              </a:solidFill>
              <a:latin typeface="Verdana" pitchFamily="34" charset="0"/>
            </a:endParaRPr>
          </a:p>
        </p:txBody>
      </p:sp>
    </p:spTree>
  </p:cSld>
  <p:clrMapOvr>
    <a:masterClrMapping/>
  </p:clrMapOvr>
  <p:timing>
    <p:tnLst>
      <p:par>
        <p:cTn id="1" dur="indefinite" restart="never" nodeType="tmRoot"/>
      </p:par>
    </p:tnLst>
  </p:timing>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WordArt 2"/>
          <p:cNvSpPr>
            <a:spLocks noChangeArrowheads="1" noChangeShapeType="1" noTextEdit="1"/>
          </p:cNvSpPr>
          <p:nvPr/>
        </p:nvSpPr>
        <p:spPr bwMode="auto">
          <a:xfrm>
            <a:off x="1143000" y="3733800"/>
            <a:ext cx="7086600" cy="1600200"/>
          </a:xfrm>
          <a:prstGeom prst="rect">
            <a:avLst/>
          </a:prstGeom>
        </p:spPr>
        <p:txBody>
          <a:bodyPr wrap="none" fromWordArt="1">
            <a:prstTxWarp prst="textChevron">
              <a:avLst>
                <a:gd name="adj" fmla="val 25000"/>
              </a:avLst>
            </a:prstTxWarp>
          </a:bodyPr>
          <a:lstStyle/>
          <a:p>
            <a:pPr algn="ctr"/>
            <a:r>
              <a:rPr lang="en-IN" sz="3600" kern="10">
                <a:ln w="12700">
                  <a:solidFill>
                    <a:srgbClr val="B2B2B2"/>
                  </a:solidFill>
                  <a:round/>
                  <a:headEnd/>
                  <a:tailEnd/>
                </a:ln>
                <a:solidFill>
                  <a:srgbClr val="FF0000"/>
                </a:solidFill>
                <a:effectLst>
                  <a:outerShdw dist="35921" dir="2700000" sy="50000" rotWithShape="0">
                    <a:srgbClr val="875B0D">
                      <a:alpha val="70000"/>
                    </a:srgbClr>
                  </a:outerShdw>
                </a:effectLst>
                <a:latin typeface="Arial Black"/>
              </a:rPr>
              <a:t>Templates</a:t>
            </a:r>
          </a:p>
        </p:txBody>
      </p:sp>
      <p:sp>
        <p:nvSpPr>
          <p:cNvPr id="2051" name="WordArt 3"/>
          <p:cNvSpPr>
            <a:spLocks noChangeArrowheads="1" noChangeShapeType="1" noTextEdit="1"/>
          </p:cNvSpPr>
          <p:nvPr/>
        </p:nvSpPr>
        <p:spPr bwMode="auto">
          <a:xfrm>
            <a:off x="3124200" y="1066800"/>
            <a:ext cx="2895600" cy="647700"/>
          </a:xfrm>
          <a:prstGeom prst="rect">
            <a:avLst/>
          </a:prstGeom>
        </p:spPr>
        <p:txBody>
          <a:bodyPr wrap="none" fromWordArt="1">
            <a:prstTxWarp prst="textPlain">
              <a:avLst>
                <a:gd name="adj" fmla="val 50000"/>
              </a:avLst>
            </a:prstTxWarp>
          </a:bodyPr>
          <a:lstStyle/>
          <a:p>
            <a:pPr algn="ctr"/>
            <a:r>
              <a:rPr lang="en-IN" sz="3600" kern="10">
                <a:ln w="9525">
                  <a:solidFill>
                    <a:srgbClr val="000000"/>
                  </a:solidFill>
                  <a:round/>
                  <a:headEnd/>
                  <a:tailEnd/>
                </a:ln>
                <a:solidFill>
                  <a:srgbClr val="A50021"/>
                </a:solidFill>
                <a:latin typeface="Arial Black"/>
              </a:rPr>
              <a:t>CHAPTER 16</a:t>
            </a:r>
          </a:p>
        </p:txBody>
      </p:sp>
    </p:spTree>
  </p:cSld>
  <p:clrMapOvr>
    <a:masterClrMapping/>
  </p:clrMapOvr>
  <p:timing>
    <p:tnLst>
      <p:par>
        <p:cTn id="1" dur="indefinite" restart="never" nodeType="tmRoot"/>
      </p:par>
    </p:tnLst>
  </p:timing>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
          <p:cNvSpPr txBox="1">
            <a:spLocks noChangeArrowheads="1"/>
          </p:cNvSpPr>
          <p:nvPr/>
        </p:nvSpPr>
        <p:spPr bwMode="auto">
          <a:xfrm>
            <a:off x="1876425" y="776288"/>
            <a:ext cx="5376863" cy="823912"/>
          </a:xfrm>
          <a:prstGeom prst="rect">
            <a:avLst/>
          </a:prstGeom>
          <a:solidFill>
            <a:srgbClr val="FF0000"/>
          </a:solidFill>
          <a:ln w="9525">
            <a:noFill/>
            <a:miter lim="800000"/>
            <a:headEnd/>
            <a:tailEnd/>
          </a:ln>
          <a:effectLst/>
        </p:spPr>
        <p:txBody>
          <a:bodyPr wrap="none">
            <a:spAutoFit/>
          </a:bodyPr>
          <a:lstStyle/>
          <a:p>
            <a:pPr>
              <a:defRPr/>
            </a:pPr>
            <a:r>
              <a:rPr lang="en-US" sz="4800" b="1">
                <a:solidFill>
                  <a:srgbClr val="66FFFF"/>
                </a:solidFill>
                <a:effectLst>
                  <a:outerShdw blurRad="38100" dist="38100" dir="2700000" algn="tl">
                    <a:srgbClr val="000000"/>
                  </a:outerShdw>
                </a:effectLst>
                <a:latin typeface="Arial Unicode MS" pitchFamily="34" charset="-128"/>
                <a:cs typeface="Times New Roman" pitchFamily="18" charset="0"/>
              </a:rPr>
              <a:t>Session Objectives</a:t>
            </a:r>
          </a:p>
        </p:txBody>
      </p:sp>
      <p:sp>
        <p:nvSpPr>
          <p:cNvPr id="5123" name="Text Box 3"/>
          <p:cNvSpPr txBox="1">
            <a:spLocks noChangeArrowheads="1"/>
          </p:cNvSpPr>
          <p:nvPr/>
        </p:nvSpPr>
        <p:spPr bwMode="auto">
          <a:xfrm>
            <a:off x="1857375" y="2071688"/>
            <a:ext cx="3360738" cy="519112"/>
          </a:xfrm>
          <a:prstGeom prst="rect">
            <a:avLst/>
          </a:prstGeom>
          <a:noFill/>
          <a:ln w="9525">
            <a:noFill/>
            <a:miter lim="800000"/>
            <a:headEnd/>
            <a:tailEnd/>
          </a:ln>
        </p:spPr>
        <p:txBody>
          <a:bodyPr wrap="none">
            <a:spAutoFit/>
          </a:bodyPr>
          <a:lstStyle/>
          <a:p>
            <a:pPr>
              <a:buFontTx/>
              <a:buBlip>
                <a:blip r:embed="rId2"/>
              </a:buBlip>
            </a:pPr>
            <a:r>
              <a:rPr lang="en-US" sz="2800" b="1">
                <a:solidFill>
                  <a:srgbClr val="CC3300"/>
                </a:solidFill>
                <a:latin typeface="Times New Roman" pitchFamily="18" charset="0"/>
                <a:cs typeface="Times New Roman" pitchFamily="18" charset="0"/>
              </a:rPr>
              <a:t>   Define Templates</a:t>
            </a:r>
          </a:p>
        </p:txBody>
      </p:sp>
      <p:sp>
        <p:nvSpPr>
          <p:cNvPr id="5124" name="Text Box 4"/>
          <p:cNvSpPr txBox="1">
            <a:spLocks noChangeArrowheads="1"/>
          </p:cNvSpPr>
          <p:nvPr/>
        </p:nvSpPr>
        <p:spPr bwMode="auto">
          <a:xfrm>
            <a:off x="1857375" y="2833688"/>
            <a:ext cx="3667125" cy="519112"/>
          </a:xfrm>
          <a:prstGeom prst="rect">
            <a:avLst/>
          </a:prstGeom>
          <a:noFill/>
          <a:ln w="9525">
            <a:noFill/>
            <a:miter lim="800000"/>
            <a:headEnd/>
            <a:tailEnd/>
          </a:ln>
        </p:spPr>
        <p:txBody>
          <a:bodyPr wrap="none">
            <a:spAutoFit/>
          </a:bodyPr>
          <a:lstStyle/>
          <a:p>
            <a:pPr>
              <a:buFontTx/>
              <a:buBlip>
                <a:blip r:embed="rId2"/>
              </a:buBlip>
            </a:pPr>
            <a:r>
              <a:rPr lang="en-US" sz="2800" b="1">
                <a:solidFill>
                  <a:srgbClr val="CC3300"/>
                </a:solidFill>
                <a:latin typeface="Times New Roman" pitchFamily="18" charset="0"/>
                <a:cs typeface="Times New Roman" pitchFamily="18" charset="0"/>
              </a:rPr>
              <a:t>   Types of Templates</a:t>
            </a:r>
          </a:p>
        </p:txBody>
      </p:sp>
      <p:sp>
        <p:nvSpPr>
          <p:cNvPr id="5125" name="Text Box 5"/>
          <p:cNvSpPr txBox="1">
            <a:spLocks noChangeArrowheads="1"/>
          </p:cNvSpPr>
          <p:nvPr/>
        </p:nvSpPr>
        <p:spPr bwMode="auto">
          <a:xfrm>
            <a:off x="1933575" y="3748088"/>
            <a:ext cx="4924425" cy="519112"/>
          </a:xfrm>
          <a:prstGeom prst="rect">
            <a:avLst/>
          </a:prstGeom>
          <a:noFill/>
          <a:ln w="9525">
            <a:noFill/>
            <a:miter lim="800000"/>
            <a:headEnd/>
            <a:tailEnd/>
          </a:ln>
        </p:spPr>
        <p:txBody>
          <a:bodyPr wrap="none">
            <a:spAutoFit/>
          </a:bodyPr>
          <a:lstStyle/>
          <a:p>
            <a:pPr>
              <a:buFontTx/>
              <a:buBlip>
                <a:blip r:embed="rId2"/>
              </a:buBlip>
            </a:pPr>
            <a:r>
              <a:rPr lang="en-US" sz="2800" b="1">
                <a:solidFill>
                  <a:srgbClr val="CC3300"/>
                </a:solidFill>
                <a:latin typeface="Times New Roman" pitchFamily="18" charset="0"/>
                <a:cs typeface="Times New Roman" pitchFamily="18" charset="0"/>
              </a:rPr>
              <a:t>  </a:t>
            </a:r>
            <a:r>
              <a:rPr lang="en-US" sz="2800" b="1">
                <a:solidFill>
                  <a:srgbClr val="CC3300"/>
                </a:solidFill>
                <a:latin typeface="Times New Roman" pitchFamily="18" charset="0"/>
              </a:rPr>
              <a:t>Explain Function Templates</a:t>
            </a:r>
          </a:p>
        </p:txBody>
      </p:sp>
      <p:sp>
        <p:nvSpPr>
          <p:cNvPr id="5126" name="Text Box 6"/>
          <p:cNvSpPr txBox="1">
            <a:spLocks noChangeArrowheads="1"/>
          </p:cNvSpPr>
          <p:nvPr/>
        </p:nvSpPr>
        <p:spPr bwMode="auto">
          <a:xfrm>
            <a:off x="1962150" y="4433888"/>
            <a:ext cx="4368800" cy="519112"/>
          </a:xfrm>
          <a:prstGeom prst="rect">
            <a:avLst/>
          </a:prstGeom>
          <a:noFill/>
          <a:ln w="9525">
            <a:noFill/>
            <a:miter lim="800000"/>
            <a:headEnd/>
            <a:tailEnd/>
          </a:ln>
        </p:spPr>
        <p:txBody>
          <a:bodyPr wrap="none">
            <a:spAutoFit/>
          </a:bodyPr>
          <a:lstStyle/>
          <a:p>
            <a:pPr>
              <a:buFontTx/>
              <a:buBlip>
                <a:blip r:embed="rId2"/>
              </a:buBlip>
            </a:pPr>
            <a:r>
              <a:rPr lang="en-US" sz="2800" b="1">
                <a:solidFill>
                  <a:srgbClr val="CC3300"/>
                </a:solidFill>
                <a:latin typeface="Times New Roman" pitchFamily="18" charset="0"/>
                <a:cs typeface="Times New Roman" pitchFamily="18" charset="0"/>
              </a:rPr>
              <a:t>  </a:t>
            </a:r>
            <a:r>
              <a:rPr lang="en-US" sz="2800" b="1">
                <a:solidFill>
                  <a:srgbClr val="CC3300"/>
                </a:solidFill>
                <a:latin typeface="Times New Roman" pitchFamily="18" charset="0"/>
              </a:rPr>
              <a:t>Explain Class Templates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88" fill="hold" grpId="0" nodeType="afterEffect">
                                  <p:stCondLst>
                                    <p:cond delay="0"/>
                                  </p:stCondLst>
                                  <p:childTnLst>
                                    <p:set>
                                      <p:cBhvr>
                                        <p:cTn id="6" dur="1" fill="hold">
                                          <p:stCondLst>
                                            <p:cond delay="0"/>
                                          </p:stCondLst>
                                        </p:cTn>
                                        <p:tgtEl>
                                          <p:spTgt spid="5123"/>
                                        </p:tgtEl>
                                        <p:attrNameLst>
                                          <p:attrName>style.visibility</p:attrName>
                                        </p:attrNameLst>
                                      </p:cBhvr>
                                      <p:to>
                                        <p:strVal val="visible"/>
                                      </p:to>
                                    </p:set>
                                    <p:anim calcmode="lin" valueType="num">
                                      <p:cBhvr>
                                        <p:cTn id="7" dur="500" fill="hold"/>
                                        <p:tgtEl>
                                          <p:spTgt spid="5123"/>
                                        </p:tgtEl>
                                        <p:attrNameLst>
                                          <p:attrName>ppt_w</p:attrName>
                                        </p:attrNameLst>
                                      </p:cBhvr>
                                      <p:tavLst>
                                        <p:tav tm="0">
                                          <p:val>
                                            <p:strVal val="4/3*#ppt_w"/>
                                          </p:val>
                                        </p:tav>
                                        <p:tav tm="100000">
                                          <p:val>
                                            <p:strVal val="#ppt_w"/>
                                          </p:val>
                                        </p:tav>
                                      </p:tavLst>
                                    </p:anim>
                                    <p:anim calcmode="lin" valueType="num">
                                      <p:cBhvr>
                                        <p:cTn id="8" dur="500" fill="hold"/>
                                        <p:tgtEl>
                                          <p:spTgt spid="5123"/>
                                        </p:tgtEl>
                                        <p:attrNameLst>
                                          <p:attrName>ppt_h</p:attrName>
                                        </p:attrNameLst>
                                      </p:cBhvr>
                                      <p:tavLst>
                                        <p:tav tm="0">
                                          <p:val>
                                            <p:strVal val="4/3*#ppt_h"/>
                                          </p:val>
                                        </p:tav>
                                        <p:tav tm="100000">
                                          <p:val>
                                            <p:strVal val="#ppt_h"/>
                                          </p:val>
                                        </p:tav>
                                      </p:tavLst>
                                    </p:anim>
                                  </p:childTnLst>
                                </p:cTn>
                              </p:par>
                            </p:childTnLst>
                          </p:cTn>
                        </p:par>
                        <p:par>
                          <p:cTn id="9" fill="hold">
                            <p:stCondLst>
                              <p:cond delay="500"/>
                            </p:stCondLst>
                            <p:childTnLst>
                              <p:par>
                                <p:cTn id="10" presetID="23" presetClass="entr" presetSubtype="288" fill="hold" grpId="0" nodeType="afterEffect">
                                  <p:stCondLst>
                                    <p:cond delay="0"/>
                                  </p:stCondLst>
                                  <p:childTnLst>
                                    <p:set>
                                      <p:cBhvr>
                                        <p:cTn id="11" dur="1" fill="hold">
                                          <p:stCondLst>
                                            <p:cond delay="0"/>
                                          </p:stCondLst>
                                        </p:cTn>
                                        <p:tgtEl>
                                          <p:spTgt spid="5124"/>
                                        </p:tgtEl>
                                        <p:attrNameLst>
                                          <p:attrName>style.visibility</p:attrName>
                                        </p:attrNameLst>
                                      </p:cBhvr>
                                      <p:to>
                                        <p:strVal val="visible"/>
                                      </p:to>
                                    </p:set>
                                    <p:anim calcmode="lin" valueType="num">
                                      <p:cBhvr>
                                        <p:cTn id="12" dur="500" fill="hold"/>
                                        <p:tgtEl>
                                          <p:spTgt spid="5124"/>
                                        </p:tgtEl>
                                        <p:attrNameLst>
                                          <p:attrName>ppt_w</p:attrName>
                                        </p:attrNameLst>
                                      </p:cBhvr>
                                      <p:tavLst>
                                        <p:tav tm="0">
                                          <p:val>
                                            <p:strVal val="4/3*#ppt_w"/>
                                          </p:val>
                                        </p:tav>
                                        <p:tav tm="100000">
                                          <p:val>
                                            <p:strVal val="#ppt_w"/>
                                          </p:val>
                                        </p:tav>
                                      </p:tavLst>
                                    </p:anim>
                                    <p:anim calcmode="lin" valueType="num">
                                      <p:cBhvr>
                                        <p:cTn id="13" dur="500" fill="hold"/>
                                        <p:tgtEl>
                                          <p:spTgt spid="5124"/>
                                        </p:tgtEl>
                                        <p:attrNameLst>
                                          <p:attrName>ppt_h</p:attrName>
                                        </p:attrNameLst>
                                      </p:cBhvr>
                                      <p:tavLst>
                                        <p:tav tm="0">
                                          <p:val>
                                            <p:strVal val="4/3*#ppt_h"/>
                                          </p:val>
                                        </p:tav>
                                        <p:tav tm="100000">
                                          <p:val>
                                            <p:strVal val="#ppt_h"/>
                                          </p:val>
                                        </p:tav>
                                      </p:tavLst>
                                    </p:anim>
                                  </p:childTnLst>
                                </p:cTn>
                              </p:par>
                            </p:childTnLst>
                          </p:cTn>
                        </p:par>
                        <p:par>
                          <p:cTn id="14" fill="hold">
                            <p:stCondLst>
                              <p:cond delay="1000"/>
                            </p:stCondLst>
                            <p:childTnLst>
                              <p:par>
                                <p:cTn id="15" presetID="23" presetClass="entr" presetSubtype="288" fill="hold" grpId="0" nodeType="afterEffect">
                                  <p:stCondLst>
                                    <p:cond delay="0"/>
                                  </p:stCondLst>
                                  <p:childTnLst>
                                    <p:set>
                                      <p:cBhvr>
                                        <p:cTn id="16" dur="1" fill="hold">
                                          <p:stCondLst>
                                            <p:cond delay="0"/>
                                          </p:stCondLst>
                                        </p:cTn>
                                        <p:tgtEl>
                                          <p:spTgt spid="5125"/>
                                        </p:tgtEl>
                                        <p:attrNameLst>
                                          <p:attrName>style.visibility</p:attrName>
                                        </p:attrNameLst>
                                      </p:cBhvr>
                                      <p:to>
                                        <p:strVal val="visible"/>
                                      </p:to>
                                    </p:set>
                                    <p:anim calcmode="lin" valueType="num">
                                      <p:cBhvr>
                                        <p:cTn id="17" dur="500" fill="hold"/>
                                        <p:tgtEl>
                                          <p:spTgt spid="5125"/>
                                        </p:tgtEl>
                                        <p:attrNameLst>
                                          <p:attrName>ppt_w</p:attrName>
                                        </p:attrNameLst>
                                      </p:cBhvr>
                                      <p:tavLst>
                                        <p:tav tm="0">
                                          <p:val>
                                            <p:strVal val="4/3*#ppt_w"/>
                                          </p:val>
                                        </p:tav>
                                        <p:tav tm="100000">
                                          <p:val>
                                            <p:strVal val="#ppt_w"/>
                                          </p:val>
                                        </p:tav>
                                      </p:tavLst>
                                    </p:anim>
                                    <p:anim calcmode="lin" valueType="num">
                                      <p:cBhvr>
                                        <p:cTn id="18" dur="500" fill="hold"/>
                                        <p:tgtEl>
                                          <p:spTgt spid="5125"/>
                                        </p:tgtEl>
                                        <p:attrNameLst>
                                          <p:attrName>ppt_h</p:attrName>
                                        </p:attrNameLst>
                                      </p:cBhvr>
                                      <p:tavLst>
                                        <p:tav tm="0">
                                          <p:val>
                                            <p:strVal val="4/3*#ppt_h"/>
                                          </p:val>
                                        </p:tav>
                                        <p:tav tm="100000">
                                          <p:val>
                                            <p:strVal val="#ppt_h"/>
                                          </p:val>
                                        </p:tav>
                                      </p:tavLst>
                                    </p:anim>
                                  </p:childTnLst>
                                </p:cTn>
                              </p:par>
                            </p:childTnLst>
                          </p:cTn>
                        </p:par>
                        <p:par>
                          <p:cTn id="19" fill="hold">
                            <p:stCondLst>
                              <p:cond delay="1500"/>
                            </p:stCondLst>
                            <p:childTnLst>
                              <p:par>
                                <p:cTn id="20" presetID="23" presetClass="entr" presetSubtype="288" fill="hold" grpId="0" nodeType="afterEffect">
                                  <p:stCondLst>
                                    <p:cond delay="0"/>
                                  </p:stCondLst>
                                  <p:childTnLst>
                                    <p:set>
                                      <p:cBhvr>
                                        <p:cTn id="21" dur="1" fill="hold">
                                          <p:stCondLst>
                                            <p:cond delay="0"/>
                                          </p:stCondLst>
                                        </p:cTn>
                                        <p:tgtEl>
                                          <p:spTgt spid="5126"/>
                                        </p:tgtEl>
                                        <p:attrNameLst>
                                          <p:attrName>style.visibility</p:attrName>
                                        </p:attrNameLst>
                                      </p:cBhvr>
                                      <p:to>
                                        <p:strVal val="visible"/>
                                      </p:to>
                                    </p:set>
                                    <p:anim calcmode="lin" valueType="num">
                                      <p:cBhvr>
                                        <p:cTn id="22" dur="500" fill="hold"/>
                                        <p:tgtEl>
                                          <p:spTgt spid="5126"/>
                                        </p:tgtEl>
                                        <p:attrNameLst>
                                          <p:attrName>ppt_w</p:attrName>
                                        </p:attrNameLst>
                                      </p:cBhvr>
                                      <p:tavLst>
                                        <p:tav tm="0">
                                          <p:val>
                                            <p:strVal val="4/3*#ppt_w"/>
                                          </p:val>
                                        </p:tav>
                                        <p:tav tm="100000">
                                          <p:val>
                                            <p:strVal val="#ppt_w"/>
                                          </p:val>
                                        </p:tav>
                                      </p:tavLst>
                                    </p:anim>
                                    <p:anim calcmode="lin" valueType="num">
                                      <p:cBhvr>
                                        <p:cTn id="23" dur="500" fill="hold"/>
                                        <p:tgtEl>
                                          <p:spTgt spid="5126"/>
                                        </p:tgtEl>
                                        <p:attrNameLst>
                                          <p:attrName>ppt_h</p:attrName>
                                        </p:attrNameLst>
                                      </p:cBhvr>
                                      <p:tavLst>
                                        <p:tav tm="0">
                                          <p:val>
                                            <p:strVal val="4/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autoUpdateAnimBg="0"/>
      <p:bldP spid="5124" grpId="0" autoUpdateAnimBg="0"/>
      <p:bldP spid="5125" grpId="0" autoUpdateAnimBg="0"/>
      <p:bldP spid="5126" grpId="0" autoUpdateAnimBg="0"/>
    </p:bldLst>
  </p:timing>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ChangeArrowheads="1"/>
          </p:cNvSpPr>
          <p:nvPr/>
        </p:nvSpPr>
        <p:spPr bwMode="auto">
          <a:xfrm>
            <a:off x="228600" y="304800"/>
            <a:ext cx="8610600" cy="6384925"/>
          </a:xfrm>
          <a:prstGeom prst="rect">
            <a:avLst/>
          </a:prstGeom>
          <a:noFill/>
          <a:ln w="9525">
            <a:solidFill>
              <a:srgbClr val="990033"/>
            </a:solidFill>
            <a:miter lim="800000"/>
            <a:headEnd/>
            <a:tailEnd/>
          </a:ln>
        </p:spPr>
        <p:txBody>
          <a:bodyPr>
            <a:spAutoFit/>
          </a:bodyPr>
          <a:lstStyle/>
          <a:p>
            <a:pPr eaLnBrk="0" hangingPunct="0"/>
            <a:endParaRPr lang="en-US" b="1">
              <a:solidFill>
                <a:srgbClr val="660033"/>
              </a:solidFill>
              <a:latin typeface="Verdana" pitchFamily="34" charset="0"/>
            </a:endParaRPr>
          </a:p>
          <a:p>
            <a:pPr algn="just" eaLnBrk="0" hangingPunct="0">
              <a:lnSpc>
                <a:spcPct val="125000"/>
              </a:lnSpc>
              <a:buFontTx/>
              <a:buChar char="•"/>
            </a:pPr>
            <a:r>
              <a:rPr lang="en-US" sz="2400" b="1">
                <a:solidFill>
                  <a:srgbClr val="660033"/>
                </a:solidFill>
                <a:latin typeface="Times New Roman" pitchFamily="18" charset="0"/>
              </a:rPr>
              <a:t>  A generic function defines a general set of operations that will be applied to various types of data that a function will operate upon.</a:t>
            </a:r>
          </a:p>
          <a:p>
            <a:pPr algn="just" eaLnBrk="0" hangingPunct="0">
              <a:lnSpc>
                <a:spcPct val="125000"/>
              </a:lnSpc>
              <a:buFontTx/>
              <a:buChar char="•"/>
            </a:pPr>
            <a:r>
              <a:rPr lang="en-US" sz="2400" b="1">
                <a:solidFill>
                  <a:srgbClr val="660033"/>
                </a:solidFill>
                <a:latin typeface="Times New Roman" pitchFamily="18" charset="0"/>
              </a:rPr>
              <a:t>  A generic class defines the algorithm that specifies the actual type of data when objects of that class are created</a:t>
            </a:r>
          </a:p>
          <a:p>
            <a:pPr algn="just" eaLnBrk="0" hangingPunct="0">
              <a:lnSpc>
                <a:spcPct val="125000"/>
              </a:lnSpc>
              <a:buFontTx/>
              <a:buChar char="•"/>
            </a:pPr>
            <a:r>
              <a:rPr lang="en-US" sz="2400" b="1">
                <a:solidFill>
                  <a:srgbClr val="660033"/>
                </a:solidFill>
                <a:latin typeface="Times New Roman" pitchFamily="18" charset="0"/>
              </a:rPr>
              <a:t>  A generic class and a generic function is created using the keyword “Template”</a:t>
            </a:r>
          </a:p>
          <a:p>
            <a:pPr eaLnBrk="0" hangingPunct="0"/>
            <a:endParaRPr lang="en-US" sz="2400" b="1">
              <a:solidFill>
                <a:srgbClr val="000099"/>
              </a:solidFill>
              <a:latin typeface="Times New Roman" pitchFamily="18" charset="0"/>
            </a:endParaRPr>
          </a:p>
          <a:p>
            <a:pPr eaLnBrk="0" hangingPunct="0"/>
            <a:r>
              <a:rPr lang="en-US" sz="3600" b="1">
                <a:solidFill>
                  <a:srgbClr val="000099"/>
                </a:solidFill>
                <a:latin typeface="Times New Roman" pitchFamily="18" charset="0"/>
              </a:rPr>
              <a:t>ADVANTAGES :</a:t>
            </a:r>
          </a:p>
          <a:p>
            <a:pPr eaLnBrk="0" hangingPunct="0">
              <a:lnSpc>
                <a:spcPct val="135000"/>
              </a:lnSpc>
              <a:buFont typeface="Wingdings" pitchFamily="2" charset="2"/>
              <a:buChar char="v"/>
            </a:pPr>
            <a:r>
              <a:rPr lang="en-US" sz="3600" b="1">
                <a:solidFill>
                  <a:srgbClr val="660033"/>
                </a:solidFill>
                <a:latin typeface="Times New Roman" pitchFamily="18" charset="0"/>
              </a:rPr>
              <a:t>  </a:t>
            </a:r>
            <a:r>
              <a:rPr lang="en-US" sz="2800" b="1">
                <a:solidFill>
                  <a:srgbClr val="660033"/>
                </a:solidFill>
                <a:latin typeface="Times New Roman" pitchFamily="18" charset="0"/>
              </a:rPr>
              <a:t>It helps to define classes that are general in nature.</a:t>
            </a:r>
          </a:p>
          <a:p>
            <a:pPr eaLnBrk="0" hangingPunct="0">
              <a:lnSpc>
                <a:spcPct val="135000"/>
              </a:lnSpc>
              <a:buFont typeface="Wingdings" pitchFamily="2" charset="2"/>
              <a:buChar char="v"/>
            </a:pPr>
            <a:r>
              <a:rPr lang="en-US" sz="2800" b="1">
                <a:solidFill>
                  <a:srgbClr val="660033"/>
                </a:solidFill>
                <a:latin typeface="Times New Roman" pitchFamily="18" charset="0"/>
              </a:rPr>
              <a:t>  It makes the process simpler and safer</a:t>
            </a:r>
          </a:p>
          <a:p>
            <a:pPr eaLnBrk="0" hangingPunct="0">
              <a:lnSpc>
                <a:spcPct val="135000"/>
              </a:lnSpc>
              <a:buFont typeface="Wingdings" pitchFamily="2" charset="2"/>
              <a:buNone/>
            </a:pPr>
            <a:endParaRPr lang="en-US" sz="2800" b="1">
              <a:solidFill>
                <a:srgbClr val="660033"/>
              </a:solidFill>
              <a:latin typeface="Times New Roman" pitchFamily="18" charset="0"/>
            </a:endParaRPr>
          </a:p>
        </p:txBody>
      </p:sp>
    </p:spTree>
  </p:cSld>
  <p:clrMapOvr>
    <a:masterClrMapping/>
  </p:clrMapOvr>
  <p:timing>
    <p:tnLst>
      <p:par>
        <p:cTn id="1" dur="indefinite" restart="never" nodeType="tmRoot"/>
      </p:par>
    </p:tnLst>
  </p:timing>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ChangeArrowheads="1"/>
          </p:cNvSpPr>
          <p:nvPr/>
        </p:nvSpPr>
        <p:spPr bwMode="auto">
          <a:xfrm>
            <a:off x="609600" y="0"/>
            <a:ext cx="5791200" cy="6370638"/>
          </a:xfrm>
          <a:prstGeom prst="rect">
            <a:avLst/>
          </a:prstGeom>
          <a:noFill/>
          <a:ln w="9525">
            <a:solidFill>
              <a:srgbClr val="FF66CC"/>
            </a:solidFill>
            <a:miter lim="800000"/>
            <a:headEnd/>
            <a:tailEnd/>
          </a:ln>
        </p:spPr>
        <p:txBody>
          <a:bodyPr>
            <a:spAutoFit/>
          </a:bodyPr>
          <a:lstStyle/>
          <a:p>
            <a:pPr eaLnBrk="0" hangingPunct="0"/>
            <a:r>
              <a:rPr lang="en-US" sz="2400" b="1">
                <a:solidFill>
                  <a:srgbClr val="800000"/>
                </a:solidFill>
                <a:latin typeface="Times New Roman" pitchFamily="18" charset="0"/>
              </a:rPr>
              <a:t>// Generic Function ( Function Template)</a:t>
            </a:r>
          </a:p>
          <a:p>
            <a:pPr eaLnBrk="0" hangingPunct="0"/>
            <a:r>
              <a:rPr lang="en-US" sz="2400" b="1">
                <a:solidFill>
                  <a:srgbClr val="800000"/>
                </a:solidFill>
                <a:latin typeface="Times New Roman" pitchFamily="18" charset="0"/>
              </a:rPr>
              <a:t>#include&lt;iostream.h&gt;</a:t>
            </a:r>
          </a:p>
          <a:p>
            <a:pPr eaLnBrk="0" hangingPunct="0"/>
            <a:r>
              <a:rPr lang="en-US" sz="2400" b="1">
                <a:solidFill>
                  <a:srgbClr val="800000"/>
                </a:solidFill>
                <a:latin typeface="Times New Roman" pitchFamily="18" charset="0"/>
              </a:rPr>
              <a:t>#include&lt;conio.h&gt;</a:t>
            </a:r>
          </a:p>
          <a:p>
            <a:pPr eaLnBrk="0" hangingPunct="0"/>
            <a:endParaRPr lang="en-US" sz="2400" b="1">
              <a:solidFill>
                <a:srgbClr val="800000"/>
              </a:solidFill>
              <a:latin typeface="Times New Roman" pitchFamily="18" charset="0"/>
            </a:endParaRPr>
          </a:p>
          <a:p>
            <a:pPr eaLnBrk="0" hangingPunct="0"/>
            <a:r>
              <a:rPr lang="en-US" sz="2400" b="1">
                <a:solidFill>
                  <a:srgbClr val="800000"/>
                </a:solidFill>
                <a:latin typeface="Times New Roman" pitchFamily="18" charset="0"/>
              </a:rPr>
              <a:t>template &lt;class T&gt;</a:t>
            </a:r>
          </a:p>
          <a:p>
            <a:pPr eaLnBrk="0" hangingPunct="0"/>
            <a:r>
              <a:rPr lang="en-US" sz="2400" b="1">
                <a:solidFill>
                  <a:srgbClr val="800000"/>
                </a:solidFill>
                <a:latin typeface="Times New Roman" pitchFamily="18" charset="0"/>
              </a:rPr>
              <a:t>T max(T x,T y)</a:t>
            </a:r>
          </a:p>
          <a:p>
            <a:pPr eaLnBrk="0" hangingPunct="0"/>
            <a:r>
              <a:rPr lang="en-US" sz="2400" b="1">
                <a:solidFill>
                  <a:srgbClr val="800000"/>
                </a:solidFill>
                <a:latin typeface="Times New Roman" pitchFamily="18" charset="0"/>
              </a:rPr>
              <a:t>{</a:t>
            </a:r>
          </a:p>
          <a:p>
            <a:pPr eaLnBrk="0" hangingPunct="0"/>
            <a:r>
              <a:rPr lang="en-US" sz="2400" b="1">
                <a:solidFill>
                  <a:srgbClr val="800000"/>
                </a:solidFill>
                <a:latin typeface="Times New Roman" pitchFamily="18" charset="0"/>
              </a:rPr>
              <a:t>  return( (x&gt;y)?x:y);	// </a:t>
            </a:r>
            <a:r>
              <a:rPr lang="en-US" b="1">
                <a:solidFill>
                  <a:srgbClr val="800000"/>
                </a:solidFill>
                <a:latin typeface="Times New Roman" pitchFamily="18" charset="0"/>
              </a:rPr>
              <a:t>expr1?expr2:expr1</a:t>
            </a:r>
            <a:endParaRPr lang="en-US" sz="2400" b="1">
              <a:solidFill>
                <a:srgbClr val="800000"/>
              </a:solidFill>
              <a:latin typeface="Times New Roman" pitchFamily="18" charset="0"/>
            </a:endParaRPr>
          </a:p>
          <a:p>
            <a:pPr eaLnBrk="0" hangingPunct="0"/>
            <a:r>
              <a:rPr lang="en-US" sz="2400" b="1">
                <a:solidFill>
                  <a:srgbClr val="800000"/>
                </a:solidFill>
                <a:latin typeface="Times New Roman" pitchFamily="18" charset="0"/>
              </a:rPr>
              <a:t>};</a:t>
            </a:r>
          </a:p>
          <a:p>
            <a:pPr eaLnBrk="0" hangingPunct="0"/>
            <a:r>
              <a:rPr lang="en-US" sz="2400" b="1">
                <a:solidFill>
                  <a:srgbClr val="800000"/>
                </a:solidFill>
                <a:latin typeface="Times New Roman" pitchFamily="18" charset="0"/>
              </a:rPr>
              <a:t>void main()</a:t>
            </a:r>
          </a:p>
          <a:p>
            <a:pPr eaLnBrk="0" hangingPunct="0"/>
            <a:r>
              <a:rPr lang="en-US" sz="2400" b="1">
                <a:solidFill>
                  <a:srgbClr val="800000"/>
                </a:solidFill>
                <a:latin typeface="Times New Roman" pitchFamily="18" charset="0"/>
              </a:rPr>
              <a:t>{</a:t>
            </a:r>
          </a:p>
          <a:p>
            <a:pPr eaLnBrk="0" hangingPunct="0"/>
            <a:r>
              <a:rPr lang="en-US" sz="2400" b="1">
                <a:solidFill>
                  <a:srgbClr val="800000"/>
                </a:solidFill>
                <a:latin typeface="Times New Roman" pitchFamily="18" charset="0"/>
              </a:rPr>
              <a:t>clrscr();</a:t>
            </a:r>
          </a:p>
          <a:p>
            <a:pPr eaLnBrk="0" hangingPunct="0"/>
            <a:r>
              <a:rPr lang="en-US" sz="2400" b="1">
                <a:solidFill>
                  <a:srgbClr val="800000"/>
                </a:solidFill>
                <a:latin typeface="Times New Roman" pitchFamily="18" charset="0"/>
              </a:rPr>
              <a:t>cout&lt;&lt;max(17,19)&lt;&lt;endl;</a:t>
            </a:r>
          </a:p>
          <a:p>
            <a:pPr eaLnBrk="0" hangingPunct="0"/>
            <a:r>
              <a:rPr lang="en-US" sz="2400" b="1">
                <a:solidFill>
                  <a:srgbClr val="800000"/>
                </a:solidFill>
                <a:latin typeface="Times New Roman" pitchFamily="18" charset="0"/>
              </a:rPr>
              <a:t>cout&lt;&lt;max(1.5,6.7)&lt;&lt;endl;</a:t>
            </a:r>
          </a:p>
          <a:p>
            <a:pPr eaLnBrk="0" hangingPunct="0"/>
            <a:r>
              <a:rPr lang="en-US" sz="2400" b="1">
                <a:solidFill>
                  <a:srgbClr val="800000"/>
                </a:solidFill>
                <a:latin typeface="Times New Roman" pitchFamily="18" charset="0"/>
              </a:rPr>
              <a:t>cout&lt;&lt;max('A','B')&lt;&lt;endl;</a:t>
            </a:r>
          </a:p>
          <a:p>
            <a:pPr eaLnBrk="0" hangingPunct="0"/>
            <a:r>
              <a:rPr lang="en-US" sz="2400" b="1">
                <a:solidFill>
                  <a:srgbClr val="800000"/>
                </a:solidFill>
                <a:latin typeface="Times New Roman" pitchFamily="18" charset="0"/>
              </a:rPr>
              <a:t>getch();</a:t>
            </a:r>
          </a:p>
          <a:p>
            <a:pPr eaLnBrk="0" hangingPunct="0"/>
            <a:r>
              <a:rPr lang="en-US" sz="2400" b="1">
                <a:solidFill>
                  <a:srgbClr val="800000"/>
                </a:solidFill>
                <a:latin typeface="Times New Roman" pitchFamily="18" charset="0"/>
              </a:rPr>
              <a:t>}</a:t>
            </a:r>
          </a:p>
        </p:txBody>
      </p:sp>
      <p:sp>
        <p:nvSpPr>
          <p:cNvPr id="5123" name="Text Box 3"/>
          <p:cNvSpPr txBox="1">
            <a:spLocks noChangeArrowheads="1"/>
          </p:cNvSpPr>
          <p:nvPr/>
        </p:nvSpPr>
        <p:spPr bwMode="auto">
          <a:xfrm>
            <a:off x="6553200" y="914400"/>
            <a:ext cx="2286000" cy="4340225"/>
          </a:xfrm>
          <a:prstGeom prst="rect">
            <a:avLst/>
          </a:prstGeom>
          <a:noFill/>
          <a:ln w="9525">
            <a:solidFill>
              <a:srgbClr val="000000"/>
            </a:solidFill>
            <a:miter lim="800000"/>
            <a:headEnd/>
            <a:tailEnd/>
          </a:ln>
        </p:spPr>
        <p:txBody>
          <a:bodyPr>
            <a:spAutoFit/>
          </a:bodyPr>
          <a:lstStyle/>
          <a:p>
            <a:pPr eaLnBrk="0" hangingPunct="0">
              <a:spcBef>
                <a:spcPct val="50000"/>
              </a:spcBef>
            </a:pPr>
            <a:r>
              <a:rPr lang="en-US" sz="2400" b="1" u="sng">
                <a:solidFill>
                  <a:srgbClr val="000099"/>
                </a:solidFill>
                <a:latin typeface="Verdana" pitchFamily="34" charset="0"/>
              </a:rPr>
              <a:t>Output :</a:t>
            </a:r>
          </a:p>
          <a:p>
            <a:pPr eaLnBrk="0" hangingPunct="0">
              <a:spcBef>
                <a:spcPct val="50000"/>
              </a:spcBef>
            </a:pPr>
            <a:r>
              <a:rPr lang="en-US" sz="2400" b="1">
                <a:solidFill>
                  <a:srgbClr val="000000"/>
                </a:solidFill>
                <a:latin typeface="Verdana" pitchFamily="34" charset="0"/>
              </a:rPr>
              <a:t>19</a:t>
            </a:r>
          </a:p>
          <a:p>
            <a:pPr eaLnBrk="0" hangingPunct="0">
              <a:spcBef>
                <a:spcPct val="50000"/>
              </a:spcBef>
            </a:pPr>
            <a:r>
              <a:rPr lang="en-US" sz="2400" b="1">
                <a:solidFill>
                  <a:srgbClr val="000000"/>
                </a:solidFill>
                <a:latin typeface="Verdana" pitchFamily="34" charset="0"/>
              </a:rPr>
              <a:t>6.7</a:t>
            </a:r>
          </a:p>
          <a:p>
            <a:pPr eaLnBrk="0" hangingPunct="0">
              <a:spcBef>
                <a:spcPct val="50000"/>
              </a:spcBef>
            </a:pPr>
            <a:r>
              <a:rPr lang="en-US" sz="2400" b="1">
                <a:solidFill>
                  <a:srgbClr val="000000"/>
                </a:solidFill>
                <a:latin typeface="Verdana" pitchFamily="34" charset="0"/>
              </a:rPr>
              <a:t>B</a:t>
            </a:r>
          </a:p>
          <a:p>
            <a:pPr eaLnBrk="0" hangingPunct="0">
              <a:spcBef>
                <a:spcPct val="50000"/>
              </a:spcBef>
            </a:pPr>
            <a:endParaRPr lang="en-US" sz="2400" b="1">
              <a:solidFill>
                <a:srgbClr val="000000"/>
              </a:solidFill>
              <a:latin typeface="Verdana" pitchFamily="34" charset="0"/>
            </a:endParaRPr>
          </a:p>
          <a:p>
            <a:pPr eaLnBrk="0" hangingPunct="0">
              <a:spcBef>
                <a:spcPct val="50000"/>
              </a:spcBef>
            </a:pPr>
            <a:r>
              <a:rPr lang="en-US" sz="2400" u="sng">
                <a:solidFill>
                  <a:srgbClr val="000000"/>
                </a:solidFill>
                <a:latin typeface="Verdana" pitchFamily="34" charset="0"/>
              </a:rPr>
              <a:t>Ascii values</a:t>
            </a:r>
          </a:p>
          <a:p>
            <a:pPr eaLnBrk="0" hangingPunct="0">
              <a:spcBef>
                <a:spcPct val="50000"/>
              </a:spcBef>
            </a:pPr>
            <a:r>
              <a:rPr lang="en-US" sz="2400">
                <a:solidFill>
                  <a:srgbClr val="000000"/>
                </a:solidFill>
                <a:latin typeface="Verdana" pitchFamily="34" charset="0"/>
              </a:rPr>
              <a:t>A=65, B=66</a:t>
            </a:r>
          </a:p>
          <a:p>
            <a:pPr eaLnBrk="0" hangingPunct="0">
              <a:spcBef>
                <a:spcPct val="50000"/>
              </a:spcBef>
            </a:pPr>
            <a:r>
              <a:rPr lang="en-US" sz="2400">
                <a:solidFill>
                  <a:srgbClr val="000000"/>
                </a:solidFill>
                <a:latin typeface="Verdana" pitchFamily="34" charset="0"/>
              </a:rPr>
              <a:t>a=97</a:t>
            </a:r>
            <a:endParaRPr lang="en-US" sz="2000">
              <a:solidFill>
                <a:srgbClr val="000000"/>
              </a:solidFill>
              <a:latin typeface="Verdana" pitchFamily="34" charset="0"/>
            </a:endParaRPr>
          </a:p>
        </p:txBody>
      </p:sp>
    </p:spTree>
  </p:cSld>
  <p:clrMapOvr>
    <a:masterClrMapping/>
  </p:clrMapOvr>
  <p:timing>
    <p:tnLst>
      <p:par>
        <p:cTn id="1" dur="indefinite" restart="never" nodeType="tmRoot"/>
      </p:par>
    </p:tnLst>
  </p:timing>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ChangeArrowheads="1"/>
          </p:cNvSpPr>
          <p:nvPr/>
        </p:nvSpPr>
        <p:spPr bwMode="auto">
          <a:xfrm>
            <a:off x="1143000" y="228600"/>
            <a:ext cx="4572000" cy="5943600"/>
          </a:xfrm>
          <a:prstGeom prst="rect">
            <a:avLst/>
          </a:prstGeom>
          <a:noFill/>
          <a:ln w="9525">
            <a:solidFill>
              <a:srgbClr val="990033"/>
            </a:solidFill>
            <a:miter lim="800000"/>
            <a:headEnd/>
            <a:tailEnd/>
          </a:ln>
        </p:spPr>
        <p:txBody>
          <a:bodyPr>
            <a:spAutoFit/>
          </a:bodyPr>
          <a:lstStyle/>
          <a:p>
            <a:pPr eaLnBrk="0" hangingPunct="0"/>
            <a:r>
              <a:rPr lang="en-US" sz="2400" b="1">
                <a:solidFill>
                  <a:srgbClr val="800000"/>
                </a:solidFill>
              </a:rPr>
              <a:t>function template Example</a:t>
            </a:r>
          </a:p>
          <a:p>
            <a:pPr eaLnBrk="0" hangingPunct="0"/>
            <a:r>
              <a:rPr lang="en-US" sz="2400" b="1">
                <a:solidFill>
                  <a:srgbClr val="800000"/>
                </a:solidFill>
              </a:rPr>
              <a:t>=====================</a:t>
            </a:r>
          </a:p>
          <a:p>
            <a:pPr eaLnBrk="0" hangingPunct="0"/>
            <a:endParaRPr lang="en-US" sz="2400" b="1">
              <a:solidFill>
                <a:srgbClr val="800000"/>
              </a:solidFill>
            </a:endParaRPr>
          </a:p>
          <a:p>
            <a:pPr eaLnBrk="0" hangingPunct="0"/>
            <a:r>
              <a:rPr lang="en-US" sz="2400" b="1">
                <a:solidFill>
                  <a:srgbClr val="800000"/>
                </a:solidFill>
              </a:rPr>
              <a:t>#include&lt;iostream.h&gt;</a:t>
            </a:r>
          </a:p>
          <a:p>
            <a:pPr eaLnBrk="0" hangingPunct="0"/>
            <a:r>
              <a:rPr lang="en-US" sz="2400" b="1">
                <a:solidFill>
                  <a:srgbClr val="800000"/>
                </a:solidFill>
              </a:rPr>
              <a:t>#include&lt;conio.h&gt;</a:t>
            </a:r>
          </a:p>
          <a:p>
            <a:pPr eaLnBrk="0" hangingPunct="0"/>
            <a:r>
              <a:rPr lang="en-US" sz="2400" b="1">
                <a:solidFill>
                  <a:srgbClr val="800000"/>
                </a:solidFill>
              </a:rPr>
              <a:t>template&lt;class T1,class T2&gt;</a:t>
            </a:r>
          </a:p>
          <a:p>
            <a:pPr eaLnBrk="0" hangingPunct="0"/>
            <a:r>
              <a:rPr lang="en-US" sz="2400" b="1">
                <a:solidFill>
                  <a:srgbClr val="800000"/>
                </a:solidFill>
              </a:rPr>
              <a:t>void good(T1 x,T2 y)</a:t>
            </a:r>
          </a:p>
          <a:p>
            <a:pPr eaLnBrk="0" hangingPunct="0"/>
            <a:r>
              <a:rPr lang="en-US" sz="2400" b="1">
                <a:solidFill>
                  <a:srgbClr val="800000"/>
                </a:solidFill>
              </a:rPr>
              <a:t>{</a:t>
            </a:r>
          </a:p>
          <a:p>
            <a:pPr eaLnBrk="0" hangingPunct="0"/>
            <a:r>
              <a:rPr lang="en-US" sz="2400" b="1">
                <a:solidFill>
                  <a:srgbClr val="800000"/>
                </a:solidFill>
              </a:rPr>
              <a:t>clrscr();</a:t>
            </a:r>
          </a:p>
          <a:p>
            <a:pPr eaLnBrk="0" hangingPunct="0"/>
            <a:r>
              <a:rPr lang="en-US" sz="2400" b="1">
                <a:solidFill>
                  <a:srgbClr val="800000"/>
                </a:solidFill>
              </a:rPr>
              <a:t>cout&lt;&lt;x&lt;&lt;" "&lt;&lt;y&lt;&lt;endl;</a:t>
            </a:r>
          </a:p>
          <a:p>
            <a:pPr eaLnBrk="0" hangingPunct="0"/>
            <a:r>
              <a:rPr lang="en-US" sz="2400" b="1">
                <a:solidFill>
                  <a:srgbClr val="800000"/>
                </a:solidFill>
              </a:rPr>
              <a:t>}</a:t>
            </a:r>
          </a:p>
          <a:p>
            <a:pPr eaLnBrk="0" hangingPunct="0"/>
            <a:r>
              <a:rPr lang="en-US" sz="2400" b="1">
                <a:solidFill>
                  <a:srgbClr val="800000"/>
                </a:solidFill>
              </a:rPr>
              <a:t>void main()</a:t>
            </a:r>
          </a:p>
          <a:p>
            <a:pPr eaLnBrk="0" hangingPunct="0"/>
            <a:r>
              <a:rPr lang="en-US" sz="2400" b="1">
                <a:solidFill>
                  <a:srgbClr val="800000"/>
                </a:solidFill>
              </a:rPr>
              <a:t>{</a:t>
            </a:r>
          </a:p>
          <a:p>
            <a:pPr eaLnBrk="0" hangingPunct="0"/>
            <a:r>
              <a:rPr lang="en-US" sz="2400" b="1">
                <a:solidFill>
                  <a:srgbClr val="800000"/>
                </a:solidFill>
              </a:rPr>
              <a:t>good(456,"hello");</a:t>
            </a:r>
          </a:p>
          <a:p>
            <a:pPr eaLnBrk="0" hangingPunct="0"/>
            <a:r>
              <a:rPr lang="en-US" sz="2400" b="1">
                <a:solidFill>
                  <a:srgbClr val="800000"/>
                </a:solidFill>
              </a:rPr>
              <a:t>getch();</a:t>
            </a:r>
          </a:p>
          <a:p>
            <a:pPr eaLnBrk="0" hangingPunct="0"/>
            <a:r>
              <a:rPr lang="en-US" sz="2400" b="1">
                <a:solidFill>
                  <a:srgbClr val="800000"/>
                </a:solidFill>
              </a:rPr>
              <a:t>}</a:t>
            </a:r>
          </a:p>
        </p:txBody>
      </p:sp>
      <p:sp>
        <p:nvSpPr>
          <p:cNvPr id="6147" name="Text Box 3"/>
          <p:cNvSpPr txBox="1">
            <a:spLocks noChangeArrowheads="1"/>
          </p:cNvSpPr>
          <p:nvPr/>
        </p:nvSpPr>
        <p:spPr bwMode="auto">
          <a:xfrm>
            <a:off x="5791200" y="4876800"/>
            <a:ext cx="1905000" cy="1014413"/>
          </a:xfrm>
          <a:prstGeom prst="rect">
            <a:avLst/>
          </a:prstGeom>
          <a:noFill/>
          <a:ln w="9525">
            <a:solidFill>
              <a:srgbClr val="000000"/>
            </a:solidFill>
            <a:miter lim="800000"/>
            <a:headEnd/>
            <a:tailEnd/>
          </a:ln>
        </p:spPr>
        <p:txBody>
          <a:bodyPr>
            <a:spAutoFit/>
          </a:bodyPr>
          <a:lstStyle/>
          <a:p>
            <a:pPr eaLnBrk="0" hangingPunct="0">
              <a:spcBef>
                <a:spcPct val="50000"/>
              </a:spcBef>
            </a:pPr>
            <a:r>
              <a:rPr lang="en-US" sz="2400" b="1" u="sng">
                <a:solidFill>
                  <a:srgbClr val="000099"/>
                </a:solidFill>
                <a:latin typeface="Verdana" pitchFamily="34" charset="0"/>
              </a:rPr>
              <a:t>Output :</a:t>
            </a:r>
          </a:p>
          <a:p>
            <a:pPr eaLnBrk="0" hangingPunct="0">
              <a:spcBef>
                <a:spcPct val="50000"/>
              </a:spcBef>
            </a:pPr>
            <a:r>
              <a:rPr lang="en-US" sz="2400" b="1">
                <a:solidFill>
                  <a:srgbClr val="000000"/>
                </a:solidFill>
                <a:latin typeface="Verdana" pitchFamily="34" charset="0"/>
              </a:rPr>
              <a:t>456  hello</a:t>
            </a:r>
            <a:endParaRPr lang="en-US" sz="2000" b="1">
              <a:solidFill>
                <a:srgbClr val="000000"/>
              </a:solidFill>
              <a:latin typeface="Verdana" pitchFamily="34" charset="0"/>
            </a:endParaRPr>
          </a:p>
        </p:txBody>
      </p:sp>
    </p:spTree>
  </p:cSld>
  <p:clrMapOvr>
    <a:masterClrMapping/>
  </p:clrMapOvr>
  <p:timing>
    <p:tnLst>
      <p:par>
        <p:cTn id="1" dur="indefinite" restart="never" nodeType="tmRoot"/>
      </p:par>
    </p:tnLst>
  </p:timing>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ChangeArrowheads="1"/>
          </p:cNvSpPr>
          <p:nvPr/>
        </p:nvSpPr>
        <p:spPr bwMode="auto">
          <a:xfrm>
            <a:off x="152400" y="107950"/>
            <a:ext cx="8763000" cy="7038975"/>
          </a:xfrm>
          <a:prstGeom prst="rect">
            <a:avLst/>
          </a:prstGeom>
          <a:noFill/>
          <a:ln w="9525">
            <a:solidFill>
              <a:srgbClr val="990033"/>
            </a:solidFill>
            <a:miter lim="800000"/>
            <a:headEnd/>
            <a:tailEnd/>
          </a:ln>
        </p:spPr>
        <p:txBody>
          <a:bodyPr>
            <a:spAutoFit/>
          </a:bodyPr>
          <a:lstStyle/>
          <a:p>
            <a:pPr eaLnBrk="0" hangingPunct="0"/>
            <a:r>
              <a:rPr lang="en-US" sz="2400" b="1" u="sng">
                <a:solidFill>
                  <a:srgbClr val="800000"/>
                </a:solidFill>
              </a:rPr>
              <a:t>For Example</a:t>
            </a:r>
          </a:p>
          <a:p>
            <a:pPr eaLnBrk="0" hangingPunct="0"/>
            <a:r>
              <a:rPr lang="en-US" sz="2400" b="1">
                <a:solidFill>
                  <a:srgbClr val="800000"/>
                </a:solidFill>
              </a:rPr>
              <a:t>#include&lt;iostream.h&gt; :</a:t>
            </a:r>
          </a:p>
          <a:p>
            <a:pPr eaLnBrk="0" hangingPunct="0"/>
            <a:r>
              <a:rPr lang="en-US" sz="2400" b="1">
                <a:solidFill>
                  <a:srgbClr val="800000"/>
                </a:solidFill>
              </a:rPr>
              <a:t>void function1(int i)</a:t>
            </a:r>
          </a:p>
          <a:p>
            <a:pPr eaLnBrk="0" hangingPunct="0"/>
            <a:r>
              <a:rPr lang="en-US" sz="2400" b="1">
                <a:solidFill>
                  <a:srgbClr val="800000"/>
                </a:solidFill>
              </a:rPr>
              <a:t>{</a:t>
            </a:r>
          </a:p>
          <a:p>
            <a:pPr eaLnBrk="0" hangingPunct="0"/>
            <a:r>
              <a:rPr lang="en-US" sz="2400" b="1">
                <a:solidFill>
                  <a:srgbClr val="800000"/>
                </a:solidFill>
              </a:rPr>
              <a:t>cout&lt;&lt;"The value of i is"&lt;&lt;i&lt;&lt;endl;</a:t>
            </a:r>
          </a:p>
          <a:p>
            <a:pPr eaLnBrk="0" hangingPunct="0"/>
            <a:r>
              <a:rPr lang="en-US" sz="2400" b="1">
                <a:solidFill>
                  <a:srgbClr val="800000"/>
                </a:solidFill>
              </a:rPr>
              <a:t>}</a:t>
            </a:r>
          </a:p>
          <a:p>
            <a:pPr eaLnBrk="0" hangingPunct="0"/>
            <a:r>
              <a:rPr lang="en-US" sz="2400" b="1">
                <a:solidFill>
                  <a:srgbClr val="800000"/>
                </a:solidFill>
              </a:rPr>
              <a:t>void function2(double d)</a:t>
            </a:r>
          </a:p>
          <a:p>
            <a:pPr eaLnBrk="0" hangingPunct="0"/>
            <a:r>
              <a:rPr lang="en-US" sz="2400" b="1">
                <a:solidFill>
                  <a:srgbClr val="800000"/>
                </a:solidFill>
              </a:rPr>
              <a:t>{</a:t>
            </a:r>
          </a:p>
          <a:p>
            <a:pPr eaLnBrk="0" hangingPunct="0"/>
            <a:r>
              <a:rPr lang="en-US" sz="2400" b="1">
                <a:solidFill>
                  <a:srgbClr val="800000"/>
                </a:solidFill>
              </a:rPr>
              <a:t>cout&lt;&lt;"The integer part is"&lt;&lt;int(d); </a:t>
            </a:r>
          </a:p>
          <a:p>
            <a:pPr eaLnBrk="0" hangingPunct="0"/>
            <a:r>
              <a:rPr lang="en-US" sz="2400" b="1">
                <a:solidFill>
                  <a:srgbClr val="800000"/>
                </a:solidFill>
              </a:rPr>
              <a:t>d - = int(d);</a:t>
            </a:r>
          </a:p>
          <a:p>
            <a:pPr eaLnBrk="0" hangingPunct="0"/>
            <a:r>
              <a:rPr lang="en-US" sz="2400" b="1">
                <a:solidFill>
                  <a:srgbClr val="800000"/>
                </a:solidFill>
              </a:rPr>
              <a:t>cout&lt;&lt;"The factorial part is"&lt;&lt;d;</a:t>
            </a:r>
          </a:p>
          <a:p>
            <a:pPr eaLnBrk="0" hangingPunct="0"/>
            <a:r>
              <a:rPr lang="en-US" sz="2400" b="1">
                <a:solidFill>
                  <a:srgbClr val="800000"/>
                </a:solidFill>
              </a:rPr>
              <a:t>}</a:t>
            </a:r>
          </a:p>
          <a:p>
            <a:pPr eaLnBrk="0" hangingPunct="0"/>
            <a:endParaRPr lang="en-US" sz="2400" b="1">
              <a:solidFill>
                <a:srgbClr val="800000"/>
              </a:solidFill>
            </a:endParaRPr>
          </a:p>
          <a:p>
            <a:pPr eaLnBrk="0" hangingPunct="0"/>
            <a:r>
              <a:rPr lang="en-US" sz="2400" b="1">
                <a:solidFill>
                  <a:srgbClr val="800000"/>
                </a:solidFill>
              </a:rPr>
              <a:t>void main()</a:t>
            </a:r>
          </a:p>
          <a:p>
            <a:pPr eaLnBrk="0" hangingPunct="0"/>
            <a:r>
              <a:rPr lang="en-US" sz="2400" b="1">
                <a:solidFill>
                  <a:srgbClr val="800000"/>
                </a:solidFill>
              </a:rPr>
              <a:t>{</a:t>
            </a:r>
          </a:p>
          <a:p>
            <a:pPr eaLnBrk="0" hangingPunct="0"/>
            <a:r>
              <a:rPr lang="en-US" sz="2400" b="1">
                <a:solidFill>
                  <a:srgbClr val="800000"/>
                </a:solidFill>
              </a:rPr>
              <a:t>function1 (2);</a:t>
            </a:r>
          </a:p>
          <a:p>
            <a:pPr eaLnBrk="0" hangingPunct="0"/>
            <a:r>
              <a:rPr lang="en-US" sz="2400" b="1">
                <a:solidFill>
                  <a:srgbClr val="800000"/>
                </a:solidFill>
              </a:rPr>
              <a:t>function2 (23.5);</a:t>
            </a:r>
          </a:p>
          <a:p>
            <a:pPr eaLnBrk="0" hangingPunct="0"/>
            <a:r>
              <a:rPr lang="en-US" sz="2400" b="1">
                <a:solidFill>
                  <a:srgbClr val="800000"/>
                </a:solidFill>
              </a:rPr>
              <a:t>}</a:t>
            </a:r>
          </a:p>
          <a:p>
            <a:pPr eaLnBrk="0" hangingPunct="0"/>
            <a:endParaRPr lang="en-US" sz="2400" b="1">
              <a:solidFill>
                <a:srgbClr val="800000"/>
              </a:solidFill>
            </a:endParaRPr>
          </a:p>
        </p:txBody>
      </p:sp>
      <p:sp>
        <p:nvSpPr>
          <p:cNvPr id="7171" name="Text Box 3"/>
          <p:cNvSpPr txBox="1">
            <a:spLocks noChangeArrowheads="1"/>
          </p:cNvSpPr>
          <p:nvPr/>
        </p:nvSpPr>
        <p:spPr bwMode="auto">
          <a:xfrm>
            <a:off x="3810000" y="4572000"/>
            <a:ext cx="5029200" cy="2109788"/>
          </a:xfrm>
          <a:prstGeom prst="rect">
            <a:avLst/>
          </a:prstGeom>
          <a:noFill/>
          <a:ln w="9525">
            <a:solidFill>
              <a:srgbClr val="000000"/>
            </a:solidFill>
            <a:miter lim="800000"/>
            <a:headEnd/>
            <a:tailEnd/>
          </a:ln>
        </p:spPr>
        <p:txBody>
          <a:bodyPr>
            <a:spAutoFit/>
          </a:bodyPr>
          <a:lstStyle/>
          <a:p>
            <a:pPr eaLnBrk="0" hangingPunct="0">
              <a:spcBef>
                <a:spcPct val="50000"/>
              </a:spcBef>
            </a:pPr>
            <a:r>
              <a:rPr lang="en-US" sz="2400" b="1" u="sng">
                <a:solidFill>
                  <a:srgbClr val="000099"/>
                </a:solidFill>
                <a:latin typeface="Verdana" pitchFamily="34" charset="0"/>
              </a:rPr>
              <a:t>Output :</a:t>
            </a:r>
          </a:p>
          <a:p>
            <a:pPr eaLnBrk="0" hangingPunct="0">
              <a:spcBef>
                <a:spcPct val="50000"/>
              </a:spcBef>
            </a:pPr>
            <a:r>
              <a:rPr lang="en-US" sz="2400" b="1">
                <a:solidFill>
                  <a:srgbClr val="000000"/>
                </a:solidFill>
              </a:rPr>
              <a:t>The value of i is  2</a:t>
            </a:r>
          </a:p>
          <a:p>
            <a:pPr eaLnBrk="0" hangingPunct="0">
              <a:spcBef>
                <a:spcPct val="50000"/>
              </a:spcBef>
            </a:pPr>
            <a:r>
              <a:rPr lang="en-US" sz="2400" b="1">
                <a:solidFill>
                  <a:srgbClr val="000000"/>
                </a:solidFill>
              </a:rPr>
              <a:t>The integer part is 23</a:t>
            </a:r>
          </a:p>
          <a:p>
            <a:pPr eaLnBrk="0" hangingPunct="0">
              <a:spcBef>
                <a:spcPct val="50000"/>
              </a:spcBef>
            </a:pPr>
            <a:r>
              <a:rPr lang="en-US" sz="2400" b="1">
                <a:solidFill>
                  <a:srgbClr val="000000"/>
                </a:solidFill>
              </a:rPr>
              <a:t>The factorial part is 0.5</a:t>
            </a:r>
            <a:endParaRPr lang="en-US" sz="2000" b="1">
              <a:solidFill>
                <a:srgbClr val="000000"/>
              </a:solidFill>
            </a:endParaRPr>
          </a:p>
        </p:txBody>
      </p:sp>
    </p:spTree>
  </p:cSld>
  <p:clrMapOvr>
    <a:masterClrMapping/>
  </p:clrMapOvr>
  <p:timing>
    <p:tnLst>
      <p:par>
        <p:cTn id="1" dur="indefinite" restart="never" nodeType="tmRoot"/>
      </p:par>
    </p:tnLst>
  </p:timing>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ChangeArrowheads="1"/>
          </p:cNvSpPr>
          <p:nvPr/>
        </p:nvSpPr>
        <p:spPr bwMode="auto">
          <a:xfrm>
            <a:off x="0" y="0"/>
            <a:ext cx="4419600" cy="6538913"/>
          </a:xfrm>
          <a:prstGeom prst="rect">
            <a:avLst/>
          </a:prstGeom>
          <a:noFill/>
          <a:ln w="9525">
            <a:solidFill>
              <a:srgbClr val="FF66CC"/>
            </a:solidFill>
            <a:miter lim="800000"/>
            <a:headEnd/>
            <a:tailEnd/>
          </a:ln>
        </p:spPr>
        <p:txBody>
          <a:bodyPr>
            <a:spAutoFit/>
          </a:bodyPr>
          <a:lstStyle/>
          <a:p>
            <a:pPr eaLnBrk="0" hangingPunct="0">
              <a:lnSpc>
                <a:spcPct val="135000"/>
              </a:lnSpc>
            </a:pPr>
            <a:r>
              <a:rPr lang="en-US" b="1">
                <a:solidFill>
                  <a:srgbClr val="800000"/>
                </a:solidFill>
              </a:rPr>
              <a:t>A program to define the function template for swapping two items of</a:t>
            </a:r>
          </a:p>
          <a:p>
            <a:pPr eaLnBrk="0" hangingPunct="0">
              <a:lnSpc>
                <a:spcPct val="135000"/>
              </a:lnSpc>
            </a:pPr>
            <a:r>
              <a:rPr lang="en-US" b="1">
                <a:solidFill>
                  <a:srgbClr val="800000"/>
                </a:solidFill>
              </a:rPr>
              <a:t>the  various data type as integer and floating point number</a:t>
            </a:r>
          </a:p>
          <a:p>
            <a:pPr eaLnBrk="0" hangingPunct="0">
              <a:lnSpc>
                <a:spcPct val="135000"/>
              </a:lnSpc>
            </a:pPr>
            <a:endParaRPr lang="en-US" b="1">
              <a:solidFill>
                <a:srgbClr val="800000"/>
              </a:solidFill>
            </a:endParaRPr>
          </a:p>
          <a:p>
            <a:pPr eaLnBrk="0" hangingPunct="0">
              <a:lnSpc>
                <a:spcPct val="135000"/>
              </a:lnSpc>
            </a:pPr>
            <a:r>
              <a:rPr lang="en-US" b="1">
                <a:solidFill>
                  <a:srgbClr val="800000"/>
                </a:solidFill>
              </a:rPr>
              <a:t>#include&lt;iostream.h&gt;</a:t>
            </a:r>
          </a:p>
          <a:p>
            <a:pPr eaLnBrk="0" hangingPunct="0">
              <a:lnSpc>
                <a:spcPct val="135000"/>
              </a:lnSpc>
            </a:pPr>
            <a:r>
              <a:rPr lang="en-US" b="1">
                <a:solidFill>
                  <a:srgbClr val="800000"/>
                </a:solidFill>
              </a:rPr>
              <a:t>#include&lt;conio.h&gt;</a:t>
            </a:r>
          </a:p>
          <a:p>
            <a:pPr eaLnBrk="0" hangingPunct="0">
              <a:lnSpc>
                <a:spcPct val="135000"/>
              </a:lnSpc>
            </a:pPr>
            <a:r>
              <a:rPr lang="en-US" b="1">
                <a:solidFill>
                  <a:srgbClr val="800000"/>
                </a:solidFill>
              </a:rPr>
              <a:t>template&lt;class T&gt;T swap(     T &amp;first, T &amp;second)</a:t>
            </a:r>
          </a:p>
          <a:p>
            <a:pPr eaLnBrk="0" hangingPunct="0">
              <a:lnSpc>
                <a:spcPct val="135000"/>
              </a:lnSpc>
            </a:pPr>
            <a:r>
              <a:rPr lang="en-US" b="1">
                <a:solidFill>
                  <a:srgbClr val="800000"/>
                </a:solidFill>
              </a:rPr>
              <a:t>{</a:t>
            </a:r>
          </a:p>
          <a:p>
            <a:pPr eaLnBrk="0" hangingPunct="0">
              <a:lnSpc>
                <a:spcPct val="135000"/>
              </a:lnSpc>
            </a:pPr>
            <a:r>
              <a:rPr lang="en-US" b="1">
                <a:solidFill>
                  <a:srgbClr val="800000"/>
                </a:solidFill>
              </a:rPr>
              <a:t>T temp;</a:t>
            </a:r>
          </a:p>
          <a:p>
            <a:pPr eaLnBrk="0" hangingPunct="0">
              <a:lnSpc>
                <a:spcPct val="135000"/>
              </a:lnSpc>
            </a:pPr>
            <a:r>
              <a:rPr lang="en-US" b="1">
                <a:solidFill>
                  <a:srgbClr val="800000"/>
                </a:solidFill>
              </a:rPr>
              <a:t>temp = first;</a:t>
            </a:r>
          </a:p>
          <a:p>
            <a:pPr eaLnBrk="0" hangingPunct="0">
              <a:lnSpc>
                <a:spcPct val="135000"/>
              </a:lnSpc>
            </a:pPr>
            <a:r>
              <a:rPr lang="en-US" b="1">
                <a:solidFill>
                  <a:srgbClr val="800000"/>
                </a:solidFill>
              </a:rPr>
              <a:t>first = second;</a:t>
            </a:r>
          </a:p>
          <a:p>
            <a:pPr eaLnBrk="0" hangingPunct="0">
              <a:lnSpc>
                <a:spcPct val="135000"/>
              </a:lnSpc>
            </a:pPr>
            <a:r>
              <a:rPr lang="en-US" b="1">
                <a:solidFill>
                  <a:srgbClr val="800000"/>
                </a:solidFill>
              </a:rPr>
              <a:t>second = temp;</a:t>
            </a:r>
          </a:p>
          <a:p>
            <a:pPr eaLnBrk="0" hangingPunct="0">
              <a:lnSpc>
                <a:spcPct val="135000"/>
              </a:lnSpc>
            </a:pPr>
            <a:r>
              <a:rPr lang="en-US" b="1">
                <a:solidFill>
                  <a:srgbClr val="800000"/>
                </a:solidFill>
              </a:rPr>
              <a:t>return(0);</a:t>
            </a:r>
          </a:p>
          <a:p>
            <a:pPr eaLnBrk="0" hangingPunct="0">
              <a:lnSpc>
                <a:spcPct val="135000"/>
              </a:lnSpc>
            </a:pPr>
            <a:r>
              <a:rPr lang="en-US" b="1">
                <a:solidFill>
                  <a:srgbClr val="800000"/>
                </a:solidFill>
              </a:rPr>
              <a:t>}</a:t>
            </a:r>
          </a:p>
          <a:p>
            <a:pPr eaLnBrk="0" hangingPunct="0">
              <a:lnSpc>
                <a:spcPct val="135000"/>
              </a:lnSpc>
            </a:pPr>
            <a:r>
              <a:rPr lang="en-US" b="1">
                <a:solidFill>
                  <a:srgbClr val="800000"/>
                </a:solidFill>
              </a:rPr>
              <a:t>int swap(int &amp;a,int &amp;</a:t>
            </a:r>
            <a:r>
              <a:rPr lang="en-US" sz="2400" b="1">
                <a:solidFill>
                  <a:srgbClr val="800000"/>
                </a:solidFill>
              </a:rPr>
              <a:t>b);</a:t>
            </a:r>
          </a:p>
        </p:txBody>
      </p:sp>
      <p:sp>
        <p:nvSpPr>
          <p:cNvPr id="8195" name="Rectangle 3"/>
          <p:cNvSpPr>
            <a:spLocks noChangeArrowheads="1"/>
          </p:cNvSpPr>
          <p:nvPr/>
        </p:nvSpPr>
        <p:spPr bwMode="auto">
          <a:xfrm>
            <a:off x="4572000" y="0"/>
            <a:ext cx="4572000" cy="6045200"/>
          </a:xfrm>
          <a:prstGeom prst="rect">
            <a:avLst/>
          </a:prstGeom>
          <a:noFill/>
          <a:ln w="9525">
            <a:solidFill>
              <a:srgbClr val="FF66CC"/>
            </a:solidFill>
            <a:miter lim="800000"/>
            <a:headEnd/>
            <a:tailEnd/>
          </a:ln>
        </p:spPr>
        <p:txBody>
          <a:bodyPr>
            <a:spAutoFit/>
          </a:bodyPr>
          <a:lstStyle/>
          <a:p>
            <a:pPr eaLnBrk="0" hangingPunct="0">
              <a:lnSpc>
                <a:spcPct val="135000"/>
              </a:lnSpc>
            </a:pPr>
            <a:r>
              <a:rPr lang="en-US" b="1">
                <a:solidFill>
                  <a:srgbClr val="800000"/>
                </a:solidFill>
              </a:rPr>
              <a:t>void main()</a:t>
            </a:r>
          </a:p>
          <a:p>
            <a:pPr eaLnBrk="0" hangingPunct="0">
              <a:lnSpc>
                <a:spcPct val="135000"/>
              </a:lnSpc>
            </a:pPr>
            <a:r>
              <a:rPr lang="en-US" b="1">
                <a:solidFill>
                  <a:srgbClr val="800000"/>
                </a:solidFill>
              </a:rPr>
              <a:t>{</a:t>
            </a:r>
          </a:p>
          <a:p>
            <a:pPr eaLnBrk="0" hangingPunct="0">
              <a:lnSpc>
                <a:spcPct val="135000"/>
              </a:lnSpc>
            </a:pPr>
            <a:r>
              <a:rPr lang="en-US" b="1">
                <a:solidFill>
                  <a:srgbClr val="800000"/>
                </a:solidFill>
              </a:rPr>
              <a:t>int ix,iy;</a:t>
            </a:r>
          </a:p>
          <a:p>
            <a:pPr eaLnBrk="0" hangingPunct="0">
              <a:lnSpc>
                <a:spcPct val="135000"/>
              </a:lnSpc>
            </a:pPr>
            <a:r>
              <a:rPr lang="en-US" b="1">
                <a:solidFill>
                  <a:srgbClr val="800000"/>
                </a:solidFill>
              </a:rPr>
              <a:t>float fx,fy;</a:t>
            </a:r>
          </a:p>
          <a:p>
            <a:pPr eaLnBrk="0" hangingPunct="0">
              <a:lnSpc>
                <a:spcPct val="135000"/>
              </a:lnSpc>
            </a:pPr>
            <a:r>
              <a:rPr lang="en-US" b="1">
                <a:solidFill>
                  <a:srgbClr val="800000"/>
                </a:solidFill>
              </a:rPr>
              <a:t>cout&lt;&lt;"Enter any twoNo \n";</a:t>
            </a:r>
          </a:p>
          <a:p>
            <a:pPr eaLnBrk="0" hangingPunct="0">
              <a:lnSpc>
                <a:spcPct val="135000"/>
              </a:lnSpc>
            </a:pPr>
            <a:r>
              <a:rPr lang="en-US" b="1">
                <a:solidFill>
                  <a:srgbClr val="800000"/>
                </a:solidFill>
              </a:rPr>
              <a:t>cin&gt;&gt;ix&gt;&gt;iy;</a:t>
            </a:r>
          </a:p>
          <a:p>
            <a:pPr eaLnBrk="0" hangingPunct="0">
              <a:lnSpc>
                <a:spcPct val="135000"/>
              </a:lnSpc>
            </a:pPr>
            <a:r>
              <a:rPr lang="en-US" b="1">
                <a:solidFill>
                  <a:srgbClr val="800000"/>
                </a:solidFill>
              </a:rPr>
              <a:t>cout&lt;&lt;"Enter any 2 Real No";</a:t>
            </a:r>
          </a:p>
          <a:p>
            <a:pPr eaLnBrk="0" hangingPunct="0">
              <a:lnSpc>
                <a:spcPct val="135000"/>
              </a:lnSpc>
            </a:pPr>
            <a:r>
              <a:rPr lang="en-US" b="1">
                <a:solidFill>
                  <a:srgbClr val="800000"/>
                </a:solidFill>
              </a:rPr>
              <a:t>cin&gt;&gt;fx&gt;&gt;fy;</a:t>
            </a:r>
          </a:p>
          <a:p>
            <a:pPr eaLnBrk="0" hangingPunct="0">
              <a:lnSpc>
                <a:spcPct val="135000"/>
              </a:lnSpc>
            </a:pPr>
            <a:r>
              <a:rPr lang="en-US" b="1">
                <a:solidFill>
                  <a:srgbClr val="800000"/>
                </a:solidFill>
              </a:rPr>
              <a:t>swap(ix,iy);</a:t>
            </a:r>
          </a:p>
          <a:p>
            <a:pPr eaLnBrk="0" hangingPunct="0">
              <a:lnSpc>
                <a:spcPct val="135000"/>
              </a:lnSpc>
            </a:pPr>
            <a:r>
              <a:rPr lang="en-US" b="1">
                <a:solidFill>
                  <a:srgbClr val="800000"/>
                </a:solidFill>
              </a:rPr>
              <a:t>cout&lt;&lt;"after swapping;</a:t>
            </a:r>
          </a:p>
          <a:p>
            <a:pPr eaLnBrk="0" hangingPunct="0">
              <a:lnSpc>
                <a:spcPct val="135000"/>
              </a:lnSpc>
            </a:pPr>
            <a:r>
              <a:rPr lang="en-US" b="1">
                <a:solidFill>
                  <a:srgbClr val="800000"/>
                </a:solidFill>
              </a:rPr>
              <a:t>cout&lt;&lt;ix &lt;&lt;iy;</a:t>
            </a:r>
          </a:p>
          <a:p>
            <a:pPr eaLnBrk="0" hangingPunct="0">
              <a:lnSpc>
                <a:spcPct val="135000"/>
              </a:lnSpc>
            </a:pPr>
            <a:r>
              <a:rPr lang="en-US" b="1">
                <a:solidFill>
                  <a:srgbClr val="800000"/>
                </a:solidFill>
              </a:rPr>
              <a:t>swap(fx,fy);</a:t>
            </a:r>
          </a:p>
          <a:p>
            <a:pPr eaLnBrk="0" hangingPunct="0">
              <a:lnSpc>
                <a:spcPct val="135000"/>
              </a:lnSpc>
            </a:pPr>
            <a:r>
              <a:rPr lang="en-US" b="1">
                <a:solidFill>
                  <a:srgbClr val="800000"/>
                </a:solidFill>
              </a:rPr>
              <a:t>cout&lt;&lt;"After swapping : cout&lt;&lt;fx &lt;&lt; fy&lt;&lt;endl;</a:t>
            </a:r>
          </a:p>
          <a:p>
            <a:pPr eaLnBrk="0" hangingPunct="0">
              <a:lnSpc>
                <a:spcPct val="135000"/>
              </a:lnSpc>
            </a:pPr>
            <a:r>
              <a:rPr lang="en-US" b="1">
                <a:solidFill>
                  <a:srgbClr val="800000"/>
                </a:solidFill>
              </a:rPr>
              <a:t>getch();</a:t>
            </a:r>
          </a:p>
          <a:p>
            <a:pPr eaLnBrk="0" hangingPunct="0">
              <a:lnSpc>
                <a:spcPct val="135000"/>
              </a:lnSpc>
            </a:pPr>
            <a:r>
              <a:rPr lang="en-US" b="1">
                <a:solidFill>
                  <a:srgbClr val="800000"/>
                </a:solidFill>
              </a:rPr>
              <a:t>}</a:t>
            </a:r>
          </a:p>
        </p:txBody>
      </p:sp>
    </p:spTree>
  </p:cSld>
  <p:clrMapOvr>
    <a:masterClrMapping/>
  </p:clrMapOvr>
  <p:timing>
    <p:tnLst>
      <p:par>
        <p:cTn id="1" dur="indefinite" restart="never" nodeType="tmRoot"/>
      </p:par>
    </p:tnLst>
  </p:timing>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ChangeArrowheads="1"/>
          </p:cNvSpPr>
          <p:nvPr/>
        </p:nvSpPr>
        <p:spPr bwMode="auto">
          <a:xfrm>
            <a:off x="0" y="0"/>
            <a:ext cx="3962400" cy="6624638"/>
          </a:xfrm>
          <a:prstGeom prst="rect">
            <a:avLst/>
          </a:prstGeom>
          <a:noFill/>
          <a:ln w="9525">
            <a:solidFill>
              <a:srgbClr val="990033"/>
            </a:solidFill>
            <a:miter lim="800000"/>
            <a:headEnd/>
            <a:tailEnd/>
          </a:ln>
        </p:spPr>
        <p:txBody>
          <a:bodyPr>
            <a:spAutoFit/>
          </a:bodyPr>
          <a:lstStyle/>
          <a:p>
            <a:pPr eaLnBrk="0" hangingPunct="0"/>
            <a:r>
              <a:rPr lang="en-US" sz="2800" b="1">
                <a:solidFill>
                  <a:srgbClr val="800000"/>
                </a:solidFill>
              </a:rPr>
              <a:t>Default Constructor</a:t>
            </a:r>
          </a:p>
          <a:p>
            <a:pPr eaLnBrk="0" hangingPunct="0"/>
            <a:r>
              <a:rPr lang="en-US" sz="2000" b="1">
                <a:solidFill>
                  <a:srgbClr val="800000"/>
                </a:solidFill>
              </a:rPr>
              <a:t>#include&lt;iostream.h&gt;</a:t>
            </a:r>
          </a:p>
          <a:p>
            <a:pPr eaLnBrk="0" hangingPunct="0"/>
            <a:r>
              <a:rPr lang="en-US" sz="2000" b="1">
                <a:solidFill>
                  <a:srgbClr val="800000"/>
                </a:solidFill>
              </a:rPr>
              <a:t>#include&lt;conio.h&gt;</a:t>
            </a:r>
          </a:p>
          <a:p>
            <a:pPr eaLnBrk="0" hangingPunct="0"/>
            <a:r>
              <a:rPr lang="en-US" sz="2000" b="1">
                <a:solidFill>
                  <a:srgbClr val="800000"/>
                </a:solidFill>
              </a:rPr>
              <a:t>template&lt;class T&gt;</a:t>
            </a:r>
          </a:p>
          <a:p>
            <a:pPr eaLnBrk="0" hangingPunct="0"/>
            <a:r>
              <a:rPr lang="en-US" sz="2000" b="1">
                <a:solidFill>
                  <a:srgbClr val="800000"/>
                </a:solidFill>
              </a:rPr>
              <a:t>class sample</a:t>
            </a:r>
          </a:p>
          <a:p>
            <a:pPr eaLnBrk="0" hangingPunct="0"/>
            <a:r>
              <a:rPr lang="en-US" sz="2000" b="1">
                <a:solidFill>
                  <a:srgbClr val="800000"/>
                </a:solidFill>
              </a:rPr>
              <a:t>{</a:t>
            </a:r>
          </a:p>
          <a:p>
            <a:pPr eaLnBrk="0" hangingPunct="0"/>
            <a:r>
              <a:rPr lang="en-US" sz="2000" b="1">
                <a:solidFill>
                  <a:srgbClr val="800000"/>
                </a:solidFill>
              </a:rPr>
              <a:t>private:</a:t>
            </a:r>
          </a:p>
          <a:p>
            <a:pPr eaLnBrk="0" hangingPunct="0"/>
            <a:r>
              <a:rPr lang="en-US" sz="2000" b="1">
                <a:solidFill>
                  <a:srgbClr val="800000"/>
                </a:solidFill>
              </a:rPr>
              <a:t>	T value;</a:t>
            </a:r>
          </a:p>
          <a:p>
            <a:pPr eaLnBrk="0" hangingPunct="0"/>
            <a:r>
              <a:rPr lang="en-US" sz="2000" b="1">
                <a:solidFill>
                  <a:srgbClr val="800000"/>
                </a:solidFill>
              </a:rPr>
              <a:t>public:</a:t>
            </a:r>
          </a:p>
          <a:p>
            <a:pPr eaLnBrk="0" hangingPunct="0"/>
            <a:r>
              <a:rPr lang="en-US" sz="2000" b="1">
                <a:solidFill>
                  <a:srgbClr val="800000"/>
                </a:solidFill>
              </a:rPr>
              <a:t>	sample(T=0)</a:t>
            </a:r>
          </a:p>
          <a:p>
            <a:pPr eaLnBrk="0" hangingPunct="0"/>
            <a:r>
              <a:rPr lang="en-US" sz="2000" b="1">
                <a:solidFill>
                  <a:srgbClr val="800000"/>
                </a:solidFill>
              </a:rPr>
              <a:t>{</a:t>
            </a:r>
          </a:p>
          <a:p>
            <a:pPr eaLnBrk="0" hangingPunct="0"/>
            <a:r>
              <a:rPr lang="en-US" sz="2000" b="1">
                <a:solidFill>
                  <a:srgbClr val="800000"/>
                </a:solidFill>
              </a:rPr>
              <a:t>}</a:t>
            </a:r>
          </a:p>
          <a:p>
            <a:pPr eaLnBrk="0" hangingPunct="0"/>
            <a:r>
              <a:rPr lang="en-US" sz="2000" b="1">
                <a:solidFill>
                  <a:srgbClr val="800000"/>
                </a:solidFill>
              </a:rPr>
              <a:t>void display()</a:t>
            </a:r>
          </a:p>
          <a:p>
            <a:pPr eaLnBrk="0" hangingPunct="0"/>
            <a:r>
              <a:rPr lang="en-US" sz="2000" b="1">
                <a:solidFill>
                  <a:srgbClr val="800000"/>
                </a:solidFill>
              </a:rPr>
              <a:t>{</a:t>
            </a:r>
          </a:p>
          <a:p>
            <a:pPr eaLnBrk="0" hangingPunct="0"/>
            <a:r>
              <a:rPr lang="en-US" sz="2000" b="1">
                <a:solidFill>
                  <a:srgbClr val="800000"/>
                </a:solidFill>
              </a:rPr>
              <a:t>cout&lt;&lt;"default constructor is called"&lt;&lt;endl;</a:t>
            </a:r>
          </a:p>
          <a:p>
            <a:pPr eaLnBrk="0" hangingPunct="0"/>
            <a:r>
              <a:rPr lang="en-US" sz="2000" b="1">
                <a:solidFill>
                  <a:srgbClr val="800000"/>
                </a:solidFill>
              </a:rPr>
              <a:t>cout&lt;&lt;"Content of the value "&lt;&lt;value&lt;&lt;endl;</a:t>
            </a:r>
          </a:p>
          <a:p>
            <a:pPr eaLnBrk="0" hangingPunct="0"/>
            <a:r>
              <a:rPr lang="en-US" sz="2000" b="1">
                <a:solidFill>
                  <a:srgbClr val="800000"/>
                </a:solidFill>
              </a:rPr>
              <a:t>}</a:t>
            </a:r>
          </a:p>
          <a:p>
            <a:pPr eaLnBrk="0" hangingPunct="0"/>
            <a:r>
              <a:rPr lang="en-US" sz="2000" b="1">
                <a:solidFill>
                  <a:srgbClr val="800000"/>
                </a:solidFill>
              </a:rPr>
              <a:t>};</a:t>
            </a:r>
          </a:p>
          <a:p>
            <a:pPr eaLnBrk="0" hangingPunct="0"/>
            <a:endParaRPr lang="en-US" sz="2000" b="1">
              <a:solidFill>
                <a:srgbClr val="800000"/>
              </a:solidFill>
            </a:endParaRPr>
          </a:p>
        </p:txBody>
      </p:sp>
      <p:sp>
        <p:nvSpPr>
          <p:cNvPr id="9219" name="Rectangle 3"/>
          <p:cNvSpPr>
            <a:spLocks noChangeArrowheads="1"/>
          </p:cNvSpPr>
          <p:nvPr/>
        </p:nvSpPr>
        <p:spPr bwMode="auto">
          <a:xfrm>
            <a:off x="4114800" y="0"/>
            <a:ext cx="4572000" cy="5892800"/>
          </a:xfrm>
          <a:prstGeom prst="rect">
            <a:avLst/>
          </a:prstGeom>
          <a:noFill/>
          <a:ln w="9525">
            <a:solidFill>
              <a:srgbClr val="990033"/>
            </a:solidFill>
            <a:miter lim="800000"/>
            <a:headEnd/>
            <a:tailEnd/>
          </a:ln>
        </p:spPr>
        <p:txBody>
          <a:bodyPr>
            <a:spAutoFit/>
          </a:bodyPr>
          <a:lstStyle/>
          <a:p>
            <a:pPr eaLnBrk="0" hangingPunct="0"/>
            <a:r>
              <a:rPr lang="en-US" sz="2000" b="1">
                <a:solidFill>
                  <a:srgbClr val="800000"/>
                </a:solidFill>
              </a:rPr>
              <a:t>void main()</a:t>
            </a:r>
          </a:p>
          <a:p>
            <a:pPr eaLnBrk="0" hangingPunct="0"/>
            <a:r>
              <a:rPr lang="en-US" sz="2000" b="1">
                <a:solidFill>
                  <a:srgbClr val="800000"/>
                </a:solidFill>
              </a:rPr>
              <a:t>{</a:t>
            </a:r>
          </a:p>
          <a:p>
            <a:pPr eaLnBrk="0" hangingPunct="0"/>
            <a:r>
              <a:rPr lang="en-US" sz="2000" b="1">
                <a:solidFill>
                  <a:srgbClr val="800000"/>
                </a:solidFill>
              </a:rPr>
              <a:t>clrscr();</a:t>
            </a:r>
          </a:p>
          <a:p>
            <a:pPr eaLnBrk="0" hangingPunct="0"/>
            <a:r>
              <a:rPr lang="en-US" sz="2000" b="1">
                <a:solidFill>
                  <a:srgbClr val="800000"/>
                </a:solidFill>
              </a:rPr>
              <a:t>sample&lt;int&gt; obj1;</a:t>
            </a:r>
          </a:p>
          <a:p>
            <a:pPr eaLnBrk="0" hangingPunct="0"/>
            <a:r>
              <a:rPr lang="en-US" sz="2000" b="1">
                <a:solidFill>
                  <a:srgbClr val="800000"/>
                </a:solidFill>
              </a:rPr>
              <a:t>obj1.display();</a:t>
            </a:r>
          </a:p>
          <a:p>
            <a:pPr eaLnBrk="0" hangingPunct="0"/>
            <a:r>
              <a:rPr lang="en-US" sz="2000" b="1">
                <a:solidFill>
                  <a:srgbClr val="800000"/>
                </a:solidFill>
              </a:rPr>
              <a:t>sample&lt;int&gt; obj2;</a:t>
            </a:r>
          </a:p>
          <a:p>
            <a:pPr eaLnBrk="0" hangingPunct="0"/>
            <a:r>
              <a:rPr lang="en-US" sz="2000" b="1">
                <a:solidFill>
                  <a:srgbClr val="800000"/>
                </a:solidFill>
              </a:rPr>
              <a:t>obj2.display();</a:t>
            </a:r>
          </a:p>
          <a:p>
            <a:pPr eaLnBrk="0" hangingPunct="0"/>
            <a:r>
              <a:rPr lang="en-US" sz="2000" b="1">
                <a:solidFill>
                  <a:srgbClr val="800000"/>
                </a:solidFill>
              </a:rPr>
              <a:t>getch();</a:t>
            </a:r>
          </a:p>
          <a:p>
            <a:pPr eaLnBrk="0" hangingPunct="0"/>
            <a:r>
              <a:rPr lang="en-US" sz="2000" b="1">
                <a:solidFill>
                  <a:srgbClr val="800000"/>
                </a:solidFill>
              </a:rPr>
              <a:t>}</a:t>
            </a:r>
          </a:p>
          <a:p>
            <a:pPr eaLnBrk="0" hangingPunct="0"/>
            <a:endParaRPr lang="en-US" sz="2000" b="1">
              <a:solidFill>
                <a:srgbClr val="800000"/>
              </a:solidFill>
            </a:endParaRPr>
          </a:p>
          <a:p>
            <a:pPr eaLnBrk="0" hangingPunct="0"/>
            <a:r>
              <a:rPr lang="en-US" sz="2000" b="1">
                <a:solidFill>
                  <a:srgbClr val="800000"/>
                </a:solidFill>
              </a:rPr>
              <a:t>//it prints the ascii value of the int and float.</a:t>
            </a:r>
          </a:p>
          <a:p>
            <a:pPr eaLnBrk="0" hangingPunct="0"/>
            <a:endParaRPr lang="en-US" sz="2000" b="1">
              <a:solidFill>
                <a:srgbClr val="800000"/>
              </a:solidFill>
            </a:endParaRPr>
          </a:p>
          <a:p>
            <a:pPr eaLnBrk="0" hangingPunct="0"/>
            <a:r>
              <a:rPr lang="en-US" sz="2000" b="1">
                <a:solidFill>
                  <a:srgbClr val="800000"/>
                </a:solidFill>
              </a:rPr>
              <a:t>Overloading   -&gt; We have to pass a value for the variable and have to</a:t>
            </a:r>
          </a:p>
          <a:p>
            <a:pPr eaLnBrk="0" hangingPunct="0"/>
            <a:r>
              <a:rPr lang="en-US" sz="2000" b="1">
                <a:solidFill>
                  <a:srgbClr val="800000"/>
                </a:solidFill>
              </a:rPr>
              <a:t>implement</a:t>
            </a:r>
          </a:p>
          <a:p>
            <a:pPr eaLnBrk="0" hangingPunct="0"/>
            <a:endParaRPr lang="en-US" sz="2000" b="1">
              <a:solidFill>
                <a:srgbClr val="800000"/>
              </a:solidFill>
            </a:endParaRPr>
          </a:p>
          <a:p>
            <a:pPr eaLnBrk="0" hangingPunct="0"/>
            <a:r>
              <a:rPr lang="en-US" sz="2000" b="1">
                <a:solidFill>
                  <a:srgbClr val="800000"/>
                </a:solidFill>
              </a:rPr>
              <a:t>Overriding -&gt; To overwrite the method or function. </a:t>
            </a:r>
          </a:p>
        </p:txBody>
      </p:sp>
    </p:spTree>
  </p:cSld>
  <p:clrMapOvr>
    <a:masterClrMapping/>
  </p:clrMapOvr>
  <p:timing>
    <p:tnLst>
      <p:par>
        <p:cTn id="1" dur="indefinite" restart="never" nodeType="tmRoot"/>
      </p:par>
    </p:tnLst>
  </p:timing>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ChangeArrowheads="1"/>
          </p:cNvSpPr>
          <p:nvPr/>
        </p:nvSpPr>
        <p:spPr bwMode="auto">
          <a:xfrm>
            <a:off x="0" y="0"/>
            <a:ext cx="9144000" cy="6802438"/>
          </a:xfrm>
          <a:prstGeom prst="rect">
            <a:avLst/>
          </a:prstGeom>
          <a:noFill/>
          <a:ln w="9525">
            <a:solidFill>
              <a:srgbClr val="990033"/>
            </a:solidFill>
            <a:miter lim="800000"/>
            <a:headEnd/>
            <a:tailEnd/>
          </a:ln>
        </p:spPr>
        <p:txBody>
          <a:bodyPr>
            <a:spAutoFit/>
          </a:bodyPr>
          <a:lstStyle/>
          <a:p>
            <a:pPr eaLnBrk="0" hangingPunct="0"/>
            <a:r>
              <a:rPr lang="en-US" sz="2800" b="1" u="sng">
                <a:solidFill>
                  <a:srgbClr val="800000"/>
                </a:solidFill>
              </a:rPr>
              <a:t>Class Template</a:t>
            </a:r>
          </a:p>
          <a:p>
            <a:pPr eaLnBrk="0" hangingPunct="0"/>
            <a:r>
              <a:rPr lang="en-US" sz="2400" b="1">
                <a:solidFill>
                  <a:srgbClr val="800000"/>
                </a:solidFill>
              </a:rPr>
              <a:t>#include&lt;iostream.h&gt;</a:t>
            </a:r>
          </a:p>
          <a:p>
            <a:pPr eaLnBrk="0" hangingPunct="0"/>
            <a:r>
              <a:rPr lang="en-US" sz="2400" b="1">
                <a:solidFill>
                  <a:srgbClr val="800000"/>
                </a:solidFill>
              </a:rPr>
              <a:t>template&lt;class q&gt;</a:t>
            </a:r>
          </a:p>
          <a:p>
            <a:pPr eaLnBrk="0" hangingPunct="0"/>
            <a:r>
              <a:rPr lang="en-US" sz="2400" b="1">
                <a:solidFill>
                  <a:srgbClr val="800000"/>
                </a:solidFill>
              </a:rPr>
              <a:t>class sample</a:t>
            </a:r>
          </a:p>
          <a:p>
            <a:pPr eaLnBrk="0" hangingPunct="0"/>
            <a:r>
              <a:rPr lang="en-US" sz="2400" b="1">
                <a:solidFill>
                  <a:srgbClr val="800000"/>
                </a:solidFill>
              </a:rPr>
              <a:t>{</a:t>
            </a:r>
          </a:p>
          <a:p>
            <a:pPr eaLnBrk="0" hangingPunct="0"/>
            <a:r>
              <a:rPr lang="en-US" sz="2400" b="1">
                <a:solidFill>
                  <a:srgbClr val="800000"/>
                </a:solidFill>
              </a:rPr>
              <a:t>private:</a:t>
            </a:r>
          </a:p>
          <a:p>
            <a:pPr eaLnBrk="0" hangingPunct="0"/>
            <a:r>
              <a:rPr lang="en-US" sz="2400" b="1">
                <a:solidFill>
                  <a:srgbClr val="800000"/>
                </a:solidFill>
              </a:rPr>
              <a:t>q value,value1,value2;</a:t>
            </a:r>
          </a:p>
          <a:p>
            <a:pPr eaLnBrk="0" hangingPunct="0"/>
            <a:r>
              <a:rPr lang="en-US" sz="2400" b="1">
                <a:solidFill>
                  <a:srgbClr val="800000"/>
                </a:solidFill>
              </a:rPr>
              <a:t>public:</a:t>
            </a:r>
          </a:p>
          <a:p>
            <a:pPr eaLnBrk="0" hangingPunct="0"/>
            <a:r>
              <a:rPr lang="en-US" sz="2400" b="1">
                <a:solidFill>
                  <a:srgbClr val="800000"/>
                </a:solidFill>
              </a:rPr>
              <a:t>get();</a:t>
            </a:r>
          </a:p>
          <a:p>
            <a:pPr eaLnBrk="0" hangingPunct="0"/>
            <a:r>
              <a:rPr lang="en-US" sz="2400" b="1">
                <a:solidFill>
                  <a:srgbClr val="800000"/>
                </a:solidFill>
              </a:rPr>
              <a:t>sum();</a:t>
            </a:r>
          </a:p>
          <a:p>
            <a:pPr eaLnBrk="0" hangingPunct="0"/>
            <a:r>
              <a:rPr lang="en-US" sz="2400" b="1">
                <a:solidFill>
                  <a:srgbClr val="800000"/>
                </a:solidFill>
              </a:rPr>
              <a:t>}</a:t>
            </a:r>
          </a:p>
          <a:p>
            <a:pPr eaLnBrk="0" hangingPunct="0"/>
            <a:r>
              <a:rPr lang="en-US" sz="2400" b="1">
                <a:solidFill>
                  <a:srgbClr val="800000"/>
                </a:solidFill>
              </a:rPr>
              <a:t>template &lt;class q&gt;</a:t>
            </a:r>
          </a:p>
          <a:p>
            <a:pPr eaLnBrk="0" hangingPunct="0"/>
            <a:r>
              <a:rPr lang="en-US" sz="2400" b="1">
                <a:solidFill>
                  <a:srgbClr val="800000"/>
                </a:solidFill>
              </a:rPr>
              <a:t>void sample&lt;q&gt;::get()</a:t>
            </a:r>
          </a:p>
          <a:p>
            <a:pPr eaLnBrk="0" hangingPunct="0"/>
            <a:r>
              <a:rPr lang="en-US" sz="2400" b="1">
                <a:solidFill>
                  <a:srgbClr val="800000"/>
                </a:solidFill>
              </a:rPr>
              <a:t>{</a:t>
            </a:r>
          </a:p>
          <a:p>
            <a:pPr eaLnBrk="0" hangingPunct="0"/>
            <a:r>
              <a:rPr lang="en-US" sz="2400" b="1">
                <a:solidFill>
                  <a:srgbClr val="800000"/>
                </a:solidFill>
              </a:rPr>
              <a:t>cout&lt;&lt;"Enter a value for the value1"&lt;&lt;endl;</a:t>
            </a:r>
          </a:p>
          <a:p>
            <a:pPr eaLnBrk="0" hangingPunct="0"/>
            <a:r>
              <a:rPr lang="en-US" sz="2400" b="1">
                <a:solidFill>
                  <a:srgbClr val="800000"/>
                </a:solidFill>
              </a:rPr>
              <a:t>cin&gt;&gt;value1;</a:t>
            </a:r>
          </a:p>
          <a:p>
            <a:pPr eaLnBrk="0" hangingPunct="0"/>
            <a:r>
              <a:rPr lang="en-US" sz="2400" b="1">
                <a:solidFill>
                  <a:srgbClr val="800000"/>
                </a:solidFill>
              </a:rPr>
              <a:t>cout&lt;&lt;"Enter a value for the value2"&lt;&lt;endl;</a:t>
            </a:r>
          </a:p>
          <a:p>
            <a:pPr eaLnBrk="0" hangingPunct="0"/>
            <a:r>
              <a:rPr lang="en-US" sz="2400" b="1">
                <a:solidFill>
                  <a:srgbClr val="800000"/>
                </a:solidFill>
              </a:rPr>
              <a:t>cin&gt;&gt;value2;</a:t>
            </a:r>
          </a:p>
        </p:txBody>
      </p:sp>
    </p:spTree>
  </p:cSld>
  <p:clrMapOvr>
    <a:masterClrMapping/>
  </p:clrMapOvr>
  <p:timing>
    <p:tnLst>
      <p:par>
        <p:cTn id="1" dur="indefinite" restart="never" nodeType="tmRoot"/>
      </p:par>
    </p:tnLst>
  </p:timing>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ChangeArrowheads="1"/>
          </p:cNvSpPr>
          <p:nvPr/>
        </p:nvSpPr>
        <p:spPr bwMode="auto">
          <a:xfrm>
            <a:off x="0" y="0"/>
            <a:ext cx="4267200" cy="5632450"/>
          </a:xfrm>
          <a:prstGeom prst="rect">
            <a:avLst/>
          </a:prstGeom>
          <a:noFill/>
          <a:ln w="9525">
            <a:solidFill>
              <a:srgbClr val="00FFFF"/>
            </a:solidFill>
            <a:miter lim="800000"/>
            <a:headEnd/>
            <a:tailEnd/>
          </a:ln>
        </p:spPr>
        <p:txBody>
          <a:bodyPr>
            <a:spAutoFit/>
          </a:bodyPr>
          <a:lstStyle/>
          <a:p>
            <a:pPr eaLnBrk="0" hangingPunct="0"/>
            <a:r>
              <a:rPr lang="en-US" sz="2400" b="1">
                <a:solidFill>
                  <a:srgbClr val="800000"/>
                </a:solidFill>
              </a:rPr>
              <a:t>}</a:t>
            </a:r>
          </a:p>
          <a:p>
            <a:pPr eaLnBrk="0" hangingPunct="0"/>
            <a:r>
              <a:rPr lang="en-US" sz="2400" b="1">
                <a:solidFill>
                  <a:srgbClr val="800000"/>
                </a:solidFill>
              </a:rPr>
              <a:t>}</a:t>
            </a:r>
          </a:p>
          <a:p>
            <a:pPr eaLnBrk="0" hangingPunct="0"/>
            <a:r>
              <a:rPr lang="en-US" sz="2400" b="1">
                <a:solidFill>
                  <a:srgbClr val="800000"/>
                </a:solidFill>
              </a:rPr>
              <a:t>template&lt;class q&gt;</a:t>
            </a:r>
          </a:p>
          <a:p>
            <a:pPr eaLnBrk="0" hangingPunct="0"/>
            <a:r>
              <a:rPr lang="en-US" sz="2400" b="1">
                <a:solidFill>
                  <a:srgbClr val="800000"/>
                </a:solidFill>
              </a:rPr>
              <a:t>void sample&lt;q&gt;::sum()</a:t>
            </a:r>
          </a:p>
          <a:p>
            <a:pPr eaLnBrk="0" hangingPunct="0"/>
            <a:r>
              <a:rPr lang="en-US" sz="2400" b="1">
                <a:solidFill>
                  <a:srgbClr val="800000"/>
                </a:solidFill>
              </a:rPr>
              <a:t>{</a:t>
            </a:r>
          </a:p>
          <a:p>
            <a:pPr eaLnBrk="0" hangingPunct="0"/>
            <a:r>
              <a:rPr lang="en-US" sz="2400" b="1">
                <a:solidFill>
                  <a:srgbClr val="800000"/>
                </a:solidFill>
              </a:rPr>
              <a:t>value=value1+value2;</a:t>
            </a:r>
          </a:p>
          <a:p>
            <a:pPr eaLnBrk="0" hangingPunct="0"/>
            <a:r>
              <a:rPr lang="en-US" sz="2400" b="1">
                <a:solidFill>
                  <a:srgbClr val="800000"/>
                </a:solidFill>
              </a:rPr>
              <a:t>cout&lt;&lt;"The added value is"&lt;&lt;value&lt;&lt;endl;</a:t>
            </a:r>
          </a:p>
          <a:p>
            <a:pPr eaLnBrk="0" hangingPunct="0"/>
            <a:r>
              <a:rPr lang="en-US" sz="2400" b="1">
                <a:solidFill>
                  <a:srgbClr val="800000"/>
                </a:solidFill>
              </a:rPr>
              <a:t>}</a:t>
            </a:r>
          </a:p>
          <a:p>
            <a:pPr eaLnBrk="0" hangingPunct="0"/>
            <a:r>
              <a:rPr lang="en-US" sz="2400" b="1">
                <a:solidFill>
                  <a:srgbClr val="800000"/>
                </a:solidFill>
              </a:rPr>
              <a:t>};</a:t>
            </a:r>
          </a:p>
          <a:p>
            <a:pPr eaLnBrk="0" hangingPunct="0"/>
            <a:r>
              <a:rPr lang="en-US" sz="2400" b="1">
                <a:solidFill>
                  <a:srgbClr val="800000"/>
                </a:solidFill>
              </a:rPr>
              <a:t>void main()</a:t>
            </a:r>
          </a:p>
          <a:p>
            <a:pPr eaLnBrk="0" hangingPunct="0"/>
            <a:r>
              <a:rPr lang="en-US" sz="2400" b="1">
                <a:solidFill>
                  <a:srgbClr val="800000"/>
                </a:solidFill>
              </a:rPr>
              <a:t>{</a:t>
            </a:r>
          </a:p>
          <a:p>
            <a:pPr eaLnBrk="0" hangingPunct="0"/>
            <a:r>
              <a:rPr lang="en-US" sz="2400" b="1">
                <a:solidFill>
                  <a:srgbClr val="800000"/>
                </a:solidFill>
              </a:rPr>
              <a:t>clrscr();</a:t>
            </a:r>
          </a:p>
          <a:p>
            <a:pPr eaLnBrk="0" hangingPunct="0"/>
            <a:r>
              <a:rPr lang="en-US" sz="2400" b="1">
                <a:solidFill>
                  <a:srgbClr val="800000"/>
                </a:solidFill>
              </a:rPr>
              <a:t>sample&lt;int&gt;obj1;</a:t>
            </a:r>
          </a:p>
          <a:p>
            <a:pPr eaLnBrk="0" hangingPunct="0"/>
            <a:r>
              <a:rPr lang="en-US" sz="2400" b="1">
                <a:solidFill>
                  <a:srgbClr val="800000"/>
                </a:solidFill>
              </a:rPr>
              <a:t>sample&lt;float&gt;obj2;</a:t>
            </a:r>
          </a:p>
        </p:txBody>
      </p:sp>
      <p:sp>
        <p:nvSpPr>
          <p:cNvPr id="11267" name="Rectangle 3"/>
          <p:cNvSpPr>
            <a:spLocks noChangeArrowheads="1"/>
          </p:cNvSpPr>
          <p:nvPr/>
        </p:nvSpPr>
        <p:spPr bwMode="auto">
          <a:xfrm>
            <a:off x="4267200" y="76200"/>
            <a:ext cx="4876800" cy="3752850"/>
          </a:xfrm>
          <a:prstGeom prst="rect">
            <a:avLst/>
          </a:prstGeom>
          <a:noFill/>
          <a:ln w="9525">
            <a:solidFill>
              <a:srgbClr val="00FFFF"/>
            </a:solidFill>
            <a:miter lim="800000"/>
            <a:headEnd/>
            <a:tailEnd/>
          </a:ln>
        </p:spPr>
        <p:txBody>
          <a:bodyPr>
            <a:spAutoFit/>
          </a:bodyPr>
          <a:lstStyle/>
          <a:p>
            <a:pPr eaLnBrk="0" hangingPunct="0"/>
            <a:r>
              <a:rPr lang="en-US" sz="2400" b="1">
                <a:solidFill>
                  <a:srgbClr val="800000"/>
                </a:solidFill>
              </a:rPr>
              <a:t>cout&lt;&lt;"Enter the integer value"&lt;&lt;endl;</a:t>
            </a:r>
          </a:p>
          <a:p>
            <a:pPr eaLnBrk="0" hangingPunct="0"/>
            <a:r>
              <a:rPr lang="en-US" sz="2400" b="1">
                <a:solidFill>
                  <a:srgbClr val="800000"/>
                </a:solidFill>
              </a:rPr>
              <a:t>obj1.get();</a:t>
            </a:r>
          </a:p>
          <a:p>
            <a:pPr eaLnBrk="0" hangingPunct="0"/>
            <a:r>
              <a:rPr lang="en-US" sz="2400" b="1">
                <a:solidFill>
                  <a:srgbClr val="800000"/>
                </a:solidFill>
              </a:rPr>
              <a:t>obj1.sum();</a:t>
            </a:r>
          </a:p>
          <a:p>
            <a:pPr eaLnBrk="0" hangingPunct="0"/>
            <a:r>
              <a:rPr lang="en-US" sz="2400" b="1">
                <a:solidFill>
                  <a:srgbClr val="800000"/>
                </a:solidFill>
              </a:rPr>
              <a:t>cout&lt;&lt;"Enter the floating value"&lt;&lt;endl;</a:t>
            </a:r>
          </a:p>
          <a:p>
            <a:pPr eaLnBrk="0" hangingPunct="0"/>
            <a:r>
              <a:rPr lang="en-US" sz="2400" b="1">
                <a:solidFill>
                  <a:srgbClr val="800000"/>
                </a:solidFill>
              </a:rPr>
              <a:t>obj2.get();</a:t>
            </a:r>
          </a:p>
          <a:p>
            <a:pPr eaLnBrk="0" hangingPunct="0"/>
            <a:r>
              <a:rPr lang="en-US" sz="2400" b="1">
                <a:solidFill>
                  <a:srgbClr val="800000"/>
                </a:solidFill>
              </a:rPr>
              <a:t>obj2.sum();</a:t>
            </a:r>
          </a:p>
          <a:p>
            <a:pPr eaLnBrk="0" hangingPunct="0"/>
            <a:r>
              <a:rPr lang="en-US" sz="2400" b="1">
                <a:solidFill>
                  <a:srgbClr val="800000"/>
                </a:solidFill>
              </a:rPr>
              <a:t>getch();</a:t>
            </a:r>
          </a:p>
          <a:p>
            <a:pPr eaLnBrk="0" hangingPunct="0"/>
            <a:r>
              <a:rPr lang="en-US" sz="2400" b="1">
                <a:solidFill>
                  <a:srgbClr val="800000"/>
                </a:solidFill>
              </a:rPr>
              <a:t>}</a:t>
            </a:r>
          </a:p>
        </p:txBody>
      </p:sp>
    </p:spTree>
  </p:cSld>
  <p:clrMapOvr>
    <a:masterClrMapping/>
  </p:clrMapOvr>
  <p:timing>
    <p:tnLst>
      <p:par>
        <p:cTn id="1" dur="indefinite" restart="never" nodeType="tmRoot"/>
      </p:par>
    </p:tnLst>
  </p:timing>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p:cNvSpPr txBox="1">
            <a:spLocks noChangeArrowheads="1"/>
          </p:cNvSpPr>
          <p:nvPr/>
        </p:nvSpPr>
        <p:spPr bwMode="auto">
          <a:xfrm>
            <a:off x="166688" y="1190625"/>
            <a:ext cx="8534400" cy="4813300"/>
          </a:xfrm>
          <a:prstGeom prst="rect">
            <a:avLst/>
          </a:prstGeom>
          <a:noFill/>
          <a:ln w="9525">
            <a:noFill/>
            <a:miter lim="800000"/>
            <a:headEnd/>
            <a:tailEnd/>
          </a:ln>
        </p:spPr>
        <p:txBody>
          <a:bodyPr>
            <a:spAutoFit/>
          </a:bodyPr>
          <a:lstStyle/>
          <a:p>
            <a:pPr algn="just" eaLnBrk="0" hangingPunct="0">
              <a:lnSpc>
                <a:spcPct val="130000"/>
              </a:lnSpc>
              <a:spcAft>
                <a:spcPct val="50000"/>
              </a:spcAft>
              <a:buFont typeface="Wingdings" pitchFamily="2" charset="2"/>
              <a:buChar char="ü"/>
            </a:pPr>
            <a:r>
              <a:rPr lang="en-US" sz="2800" b="1">
                <a:solidFill>
                  <a:srgbClr val="000099"/>
                </a:solidFill>
                <a:latin typeface="Times New Roman" pitchFamily="18" charset="0"/>
              </a:rPr>
              <a:t>  </a:t>
            </a:r>
            <a:r>
              <a:rPr lang="en-US" sz="2600" b="1">
                <a:solidFill>
                  <a:srgbClr val="800000"/>
                </a:solidFill>
                <a:latin typeface="Times New Roman" pitchFamily="18" charset="0"/>
              </a:rPr>
              <a:t>A generic function defines a general set of operations that will be applied to various types of data that a function will operate upon.</a:t>
            </a:r>
          </a:p>
          <a:p>
            <a:pPr algn="just" eaLnBrk="0" hangingPunct="0">
              <a:lnSpc>
                <a:spcPct val="130000"/>
              </a:lnSpc>
              <a:spcAft>
                <a:spcPct val="50000"/>
              </a:spcAft>
              <a:buFont typeface="Wingdings" pitchFamily="2" charset="2"/>
              <a:buChar char="ü"/>
            </a:pPr>
            <a:r>
              <a:rPr lang="en-US" sz="2600" b="1">
                <a:solidFill>
                  <a:srgbClr val="800000"/>
                </a:solidFill>
                <a:latin typeface="Times New Roman" pitchFamily="18" charset="0"/>
              </a:rPr>
              <a:t>A generic class defines the algorithm that specifies the actual type of data when objects of that class are created</a:t>
            </a:r>
          </a:p>
          <a:p>
            <a:pPr algn="just" eaLnBrk="0" hangingPunct="0">
              <a:lnSpc>
                <a:spcPct val="130000"/>
              </a:lnSpc>
              <a:spcAft>
                <a:spcPct val="50000"/>
              </a:spcAft>
              <a:buFont typeface="Wingdings" pitchFamily="2" charset="2"/>
              <a:buChar char="ü"/>
            </a:pPr>
            <a:r>
              <a:rPr lang="en-US" sz="2600" b="1">
                <a:solidFill>
                  <a:srgbClr val="800000"/>
                </a:solidFill>
                <a:latin typeface="Times New Roman" pitchFamily="18" charset="0"/>
              </a:rPr>
              <a:t>A generic class and a generic function is created using the keyword “template”</a:t>
            </a:r>
          </a:p>
          <a:p>
            <a:pPr algn="just" eaLnBrk="0" hangingPunct="0">
              <a:lnSpc>
                <a:spcPct val="130000"/>
              </a:lnSpc>
              <a:spcAft>
                <a:spcPct val="50000"/>
              </a:spcAft>
              <a:buFont typeface="Wingdings" pitchFamily="2" charset="2"/>
              <a:buChar char="ü"/>
            </a:pPr>
            <a:r>
              <a:rPr lang="en-US">
                <a:solidFill>
                  <a:srgbClr val="800000"/>
                </a:solidFill>
                <a:latin typeface="Verdana" pitchFamily="34" charset="0"/>
              </a:rPr>
              <a:t> </a:t>
            </a:r>
            <a:r>
              <a:rPr lang="en-US" sz="2400" b="1">
                <a:solidFill>
                  <a:srgbClr val="800000"/>
                </a:solidFill>
                <a:latin typeface="Times New Roman" pitchFamily="18" charset="0"/>
              </a:rPr>
              <a:t>Rules to be followed for all programs written in C</a:t>
            </a:r>
          </a:p>
        </p:txBody>
      </p:sp>
      <p:sp>
        <p:nvSpPr>
          <p:cNvPr id="12291" name="WordArt 3"/>
          <p:cNvSpPr>
            <a:spLocks noChangeArrowheads="1" noChangeShapeType="1" noTextEdit="1"/>
          </p:cNvSpPr>
          <p:nvPr/>
        </p:nvSpPr>
        <p:spPr bwMode="auto">
          <a:xfrm>
            <a:off x="2819400" y="152400"/>
            <a:ext cx="3200400" cy="914400"/>
          </a:xfrm>
          <a:prstGeom prst="rect">
            <a:avLst/>
          </a:prstGeom>
        </p:spPr>
        <p:txBody>
          <a:bodyPr wrap="none" fromWordArt="1">
            <a:prstTxWarp prst="textCanUp">
              <a:avLst>
                <a:gd name="adj" fmla="val 85713"/>
              </a:avLst>
            </a:prstTxWarp>
          </a:bodyPr>
          <a:lstStyle/>
          <a:p>
            <a:pPr algn="ctr"/>
            <a:r>
              <a:rPr lang="en-IN"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a:rPr>
              <a:t>Summary</a:t>
            </a:r>
          </a:p>
        </p:txBody>
      </p:sp>
      <p:sp>
        <p:nvSpPr>
          <p:cNvPr id="12292" name="Rectangle 4"/>
          <p:cNvSpPr>
            <a:spLocks noChangeArrowheads="1"/>
          </p:cNvSpPr>
          <p:nvPr/>
        </p:nvSpPr>
        <p:spPr bwMode="auto">
          <a:xfrm>
            <a:off x="104775" y="1052513"/>
            <a:ext cx="8763000" cy="5195887"/>
          </a:xfrm>
          <a:prstGeom prst="rect">
            <a:avLst/>
          </a:prstGeom>
          <a:noFill/>
          <a:ln w="57150" cmpd="thickThin">
            <a:solidFill>
              <a:srgbClr val="990033"/>
            </a:solidFill>
            <a:miter lim="800000"/>
            <a:headEnd/>
            <a:tailEnd/>
          </a:ln>
        </p:spPr>
        <p:txBody>
          <a:bodyPr wrap="none" anchor="ctr"/>
          <a:lstStyle/>
          <a:p>
            <a:pPr algn="ctr" eaLnBrk="0" hangingPunct="0"/>
            <a:endParaRPr lang="en-US">
              <a:solidFill>
                <a:srgbClr val="800000"/>
              </a:solidFill>
              <a:latin typeface="Verdana" pitchFamily="34" charset="0"/>
            </a:endParaRPr>
          </a:p>
        </p:txBody>
      </p:sp>
    </p:spTree>
  </p:cSld>
  <p:clrMapOvr>
    <a:masterClrMapping/>
  </p:clrMapOvr>
  <p:timing>
    <p:tnLst>
      <p:par>
        <p:cTn id="1" dur="indefinite" restart="never" nodeType="tmRoot"/>
      </p:par>
    </p:tnLst>
  </p:timing>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ChangeArrowheads="1"/>
          </p:cNvSpPr>
          <p:nvPr/>
        </p:nvSpPr>
        <p:spPr bwMode="auto">
          <a:xfrm>
            <a:off x="304800" y="2743200"/>
            <a:ext cx="8305800" cy="1262063"/>
          </a:xfrm>
          <a:prstGeom prst="rect">
            <a:avLst/>
          </a:prstGeom>
          <a:noFill/>
          <a:ln w="9525" algn="ctr">
            <a:noFill/>
            <a:miter lim="800000"/>
            <a:headEnd/>
            <a:tailEnd/>
          </a:ln>
        </p:spPr>
        <p:txBody>
          <a:bodyPr anchor="ctr">
            <a:spAutoFit/>
          </a:bodyPr>
          <a:lstStyle/>
          <a:p>
            <a:pPr marL="457200" indent="-457200">
              <a:buFontTx/>
              <a:buAutoNum type="arabicPeriod"/>
              <a:tabLst>
                <a:tab pos="457200" algn="l"/>
              </a:tabLst>
            </a:pPr>
            <a:r>
              <a:rPr lang="en-US" sz="3200" b="1">
                <a:solidFill>
                  <a:srgbClr val="000099"/>
                </a:solidFill>
                <a:latin typeface="Times New Roman" pitchFamily="18" charset="0"/>
              </a:rPr>
              <a:t>Explain generic functions with an example?</a:t>
            </a:r>
          </a:p>
          <a:p>
            <a:pPr marL="457200" indent="-457200" eaLnBrk="0" hangingPunct="0">
              <a:lnSpc>
                <a:spcPct val="140000"/>
              </a:lnSpc>
              <a:buFontTx/>
              <a:buAutoNum type="arabicPeriod"/>
              <a:tabLst>
                <a:tab pos="457200" algn="l"/>
              </a:tabLst>
            </a:pPr>
            <a:r>
              <a:rPr lang="en-US" sz="3200" b="1">
                <a:solidFill>
                  <a:srgbClr val="000099"/>
                </a:solidFill>
                <a:latin typeface="Times New Roman" pitchFamily="18" charset="0"/>
              </a:rPr>
              <a:t>Explain generic class with an example?</a:t>
            </a:r>
          </a:p>
        </p:txBody>
      </p:sp>
      <p:sp>
        <p:nvSpPr>
          <p:cNvPr id="13315" name="AutoShape 3"/>
          <p:cNvSpPr>
            <a:spLocks noChangeArrowheads="1"/>
          </p:cNvSpPr>
          <p:nvPr/>
        </p:nvSpPr>
        <p:spPr bwMode="auto">
          <a:xfrm>
            <a:off x="228600" y="1752600"/>
            <a:ext cx="8534400" cy="2514600"/>
          </a:xfrm>
          <a:prstGeom prst="roundRect">
            <a:avLst>
              <a:gd name="adj" fmla="val 16667"/>
            </a:avLst>
          </a:prstGeom>
          <a:noFill/>
          <a:ln w="57150" cmpd="thickThin">
            <a:solidFill>
              <a:srgbClr val="990033"/>
            </a:solidFill>
            <a:round/>
            <a:headEnd/>
            <a:tailEnd/>
          </a:ln>
        </p:spPr>
        <p:txBody>
          <a:bodyPr wrap="none" anchor="ctr"/>
          <a:lstStyle/>
          <a:p>
            <a:endParaRPr lang="en-US"/>
          </a:p>
        </p:txBody>
      </p:sp>
      <p:grpSp>
        <p:nvGrpSpPr>
          <p:cNvPr id="2" name="Group 4"/>
          <p:cNvGrpSpPr>
            <a:grpSpLocks/>
          </p:cNvGrpSpPr>
          <p:nvPr/>
        </p:nvGrpSpPr>
        <p:grpSpPr bwMode="auto">
          <a:xfrm>
            <a:off x="2590800" y="1752600"/>
            <a:ext cx="4267200" cy="685800"/>
            <a:chOff x="1536" y="336"/>
            <a:chExt cx="2688" cy="432"/>
          </a:xfrm>
        </p:grpSpPr>
        <p:grpSp>
          <p:nvGrpSpPr>
            <p:cNvPr id="3" name="Group 5"/>
            <p:cNvGrpSpPr>
              <a:grpSpLocks/>
            </p:cNvGrpSpPr>
            <p:nvPr/>
          </p:nvGrpSpPr>
          <p:grpSpPr bwMode="auto">
            <a:xfrm>
              <a:off x="1536" y="336"/>
              <a:ext cx="2688" cy="432"/>
              <a:chOff x="1872" y="336"/>
              <a:chExt cx="1728" cy="384"/>
            </a:xfrm>
          </p:grpSpPr>
          <p:sp>
            <p:nvSpPr>
              <p:cNvPr id="13319" name="Rectangle 6"/>
              <p:cNvSpPr>
                <a:spLocks noChangeArrowheads="1"/>
              </p:cNvSpPr>
              <p:nvPr/>
            </p:nvSpPr>
            <p:spPr bwMode="auto">
              <a:xfrm>
                <a:off x="1872" y="384"/>
                <a:ext cx="1728" cy="336"/>
              </a:xfrm>
              <a:prstGeom prst="rect">
                <a:avLst/>
              </a:prstGeom>
              <a:solidFill>
                <a:schemeClr val="accent1"/>
              </a:solidFill>
              <a:ln w="57150" cmpd="thickThin">
                <a:solidFill>
                  <a:schemeClr val="tx1"/>
                </a:solidFill>
                <a:miter lim="800000"/>
                <a:headEnd/>
                <a:tailEnd/>
              </a:ln>
            </p:spPr>
            <p:txBody>
              <a:bodyPr wrap="none" anchor="ctr"/>
              <a:lstStyle/>
              <a:p>
                <a:endParaRPr lang="en-US"/>
              </a:p>
            </p:txBody>
          </p:sp>
          <p:sp>
            <p:nvSpPr>
              <p:cNvPr id="13320" name="Rectangle 7"/>
              <p:cNvSpPr>
                <a:spLocks noChangeArrowheads="1"/>
              </p:cNvSpPr>
              <p:nvPr/>
            </p:nvSpPr>
            <p:spPr bwMode="auto">
              <a:xfrm>
                <a:off x="1976" y="336"/>
                <a:ext cx="1576" cy="336"/>
              </a:xfrm>
              <a:prstGeom prst="rect">
                <a:avLst/>
              </a:prstGeom>
              <a:solidFill>
                <a:schemeClr val="accent1"/>
              </a:solidFill>
              <a:ln w="57150" cmpd="thickThin">
                <a:solidFill>
                  <a:schemeClr val="tx1"/>
                </a:solidFill>
                <a:miter lim="800000"/>
                <a:headEnd/>
                <a:tailEnd/>
              </a:ln>
            </p:spPr>
            <p:txBody>
              <a:bodyPr wrap="none" anchor="ctr"/>
              <a:lstStyle/>
              <a:p>
                <a:endParaRPr lang="en-US"/>
              </a:p>
            </p:txBody>
          </p:sp>
        </p:grpSp>
        <p:sp>
          <p:nvSpPr>
            <p:cNvPr id="13318" name="Text Box 8"/>
            <p:cNvSpPr txBox="1">
              <a:spLocks noChangeArrowheads="1"/>
            </p:cNvSpPr>
            <p:nvPr/>
          </p:nvSpPr>
          <p:spPr bwMode="auto">
            <a:xfrm>
              <a:off x="1728" y="384"/>
              <a:ext cx="2352" cy="327"/>
            </a:xfrm>
            <a:prstGeom prst="rect">
              <a:avLst/>
            </a:prstGeom>
            <a:noFill/>
            <a:ln w="9525">
              <a:noFill/>
              <a:miter lim="800000"/>
              <a:headEnd/>
              <a:tailEnd/>
            </a:ln>
          </p:spPr>
          <p:txBody>
            <a:bodyPr>
              <a:spAutoFit/>
            </a:bodyPr>
            <a:lstStyle/>
            <a:p>
              <a:pPr algn="ctr" eaLnBrk="0" hangingPunct="0">
                <a:spcBef>
                  <a:spcPct val="50000"/>
                </a:spcBef>
              </a:pPr>
              <a:r>
                <a:rPr lang="en-US" sz="2800" b="1">
                  <a:solidFill>
                    <a:srgbClr val="000066"/>
                  </a:solidFill>
                </a:rPr>
                <a:t>EXERCISES</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6" fill="hold" grpId="0" nodeType="withEffect">
                                  <p:stCondLst>
                                    <p:cond delay="0"/>
                                  </p:stCondLst>
                                  <p:childTnLst>
                                    <p:set>
                                      <p:cBhvr>
                                        <p:cTn id="6" dur="1" fill="hold">
                                          <p:stCondLst>
                                            <p:cond delay="0"/>
                                          </p:stCondLst>
                                        </p:cTn>
                                        <p:tgtEl>
                                          <p:spTgt spid="15362"/>
                                        </p:tgtEl>
                                        <p:attrNameLst>
                                          <p:attrName>style.visibility</p:attrName>
                                        </p:attrNameLst>
                                      </p:cBhvr>
                                      <p:to>
                                        <p:strVal val="visible"/>
                                      </p:to>
                                    </p:set>
                                    <p:anim calcmode="lin" valueType="num">
                                      <p:cBhvr>
                                        <p:cTn id="7" dur="500" fill="hold"/>
                                        <p:tgtEl>
                                          <p:spTgt spid="15362"/>
                                        </p:tgtEl>
                                        <p:attrNameLst>
                                          <p:attrName>ppt_w</p:attrName>
                                        </p:attrNameLst>
                                      </p:cBhvr>
                                      <p:tavLst>
                                        <p:tav tm="0">
                                          <p:val>
                                            <p:strVal val="(6*min(max(#ppt_w*#ppt_h,.3),1)-7.4)/-.7*#ppt_w"/>
                                          </p:val>
                                        </p:tav>
                                        <p:tav tm="100000">
                                          <p:val>
                                            <p:strVal val="#ppt_w"/>
                                          </p:val>
                                        </p:tav>
                                      </p:tavLst>
                                    </p:anim>
                                    <p:anim calcmode="lin" valueType="num">
                                      <p:cBhvr>
                                        <p:cTn id="8" dur="500" fill="hold"/>
                                        <p:tgtEl>
                                          <p:spTgt spid="15362"/>
                                        </p:tgtEl>
                                        <p:attrNameLst>
                                          <p:attrName>ppt_h</p:attrName>
                                        </p:attrNameLst>
                                      </p:cBhvr>
                                      <p:tavLst>
                                        <p:tav tm="0">
                                          <p:val>
                                            <p:strVal val="(6*min(max(#ppt_w*#ppt_h,.3),1)-7.4)/-.7*#ppt_h"/>
                                          </p:val>
                                        </p:tav>
                                        <p:tav tm="100000">
                                          <p:val>
                                            <p:strVal val="#ppt_h"/>
                                          </p:val>
                                        </p:tav>
                                      </p:tavLst>
                                    </p:anim>
                                    <p:anim calcmode="lin" valueType="num">
                                      <p:cBhvr>
                                        <p:cTn id="9" dur="500" fill="hold"/>
                                        <p:tgtEl>
                                          <p:spTgt spid="15362"/>
                                        </p:tgtEl>
                                        <p:attrNameLst>
                                          <p:attrName>ppt_x</p:attrName>
                                        </p:attrNameLst>
                                      </p:cBhvr>
                                      <p:tavLst>
                                        <p:tav tm="0">
                                          <p:val>
                                            <p:fltVal val="0.5"/>
                                          </p:val>
                                        </p:tav>
                                        <p:tav tm="100000">
                                          <p:val>
                                            <p:strVal val="#ppt_x"/>
                                          </p:val>
                                        </p:tav>
                                      </p:tavLst>
                                    </p:anim>
                                    <p:anim calcmode="lin" valueType="num">
                                      <p:cBhvr>
                                        <p:cTn id="10" dur="500" fill="hold"/>
                                        <p:tgtEl>
                                          <p:spTgt spid="15362"/>
                                        </p:tgtEl>
                                        <p:attrNameLst>
                                          <p:attrName>ppt_y</p:attrName>
                                        </p:attrNameLst>
                                      </p:cBhvr>
                                      <p:tavLst>
                                        <p:tav tm="0">
                                          <p:val>
                                            <p:strVal val="1+(6*min(max(#ppt_w*#ppt_h,.3),1)-7.4)/-.7*#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11817</Words>
  <Application>Microsoft Office PowerPoint</Application>
  <PresentationFormat>On-screen Show (4:3)</PresentationFormat>
  <Paragraphs>3398</Paragraphs>
  <Slides>276</Slides>
  <Notes>9</Notes>
  <HiddenSlides>0</HiddenSlides>
  <MMClips>0</MMClips>
  <ScaleCrop>false</ScaleCrop>
  <HeadingPairs>
    <vt:vector size="6" baseType="variant">
      <vt:variant>
        <vt:lpstr>Theme</vt:lpstr>
      </vt:variant>
      <vt:variant>
        <vt:i4>1</vt:i4>
      </vt:variant>
      <vt:variant>
        <vt:lpstr>Embedded OLE Servers</vt:lpstr>
      </vt:variant>
      <vt:variant>
        <vt:i4>2</vt:i4>
      </vt:variant>
      <vt:variant>
        <vt:lpstr>Slide Titles</vt:lpstr>
      </vt:variant>
      <vt:variant>
        <vt:i4>276</vt:i4>
      </vt:variant>
    </vt:vector>
  </HeadingPairs>
  <TitlesOfParts>
    <vt:vector size="279" baseType="lpstr">
      <vt:lpstr>Office Theme</vt:lpstr>
      <vt:lpstr>Microsoft Clip Gallery</vt:lpstr>
      <vt:lpstr>Package</vt:lpstr>
      <vt:lpstr>Slide 1</vt:lpstr>
      <vt:lpstr>Slide 2</vt:lpstr>
      <vt:lpstr>Slide 3</vt:lpstr>
      <vt:lpstr>Slide 4</vt:lpstr>
      <vt:lpstr>Slide 5</vt:lpstr>
      <vt:lpstr>Slide 6</vt:lpstr>
      <vt:lpstr>Slide 7</vt:lpstr>
      <vt:lpstr>The Object-Oriented Approach - III</vt:lpstr>
      <vt:lpstr>Slide 9</vt:lpstr>
      <vt:lpstr>  Object – Oriented Programming</vt:lpstr>
      <vt:lpstr>Slide 11</vt:lpstr>
      <vt:lpstr>Object Oriented Approach</vt:lpstr>
      <vt:lpstr>Slide 13</vt:lpstr>
      <vt:lpstr>Slide 14</vt:lpstr>
      <vt:lpstr>Slide 15</vt:lpstr>
      <vt:lpstr>Slide 16</vt:lpstr>
      <vt:lpstr>Slide 17</vt:lpstr>
      <vt:lpstr>Slide 18</vt:lpstr>
      <vt:lpstr>Slide 19</vt:lpstr>
      <vt:lpstr>Slide 20</vt:lpstr>
      <vt:lpstr>Reusability</vt:lpstr>
      <vt:lpstr>Slide 22</vt:lpstr>
      <vt:lpstr>Slide 23</vt:lpstr>
      <vt:lpstr>Slide 24</vt:lpstr>
      <vt:lpstr>Slide 25</vt:lpstr>
      <vt:lpstr>For Example</vt:lpstr>
      <vt:lpstr>Slide 27</vt:lpstr>
      <vt:lpstr>Access Specifiers of a Class </vt:lpstr>
      <vt:lpstr>Slide 29</vt:lpstr>
      <vt:lpstr>Object Oriented Languages</vt:lpstr>
      <vt:lpstr>Author of C++ is                                              Bjarne stroustrup  He invented this language in 1980's at                      AT&amp;T Bell Laboratories           All the C programs can be run                successfully using C++ compiler </vt:lpstr>
      <vt:lpstr>   </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   Overloading</vt:lpstr>
      <vt:lpstr>   Function Overloading</vt:lpstr>
      <vt:lpstr>Slide 124</vt:lpstr>
      <vt:lpstr>Slide 125</vt:lpstr>
      <vt:lpstr>Slide 126</vt:lpstr>
      <vt:lpstr>Slide 127</vt:lpstr>
      <vt:lpstr>Slide 128</vt:lpstr>
      <vt:lpstr>Slide 129</vt:lpstr>
      <vt:lpstr>Member Function Overloading with Default  Arguments</vt:lpstr>
      <vt:lpstr>Slide 131</vt:lpstr>
      <vt:lpstr>Difference between Overloading and Overriding</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lpstr>Slide 178</vt:lpstr>
      <vt:lpstr>Slide 179</vt:lpstr>
      <vt:lpstr>Slide 180</vt:lpstr>
      <vt:lpstr>Slide 181</vt:lpstr>
      <vt:lpstr>Slide 182</vt:lpstr>
      <vt:lpstr>Slide 183</vt:lpstr>
      <vt:lpstr>Slide 184</vt:lpstr>
      <vt:lpstr>Slide 185</vt:lpstr>
      <vt:lpstr>Slide 186</vt:lpstr>
      <vt:lpstr>Slide 187</vt:lpstr>
      <vt:lpstr>Slide 188</vt:lpstr>
      <vt:lpstr>Slide 189</vt:lpstr>
      <vt:lpstr>Slide 190</vt:lpstr>
      <vt:lpstr>Slide 191</vt:lpstr>
      <vt:lpstr>Slide 192</vt:lpstr>
      <vt:lpstr>Slide 193</vt:lpstr>
      <vt:lpstr>Slide 194</vt:lpstr>
      <vt:lpstr>Slide 195</vt:lpstr>
      <vt:lpstr>Slide 196</vt:lpstr>
      <vt:lpstr>Slide 197</vt:lpstr>
      <vt:lpstr>Slide 198</vt:lpstr>
      <vt:lpstr>Slide 199</vt:lpstr>
      <vt:lpstr>Slide 200</vt:lpstr>
      <vt:lpstr>Slide 201</vt:lpstr>
      <vt:lpstr>Slide 202</vt:lpstr>
      <vt:lpstr>Slide 203</vt:lpstr>
      <vt:lpstr>Slide 204</vt:lpstr>
      <vt:lpstr>Slide 205</vt:lpstr>
      <vt:lpstr>Slide 206</vt:lpstr>
      <vt:lpstr>Inheritance </vt:lpstr>
      <vt:lpstr>Inheritance</vt:lpstr>
      <vt:lpstr>Slide 209</vt:lpstr>
      <vt:lpstr>Slide 210</vt:lpstr>
      <vt:lpstr>Slide 211</vt:lpstr>
      <vt:lpstr>Slide 212</vt:lpstr>
      <vt:lpstr>Slide 213</vt:lpstr>
      <vt:lpstr>Slide 214</vt:lpstr>
      <vt:lpstr>Slide 215</vt:lpstr>
      <vt:lpstr>Slide 216</vt:lpstr>
      <vt:lpstr>Slide 217</vt:lpstr>
      <vt:lpstr>Slide 218</vt:lpstr>
      <vt:lpstr>Slide 219</vt:lpstr>
      <vt:lpstr>Slide 220</vt:lpstr>
      <vt:lpstr>Slide 221</vt:lpstr>
      <vt:lpstr>Slide 222</vt:lpstr>
      <vt:lpstr>Slide 223</vt:lpstr>
      <vt:lpstr>Slide 224</vt:lpstr>
      <vt:lpstr>Slide 225</vt:lpstr>
      <vt:lpstr>Slide 226</vt:lpstr>
      <vt:lpstr>Slide 227</vt:lpstr>
      <vt:lpstr>Slide 228</vt:lpstr>
      <vt:lpstr>Slide 229</vt:lpstr>
      <vt:lpstr>Slide 230</vt:lpstr>
      <vt:lpstr>Slide 231</vt:lpstr>
      <vt:lpstr>Slide 232</vt:lpstr>
      <vt:lpstr>Slide 233</vt:lpstr>
      <vt:lpstr>Slide 234</vt:lpstr>
      <vt:lpstr>Slide 235</vt:lpstr>
      <vt:lpstr>Slide 236</vt:lpstr>
      <vt:lpstr>Slide 237</vt:lpstr>
      <vt:lpstr>Slide 238</vt:lpstr>
      <vt:lpstr>Slide 239</vt:lpstr>
      <vt:lpstr>Slide 240</vt:lpstr>
      <vt:lpstr>Slide 241</vt:lpstr>
      <vt:lpstr>Slide 242</vt:lpstr>
      <vt:lpstr>Slide 243</vt:lpstr>
      <vt:lpstr>Slide 244</vt:lpstr>
      <vt:lpstr>Slide 245</vt:lpstr>
      <vt:lpstr>Slide 246</vt:lpstr>
      <vt:lpstr>Slide 247</vt:lpstr>
      <vt:lpstr>Slide 248</vt:lpstr>
      <vt:lpstr>Slide 249</vt:lpstr>
      <vt:lpstr>Slide 250</vt:lpstr>
      <vt:lpstr>Slide 251</vt:lpstr>
      <vt:lpstr>Slide 252</vt:lpstr>
      <vt:lpstr>Slide 253</vt:lpstr>
      <vt:lpstr>Slide 254</vt:lpstr>
      <vt:lpstr>Slide 255</vt:lpstr>
      <vt:lpstr>Slide 256</vt:lpstr>
      <vt:lpstr>Slide 257</vt:lpstr>
      <vt:lpstr>Slide 258</vt:lpstr>
      <vt:lpstr>Slide 259</vt:lpstr>
      <vt:lpstr>Slide 260</vt:lpstr>
      <vt:lpstr>Slide 261</vt:lpstr>
      <vt:lpstr>Slide 262</vt:lpstr>
      <vt:lpstr>Slide 263</vt:lpstr>
      <vt:lpstr>Slide 264</vt:lpstr>
      <vt:lpstr>Slide 265</vt:lpstr>
      <vt:lpstr>Slide 266</vt:lpstr>
      <vt:lpstr>Slide 267</vt:lpstr>
      <vt:lpstr>Slide 268</vt:lpstr>
      <vt:lpstr>Slide 269</vt:lpstr>
      <vt:lpstr>Slide 270</vt:lpstr>
      <vt:lpstr>Slide 271</vt:lpstr>
      <vt:lpstr>Slide 272</vt:lpstr>
      <vt:lpstr>Slide 273</vt:lpstr>
      <vt:lpstr>Slide 274</vt:lpstr>
      <vt:lpstr>Slide 275</vt:lpstr>
      <vt:lpstr>Slide 276</vt:lpstr>
    </vt:vector>
  </TitlesOfParts>
  <Company>Microsoft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STAR</dc:creator>
  <cp:lastModifiedBy>STAR</cp:lastModifiedBy>
  <cp:revision>2</cp:revision>
  <dcterms:created xsi:type="dcterms:W3CDTF">2019-12-27T14:00:39Z</dcterms:created>
  <dcterms:modified xsi:type="dcterms:W3CDTF">2019-12-27T14:08:35Z</dcterms:modified>
</cp:coreProperties>
</file>